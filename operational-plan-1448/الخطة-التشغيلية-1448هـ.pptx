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1695" cy="6858000"/>
  <p:notesSz cx="6858000" cy="12191695"/>
  <p:embeddedFontLst>
    <p:embeddedFont>
      <p:font typeface="Tajawal"/>
      <p:regular r:id="rId501"/>
      <p:bold r:id="rId502"/>
    </p:embeddedFont>
    <p:embeddedFont>
      <p:font typeface="Tajawal ExtraBold"/>
      <p:regular r:id="rId50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501" Type="http://schemas.openxmlformats.org/officeDocument/2006/relationships/font" Target="fonts/font1.fntdata"/><Relationship Id="rId502" Type="http://schemas.openxmlformats.org/officeDocument/2006/relationships/font" Target="fonts/font2.fntdata"/><Relationship Id="rId503" Type="http://schemas.openxmlformats.org/officeDocument/2006/relationships/font" Target="fonts/font3.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البرامج</c:v>
                </c:pt>
              </c:strCache>
            </c:strRef>
          </c:tx>
          <c:spPr>
            <a:solidFill>
              <a:srgbClr val="C9A45C"/>
            </a:solidFill>
            <a:effectLst/>
          </c:spPr>
          <c:invertIfNegative val="0"/>
          <c:dLbls>
            <c:numFmt formatCode="#,##0" sourceLinked="0"/>
            <c:txPr>
              <a:bodyPr/>
              <a:lstStyle/>
              <a:p>
                <a:pPr>
                  <a:defRPr b="0" i="0" strike="noStrike" sz="800" u="none">
                    <a:solidFill>
                      <a:srgbClr val="0A1F19"/>
                    </a:solidFill>
                    <a:latin typeface="Tajawal"/>
                  </a:defRPr>
                </a:pPr>
              </a:p>
            </c:txPr>
            <c:showLegendKey val="0"/>
            <c:showVal val="1"/>
            <c:showCatName val="0"/>
            <c:showSerName val="0"/>
            <c:showPercent val="0"/>
            <c:showBubbleSize val="0"/>
            <c:showLeaderLines val="0"/>
          </c:dLbls>
          <c:dPt>
            <c:idx val="0"/>
            <c:invertIfNegative val="0"/>
            <c:bubble3D val="0"/>
            <c:spPr>
              <a:solidFill>
                <a:srgbClr val="C9A45C"/>
              </a:solidFill>
              <a:effectLst/>
            </c:spPr>
          </c:dPt>
          <c:dPt>
            <c:idx val="1"/>
            <c:invertIfNegative val="0"/>
            <c:bubble3D val="0"/>
            <c:spPr>
              <a:solidFill>
                <a:srgbClr val="095242"/>
              </a:solidFill>
              <a:effectLst/>
            </c:spPr>
          </c:dPt>
          <c:dPt>
            <c:idx val="2"/>
            <c:invertIfNegative val="0"/>
            <c:bubble3D val="0"/>
            <c:spPr>
              <a:solidFill>
                <a:srgbClr val="095242"/>
              </a:solidFill>
              <a:effectLst/>
            </c:spPr>
          </c:dPt>
          <c:dPt>
            <c:idx val="3"/>
            <c:invertIfNegative val="0"/>
            <c:bubble3D val="0"/>
            <c:spPr>
              <a:solidFill>
                <a:srgbClr val="095242"/>
              </a:solidFill>
              <a:effectLst/>
            </c:spPr>
          </c:dPt>
          <c:dPt>
            <c:idx val="4"/>
            <c:invertIfNegative val="0"/>
            <c:bubble3D val="0"/>
            <c:spPr>
              <a:solidFill>
                <a:srgbClr val="095242"/>
              </a:solidFill>
              <a:effectLst/>
            </c:spPr>
          </c:dPt>
          <c:dPt>
            <c:idx val="5"/>
            <c:invertIfNegative val="0"/>
            <c:bubble3D val="0"/>
            <c:spPr>
              <a:solidFill>
                <a:srgbClr val="095242"/>
              </a:solidFill>
              <a:effectLst/>
            </c:spPr>
          </c:dPt>
          <c:dPt>
            <c:idx val="6"/>
            <c:invertIfNegative val="0"/>
            <c:bubble3D val="0"/>
            <c:spPr>
              <a:solidFill>
                <a:srgbClr val="095242"/>
              </a:solidFill>
              <a:effectLst/>
            </c:spPr>
          </c:dPt>
          <c:dPt>
            <c:idx val="7"/>
            <c:invertIfNegative val="0"/>
            <c:bubble3D val="0"/>
            <c:spPr>
              <a:solidFill>
                <a:srgbClr val="095242"/>
              </a:solidFill>
              <a:effectLst/>
            </c:spPr>
          </c:dPt>
          <c:dPt>
            <c:idx val="8"/>
            <c:invertIfNegative val="0"/>
            <c:bubble3D val="0"/>
            <c:spPr>
              <a:solidFill>
                <a:srgbClr val="095242"/>
              </a:solidFill>
              <a:effectLst/>
            </c:spPr>
          </c:dPt>
          <c:dPt>
            <c:idx val="9"/>
            <c:invertIfNegative val="0"/>
            <c:bubble3D val="0"/>
            <c:spPr>
              <a:solidFill>
                <a:srgbClr val="095242"/>
              </a:solidFill>
              <a:effectLst/>
            </c:spPr>
          </c:dPt>
          <c:cat>
            <c:multiLvlStrRef>
              <c:f>Sheet1!$A$2:$A$11</c:f>
              <c:multiLvlStrCache>
                <c:ptCount val="10"/>
                <c:lvl>
                  <c:pt idx="0">
                    <c:v>هـ١٠</c:v>
                  </c:pt>
                  <c:pt idx="1">
                    <c:v>هـ٩</c:v>
                  </c:pt>
                  <c:pt idx="2">
                    <c:v>هـ٨</c:v>
                  </c:pt>
                  <c:pt idx="3">
                    <c:v>هـ٧</c:v>
                  </c:pt>
                  <c:pt idx="4">
                    <c:v>هـ٦</c:v>
                  </c:pt>
                  <c:pt idx="5">
                    <c:v>هـ٥</c:v>
                  </c:pt>
                  <c:pt idx="6">
                    <c:v>هـ٤</c:v>
                  </c:pt>
                  <c:pt idx="7">
                    <c:v>هـ٣</c:v>
                  </c:pt>
                  <c:pt idx="8">
                    <c:v>هـ٢</c:v>
                  </c:pt>
                  <c:pt idx="9">
                    <c:v>هـ١</c:v>
                  </c:pt>
                </c:lvl>
              </c:multiLvlStrCache>
            </c:multiLvlStrRef>
          </c:cat>
          <c:val>
            <c:numRef>
              <c:f>Sheet1!$B$2:$B$11</c:f>
              <c:numCache>
                <c:formatCode>General</c:formatCode>
                <c:ptCount val="10"/>
                <c:pt idx="0">
                  <c:v>15</c:v>
                </c:pt>
                <c:pt idx="1">
                  <c:v>10</c:v>
                </c:pt>
                <c:pt idx="2">
                  <c:v>10</c:v>
                </c:pt>
                <c:pt idx="3">
                  <c:v>9</c:v>
                </c:pt>
                <c:pt idx="4">
                  <c:v>11</c:v>
                </c:pt>
                <c:pt idx="5">
                  <c:v>12</c:v>
                </c:pt>
                <c:pt idx="6">
                  <c:v>10</c:v>
                </c:pt>
                <c:pt idx="7">
                  <c:v>12</c:v>
                </c:pt>
                <c:pt idx="8">
                  <c:v>12</c:v>
                </c:pt>
                <c:pt idx="9">
                  <c:v>11</c:v>
                </c:pt>
              </c:numCache>
            </c:numRef>
          </c:val>
        </c:ser>
        <c:dLbls>
          <c:numFmt formatCode="#,##0" sourceLinked="0"/>
          <c:txPr>
            <a:bodyPr/>
            <a:lstStyle/>
            <a:p>
              <a:pPr>
                <a:defRPr b="0" i="0" strike="noStrike" sz="800" u="none">
                  <a:solidFill>
                    <a:srgbClr val="0A1F19"/>
                  </a:solidFill>
                  <a:latin typeface="Tajaw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8A9A93"/>
                </a:solidFill>
                <a:latin typeface="Tajawal"/>
              </a:defRPr>
            </a:pPr>
            <a:endParaRPr lang="en-US"/>
          </a:p>
        </c:txPr>
        <c:crossAx val="2094734552"/>
        <c:crosses val="autoZero"/>
        <c:auto val="1"/>
        <c:lblAlgn val="ctr"/>
        <c:noMultiLvlLbl val="1"/>
      </c:catAx>
      <c:valAx>
        <c:axId val="2094734552"/>
        <c:scaling>
          <c:orientation val="minMax"/>
          <c:max val="1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4-3.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38-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38-4.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5-3.png"/><Relationship Id="rId4" Type="http://schemas.openxmlformats.org/officeDocument/2006/relationships/image" Target="../media/image-9-4.png"/><Relationship Id="rId5" Type="http://schemas.openxmlformats.org/officeDocument/2006/relationships/image" Target="../media/image-44-4.png"/><Relationship Id="rId6" Type="http://schemas.openxmlformats.org/officeDocument/2006/relationships/image" Target="../media/image-64-3.png"/><Relationship Id="rId7" Type="http://schemas.openxmlformats.org/officeDocument/2006/relationships/image" Target="../media/image-47-4.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44-5.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0-1.jpg"/><Relationship Id="rId2" Type="http://schemas.openxmlformats.org/officeDocument/2006/relationships/image" Target="../media/image-10-2.png"/><Relationship Id="rId4" Type="http://schemas.openxmlformats.org/officeDocument/2006/relationships/image" Target="../media/image-16-3.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7-2.jpg"/><Relationship Id="rId3"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1-3.png"/><Relationship Id="rId4"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38-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38-4.png"/><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48-3.png"/><Relationship Id="rId4" Type="http://schemas.openxmlformats.org/officeDocument/2006/relationships/image" Target="../media/image-38-6.pn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46-3.png"/><Relationship Id="rId6" Type="http://schemas.openxmlformats.org/officeDocument/2006/relationships/slideLayout" Target="../slideLayouts/slideLayout1.xml"/><Relationship Id="rId7"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Mobile1/ab9bbf47-b054-5f6e-be59-70476e095ce8/scratchpad/assets/bg_cove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white.png">    </p:cNvPr>
          <p:cNvPicPr>
            <a:picLocks noChangeAspect="1"/>
          </p:cNvPicPr>
          <p:nvPr/>
        </p:nvPicPr>
        <p:blipFill>
          <a:blip r:embed="rId2"/>
          <a:stretch>
            <a:fillRect/>
          </a:stretch>
        </p:blipFill>
        <p:spPr>
          <a:xfrm>
            <a:off x="5346040" y="603504"/>
            <a:ext cx="1499616" cy="1159459"/>
          </a:xfrm>
          <a:prstGeom prst="rect">
            <a:avLst/>
          </a:prstGeom>
        </p:spPr>
      </p:pic>
      <p:sp>
        <p:nvSpPr>
          <p:cNvPr id="4" name="Shape 0"/>
          <p:cNvSpPr/>
          <p:nvPr/>
        </p:nvSpPr>
        <p:spPr>
          <a:xfrm>
            <a:off x="4678528" y="2011680"/>
            <a:ext cx="1188720" cy="0"/>
          </a:xfrm>
          <a:prstGeom prst="line">
            <a:avLst/>
          </a:prstGeom>
          <a:noFill/>
          <a:ln w="12700">
            <a:solidFill>
              <a:srgbClr val="C9A45C"/>
            </a:solidFill>
            <a:prstDash val="solid"/>
          </a:ln>
        </p:spPr>
      </p:sp>
      <p:sp>
        <p:nvSpPr>
          <p:cNvPr id="5" name="Shape 1"/>
          <p:cNvSpPr/>
          <p:nvPr/>
        </p:nvSpPr>
        <p:spPr>
          <a:xfrm>
            <a:off x="6324448" y="2011680"/>
            <a:ext cx="1188720" cy="0"/>
          </a:xfrm>
          <a:prstGeom prst="line">
            <a:avLst/>
          </a:prstGeom>
          <a:noFill/>
          <a:ln w="12700">
            <a:solidFill>
              <a:srgbClr val="C9A45C"/>
            </a:solidFill>
            <a:prstDash val="solid"/>
          </a:ln>
        </p:spPr>
      </p:sp>
      <p:sp>
        <p:nvSpPr>
          <p:cNvPr id="6" name="Shape 2"/>
          <p:cNvSpPr/>
          <p:nvPr/>
        </p:nvSpPr>
        <p:spPr>
          <a:xfrm>
            <a:off x="6040984" y="1956816"/>
            <a:ext cx="109728" cy="109728"/>
          </a:xfrm>
          <a:prstGeom prst="diamond">
            <a:avLst/>
          </a:prstGeom>
          <a:solidFill>
            <a:srgbClr val="C9A45C"/>
          </a:solidFill>
          <a:ln/>
        </p:spPr>
      </p:sp>
      <p:sp>
        <p:nvSpPr>
          <p:cNvPr id="7" name="Text 3"/>
          <p:cNvSpPr/>
          <p:nvPr/>
        </p:nvSpPr>
        <p:spPr>
          <a:xfrm>
            <a:off x="1097280" y="2194560"/>
            <a:ext cx="9997135" cy="1097280"/>
          </a:xfrm>
          <a:prstGeom prst="rect">
            <a:avLst/>
          </a:prstGeom>
          <a:noFill/>
          <a:ln/>
        </p:spPr>
        <p:txBody>
          <a:bodyPr wrap="square" lIns="0" tIns="0" rIns="0" bIns="0" rtlCol="0" anchor="ctr"/>
          <a:lstStyle/>
          <a:p>
            <a:pPr rtl="1" algn="ctr" indent="0" marL="0">
              <a:buNone/>
            </a:pPr>
            <a:r>
              <a:rPr lang="ar-SA" altLang="en-US" sz="5600" dirty="0">
                <a:solidFill>
                  <a:srgbClr val="FFFFFF"/>
                </a:solidFill>
                <a:latin typeface="Tajawal ExtraBold" pitchFamily="34" charset="0"/>
                <a:ea typeface="Tajawal ExtraBold" pitchFamily="34" charset="-122"/>
                <a:cs typeface="Tajawal ExtraBold" pitchFamily="34" charset="-120"/>
              </a:rPr>
              <a:t>الخطة التشغيلية</a:t>
            </a:r>
            <a:endParaRPr lang="ar-SA" sz="5600" dirty="0"/>
          </a:p>
        </p:txBody>
      </p:sp>
      <p:sp>
        <p:nvSpPr>
          <p:cNvPr id="8" name="Text 4"/>
          <p:cNvSpPr/>
          <p:nvPr/>
        </p:nvSpPr>
        <p:spPr>
          <a:xfrm>
            <a:off x="1097280" y="3291840"/>
            <a:ext cx="9997135" cy="512064"/>
          </a:xfrm>
          <a:prstGeom prst="rect">
            <a:avLst/>
          </a:prstGeom>
          <a:noFill/>
          <a:ln/>
        </p:spPr>
        <p:txBody>
          <a:bodyPr wrap="square" lIns="0" tIns="0" rIns="0" bIns="0" rtlCol="0" anchor="ctr"/>
          <a:lstStyle/>
          <a:p>
            <a:pPr rtl="1" algn="ctr" indent="0" marL="0">
              <a:buNone/>
            </a:pPr>
            <a:r>
              <a:rPr lang="ar-SA" altLang="en-US" sz="2400" b="1" dirty="0">
                <a:solidFill>
                  <a:srgbClr val="C9A45C"/>
                </a:solidFill>
                <a:latin typeface="Tajawal" pitchFamily="34" charset="0"/>
                <a:ea typeface="Tajawal" pitchFamily="34" charset="-122"/>
                <a:cs typeface="Tajawal" pitchFamily="34" charset="-120"/>
              </a:rPr>
              <a:t>للعام الدراسي ١٤٤٨هـ</a:t>
            </a:r>
            <a:endParaRPr lang="ar-SA" sz="2400" dirty="0"/>
          </a:p>
        </p:txBody>
      </p:sp>
      <p:sp>
        <p:nvSpPr>
          <p:cNvPr id="9" name="Shape 5"/>
          <p:cNvSpPr/>
          <p:nvPr/>
        </p:nvSpPr>
        <p:spPr>
          <a:xfrm>
            <a:off x="5112868" y="3986784"/>
            <a:ext cx="1965960" cy="457200"/>
          </a:xfrm>
          <a:prstGeom prst="roundRect">
            <a:avLst>
              <a:gd name="adj" fmla="val 50000"/>
            </a:avLst>
          </a:prstGeom>
          <a:solidFill>
            <a:srgbClr val="FFFFFF">
              <a:alpha val="12000"/>
            </a:srgbClr>
          </a:solidFill>
          <a:ln w="12700">
            <a:solidFill>
              <a:srgbClr val="C9A45C"/>
            </a:solidFill>
            <a:prstDash val="solid"/>
          </a:ln>
        </p:spPr>
      </p:sp>
      <p:sp>
        <p:nvSpPr>
          <p:cNvPr id="10" name="Text 6"/>
          <p:cNvSpPr/>
          <p:nvPr/>
        </p:nvSpPr>
        <p:spPr>
          <a:xfrm>
            <a:off x="5112868" y="3968496"/>
            <a:ext cx="1965960" cy="457200"/>
          </a:xfrm>
          <a:prstGeom prst="rect">
            <a:avLst/>
          </a:prstGeom>
          <a:noFill/>
          <a:ln/>
        </p:spPr>
        <p:txBody>
          <a:bodyPr wrap="square" lIns="0" tIns="0" rIns="0" bIns="0" rtlCol="0" anchor="ctr"/>
          <a:lstStyle/>
          <a:p>
            <a:pPr rtl="1" algn="ctr" indent="0" marL="0">
              <a:buNone/>
            </a:pPr>
            <a:r>
              <a:rPr lang="ar-SA" altLang="en-US" sz="1500" b="1" dirty="0">
                <a:solidFill>
                  <a:srgbClr val="FFFFFF"/>
                </a:solidFill>
                <a:latin typeface="Tajawal" pitchFamily="34" charset="0"/>
                <a:ea typeface="Tajawal" pitchFamily="34" charset="-122"/>
                <a:cs typeface="Tajawal" pitchFamily="34" charset="-120"/>
              </a:rPr>
              <a:t>جميع المراحل</a:t>
            </a:r>
            <a:endParaRPr lang="ar-SA" sz="1500" dirty="0"/>
          </a:p>
        </p:txBody>
      </p:sp>
      <p:sp>
        <p:nvSpPr>
          <p:cNvPr id="11" name="Shape 7"/>
          <p:cNvSpPr/>
          <p:nvPr/>
        </p:nvSpPr>
        <p:spPr>
          <a:xfrm>
            <a:off x="2575408" y="4809744"/>
            <a:ext cx="7040880" cy="1060704"/>
          </a:xfrm>
          <a:prstGeom prst="roundRect">
            <a:avLst>
              <a:gd name="adj" fmla="val 8621"/>
            </a:avLst>
          </a:prstGeom>
          <a:solidFill>
            <a:srgbClr val="FFFFFF">
              <a:alpha val="9000"/>
            </a:srgbClr>
          </a:solidFill>
          <a:ln w="9525">
            <a:solidFill>
              <a:srgbClr val="FFFFFF">
                <a:alpha val="45000"/>
              </a:srgbClr>
            </a:solidFill>
            <a:prstDash val="solid"/>
          </a:ln>
        </p:spPr>
      </p:sp>
      <p:sp>
        <p:nvSpPr>
          <p:cNvPr id="12" name="Text 8"/>
          <p:cNvSpPr/>
          <p:nvPr/>
        </p:nvSpPr>
        <p:spPr>
          <a:xfrm>
            <a:off x="2986888" y="4937760"/>
            <a:ext cx="6217920" cy="402336"/>
          </a:xfrm>
          <a:prstGeom prst="rect">
            <a:avLst/>
          </a:prstGeom>
          <a:noFill/>
          <a:ln/>
        </p:spPr>
        <p:txBody>
          <a:bodyPr wrap="square" lIns="0" tIns="0" rIns="0" bIns="0" rtlCol="0" anchor="ctr"/>
          <a:lstStyle/>
          <a:p>
            <a:pPr algn="r" indent="0" marL="0">
              <a:buNone/>
            </a:pPr>
            <a:r>
              <a:rPr lang="ar-SA" altLang="en-US" sz="1400" b="1" dirty="0">
                <a:solidFill>
                  <a:srgbClr val="FFFFFF"/>
                </a:solidFill>
                <a:latin typeface="Tajawal" pitchFamily="34" charset="0"/>
                <a:ea typeface="Tajawal" pitchFamily="34" charset="-122"/>
                <a:cs typeface="Tajawal" pitchFamily="34" charset="-120"/>
              </a:rPr>
              <a:t>اسم المدرسة:  </a:t>
            </a:r>
            <a:pPr algn="r" indent="0" marL="0">
              <a:buNone/>
            </a:pPr>
            <a:r>
              <a:rPr lang="ar-SA" altLang="en-US" sz="1300" dirty="0">
                <a:solidFill>
                  <a:srgbClr val="D6E6E0"/>
                </a:solidFill>
                <a:latin typeface="Tajawal" pitchFamily="34" charset="0"/>
                <a:ea typeface="Tajawal" pitchFamily="34" charset="-122"/>
                <a:cs typeface="Tajawal" pitchFamily="34" charset="-120"/>
              </a:rPr>
              <a:t>……………………………………</a:t>
            </a:r>
            <a:endParaRPr lang="ar-SA" sz="1100" dirty="0"/>
          </a:p>
        </p:txBody>
      </p:sp>
      <p:sp>
        <p:nvSpPr>
          <p:cNvPr id="13" name="Text 9"/>
          <p:cNvSpPr/>
          <p:nvPr/>
        </p:nvSpPr>
        <p:spPr>
          <a:xfrm>
            <a:off x="2986888" y="5358384"/>
            <a:ext cx="6217920" cy="402336"/>
          </a:xfrm>
          <a:prstGeom prst="rect">
            <a:avLst/>
          </a:prstGeom>
          <a:noFill/>
          <a:ln/>
        </p:spPr>
        <p:txBody>
          <a:bodyPr wrap="square" lIns="0" tIns="0" rIns="0" bIns="0" rtlCol="0" anchor="ctr"/>
          <a:lstStyle/>
          <a:p>
            <a:pPr algn="r" indent="0" marL="0">
              <a:buNone/>
            </a:pPr>
            <a:r>
              <a:rPr lang="ar-SA" altLang="en-US" sz="1400" b="1" dirty="0">
                <a:solidFill>
                  <a:srgbClr val="FFFFFF"/>
                </a:solidFill>
                <a:latin typeface="Tajawal" pitchFamily="34" charset="0"/>
                <a:ea typeface="Tajawal" pitchFamily="34" charset="-122"/>
                <a:cs typeface="Tajawal" pitchFamily="34" charset="-120"/>
              </a:rPr>
              <a:t>اسم المديرة:  </a:t>
            </a:r>
            <a:pPr algn="r" indent="0" marL="0">
              <a:buNone/>
            </a:pPr>
            <a:r>
              <a:rPr lang="ar-SA" altLang="en-US" sz="1300" dirty="0">
                <a:solidFill>
                  <a:srgbClr val="D6E6E0"/>
                </a:solidFill>
                <a:latin typeface="Tajawal" pitchFamily="34" charset="0"/>
                <a:ea typeface="Tajawal" pitchFamily="34" charset="-122"/>
                <a:cs typeface="Tajawal" pitchFamily="34" charset="-120"/>
              </a:rPr>
              <a:t>……………………………………</a:t>
            </a:r>
            <a:endParaRPr lang="ar-SA" sz="1100" dirty="0"/>
          </a:p>
        </p:txBody>
      </p:sp>
      <p:sp>
        <p:nvSpPr>
          <p:cNvPr id="14" name="Text 10"/>
          <p:cNvSpPr/>
          <p:nvPr/>
        </p:nvSpPr>
        <p:spPr>
          <a:xfrm>
            <a:off x="1097280" y="6181344"/>
            <a:ext cx="9997135" cy="347472"/>
          </a:xfrm>
          <a:prstGeom prst="rect">
            <a:avLst/>
          </a:prstGeom>
          <a:noFill/>
          <a:ln/>
        </p:spPr>
        <p:txBody>
          <a:bodyPr wrap="square" lIns="0" tIns="0" rIns="0" bIns="0" rtlCol="0" anchor="t"/>
          <a:lstStyle/>
          <a:p>
            <a:pPr rtl="1" algn="ctr" indent="0" marL="0">
              <a:buNone/>
            </a:pPr>
            <a:r>
              <a:rPr lang="ar-SA" altLang="en-US" sz="1150" dirty="0">
                <a:solidFill>
                  <a:srgbClr val="BCD4CC"/>
                </a:solidFill>
                <a:latin typeface="Tajawal" pitchFamily="34" charset="0"/>
                <a:ea typeface="Tajawal" pitchFamily="34" charset="-122"/>
                <a:cs typeface="Tajawal" pitchFamily="34" charset="-120"/>
              </a:rPr>
              <a:t>الملف الإجرائي المدرسي ١٤٤٨هـ</a:t>
            </a:r>
            <a:endParaRPr lang="ar-SA"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دليل العرض</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فهرس المحتويات</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الخطة التشغيلية للعام الدراسي ١٤٤٨هـ</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٠٢</a:t>
            </a:r>
            <a:endParaRPr lang="ar-SA" sz="900" dirty="0"/>
          </a:p>
        </p:txBody>
      </p:sp>
      <p:sp>
        <p:nvSpPr>
          <p:cNvPr id="8" name="Text 4"/>
          <p:cNvSpPr/>
          <p:nvPr/>
        </p:nvSpPr>
        <p:spPr>
          <a:xfrm>
            <a:off x="10253167" y="1353312"/>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01</a:t>
            </a:r>
            <a:endParaRPr lang="ar-SA" sz="3000" dirty="0"/>
          </a:p>
        </p:txBody>
      </p:sp>
      <p:sp>
        <p:nvSpPr>
          <p:cNvPr id="9" name="Text 5"/>
          <p:cNvSpPr/>
          <p:nvPr/>
        </p:nvSpPr>
        <p:spPr>
          <a:xfrm>
            <a:off x="11057839" y="1371600"/>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٠١</a:t>
            </a:r>
            <a:endParaRPr lang="ar-SA" sz="1200" dirty="0"/>
          </a:p>
        </p:txBody>
      </p:sp>
      <p:sp>
        <p:nvSpPr>
          <p:cNvPr id="10" name="Text 6"/>
          <p:cNvSpPr/>
          <p:nvPr/>
        </p:nvSpPr>
        <p:spPr>
          <a:xfrm>
            <a:off x="8109509" y="1371600"/>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المقدمة</a:t>
            </a:r>
            <a:endParaRPr lang="ar-SA" sz="1350" dirty="0"/>
          </a:p>
        </p:txBody>
      </p:sp>
      <p:sp>
        <p:nvSpPr>
          <p:cNvPr id="11" name="Shape 7"/>
          <p:cNvSpPr/>
          <p:nvPr/>
        </p:nvSpPr>
        <p:spPr>
          <a:xfrm>
            <a:off x="8109509" y="2194560"/>
            <a:ext cx="3533546" cy="0"/>
          </a:xfrm>
          <a:prstGeom prst="line">
            <a:avLst/>
          </a:prstGeom>
          <a:noFill/>
          <a:ln w="9525">
            <a:solidFill>
              <a:srgbClr val="E3EDE8"/>
            </a:solidFill>
            <a:prstDash val="solid"/>
          </a:ln>
        </p:spPr>
      </p:sp>
      <p:sp>
        <p:nvSpPr>
          <p:cNvPr id="12" name="Text 8"/>
          <p:cNvSpPr/>
          <p:nvPr/>
        </p:nvSpPr>
        <p:spPr>
          <a:xfrm>
            <a:off x="6427013" y="1353312"/>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02</a:t>
            </a:r>
            <a:endParaRPr lang="ar-SA" sz="3000" dirty="0"/>
          </a:p>
        </p:txBody>
      </p:sp>
      <p:sp>
        <p:nvSpPr>
          <p:cNvPr id="13" name="Text 9"/>
          <p:cNvSpPr/>
          <p:nvPr/>
        </p:nvSpPr>
        <p:spPr>
          <a:xfrm>
            <a:off x="7231685" y="1371600"/>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٠٢</a:t>
            </a:r>
            <a:endParaRPr lang="ar-SA" sz="1200" dirty="0"/>
          </a:p>
        </p:txBody>
      </p:sp>
      <p:sp>
        <p:nvSpPr>
          <p:cNvPr id="14" name="Text 10"/>
          <p:cNvSpPr/>
          <p:nvPr/>
        </p:nvSpPr>
        <p:spPr>
          <a:xfrm>
            <a:off x="4283354" y="1371600"/>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فريق إعداد الخطة</a:t>
            </a:r>
            <a:endParaRPr lang="ar-SA" sz="1350" dirty="0"/>
          </a:p>
        </p:txBody>
      </p:sp>
      <p:sp>
        <p:nvSpPr>
          <p:cNvPr id="15" name="Shape 11"/>
          <p:cNvSpPr/>
          <p:nvPr/>
        </p:nvSpPr>
        <p:spPr>
          <a:xfrm>
            <a:off x="4283354" y="2194560"/>
            <a:ext cx="3533546" cy="0"/>
          </a:xfrm>
          <a:prstGeom prst="line">
            <a:avLst/>
          </a:prstGeom>
          <a:noFill/>
          <a:ln w="9525">
            <a:solidFill>
              <a:srgbClr val="E3EDE8"/>
            </a:solidFill>
            <a:prstDash val="solid"/>
          </a:ln>
        </p:spPr>
      </p:sp>
      <p:sp>
        <p:nvSpPr>
          <p:cNvPr id="16" name="Text 12"/>
          <p:cNvSpPr/>
          <p:nvPr/>
        </p:nvSpPr>
        <p:spPr>
          <a:xfrm>
            <a:off x="2600858" y="1353312"/>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03</a:t>
            </a:r>
            <a:endParaRPr lang="ar-SA" sz="3000" dirty="0"/>
          </a:p>
        </p:txBody>
      </p:sp>
      <p:sp>
        <p:nvSpPr>
          <p:cNvPr id="17" name="Text 13"/>
          <p:cNvSpPr/>
          <p:nvPr/>
        </p:nvSpPr>
        <p:spPr>
          <a:xfrm>
            <a:off x="3405530" y="1371600"/>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٠٣</a:t>
            </a:r>
            <a:endParaRPr lang="ar-SA" sz="1200" dirty="0"/>
          </a:p>
        </p:txBody>
      </p:sp>
      <p:sp>
        <p:nvSpPr>
          <p:cNvPr id="18" name="Text 14"/>
          <p:cNvSpPr/>
          <p:nvPr/>
        </p:nvSpPr>
        <p:spPr>
          <a:xfrm>
            <a:off x="457200" y="1371600"/>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البيانات الإحصائية</a:t>
            </a:r>
            <a:endParaRPr lang="ar-SA" sz="1350" dirty="0"/>
          </a:p>
        </p:txBody>
      </p:sp>
      <p:sp>
        <p:nvSpPr>
          <p:cNvPr id="19" name="Shape 15"/>
          <p:cNvSpPr/>
          <p:nvPr/>
        </p:nvSpPr>
        <p:spPr>
          <a:xfrm>
            <a:off x="457200" y="2194560"/>
            <a:ext cx="3533546" cy="0"/>
          </a:xfrm>
          <a:prstGeom prst="line">
            <a:avLst/>
          </a:prstGeom>
          <a:noFill/>
          <a:ln w="9525">
            <a:solidFill>
              <a:srgbClr val="E3EDE8"/>
            </a:solidFill>
            <a:prstDash val="solid"/>
          </a:ln>
        </p:spPr>
      </p:sp>
      <p:sp>
        <p:nvSpPr>
          <p:cNvPr id="20" name="Text 16"/>
          <p:cNvSpPr/>
          <p:nvPr/>
        </p:nvSpPr>
        <p:spPr>
          <a:xfrm>
            <a:off x="10253167" y="2249424"/>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04</a:t>
            </a:r>
            <a:endParaRPr lang="ar-SA" sz="3000" dirty="0"/>
          </a:p>
        </p:txBody>
      </p:sp>
      <p:sp>
        <p:nvSpPr>
          <p:cNvPr id="21" name="Text 17"/>
          <p:cNvSpPr/>
          <p:nvPr/>
        </p:nvSpPr>
        <p:spPr>
          <a:xfrm>
            <a:off x="11057839" y="2267712"/>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٠٤</a:t>
            </a:r>
            <a:endParaRPr lang="ar-SA" sz="1200" dirty="0"/>
          </a:p>
        </p:txBody>
      </p:sp>
      <p:sp>
        <p:nvSpPr>
          <p:cNvPr id="22" name="Text 18"/>
          <p:cNvSpPr/>
          <p:nvPr/>
        </p:nvSpPr>
        <p:spPr>
          <a:xfrm>
            <a:off x="8109509" y="2267712"/>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بيانات الطلاب والمعلمين</a:t>
            </a:r>
            <a:endParaRPr lang="ar-SA" sz="1350" dirty="0"/>
          </a:p>
        </p:txBody>
      </p:sp>
      <p:sp>
        <p:nvSpPr>
          <p:cNvPr id="23" name="Shape 19"/>
          <p:cNvSpPr/>
          <p:nvPr/>
        </p:nvSpPr>
        <p:spPr>
          <a:xfrm>
            <a:off x="8109509" y="3090672"/>
            <a:ext cx="3533546" cy="0"/>
          </a:xfrm>
          <a:prstGeom prst="line">
            <a:avLst/>
          </a:prstGeom>
          <a:noFill/>
          <a:ln w="9525">
            <a:solidFill>
              <a:srgbClr val="E3EDE8"/>
            </a:solidFill>
            <a:prstDash val="solid"/>
          </a:ln>
        </p:spPr>
      </p:sp>
      <p:sp>
        <p:nvSpPr>
          <p:cNvPr id="24" name="Text 20"/>
          <p:cNvSpPr/>
          <p:nvPr/>
        </p:nvSpPr>
        <p:spPr>
          <a:xfrm>
            <a:off x="6427013" y="2249424"/>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05</a:t>
            </a:r>
            <a:endParaRPr lang="ar-SA" sz="3000" dirty="0"/>
          </a:p>
        </p:txBody>
      </p:sp>
      <p:sp>
        <p:nvSpPr>
          <p:cNvPr id="25" name="Text 21"/>
          <p:cNvSpPr/>
          <p:nvPr/>
        </p:nvSpPr>
        <p:spPr>
          <a:xfrm>
            <a:off x="7231685" y="2267712"/>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٠٥</a:t>
            </a:r>
            <a:endParaRPr lang="ar-SA" sz="1200" dirty="0"/>
          </a:p>
        </p:txBody>
      </p:sp>
      <p:sp>
        <p:nvSpPr>
          <p:cNvPr id="26" name="Text 22"/>
          <p:cNvSpPr/>
          <p:nvPr/>
        </p:nvSpPr>
        <p:spPr>
          <a:xfrm>
            <a:off x="4283354" y="2267712"/>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الرؤية والرسالة والقيم</a:t>
            </a:r>
            <a:endParaRPr lang="ar-SA" sz="1350" dirty="0"/>
          </a:p>
        </p:txBody>
      </p:sp>
      <p:sp>
        <p:nvSpPr>
          <p:cNvPr id="27" name="Shape 23"/>
          <p:cNvSpPr/>
          <p:nvPr/>
        </p:nvSpPr>
        <p:spPr>
          <a:xfrm>
            <a:off x="4283354" y="3090672"/>
            <a:ext cx="3533546" cy="0"/>
          </a:xfrm>
          <a:prstGeom prst="line">
            <a:avLst/>
          </a:prstGeom>
          <a:noFill/>
          <a:ln w="9525">
            <a:solidFill>
              <a:srgbClr val="E3EDE8"/>
            </a:solidFill>
            <a:prstDash val="solid"/>
          </a:ln>
        </p:spPr>
      </p:sp>
      <p:sp>
        <p:nvSpPr>
          <p:cNvPr id="28" name="Text 24"/>
          <p:cNvSpPr/>
          <p:nvPr/>
        </p:nvSpPr>
        <p:spPr>
          <a:xfrm>
            <a:off x="2600858" y="2249424"/>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06</a:t>
            </a:r>
            <a:endParaRPr lang="ar-SA" sz="3000" dirty="0"/>
          </a:p>
        </p:txBody>
      </p:sp>
      <p:sp>
        <p:nvSpPr>
          <p:cNvPr id="29" name="Text 25"/>
          <p:cNvSpPr/>
          <p:nvPr/>
        </p:nvSpPr>
        <p:spPr>
          <a:xfrm>
            <a:off x="3405530" y="2267712"/>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٠٦</a:t>
            </a:r>
            <a:endParaRPr lang="ar-SA" sz="1200" dirty="0"/>
          </a:p>
        </p:txBody>
      </p:sp>
      <p:sp>
        <p:nvSpPr>
          <p:cNvPr id="30" name="Text 26"/>
          <p:cNvSpPr/>
          <p:nvPr/>
        </p:nvSpPr>
        <p:spPr>
          <a:xfrm>
            <a:off x="457200" y="2267712"/>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مرتكزات ومصادر الخطة</a:t>
            </a:r>
            <a:endParaRPr lang="ar-SA" sz="1350" dirty="0"/>
          </a:p>
        </p:txBody>
      </p:sp>
      <p:sp>
        <p:nvSpPr>
          <p:cNvPr id="31" name="Shape 27"/>
          <p:cNvSpPr/>
          <p:nvPr/>
        </p:nvSpPr>
        <p:spPr>
          <a:xfrm>
            <a:off x="457200" y="3090672"/>
            <a:ext cx="3533546" cy="0"/>
          </a:xfrm>
          <a:prstGeom prst="line">
            <a:avLst/>
          </a:prstGeom>
          <a:noFill/>
          <a:ln w="9525">
            <a:solidFill>
              <a:srgbClr val="E3EDE8"/>
            </a:solidFill>
            <a:prstDash val="solid"/>
          </a:ln>
        </p:spPr>
      </p:sp>
      <p:sp>
        <p:nvSpPr>
          <p:cNvPr id="32" name="Text 28"/>
          <p:cNvSpPr/>
          <p:nvPr/>
        </p:nvSpPr>
        <p:spPr>
          <a:xfrm>
            <a:off x="10253167" y="3145536"/>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07</a:t>
            </a:r>
            <a:endParaRPr lang="ar-SA" sz="3000" dirty="0"/>
          </a:p>
        </p:txBody>
      </p:sp>
      <p:sp>
        <p:nvSpPr>
          <p:cNvPr id="33" name="Text 29"/>
          <p:cNvSpPr/>
          <p:nvPr/>
        </p:nvSpPr>
        <p:spPr>
          <a:xfrm>
            <a:off x="11057839" y="3163824"/>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٠٧</a:t>
            </a:r>
            <a:endParaRPr lang="ar-SA" sz="1200" dirty="0"/>
          </a:p>
        </p:txBody>
      </p:sp>
      <p:sp>
        <p:nvSpPr>
          <p:cNvPr id="34" name="Text 30"/>
          <p:cNvSpPr/>
          <p:nvPr/>
        </p:nvSpPr>
        <p:spPr>
          <a:xfrm>
            <a:off x="8109509" y="3163824"/>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أولويات مجالات التقويم</a:t>
            </a:r>
            <a:endParaRPr lang="ar-SA" sz="1350" dirty="0"/>
          </a:p>
        </p:txBody>
      </p:sp>
      <p:sp>
        <p:nvSpPr>
          <p:cNvPr id="35" name="Shape 31"/>
          <p:cNvSpPr/>
          <p:nvPr/>
        </p:nvSpPr>
        <p:spPr>
          <a:xfrm>
            <a:off x="8109509" y="3986784"/>
            <a:ext cx="3533546" cy="0"/>
          </a:xfrm>
          <a:prstGeom prst="line">
            <a:avLst/>
          </a:prstGeom>
          <a:noFill/>
          <a:ln w="9525">
            <a:solidFill>
              <a:srgbClr val="E3EDE8"/>
            </a:solidFill>
            <a:prstDash val="solid"/>
          </a:ln>
        </p:spPr>
      </p:sp>
      <p:sp>
        <p:nvSpPr>
          <p:cNvPr id="36" name="Text 32"/>
          <p:cNvSpPr/>
          <p:nvPr/>
        </p:nvSpPr>
        <p:spPr>
          <a:xfrm>
            <a:off x="6427013" y="3145536"/>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08</a:t>
            </a:r>
            <a:endParaRPr lang="ar-SA" sz="3000" dirty="0"/>
          </a:p>
        </p:txBody>
      </p:sp>
      <p:sp>
        <p:nvSpPr>
          <p:cNvPr id="37" name="Text 33"/>
          <p:cNvSpPr/>
          <p:nvPr/>
        </p:nvSpPr>
        <p:spPr>
          <a:xfrm>
            <a:off x="7231685" y="3163824"/>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٠٨</a:t>
            </a:r>
            <a:endParaRPr lang="ar-SA" sz="1200" dirty="0"/>
          </a:p>
        </p:txBody>
      </p:sp>
      <p:sp>
        <p:nvSpPr>
          <p:cNvPr id="38" name="Text 34"/>
          <p:cNvSpPr/>
          <p:nvPr/>
        </p:nvSpPr>
        <p:spPr>
          <a:xfrm>
            <a:off x="4283354" y="3163824"/>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تحليل SWOT</a:t>
            </a:r>
            <a:endParaRPr lang="ar-SA" sz="1350" dirty="0"/>
          </a:p>
        </p:txBody>
      </p:sp>
      <p:sp>
        <p:nvSpPr>
          <p:cNvPr id="39" name="Shape 35"/>
          <p:cNvSpPr/>
          <p:nvPr/>
        </p:nvSpPr>
        <p:spPr>
          <a:xfrm>
            <a:off x="4283354" y="3986784"/>
            <a:ext cx="3533546" cy="0"/>
          </a:xfrm>
          <a:prstGeom prst="line">
            <a:avLst/>
          </a:prstGeom>
          <a:noFill/>
          <a:ln w="9525">
            <a:solidFill>
              <a:srgbClr val="E3EDE8"/>
            </a:solidFill>
            <a:prstDash val="solid"/>
          </a:ln>
        </p:spPr>
      </p:sp>
      <p:sp>
        <p:nvSpPr>
          <p:cNvPr id="40" name="Text 36"/>
          <p:cNvSpPr/>
          <p:nvPr/>
        </p:nvSpPr>
        <p:spPr>
          <a:xfrm>
            <a:off x="2600858" y="3145536"/>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09</a:t>
            </a:r>
            <a:endParaRPr lang="ar-SA" sz="3000" dirty="0"/>
          </a:p>
        </p:txBody>
      </p:sp>
      <p:sp>
        <p:nvSpPr>
          <p:cNvPr id="41" name="Text 37"/>
          <p:cNvSpPr/>
          <p:nvPr/>
        </p:nvSpPr>
        <p:spPr>
          <a:xfrm>
            <a:off x="3405530" y="3163824"/>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٠٩</a:t>
            </a:r>
            <a:endParaRPr lang="ar-SA" sz="1200" dirty="0"/>
          </a:p>
        </p:txBody>
      </p:sp>
      <p:sp>
        <p:nvSpPr>
          <p:cNvPr id="42" name="Text 38"/>
          <p:cNvSpPr/>
          <p:nvPr/>
        </p:nvSpPr>
        <p:spPr>
          <a:xfrm>
            <a:off x="457200" y="3163824"/>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القضايا الملحة للمدرسة</a:t>
            </a:r>
            <a:endParaRPr lang="ar-SA" sz="1350" dirty="0"/>
          </a:p>
        </p:txBody>
      </p:sp>
      <p:sp>
        <p:nvSpPr>
          <p:cNvPr id="43" name="Shape 39"/>
          <p:cNvSpPr/>
          <p:nvPr/>
        </p:nvSpPr>
        <p:spPr>
          <a:xfrm>
            <a:off x="457200" y="3986784"/>
            <a:ext cx="3533546" cy="0"/>
          </a:xfrm>
          <a:prstGeom prst="line">
            <a:avLst/>
          </a:prstGeom>
          <a:noFill/>
          <a:ln w="9525">
            <a:solidFill>
              <a:srgbClr val="E3EDE8"/>
            </a:solidFill>
            <a:prstDash val="solid"/>
          </a:ln>
        </p:spPr>
      </p:sp>
      <p:sp>
        <p:nvSpPr>
          <p:cNvPr id="44" name="Text 40"/>
          <p:cNvSpPr/>
          <p:nvPr/>
        </p:nvSpPr>
        <p:spPr>
          <a:xfrm>
            <a:off x="10253167" y="4041648"/>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10</a:t>
            </a:r>
            <a:endParaRPr lang="ar-SA" sz="3000" dirty="0"/>
          </a:p>
        </p:txBody>
      </p:sp>
      <p:sp>
        <p:nvSpPr>
          <p:cNvPr id="45" name="Text 41"/>
          <p:cNvSpPr/>
          <p:nvPr/>
        </p:nvSpPr>
        <p:spPr>
          <a:xfrm>
            <a:off x="11057839" y="4059936"/>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١٠</a:t>
            </a:r>
            <a:endParaRPr lang="ar-SA" sz="1200" dirty="0"/>
          </a:p>
        </p:txBody>
      </p:sp>
      <p:sp>
        <p:nvSpPr>
          <p:cNvPr id="46" name="Text 42"/>
          <p:cNvSpPr/>
          <p:nvPr/>
        </p:nvSpPr>
        <p:spPr>
          <a:xfrm>
            <a:off x="8109509" y="4059936"/>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الأهداف الاستراتيجية</a:t>
            </a:r>
            <a:endParaRPr lang="ar-SA" sz="1350" dirty="0"/>
          </a:p>
        </p:txBody>
      </p:sp>
      <p:sp>
        <p:nvSpPr>
          <p:cNvPr id="47" name="Shape 43"/>
          <p:cNvSpPr/>
          <p:nvPr/>
        </p:nvSpPr>
        <p:spPr>
          <a:xfrm>
            <a:off x="8109509" y="4882896"/>
            <a:ext cx="3533546" cy="0"/>
          </a:xfrm>
          <a:prstGeom prst="line">
            <a:avLst/>
          </a:prstGeom>
          <a:noFill/>
          <a:ln w="9525">
            <a:solidFill>
              <a:srgbClr val="E3EDE8"/>
            </a:solidFill>
            <a:prstDash val="solid"/>
          </a:ln>
        </p:spPr>
      </p:sp>
      <p:sp>
        <p:nvSpPr>
          <p:cNvPr id="48" name="Text 44"/>
          <p:cNvSpPr/>
          <p:nvPr/>
        </p:nvSpPr>
        <p:spPr>
          <a:xfrm>
            <a:off x="6427013" y="4041648"/>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11</a:t>
            </a:r>
            <a:endParaRPr lang="ar-SA" sz="3000" dirty="0"/>
          </a:p>
        </p:txBody>
      </p:sp>
      <p:sp>
        <p:nvSpPr>
          <p:cNvPr id="49" name="Text 45"/>
          <p:cNvSpPr/>
          <p:nvPr/>
        </p:nvSpPr>
        <p:spPr>
          <a:xfrm>
            <a:off x="7231685" y="4059936"/>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١١</a:t>
            </a:r>
            <a:endParaRPr lang="ar-SA" sz="1200" dirty="0"/>
          </a:p>
        </p:txBody>
      </p:sp>
      <p:sp>
        <p:nvSpPr>
          <p:cNvPr id="50" name="Text 46"/>
          <p:cNvSpPr/>
          <p:nvPr/>
        </p:nvSpPr>
        <p:spPr>
          <a:xfrm>
            <a:off x="4283354" y="4059936"/>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التوزيع الكمي للأهداف</a:t>
            </a:r>
            <a:endParaRPr lang="ar-SA" sz="1350" dirty="0"/>
          </a:p>
        </p:txBody>
      </p:sp>
      <p:sp>
        <p:nvSpPr>
          <p:cNvPr id="51" name="Shape 47"/>
          <p:cNvSpPr/>
          <p:nvPr/>
        </p:nvSpPr>
        <p:spPr>
          <a:xfrm>
            <a:off x="4283354" y="4882896"/>
            <a:ext cx="3533546" cy="0"/>
          </a:xfrm>
          <a:prstGeom prst="line">
            <a:avLst/>
          </a:prstGeom>
          <a:noFill/>
          <a:ln w="9525">
            <a:solidFill>
              <a:srgbClr val="E3EDE8"/>
            </a:solidFill>
            <a:prstDash val="solid"/>
          </a:ln>
        </p:spPr>
      </p:sp>
      <p:sp>
        <p:nvSpPr>
          <p:cNvPr id="52" name="Text 48"/>
          <p:cNvSpPr/>
          <p:nvPr/>
        </p:nvSpPr>
        <p:spPr>
          <a:xfrm>
            <a:off x="2600858" y="4041648"/>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12</a:t>
            </a:r>
            <a:endParaRPr lang="ar-SA" sz="3000" dirty="0"/>
          </a:p>
        </p:txBody>
      </p:sp>
      <p:sp>
        <p:nvSpPr>
          <p:cNvPr id="53" name="Text 49"/>
          <p:cNvSpPr/>
          <p:nvPr/>
        </p:nvSpPr>
        <p:spPr>
          <a:xfrm>
            <a:off x="3405530" y="4059936"/>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١٢</a:t>
            </a:r>
            <a:endParaRPr lang="ar-SA" sz="1200" dirty="0"/>
          </a:p>
        </p:txBody>
      </p:sp>
      <p:sp>
        <p:nvSpPr>
          <p:cNvPr id="54" name="Text 50"/>
          <p:cNvSpPr/>
          <p:nvPr/>
        </p:nvSpPr>
        <p:spPr>
          <a:xfrm>
            <a:off x="457200" y="4059936"/>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برامج الأهداف العشرة</a:t>
            </a:r>
            <a:endParaRPr lang="ar-SA" sz="1350" dirty="0"/>
          </a:p>
        </p:txBody>
      </p:sp>
      <p:sp>
        <p:nvSpPr>
          <p:cNvPr id="55" name="Shape 51"/>
          <p:cNvSpPr/>
          <p:nvPr/>
        </p:nvSpPr>
        <p:spPr>
          <a:xfrm>
            <a:off x="457200" y="4882896"/>
            <a:ext cx="3533546" cy="0"/>
          </a:xfrm>
          <a:prstGeom prst="line">
            <a:avLst/>
          </a:prstGeom>
          <a:noFill/>
          <a:ln w="9525">
            <a:solidFill>
              <a:srgbClr val="E3EDE8"/>
            </a:solidFill>
            <a:prstDash val="solid"/>
          </a:ln>
        </p:spPr>
      </p:sp>
      <p:sp>
        <p:nvSpPr>
          <p:cNvPr id="56" name="Text 52"/>
          <p:cNvSpPr/>
          <p:nvPr/>
        </p:nvSpPr>
        <p:spPr>
          <a:xfrm>
            <a:off x="10253167" y="4937760"/>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13</a:t>
            </a:r>
            <a:endParaRPr lang="ar-SA" sz="3000" dirty="0"/>
          </a:p>
        </p:txBody>
      </p:sp>
      <p:sp>
        <p:nvSpPr>
          <p:cNvPr id="57" name="Text 53"/>
          <p:cNvSpPr/>
          <p:nvPr/>
        </p:nvSpPr>
        <p:spPr>
          <a:xfrm>
            <a:off x="11057839" y="4956048"/>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١٣</a:t>
            </a:r>
            <a:endParaRPr lang="ar-SA" sz="1200" dirty="0"/>
          </a:p>
        </p:txBody>
      </p:sp>
      <p:sp>
        <p:nvSpPr>
          <p:cNvPr id="58" name="Text 54"/>
          <p:cNvSpPr/>
          <p:nvPr/>
        </p:nvSpPr>
        <p:spPr>
          <a:xfrm>
            <a:off x="8109509" y="4956048"/>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نظام المتابعة والمساءلة</a:t>
            </a:r>
            <a:endParaRPr lang="ar-SA" sz="1350" dirty="0"/>
          </a:p>
        </p:txBody>
      </p:sp>
      <p:sp>
        <p:nvSpPr>
          <p:cNvPr id="59" name="Shape 55"/>
          <p:cNvSpPr/>
          <p:nvPr/>
        </p:nvSpPr>
        <p:spPr>
          <a:xfrm>
            <a:off x="8109509" y="5779008"/>
            <a:ext cx="3533546" cy="0"/>
          </a:xfrm>
          <a:prstGeom prst="line">
            <a:avLst/>
          </a:prstGeom>
          <a:noFill/>
          <a:ln w="9525">
            <a:solidFill>
              <a:srgbClr val="E3EDE8"/>
            </a:solidFill>
            <a:prstDash val="solid"/>
          </a:ln>
        </p:spPr>
      </p:sp>
      <p:sp>
        <p:nvSpPr>
          <p:cNvPr id="60" name="Text 56"/>
          <p:cNvSpPr/>
          <p:nvPr/>
        </p:nvSpPr>
        <p:spPr>
          <a:xfrm>
            <a:off x="6427013" y="4937760"/>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14</a:t>
            </a:r>
            <a:endParaRPr lang="ar-SA" sz="3000" dirty="0"/>
          </a:p>
        </p:txBody>
      </p:sp>
      <p:sp>
        <p:nvSpPr>
          <p:cNvPr id="61" name="Text 57"/>
          <p:cNvSpPr/>
          <p:nvPr/>
        </p:nvSpPr>
        <p:spPr>
          <a:xfrm>
            <a:off x="7231685" y="4956048"/>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١٤</a:t>
            </a:r>
            <a:endParaRPr lang="ar-SA" sz="1200" dirty="0"/>
          </a:p>
        </p:txBody>
      </p:sp>
      <p:sp>
        <p:nvSpPr>
          <p:cNvPr id="62" name="Text 58"/>
          <p:cNvSpPr/>
          <p:nvPr/>
        </p:nvSpPr>
        <p:spPr>
          <a:xfrm>
            <a:off x="4283354" y="4956048"/>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نموذج المساءلة</a:t>
            </a:r>
            <a:endParaRPr lang="ar-SA" sz="1350" dirty="0"/>
          </a:p>
        </p:txBody>
      </p:sp>
      <p:sp>
        <p:nvSpPr>
          <p:cNvPr id="63" name="Shape 59"/>
          <p:cNvSpPr/>
          <p:nvPr/>
        </p:nvSpPr>
        <p:spPr>
          <a:xfrm>
            <a:off x="4283354" y="5779008"/>
            <a:ext cx="3533546" cy="0"/>
          </a:xfrm>
          <a:prstGeom prst="line">
            <a:avLst/>
          </a:prstGeom>
          <a:noFill/>
          <a:ln w="9525">
            <a:solidFill>
              <a:srgbClr val="E3EDE8"/>
            </a:solidFill>
            <a:prstDash val="solid"/>
          </a:ln>
        </p:spPr>
      </p:sp>
      <p:sp>
        <p:nvSpPr>
          <p:cNvPr id="64" name="Text 60"/>
          <p:cNvSpPr/>
          <p:nvPr/>
        </p:nvSpPr>
        <p:spPr>
          <a:xfrm>
            <a:off x="2600858" y="4937760"/>
            <a:ext cx="1371600" cy="896112"/>
          </a:xfrm>
          <a:prstGeom prst="rect">
            <a:avLst/>
          </a:prstGeom>
          <a:noFill/>
          <a:ln/>
        </p:spPr>
        <p:txBody>
          <a:bodyPr wrap="square" lIns="0" tIns="0" rIns="0" bIns="0" rtlCol="0" anchor="ctr"/>
          <a:lstStyle/>
          <a:p>
            <a:pPr rtl="1" algn="r" indent="0" marL="0">
              <a:buNone/>
            </a:pPr>
            <a:r>
              <a:rPr lang="ar-SA" altLang="en-US" sz="3000" dirty="0">
                <a:solidFill>
                  <a:srgbClr val="F0F6F2"/>
                </a:solidFill>
                <a:latin typeface="Tajawal ExtraBold" pitchFamily="34" charset="0"/>
                <a:ea typeface="Tajawal ExtraBold" pitchFamily="34" charset="-122"/>
                <a:cs typeface="Tajawal ExtraBold" pitchFamily="34" charset="-120"/>
              </a:rPr>
              <a:t>15</a:t>
            </a:r>
            <a:endParaRPr lang="ar-SA" sz="3000" dirty="0"/>
          </a:p>
        </p:txBody>
      </p:sp>
      <p:sp>
        <p:nvSpPr>
          <p:cNvPr id="65" name="Text 61"/>
          <p:cNvSpPr/>
          <p:nvPr/>
        </p:nvSpPr>
        <p:spPr>
          <a:xfrm>
            <a:off x="3405530" y="4956048"/>
            <a:ext cx="585216" cy="896112"/>
          </a:xfrm>
          <a:prstGeom prst="rect">
            <a:avLst/>
          </a:prstGeom>
          <a:noFill/>
          <a:ln/>
        </p:spPr>
        <p:txBody>
          <a:bodyPr wrap="square" lIns="0" tIns="0" rIns="0" bIns="0" rtlCol="0" anchor="ctr"/>
          <a:lstStyle/>
          <a:p>
            <a:pPr rtl="1" algn="r" indent="0" marL="0">
              <a:buNone/>
            </a:pPr>
            <a:r>
              <a:rPr lang="ar-SA" altLang="en-US" sz="1200" b="1" dirty="0">
                <a:solidFill>
                  <a:srgbClr val="0089A1"/>
                </a:solidFill>
                <a:latin typeface="Tajawal ExtraBold" pitchFamily="34" charset="0"/>
                <a:ea typeface="Tajawal ExtraBold" pitchFamily="34" charset="-122"/>
                <a:cs typeface="Tajawal ExtraBold" pitchFamily="34" charset="-120"/>
              </a:rPr>
              <a:t>١٥</a:t>
            </a:r>
            <a:endParaRPr lang="ar-SA" sz="1200" dirty="0"/>
          </a:p>
        </p:txBody>
      </p:sp>
      <p:sp>
        <p:nvSpPr>
          <p:cNvPr id="66" name="Text 62"/>
          <p:cNvSpPr/>
          <p:nvPr/>
        </p:nvSpPr>
        <p:spPr>
          <a:xfrm>
            <a:off x="457200" y="4956048"/>
            <a:ext cx="2820314" cy="896112"/>
          </a:xfrm>
          <a:prstGeom prst="rect">
            <a:avLst/>
          </a:prstGeom>
          <a:noFill/>
          <a:ln/>
        </p:spPr>
        <p:txBody>
          <a:bodyPr wrap="square" lIns="0" tIns="0" rIns="0" bIns="0" rtlCol="0" anchor="ctr"/>
          <a:lstStyle/>
          <a:p>
            <a:pPr rtl="1" algn="r" indent="0" marL="0">
              <a:buNone/>
            </a:pPr>
            <a:r>
              <a:rPr lang="ar-SA" altLang="en-US" sz="1350" b="1" dirty="0">
                <a:solidFill>
                  <a:srgbClr val="0A1F19"/>
                </a:solidFill>
                <a:latin typeface="Tajawal" pitchFamily="34" charset="0"/>
                <a:ea typeface="Tajawal" pitchFamily="34" charset="-122"/>
                <a:cs typeface="Tajawal" pitchFamily="34" charset="-120"/>
              </a:rPr>
              <a:t>اعتماد الخطة التشغيلية</a:t>
            </a:r>
            <a:endParaRPr lang="ar-SA" sz="1350" dirty="0"/>
          </a:p>
        </p:txBody>
      </p:sp>
      <p:sp>
        <p:nvSpPr>
          <p:cNvPr id="67" name="Shape 63"/>
          <p:cNvSpPr/>
          <p:nvPr/>
        </p:nvSpPr>
        <p:spPr>
          <a:xfrm>
            <a:off x="457200" y="5779008"/>
            <a:ext cx="3533546" cy="0"/>
          </a:xfrm>
          <a:prstGeom prst="line">
            <a:avLst/>
          </a:prstGeom>
          <a:noFill/>
          <a:ln w="9525">
            <a:solidFill>
              <a:srgbClr val="E3EDE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claude-0/-home-user-Mobile1/ab9bbf47-b054-5f6e-be59-70476e095ce8/scratchpad/assets/bg_divide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white.png">    </p:cNvPr>
          <p:cNvPicPr>
            <a:picLocks noChangeAspect="1"/>
          </p:cNvPicPr>
          <p:nvPr/>
        </p:nvPicPr>
        <p:blipFill>
          <a:blip r:embed="rId2"/>
          <a:stretch>
            <a:fillRect/>
          </a:stretch>
        </p:blipFill>
        <p:spPr>
          <a:xfrm>
            <a:off x="10682935" y="457200"/>
            <a:ext cx="1051560" cy="812902"/>
          </a:xfrm>
          <a:prstGeom prst="rect">
            <a:avLst/>
          </a:prstGeom>
        </p:spPr>
      </p:pic>
      <p:sp>
        <p:nvSpPr>
          <p:cNvPr id="4" name="Text 0"/>
          <p:cNvSpPr/>
          <p:nvPr/>
        </p:nvSpPr>
        <p:spPr>
          <a:xfrm>
            <a:off x="594360" y="1234440"/>
            <a:ext cx="4023360" cy="3291840"/>
          </a:xfrm>
          <a:prstGeom prst="rect">
            <a:avLst/>
          </a:prstGeom>
          <a:noFill/>
          <a:ln/>
        </p:spPr>
        <p:txBody>
          <a:bodyPr wrap="square" lIns="0" tIns="0" rIns="0" bIns="0" rtlCol="0" anchor="ctr"/>
          <a:lstStyle/>
          <a:p>
            <a:pPr rtl="1" algn="l" indent="0" marL="0">
              <a:buNone/>
            </a:pPr>
            <a:r>
              <a:rPr lang="ar-SA" altLang="en-US" sz="16500" dirty="0">
                <a:solidFill>
                  <a:srgbClr val="0C6553"/>
                </a:solidFill>
                <a:latin typeface="Tajawal ExtraBold" pitchFamily="34" charset="0"/>
                <a:ea typeface="Tajawal ExtraBold" pitchFamily="34" charset="-122"/>
                <a:cs typeface="Tajawal ExtraBold" pitchFamily="34" charset="-120"/>
              </a:rPr>
              <a:t>01</a:t>
            </a:r>
            <a:endParaRPr lang="ar-SA" sz="16500" dirty="0"/>
          </a:p>
        </p:txBody>
      </p:sp>
      <p:sp>
        <p:nvSpPr>
          <p:cNvPr id="5" name="Text 1"/>
          <p:cNvSpPr/>
          <p:nvPr/>
        </p:nvSpPr>
        <p:spPr>
          <a:xfrm>
            <a:off x="4967935" y="2084832"/>
            <a:ext cx="6766560" cy="292608"/>
          </a:xfrm>
          <a:prstGeom prst="rect">
            <a:avLst/>
          </a:prstGeom>
          <a:noFill/>
          <a:ln/>
        </p:spPr>
        <p:txBody>
          <a:bodyPr wrap="square" lIns="0" tIns="0" rIns="0" bIns="0" rtlCol="0" anchor="t"/>
          <a:lstStyle/>
          <a:p>
            <a:pPr rtl="1" algn="r" indent="0" marL="0">
              <a:buNone/>
            </a:pPr>
            <a:r>
              <a:rPr lang="ar-SA" altLang="en-US" sz="1200" b="1" spc="150" kern="0" dirty="0">
                <a:solidFill>
                  <a:srgbClr val="C9A45C"/>
                </a:solidFill>
                <a:latin typeface="Tajawal" pitchFamily="34" charset="0"/>
                <a:ea typeface="Tajawal" pitchFamily="34" charset="-122"/>
                <a:cs typeface="Tajawal" pitchFamily="34" charset="-120"/>
              </a:rPr>
              <a:t>الجزء الأول</a:t>
            </a:r>
            <a:endParaRPr lang="ar-SA" sz="1200" dirty="0"/>
          </a:p>
        </p:txBody>
      </p:sp>
      <p:sp>
        <p:nvSpPr>
          <p:cNvPr id="6" name="Text 2"/>
          <p:cNvSpPr/>
          <p:nvPr/>
        </p:nvSpPr>
        <p:spPr>
          <a:xfrm>
            <a:off x="3687775" y="2395728"/>
            <a:ext cx="8046720" cy="914400"/>
          </a:xfrm>
          <a:prstGeom prst="rect">
            <a:avLst/>
          </a:prstGeom>
          <a:noFill/>
          <a:ln/>
        </p:spPr>
        <p:txBody>
          <a:bodyPr wrap="square" lIns="0" tIns="0" rIns="0" bIns="0" rtlCol="0" anchor="ctr"/>
          <a:lstStyle/>
          <a:p>
            <a:pPr rtl="1" algn="r" indent="0" marL="0">
              <a:buNone/>
            </a:pPr>
            <a:r>
              <a:rPr lang="ar-SA" altLang="en-US" sz="3800" dirty="0">
                <a:solidFill>
                  <a:srgbClr val="FFFFFF"/>
                </a:solidFill>
                <a:latin typeface="Tajawal ExtraBold" pitchFamily="34" charset="0"/>
                <a:ea typeface="Tajawal ExtraBold" pitchFamily="34" charset="-122"/>
                <a:cs typeface="Tajawal ExtraBold" pitchFamily="34" charset="-120"/>
              </a:rPr>
              <a:t>قراءة الواقع المدرسي</a:t>
            </a:r>
            <a:endParaRPr lang="ar-SA" sz="3800" dirty="0"/>
          </a:p>
        </p:txBody>
      </p:sp>
      <p:sp>
        <p:nvSpPr>
          <p:cNvPr id="7" name="Shape 3"/>
          <p:cNvSpPr/>
          <p:nvPr/>
        </p:nvSpPr>
        <p:spPr>
          <a:xfrm>
            <a:off x="9997135" y="3474720"/>
            <a:ext cx="1737360" cy="0"/>
          </a:xfrm>
          <a:prstGeom prst="line">
            <a:avLst/>
          </a:prstGeom>
          <a:noFill/>
          <a:ln w="15875">
            <a:solidFill>
              <a:srgbClr val="C9A45C"/>
            </a:solidFill>
            <a:prstDash val="solid"/>
          </a:ln>
        </p:spPr>
      </p:sp>
      <p:sp>
        <p:nvSpPr>
          <p:cNvPr id="8" name="Shape 4"/>
          <p:cNvSpPr/>
          <p:nvPr/>
        </p:nvSpPr>
        <p:spPr>
          <a:xfrm>
            <a:off x="11643055" y="3867912"/>
            <a:ext cx="91440" cy="91440"/>
          </a:xfrm>
          <a:prstGeom prst="rect">
            <a:avLst/>
          </a:prstGeom>
          <a:solidFill>
            <a:srgbClr val="C9A45C"/>
          </a:solidFill>
          <a:ln/>
        </p:spPr>
      </p:sp>
      <p:sp>
        <p:nvSpPr>
          <p:cNvPr id="9" name="Text 5"/>
          <p:cNvSpPr/>
          <p:nvPr/>
        </p:nvSpPr>
        <p:spPr>
          <a:xfrm>
            <a:off x="8168335" y="3749040"/>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المقدمة</a:t>
            </a:r>
            <a:endParaRPr lang="ar-SA" sz="1150" dirty="0"/>
          </a:p>
        </p:txBody>
      </p:sp>
      <p:sp>
        <p:nvSpPr>
          <p:cNvPr id="10" name="Shape 6"/>
          <p:cNvSpPr/>
          <p:nvPr/>
        </p:nvSpPr>
        <p:spPr>
          <a:xfrm>
            <a:off x="11643055" y="4270248"/>
            <a:ext cx="91440" cy="91440"/>
          </a:xfrm>
          <a:prstGeom prst="rect">
            <a:avLst/>
          </a:prstGeom>
          <a:solidFill>
            <a:srgbClr val="C9A45C"/>
          </a:solidFill>
          <a:ln/>
        </p:spPr>
      </p:sp>
      <p:sp>
        <p:nvSpPr>
          <p:cNvPr id="11" name="Text 7"/>
          <p:cNvSpPr/>
          <p:nvPr/>
        </p:nvSpPr>
        <p:spPr>
          <a:xfrm>
            <a:off x="8168335" y="4151376"/>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فريق إعداد الخطة</a:t>
            </a:r>
            <a:endParaRPr lang="ar-SA" sz="1150" dirty="0"/>
          </a:p>
        </p:txBody>
      </p:sp>
      <p:sp>
        <p:nvSpPr>
          <p:cNvPr id="12" name="Shape 8"/>
          <p:cNvSpPr/>
          <p:nvPr/>
        </p:nvSpPr>
        <p:spPr>
          <a:xfrm>
            <a:off x="11643055" y="4672584"/>
            <a:ext cx="91440" cy="91440"/>
          </a:xfrm>
          <a:prstGeom prst="rect">
            <a:avLst/>
          </a:prstGeom>
          <a:solidFill>
            <a:srgbClr val="C9A45C"/>
          </a:solidFill>
          <a:ln/>
        </p:spPr>
      </p:sp>
      <p:sp>
        <p:nvSpPr>
          <p:cNvPr id="13" name="Text 9"/>
          <p:cNvSpPr/>
          <p:nvPr/>
        </p:nvSpPr>
        <p:spPr>
          <a:xfrm>
            <a:off x="8168335" y="4553712"/>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البيانات الإحصائية</a:t>
            </a:r>
            <a:endParaRPr lang="ar-SA" sz="1150" dirty="0"/>
          </a:p>
        </p:txBody>
      </p:sp>
      <p:sp>
        <p:nvSpPr>
          <p:cNvPr id="14" name="Shape 10"/>
          <p:cNvSpPr/>
          <p:nvPr/>
        </p:nvSpPr>
        <p:spPr>
          <a:xfrm>
            <a:off x="11643055" y="5074920"/>
            <a:ext cx="91440" cy="91440"/>
          </a:xfrm>
          <a:prstGeom prst="rect">
            <a:avLst/>
          </a:prstGeom>
          <a:solidFill>
            <a:srgbClr val="C9A45C"/>
          </a:solidFill>
          <a:ln/>
        </p:spPr>
      </p:sp>
      <p:sp>
        <p:nvSpPr>
          <p:cNvPr id="15" name="Text 11"/>
          <p:cNvSpPr/>
          <p:nvPr/>
        </p:nvSpPr>
        <p:spPr>
          <a:xfrm>
            <a:off x="8168335" y="4956048"/>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بيانات الطلاب والمعلمين</a:t>
            </a:r>
            <a:endParaRPr lang="ar-SA" sz="1150" dirty="0"/>
          </a:p>
        </p:txBody>
      </p:sp>
      <p:sp>
        <p:nvSpPr>
          <p:cNvPr id="16" name="Shape 12"/>
          <p:cNvSpPr/>
          <p:nvPr/>
        </p:nvSpPr>
        <p:spPr>
          <a:xfrm>
            <a:off x="7848295" y="3867912"/>
            <a:ext cx="91440" cy="91440"/>
          </a:xfrm>
          <a:prstGeom prst="rect">
            <a:avLst/>
          </a:prstGeom>
          <a:solidFill>
            <a:srgbClr val="C9A45C"/>
          </a:solidFill>
          <a:ln/>
        </p:spPr>
      </p:sp>
      <p:sp>
        <p:nvSpPr>
          <p:cNvPr id="17" name="Text 13"/>
          <p:cNvSpPr/>
          <p:nvPr/>
        </p:nvSpPr>
        <p:spPr>
          <a:xfrm>
            <a:off x="4373575" y="3749040"/>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الرؤية والرسالة والقيم</a:t>
            </a:r>
            <a:endParaRPr lang="ar-SA" sz="1150" dirty="0"/>
          </a:p>
        </p:txBody>
      </p:sp>
      <p:sp>
        <p:nvSpPr>
          <p:cNvPr id="18" name="Shape 14"/>
          <p:cNvSpPr/>
          <p:nvPr/>
        </p:nvSpPr>
        <p:spPr>
          <a:xfrm>
            <a:off x="7848295" y="4270248"/>
            <a:ext cx="91440" cy="91440"/>
          </a:xfrm>
          <a:prstGeom prst="rect">
            <a:avLst/>
          </a:prstGeom>
          <a:solidFill>
            <a:srgbClr val="C9A45C"/>
          </a:solidFill>
          <a:ln/>
        </p:spPr>
      </p:sp>
      <p:sp>
        <p:nvSpPr>
          <p:cNvPr id="19" name="Text 15"/>
          <p:cNvSpPr/>
          <p:nvPr/>
        </p:nvSpPr>
        <p:spPr>
          <a:xfrm>
            <a:off x="4373575" y="4151376"/>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مرتكزات ومصادر الخطة</a:t>
            </a:r>
            <a:endParaRPr lang="ar-SA" sz="1150" dirty="0"/>
          </a:p>
        </p:txBody>
      </p:sp>
      <p:sp>
        <p:nvSpPr>
          <p:cNvPr id="20" name="Shape 16"/>
          <p:cNvSpPr/>
          <p:nvPr/>
        </p:nvSpPr>
        <p:spPr>
          <a:xfrm>
            <a:off x="7848295" y="4672584"/>
            <a:ext cx="91440" cy="91440"/>
          </a:xfrm>
          <a:prstGeom prst="rect">
            <a:avLst/>
          </a:prstGeom>
          <a:solidFill>
            <a:srgbClr val="C9A45C"/>
          </a:solidFill>
          <a:ln/>
        </p:spPr>
      </p:sp>
      <p:sp>
        <p:nvSpPr>
          <p:cNvPr id="21" name="Text 17"/>
          <p:cNvSpPr/>
          <p:nvPr/>
        </p:nvSpPr>
        <p:spPr>
          <a:xfrm>
            <a:off x="4373575" y="4553712"/>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أولويات التقويم وتحليل SWOT</a:t>
            </a:r>
            <a:endParaRPr lang="ar-SA" sz="1150" dirty="0"/>
          </a:p>
        </p:txBody>
      </p:sp>
      <p:sp>
        <p:nvSpPr>
          <p:cNvPr id="22" name="Shape 18"/>
          <p:cNvSpPr/>
          <p:nvPr/>
        </p:nvSpPr>
        <p:spPr>
          <a:xfrm>
            <a:off x="7848295" y="5074920"/>
            <a:ext cx="91440" cy="91440"/>
          </a:xfrm>
          <a:prstGeom prst="rect">
            <a:avLst/>
          </a:prstGeom>
          <a:solidFill>
            <a:srgbClr val="C9A45C"/>
          </a:solidFill>
          <a:ln/>
        </p:spPr>
      </p:sp>
      <p:sp>
        <p:nvSpPr>
          <p:cNvPr id="23" name="Text 19"/>
          <p:cNvSpPr/>
          <p:nvPr/>
        </p:nvSpPr>
        <p:spPr>
          <a:xfrm>
            <a:off x="4373575" y="4956048"/>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القضايا الملحة للمدرسة</a:t>
            </a:r>
            <a:endParaRPr lang="ar-SA"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المقدمة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المقدمة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٠٣</a:t>
            </a:r>
            <a:endParaRPr lang="ar-SA" sz="900" dirty="0"/>
          </a:p>
        </p:txBody>
      </p:sp>
      <p:sp>
        <p:nvSpPr>
          <p:cNvPr id="8" name="Text 4"/>
          <p:cNvSpPr/>
          <p:nvPr/>
        </p:nvSpPr>
        <p:spPr>
          <a:xfrm>
            <a:off x="457200" y="1024128"/>
            <a:ext cx="2011680" cy="1371600"/>
          </a:xfrm>
          <a:prstGeom prst="rect">
            <a:avLst/>
          </a:prstGeom>
          <a:noFill/>
          <a:ln/>
        </p:spPr>
        <p:txBody>
          <a:bodyPr wrap="square" lIns="0" tIns="0" rIns="0" bIns="0" rtlCol="0" anchor="ctr"/>
          <a:lstStyle/>
          <a:p>
            <a:pPr rtl="1" algn="l" indent="0" marL="0">
              <a:buNone/>
            </a:pPr>
            <a:r>
              <a:rPr lang="ar-SA" altLang="en-US" sz="8800" dirty="0">
                <a:solidFill>
                  <a:srgbClr val="F0F6F2"/>
                </a:solidFill>
                <a:latin typeface="Tajawal ExtraBold" pitchFamily="34" charset="0"/>
                <a:ea typeface="Tajawal ExtraBold" pitchFamily="34" charset="-122"/>
                <a:cs typeface="Tajawal ExtraBold" pitchFamily="34" charset="-120"/>
              </a:rPr>
              <a:t>٠١</a:t>
            </a:r>
            <a:endParaRPr lang="ar-SA" sz="8800" dirty="0"/>
          </a:p>
        </p:txBody>
      </p:sp>
      <p:sp>
        <p:nvSpPr>
          <p:cNvPr id="9" name="Shape 5"/>
          <p:cNvSpPr/>
          <p:nvPr/>
        </p:nvSpPr>
        <p:spPr>
          <a:xfrm>
            <a:off x="5029200" y="1115568"/>
            <a:ext cx="6705295" cy="1298448"/>
          </a:xfrm>
          <a:prstGeom prst="roundRect">
            <a:avLst>
              <a:gd name="adj" fmla="val 6338"/>
            </a:avLst>
          </a:prstGeom>
          <a:solidFill>
            <a:srgbClr val="EAF5F8"/>
          </a:solidFill>
          <a:ln w="9525">
            <a:solidFill>
              <a:srgbClr val="CFE6EC"/>
            </a:solidFill>
            <a:prstDash val="solid"/>
          </a:ln>
        </p:spPr>
      </p:sp>
      <p:pic>
        <p:nvPicPr>
          <p:cNvPr id="10" name="Image 2" descr="/tmp/claude-0/-home-user-Mobile1/ab9bbf47-b054-5f6e-be59-70476e095ce8/scratchpad/assets/icons/quote_teal.png">    </p:cNvPr>
          <p:cNvPicPr>
            <a:picLocks noChangeAspect="1"/>
          </p:cNvPicPr>
          <p:nvPr/>
        </p:nvPicPr>
        <p:blipFill>
          <a:blip r:embed="rId3"/>
          <a:stretch>
            <a:fillRect/>
          </a:stretch>
        </p:blipFill>
        <p:spPr>
          <a:xfrm>
            <a:off x="11112703" y="1298448"/>
            <a:ext cx="329184" cy="329184"/>
          </a:xfrm>
          <a:prstGeom prst="rect">
            <a:avLst/>
          </a:prstGeom>
        </p:spPr>
      </p:pic>
      <p:sp>
        <p:nvSpPr>
          <p:cNvPr id="11" name="Text 6"/>
          <p:cNvSpPr/>
          <p:nvPr/>
        </p:nvSpPr>
        <p:spPr>
          <a:xfrm>
            <a:off x="5358384" y="1115568"/>
            <a:ext cx="5608015" cy="1298448"/>
          </a:xfrm>
          <a:prstGeom prst="rect">
            <a:avLst/>
          </a:prstGeom>
          <a:noFill/>
          <a:ln/>
        </p:spPr>
        <p:txBody>
          <a:bodyPr wrap="square" lIns="0" tIns="0" rIns="0" bIns="0" rtlCol="0" anchor="ctr"/>
          <a:lstStyle/>
          <a:p>
            <a:pPr rtl="1" algn="r" indent="0" marL="0">
              <a:lnSpc>
                <a:spcPct val="128000"/>
              </a:lnSpc>
              <a:buNone/>
            </a:pPr>
            <a:r>
              <a:rPr lang="ar-SA" altLang="en-US" sz="1300" b="1" dirty="0">
                <a:solidFill>
                  <a:srgbClr val="0B4A56"/>
                </a:solidFill>
                <a:latin typeface="Tajawal" pitchFamily="34" charset="0"/>
                <a:ea typeface="Tajawal" pitchFamily="34" charset="-122"/>
                <a:cs typeface="Tajawal" pitchFamily="34" charset="-120"/>
              </a:rPr>
              <a:t>التخطيط هو الجسر الذي يصل ما بين الواقع المدرسي وبين الطموح، ومن خلاله تتحوّل الرؤى إلى إنجازات تُقاس وتُراجَع وتُحسَّن باستمرار.</a:t>
            </a:r>
            <a:endParaRPr lang="ar-SA" sz="1300" dirty="0"/>
          </a:p>
        </p:txBody>
      </p:sp>
      <p:sp>
        <p:nvSpPr>
          <p:cNvPr id="12" name="Text 7"/>
          <p:cNvSpPr/>
          <p:nvPr/>
        </p:nvSpPr>
        <p:spPr>
          <a:xfrm>
            <a:off x="5029200" y="2615184"/>
            <a:ext cx="6705295" cy="3520440"/>
          </a:xfrm>
          <a:prstGeom prst="rect">
            <a:avLst/>
          </a:prstGeom>
          <a:noFill/>
          <a:ln/>
        </p:spPr>
        <p:txBody>
          <a:bodyPr wrap="square" lIns="0" tIns="0" rIns="0" bIns="0" rtlCol="0" anchor="t"/>
          <a:lstStyle/>
          <a:p>
            <a:pPr algn="r" indent="0" marL="0">
              <a:lnSpc>
                <a:spcPct val="134000"/>
              </a:lnSpc>
              <a:spcAft>
                <a:spcPts val="1300"/>
              </a:spcAft>
              <a:buNone/>
            </a:pPr>
            <a:r>
              <a:rPr lang="ar-SA" altLang="en-US" sz="1200" dirty="0">
                <a:solidFill>
                  <a:srgbClr val="34473F"/>
                </a:solidFill>
                <a:latin typeface="Tajawal" pitchFamily="34" charset="0"/>
                <a:ea typeface="Tajawal" pitchFamily="34" charset="-122"/>
                <a:cs typeface="Tajawal" pitchFamily="34" charset="-120"/>
              </a:rPr>
              <a:t>انطلاقًا من رؤية وزارة التعليم الرامية إلى تعزيز جودة العملية التعليمية والارتقاء بمستوى نواتج التعلّم، تأتي هذه الخطة التشغيلية للعام الدراسي ١٤٤٨هـ لتشكّل إطارًا منهجيًا مُوجِّهًا لعمل مدرسة ........ وبرامجها خلال هذا العام.</a:t>
            </a:r>
            <a:endParaRPr lang="ar-SA" sz="1200" dirty="0"/>
          </a:p>
          <a:p>
            <a:pPr algn="r" indent="0" marL="0">
              <a:lnSpc>
                <a:spcPct val="134000"/>
              </a:lnSpc>
              <a:spcAft>
                <a:spcPts val="1300"/>
              </a:spcAft>
              <a:buNone/>
            </a:pPr>
            <a:r>
              <a:rPr lang="ar-SA" altLang="en-US" sz="1200" dirty="0">
                <a:solidFill>
                  <a:srgbClr val="34473F"/>
                </a:solidFill>
                <a:latin typeface="Tajawal" pitchFamily="34" charset="0"/>
                <a:ea typeface="Tajawal" pitchFamily="34" charset="-122"/>
                <a:cs typeface="Tajawal" pitchFamily="34" charset="-120"/>
              </a:rPr>
              <a:t>وقد حرص فريق الإعداد على أن تكون الخطة ترجمةً واقعية للأهداف الاستراتيجية إلى مبادرات تنفيذية ومؤشرات أداء قابلة للقياس، مع جداول زمنية واضحة وأدوار محدّدة لكل عضو من أعضاء المجتمع المدرسي.</a:t>
            </a:r>
            <a:endParaRPr lang="ar-SA" sz="1200" dirty="0"/>
          </a:p>
          <a:p>
            <a:pPr algn="r" indent="0" marL="0">
              <a:lnSpc>
                <a:spcPct val="134000"/>
              </a:lnSpc>
              <a:spcAft>
                <a:spcPts val="1300"/>
              </a:spcAft>
              <a:buNone/>
            </a:pPr>
            <a:r>
              <a:rPr lang="ar-SA" altLang="en-US" sz="1200" dirty="0">
                <a:solidFill>
                  <a:srgbClr val="34473F"/>
                </a:solidFill>
                <a:latin typeface="Tajawal" pitchFamily="34" charset="0"/>
                <a:ea typeface="Tajawal" pitchFamily="34" charset="-122"/>
                <a:cs typeface="Tajawal" pitchFamily="34" charset="-120"/>
              </a:rPr>
              <a:t>وتستند الخطة في بنائها إلى قراءة دقيقة لواقع المدرسة، ونتائج التقويم الذاتي السابق، واحتياجات الطلاب والمعلمين والبيئة التعليمية، إيمانًا بأنّ التخطيط هو الطريق إلى جودة التعليم والتميّز المؤسسي.</a:t>
            </a:r>
            <a:endParaRPr lang="ar-SA" sz="1200" dirty="0"/>
          </a:p>
        </p:txBody>
      </p:sp>
      <p:sp>
        <p:nvSpPr>
          <p:cNvPr id="13" name="Shape 8"/>
          <p:cNvSpPr/>
          <p:nvPr/>
        </p:nvSpPr>
        <p:spPr>
          <a:xfrm>
            <a:off x="457200" y="1700784"/>
            <a:ext cx="4206240" cy="1371600"/>
          </a:xfrm>
          <a:prstGeom prst="roundRect">
            <a:avLst>
              <a:gd name="adj" fmla="val 6000"/>
            </a:avLst>
          </a:prstGeom>
          <a:solidFill>
            <a:srgbClr val="FFFFFF"/>
          </a:solidFill>
          <a:ln w="9525">
            <a:solidFill>
              <a:srgbClr val="E3EDE8"/>
            </a:solidFill>
            <a:prstDash val="solid"/>
          </a:ln>
          <a:effectLst>
            <a:outerShdw sx="100000" sy="100000" kx="0" ky="0" algn="bl" rotWithShape="0" blurRad="76200" dist="19050" dir="5400000">
              <a:srgbClr val="0C3A2E">
                <a:alpha val="7000"/>
              </a:srgbClr>
            </a:outerShdw>
          </a:effectLst>
        </p:spPr>
      </p:sp>
      <p:sp>
        <p:nvSpPr>
          <p:cNvPr id="14" name="Text 9"/>
          <p:cNvSpPr/>
          <p:nvPr/>
        </p:nvSpPr>
        <p:spPr>
          <a:xfrm>
            <a:off x="3794760" y="1828800"/>
            <a:ext cx="640080" cy="420624"/>
          </a:xfrm>
          <a:prstGeom prst="rect">
            <a:avLst/>
          </a:prstGeom>
          <a:noFill/>
          <a:ln/>
        </p:spPr>
        <p:txBody>
          <a:bodyPr wrap="square" lIns="0" tIns="0" rIns="0" bIns="0" rtlCol="0" anchor="t"/>
          <a:lstStyle/>
          <a:p>
            <a:pPr rtl="1" algn="ctr" indent="0" marL="0">
              <a:buNone/>
            </a:pPr>
            <a:r>
              <a:rPr lang="ar-SA" altLang="en-US" sz="2000" dirty="0">
                <a:solidFill>
                  <a:srgbClr val="0089A1"/>
                </a:solidFill>
                <a:latin typeface="Tajawal ExtraBold" pitchFamily="34" charset="0"/>
                <a:ea typeface="Tajawal ExtraBold" pitchFamily="34" charset="-122"/>
                <a:cs typeface="Tajawal ExtraBold" pitchFamily="34" charset="-120"/>
              </a:rPr>
              <a:t>٠١</a:t>
            </a:r>
            <a:endParaRPr lang="ar-SA" sz="2000" dirty="0"/>
          </a:p>
        </p:txBody>
      </p:sp>
      <p:sp>
        <p:nvSpPr>
          <p:cNvPr id="15" name="Text 10"/>
          <p:cNvSpPr/>
          <p:nvPr/>
        </p:nvSpPr>
        <p:spPr>
          <a:xfrm>
            <a:off x="749808" y="1847088"/>
            <a:ext cx="3017520" cy="384048"/>
          </a:xfrm>
          <a:prstGeom prst="rect">
            <a:avLst/>
          </a:prstGeom>
          <a:noFill/>
          <a:ln/>
        </p:spPr>
        <p:txBody>
          <a:bodyPr wrap="square" lIns="0" tIns="0" rIns="0" bIns="0" rtlCol="0" anchor="ctr"/>
          <a:lstStyle/>
          <a:p>
            <a:pPr rtl="1" algn="r" indent="0" marL="0">
              <a:buNone/>
            </a:pPr>
            <a:r>
              <a:rPr lang="ar-SA" altLang="en-US" sz="1500" b="1" dirty="0">
                <a:solidFill>
                  <a:srgbClr val="0A1F19"/>
                </a:solidFill>
                <a:latin typeface="Tajawal" pitchFamily="34" charset="0"/>
                <a:ea typeface="Tajawal" pitchFamily="34" charset="-122"/>
                <a:cs typeface="Tajawal" pitchFamily="34" charset="-120"/>
              </a:rPr>
              <a:t>إطار منهجي</a:t>
            </a:r>
            <a:endParaRPr lang="ar-SA" sz="1500" dirty="0"/>
          </a:p>
        </p:txBody>
      </p:sp>
      <p:sp>
        <p:nvSpPr>
          <p:cNvPr id="16" name="Text 11"/>
          <p:cNvSpPr/>
          <p:nvPr/>
        </p:nvSpPr>
        <p:spPr>
          <a:xfrm>
            <a:off x="749808" y="2304288"/>
            <a:ext cx="3621024" cy="658368"/>
          </a:xfrm>
          <a:prstGeom prst="rect">
            <a:avLst/>
          </a:prstGeom>
          <a:noFill/>
          <a:ln/>
        </p:spPr>
        <p:txBody>
          <a:bodyPr wrap="square" lIns="0" tIns="0" rIns="0" bIns="0" rtlCol="0" anchor="t"/>
          <a:lstStyle/>
          <a:p>
            <a:pPr rtl="1" algn="r" indent="0" marL="0">
              <a:lnSpc>
                <a:spcPct val="122000"/>
              </a:lnSpc>
              <a:buNone/>
            </a:pPr>
            <a:r>
              <a:rPr lang="ar-SA" altLang="en-US" sz="1100" dirty="0">
                <a:solidFill>
                  <a:srgbClr val="34473F"/>
                </a:solidFill>
                <a:latin typeface="Tajawal" pitchFamily="34" charset="0"/>
                <a:ea typeface="Tajawal" pitchFamily="34" charset="-122"/>
                <a:cs typeface="Tajawal" pitchFamily="34" charset="-120"/>
              </a:rPr>
              <a:t>يوجّه عمل المدرسة وبرامجها وفق رؤية واضحة للأداء.</a:t>
            </a:r>
            <a:endParaRPr lang="ar-SA" sz="1100" dirty="0"/>
          </a:p>
        </p:txBody>
      </p:sp>
      <p:sp>
        <p:nvSpPr>
          <p:cNvPr id="17" name="Shape 12"/>
          <p:cNvSpPr/>
          <p:nvPr/>
        </p:nvSpPr>
        <p:spPr>
          <a:xfrm>
            <a:off x="457200" y="3273552"/>
            <a:ext cx="4206240" cy="1371600"/>
          </a:xfrm>
          <a:prstGeom prst="roundRect">
            <a:avLst>
              <a:gd name="adj" fmla="val 6000"/>
            </a:avLst>
          </a:prstGeom>
          <a:solidFill>
            <a:srgbClr val="FFFFFF"/>
          </a:solidFill>
          <a:ln w="9525">
            <a:solidFill>
              <a:srgbClr val="E3EDE8"/>
            </a:solidFill>
            <a:prstDash val="solid"/>
          </a:ln>
          <a:effectLst>
            <a:outerShdw sx="100000" sy="100000" kx="0" ky="0" algn="bl" rotWithShape="0" blurRad="76200" dist="19050" dir="5400000">
              <a:srgbClr val="0C3A2E">
                <a:alpha val="7000"/>
              </a:srgbClr>
            </a:outerShdw>
          </a:effectLst>
        </p:spPr>
      </p:sp>
      <p:sp>
        <p:nvSpPr>
          <p:cNvPr id="18" name="Text 13"/>
          <p:cNvSpPr/>
          <p:nvPr/>
        </p:nvSpPr>
        <p:spPr>
          <a:xfrm>
            <a:off x="3794760" y="3401568"/>
            <a:ext cx="640080" cy="420624"/>
          </a:xfrm>
          <a:prstGeom prst="rect">
            <a:avLst/>
          </a:prstGeom>
          <a:noFill/>
          <a:ln/>
        </p:spPr>
        <p:txBody>
          <a:bodyPr wrap="square" lIns="0" tIns="0" rIns="0" bIns="0" rtlCol="0" anchor="t"/>
          <a:lstStyle/>
          <a:p>
            <a:pPr rtl="1" algn="ctr" indent="0" marL="0">
              <a:buNone/>
            </a:pPr>
            <a:r>
              <a:rPr lang="ar-SA" altLang="en-US" sz="2000" dirty="0">
                <a:solidFill>
                  <a:srgbClr val="0089A1"/>
                </a:solidFill>
                <a:latin typeface="Tajawal ExtraBold" pitchFamily="34" charset="0"/>
                <a:ea typeface="Tajawal ExtraBold" pitchFamily="34" charset="-122"/>
                <a:cs typeface="Tajawal ExtraBold" pitchFamily="34" charset="-120"/>
              </a:rPr>
              <a:t>٠٢</a:t>
            </a:r>
            <a:endParaRPr lang="ar-SA" sz="2000" dirty="0"/>
          </a:p>
        </p:txBody>
      </p:sp>
      <p:sp>
        <p:nvSpPr>
          <p:cNvPr id="19" name="Text 14"/>
          <p:cNvSpPr/>
          <p:nvPr/>
        </p:nvSpPr>
        <p:spPr>
          <a:xfrm>
            <a:off x="749808" y="3419856"/>
            <a:ext cx="3017520" cy="384048"/>
          </a:xfrm>
          <a:prstGeom prst="rect">
            <a:avLst/>
          </a:prstGeom>
          <a:noFill/>
          <a:ln/>
        </p:spPr>
        <p:txBody>
          <a:bodyPr wrap="square" lIns="0" tIns="0" rIns="0" bIns="0" rtlCol="0" anchor="ctr"/>
          <a:lstStyle/>
          <a:p>
            <a:pPr rtl="1" algn="r" indent="0" marL="0">
              <a:buNone/>
            </a:pPr>
            <a:r>
              <a:rPr lang="ar-SA" altLang="en-US" sz="1500" b="1" dirty="0">
                <a:solidFill>
                  <a:srgbClr val="0A1F19"/>
                </a:solidFill>
                <a:latin typeface="Tajawal" pitchFamily="34" charset="0"/>
                <a:ea typeface="Tajawal" pitchFamily="34" charset="-122"/>
                <a:cs typeface="Tajawal" pitchFamily="34" charset="-120"/>
              </a:rPr>
              <a:t>مؤشرات قابلة للقياس</a:t>
            </a:r>
            <a:endParaRPr lang="ar-SA" sz="1500" dirty="0"/>
          </a:p>
        </p:txBody>
      </p:sp>
      <p:sp>
        <p:nvSpPr>
          <p:cNvPr id="20" name="Text 15"/>
          <p:cNvSpPr/>
          <p:nvPr/>
        </p:nvSpPr>
        <p:spPr>
          <a:xfrm>
            <a:off x="749808" y="3877056"/>
            <a:ext cx="3621024" cy="658368"/>
          </a:xfrm>
          <a:prstGeom prst="rect">
            <a:avLst/>
          </a:prstGeom>
          <a:noFill/>
          <a:ln/>
        </p:spPr>
        <p:txBody>
          <a:bodyPr wrap="square" lIns="0" tIns="0" rIns="0" bIns="0" rtlCol="0" anchor="t"/>
          <a:lstStyle/>
          <a:p>
            <a:pPr rtl="1" algn="r" indent="0" marL="0">
              <a:lnSpc>
                <a:spcPct val="122000"/>
              </a:lnSpc>
              <a:buNone/>
            </a:pPr>
            <a:r>
              <a:rPr lang="ar-SA" altLang="en-US" sz="1100" dirty="0">
                <a:solidFill>
                  <a:srgbClr val="34473F"/>
                </a:solidFill>
                <a:latin typeface="Tajawal" pitchFamily="34" charset="0"/>
                <a:ea typeface="Tajawal" pitchFamily="34" charset="-122"/>
                <a:cs typeface="Tajawal" pitchFamily="34" charset="-120"/>
              </a:rPr>
              <a:t>لكل مبادرة هدف ومقياس وزمن واضح للتنفيذ.</a:t>
            </a:r>
            <a:endParaRPr lang="ar-SA" sz="1100" dirty="0"/>
          </a:p>
        </p:txBody>
      </p:sp>
      <p:sp>
        <p:nvSpPr>
          <p:cNvPr id="21" name="Shape 16"/>
          <p:cNvSpPr/>
          <p:nvPr/>
        </p:nvSpPr>
        <p:spPr>
          <a:xfrm>
            <a:off x="457200" y="4846320"/>
            <a:ext cx="4206240" cy="1371600"/>
          </a:xfrm>
          <a:prstGeom prst="roundRect">
            <a:avLst>
              <a:gd name="adj" fmla="val 6000"/>
            </a:avLst>
          </a:prstGeom>
          <a:solidFill>
            <a:srgbClr val="095242"/>
          </a:solidFill>
          <a:ln/>
          <a:effectLst>
            <a:outerShdw sx="100000" sy="100000" kx="0" ky="0" algn="bl" rotWithShape="0" blurRad="127000" dist="31750" dir="5400000">
              <a:srgbClr val="062A21">
                <a:alpha val="24000"/>
              </a:srgbClr>
            </a:outerShdw>
          </a:effectLst>
        </p:spPr>
      </p:sp>
      <p:pic>
        <p:nvPicPr>
          <p:cNvPr id="22" name="Image 3" descr="/tmp/claude-0/-home-user-Mobile1/ab9bbf47-b054-5f6e-be59-70476e095ce8/scratchpad/assets/dots_white.png">    </p:cNvPr>
          <p:cNvPicPr>
            <a:picLocks noChangeAspect="1"/>
          </p:cNvPicPr>
          <p:nvPr/>
        </p:nvPicPr>
        <p:blipFill>
          <a:blip r:embed="rId4">
            <a:alphaModFix amt="36000"/>
          </a:blip>
          <a:stretch>
            <a:fillRect/>
          </a:stretch>
        </p:blipFill>
        <p:spPr>
          <a:xfrm>
            <a:off x="566928" y="5504688"/>
            <a:ext cx="1371600" cy="914400"/>
          </a:xfrm>
          <a:prstGeom prst="rect">
            <a:avLst/>
          </a:prstGeom>
        </p:spPr>
      </p:pic>
      <p:sp>
        <p:nvSpPr>
          <p:cNvPr id="23" name="Text 17"/>
          <p:cNvSpPr/>
          <p:nvPr/>
        </p:nvSpPr>
        <p:spPr>
          <a:xfrm>
            <a:off x="3794760" y="4974336"/>
            <a:ext cx="640080" cy="420624"/>
          </a:xfrm>
          <a:prstGeom prst="rect">
            <a:avLst/>
          </a:prstGeom>
          <a:noFill/>
          <a:ln/>
        </p:spPr>
        <p:txBody>
          <a:bodyPr wrap="square" lIns="0" tIns="0" rIns="0" bIns="0" rtlCol="0" anchor="t"/>
          <a:lstStyle/>
          <a:p>
            <a:pPr rtl="1" algn="ctr" indent="0" marL="0">
              <a:buNone/>
            </a:pPr>
            <a:r>
              <a:rPr lang="ar-SA" altLang="en-US" sz="2000" dirty="0">
                <a:solidFill>
                  <a:srgbClr val="C9A45C"/>
                </a:solidFill>
                <a:latin typeface="Tajawal ExtraBold" pitchFamily="34" charset="0"/>
                <a:ea typeface="Tajawal ExtraBold" pitchFamily="34" charset="-122"/>
                <a:cs typeface="Tajawal ExtraBold" pitchFamily="34" charset="-120"/>
              </a:rPr>
              <a:t>٠٣</a:t>
            </a:r>
            <a:endParaRPr lang="ar-SA" sz="2000" dirty="0"/>
          </a:p>
        </p:txBody>
      </p:sp>
      <p:sp>
        <p:nvSpPr>
          <p:cNvPr id="24" name="Text 18"/>
          <p:cNvSpPr/>
          <p:nvPr/>
        </p:nvSpPr>
        <p:spPr>
          <a:xfrm>
            <a:off x="749808" y="4992624"/>
            <a:ext cx="3017520" cy="384048"/>
          </a:xfrm>
          <a:prstGeom prst="rect">
            <a:avLst/>
          </a:prstGeom>
          <a:noFill/>
          <a:ln/>
        </p:spPr>
        <p:txBody>
          <a:bodyPr wrap="square" lIns="0" tIns="0" rIns="0" bIns="0" rtlCol="0" anchor="ctr"/>
          <a:lstStyle/>
          <a:p>
            <a:pPr rtl="1" algn="r" indent="0" marL="0">
              <a:buNone/>
            </a:pPr>
            <a:r>
              <a:rPr lang="ar-SA" altLang="en-US" sz="1500" b="1" dirty="0">
                <a:solidFill>
                  <a:srgbClr val="FFFFFF"/>
                </a:solidFill>
                <a:latin typeface="Tajawal" pitchFamily="34" charset="0"/>
                <a:ea typeface="Tajawal" pitchFamily="34" charset="-122"/>
                <a:cs typeface="Tajawal" pitchFamily="34" charset="-120"/>
              </a:rPr>
              <a:t>شراكة فاعلة</a:t>
            </a:r>
            <a:endParaRPr lang="ar-SA" sz="1500" dirty="0"/>
          </a:p>
        </p:txBody>
      </p:sp>
      <p:sp>
        <p:nvSpPr>
          <p:cNvPr id="25" name="Text 19"/>
          <p:cNvSpPr/>
          <p:nvPr/>
        </p:nvSpPr>
        <p:spPr>
          <a:xfrm>
            <a:off x="749808" y="5449824"/>
            <a:ext cx="3621024" cy="658368"/>
          </a:xfrm>
          <a:prstGeom prst="rect">
            <a:avLst/>
          </a:prstGeom>
          <a:noFill/>
          <a:ln/>
        </p:spPr>
        <p:txBody>
          <a:bodyPr wrap="square" lIns="0" tIns="0" rIns="0" bIns="0" rtlCol="0" anchor="t"/>
          <a:lstStyle/>
          <a:p>
            <a:pPr rtl="1" algn="r" indent="0" marL="0">
              <a:lnSpc>
                <a:spcPct val="122000"/>
              </a:lnSpc>
              <a:buNone/>
            </a:pPr>
            <a:r>
              <a:rPr lang="ar-SA" altLang="en-US" sz="1100" dirty="0">
                <a:solidFill>
                  <a:srgbClr val="D2E4DD"/>
                </a:solidFill>
                <a:latin typeface="Tajawal" pitchFamily="34" charset="0"/>
                <a:ea typeface="Tajawal" pitchFamily="34" charset="-122"/>
                <a:cs typeface="Tajawal" pitchFamily="34" charset="-120"/>
              </a:rPr>
              <a:t>تتكامل فيها الأسرة والمجتمع مع المنظومة المدرسية.</a:t>
            </a:r>
            <a:endParaRPr lang="ar-SA"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فريق إعداد الخطة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فريق إعداد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٠٤</a:t>
            </a:r>
            <a:endParaRPr lang="ar-SA" sz="900" dirty="0"/>
          </a:p>
        </p:txBody>
      </p:sp>
      <p:sp>
        <p:nvSpPr>
          <p:cNvPr id="8" name="Shape 4"/>
          <p:cNvSpPr/>
          <p:nvPr/>
        </p:nvSpPr>
        <p:spPr>
          <a:xfrm>
            <a:off x="1463040" y="384048"/>
            <a:ext cx="2423160" cy="402336"/>
          </a:xfrm>
          <a:prstGeom prst="roundRect">
            <a:avLst>
              <a:gd name="adj" fmla="val 50000"/>
            </a:avLst>
          </a:prstGeom>
          <a:solidFill>
            <a:srgbClr val="F2F8F5"/>
          </a:solidFill>
          <a:ln w="9525">
            <a:solidFill>
              <a:srgbClr val="E3EDE8"/>
            </a:solidFill>
            <a:prstDash val="solid"/>
          </a:ln>
        </p:spPr>
      </p:sp>
      <p:sp>
        <p:nvSpPr>
          <p:cNvPr id="9" name="Text 5"/>
          <p:cNvSpPr/>
          <p:nvPr/>
        </p:nvSpPr>
        <p:spPr>
          <a:xfrm>
            <a:off x="1463040" y="374904"/>
            <a:ext cx="2423160" cy="402336"/>
          </a:xfrm>
          <a:prstGeom prst="rect">
            <a:avLst/>
          </a:prstGeom>
          <a:noFill/>
          <a:ln/>
        </p:spPr>
        <p:txBody>
          <a:bodyPr wrap="square" lIns="0" tIns="0" rIns="0" bIns="0" rtlCol="0" anchor="ctr"/>
          <a:lstStyle/>
          <a:p>
            <a:pPr rtl="1" algn="ctr" indent="0" marL="0">
              <a:buNone/>
            </a:pPr>
            <a:r>
              <a:rPr lang="ar-SA" altLang="en-US" sz="950" b="1" dirty="0">
                <a:solidFill>
                  <a:srgbClr val="095242"/>
                </a:solidFill>
                <a:latin typeface="Tajawal" pitchFamily="34" charset="0"/>
                <a:ea typeface="Tajawal" pitchFamily="34" charset="-122"/>
                <a:cs typeface="Tajawal" pitchFamily="34" charset="-120"/>
              </a:rPr>
              <a:t>محضر اجتماع تشكيل الفريق</a:t>
            </a:r>
            <a:endParaRPr lang="ar-SA" sz="950" dirty="0"/>
          </a:p>
        </p:txBody>
      </p:sp>
      <p:sp>
        <p:nvSpPr>
          <p:cNvPr id="10" name="Text 6"/>
          <p:cNvSpPr/>
          <p:nvPr/>
        </p:nvSpPr>
        <p:spPr>
          <a:xfrm>
            <a:off x="3429000" y="1033272"/>
            <a:ext cx="8305495" cy="548640"/>
          </a:xfrm>
          <a:prstGeom prst="rect">
            <a:avLst/>
          </a:prstGeom>
          <a:noFill/>
          <a:ln/>
        </p:spPr>
        <p:txBody>
          <a:bodyPr wrap="square" lIns="0" tIns="0" rIns="0" bIns="0" rtlCol="0" anchor="t"/>
          <a:lstStyle/>
          <a:p>
            <a:pPr rtl="1" algn="r" indent="0" marL="0">
              <a:lnSpc>
                <a:spcPct val="122000"/>
              </a:lnSpc>
              <a:buNone/>
            </a:pPr>
            <a:r>
              <a:rPr lang="ar-SA" altLang="en-US" sz="1050" dirty="0">
                <a:solidFill>
                  <a:srgbClr val="34473F"/>
                </a:solidFill>
                <a:latin typeface="Tajawal" pitchFamily="34" charset="0"/>
                <a:ea typeface="Tajawal" pitchFamily="34" charset="-122"/>
                <a:cs typeface="Tajawal" pitchFamily="34" charset="-120"/>
              </a:rPr>
              <a:t>شُكِّل فريق إعداد الخطة التشغيلية بقرار من إدارة المدرسة، ضامنًا تمثيلًا متوازنًا للمعلمين والمرشد الطلابي والمشرفين، ليضطلع بمسؤولية بناء الخطة ومتابعة تنفيذها وتقويم أثرها على نواتج التعلّم.</a:t>
            </a:r>
            <a:endParaRPr lang="ar-SA"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429000" y="1645920"/>
          <a:ext cx="8305495" cy="914400"/>
        </p:xfrm>
        <a:graphic>
          <a:graphicData uri="http://schemas.openxmlformats.org/drawingml/2006/table">
            <a:tbl>
              <a:tblPr/>
              <a:tblGrid>
                <a:gridCol w="6001207"/>
                <a:gridCol w="1920240"/>
                <a:gridCol w="384048"/>
              </a:tblGrid>
              <a:tr h="310896">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المهام والمسؤوليات</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الدور</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م</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502920">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الإشراف العام على إعداد الخطة التشغيلية، اعتماد المسارات والأهداف، متابعة التنفيذ، وإقرار التقارير النهائية.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رئيس فريق الإعداد</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02920">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متابعة مؤشرات الأداء، جمع وتحليل البيانات، إعداد التقارير الدورية، وقياس مستوى الإنجاز.</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منسّق الجودة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٢</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تنفيذ برامج التوجيه والإرشاد، تعزيز السلوك الإيجابي، متابعة الحالات الطلابية، والمشاركة في معالجة التحديات السلوكية.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المرشد الطلابي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٣</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02920">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التخطيط للبرامج والأنشطة الطلابية، تنفيذ المبادرات الإثرائية، وتحفيز مشاركة الطلاب في المسابقات والفعاليات.</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رائد النشاط</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٤</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دعم تحسين نواتج التعلّم، متابعة التحصيل الدراسي، تنفيذ البرامج العلاجية والإثرائية، ونقل الخبرات التعليمية.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معلم متميّز (قائد تطوير المهارات الأكاديمية)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دعم توظيف التقنيات التعليمية، متابعة منصات التعليم الإلكتروني، تدريب المعلمين، وتعزيز التحوّل الرقمي بالمدرسة.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معلم متميّز (قائد التحوّل الرقمي والتعليم الإلكتروني)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٦</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تعزيز الشراكة بين المدرسة والأسرة، نقل المقترحات والملاحظات، دعم البرامج المدرسية، والمشاركة في المبادرات المجتمعية.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ممثل أولياء الأمور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٧</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متابعة تطبيق اشتراطات الأمن والسلامة، تنفيذ خطط الإخلاء والتدريب، رصد المخاطر، وتعزيز البيئة المدرسية الآمنة.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منسّق الأمن والسلامة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٨</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2" name="Shape 7"/>
          <p:cNvSpPr/>
          <p:nvPr/>
        </p:nvSpPr>
        <p:spPr>
          <a:xfrm>
            <a:off x="3118104" y="1124712"/>
            <a:ext cx="82296" cy="82296"/>
          </a:xfrm>
          <a:prstGeom prst="rect">
            <a:avLst/>
          </a:prstGeom>
          <a:solidFill>
            <a:srgbClr val="0089A1"/>
          </a:solidFill>
          <a:ln/>
        </p:spPr>
      </p:sp>
      <p:sp>
        <p:nvSpPr>
          <p:cNvPr id="13" name="Text 8"/>
          <p:cNvSpPr/>
          <p:nvPr/>
        </p:nvSpPr>
        <p:spPr>
          <a:xfrm>
            <a:off x="457200" y="1033272"/>
            <a:ext cx="256032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مهام الفريق الرئيسية</a:t>
            </a:r>
            <a:endParaRPr lang="ar-SA" sz="1250" dirty="0"/>
          </a:p>
        </p:txBody>
      </p:sp>
      <p:sp>
        <p:nvSpPr>
          <p:cNvPr id="14" name="Shape 9"/>
          <p:cNvSpPr/>
          <p:nvPr/>
        </p:nvSpPr>
        <p:spPr>
          <a:xfrm>
            <a:off x="457200" y="1481328"/>
            <a:ext cx="2743200" cy="1078992"/>
          </a:xfrm>
          <a:prstGeom prst="roundRect">
            <a:avLst>
              <a:gd name="adj" fmla="val 7627"/>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pic>
        <p:nvPicPr>
          <p:cNvPr id="15" name="Image 2" descr="/tmp/claude-0/-home-user-Mobile1/ab9bbf47-b054-5f6e-be59-70476e095ce8/scratchpad/assets/icons/chart_green.png">    </p:cNvPr>
          <p:cNvPicPr>
            <a:picLocks noChangeAspect="1"/>
          </p:cNvPicPr>
          <p:nvPr/>
        </p:nvPicPr>
        <p:blipFill>
          <a:blip r:embed="rId3"/>
          <a:stretch>
            <a:fillRect/>
          </a:stretch>
        </p:blipFill>
        <p:spPr>
          <a:xfrm>
            <a:off x="2743200" y="1618488"/>
            <a:ext cx="256032" cy="256032"/>
          </a:xfrm>
          <a:prstGeom prst="rect">
            <a:avLst/>
          </a:prstGeom>
        </p:spPr>
      </p:pic>
      <p:sp>
        <p:nvSpPr>
          <p:cNvPr id="16" name="Text 10"/>
          <p:cNvSpPr/>
          <p:nvPr/>
        </p:nvSpPr>
        <p:spPr>
          <a:xfrm>
            <a:off x="640080" y="1581912"/>
            <a:ext cx="2029968" cy="329184"/>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تحليل واقع المدرسة</a:t>
            </a:r>
            <a:endParaRPr lang="ar-SA" sz="1050" dirty="0"/>
          </a:p>
        </p:txBody>
      </p:sp>
      <p:sp>
        <p:nvSpPr>
          <p:cNvPr id="17" name="Text 11"/>
          <p:cNvSpPr/>
          <p:nvPr/>
        </p:nvSpPr>
        <p:spPr>
          <a:xfrm>
            <a:off x="640080" y="1938528"/>
            <a:ext cx="2377440" cy="566928"/>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جمع البيانات ودراسة نتائج التقويم الذاتي وتحليل SWOT</a:t>
            </a:r>
            <a:endParaRPr lang="ar-SA" sz="860" dirty="0"/>
          </a:p>
        </p:txBody>
      </p:sp>
      <p:sp>
        <p:nvSpPr>
          <p:cNvPr id="18" name="Shape 12"/>
          <p:cNvSpPr/>
          <p:nvPr/>
        </p:nvSpPr>
        <p:spPr>
          <a:xfrm>
            <a:off x="457200" y="2706624"/>
            <a:ext cx="2743200" cy="1078992"/>
          </a:xfrm>
          <a:prstGeom prst="roundRect">
            <a:avLst>
              <a:gd name="adj" fmla="val 7627"/>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pic>
        <p:nvPicPr>
          <p:cNvPr id="19" name="Image 3" descr="/tmp/claude-0/-home-user-Mobile1/ab9bbf47-b054-5f6e-be59-70476e095ce8/scratchpad/assets/icons/target_green.png">    </p:cNvPr>
          <p:cNvPicPr>
            <a:picLocks noChangeAspect="1"/>
          </p:cNvPicPr>
          <p:nvPr/>
        </p:nvPicPr>
        <p:blipFill>
          <a:blip r:embed="rId4"/>
          <a:stretch>
            <a:fillRect/>
          </a:stretch>
        </p:blipFill>
        <p:spPr>
          <a:xfrm>
            <a:off x="2743200" y="2843784"/>
            <a:ext cx="256032" cy="256032"/>
          </a:xfrm>
          <a:prstGeom prst="rect">
            <a:avLst/>
          </a:prstGeom>
        </p:spPr>
      </p:pic>
      <p:sp>
        <p:nvSpPr>
          <p:cNvPr id="20" name="Text 13"/>
          <p:cNvSpPr/>
          <p:nvPr/>
        </p:nvSpPr>
        <p:spPr>
          <a:xfrm>
            <a:off x="640080" y="2807208"/>
            <a:ext cx="2029968" cy="329184"/>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صياغة الأهداف والمؤشرات</a:t>
            </a:r>
            <a:endParaRPr lang="ar-SA" sz="1050" dirty="0"/>
          </a:p>
        </p:txBody>
      </p:sp>
      <p:sp>
        <p:nvSpPr>
          <p:cNvPr id="21" name="Text 14"/>
          <p:cNvSpPr/>
          <p:nvPr/>
        </p:nvSpPr>
        <p:spPr>
          <a:xfrm>
            <a:off x="640080" y="3163824"/>
            <a:ext cx="2377440" cy="566928"/>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ربط البرامج بالأهداف الاستراتيجية للوزارة</a:t>
            </a:r>
            <a:endParaRPr lang="ar-SA" sz="860" dirty="0"/>
          </a:p>
        </p:txBody>
      </p:sp>
      <p:sp>
        <p:nvSpPr>
          <p:cNvPr id="22" name="Shape 15"/>
          <p:cNvSpPr/>
          <p:nvPr/>
        </p:nvSpPr>
        <p:spPr>
          <a:xfrm>
            <a:off x="457200" y="3931920"/>
            <a:ext cx="2743200" cy="1078992"/>
          </a:xfrm>
          <a:prstGeom prst="roundRect">
            <a:avLst>
              <a:gd name="adj" fmla="val 7627"/>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pic>
        <p:nvPicPr>
          <p:cNvPr id="23" name="Image 4" descr="/tmp/claude-0/-home-user-Mobile1/ab9bbf47-b054-5f6e-be59-70476e095ce8/scratchpad/assets/icons/users_green.png">    </p:cNvPr>
          <p:cNvPicPr>
            <a:picLocks noChangeAspect="1"/>
          </p:cNvPicPr>
          <p:nvPr/>
        </p:nvPicPr>
        <p:blipFill>
          <a:blip r:embed="rId5"/>
          <a:stretch>
            <a:fillRect/>
          </a:stretch>
        </p:blipFill>
        <p:spPr>
          <a:xfrm>
            <a:off x="2743200" y="4069080"/>
            <a:ext cx="256032" cy="256032"/>
          </a:xfrm>
          <a:prstGeom prst="rect">
            <a:avLst/>
          </a:prstGeom>
        </p:spPr>
      </p:pic>
      <p:sp>
        <p:nvSpPr>
          <p:cNvPr id="24" name="Text 16"/>
          <p:cNvSpPr/>
          <p:nvPr/>
        </p:nvSpPr>
        <p:spPr>
          <a:xfrm>
            <a:off x="640080" y="4032504"/>
            <a:ext cx="2029968" cy="329184"/>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توزيع الأدوار والمسؤوليات</a:t>
            </a:r>
            <a:endParaRPr lang="ar-SA" sz="1050" dirty="0"/>
          </a:p>
        </p:txBody>
      </p:sp>
      <p:sp>
        <p:nvSpPr>
          <p:cNvPr id="25" name="Text 17"/>
          <p:cNvSpPr/>
          <p:nvPr/>
        </p:nvSpPr>
        <p:spPr>
          <a:xfrm>
            <a:off x="640080" y="4389120"/>
            <a:ext cx="2377440" cy="566928"/>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تحديد مسؤول رئيسي ومساعد لكل برنامج</a:t>
            </a:r>
            <a:endParaRPr lang="ar-SA" sz="860" dirty="0"/>
          </a:p>
        </p:txBody>
      </p:sp>
      <p:sp>
        <p:nvSpPr>
          <p:cNvPr id="26" name="Shape 18"/>
          <p:cNvSpPr/>
          <p:nvPr/>
        </p:nvSpPr>
        <p:spPr>
          <a:xfrm>
            <a:off x="457200" y="5157216"/>
            <a:ext cx="2743200" cy="1078992"/>
          </a:xfrm>
          <a:prstGeom prst="roundRect">
            <a:avLst>
              <a:gd name="adj" fmla="val 7627"/>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pic>
        <p:nvPicPr>
          <p:cNvPr id="27" name="Image 5" descr="/tmp/claude-0/-home-user-Mobile1/ab9bbf47-b054-5f6e-be59-70476e095ce8/scratchpad/assets/icons/refresh_green.png">    </p:cNvPr>
          <p:cNvPicPr>
            <a:picLocks noChangeAspect="1"/>
          </p:cNvPicPr>
          <p:nvPr/>
        </p:nvPicPr>
        <p:blipFill>
          <a:blip r:embed="rId6"/>
          <a:stretch>
            <a:fillRect/>
          </a:stretch>
        </p:blipFill>
        <p:spPr>
          <a:xfrm>
            <a:off x="2743200" y="5294376"/>
            <a:ext cx="256032" cy="256032"/>
          </a:xfrm>
          <a:prstGeom prst="rect">
            <a:avLst/>
          </a:prstGeom>
        </p:spPr>
      </p:pic>
      <p:sp>
        <p:nvSpPr>
          <p:cNvPr id="28" name="Text 19"/>
          <p:cNvSpPr/>
          <p:nvPr/>
        </p:nvSpPr>
        <p:spPr>
          <a:xfrm>
            <a:off x="640080" y="5257800"/>
            <a:ext cx="2029968" cy="329184"/>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المتابعة والتقويم</a:t>
            </a:r>
            <a:endParaRPr lang="ar-SA" sz="1050" dirty="0"/>
          </a:p>
        </p:txBody>
      </p:sp>
      <p:sp>
        <p:nvSpPr>
          <p:cNvPr id="29" name="Text 20"/>
          <p:cNvSpPr/>
          <p:nvPr/>
        </p:nvSpPr>
        <p:spPr>
          <a:xfrm>
            <a:off x="640080" y="5614416"/>
            <a:ext cx="2377440" cy="566928"/>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رصد التنفيذ وإعداد التقارير الفصلية والسنوية</a:t>
            </a:r>
            <a:endParaRPr lang="ar-SA" sz="8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مشاركة الكادر في إعداد الخطة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فريق إعداد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٠٥</a:t>
            </a:r>
            <a:endParaRPr lang="ar-SA" sz="900" dirty="0"/>
          </a:p>
        </p:txBody>
      </p:sp>
      <p:sp>
        <p:nvSpPr>
          <p:cNvPr id="8" name="Shape 4"/>
          <p:cNvSpPr/>
          <p:nvPr/>
        </p:nvSpPr>
        <p:spPr>
          <a:xfrm>
            <a:off x="457200" y="1078992"/>
            <a:ext cx="11277295" cy="694944"/>
          </a:xfrm>
          <a:prstGeom prst="roundRect">
            <a:avLst>
              <a:gd name="adj" fmla="val 11842"/>
            </a:avLst>
          </a:prstGeom>
          <a:solidFill>
            <a:srgbClr val="EAF5F8"/>
          </a:solidFill>
          <a:ln w="9525">
            <a:solidFill>
              <a:srgbClr val="CFE6EC"/>
            </a:solidFill>
            <a:prstDash val="solid"/>
          </a:ln>
        </p:spPr>
      </p:sp>
      <p:pic>
        <p:nvPicPr>
          <p:cNvPr id="9" name="Image 2" descr="/tmp/claude-0/-home-user-Mobile1/ab9bbf47-b054-5f6e-be59-70476e095ce8/scratchpad/assets/icons/info_teal.png">    </p:cNvPr>
          <p:cNvPicPr>
            <a:picLocks noChangeAspect="1"/>
          </p:cNvPicPr>
          <p:nvPr/>
        </p:nvPicPr>
        <p:blipFill>
          <a:blip r:embed="rId3"/>
          <a:stretch>
            <a:fillRect/>
          </a:stretch>
        </p:blipFill>
        <p:spPr>
          <a:xfrm>
            <a:off x="11222431" y="1280160"/>
            <a:ext cx="274320" cy="274320"/>
          </a:xfrm>
          <a:prstGeom prst="rect">
            <a:avLst/>
          </a:prstGeom>
        </p:spPr>
      </p:pic>
      <p:sp>
        <p:nvSpPr>
          <p:cNvPr id="10" name="Text 5"/>
          <p:cNvSpPr/>
          <p:nvPr/>
        </p:nvSpPr>
        <p:spPr>
          <a:xfrm>
            <a:off x="694944" y="1078992"/>
            <a:ext cx="10344607" cy="694944"/>
          </a:xfrm>
          <a:prstGeom prst="rect">
            <a:avLst/>
          </a:prstGeom>
          <a:noFill/>
          <a:ln/>
        </p:spPr>
        <p:txBody>
          <a:bodyPr wrap="square" lIns="0" tIns="0" rIns="0" bIns="0" rtlCol="0" anchor="ctr"/>
          <a:lstStyle/>
          <a:p>
            <a:pPr rtl="1" algn="r" indent="0" marL="0">
              <a:lnSpc>
                <a:spcPct val="120000"/>
              </a:lnSpc>
              <a:buNone/>
            </a:pPr>
            <a:r>
              <a:rPr lang="ar-SA" altLang="en-US" sz="980" dirty="0">
                <a:solidFill>
                  <a:srgbClr val="0B4A56"/>
                </a:solidFill>
                <a:latin typeface="Tajawal" pitchFamily="34" charset="0"/>
                <a:ea typeface="Tajawal" pitchFamily="34" charset="-122"/>
                <a:cs typeface="Tajawal" pitchFamily="34" charset="-120"/>
              </a:rPr>
              <a:t>يشترط مشاركة ما لا يقل عن (٩٠٪) من الكادر التعليمي في إعداد الخطة التشغيلية من خلال المساهمة في تحليل الواقع المدرسي، وتحديد الاحتياجات، واقتراح البرامج والمبادرات، وتزويد فريق الخطة بالبيانات والمعلومات اللازمة.</a:t>
            </a:r>
            <a:endParaRPr lang="ar-SA" sz="98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864" y="1956816"/>
          <a:ext cx="5510632" cy="914400"/>
        </p:xfrm>
        <a:graphic>
          <a:graphicData uri="http://schemas.openxmlformats.org/drawingml/2006/table">
            <a:tbl>
              <a:tblPr/>
              <a:tblGrid>
                <a:gridCol w="777240"/>
                <a:gridCol w="960120"/>
                <a:gridCol w="3444088"/>
                <a:gridCol w="329184"/>
              </a:tblGrid>
              <a:tr h="274320">
                <a:tc>
                  <a:txBody>
                    <a:bodyPr/>
                    <a:lstStyle/>
                    <a:p>
                      <a:pPr rtl="1" algn="ctr" indent="0" marL="0">
                        <a:buNone/>
                      </a:pPr>
                      <a:r>
                        <a:rPr lang="ar-SA" altLang="en-US" sz="850" b="1" dirty="0">
                          <a:solidFill>
                            <a:srgbClr val="FFFFFF"/>
                          </a:solidFill>
                          <a:latin typeface="Tajawal" pitchFamily="34" charset="0"/>
                          <a:ea typeface="Tajawal" pitchFamily="34" charset="-122"/>
                          <a:cs typeface="Tajawal" pitchFamily="34" charset="-120"/>
                        </a:rPr>
                        <a:t>التوقيع</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50" b="1" dirty="0">
                          <a:solidFill>
                            <a:srgbClr val="FFFFFF"/>
                          </a:solidFill>
                          <a:latin typeface="Tajawal" pitchFamily="34" charset="0"/>
                          <a:ea typeface="Tajawal" pitchFamily="34" charset="-122"/>
                          <a:cs typeface="Tajawal" pitchFamily="34" charset="-120"/>
                        </a:rPr>
                        <a:t>اسم المعلم</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50" b="1" dirty="0">
                          <a:solidFill>
                            <a:srgbClr val="FFFFFF"/>
                          </a:solidFill>
                          <a:latin typeface="Tajawal" pitchFamily="34" charset="0"/>
                          <a:ea typeface="Tajawal" pitchFamily="34" charset="-122"/>
                          <a:cs typeface="Tajawal" pitchFamily="34" charset="-120"/>
                        </a:rPr>
                        <a:t>المهمة في الخطة التشغيلية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50" b="1" dirty="0">
                          <a:solidFill>
                            <a:srgbClr val="FFFFFF"/>
                          </a:solidFill>
                          <a:latin typeface="Tajawal" pitchFamily="34" charset="0"/>
                          <a:ea typeface="Tajawal" pitchFamily="34" charset="-122"/>
                          <a:cs typeface="Tajawal" pitchFamily="34" charset="-120"/>
                        </a:rPr>
                        <a:t>م</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تحليل نتائج الطلاب وتحديد الاحتياجات التعليمية واقتراح البرامج العلاجية والإثرائية.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إعداد برامج تحسين نواتج التعلم ومتابعة مؤشرات الأداء الخاصة بها.</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٢</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المساهمة في إعداد برامج تنمية المهارات القرائية والكتابية.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٣</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المساهمة في إعداد برامج تنمية التفكير والابتكار والبحث العلمي.</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٤</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إعداد وتنفيذ برامج رعاية الموهوبين والمسابقات العلمية.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٥</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إعداد برامج التحول الرقمي وتوظيف التقنية والذكاء الاصطناعي في التعليم.</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٦</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جمع وتحليل بيانات التحصيل الدراسي وتزويد فريق الخطة بالتقارير اللازمة.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٧</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إعداد وتنفيذ برامج القيم والهوية الوطنية والمواطنة الرقمية.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٨</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إعداد وتنفيذ برامج الانضباط المدرسي والسلوك الإيجابي.</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إعداد برامج النشاط الطلابي والمبادرات التطوعية والمجتمعية.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١٠</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57200" y="1956816"/>
          <a:ext cx="5510632" cy="914400"/>
        </p:xfrm>
        <a:graphic>
          <a:graphicData uri="http://schemas.openxmlformats.org/drawingml/2006/table">
            <a:tbl>
              <a:tblPr/>
              <a:tblGrid>
                <a:gridCol w="777240"/>
                <a:gridCol w="960120"/>
                <a:gridCol w="3444088"/>
                <a:gridCol w="329184"/>
              </a:tblGrid>
              <a:tr h="274320">
                <a:tc>
                  <a:txBody>
                    <a:bodyPr/>
                    <a:lstStyle/>
                    <a:p>
                      <a:pPr rtl="1" algn="ctr" indent="0" marL="0">
                        <a:buNone/>
                      </a:pPr>
                      <a:r>
                        <a:rPr lang="ar-SA" altLang="en-US" sz="850" b="1" dirty="0">
                          <a:solidFill>
                            <a:srgbClr val="FFFFFF"/>
                          </a:solidFill>
                          <a:latin typeface="Tajawal" pitchFamily="34" charset="0"/>
                          <a:ea typeface="Tajawal" pitchFamily="34" charset="-122"/>
                          <a:cs typeface="Tajawal" pitchFamily="34" charset="-120"/>
                        </a:rPr>
                        <a:t>التوقيع</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50" b="1" dirty="0">
                          <a:solidFill>
                            <a:srgbClr val="FFFFFF"/>
                          </a:solidFill>
                          <a:latin typeface="Tajawal" pitchFamily="34" charset="0"/>
                          <a:ea typeface="Tajawal" pitchFamily="34" charset="-122"/>
                          <a:cs typeface="Tajawal" pitchFamily="34" charset="-120"/>
                        </a:rPr>
                        <a:t>اسم المعلم</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50" b="1" dirty="0">
                          <a:solidFill>
                            <a:srgbClr val="FFFFFF"/>
                          </a:solidFill>
                          <a:latin typeface="Tajawal" pitchFamily="34" charset="0"/>
                          <a:ea typeface="Tajawal" pitchFamily="34" charset="-122"/>
                          <a:cs typeface="Tajawal" pitchFamily="34" charset="-120"/>
                        </a:rPr>
                        <a:t>المهمة في الخطة التشغيلية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50" b="1" dirty="0">
                          <a:solidFill>
                            <a:srgbClr val="FFFFFF"/>
                          </a:solidFill>
                          <a:latin typeface="Tajawal" pitchFamily="34" charset="0"/>
                          <a:ea typeface="Tajawal" pitchFamily="34" charset="-122"/>
                          <a:cs typeface="Tajawal" pitchFamily="34" charset="-120"/>
                        </a:rPr>
                        <a:t>م</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المساهمة في إعداد برامج الأمن والسلامة وخطط الطوارئ والإخلاء.</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١١</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المشاركة في تحسين البيئة المدرسية ورصد الاحتياجات والمقترحات التطويرية.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١٢</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إعداد أدوات القياس والتقويم وتحليل النتائج وقياس الأثر.</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١٣</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المساهمة في إعداد برامج الشراكة المجتمعية والتواصل مع أولياء الأمور.</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١٤</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توثيق البرامج والمبادرات وجمع الشواهد والأدلة الداعمة للخطة التشغيلية.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١٥</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متابعة تنفيذ البرامج المسندة إليه ورفع تقارير الإنجاز الدورية.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١٦</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المساهمة في إعداد برامج التطوير المهني ونقل الخبرات التعليمية.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١٧</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إعداد مبادرات تحسين الخدمات المساندة ورفع رضا المستفيدين.</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١٨</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رصد المخاطر المحتملة واقتراح الإجراءات الوقائية والعلاجية.</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١٩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90" dirty="0">
                          <a:solidFill>
                            <a:srgbClr val="34473F"/>
                          </a:solidFill>
                          <a:latin typeface="Tajawal" pitchFamily="34" charset="0"/>
                          <a:ea typeface="Tajawal" pitchFamily="34" charset="-122"/>
                          <a:cs typeface="Tajawal" pitchFamily="34" charset="-120"/>
                        </a:rPr>
                        <a:t>المشاركة في مراجعة الخطة التشغيلية وتحديثها واقتراح فرص التحسين المستمر.</a:t>
                      </a:r>
                      <a:endParaRPr lang="ar-SA" sz="7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٢٠</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البيانات الإحصائية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البيانات الإحصائية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٠٦</a:t>
            </a:r>
            <a:endParaRPr lang="ar-SA" sz="900" dirty="0"/>
          </a:p>
        </p:txBody>
      </p:sp>
      <p:sp>
        <p:nvSpPr>
          <p:cNvPr id="8" name="Shape 4"/>
          <p:cNvSpPr/>
          <p:nvPr/>
        </p:nvSpPr>
        <p:spPr>
          <a:xfrm>
            <a:off x="11652199" y="1133856"/>
            <a:ext cx="82296" cy="82296"/>
          </a:xfrm>
          <a:prstGeom prst="rect">
            <a:avLst/>
          </a:prstGeom>
          <a:solidFill>
            <a:srgbClr val="0089A1"/>
          </a:solidFill>
          <a:ln/>
        </p:spPr>
      </p:sp>
      <p:sp>
        <p:nvSpPr>
          <p:cNvPr id="9" name="Text 5"/>
          <p:cNvSpPr/>
          <p:nvPr/>
        </p:nvSpPr>
        <p:spPr>
          <a:xfrm>
            <a:off x="8716975" y="1042416"/>
            <a:ext cx="28346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البيانات الأساسية للمدرسة</a:t>
            </a:r>
            <a:endParaRPr lang="ar-SA"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08176"/>
          <a:ext cx="11277295" cy="914400"/>
        </p:xfrm>
        <a:graphic>
          <a:graphicData uri="http://schemas.openxmlformats.org/drawingml/2006/table">
            <a:tbl>
              <a:tblPr/>
              <a:tblGrid>
                <a:gridCol w="1253033"/>
                <a:gridCol w="1253033"/>
                <a:gridCol w="1253033"/>
                <a:gridCol w="1253033"/>
                <a:gridCol w="1253033"/>
                <a:gridCol w="1253033"/>
                <a:gridCol w="1253033"/>
                <a:gridCol w="1253033"/>
                <a:gridCol w="1253033"/>
              </a:tblGrid>
              <a:tr h="310896">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برنامج الدمج</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الجوال</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رقم الهاتف</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الحالة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عدد الشُّعَب</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نوع المبنى</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تاريخ التأسيس</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المرحلة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اسم المدرسة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38912">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11652199" y="2487168"/>
            <a:ext cx="82296" cy="82296"/>
          </a:xfrm>
          <a:prstGeom prst="rect">
            <a:avLst/>
          </a:prstGeom>
          <a:solidFill>
            <a:srgbClr val="0089A1"/>
          </a:solidFill>
          <a:ln/>
        </p:spPr>
      </p:sp>
      <p:sp>
        <p:nvSpPr>
          <p:cNvPr id="12" name="Text 7"/>
          <p:cNvSpPr/>
          <p:nvPr/>
        </p:nvSpPr>
        <p:spPr>
          <a:xfrm>
            <a:off x="8716975" y="2395728"/>
            <a:ext cx="28346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الهيئة الإدارية</a:t>
            </a:r>
            <a:endParaRPr lang="ar-SA" sz="12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57200" y="2761488"/>
          <a:ext cx="11277295" cy="914400"/>
        </p:xfrm>
        <a:graphic>
          <a:graphicData uri="http://schemas.openxmlformats.org/drawingml/2006/table">
            <a:tbl>
              <a:tblPr/>
              <a:tblGrid>
                <a:gridCol w="1904695"/>
                <a:gridCol w="2011680"/>
                <a:gridCol w="1920240"/>
                <a:gridCol w="2011680"/>
                <a:gridCol w="2377440"/>
                <a:gridCol w="1051560"/>
              </a:tblGrid>
              <a:tr h="457200">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تاريخ الحصول على دورة مديري المدارس</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تاريخ المباشرة بالمدرسة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عدد سنوات الخدمة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آخر مؤهل وتاريخه</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الاسم (رباعيًا)</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طبيعة العمل</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مدير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وكيل</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وكيل</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
        <p:nvSpPr>
          <p:cNvPr id="14" name="Shape 8"/>
          <p:cNvSpPr/>
          <p:nvPr/>
        </p:nvSpPr>
        <p:spPr>
          <a:xfrm>
            <a:off x="7985455" y="4754880"/>
            <a:ext cx="3749040" cy="1371600"/>
          </a:xfrm>
          <a:prstGeom prst="roundRect">
            <a:avLst>
              <a:gd name="adj" fmla="val 6000"/>
            </a:avLst>
          </a:prstGeom>
          <a:solidFill>
            <a:srgbClr val="095242"/>
          </a:solidFill>
          <a:ln/>
          <a:effectLst>
            <a:outerShdw sx="100000" sy="100000" kx="0" ky="0" algn="bl" rotWithShape="0" blurRad="127000" dist="31750" dir="5400000">
              <a:srgbClr val="062A21">
                <a:alpha val="22000"/>
              </a:srgbClr>
            </a:outerShdw>
          </a:effectLst>
        </p:spPr>
      </p:sp>
      <p:pic>
        <p:nvPicPr>
          <p:cNvPr id="15" name="Image 2" descr="/tmp/claude-0/-home-user-Mobile1/ab9bbf47-b054-5f6e-be59-70476e095ce8/scratchpad/assets/arc_white.png">    </p:cNvPr>
          <p:cNvPicPr>
            <a:picLocks noChangeAspect="1"/>
          </p:cNvPicPr>
          <p:nvPr/>
        </p:nvPicPr>
        <p:blipFill>
          <a:blip r:embed="rId3">
            <a:alphaModFix amt="30000"/>
          </a:blip>
          <a:stretch>
            <a:fillRect/>
          </a:stretch>
        </p:blipFill>
        <p:spPr>
          <a:xfrm>
            <a:off x="10500055" y="4617720"/>
            <a:ext cx="1554480" cy="1554480"/>
          </a:xfrm>
          <a:prstGeom prst="rect">
            <a:avLst/>
          </a:prstGeom>
        </p:spPr>
      </p:pic>
      <p:sp>
        <p:nvSpPr>
          <p:cNvPr id="16" name="Text 9"/>
          <p:cNvSpPr/>
          <p:nvPr/>
        </p:nvSpPr>
        <p:spPr>
          <a:xfrm>
            <a:off x="8305495" y="4992624"/>
            <a:ext cx="2468880" cy="502920"/>
          </a:xfrm>
          <a:prstGeom prst="rect">
            <a:avLst/>
          </a:prstGeom>
          <a:noFill/>
          <a:ln/>
        </p:spPr>
        <p:txBody>
          <a:bodyPr wrap="square" lIns="0" tIns="0" rIns="0" bIns="0" rtlCol="0" anchor="t"/>
          <a:lstStyle/>
          <a:p>
            <a:pPr rtl="1" algn="r" indent="0" marL="0">
              <a:buNone/>
            </a:pPr>
            <a:r>
              <a:rPr lang="ar-SA" altLang="en-US" sz="2600" dirty="0">
                <a:solidFill>
                  <a:srgbClr val="FFFFFF"/>
                </a:solidFill>
                <a:latin typeface="Tajawal ExtraBold" pitchFamily="34" charset="0"/>
                <a:ea typeface="Tajawal ExtraBold" pitchFamily="34" charset="-122"/>
                <a:cs typeface="Tajawal ExtraBold" pitchFamily="34" charset="-120"/>
              </a:rPr>
              <a:t>…………</a:t>
            </a:r>
            <a:endParaRPr lang="ar-SA" sz="2600" dirty="0"/>
          </a:p>
        </p:txBody>
      </p:sp>
      <p:sp>
        <p:nvSpPr>
          <p:cNvPr id="17" name="Text 10"/>
          <p:cNvSpPr/>
          <p:nvPr/>
        </p:nvSpPr>
        <p:spPr>
          <a:xfrm>
            <a:off x="8305495" y="5577840"/>
            <a:ext cx="2468880" cy="365760"/>
          </a:xfrm>
          <a:prstGeom prst="rect">
            <a:avLst/>
          </a:prstGeom>
          <a:noFill/>
          <a:ln/>
        </p:spPr>
        <p:txBody>
          <a:bodyPr wrap="square" lIns="0" tIns="0" rIns="0" bIns="0" rtlCol="0" anchor="t"/>
          <a:lstStyle/>
          <a:p>
            <a:pPr rtl="1" algn="r" indent="0" marL="0">
              <a:buNone/>
            </a:pPr>
            <a:r>
              <a:rPr lang="ar-SA" altLang="en-US" sz="1300" b="1" dirty="0">
                <a:solidFill>
                  <a:srgbClr val="CFE2DB"/>
                </a:solidFill>
                <a:latin typeface="Tajawal" pitchFamily="34" charset="0"/>
                <a:ea typeface="Tajawal" pitchFamily="34" charset="-122"/>
                <a:cs typeface="Tajawal" pitchFamily="34" charset="-120"/>
              </a:rPr>
              <a:t>إجمالي الطلاب</a:t>
            </a:r>
            <a:endParaRPr lang="ar-SA" sz="1300" dirty="0"/>
          </a:p>
        </p:txBody>
      </p:sp>
      <p:sp>
        <p:nvSpPr>
          <p:cNvPr id="18" name="Shape 11"/>
          <p:cNvSpPr/>
          <p:nvPr/>
        </p:nvSpPr>
        <p:spPr>
          <a:xfrm>
            <a:off x="5476037" y="4754880"/>
            <a:ext cx="2289962" cy="1371600"/>
          </a:xfrm>
          <a:prstGeom prst="roundRect">
            <a:avLst>
              <a:gd name="adj" fmla="val 6000"/>
            </a:avLst>
          </a:prstGeom>
          <a:solidFill>
            <a:srgbClr val="FFFFFF"/>
          </a:solidFill>
          <a:ln w="9525">
            <a:solidFill>
              <a:srgbClr val="E3EDE8"/>
            </a:solidFill>
            <a:prstDash val="solid"/>
          </a:ln>
          <a:effectLst>
            <a:outerShdw sx="100000" sy="100000" kx="0" ky="0" algn="bl" rotWithShape="0" blurRad="76200" dist="19050" dir="5400000">
              <a:srgbClr val="0C3A2E">
                <a:alpha val="7000"/>
              </a:srgbClr>
            </a:outerShdw>
          </a:effectLst>
        </p:spPr>
      </p:sp>
      <p:sp>
        <p:nvSpPr>
          <p:cNvPr id="19" name="Text 12"/>
          <p:cNvSpPr/>
          <p:nvPr/>
        </p:nvSpPr>
        <p:spPr>
          <a:xfrm>
            <a:off x="5732069" y="5029200"/>
            <a:ext cx="1777898" cy="457200"/>
          </a:xfrm>
          <a:prstGeom prst="rect">
            <a:avLst/>
          </a:prstGeom>
          <a:noFill/>
          <a:ln/>
        </p:spPr>
        <p:txBody>
          <a:bodyPr wrap="square" lIns="0" tIns="0" rIns="0" bIns="0" rtlCol="0" anchor="t"/>
          <a:lstStyle/>
          <a:p>
            <a:pPr rtl="1" algn="r" indent="0" marL="0">
              <a:buNone/>
            </a:pPr>
            <a:r>
              <a:rPr lang="ar-SA" altLang="en-US" sz="1900" dirty="0">
                <a:solidFill>
                  <a:srgbClr val="095242"/>
                </a:solidFill>
                <a:latin typeface="Tajawal ExtraBold" pitchFamily="34" charset="0"/>
                <a:ea typeface="Tajawal ExtraBold" pitchFamily="34" charset="-122"/>
                <a:cs typeface="Tajawal ExtraBold" pitchFamily="34" charset="-120"/>
              </a:rPr>
              <a:t>…………</a:t>
            </a:r>
            <a:endParaRPr lang="ar-SA" sz="1900" dirty="0"/>
          </a:p>
        </p:txBody>
      </p:sp>
      <p:sp>
        <p:nvSpPr>
          <p:cNvPr id="20" name="Text 13"/>
          <p:cNvSpPr/>
          <p:nvPr/>
        </p:nvSpPr>
        <p:spPr>
          <a:xfrm>
            <a:off x="5732069" y="5577840"/>
            <a:ext cx="1777898" cy="365760"/>
          </a:xfrm>
          <a:prstGeom prst="rect">
            <a:avLst/>
          </a:prstGeom>
          <a:noFill/>
          <a:ln/>
        </p:spPr>
        <p:txBody>
          <a:bodyPr wrap="square" lIns="0" tIns="0" rIns="0" bIns="0" rtlCol="0" anchor="t"/>
          <a:lstStyle/>
          <a:p>
            <a:pPr rtl="1" algn="r" indent="0" marL="0">
              <a:buNone/>
            </a:pPr>
            <a:r>
              <a:rPr lang="ar-SA" altLang="en-US" sz="1200" b="1" dirty="0">
                <a:solidFill>
                  <a:srgbClr val="34473F"/>
                </a:solidFill>
                <a:latin typeface="Tajawal" pitchFamily="34" charset="0"/>
                <a:ea typeface="Tajawal" pitchFamily="34" charset="-122"/>
                <a:cs typeface="Tajawal" pitchFamily="34" charset="-120"/>
              </a:rPr>
              <a:t>عدد الفصول</a:t>
            </a:r>
            <a:endParaRPr lang="ar-SA" sz="1200" dirty="0"/>
          </a:p>
        </p:txBody>
      </p:sp>
      <p:sp>
        <p:nvSpPr>
          <p:cNvPr id="21" name="Shape 14"/>
          <p:cNvSpPr/>
          <p:nvPr/>
        </p:nvSpPr>
        <p:spPr>
          <a:xfrm>
            <a:off x="2966618" y="4754880"/>
            <a:ext cx="2289962" cy="1371600"/>
          </a:xfrm>
          <a:prstGeom prst="roundRect">
            <a:avLst>
              <a:gd name="adj" fmla="val 6000"/>
            </a:avLst>
          </a:prstGeom>
          <a:solidFill>
            <a:srgbClr val="FFFFFF"/>
          </a:solidFill>
          <a:ln w="9525">
            <a:solidFill>
              <a:srgbClr val="E3EDE8"/>
            </a:solidFill>
            <a:prstDash val="solid"/>
          </a:ln>
          <a:effectLst>
            <a:outerShdw sx="100000" sy="100000" kx="0" ky="0" algn="bl" rotWithShape="0" blurRad="76200" dist="19050" dir="5400000">
              <a:srgbClr val="0C3A2E">
                <a:alpha val="7000"/>
              </a:srgbClr>
            </a:outerShdw>
          </a:effectLst>
        </p:spPr>
      </p:sp>
      <p:sp>
        <p:nvSpPr>
          <p:cNvPr id="22" name="Text 15"/>
          <p:cNvSpPr/>
          <p:nvPr/>
        </p:nvSpPr>
        <p:spPr>
          <a:xfrm>
            <a:off x="3222650" y="5029200"/>
            <a:ext cx="1777898" cy="457200"/>
          </a:xfrm>
          <a:prstGeom prst="rect">
            <a:avLst/>
          </a:prstGeom>
          <a:noFill/>
          <a:ln/>
        </p:spPr>
        <p:txBody>
          <a:bodyPr wrap="square" lIns="0" tIns="0" rIns="0" bIns="0" rtlCol="0" anchor="t"/>
          <a:lstStyle/>
          <a:p>
            <a:pPr rtl="1" algn="r" indent="0" marL="0">
              <a:buNone/>
            </a:pPr>
            <a:r>
              <a:rPr lang="ar-SA" altLang="en-US" sz="1900" dirty="0">
                <a:solidFill>
                  <a:srgbClr val="095242"/>
                </a:solidFill>
                <a:latin typeface="Tajawal ExtraBold" pitchFamily="34" charset="0"/>
                <a:ea typeface="Tajawal ExtraBold" pitchFamily="34" charset="-122"/>
                <a:cs typeface="Tajawal ExtraBold" pitchFamily="34" charset="-120"/>
              </a:rPr>
              <a:t>…………</a:t>
            </a:r>
            <a:endParaRPr lang="ar-SA" sz="1900" dirty="0"/>
          </a:p>
        </p:txBody>
      </p:sp>
      <p:sp>
        <p:nvSpPr>
          <p:cNvPr id="23" name="Text 16"/>
          <p:cNvSpPr/>
          <p:nvPr/>
        </p:nvSpPr>
        <p:spPr>
          <a:xfrm>
            <a:off x="3222650" y="5577840"/>
            <a:ext cx="1777898" cy="365760"/>
          </a:xfrm>
          <a:prstGeom prst="rect">
            <a:avLst/>
          </a:prstGeom>
          <a:noFill/>
          <a:ln/>
        </p:spPr>
        <p:txBody>
          <a:bodyPr wrap="square" lIns="0" tIns="0" rIns="0" bIns="0" rtlCol="0" anchor="t"/>
          <a:lstStyle/>
          <a:p>
            <a:pPr rtl="1" algn="r" indent="0" marL="0">
              <a:buNone/>
            </a:pPr>
            <a:r>
              <a:rPr lang="ar-SA" altLang="en-US" sz="1200" b="1" dirty="0">
                <a:solidFill>
                  <a:srgbClr val="34473F"/>
                </a:solidFill>
                <a:latin typeface="Tajawal" pitchFamily="34" charset="0"/>
                <a:ea typeface="Tajawal" pitchFamily="34" charset="-122"/>
                <a:cs typeface="Tajawal" pitchFamily="34" charset="-120"/>
              </a:rPr>
              <a:t>عدد المعلمين</a:t>
            </a:r>
            <a:endParaRPr lang="ar-SA" sz="1200" dirty="0"/>
          </a:p>
        </p:txBody>
      </p:sp>
      <p:sp>
        <p:nvSpPr>
          <p:cNvPr id="24" name="Shape 17"/>
          <p:cNvSpPr/>
          <p:nvPr/>
        </p:nvSpPr>
        <p:spPr>
          <a:xfrm>
            <a:off x="457200" y="4754880"/>
            <a:ext cx="2289962" cy="1371600"/>
          </a:xfrm>
          <a:prstGeom prst="roundRect">
            <a:avLst>
              <a:gd name="adj" fmla="val 6000"/>
            </a:avLst>
          </a:prstGeom>
          <a:solidFill>
            <a:srgbClr val="FFFFFF"/>
          </a:solidFill>
          <a:ln w="9525">
            <a:solidFill>
              <a:srgbClr val="E3EDE8"/>
            </a:solidFill>
            <a:prstDash val="solid"/>
          </a:ln>
          <a:effectLst>
            <a:outerShdw sx="100000" sy="100000" kx="0" ky="0" algn="bl" rotWithShape="0" blurRad="76200" dist="19050" dir="5400000">
              <a:srgbClr val="0C3A2E">
                <a:alpha val="7000"/>
              </a:srgbClr>
            </a:outerShdw>
          </a:effectLst>
        </p:spPr>
      </p:sp>
      <p:sp>
        <p:nvSpPr>
          <p:cNvPr id="25" name="Text 18"/>
          <p:cNvSpPr/>
          <p:nvPr/>
        </p:nvSpPr>
        <p:spPr>
          <a:xfrm>
            <a:off x="713232" y="5029200"/>
            <a:ext cx="1777898" cy="457200"/>
          </a:xfrm>
          <a:prstGeom prst="rect">
            <a:avLst/>
          </a:prstGeom>
          <a:noFill/>
          <a:ln/>
        </p:spPr>
        <p:txBody>
          <a:bodyPr wrap="square" lIns="0" tIns="0" rIns="0" bIns="0" rtlCol="0" anchor="t"/>
          <a:lstStyle/>
          <a:p>
            <a:pPr rtl="1" algn="r" indent="0" marL="0">
              <a:buNone/>
            </a:pPr>
            <a:r>
              <a:rPr lang="ar-SA" altLang="en-US" sz="1900" dirty="0">
                <a:solidFill>
                  <a:srgbClr val="095242"/>
                </a:solidFill>
                <a:latin typeface="Tajawal ExtraBold" pitchFamily="34" charset="0"/>
                <a:ea typeface="Tajawal ExtraBold" pitchFamily="34" charset="-122"/>
                <a:cs typeface="Tajawal ExtraBold" pitchFamily="34" charset="-120"/>
              </a:rPr>
              <a:t>…………</a:t>
            </a:r>
            <a:endParaRPr lang="ar-SA" sz="1900" dirty="0"/>
          </a:p>
        </p:txBody>
      </p:sp>
      <p:sp>
        <p:nvSpPr>
          <p:cNvPr id="26" name="Text 19"/>
          <p:cNvSpPr/>
          <p:nvPr/>
        </p:nvSpPr>
        <p:spPr>
          <a:xfrm>
            <a:off x="713232" y="5577840"/>
            <a:ext cx="1777898" cy="365760"/>
          </a:xfrm>
          <a:prstGeom prst="rect">
            <a:avLst/>
          </a:prstGeom>
          <a:noFill/>
          <a:ln/>
        </p:spPr>
        <p:txBody>
          <a:bodyPr wrap="square" lIns="0" tIns="0" rIns="0" bIns="0" rtlCol="0" anchor="t"/>
          <a:lstStyle/>
          <a:p>
            <a:pPr rtl="1" algn="r" indent="0" marL="0">
              <a:buNone/>
            </a:pPr>
            <a:r>
              <a:rPr lang="ar-SA" altLang="en-US" sz="1200" b="1" dirty="0">
                <a:solidFill>
                  <a:srgbClr val="34473F"/>
                </a:solidFill>
                <a:latin typeface="Tajawal" pitchFamily="34" charset="0"/>
                <a:ea typeface="Tajawal" pitchFamily="34" charset="-122"/>
                <a:cs typeface="Tajawal" pitchFamily="34" charset="-120"/>
              </a:rPr>
              <a:t>شاغلو الوظائف</a:t>
            </a:r>
            <a:endParaRPr lang="ar-SA"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بيانات الطلاب والمعلمين</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بيانات الطلاب والمعلمين</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٠٧</a:t>
            </a:r>
            <a:endParaRPr lang="ar-SA" sz="900" dirty="0"/>
          </a:p>
        </p:txBody>
      </p:sp>
      <p:sp>
        <p:nvSpPr>
          <p:cNvPr id="8" name="Shape 4"/>
          <p:cNvSpPr/>
          <p:nvPr/>
        </p:nvSpPr>
        <p:spPr>
          <a:xfrm>
            <a:off x="11652199" y="1097280"/>
            <a:ext cx="82296" cy="82296"/>
          </a:xfrm>
          <a:prstGeom prst="rect">
            <a:avLst/>
          </a:prstGeom>
          <a:solidFill>
            <a:srgbClr val="0089A1"/>
          </a:solidFill>
          <a:ln/>
        </p:spPr>
      </p:sp>
      <p:sp>
        <p:nvSpPr>
          <p:cNvPr id="9" name="Text 5"/>
          <p:cNvSpPr/>
          <p:nvPr/>
        </p:nvSpPr>
        <p:spPr>
          <a:xfrm>
            <a:off x="8534095" y="1005840"/>
            <a:ext cx="301752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أعداد الطلاب حسب الصف</a:t>
            </a:r>
            <a:endParaRPr lang="ar-SA"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11277295" cy="914400"/>
        </p:xfrm>
        <a:graphic>
          <a:graphicData uri="http://schemas.openxmlformats.org/drawingml/2006/table">
            <a:tbl>
              <a:tblPr/>
              <a:tblGrid>
                <a:gridCol w="1234440"/>
                <a:gridCol w="1429969"/>
                <a:gridCol w="1429969"/>
                <a:gridCol w="1429969"/>
                <a:gridCol w="1429969"/>
                <a:gridCol w="1429969"/>
                <a:gridCol w="1429969"/>
                <a:gridCol w="1463040"/>
              </a:tblGrid>
              <a:tr h="292608">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المجموع</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سادس</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خامس</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رابع</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ثالث</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ثاني</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أول</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البيان</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4747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عدد الفصول</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4747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عدد الطلاب</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1" name="Shape 6"/>
          <p:cNvSpPr/>
          <p:nvPr/>
        </p:nvSpPr>
        <p:spPr>
          <a:xfrm>
            <a:off x="11652199" y="2596896"/>
            <a:ext cx="82296" cy="82296"/>
          </a:xfrm>
          <a:prstGeom prst="rect">
            <a:avLst/>
          </a:prstGeom>
          <a:solidFill>
            <a:srgbClr val="0089A1"/>
          </a:solidFill>
          <a:ln/>
        </p:spPr>
      </p:sp>
      <p:sp>
        <p:nvSpPr>
          <p:cNvPr id="12" name="Text 7"/>
          <p:cNvSpPr/>
          <p:nvPr/>
        </p:nvSpPr>
        <p:spPr>
          <a:xfrm>
            <a:off x="8534095" y="2505456"/>
            <a:ext cx="301752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معلمو المدرسة حسب التخصص</a:t>
            </a:r>
            <a:endParaRPr lang="ar-SA" sz="12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2852928"/>
          <a:ext cx="11277295" cy="914400"/>
        </p:xfrm>
        <a:graphic>
          <a:graphicData uri="http://schemas.openxmlformats.org/drawingml/2006/table">
            <a:tbl>
              <a:tblPr/>
              <a:tblGrid>
                <a:gridCol w="1051560"/>
                <a:gridCol w="1106767"/>
                <a:gridCol w="1106767"/>
                <a:gridCol w="1106767"/>
                <a:gridCol w="1106767"/>
                <a:gridCol w="1106767"/>
                <a:gridCol w="1106767"/>
                <a:gridCol w="1106767"/>
                <a:gridCol w="1106767"/>
                <a:gridCol w="1371600"/>
              </a:tblGrid>
              <a:tr h="329184">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المجموع</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حاسب آلي</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تربية فنية</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علوم</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رياضيات</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لغة إنجليزية</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دراسات اجتماعية</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لغة عربية</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تربية إسلامية</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10" b="1" dirty="0">
                          <a:solidFill>
                            <a:srgbClr val="FFFFFF"/>
                          </a:solidFill>
                          <a:latin typeface="Tajawal" pitchFamily="34" charset="0"/>
                          <a:ea typeface="Tajawal" pitchFamily="34" charset="-122"/>
                          <a:cs typeface="Tajawal" pitchFamily="34" charset="-120"/>
                        </a:rPr>
                        <a:t>التخصص</a:t>
                      </a:r>
                      <a:endParaRPr lang="ar-SA" sz="8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4747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عدد المعلمين</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4747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عدد الطلاب</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4" name="Shape 8"/>
          <p:cNvSpPr/>
          <p:nvPr/>
        </p:nvSpPr>
        <p:spPr>
          <a:xfrm>
            <a:off x="11652199" y="4133088"/>
            <a:ext cx="82296" cy="82296"/>
          </a:xfrm>
          <a:prstGeom prst="rect">
            <a:avLst/>
          </a:prstGeom>
          <a:solidFill>
            <a:srgbClr val="0089A1"/>
          </a:solidFill>
          <a:ln/>
        </p:spPr>
      </p:sp>
      <p:sp>
        <p:nvSpPr>
          <p:cNvPr id="15" name="Text 9"/>
          <p:cNvSpPr/>
          <p:nvPr/>
        </p:nvSpPr>
        <p:spPr>
          <a:xfrm>
            <a:off x="8534095" y="4041648"/>
            <a:ext cx="301752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شاغلو الوظائف الفنية والإدارية</a:t>
            </a:r>
            <a:endParaRPr lang="ar-SA" sz="125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457200" y="4389120"/>
          <a:ext cx="11277295" cy="914400"/>
        </p:xfrm>
        <a:graphic>
          <a:graphicData uri="http://schemas.openxmlformats.org/drawingml/2006/table">
            <a:tbl>
              <a:tblPr/>
              <a:tblGrid>
                <a:gridCol w="914400"/>
                <a:gridCol w="838172"/>
                <a:gridCol w="838172"/>
                <a:gridCol w="838172"/>
                <a:gridCol w="838172"/>
                <a:gridCol w="838172"/>
                <a:gridCol w="838172"/>
                <a:gridCol w="838172"/>
                <a:gridCol w="838172"/>
                <a:gridCol w="838172"/>
                <a:gridCol w="838172"/>
                <a:gridCol w="838172"/>
                <a:gridCol w="1143000"/>
              </a:tblGrid>
              <a:tr h="457200">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المجموع</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كاتب</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مساعد إداري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سكرتير</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محضر مختبر</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مدخل بيانات</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رائد نشاط</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أمين مصادر تعلم</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مرشد طلابي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معلم تعليم عام</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وكيل</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مدير</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50" b="1" dirty="0">
                          <a:solidFill>
                            <a:srgbClr val="FFFFFF"/>
                          </a:solidFill>
                          <a:latin typeface="Tajawal" pitchFamily="34" charset="0"/>
                          <a:ea typeface="Tajawal" pitchFamily="34" charset="-122"/>
                          <a:cs typeface="Tajawal" pitchFamily="34" charset="-120"/>
                        </a:rPr>
                        <a:t>الفئة الوظيفية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4747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العدد</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7" name="Shape 10"/>
          <p:cNvSpPr/>
          <p:nvPr/>
        </p:nvSpPr>
        <p:spPr>
          <a:xfrm>
            <a:off x="6223864" y="5431536"/>
            <a:ext cx="5510632" cy="914400"/>
          </a:xfrm>
          <a:prstGeom prst="roundRect">
            <a:avLst>
              <a:gd name="adj" fmla="val 9000"/>
            </a:avLst>
          </a:prstGeom>
          <a:solidFill>
            <a:srgbClr val="095242"/>
          </a:solidFill>
          <a:ln/>
          <a:effectLst>
            <a:outerShdw sx="100000" sy="100000" kx="0" ky="0" algn="bl" rotWithShape="0" blurRad="127000" dist="31750" dir="5400000">
              <a:srgbClr val="062A21">
                <a:alpha val="20000"/>
              </a:srgbClr>
            </a:outerShdw>
          </a:effectLst>
        </p:spPr>
      </p:sp>
      <p:pic>
        <p:nvPicPr>
          <p:cNvPr id="18" name="Image 2" descr="/tmp/claude-0/-home-user-Mobile1/ab9bbf47-b054-5f6e-be59-70476e095ce8/scratchpad/assets/icons/check_white.png">    </p:cNvPr>
          <p:cNvPicPr>
            <a:picLocks noChangeAspect="1"/>
          </p:cNvPicPr>
          <p:nvPr/>
        </p:nvPicPr>
        <p:blipFill>
          <a:blip r:embed="rId3"/>
          <a:stretch>
            <a:fillRect/>
          </a:stretch>
        </p:blipFill>
        <p:spPr>
          <a:xfrm>
            <a:off x="11185855" y="5577840"/>
            <a:ext cx="274320" cy="274320"/>
          </a:xfrm>
          <a:prstGeom prst="rect">
            <a:avLst/>
          </a:prstGeom>
        </p:spPr>
      </p:pic>
      <p:sp>
        <p:nvSpPr>
          <p:cNvPr id="19" name="Text 11"/>
          <p:cNvSpPr/>
          <p:nvPr/>
        </p:nvSpPr>
        <p:spPr>
          <a:xfrm>
            <a:off x="6461608" y="5504688"/>
            <a:ext cx="4641952" cy="292608"/>
          </a:xfrm>
          <a:prstGeom prst="rect">
            <a:avLst/>
          </a:prstGeom>
          <a:noFill/>
          <a:ln/>
        </p:spPr>
        <p:txBody>
          <a:bodyPr wrap="square" lIns="0" tIns="0" rIns="0" bIns="0" rtlCol="0" anchor="t"/>
          <a:lstStyle/>
          <a:p>
            <a:pPr rtl="1" algn="r" indent="0" marL="0">
              <a:buNone/>
            </a:pPr>
            <a:r>
              <a:rPr lang="ar-SA" altLang="en-US" sz="1100" b="1" dirty="0">
                <a:solidFill>
                  <a:srgbClr val="FFFFFF"/>
                </a:solidFill>
                <a:latin typeface="Tajawal" pitchFamily="34" charset="0"/>
                <a:ea typeface="Tajawal" pitchFamily="34" charset="-122"/>
                <a:cs typeface="Tajawal" pitchFamily="34" charset="-120"/>
              </a:rPr>
              <a:t>تنوّع التخصصات</a:t>
            </a:r>
            <a:endParaRPr lang="ar-SA" sz="1100" dirty="0"/>
          </a:p>
        </p:txBody>
      </p:sp>
      <p:sp>
        <p:nvSpPr>
          <p:cNvPr id="20" name="Text 12"/>
          <p:cNvSpPr/>
          <p:nvPr/>
        </p:nvSpPr>
        <p:spPr>
          <a:xfrm>
            <a:off x="6461608" y="5797296"/>
            <a:ext cx="4641952" cy="512064"/>
          </a:xfrm>
          <a:prstGeom prst="rect">
            <a:avLst/>
          </a:prstGeom>
          <a:noFill/>
          <a:ln/>
        </p:spPr>
        <p:txBody>
          <a:bodyPr wrap="square" lIns="0" tIns="0" rIns="0" bIns="0" rtlCol="0" anchor="t"/>
          <a:lstStyle/>
          <a:p>
            <a:pPr rtl="1" algn="r" indent="0" marL="0">
              <a:lnSpc>
                <a:spcPct val="112000"/>
              </a:lnSpc>
              <a:buNone/>
            </a:pPr>
            <a:r>
              <a:rPr lang="ar-SA" altLang="en-US" sz="860" dirty="0">
                <a:solidFill>
                  <a:srgbClr val="CFE2DB"/>
                </a:solidFill>
                <a:latin typeface="Tajawal" pitchFamily="34" charset="0"/>
                <a:ea typeface="Tajawal" pitchFamily="34" charset="-122"/>
                <a:cs typeface="Tajawal" pitchFamily="34" charset="-120"/>
              </a:rPr>
              <a:t>تغطية شاملة للتخصصات الأساسية مع المساندة الفنية والإدارية، مما يُمكّن الفريق من تنفيذ برامج الخطة بكفاءة عالية.</a:t>
            </a:r>
            <a:endParaRPr lang="ar-SA" sz="860" dirty="0"/>
          </a:p>
        </p:txBody>
      </p:sp>
      <p:sp>
        <p:nvSpPr>
          <p:cNvPr id="21" name="Shape 13"/>
          <p:cNvSpPr/>
          <p:nvPr/>
        </p:nvSpPr>
        <p:spPr>
          <a:xfrm>
            <a:off x="457200" y="5431536"/>
            <a:ext cx="5510632" cy="914400"/>
          </a:xfrm>
          <a:prstGeom prst="roundRect">
            <a:avLst>
              <a:gd name="adj" fmla="val 9000"/>
            </a:avLst>
          </a:prstGeom>
          <a:solidFill>
            <a:srgbClr val="FFFFFF"/>
          </a:solidFill>
          <a:ln w="9525">
            <a:solidFill>
              <a:srgbClr val="E3EDE8"/>
            </a:solidFill>
            <a:prstDash val="solid"/>
          </a:ln>
          <a:effectLst>
            <a:outerShdw sx="100000" sy="100000" kx="0" ky="0" algn="bl" rotWithShape="0" blurRad="76200" dist="19050" dir="5400000">
              <a:srgbClr val="0C3A2E">
                <a:alpha val="7000"/>
              </a:srgbClr>
            </a:outerShdw>
          </a:effectLst>
        </p:spPr>
      </p:sp>
      <p:pic>
        <p:nvPicPr>
          <p:cNvPr id="22" name="Image 3" descr="/tmp/claude-0/-home-user-Mobile1/ab9bbf47-b054-5f6e-be59-70476e095ce8/scratchpad/assets/icons/info_green.png">    </p:cNvPr>
          <p:cNvPicPr>
            <a:picLocks noChangeAspect="1"/>
          </p:cNvPicPr>
          <p:nvPr/>
        </p:nvPicPr>
        <p:blipFill>
          <a:blip r:embed="rId4"/>
          <a:stretch>
            <a:fillRect/>
          </a:stretch>
        </p:blipFill>
        <p:spPr>
          <a:xfrm>
            <a:off x="5419192" y="5577840"/>
            <a:ext cx="274320" cy="274320"/>
          </a:xfrm>
          <a:prstGeom prst="rect">
            <a:avLst/>
          </a:prstGeom>
        </p:spPr>
      </p:pic>
      <p:sp>
        <p:nvSpPr>
          <p:cNvPr id="23" name="Text 14"/>
          <p:cNvSpPr/>
          <p:nvPr/>
        </p:nvSpPr>
        <p:spPr>
          <a:xfrm>
            <a:off x="694944" y="5504688"/>
            <a:ext cx="4641952" cy="292608"/>
          </a:xfrm>
          <a:prstGeom prst="rect">
            <a:avLst/>
          </a:prstGeom>
          <a:noFill/>
          <a:ln/>
        </p:spPr>
        <p:txBody>
          <a:bodyPr wrap="square" lIns="0" tIns="0" rIns="0" bIns="0" rtlCol="0" anchor="t"/>
          <a:lstStyle/>
          <a:p>
            <a:pPr rtl="1" algn="r" indent="0" marL="0">
              <a:buNone/>
            </a:pPr>
            <a:r>
              <a:rPr lang="ar-SA" altLang="en-US" sz="1100" b="1" dirty="0">
                <a:solidFill>
                  <a:srgbClr val="04352B"/>
                </a:solidFill>
                <a:latin typeface="Tajawal" pitchFamily="34" charset="0"/>
                <a:ea typeface="Tajawal" pitchFamily="34" charset="-122"/>
                <a:cs typeface="Tajawal" pitchFamily="34" charset="-120"/>
              </a:rPr>
              <a:t>توازن الأعداد</a:t>
            </a:r>
            <a:endParaRPr lang="ar-SA" sz="1100" dirty="0"/>
          </a:p>
        </p:txBody>
      </p:sp>
      <p:sp>
        <p:nvSpPr>
          <p:cNvPr id="24" name="Text 15"/>
          <p:cNvSpPr/>
          <p:nvPr/>
        </p:nvSpPr>
        <p:spPr>
          <a:xfrm>
            <a:off x="694944" y="5797296"/>
            <a:ext cx="4641952" cy="512064"/>
          </a:xfrm>
          <a:prstGeom prst="rect">
            <a:avLst/>
          </a:prstGeom>
          <a:noFill/>
          <a:ln/>
        </p:spPr>
        <p:txBody>
          <a:bodyPr wrap="square" lIns="0" tIns="0" rIns="0" bIns="0" rtlCol="0" anchor="t"/>
          <a:lstStyle/>
          <a:p>
            <a:pPr rtl="1" algn="r" indent="0" marL="0">
              <a:lnSpc>
                <a:spcPct val="112000"/>
              </a:lnSpc>
              <a:buNone/>
            </a:pPr>
            <a:r>
              <a:rPr lang="ar-SA" altLang="en-US" sz="860" dirty="0">
                <a:solidFill>
                  <a:srgbClr val="8A9A93"/>
                </a:solidFill>
                <a:latin typeface="Tajawal" pitchFamily="34" charset="0"/>
                <a:ea typeface="Tajawal" pitchFamily="34" charset="-122"/>
                <a:cs typeface="Tajawal" pitchFamily="34" charset="-120"/>
              </a:rPr>
              <a:t>توزيع متوازن بين الصفوف، مع شُعَب تربية خاصة لخدمة سياسة الدمج التعليمي ودعم الفئات الأُولى بالرعاية.</a:t>
            </a:r>
            <a:endParaRPr lang="ar-SA"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الرؤية والرسالة والقيم</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الرؤية · الرسالة · القيم</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٠٨</a:t>
            </a:r>
            <a:endParaRPr lang="ar-SA" sz="900" dirty="0"/>
          </a:p>
        </p:txBody>
      </p:sp>
      <p:sp>
        <p:nvSpPr>
          <p:cNvPr id="8" name="Shape 4"/>
          <p:cNvSpPr/>
          <p:nvPr/>
        </p:nvSpPr>
        <p:spPr>
          <a:xfrm>
            <a:off x="6233008" y="1170432"/>
            <a:ext cx="5501488" cy="2286000"/>
          </a:xfrm>
          <a:prstGeom prst="roundRect">
            <a:avLst>
              <a:gd name="adj" fmla="val 3600"/>
            </a:avLst>
          </a:prstGeom>
          <a:solidFill>
            <a:srgbClr val="095242"/>
          </a:solidFill>
          <a:ln/>
          <a:effectLst>
            <a:outerShdw sx="100000" sy="100000" kx="0" ky="0" algn="bl" rotWithShape="0" blurRad="127000" dist="31750" dir="5400000">
              <a:srgbClr val="062A21">
                <a:alpha val="26000"/>
              </a:srgbClr>
            </a:outerShdw>
          </a:effectLst>
        </p:spPr>
      </p:sp>
      <p:pic>
        <p:nvPicPr>
          <p:cNvPr id="9" name="Image 2" descr="/tmp/claude-0/-home-user-Mobile1/ab9bbf47-b054-5f6e-be59-70476e095ce8/scratchpad/assets/arc_white.png">    </p:cNvPr>
          <p:cNvPicPr>
            <a:picLocks noChangeAspect="1"/>
          </p:cNvPicPr>
          <p:nvPr/>
        </p:nvPicPr>
        <p:blipFill>
          <a:blip r:embed="rId3">
            <a:alphaModFix amt="26000"/>
          </a:blip>
          <a:stretch>
            <a:fillRect/>
          </a:stretch>
        </p:blipFill>
        <p:spPr>
          <a:xfrm>
            <a:off x="5912968" y="1856232"/>
            <a:ext cx="1920240" cy="1920240"/>
          </a:xfrm>
          <a:prstGeom prst="rect">
            <a:avLst/>
          </a:prstGeom>
        </p:spPr>
      </p:pic>
      <p:sp>
        <p:nvSpPr>
          <p:cNvPr id="10" name="Shape 5"/>
          <p:cNvSpPr/>
          <p:nvPr/>
        </p:nvSpPr>
        <p:spPr>
          <a:xfrm>
            <a:off x="10838383" y="1444752"/>
            <a:ext cx="585216" cy="585216"/>
          </a:xfrm>
          <a:prstGeom prst="ellipse">
            <a:avLst/>
          </a:prstGeom>
          <a:solidFill>
            <a:srgbClr val="FFFFFF"/>
          </a:solidFill>
          <a:ln/>
        </p:spPr>
      </p:sp>
      <p:pic>
        <p:nvPicPr>
          <p:cNvPr id="11" name="Image 3" descr="/tmp/claude-0/-home-user-Mobile1/ab9bbf47-b054-5f6e-be59-70476e095ce8/scratchpad/assets/icons/eye_green.png">    </p:cNvPr>
          <p:cNvPicPr>
            <a:picLocks noChangeAspect="1"/>
          </p:cNvPicPr>
          <p:nvPr/>
        </p:nvPicPr>
        <p:blipFill>
          <a:blip r:embed="rId4"/>
          <a:stretch>
            <a:fillRect/>
          </a:stretch>
        </p:blipFill>
        <p:spPr>
          <a:xfrm>
            <a:off x="10990539" y="1596908"/>
            <a:ext cx="280904" cy="280904"/>
          </a:xfrm>
          <a:prstGeom prst="rect">
            <a:avLst/>
          </a:prstGeom>
        </p:spPr>
      </p:pic>
      <p:sp>
        <p:nvSpPr>
          <p:cNvPr id="12" name="Text 6"/>
          <p:cNvSpPr/>
          <p:nvPr/>
        </p:nvSpPr>
        <p:spPr>
          <a:xfrm>
            <a:off x="6617056" y="1463040"/>
            <a:ext cx="4038448" cy="53035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الرؤية</a:t>
            </a:r>
            <a:endParaRPr lang="ar-SA" sz="2200" dirty="0"/>
          </a:p>
        </p:txBody>
      </p:sp>
      <p:sp>
        <p:nvSpPr>
          <p:cNvPr id="13" name="Text 7"/>
          <p:cNvSpPr/>
          <p:nvPr/>
        </p:nvSpPr>
        <p:spPr>
          <a:xfrm>
            <a:off x="6653632" y="2139696"/>
            <a:ext cx="4632808" cy="1097280"/>
          </a:xfrm>
          <a:prstGeom prst="rect">
            <a:avLst/>
          </a:prstGeom>
          <a:noFill/>
          <a:ln/>
        </p:spPr>
        <p:txBody>
          <a:bodyPr wrap="square" lIns="0" tIns="0" rIns="0" bIns="0" rtlCol="0" anchor="t"/>
          <a:lstStyle/>
          <a:p>
            <a:pPr rtl="1" algn="r" indent="0" marL="0">
              <a:lnSpc>
                <a:spcPct val="136000"/>
              </a:lnSpc>
              <a:buNone/>
            </a:pPr>
            <a:r>
              <a:rPr lang="ar-SA" altLang="en-US" sz="1350" dirty="0">
                <a:solidFill>
                  <a:srgbClr val="E4F0EC"/>
                </a:solidFill>
                <a:latin typeface="Tajawal" pitchFamily="34" charset="0"/>
                <a:ea typeface="Tajawal" pitchFamily="34" charset="-122"/>
                <a:cs typeface="Tajawal" pitchFamily="34" charset="-120"/>
              </a:rPr>
              <a:t>«مدرسةٌ رائدة في بناء جيل من المتعلّمين الواعين والمواطنين المسؤولين، يمتلكون مهارات المستقبل ويُسهمون بفاعلية في تنمية مجتمعهم ووطنهم.»</a:t>
            </a:r>
            <a:endParaRPr lang="ar-SA" sz="1350" dirty="0"/>
          </a:p>
        </p:txBody>
      </p:sp>
      <p:sp>
        <p:nvSpPr>
          <p:cNvPr id="14" name="Shape 8"/>
          <p:cNvSpPr/>
          <p:nvPr/>
        </p:nvSpPr>
        <p:spPr>
          <a:xfrm>
            <a:off x="457200" y="1170432"/>
            <a:ext cx="5501488" cy="2286000"/>
          </a:xfrm>
          <a:prstGeom prst="roundRect">
            <a:avLst>
              <a:gd name="adj" fmla="val 3600"/>
            </a:avLst>
          </a:prstGeom>
          <a:solidFill>
            <a:srgbClr val="FFFFFF"/>
          </a:solidFill>
          <a:ln w="12700">
            <a:solidFill>
              <a:srgbClr val="095242"/>
            </a:solidFill>
            <a:prstDash val="solid"/>
          </a:ln>
          <a:effectLst>
            <a:outerShdw sx="100000" sy="100000" kx="0" ky="0" algn="bl" rotWithShape="0" blurRad="76200" dist="19050" dir="5400000">
              <a:srgbClr val="0C3A2E">
                <a:alpha val="7000"/>
              </a:srgbClr>
            </a:outerShdw>
          </a:effectLst>
        </p:spPr>
      </p:sp>
      <p:sp>
        <p:nvSpPr>
          <p:cNvPr id="15" name="Shape 9"/>
          <p:cNvSpPr/>
          <p:nvPr/>
        </p:nvSpPr>
        <p:spPr>
          <a:xfrm>
            <a:off x="5062576" y="1444752"/>
            <a:ext cx="585216" cy="585216"/>
          </a:xfrm>
          <a:prstGeom prst="ellipse">
            <a:avLst/>
          </a:prstGeom>
          <a:solidFill>
            <a:srgbClr val="F2F8F5"/>
          </a:solidFill>
          <a:ln w="9525">
            <a:solidFill>
              <a:srgbClr val="E3EDE8"/>
            </a:solidFill>
            <a:prstDash val="solid"/>
          </a:ln>
        </p:spPr>
      </p:sp>
      <p:pic>
        <p:nvPicPr>
          <p:cNvPr id="16" name="Image 4" descr="/tmp/claude-0/-home-user-Mobile1/ab9bbf47-b054-5f6e-be59-70476e095ce8/scratchpad/assets/icons/target_green.png">    </p:cNvPr>
          <p:cNvPicPr>
            <a:picLocks noChangeAspect="1"/>
          </p:cNvPicPr>
          <p:nvPr/>
        </p:nvPicPr>
        <p:blipFill>
          <a:blip r:embed="rId5"/>
          <a:stretch>
            <a:fillRect/>
          </a:stretch>
        </p:blipFill>
        <p:spPr>
          <a:xfrm>
            <a:off x="5214732" y="1596908"/>
            <a:ext cx="280904" cy="280904"/>
          </a:xfrm>
          <a:prstGeom prst="rect">
            <a:avLst/>
          </a:prstGeom>
        </p:spPr>
      </p:pic>
      <p:sp>
        <p:nvSpPr>
          <p:cNvPr id="17" name="Text 10"/>
          <p:cNvSpPr/>
          <p:nvPr/>
        </p:nvSpPr>
        <p:spPr>
          <a:xfrm>
            <a:off x="841248" y="1463040"/>
            <a:ext cx="4038448" cy="530352"/>
          </a:xfrm>
          <a:prstGeom prst="rect">
            <a:avLst/>
          </a:prstGeom>
          <a:noFill/>
          <a:ln/>
        </p:spPr>
        <p:txBody>
          <a:bodyPr wrap="square" lIns="0" tIns="0" rIns="0" bIns="0" rtlCol="0" anchor="ctr"/>
          <a:lstStyle/>
          <a:p>
            <a:pPr rtl="1" algn="r" indent="0" marL="0">
              <a:buNone/>
            </a:pPr>
            <a:r>
              <a:rPr lang="ar-SA" altLang="en-US" sz="2200" dirty="0">
                <a:solidFill>
                  <a:srgbClr val="04352B"/>
                </a:solidFill>
                <a:latin typeface="Tajawal ExtraBold" pitchFamily="34" charset="0"/>
                <a:ea typeface="Tajawal ExtraBold" pitchFamily="34" charset="-122"/>
                <a:cs typeface="Tajawal ExtraBold" pitchFamily="34" charset="-120"/>
              </a:rPr>
              <a:t>الرسالة</a:t>
            </a:r>
            <a:endParaRPr lang="ar-SA" sz="2200" dirty="0"/>
          </a:p>
        </p:txBody>
      </p:sp>
      <p:sp>
        <p:nvSpPr>
          <p:cNvPr id="18" name="Text 11"/>
          <p:cNvSpPr/>
          <p:nvPr/>
        </p:nvSpPr>
        <p:spPr>
          <a:xfrm>
            <a:off x="877824" y="2139696"/>
            <a:ext cx="4632808" cy="1097280"/>
          </a:xfrm>
          <a:prstGeom prst="rect">
            <a:avLst/>
          </a:prstGeom>
          <a:noFill/>
          <a:ln/>
        </p:spPr>
        <p:txBody>
          <a:bodyPr wrap="square" lIns="0" tIns="0" rIns="0" bIns="0" rtlCol="0" anchor="t"/>
          <a:lstStyle/>
          <a:p>
            <a:pPr rtl="1" algn="r" indent="0" marL="0">
              <a:lnSpc>
                <a:spcPct val="134000"/>
              </a:lnSpc>
              <a:buNone/>
            </a:pPr>
            <a:r>
              <a:rPr lang="ar-SA" altLang="en-US" sz="1300" dirty="0">
                <a:solidFill>
                  <a:srgbClr val="34473F"/>
                </a:solidFill>
                <a:latin typeface="Tajawal" pitchFamily="34" charset="0"/>
                <a:ea typeface="Tajawal" pitchFamily="34" charset="-122"/>
                <a:cs typeface="Tajawal" pitchFamily="34" charset="-120"/>
              </a:rPr>
              <a:t>«تهيئة بيئة تعليمية آمنة وداعمة تُنمّي مهارات الطلبة الأكاديمية والاجتماعية والرقمية، من خلال تعلّم فاعل وشراكة مجتمعية حقيقية وتوظيف للتقنيات الحديثة بما يحقّق التميّز التربوي.»</a:t>
            </a:r>
            <a:endParaRPr lang="ar-SA" sz="1300" dirty="0"/>
          </a:p>
        </p:txBody>
      </p:sp>
      <p:sp>
        <p:nvSpPr>
          <p:cNvPr id="19" name="Shape 12"/>
          <p:cNvSpPr/>
          <p:nvPr/>
        </p:nvSpPr>
        <p:spPr>
          <a:xfrm>
            <a:off x="11652199" y="3877056"/>
            <a:ext cx="82296" cy="82296"/>
          </a:xfrm>
          <a:prstGeom prst="rect">
            <a:avLst/>
          </a:prstGeom>
          <a:solidFill>
            <a:srgbClr val="0089A1"/>
          </a:solidFill>
          <a:ln/>
        </p:spPr>
      </p:sp>
      <p:sp>
        <p:nvSpPr>
          <p:cNvPr id="20" name="Text 13"/>
          <p:cNvSpPr/>
          <p:nvPr/>
        </p:nvSpPr>
        <p:spPr>
          <a:xfrm>
            <a:off x="9905695" y="3785616"/>
            <a:ext cx="1645920" cy="274320"/>
          </a:xfrm>
          <a:prstGeom prst="rect">
            <a:avLst/>
          </a:prstGeom>
          <a:noFill/>
          <a:ln/>
        </p:spPr>
        <p:txBody>
          <a:bodyPr wrap="square" lIns="0" tIns="0" rIns="0" bIns="0" rtlCol="0" anchor="ctr"/>
          <a:lstStyle/>
          <a:p>
            <a:pPr rtl="1" algn="r" indent="0" marL="0">
              <a:buNone/>
            </a:pPr>
            <a:r>
              <a:rPr lang="ar-SA" altLang="en-US" sz="1400" b="1" dirty="0">
                <a:solidFill>
                  <a:srgbClr val="095242"/>
                </a:solidFill>
                <a:latin typeface="Tajawal" pitchFamily="34" charset="0"/>
                <a:ea typeface="Tajawal" pitchFamily="34" charset="-122"/>
                <a:cs typeface="Tajawal" pitchFamily="34" charset="-120"/>
              </a:rPr>
              <a:t>القيم</a:t>
            </a:r>
            <a:endParaRPr lang="ar-SA" sz="1400" dirty="0"/>
          </a:p>
        </p:txBody>
      </p:sp>
      <p:sp>
        <p:nvSpPr>
          <p:cNvPr id="21" name="Shape 14"/>
          <p:cNvSpPr/>
          <p:nvPr/>
        </p:nvSpPr>
        <p:spPr>
          <a:xfrm>
            <a:off x="10037826" y="4242816"/>
            <a:ext cx="1696669" cy="1664208"/>
          </a:xfrm>
          <a:prstGeom prst="roundRect">
            <a:avLst>
              <a:gd name="adj" fmla="val 4945"/>
            </a:avLst>
          </a:prstGeom>
          <a:solidFill>
            <a:srgbClr val="FFFFFF"/>
          </a:solidFill>
          <a:ln w="9525">
            <a:solidFill>
              <a:srgbClr val="E3EDE8"/>
            </a:solidFill>
            <a:prstDash val="solid"/>
          </a:ln>
          <a:effectLst>
            <a:outerShdw sx="100000" sy="100000" kx="0" ky="0" algn="bl" rotWithShape="0" blurRad="76200" dist="19050" dir="5400000">
              <a:srgbClr val="0C3A2E">
                <a:alpha val="6000"/>
              </a:srgbClr>
            </a:outerShdw>
          </a:effectLst>
        </p:spPr>
      </p:sp>
      <p:sp>
        <p:nvSpPr>
          <p:cNvPr id="22" name="Shape 15"/>
          <p:cNvSpPr/>
          <p:nvPr/>
        </p:nvSpPr>
        <p:spPr>
          <a:xfrm>
            <a:off x="10593553" y="4517136"/>
            <a:ext cx="585216" cy="585216"/>
          </a:xfrm>
          <a:prstGeom prst="ellipse">
            <a:avLst/>
          </a:prstGeom>
          <a:solidFill>
            <a:srgbClr val="F2F8F5"/>
          </a:solidFill>
          <a:ln w="9525">
            <a:solidFill>
              <a:srgbClr val="E3EDE8"/>
            </a:solidFill>
            <a:prstDash val="solid"/>
          </a:ln>
        </p:spPr>
      </p:sp>
      <p:pic>
        <p:nvPicPr>
          <p:cNvPr id="23" name="Image 5" descr="/tmp/claude-0/-home-user-Mobile1/ab9bbf47-b054-5f6e-be59-70476e095ce8/scratchpad/assets/icons/heart_green.png">    </p:cNvPr>
          <p:cNvPicPr>
            <a:picLocks noChangeAspect="1"/>
          </p:cNvPicPr>
          <p:nvPr/>
        </p:nvPicPr>
        <p:blipFill>
          <a:blip r:embed="rId6"/>
          <a:stretch>
            <a:fillRect/>
          </a:stretch>
        </p:blipFill>
        <p:spPr>
          <a:xfrm>
            <a:off x="10745709" y="4669292"/>
            <a:ext cx="280904" cy="280904"/>
          </a:xfrm>
          <a:prstGeom prst="rect">
            <a:avLst/>
          </a:prstGeom>
        </p:spPr>
      </p:pic>
      <p:sp>
        <p:nvSpPr>
          <p:cNvPr id="24" name="Text 16"/>
          <p:cNvSpPr/>
          <p:nvPr/>
        </p:nvSpPr>
        <p:spPr>
          <a:xfrm>
            <a:off x="10083546" y="5248656"/>
            <a:ext cx="1605229" cy="475488"/>
          </a:xfrm>
          <a:prstGeom prst="rect">
            <a:avLst/>
          </a:prstGeom>
          <a:noFill/>
          <a:ln/>
        </p:spPr>
        <p:txBody>
          <a:bodyPr wrap="square" lIns="0" tIns="0" rIns="0" bIns="0" rtlCol="0" anchor="ctr"/>
          <a:lstStyle/>
          <a:p>
            <a:pPr rtl="1" algn="ctr" indent="0" marL="0">
              <a:buNone/>
            </a:pPr>
            <a:r>
              <a:rPr lang="ar-SA" altLang="en-US" sz="1300" b="1" dirty="0">
                <a:solidFill>
                  <a:srgbClr val="0A1F19"/>
                </a:solidFill>
                <a:latin typeface="Tajawal" pitchFamily="34" charset="0"/>
                <a:ea typeface="Tajawal" pitchFamily="34" charset="-122"/>
                <a:cs typeface="Tajawal" pitchFamily="34" charset="-120"/>
              </a:rPr>
              <a:t>المسؤولية</a:t>
            </a:r>
            <a:endParaRPr lang="ar-SA" sz="1300" dirty="0"/>
          </a:p>
        </p:txBody>
      </p:sp>
      <p:sp>
        <p:nvSpPr>
          <p:cNvPr id="25" name="Shape 17"/>
          <p:cNvSpPr/>
          <p:nvPr/>
        </p:nvSpPr>
        <p:spPr>
          <a:xfrm>
            <a:off x="8121701" y="4242816"/>
            <a:ext cx="1696669" cy="1664208"/>
          </a:xfrm>
          <a:prstGeom prst="roundRect">
            <a:avLst>
              <a:gd name="adj" fmla="val 4945"/>
            </a:avLst>
          </a:prstGeom>
          <a:solidFill>
            <a:srgbClr val="FFFFFF"/>
          </a:solidFill>
          <a:ln w="9525">
            <a:solidFill>
              <a:srgbClr val="E3EDE8"/>
            </a:solidFill>
            <a:prstDash val="solid"/>
          </a:ln>
          <a:effectLst>
            <a:outerShdw sx="100000" sy="100000" kx="0" ky="0" algn="bl" rotWithShape="0" blurRad="76200" dist="19050" dir="5400000">
              <a:srgbClr val="0C3A2E">
                <a:alpha val="6000"/>
              </a:srgbClr>
            </a:outerShdw>
          </a:effectLst>
        </p:spPr>
      </p:sp>
      <p:sp>
        <p:nvSpPr>
          <p:cNvPr id="26" name="Shape 18"/>
          <p:cNvSpPr/>
          <p:nvPr/>
        </p:nvSpPr>
        <p:spPr>
          <a:xfrm>
            <a:off x="8677427" y="4517136"/>
            <a:ext cx="585216" cy="585216"/>
          </a:xfrm>
          <a:prstGeom prst="ellipse">
            <a:avLst/>
          </a:prstGeom>
          <a:solidFill>
            <a:srgbClr val="F2F8F5"/>
          </a:solidFill>
          <a:ln w="9525">
            <a:solidFill>
              <a:srgbClr val="E3EDE8"/>
            </a:solidFill>
            <a:prstDash val="solid"/>
          </a:ln>
        </p:spPr>
      </p:sp>
      <p:pic>
        <p:nvPicPr>
          <p:cNvPr id="27" name="Image 6" descr="/tmp/claude-0/-home-user-Mobile1/ab9bbf47-b054-5f6e-be59-70476e095ce8/scratchpad/assets/icons/handshake_green.png">    </p:cNvPr>
          <p:cNvPicPr>
            <a:picLocks noChangeAspect="1"/>
          </p:cNvPicPr>
          <p:nvPr/>
        </p:nvPicPr>
        <p:blipFill>
          <a:blip r:embed="rId7"/>
          <a:stretch>
            <a:fillRect/>
          </a:stretch>
        </p:blipFill>
        <p:spPr>
          <a:xfrm>
            <a:off x="8829584" y="4669292"/>
            <a:ext cx="280904" cy="280904"/>
          </a:xfrm>
          <a:prstGeom prst="rect">
            <a:avLst/>
          </a:prstGeom>
        </p:spPr>
      </p:pic>
      <p:sp>
        <p:nvSpPr>
          <p:cNvPr id="28" name="Text 19"/>
          <p:cNvSpPr/>
          <p:nvPr/>
        </p:nvSpPr>
        <p:spPr>
          <a:xfrm>
            <a:off x="8167421" y="5248656"/>
            <a:ext cx="1605229" cy="475488"/>
          </a:xfrm>
          <a:prstGeom prst="rect">
            <a:avLst/>
          </a:prstGeom>
          <a:noFill/>
          <a:ln/>
        </p:spPr>
        <p:txBody>
          <a:bodyPr wrap="square" lIns="0" tIns="0" rIns="0" bIns="0" rtlCol="0" anchor="ctr"/>
          <a:lstStyle/>
          <a:p>
            <a:pPr rtl="1" algn="ctr" indent="0" marL="0">
              <a:buNone/>
            </a:pPr>
            <a:r>
              <a:rPr lang="ar-SA" altLang="en-US" sz="1300" b="1" dirty="0">
                <a:solidFill>
                  <a:srgbClr val="0A1F19"/>
                </a:solidFill>
                <a:latin typeface="Tajawal" pitchFamily="34" charset="0"/>
                <a:ea typeface="Tajawal" pitchFamily="34" charset="-122"/>
                <a:cs typeface="Tajawal" pitchFamily="34" charset="-120"/>
              </a:rPr>
              <a:t>التعاون</a:t>
            </a:r>
            <a:endParaRPr lang="ar-SA" sz="1300" dirty="0"/>
          </a:p>
        </p:txBody>
      </p:sp>
      <p:sp>
        <p:nvSpPr>
          <p:cNvPr id="29" name="Shape 20"/>
          <p:cNvSpPr/>
          <p:nvPr/>
        </p:nvSpPr>
        <p:spPr>
          <a:xfrm>
            <a:off x="6205576" y="4242816"/>
            <a:ext cx="1696669" cy="1664208"/>
          </a:xfrm>
          <a:prstGeom prst="roundRect">
            <a:avLst>
              <a:gd name="adj" fmla="val 4945"/>
            </a:avLst>
          </a:prstGeom>
          <a:solidFill>
            <a:srgbClr val="FFFFFF"/>
          </a:solidFill>
          <a:ln w="9525">
            <a:solidFill>
              <a:srgbClr val="E3EDE8"/>
            </a:solidFill>
            <a:prstDash val="solid"/>
          </a:ln>
          <a:effectLst>
            <a:outerShdw sx="100000" sy="100000" kx="0" ky="0" algn="bl" rotWithShape="0" blurRad="76200" dist="19050" dir="5400000">
              <a:srgbClr val="0C3A2E">
                <a:alpha val="6000"/>
              </a:srgbClr>
            </a:outerShdw>
          </a:effectLst>
        </p:spPr>
      </p:sp>
      <p:sp>
        <p:nvSpPr>
          <p:cNvPr id="30" name="Shape 21"/>
          <p:cNvSpPr/>
          <p:nvPr/>
        </p:nvSpPr>
        <p:spPr>
          <a:xfrm>
            <a:off x="6761302" y="4517136"/>
            <a:ext cx="585216" cy="585216"/>
          </a:xfrm>
          <a:prstGeom prst="ellipse">
            <a:avLst/>
          </a:prstGeom>
          <a:solidFill>
            <a:srgbClr val="F2F8F5"/>
          </a:solidFill>
          <a:ln w="9525">
            <a:solidFill>
              <a:srgbClr val="E3EDE8"/>
            </a:solidFill>
            <a:prstDash val="solid"/>
          </a:ln>
        </p:spPr>
      </p:sp>
      <p:pic>
        <p:nvPicPr>
          <p:cNvPr id="31" name="Image 7" descr="/tmp/claude-0/-home-user-Mobile1/ab9bbf47-b054-5f6e-be59-70476e095ce8/scratchpad/assets/icons/flag_green.png">    </p:cNvPr>
          <p:cNvPicPr>
            <a:picLocks noChangeAspect="1"/>
          </p:cNvPicPr>
          <p:nvPr/>
        </p:nvPicPr>
        <p:blipFill>
          <a:blip r:embed="rId8"/>
          <a:stretch>
            <a:fillRect/>
          </a:stretch>
        </p:blipFill>
        <p:spPr>
          <a:xfrm>
            <a:off x="6913458" y="4669292"/>
            <a:ext cx="280904" cy="280904"/>
          </a:xfrm>
          <a:prstGeom prst="rect">
            <a:avLst/>
          </a:prstGeom>
        </p:spPr>
      </p:pic>
      <p:sp>
        <p:nvSpPr>
          <p:cNvPr id="32" name="Text 22"/>
          <p:cNvSpPr/>
          <p:nvPr/>
        </p:nvSpPr>
        <p:spPr>
          <a:xfrm>
            <a:off x="6251296" y="5248656"/>
            <a:ext cx="1605229" cy="475488"/>
          </a:xfrm>
          <a:prstGeom prst="rect">
            <a:avLst/>
          </a:prstGeom>
          <a:noFill/>
          <a:ln/>
        </p:spPr>
        <p:txBody>
          <a:bodyPr wrap="square" lIns="0" tIns="0" rIns="0" bIns="0" rtlCol="0" anchor="ctr"/>
          <a:lstStyle/>
          <a:p>
            <a:pPr rtl="1" algn="ctr" indent="0" marL="0">
              <a:buNone/>
            </a:pPr>
            <a:r>
              <a:rPr lang="ar-SA" altLang="en-US" sz="1300" b="1" dirty="0">
                <a:solidFill>
                  <a:srgbClr val="0A1F19"/>
                </a:solidFill>
                <a:latin typeface="Tajawal" pitchFamily="34" charset="0"/>
                <a:ea typeface="Tajawal" pitchFamily="34" charset="-122"/>
                <a:cs typeface="Tajawal" pitchFamily="34" charset="-120"/>
              </a:rPr>
              <a:t>الانتماء</a:t>
            </a:r>
            <a:endParaRPr lang="ar-SA" sz="1300" dirty="0"/>
          </a:p>
        </p:txBody>
      </p:sp>
      <p:sp>
        <p:nvSpPr>
          <p:cNvPr id="33" name="Shape 23"/>
          <p:cNvSpPr/>
          <p:nvPr/>
        </p:nvSpPr>
        <p:spPr>
          <a:xfrm>
            <a:off x="4289450" y="4242816"/>
            <a:ext cx="1696669" cy="1664208"/>
          </a:xfrm>
          <a:prstGeom prst="roundRect">
            <a:avLst>
              <a:gd name="adj" fmla="val 4945"/>
            </a:avLst>
          </a:prstGeom>
          <a:solidFill>
            <a:srgbClr val="FFFFFF"/>
          </a:solidFill>
          <a:ln w="9525">
            <a:solidFill>
              <a:srgbClr val="E3EDE8"/>
            </a:solidFill>
            <a:prstDash val="solid"/>
          </a:ln>
          <a:effectLst>
            <a:outerShdw sx="100000" sy="100000" kx="0" ky="0" algn="bl" rotWithShape="0" blurRad="76200" dist="19050" dir="5400000">
              <a:srgbClr val="0C3A2E">
                <a:alpha val="6000"/>
              </a:srgbClr>
            </a:outerShdw>
          </a:effectLst>
        </p:spPr>
      </p:sp>
      <p:sp>
        <p:nvSpPr>
          <p:cNvPr id="34" name="Shape 24"/>
          <p:cNvSpPr/>
          <p:nvPr/>
        </p:nvSpPr>
        <p:spPr>
          <a:xfrm>
            <a:off x="4845177" y="4517136"/>
            <a:ext cx="585216" cy="585216"/>
          </a:xfrm>
          <a:prstGeom prst="ellipse">
            <a:avLst/>
          </a:prstGeom>
          <a:solidFill>
            <a:srgbClr val="F2F8F5"/>
          </a:solidFill>
          <a:ln w="9525">
            <a:solidFill>
              <a:srgbClr val="E3EDE8"/>
            </a:solidFill>
            <a:prstDash val="solid"/>
          </a:ln>
        </p:spPr>
      </p:sp>
      <p:pic>
        <p:nvPicPr>
          <p:cNvPr id="35" name="Image 8" descr="/tmp/claude-0/-home-user-Mobile1/ab9bbf47-b054-5f6e-be59-70476e095ce8/scratchpad/assets/icons/lightbulb_green.png">    </p:cNvPr>
          <p:cNvPicPr>
            <a:picLocks noChangeAspect="1"/>
          </p:cNvPicPr>
          <p:nvPr/>
        </p:nvPicPr>
        <p:blipFill>
          <a:blip r:embed="rId9"/>
          <a:stretch>
            <a:fillRect/>
          </a:stretch>
        </p:blipFill>
        <p:spPr>
          <a:xfrm>
            <a:off x="4997333" y="4669292"/>
            <a:ext cx="280904" cy="280904"/>
          </a:xfrm>
          <a:prstGeom prst="rect">
            <a:avLst/>
          </a:prstGeom>
        </p:spPr>
      </p:pic>
      <p:sp>
        <p:nvSpPr>
          <p:cNvPr id="36" name="Text 25"/>
          <p:cNvSpPr/>
          <p:nvPr/>
        </p:nvSpPr>
        <p:spPr>
          <a:xfrm>
            <a:off x="4335170" y="5248656"/>
            <a:ext cx="1605229" cy="475488"/>
          </a:xfrm>
          <a:prstGeom prst="rect">
            <a:avLst/>
          </a:prstGeom>
          <a:noFill/>
          <a:ln/>
        </p:spPr>
        <p:txBody>
          <a:bodyPr wrap="square" lIns="0" tIns="0" rIns="0" bIns="0" rtlCol="0" anchor="ctr"/>
          <a:lstStyle/>
          <a:p>
            <a:pPr rtl="1" algn="ctr" indent="0" marL="0">
              <a:buNone/>
            </a:pPr>
            <a:r>
              <a:rPr lang="ar-SA" altLang="en-US" sz="1300" b="1" dirty="0">
                <a:solidFill>
                  <a:srgbClr val="0A1F19"/>
                </a:solidFill>
                <a:latin typeface="Tajawal" pitchFamily="34" charset="0"/>
                <a:ea typeface="Tajawal" pitchFamily="34" charset="-122"/>
                <a:cs typeface="Tajawal" pitchFamily="34" charset="-120"/>
              </a:rPr>
              <a:t>الإبداع</a:t>
            </a:r>
            <a:endParaRPr lang="ar-SA" sz="1300" dirty="0"/>
          </a:p>
        </p:txBody>
      </p:sp>
      <p:sp>
        <p:nvSpPr>
          <p:cNvPr id="37" name="Shape 26"/>
          <p:cNvSpPr/>
          <p:nvPr/>
        </p:nvSpPr>
        <p:spPr>
          <a:xfrm>
            <a:off x="2373325" y="4242816"/>
            <a:ext cx="1696669" cy="1664208"/>
          </a:xfrm>
          <a:prstGeom prst="roundRect">
            <a:avLst>
              <a:gd name="adj" fmla="val 4945"/>
            </a:avLst>
          </a:prstGeom>
          <a:solidFill>
            <a:srgbClr val="FFFFFF"/>
          </a:solidFill>
          <a:ln w="9525">
            <a:solidFill>
              <a:srgbClr val="E3EDE8"/>
            </a:solidFill>
            <a:prstDash val="solid"/>
          </a:ln>
          <a:effectLst>
            <a:outerShdw sx="100000" sy="100000" kx="0" ky="0" algn="bl" rotWithShape="0" blurRad="76200" dist="19050" dir="5400000">
              <a:srgbClr val="0C3A2E">
                <a:alpha val="6000"/>
              </a:srgbClr>
            </a:outerShdw>
          </a:effectLst>
        </p:spPr>
      </p:sp>
      <p:sp>
        <p:nvSpPr>
          <p:cNvPr id="38" name="Shape 27"/>
          <p:cNvSpPr/>
          <p:nvPr/>
        </p:nvSpPr>
        <p:spPr>
          <a:xfrm>
            <a:off x="2929052" y="4517136"/>
            <a:ext cx="585216" cy="585216"/>
          </a:xfrm>
          <a:prstGeom prst="ellipse">
            <a:avLst/>
          </a:prstGeom>
          <a:solidFill>
            <a:srgbClr val="F2F8F5"/>
          </a:solidFill>
          <a:ln w="9525">
            <a:solidFill>
              <a:srgbClr val="E3EDE8"/>
            </a:solidFill>
            <a:prstDash val="solid"/>
          </a:ln>
        </p:spPr>
      </p:sp>
      <p:pic>
        <p:nvPicPr>
          <p:cNvPr id="39" name="Image 9" descr="/tmp/claude-0/-home-user-Mobile1/ab9bbf47-b054-5f6e-be59-70476e095ce8/scratchpad/assets/icons/users_green.png">    </p:cNvPr>
          <p:cNvPicPr>
            <a:picLocks noChangeAspect="1"/>
          </p:cNvPicPr>
          <p:nvPr/>
        </p:nvPicPr>
        <p:blipFill>
          <a:blip r:embed="rId10"/>
          <a:stretch>
            <a:fillRect/>
          </a:stretch>
        </p:blipFill>
        <p:spPr>
          <a:xfrm>
            <a:off x="3081208" y="4669292"/>
            <a:ext cx="280904" cy="280904"/>
          </a:xfrm>
          <a:prstGeom prst="rect">
            <a:avLst/>
          </a:prstGeom>
        </p:spPr>
      </p:pic>
      <p:sp>
        <p:nvSpPr>
          <p:cNvPr id="40" name="Text 28"/>
          <p:cNvSpPr/>
          <p:nvPr/>
        </p:nvSpPr>
        <p:spPr>
          <a:xfrm>
            <a:off x="2419045" y="5248656"/>
            <a:ext cx="1605229" cy="475488"/>
          </a:xfrm>
          <a:prstGeom prst="rect">
            <a:avLst/>
          </a:prstGeom>
          <a:noFill/>
          <a:ln/>
        </p:spPr>
        <p:txBody>
          <a:bodyPr wrap="square" lIns="0" tIns="0" rIns="0" bIns="0" rtlCol="0" anchor="ctr"/>
          <a:lstStyle/>
          <a:p>
            <a:pPr rtl="1" algn="ctr" indent="0" marL="0">
              <a:buNone/>
            </a:pPr>
            <a:r>
              <a:rPr lang="ar-SA" altLang="en-US" sz="1300" b="1" dirty="0">
                <a:solidFill>
                  <a:srgbClr val="0A1F19"/>
                </a:solidFill>
                <a:latin typeface="Tajawal" pitchFamily="34" charset="0"/>
                <a:ea typeface="Tajawal" pitchFamily="34" charset="-122"/>
                <a:cs typeface="Tajawal" pitchFamily="34" charset="-120"/>
              </a:rPr>
              <a:t>روح الفريق</a:t>
            </a:r>
            <a:endParaRPr lang="ar-SA" sz="1300" dirty="0"/>
          </a:p>
        </p:txBody>
      </p:sp>
      <p:sp>
        <p:nvSpPr>
          <p:cNvPr id="41" name="Shape 29"/>
          <p:cNvSpPr/>
          <p:nvPr/>
        </p:nvSpPr>
        <p:spPr>
          <a:xfrm>
            <a:off x="457200" y="4242816"/>
            <a:ext cx="1696669" cy="1664208"/>
          </a:xfrm>
          <a:prstGeom prst="roundRect">
            <a:avLst>
              <a:gd name="adj" fmla="val 4945"/>
            </a:avLst>
          </a:prstGeom>
          <a:solidFill>
            <a:srgbClr val="FFFFFF"/>
          </a:solidFill>
          <a:ln w="9525">
            <a:solidFill>
              <a:srgbClr val="E3EDE8"/>
            </a:solidFill>
            <a:prstDash val="solid"/>
          </a:ln>
          <a:effectLst>
            <a:outerShdw sx="100000" sy="100000" kx="0" ky="0" algn="bl" rotWithShape="0" blurRad="76200" dist="19050" dir="5400000">
              <a:srgbClr val="0C3A2E">
                <a:alpha val="6000"/>
              </a:srgbClr>
            </a:outerShdw>
          </a:effectLst>
        </p:spPr>
      </p:sp>
      <p:sp>
        <p:nvSpPr>
          <p:cNvPr id="42" name="Shape 30"/>
          <p:cNvSpPr/>
          <p:nvPr/>
        </p:nvSpPr>
        <p:spPr>
          <a:xfrm>
            <a:off x="1012927" y="4517136"/>
            <a:ext cx="585216" cy="585216"/>
          </a:xfrm>
          <a:prstGeom prst="ellipse">
            <a:avLst/>
          </a:prstGeom>
          <a:solidFill>
            <a:srgbClr val="F2F8F5"/>
          </a:solidFill>
          <a:ln w="9525">
            <a:solidFill>
              <a:srgbClr val="E3EDE8"/>
            </a:solidFill>
            <a:prstDash val="solid"/>
          </a:ln>
        </p:spPr>
      </p:sp>
      <p:pic>
        <p:nvPicPr>
          <p:cNvPr id="43" name="Image 10" descr="/tmp/claude-0/-home-user-Mobile1/ab9bbf47-b054-5f6e-be59-70476e095ce8/scratchpad/assets/icons/star_green.png">    </p:cNvPr>
          <p:cNvPicPr>
            <a:picLocks noChangeAspect="1"/>
          </p:cNvPicPr>
          <p:nvPr/>
        </p:nvPicPr>
        <p:blipFill>
          <a:blip r:embed="rId11"/>
          <a:stretch>
            <a:fillRect/>
          </a:stretch>
        </p:blipFill>
        <p:spPr>
          <a:xfrm>
            <a:off x="1165083" y="4669292"/>
            <a:ext cx="280904" cy="280904"/>
          </a:xfrm>
          <a:prstGeom prst="rect">
            <a:avLst/>
          </a:prstGeom>
        </p:spPr>
      </p:pic>
      <p:sp>
        <p:nvSpPr>
          <p:cNvPr id="44" name="Text 31"/>
          <p:cNvSpPr/>
          <p:nvPr/>
        </p:nvSpPr>
        <p:spPr>
          <a:xfrm>
            <a:off x="502920" y="5248656"/>
            <a:ext cx="1605229" cy="475488"/>
          </a:xfrm>
          <a:prstGeom prst="rect">
            <a:avLst/>
          </a:prstGeom>
          <a:noFill/>
          <a:ln/>
        </p:spPr>
        <p:txBody>
          <a:bodyPr wrap="square" lIns="0" tIns="0" rIns="0" bIns="0" rtlCol="0" anchor="ctr"/>
          <a:lstStyle/>
          <a:p>
            <a:pPr rtl="1" algn="ctr" indent="0" marL="0">
              <a:buNone/>
            </a:pPr>
            <a:r>
              <a:rPr lang="ar-SA" altLang="en-US" sz="1300" b="1" dirty="0">
                <a:solidFill>
                  <a:srgbClr val="0A1F19"/>
                </a:solidFill>
                <a:latin typeface="Tajawal" pitchFamily="34" charset="0"/>
                <a:ea typeface="Tajawal" pitchFamily="34" charset="-122"/>
                <a:cs typeface="Tajawal" pitchFamily="34" charset="-120"/>
              </a:rPr>
              <a:t>المواطنة</a:t>
            </a:r>
            <a:endParaRPr lang="ar-SA"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مرتكزات ومصادر بناء الخطة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مرتكزات ومصادر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٠٩</a:t>
            </a:r>
            <a:endParaRPr lang="ar-SA" sz="900" dirty="0"/>
          </a:p>
        </p:txBody>
      </p:sp>
      <p:sp>
        <p:nvSpPr>
          <p:cNvPr id="8" name="Shape 4"/>
          <p:cNvSpPr/>
          <p:nvPr/>
        </p:nvSpPr>
        <p:spPr>
          <a:xfrm>
            <a:off x="11652199" y="1097280"/>
            <a:ext cx="82296" cy="82296"/>
          </a:xfrm>
          <a:prstGeom prst="rect">
            <a:avLst/>
          </a:prstGeom>
          <a:solidFill>
            <a:srgbClr val="0089A1"/>
          </a:solidFill>
          <a:ln/>
        </p:spPr>
      </p:sp>
      <p:sp>
        <p:nvSpPr>
          <p:cNvPr id="9" name="Text 5"/>
          <p:cNvSpPr/>
          <p:nvPr/>
        </p:nvSpPr>
        <p:spPr>
          <a:xfrm>
            <a:off x="8991295" y="1005840"/>
            <a:ext cx="256032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مرتكزات بناء الخطة</a:t>
            </a:r>
            <a:endParaRPr lang="ar-SA" sz="1250" dirty="0"/>
          </a:p>
        </p:txBody>
      </p:sp>
      <p:sp>
        <p:nvSpPr>
          <p:cNvPr id="10" name="Text 6"/>
          <p:cNvSpPr/>
          <p:nvPr/>
        </p:nvSpPr>
        <p:spPr>
          <a:xfrm>
            <a:off x="5166360" y="1335024"/>
            <a:ext cx="6568135" cy="292608"/>
          </a:xfrm>
          <a:prstGeom prst="rect">
            <a:avLst/>
          </a:prstGeom>
          <a:noFill/>
          <a:ln/>
        </p:spPr>
        <p:txBody>
          <a:bodyPr wrap="square" lIns="0" tIns="0" rIns="0" bIns="0" rtlCol="0" anchor="t"/>
          <a:lstStyle/>
          <a:p>
            <a:pPr rtl="1" algn="r" indent="0" marL="0">
              <a:buNone/>
            </a:pPr>
            <a:r>
              <a:rPr lang="ar-SA" altLang="en-US" sz="960" dirty="0">
                <a:solidFill>
                  <a:srgbClr val="8A9A93"/>
                </a:solidFill>
                <a:latin typeface="Tajawal" pitchFamily="34" charset="0"/>
                <a:ea typeface="Tajawal" pitchFamily="34" charset="-122"/>
                <a:cs typeface="Tajawal" pitchFamily="34" charset="-120"/>
              </a:rPr>
              <a:t>الأسس التي ارتكزنا عليها في صياغة الخطة وضمان توافقها مع التوجهات الوطنية:</a:t>
            </a:r>
            <a:endParaRPr lang="ar-SA" sz="960" dirty="0"/>
          </a:p>
        </p:txBody>
      </p:sp>
      <p:sp>
        <p:nvSpPr>
          <p:cNvPr id="11" name="Shape 7"/>
          <p:cNvSpPr/>
          <p:nvPr/>
        </p:nvSpPr>
        <p:spPr>
          <a:xfrm>
            <a:off x="8560156" y="1719072"/>
            <a:ext cx="3174340" cy="1005840"/>
          </a:xfrm>
          <a:prstGeom prst="roundRect">
            <a:avLst>
              <a:gd name="adj" fmla="val 8182"/>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2" name="Text 8"/>
          <p:cNvSpPr/>
          <p:nvPr/>
        </p:nvSpPr>
        <p:spPr>
          <a:xfrm>
            <a:off x="11057839" y="1856232"/>
            <a:ext cx="530352"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٠١</a:t>
            </a:r>
            <a:endParaRPr lang="ar-SA" sz="1300" dirty="0"/>
          </a:p>
        </p:txBody>
      </p:sp>
      <p:sp>
        <p:nvSpPr>
          <p:cNvPr id="13" name="Text 9"/>
          <p:cNvSpPr/>
          <p:nvPr/>
        </p:nvSpPr>
        <p:spPr>
          <a:xfrm>
            <a:off x="8743036" y="1847088"/>
            <a:ext cx="2314804" cy="365760"/>
          </a:xfrm>
          <a:prstGeom prst="rect">
            <a:avLst/>
          </a:prstGeom>
          <a:noFill/>
          <a:ln/>
        </p:spPr>
        <p:txBody>
          <a:bodyPr wrap="square" lIns="0" tIns="0" rIns="0" bIns="0" rtlCol="0" anchor="ctr"/>
          <a:lstStyle/>
          <a:p>
            <a:pPr rtl="1" algn="r" indent="0" marL="0">
              <a:buNone/>
            </a:pPr>
            <a:r>
              <a:rPr lang="ar-SA" altLang="en-US" sz="1060" b="1" dirty="0">
                <a:solidFill>
                  <a:srgbClr val="04352B"/>
                </a:solidFill>
                <a:latin typeface="Tajawal" pitchFamily="34" charset="0"/>
                <a:ea typeface="Tajawal" pitchFamily="34" charset="-122"/>
                <a:cs typeface="Tajawal" pitchFamily="34" charset="-120"/>
              </a:rPr>
              <a:t>الرؤية والرسالة والأهداف</a:t>
            </a:r>
            <a:endParaRPr lang="ar-SA" sz="1060" dirty="0"/>
          </a:p>
        </p:txBody>
      </p:sp>
      <p:sp>
        <p:nvSpPr>
          <p:cNvPr id="14" name="Text 10"/>
          <p:cNvSpPr/>
          <p:nvPr/>
        </p:nvSpPr>
        <p:spPr>
          <a:xfrm>
            <a:off x="8743036" y="2249424"/>
            <a:ext cx="2808580" cy="402336"/>
          </a:xfrm>
          <a:prstGeom prst="rect">
            <a:avLst/>
          </a:prstGeom>
          <a:noFill/>
          <a:ln/>
        </p:spPr>
        <p:txBody>
          <a:bodyPr wrap="square" lIns="0" tIns="0" rIns="0" bIns="0" rtlCol="0" anchor="t"/>
          <a:lstStyle/>
          <a:p>
            <a:pPr rtl="1" algn="r" indent="0" marL="0">
              <a:buNone/>
            </a:pPr>
            <a:r>
              <a:rPr lang="ar-SA" altLang="en-US" sz="880" dirty="0">
                <a:solidFill>
                  <a:srgbClr val="8A9A93"/>
                </a:solidFill>
                <a:latin typeface="Tajawal" pitchFamily="34" charset="0"/>
                <a:ea typeface="Tajawal" pitchFamily="34" charset="-122"/>
                <a:cs typeface="Tajawal" pitchFamily="34" charset="-120"/>
              </a:rPr>
              <a:t>الاستراتيجية للمدرسة</a:t>
            </a:r>
            <a:endParaRPr lang="ar-SA" sz="880" dirty="0"/>
          </a:p>
        </p:txBody>
      </p:sp>
      <p:sp>
        <p:nvSpPr>
          <p:cNvPr id="15" name="Shape 11"/>
          <p:cNvSpPr/>
          <p:nvPr/>
        </p:nvSpPr>
        <p:spPr>
          <a:xfrm>
            <a:off x="5166360" y="1719072"/>
            <a:ext cx="3174340" cy="1005840"/>
          </a:xfrm>
          <a:prstGeom prst="roundRect">
            <a:avLst>
              <a:gd name="adj" fmla="val 8182"/>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6" name="Text 12"/>
          <p:cNvSpPr/>
          <p:nvPr/>
        </p:nvSpPr>
        <p:spPr>
          <a:xfrm>
            <a:off x="7664044" y="1856232"/>
            <a:ext cx="530352"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٠٢</a:t>
            </a:r>
            <a:endParaRPr lang="ar-SA" sz="1300" dirty="0"/>
          </a:p>
        </p:txBody>
      </p:sp>
      <p:sp>
        <p:nvSpPr>
          <p:cNvPr id="17" name="Text 13"/>
          <p:cNvSpPr/>
          <p:nvPr/>
        </p:nvSpPr>
        <p:spPr>
          <a:xfrm>
            <a:off x="5349240" y="1847088"/>
            <a:ext cx="2314804" cy="365760"/>
          </a:xfrm>
          <a:prstGeom prst="rect">
            <a:avLst/>
          </a:prstGeom>
          <a:noFill/>
          <a:ln/>
        </p:spPr>
        <p:txBody>
          <a:bodyPr wrap="square" lIns="0" tIns="0" rIns="0" bIns="0" rtlCol="0" anchor="ctr"/>
          <a:lstStyle/>
          <a:p>
            <a:pPr rtl="1" algn="r" indent="0" marL="0">
              <a:buNone/>
            </a:pPr>
            <a:r>
              <a:rPr lang="ar-SA" altLang="en-US" sz="1060" b="1" dirty="0">
                <a:solidFill>
                  <a:srgbClr val="04352B"/>
                </a:solidFill>
                <a:latin typeface="Tajawal" pitchFamily="34" charset="0"/>
                <a:ea typeface="Tajawal" pitchFamily="34" charset="-122"/>
                <a:cs typeface="Tajawal" pitchFamily="34" charset="-120"/>
              </a:rPr>
              <a:t>سياسات وزارة التعليم</a:t>
            </a:r>
            <a:endParaRPr lang="ar-SA" sz="1060" dirty="0"/>
          </a:p>
        </p:txBody>
      </p:sp>
      <p:sp>
        <p:nvSpPr>
          <p:cNvPr id="18" name="Text 14"/>
          <p:cNvSpPr/>
          <p:nvPr/>
        </p:nvSpPr>
        <p:spPr>
          <a:xfrm>
            <a:off x="5349240" y="2249424"/>
            <a:ext cx="2808580" cy="402336"/>
          </a:xfrm>
          <a:prstGeom prst="rect">
            <a:avLst/>
          </a:prstGeom>
          <a:noFill/>
          <a:ln/>
        </p:spPr>
        <p:txBody>
          <a:bodyPr wrap="square" lIns="0" tIns="0" rIns="0" bIns="0" rtlCol="0" anchor="t"/>
          <a:lstStyle/>
          <a:p>
            <a:pPr rtl="1" algn="r" indent="0" marL="0">
              <a:buNone/>
            </a:pPr>
            <a:r>
              <a:rPr lang="ar-SA" altLang="en-US" sz="880" dirty="0">
                <a:solidFill>
                  <a:srgbClr val="8A9A93"/>
                </a:solidFill>
                <a:latin typeface="Tajawal" pitchFamily="34" charset="0"/>
                <a:ea typeface="Tajawal" pitchFamily="34" charset="-122"/>
                <a:cs typeface="Tajawal" pitchFamily="34" charset="-120"/>
              </a:rPr>
              <a:t>وأولوياتها الاستراتيجية العشرة</a:t>
            </a:r>
            <a:endParaRPr lang="ar-SA" sz="880" dirty="0"/>
          </a:p>
        </p:txBody>
      </p:sp>
      <p:sp>
        <p:nvSpPr>
          <p:cNvPr id="19" name="Shape 15"/>
          <p:cNvSpPr/>
          <p:nvPr/>
        </p:nvSpPr>
        <p:spPr>
          <a:xfrm>
            <a:off x="8560156" y="2907792"/>
            <a:ext cx="3174340" cy="1005840"/>
          </a:xfrm>
          <a:prstGeom prst="roundRect">
            <a:avLst>
              <a:gd name="adj" fmla="val 8182"/>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0" name="Text 16"/>
          <p:cNvSpPr/>
          <p:nvPr/>
        </p:nvSpPr>
        <p:spPr>
          <a:xfrm>
            <a:off x="11057839" y="3044952"/>
            <a:ext cx="530352"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٠٣</a:t>
            </a:r>
            <a:endParaRPr lang="ar-SA" sz="1300" dirty="0"/>
          </a:p>
        </p:txBody>
      </p:sp>
      <p:sp>
        <p:nvSpPr>
          <p:cNvPr id="21" name="Text 17"/>
          <p:cNvSpPr/>
          <p:nvPr/>
        </p:nvSpPr>
        <p:spPr>
          <a:xfrm>
            <a:off x="8743036" y="3035808"/>
            <a:ext cx="2314804" cy="365760"/>
          </a:xfrm>
          <a:prstGeom prst="rect">
            <a:avLst/>
          </a:prstGeom>
          <a:noFill/>
          <a:ln/>
        </p:spPr>
        <p:txBody>
          <a:bodyPr wrap="square" lIns="0" tIns="0" rIns="0" bIns="0" rtlCol="0" anchor="ctr"/>
          <a:lstStyle/>
          <a:p>
            <a:pPr rtl="1" algn="r" indent="0" marL="0">
              <a:buNone/>
            </a:pPr>
            <a:r>
              <a:rPr lang="ar-SA" altLang="en-US" sz="1060" b="1" dirty="0">
                <a:solidFill>
                  <a:srgbClr val="04352B"/>
                </a:solidFill>
                <a:latin typeface="Tajawal" pitchFamily="34" charset="0"/>
                <a:ea typeface="Tajawal" pitchFamily="34" charset="-122"/>
                <a:cs typeface="Tajawal" pitchFamily="34" charset="-120"/>
              </a:rPr>
              <a:t>معايير الجودة والاعتماد</a:t>
            </a:r>
            <a:endParaRPr lang="ar-SA" sz="1060" dirty="0"/>
          </a:p>
        </p:txBody>
      </p:sp>
      <p:sp>
        <p:nvSpPr>
          <p:cNvPr id="22" name="Text 18"/>
          <p:cNvSpPr/>
          <p:nvPr/>
        </p:nvSpPr>
        <p:spPr>
          <a:xfrm>
            <a:off x="8743036" y="3438144"/>
            <a:ext cx="2808580" cy="402336"/>
          </a:xfrm>
          <a:prstGeom prst="rect">
            <a:avLst/>
          </a:prstGeom>
          <a:noFill/>
          <a:ln/>
        </p:spPr>
        <p:txBody>
          <a:bodyPr wrap="square" lIns="0" tIns="0" rIns="0" bIns="0" rtlCol="0" anchor="t"/>
          <a:lstStyle/>
          <a:p>
            <a:pPr rtl="1" algn="r" indent="0" marL="0">
              <a:buNone/>
            </a:pPr>
            <a:r>
              <a:rPr lang="ar-SA" altLang="en-US" sz="880" dirty="0">
                <a:solidFill>
                  <a:srgbClr val="8A9A93"/>
                </a:solidFill>
                <a:latin typeface="Tajawal" pitchFamily="34" charset="0"/>
                <a:ea typeface="Tajawal" pitchFamily="34" charset="-122"/>
                <a:cs typeface="Tajawal" pitchFamily="34" charset="-120"/>
              </a:rPr>
              <a:t>ومؤشراتها التفصيلية</a:t>
            </a:r>
            <a:endParaRPr lang="ar-SA" sz="880" dirty="0"/>
          </a:p>
        </p:txBody>
      </p:sp>
      <p:sp>
        <p:nvSpPr>
          <p:cNvPr id="23" name="Shape 19"/>
          <p:cNvSpPr/>
          <p:nvPr/>
        </p:nvSpPr>
        <p:spPr>
          <a:xfrm>
            <a:off x="5166360" y="2907792"/>
            <a:ext cx="3174340" cy="1005840"/>
          </a:xfrm>
          <a:prstGeom prst="roundRect">
            <a:avLst>
              <a:gd name="adj" fmla="val 8182"/>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4" name="Text 20"/>
          <p:cNvSpPr/>
          <p:nvPr/>
        </p:nvSpPr>
        <p:spPr>
          <a:xfrm>
            <a:off x="7664044" y="3044952"/>
            <a:ext cx="530352"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٠٤</a:t>
            </a:r>
            <a:endParaRPr lang="ar-SA" sz="1300" dirty="0"/>
          </a:p>
        </p:txBody>
      </p:sp>
      <p:sp>
        <p:nvSpPr>
          <p:cNvPr id="25" name="Text 21"/>
          <p:cNvSpPr/>
          <p:nvPr/>
        </p:nvSpPr>
        <p:spPr>
          <a:xfrm>
            <a:off x="5349240" y="3035808"/>
            <a:ext cx="2314804" cy="365760"/>
          </a:xfrm>
          <a:prstGeom prst="rect">
            <a:avLst/>
          </a:prstGeom>
          <a:noFill/>
          <a:ln/>
        </p:spPr>
        <p:txBody>
          <a:bodyPr wrap="square" lIns="0" tIns="0" rIns="0" bIns="0" rtlCol="0" anchor="ctr"/>
          <a:lstStyle/>
          <a:p>
            <a:pPr rtl="1" algn="r" indent="0" marL="0">
              <a:buNone/>
            </a:pPr>
            <a:r>
              <a:rPr lang="ar-SA" altLang="en-US" sz="1060" b="1" dirty="0">
                <a:solidFill>
                  <a:srgbClr val="04352B"/>
                </a:solidFill>
                <a:latin typeface="Tajawal" pitchFamily="34" charset="0"/>
                <a:ea typeface="Tajawal" pitchFamily="34" charset="-122"/>
                <a:cs typeface="Tajawal" pitchFamily="34" charset="-120"/>
              </a:rPr>
              <a:t>نتائج التقويم الذاتي</a:t>
            </a:r>
            <a:endParaRPr lang="ar-SA" sz="1060" dirty="0"/>
          </a:p>
        </p:txBody>
      </p:sp>
      <p:sp>
        <p:nvSpPr>
          <p:cNvPr id="26" name="Text 22"/>
          <p:cNvSpPr/>
          <p:nvPr/>
        </p:nvSpPr>
        <p:spPr>
          <a:xfrm>
            <a:off x="5349240" y="3438144"/>
            <a:ext cx="2808580" cy="402336"/>
          </a:xfrm>
          <a:prstGeom prst="rect">
            <a:avLst/>
          </a:prstGeom>
          <a:noFill/>
          <a:ln/>
        </p:spPr>
        <p:txBody>
          <a:bodyPr wrap="square" lIns="0" tIns="0" rIns="0" bIns="0" rtlCol="0" anchor="t"/>
          <a:lstStyle/>
          <a:p>
            <a:pPr rtl="1" algn="r" indent="0" marL="0">
              <a:buNone/>
            </a:pPr>
            <a:r>
              <a:rPr lang="ar-SA" altLang="en-US" sz="880" dirty="0">
                <a:solidFill>
                  <a:srgbClr val="8A9A93"/>
                </a:solidFill>
                <a:latin typeface="Tajawal" pitchFamily="34" charset="0"/>
                <a:ea typeface="Tajawal" pitchFamily="34" charset="-122"/>
                <a:cs typeface="Tajawal" pitchFamily="34" charset="-120"/>
              </a:rPr>
              <a:t>ومجالات التحسين المستهدفة</a:t>
            </a:r>
            <a:endParaRPr lang="ar-SA" sz="880" dirty="0"/>
          </a:p>
        </p:txBody>
      </p:sp>
      <p:sp>
        <p:nvSpPr>
          <p:cNvPr id="27" name="Shape 23"/>
          <p:cNvSpPr/>
          <p:nvPr/>
        </p:nvSpPr>
        <p:spPr>
          <a:xfrm>
            <a:off x="8560156" y="4096512"/>
            <a:ext cx="3174340" cy="1005840"/>
          </a:xfrm>
          <a:prstGeom prst="roundRect">
            <a:avLst>
              <a:gd name="adj" fmla="val 8182"/>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8" name="Text 24"/>
          <p:cNvSpPr/>
          <p:nvPr/>
        </p:nvSpPr>
        <p:spPr>
          <a:xfrm>
            <a:off x="11057839" y="4233672"/>
            <a:ext cx="530352"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٠٥</a:t>
            </a:r>
            <a:endParaRPr lang="ar-SA" sz="1300" dirty="0"/>
          </a:p>
        </p:txBody>
      </p:sp>
      <p:sp>
        <p:nvSpPr>
          <p:cNvPr id="29" name="Text 25"/>
          <p:cNvSpPr/>
          <p:nvPr/>
        </p:nvSpPr>
        <p:spPr>
          <a:xfrm>
            <a:off x="8743036" y="4224528"/>
            <a:ext cx="2314804" cy="365760"/>
          </a:xfrm>
          <a:prstGeom prst="rect">
            <a:avLst/>
          </a:prstGeom>
          <a:noFill/>
          <a:ln/>
        </p:spPr>
        <p:txBody>
          <a:bodyPr wrap="square" lIns="0" tIns="0" rIns="0" bIns="0" rtlCol="0" anchor="ctr"/>
          <a:lstStyle/>
          <a:p>
            <a:pPr rtl="1" algn="r" indent="0" marL="0">
              <a:buNone/>
            </a:pPr>
            <a:r>
              <a:rPr lang="ar-SA" altLang="en-US" sz="1060" b="1" dirty="0">
                <a:solidFill>
                  <a:srgbClr val="04352B"/>
                </a:solidFill>
                <a:latin typeface="Tajawal" pitchFamily="34" charset="0"/>
                <a:ea typeface="Tajawal" pitchFamily="34" charset="-122"/>
                <a:cs typeface="Tajawal" pitchFamily="34" charset="-120"/>
              </a:rPr>
              <a:t>احتياجات المتعلّمين</a:t>
            </a:r>
            <a:endParaRPr lang="ar-SA" sz="1060" dirty="0"/>
          </a:p>
        </p:txBody>
      </p:sp>
      <p:sp>
        <p:nvSpPr>
          <p:cNvPr id="30" name="Text 26"/>
          <p:cNvSpPr/>
          <p:nvPr/>
        </p:nvSpPr>
        <p:spPr>
          <a:xfrm>
            <a:off x="8743036" y="4626864"/>
            <a:ext cx="2808580" cy="402336"/>
          </a:xfrm>
          <a:prstGeom prst="rect">
            <a:avLst/>
          </a:prstGeom>
          <a:noFill/>
          <a:ln/>
        </p:spPr>
        <p:txBody>
          <a:bodyPr wrap="square" lIns="0" tIns="0" rIns="0" bIns="0" rtlCol="0" anchor="t"/>
          <a:lstStyle/>
          <a:p>
            <a:pPr rtl="1" algn="r" indent="0" marL="0">
              <a:buNone/>
            </a:pPr>
            <a:r>
              <a:rPr lang="ar-SA" altLang="en-US" sz="880" dirty="0">
                <a:solidFill>
                  <a:srgbClr val="8A9A93"/>
                </a:solidFill>
                <a:latin typeface="Tajawal" pitchFamily="34" charset="0"/>
                <a:ea typeface="Tajawal" pitchFamily="34" charset="-122"/>
                <a:cs typeface="Tajawal" pitchFamily="34" charset="-120"/>
              </a:rPr>
              <a:t>وتحسين نواتج التعلم</a:t>
            </a:r>
            <a:endParaRPr lang="ar-SA" sz="880" dirty="0"/>
          </a:p>
        </p:txBody>
      </p:sp>
      <p:sp>
        <p:nvSpPr>
          <p:cNvPr id="31" name="Shape 27"/>
          <p:cNvSpPr/>
          <p:nvPr/>
        </p:nvSpPr>
        <p:spPr>
          <a:xfrm>
            <a:off x="5166360" y="4096512"/>
            <a:ext cx="3174340" cy="1005840"/>
          </a:xfrm>
          <a:prstGeom prst="roundRect">
            <a:avLst>
              <a:gd name="adj" fmla="val 8182"/>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32" name="Text 28"/>
          <p:cNvSpPr/>
          <p:nvPr/>
        </p:nvSpPr>
        <p:spPr>
          <a:xfrm>
            <a:off x="7664044" y="4233672"/>
            <a:ext cx="530352"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٠٦</a:t>
            </a:r>
            <a:endParaRPr lang="ar-SA" sz="1300" dirty="0"/>
          </a:p>
        </p:txBody>
      </p:sp>
      <p:sp>
        <p:nvSpPr>
          <p:cNvPr id="33" name="Text 29"/>
          <p:cNvSpPr/>
          <p:nvPr/>
        </p:nvSpPr>
        <p:spPr>
          <a:xfrm>
            <a:off x="5349240" y="4224528"/>
            <a:ext cx="2314804" cy="365760"/>
          </a:xfrm>
          <a:prstGeom prst="rect">
            <a:avLst/>
          </a:prstGeom>
          <a:noFill/>
          <a:ln/>
        </p:spPr>
        <p:txBody>
          <a:bodyPr wrap="square" lIns="0" tIns="0" rIns="0" bIns="0" rtlCol="0" anchor="ctr"/>
          <a:lstStyle/>
          <a:p>
            <a:pPr rtl="1" algn="r" indent="0" marL="0">
              <a:buNone/>
            </a:pPr>
            <a:r>
              <a:rPr lang="ar-SA" altLang="en-US" sz="1060" b="1" dirty="0">
                <a:solidFill>
                  <a:srgbClr val="04352B"/>
                </a:solidFill>
                <a:latin typeface="Tajawal" pitchFamily="34" charset="0"/>
                <a:ea typeface="Tajawal" pitchFamily="34" charset="-122"/>
                <a:cs typeface="Tajawal" pitchFamily="34" charset="-120"/>
              </a:rPr>
              <a:t>احتياجات المعلمين المهنية</a:t>
            </a:r>
            <a:endParaRPr lang="ar-SA" sz="1060" dirty="0"/>
          </a:p>
        </p:txBody>
      </p:sp>
      <p:sp>
        <p:nvSpPr>
          <p:cNvPr id="34" name="Text 30"/>
          <p:cNvSpPr/>
          <p:nvPr/>
        </p:nvSpPr>
        <p:spPr>
          <a:xfrm>
            <a:off x="5349240" y="4626864"/>
            <a:ext cx="2808580" cy="402336"/>
          </a:xfrm>
          <a:prstGeom prst="rect">
            <a:avLst/>
          </a:prstGeom>
          <a:noFill/>
          <a:ln/>
        </p:spPr>
        <p:txBody>
          <a:bodyPr wrap="square" lIns="0" tIns="0" rIns="0" bIns="0" rtlCol="0" anchor="t"/>
          <a:lstStyle/>
          <a:p>
            <a:pPr rtl="1" algn="r" indent="0" marL="0">
              <a:buNone/>
            </a:pPr>
            <a:r>
              <a:rPr lang="ar-SA" altLang="en-US" sz="880" dirty="0">
                <a:solidFill>
                  <a:srgbClr val="8A9A93"/>
                </a:solidFill>
                <a:latin typeface="Tajawal" pitchFamily="34" charset="0"/>
                <a:ea typeface="Tajawal" pitchFamily="34" charset="-122"/>
                <a:cs typeface="Tajawal" pitchFamily="34" charset="-120"/>
              </a:rPr>
              <a:t>والتطوير المستمر للكوادر</a:t>
            </a:r>
            <a:endParaRPr lang="ar-SA" sz="880" dirty="0"/>
          </a:p>
        </p:txBody>
      </p:sp>
      <p:sp>
        <p:nvSpPr>
          <p:cNvPr id="35" name="Shape 31"/>
          <p:cNvSpPr/>
          <p:nvPr/>
        </p:nvSpPr>
        <p:spPr>
          <a:xfrm>
            <a:off x="8560156" y="5285232"/>
            <a:ext cx="3174340" cy="1005840"/>
          </a:xfrm>
          <a:prstGeom prst="roundRect">
            <a:avLst>
              <a:gd name="adj" fmla="val 8182"/>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36" name="Text 32"/>
          <p:cNvSpPr/>
          <p:nvPr/>
        </p:nvSpPr>
        <p:spPr>
          <a:xfrm>
            <a:off x="11057839" y="5422392"/>
            <a:ext cx="530352"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٠٧</a:t>
            </a:r>
            <a:endParaRPr lang="ar-SA" sz="1300" dirty="0"/>
          </a:p>
        </p:txBody>
      </p:sp>
      <p:sp>
        <p:nvSpPr>
          <p:cNvPr id="37" name="Text 33"/>
          <p:cNvSpPr/>
          <p:nvPr/>
        </p:nvSpPr>
        <p:spPr>
          <a:xfrm>
            <a:off x="8743036" y="5413248"/>
            <a:ext cx="2314804" cy="365760"/>
          </a:xfrm>
          <a:prstGeom prst="rect">
            <a:avLst/>
          </a:prstGeom>
          <a:noFill/>
          <a:ln/>
        </p:spPr>
        <p:txBody>
          <a:bodyPr wrap="square" lIns="0" tIns="0" rIns="0" bIns="0" rtlCol="0" anchor="ctr"/>
          <a:lstStyle/>
          <a:p>
            <a:pPr rtl="1" algn="r" indent="0" marL="0">
              <a:buNone/>
            </a:pPr>
            <a:r>
              <a:rPr lang="ar-SA" altLang="en-US" sz="1060" b="1" dirty="0">
                <a:solidFill>
                  <a:srgbClr val="04352B"/>
                </a:solidFill>
                <a:latin typeface="Tajawal" pitchFamily="34" charset="0"/>
                <a:ea typeface="Tajawal" pitchFamily="34" charset="-122"/>
                <a:cs typeface="Tajawal" pitchFamily="34" charset="-120"/>
              </a:rPr>
              <a:t>الشراكة الأسرية</a:t>
            </a:r>
            <a:endParaRPr lang="ar-SA" sz="1060" dirty="0"/>
          </a:p>
        </p:txBody>
      </p:sp>
      <p:sp>
        <p:nvSpPr>
          <p:cNvPr id="38" name="Text 34"/>
          <p:cNvSpPr/>
          <p:nvPr/>
        </p:nvSpPr>
        <p:spPr>
          <a:xfrm>
            <a:off x="8743036" y="5815584"/>
            <a:ext cx="2808580" cy="402336"/>
          </a:xfrm>
          <a:prstGeom prst="rect">
            <a:avLst/>
          </a:prstGeom>
          <a:noFill/>
          <a:ln/>
        </p:spPr>
        <p:txBody>
          <a:bodyPr wrap="square" lIns="0" tIns="0" rIns="0" bIns="0" rtlCol="0" anchor="t"/>
          <a:lstStyle/>
          <a:p>
            <a:pPr rtl="1" algn="r" indent="0" marL="0">
              <a:buNone/>
            </a:pPr>
            <a:r>
              <a:rPr lang="ar-SA" altLang="en-US" sz="880" dirty="0">
                <a:solidFill>
                  <a:srgbClr val="8A9A93"/>
                </a:solidFill>
                <a:latin typeface="Tajawal" pitchFamily="34" charset="0"/>
                <a:ea typeface="Tajawal" pitchFamily="34" charset="-122"/>
                <a:cs typeface="Tajawal" pitchFamily="34" charset="-120"/>
              </a:rPr>
              <a:t>والمجتمعية الفاعلة</a:t>
            </a:r>
            <a:endParaRPr lang="ar-SA" sz="880" dirty="0"/>
          </a:p>
        </p:txBody>
      </p:sp>
      <p:sp>
        <p:nvSpPr>
          <p:cNvPr id="39" name="Shape 35"/>
          <p:cNvSpPr/>
          <p:nvPr/>
        </p:nvSpPr>
        <p:spPr>
          <a:xfrm>
            <a:off x="5166360" y="5285232"/>
            <a:ext cx="3174340" cy="1005840"/>
          </a:xfrm>
          <a:prstGeom prst="roundRect">
            <a:avLst>
              <a:gd name="adj" fmla="val 8182"/>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40" name="Text 36"/>
          <p:cNvSpPr/>
          <p:nvPr/>
        </p:nvSpPr>
        <p:spPr>
          <a:xfrm>
            <a:off x="7664044" y="5422392"/>
            <a:ext cx="530352"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٠٨</a:t>
            </a:r>
            <a:endParaRPr lang="ar-SA" sz="1300" dirty="0"/>
          </a:p>
        </p:txBody>
      </p:sp>
      <p:sp>
        <p:nvSpPr>
          <p:cNvPr id="41" name="Text 37"/>
          <p:cNvSpPr/>
          <p:nvPr/>
        </p:nvSpPr>
        <p:spPr>
          <a:xfrm>
            <a:off x="5349240" y="5413248"/>
            <a:ext cx="2314804" cy="365760"/>
          </a:xfrm>
          <a:prstGeom prst="rect">
            <a:avLst/>
          </a:prstGeom>
          <a:noFill/>
          <a:ln/>
        </p:spPr>
        <p:txBody>
          <a:bodyPr wrap="square" lIns="0" tIns="0" rIns="0" bIns="0" rtlCol="0" anchor="ctr"/>
          <a:lstStyle/>
          <a:p>
            <a:pPr rtl="1" algn="r" indent="0" marL="0">
              <a:buNone/>
            </a:pPr>
            <a:r>
              <a:rPr lang="ar-SA" altLang="en-US" sz="1060" b="1" dirty="0">
                <a:solidFill>
                  <a:srgbClr val="04352B"/>
                </a:solidFill>
                <a:latin typeface="Tajawal" pitchFamily="34" charset="0"/>
                <a:ea typeface="Tajawal" pitchFamily="34" charset="-122"/>
                <a:cs typeface="Tajawal" pitchFamily="34" charset="-120"/>
              </a:rPr>
              <a:t>التحول الرقمي والابتكار</a:t>
            </a:r>
            <a:endParaRPr lang="ar-SA" sz="1060" dirty="0"/>
          </a:p>
        </p:txBody>
      </p:sp>
      <p:sp>
        <p:nvSpPr>
          <p:cNvPr id="42" name="Text 38"/>
          <p:cNvSpPr/>
          <p:nvPr/>
        </p:nvSpPr>
        <p:spPr>
          <a:xfrm>
            <a:off x="5349240" y="5815584"/>
            <a:ext cx="2808580" cy="402336"/>
          </a:xfrm>
          <a:prstGeom prst="rect">
            <a:avLst/>
          </a:prstGeom>
          <a:noFill/>
          <a:ln/>
        </p:spPr>
        <p:txBody>
          <a:bodyPr wrap="square" lIns="0" tIns="0" rIns="0" bIns="0" rtlCol="0" anchor="t"/>
          <a:lstStyle/>
          <a:p>
            <a:pPr rtl="1" algn="r" indent="0" marL="0">
              <a:buNone/>
            </a:pPr>
            <a:r>
              <a:rPr lang="ar-SA" altLang="en-US" sz="880" dirty="0">
                <a:solidFill>
                  <a:srgbClr val="8A9A93"/>
                </a:solidFill>
                <a:latin typeface="Tajawal" pitchFamily="34" charset="0"/>
                <a:ea typeface="Tajawal" pitchFamily="34" charset="-122"/>
                <a:cs typeface="Tajawal" pitchFamily="34" charset="-120"/>
              </a:rPr>
              <a:t>وتوظيف التقنيات الحديثة</a:t>
            </a:r>
            <a:endParaRPr lang="ar-SA" sz="880" dirty="0"/>
          </a:p>
        </p:txBody>
      </p:sp>
      <p:sp>
        <p:nvSpPr>
          <p:cNvPr id="43" name="Shape 39"/>
          <p:cNvSpPr/>
          <p:nvPr/>
        </p:nvSpPr>
        <p:spPr>
          <a:xfrm>
            <a:off x="4718304" y="1097280"/>
            <a:ext cx="82296" cy="82296"/>
          </a:xfrm>
          <a:prstGeom prst="rect">
            <a:avLst/>
          </a:prstGeom>
          <a:solidFill>
            <a:srgbClr val="0089A1"/>
          </a:solidFill>
          <a:ln/>
        </p:spPr>
      </p:sp>
      <p:sp>
        <p:nvSpPr>
          <p:cNvPr id="44" name="Text 40"/>
          <p:cNvSpPr/>
          <p:nvPr/>
        </p:nvSpPr>
        <p:spPr>
          <a:xfrm>
            <a:off x="2057400" y="1005840"/>
            <a:ext cx="256032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مصادر بناء الخطة</a:t>
            </a:r>
            <a:endParaRPr lang="ar-SA" sz="1250" dirty="0"/>
          </a:p>
        </p:txBody>
      </p:sp>
      <p:sp>
        <p:nvSpPr>
          <p:cNvPr id="45" name="Text 41"/>
          <p:cNvSpPr/>
          <p:nvPr/>
        </p:nvSpPr>
        <p:spPr>
          <a:xfrm>
            <a:off x="457200" y="1335024"/>
            <a:ext cx="4343400" cy="292608"/>
          </a:xfrm>
          <a:prstGeom prst="rect">
            <a:avLst/>
          </a:prstGeom>
          <a:noFill/>
          <a:ln/>
        </p:spPr>
        <p:txBody>
          <a:bodyPr wrap="square" lIns="0" tIns="0" rIns="0" bIns="0" rtlCol="0" anchor="t"/>
          <a:lstStyle/>
          <a:p>
            <a:pPr rtl="1" algn="r" indent="0" marL="0">
              <a:buNone/>
            </a:pPr>
            <a:r>
              <a:rPr lang="ar-SA" altLang="en-US" sz="960" dirty="0">
                <a:solidFill>
                  <a:srgbClr val="8A9A93"/>
                </a:solidFill>
                <a:latin typeface="Tajawal" pitchFamily="34" charset="0"/>
                <a:ea typeface="Tajawal" pitchFamily="34" charset="-122"/>
                <a:cs typeface="Tajawal" pitchFamily="34" charset="-120"/>
              </a:rPr>
              <a:t>البيانات والمراجع التي استند إليها فريق الإعداد لتشخيص واقع المدرسة:</a:t>
            </a:r>
            <a:endParaRPr lang="ar-SA" sz="96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719072"/>
          <a:ext cx="4343400" cy="914400"/>
        </p:xfrm>
        <a:graphic>
          <a:graphicData uri="http://schemas.openxmlformats.org/drawingml/2006/table">
            <a:tbl>
              <a:tblPr/>
              <a:tblGrid>
                <a:gridCol w="3959352"/>
                <a:gridCol w="384048"/>
              </a:tblGrid>
              <a:tr h="292608">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المصدر</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70" b="1" dirty="0">
                          <a:solidFill>
                            <a:srgbClr val="FFFFFF"/>
                          </a:solidFill>
                          <a:latin typeface="Tajawal" pitchFamily="34" charset="0"/>
                          <a:ea typeface="Tajawal" pitchFamily="34" charset="-122"/>
                          <a:cs typeface="Tajawal" pitchFamily="34" charset="-120"/>
                        </a:rPr>
                        <a:t>م</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502920">
                <a:tc>
                  <a:txBody>
                    <a:bodyPr/>
                    <a:lstStyle/>
                    <a:p>
                      <a:pPr rtl="1" algn="r" indent="0" marL="0">
                        <a:buNone/>
                      </a:pPr>
                      <a:r>
                        <a:rPr lang="ar-SA" altLang="en-US" sz="880" dirty="0">
                          <a:solidFill>
                            <a:srgbClr val="34473F"/>
                          </a:solidFill>
                          <a:latin typeface="Tajawal" pitchFamily="34" charset="0"/>
                          <a:ea typeface="Tajawal" pitchFamily="34" charset="-122"/>
                          <a:cs typeface="Tajawal" pitchFamily="34" charset="-120"/>
                        </a:rPr>
                        <a:t>نتائج الاختبارات التحصيلية واختبارات الفاقد التعليمي</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dirty="0">
                          <a:solidFill>
                            <a:srgbClr val="34473F"/>
                          </a:solidFill>
                          <a:latin typeface="Tajawal" pitchFamily="34" charset="0"/>
                          <a:ea typeface="Tajawal" pitchFamily="34" charset="-122"/>
                          <a:cs typeface="Tajawal" pitchFamily="34" charset="-120"/>
                        </a:rPr>
                        <a:t>١</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02920">
                <a:tc>
                  <a:txBody>
                    <a:bodyPr/>
                    <a:lstStyle/>
                    <a:p>
                      <a:pPr rtl="1" algn="r" indent="0" marL="0">
                        <a:buNone/>
                      </a:pPr>
                      <a:r>
                        <a:rPr lang="ar-SA" altLang="en-US" sz="880" dirty="0">
                          <a:solidFill>
                            <a:srgbClr val="34473F"/>
                          </a:solidFill>
                          <a:latin typeface="Tajawal" pitchFamily="34" charset="0"/>
                          <a:ea typeface="Tajawal" pitchFamily="34" charset="-122"/>
                          <a:cs typeface="Tajawal" pitchFamily="34" charset="-120"/>
                        </a:rPr>
                        <a:t>سجلات الحضور والانضباط وتقارير التأخر والتسرب</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dirty="0">
                          <a:solidFill>
                            <a:srgbClr val="34473F"/>
                          </a:solidFill>
                          <a:latin typeface="Tajawal" pitchFamily="34" charset="0"/>
                          <a:ea typeface="Tajawal" pitchFamily="34" charset="-122"/>
                          <a:cs typeface="Tajawal" pitchFamily="34" charset="-120"/>
                        </a:rPr>
                        <a:t>٢</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02920">
                <a:tc>
                  <a:txBody>
                    <a:bodyPr/>
                    <a:lstStyle/>
                    <a:p>
                      <a:pPr rtl="1" algn="r" indent="0" marL="0">
                        <a:buNone/>
                      </a:pPr>
                      <a:r>
                        <a:rPr lang="ar-SA" altLang="en-US" sz="880" dirty="0">
                          <a:solidFill>
                            <a:srgbClr val="34473F"/>
                          </a:solidFill>
                          <a:latin typeface="Tajawal" pitchFamily="34" charset="0"/>
                          <a:ea typeface="Tajawal" pitchFamily="34" charset="-122"/>
                          <a:cs typeface="Tajawal" pitchFamily="34" charset="-120"/>
                        </a:rPr>
                        <a:t>التغذية الراجعة من المعلمين والطلاب وأولياء الأمور</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dirty="0">
                          <a:solidFill>
                            <a:srgbClr val="34473F"/>
                          </a:solidFill>
                          <a:latin typeface="Tajawal" pitchFamily="34" charset="0"/>
                          <a:ea typeface="Tajawal" pitchFamily="34" charset="-122"/>
                          <a:cs typeface="Tajawal" pitchFamily="34" charset="-120"/>
                        </a:rPr>
                        <a:t>٣</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02920">
                <a:tc>
                  <a:txBody>
                    <a:bodyPr/>
                    <a:lstStyle/>
                    <a:p>
                      <a:pPr rtl="1" algn="r" indent="0" marL="0">
                        <a:buNone/>
                      </a:pPr>
                      <a:r>
                        <a:rPr lang="ar-SA" altLang="en-US" sz="880" dirty="0">
                          <a:solidFill>
                            <a:srgbClr val="34473F"/>
                          </a:solidFill>
                          <a:latin typeface="Tajawal" pitchFamily="34" charset="0"/>
                          <a:ea typeface="Tajawal" pitchFamily="34" charset="-122"/>
                          <a:cs typeface="Tajawal" pitchFamily="34" charset="-120"/>
                        </a:rPr>
                        <a:t>تقارير مقدمي خدمات الدعم والتقويم الخارجي</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dirty="0">
                          <a:solidFill>
                            <a:srgbClr val="34473F"/>
                          </a:solidFill>
                          <a:latin typeface="Tajawal" pitchFamily="34" charset="0"/>
                          <a:ea typeface="Tajawal" pitchFamily="34" charset="-122"/>
                          <a:cs typeface="Tajawal" pitchFamily="34" charset="-120"/>
                        </a:rPr>
                        <a:t>٤</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02920">
                <a:tc>
                  <a:txBody>
                    <a:bodyPr/>
                    <a:lstStyle/>
                    <a:p>
                      <a:pPr rtl="1" algn="r" indent="0" marL="0">
                        <a:buNone/>
                      </a:pPr>
                      <a:r>
                        <a:rPr lang="ar-SA" altLang="en-US" sz="880" dirty="0">
                          <a:solidFill>
                            <a:srgbClr val="34473F"/>
                          </a:solidFill>
                          <a:latin typeface="Tajawal" pitchFamily="34" charset="0"/>
                          <a:ea typeface="Tajawal" pitchFamily="34" charset="-122"/>
                          <a:cs typeface="Tajawal" pitchFamily="34" charset="-120"/>
                        </a:rPr>
                        <a:t>احتياجات المتعلمين وخطط تحسين نواتج التعلم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dirty="0">
                          <a:solidFill>
                            <a:srgbClr val="34473F"/>
                          </a:solidFill>
                          <a:latin typeface="Tajawal" pitchFamily="34" charset="0"/>
                          <a:ea typeface="Tajawal" pitchFamily="34" charset="-122"/>
                          <a:cs typeface="Tajawal" pitchFamily="34" charset="-120"/>
                        </a:rPr>
                        <a:t>٥</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02920">
                <a:tc>
                  <a:txBody>
                    <a:bodyPr/>
                    <a:lstStyle/>
                    <a:p>
                      <a:pPr rtl="1" algn="r" indent="0" marL="0">
                        <a:buNone/>
                      </a:pPr>
                      <a:r>
                        <a:rPr lang="ar-SA" altLang="en-US" sz="880" dirty="0">
                          <a:solidFill>
                            <a:srgbClr val="34473F"/>
                          </a:solidFill>
                          <a:latin typeface="Tajawal" pitchFamily="34" charset="0"/>
                          <a:ea typeface="Tajawal" pitchFamily="34" charset="-122"/>
                          <a:cs typeface="Tajawal" pitchFamily="34" charset="-120"/>
                        </a:rPr>
                        <a:t>نتائج تحليل SWOT والتحليل الرباعي لأداء المدرسة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dirty="0">
                          <a:solidFill>
                            <a:srgbClr val="34473F"/>
                          </a:solidFill>
                          <a:latin typeface="Tajawal" pitchFamily="34" charset="0"/>
                          <a:ea typeface="Tajawal" pitchFamily="34" charset="-122"/>
                          <a:cs typeface="Tajawal" pitchFamily="34" charset="-120"/>
                        </a:rPr>
                        <a:t>٦</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02920">
                <a:tc>
                  <a:txBody>
                    <a:bodyPr/>
                    <a:lstStyle/>
                    <a:p>
                      <a:pPr rtl="1" algn="r" indent="0" marL="0">
                        <a:buNone/>
                      </a:pPr>
                      <a:r>
                        <a:rPr lang="ar-SA" altLang="en-US" sz="880" dirty="0">
                          <a:solidFill>
                            <a:srgbClr val="34473F"/>
                          </a:solidFill>
                          <a:latin typeface="Tajawal" pitchFamily="34" charset="0"/>
                          <a:ea typeface="Tajawal" pitchFamily="34" charset="-122"/>
                          <a:cs typeface="Tajawal" pitchFamily="34" charset="-120"/>
                        </a:rPr>
                        <a:t>السجلات الفنية والإدارية وسجل النمو المهني بالمدرسة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dirty="0">
                          <a:solidFill>
                            <a:srgbClr val="34473F"/>
                          </a:solidFill>
                          <a:latin typeface="Tajawal" pitchFamily="34" charset="0"/>
                          <a:ea typeface="Tajawal" pitchFamily="34" charset="-122"/>
                          <a:cs typeface="Tajawal" pitchFamily="34" charset="-120"/>
                        </a:rPr>
                        <a:t>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02920">
                <a:tc>
                  <a:txBody>
                    <a:bodyPr/>
                    <a:lstStyle/>
                    <a:p>
                      <a:pPr rtl="1" algn="r" indent="0" marL="0">
                        <a:buNone/>
                      </a:pPr>
                      <a:r>
                        <a:rPr lang="ar-SA" altLang="en-US" sz="880" dirty="0">
                          <a:solidFill>
                            <a:srgbClr val="34473F"/>
                          </a:solidFill>
                          <a:latin typeface="Tajawal" pitchFamily="34" charset="0"/>
                          <a:ea typeface="Tajawal" pitchFamily="34" charset="-122"/>
                          <a:cs typeface="Tajawal" pitchFamily="34" charset="-120"/>
                        </a:rPr>
                        <a:t>أولياء الأمور: نتائج التحصيل الدراسي واللائحة السلوكية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dirty="0">
                          <a:solidFill>
                            <a:srgbClr val="34473F"/>
                          </a:solidFill>
                          <a:latin typeface="Tajawal" pitchFamily="34" charset="0"/>
                          <a:ea typeface="Tajawal" pitchFamily="34" charset="-122"/>
                          <a:cs typeface="Tajawal" pitchFamily="34" charset="-120"/>
                        </a:rPr>
                        <a:t>٨</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ترتيب أولويات الخطة حسب مجالات التقويم</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أولويات مجالات التقويم</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١٠</a:t>
            </a:r>
            <a:endParaRPr lang="ar-SA" sz="900" dirty="0"/>
          </a:p>
        </p:txBody>
      </p:sp>
      <p:sp>
        <p:nvSpPr>
          <p:cNvPr id="8" name="Shape 4"/>
          <p:cNvSpPr/>
          <p:nvPr/>
        </p:nvSpPr>
        <p:spPr>
          <a:xfrm>
            <a:off x="6223864" y="1097280"/>
            <a:ext cx="5510632" cy="1627632"/>
          </a:xfrm>
          <a:prstGeom prst="roundRect">
            <a:avLst>
              <a:gd name="adj" fmla="val 5056"/>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9" name="Shape 5"/>
          <p:cNvSpPr/>
          <p:nvPr/>
        </p:nvSpPr>
        <p:spPr>
          <a:xfrm>
            <a:off x="6342736" y="1207008"/>
            <a:ext cx="5272888" cy="365760"/>
          </a:xfrm>
          <a:prstGeom prst="roundRect">
            <a:avLst>
              <a:gd name="adj" fmla="val 17500"/>
            </a:avLst>
          </a:prstGeom>
          <a:solidFill>
            <a:srgbClr val="095242"/>
          </a:solidFill>
          <a:ln/>
        </p:spPr>
      </p:sp>
      <p:sp>
        <p:nvSpPr>
          <p:cNvPr id="10" name="Shape 6"/>
          <p:cNvSpPr/>
          <p:nvPr/>
        </p:nvSpPr>
        <p:spPr>
          <a:xfrm>
            <a:off x="11286439" y="1252728"/>
            <a:ext cx="274320" cy="274320"/>
          </a:xfrm>
          <a:prstGeom prst="ellipse">
            <a:avLst/>
          </a:prstGeom>
          <a:solidFill>
            <a:srgbClr val="FFFFFF"/>
          </a:solidFill>
          <a:ln/>
        </p:spPr>
      </p:sp>
      <p:sp>
        <p:nvSpPr>
          <p:cNvPr id="11" name="Text 7"/>
          <p:cNvSpPr/>
          <p:nvPr/>
        </p:nvSpPr>
        <p:spPr>
          <a:xfrm>
            <a:off x="11286439" y="1239012"/>
            <a:ext cx="274320" cy="274320"/>
          </a:xfrm>
          <a:prstGeom prst="rect">
            <a:avLst/>
          </a:prstGeom>
          <a:noFill/>
          <a:ln/>
        </p:spPr>
        <p:txBody>
          <a:bodyPr wrap="square" lIns="0" tIns="0" rIns="0" bIns="0" rtlCol="0" anchor="ctr"/>
          <a:lstStyle/>
          <a:p>
            <a:pPr rtl="1" algn="ctr" indent="0" marL="0">
              <a:buNone/>
            </a:pPr>
            <a:r>
              <a:rPr lang="ar-SA" altLang="en-US" sz="1100" b="1" dirty="0">
                <a:solidFill>
                  <a:srgbClr val="095242"/>
                </a:solidFill>
                <a:latin typeface="Tajawal" pitchFamily="34" charset="0"/>
                <a:ea typeface="Tajawal" pitchFamily="34" charset="-122"/>
                <a:cs typeface="Tajawal" pitchFamily="34" charset="-120"/>
              </a:rPr>
              <a:t>١</a:t>
            </a:r>
            <a:endParaRPr lang="ar-SA" sz="1100" dirty="0"/>
          </a:p>
        </p:txBody>
      </p:sp>
      <p:sp>
        <p:nvSpPr>
          <p:cNvPr id="12" name="Text 8"/>
          <p:cNvSpPr/>
          <p:nvPr/>
        </p:nvSpPr>
        <p:spPr>
          <a:xfrm>
            <a:off x="6498184" y="1207008"/>
            <a:ext cx="4733392" cy="365760"/>
          </a:xfrm>
          <a:prstGeom prst="rect">
            <a:avLst/>
          </a:prstGeom>
          <a:noFill/>
          <a:ln/>
        </p:spPr>
        <p:txBody>
          <a:bodyPr wrap="square" lIns="0" tIns="0" rIns="0" bIns="0" rtlCol="0" anchor="ctr"/>
          <a:lstStyle/>
          <a:p>
            <a:pPr rtl="1" algn="r" indent="0" marL="0">
              <a:buNone/>
            </a:pPr>
            <a:r>
              <a:rPr lang="ar-SA" altLang="en-US" sz="1200" b="1" dirty="0">
                <a:solidFill>
                  <a:srgbClr val="FFFFFF"/>
                </a:solidFill>
                <a:latin typeface="Tajawal" pitchFamily="34" charset="0"/>
                <a:ea typeface="Tajawal" pitchFamily="34" charset="-122"/>
                <a:cs typeface="Tajawal" pitchFamily="34" charset="-120"/>
              </a:rPr>
              <a:t>مجال التدريس</a:t>
            </a:r>
            <a:endParaRPr lang="ar-SA" sz="1200" dirty="0"/>
          </a:p>
        </p:txBody>
      </p:sp>
      <p:sp>
        <p:nvSpPr>
          <p:cNvPr id="13" name="Text 9"/>
          <p:cNvSpPr/>
          <p:nvPr/>
        </p:nvSpPr>
        <p:spPr>
          <a:xfrm>
            <a:off x="7796632" y="1664208"/>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توفر المدرسة فرصًا متكافئة للتعلم تلبّي احتياجات المتعلّمين بمن فيهم ذوو الإعاقة</a:t>
            </a:r>
            <a:endParaRPr lang="ar-SA" sz="820" dirty="0"/>
          </a:p>
        </p:txBody>
      </p:sp>
      <p:sp>
        <p:nvSpPr>
          <p:cNvPr id="14" name="Shape 10"/>
          <p:cNvSpPr/>
          <p:nvPr/>
        </p:nvSpPr>
        <p:spPr>
          <a:xfrm>
            <a:off x="7010248" y="1714500"/>
            <a:ext cx="713232" cy="265176"/>
          </a:xfrm>
          <a:prstGeom prst="roundRect">
            <a:avLst>
              <a:gd name="adj" fmla="val 20690"/>
            </a:avLst>
          </a:prstGeom>
          <a:solidFill>
            <a:srgbClr val="F2F8F5"/>
          </a:solidFill>
          <a:ln w="6350">
            <a:solidFill>
              <a:srgbClr val="E3EDE8"/>
            </a:solidFill>
            <a:prstDash val="solid"/>
          </a:ln>
        </p:spPr>
      </p:sp>
      <p:sp>
        <p:nvSpPr>
          <p:cNvPr id="15" name="Text 11"/>
          <p:cNvSpPr/>
          <p:nvPr/>
        </p:nvSpPr>
        <p:spPr>
          <a:xfrm>
            <a:off x="7010248" y="1705356"/>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‎2-1-1-9‎</a:t>
            </a:r>
            <a:endParaRPr lang="ar-SA" sz="800" dirty="0"/>
          </a:p>
        </p:txBody>
      </p:sp>
      <p:sp>
        <p:nvSpPr>
          <p:cNvPr id="16" name="Text 12"/>
          <p:cNvSpPr/>
          <p:nvPr/>
        </p:nvSpPr>
        <p:spPr>
          <a:xfrm>
            <a:off x="6342736" y="1709928"/>
            <a:ext cx="603504" cy="265176"/>
          </a:xfrm>
          <a:prstGeom prst="rect">
            <a:avLst/>
          </a:prstGeom>
          <a:noFill/>
          <a:ln/>
        </p:spPr>
        <p:txBody>
          <a:bodyPr wrap="square" lIns="0" tIns="0" rIns="0" bIns="0" rtlCol="0" anchor="ctr"/>
          <a:lstStyle/>
          <a:p>
            <a:pPr rtl="1" algn="ctr" indent="0" marL="0">
              <a:buNone/>
            </a:pPr>
            <a:r>
              <a:rPr lang="ar-SA" altLang="en-US" sz="900" b="1" dirty="0">
                <a:solidFill>
                  <a:srgbClr val="0089A1"/>
                </a:solidFill>
                <a:latin typeface="Tajawal" pitchFamily="34" charset="0"/>
                <a:ea typeface="Tajawal" pitchFamily="34" charset="-122"/>
                <a:cs typeface="Tajawal" pitchFamily="34" charset="-120"/>
              </a:rPr>
              <a:t>٧٢٫٧٥٪</a:t>
            </a:r>
            <a:endParaRPr lang="ar-SA" sz="900" dirty="0"/>
          </a:p>
        </p:txBody>
      </p:sp>
      <p:sp>
        <p:nvSpPr>
          <p:cNvPr id="17" name="Text 13"/>
          <p:cNvSpPr/>
          <p:nvPr/>
        </p:nvSpPr>
        <p:spPr>
          <a:xfrm>
            <a:off x="7796632" y="2029968"/>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تفعّل المدرسة التعلم الإلكتروني لتلبية احتياجات المتعلّمين ودعم تعلمهم</a:t>
            </a:r>
            <a:endParaRPr lang="ar-SA" sz="820" dirty="0"/>
          </a:p>
        </p:txBody>
      </p:sp>
      <p:sp>
        <p:nvSpPr>
          <p:cNvPr id="18" name="Shape 14"/>
          <p:cNvSpPr/>
          <p:nvPr/>
        </p:nvSpPr>
        <p:spPr>
          <a:xfrm>
            <a:off x="7010248" y="2080260"/>
            <a:ext cx="713232" cy="265176"/>
          </a:xfrm>
          <a:prstGeom prst="roundRect">
            <a:avLst>
              <a:gd name="adj" fmla="val 20690"/>
            </a:avLst>
          </a:prstGeom>
          <a:solidFill>
            <a:srgbClr val="F2F8F5"/>
          </a:solidFill>
          <a:ln w="6350">
            <a:solidFill>
              <a:srgbClr val="E3EDE8"/>
            </a:solidFill>
            <a:prstDash val="solid"/>
          </a:ln>
        </p:spPr>
      </p:sp>
      <p:sp>
        <p:nvSpPr>
          <p:cNvPr id="19" name="Text 15"/>
          <p:cNvSpPr/>
          <p:nvPr/>
        </p:nvSpPr>
        <p:spPr>
          <a:xfrm>
            <a:off x="7010248" y="2071116"/>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‎2-1-1-4‎</a:t>
            </a:r>
            <a:endParaRPr lang="ar-SA" sz="800" dirty="0"/>
          </a:p>
        </p:txBody>
      </p:sp>
      <p:sp>
        <p:nvSpPr>
          <p:cNvPr id="20" name="Text 16"/>
          <p:cNvSpPr/>
          <p:nvPr/>
        </p:nvSpPr>
        <p:spPr>
          <a:xfrm>
            <a:off x="6342736" y="2075688"/>
            <a:ext cx="603504" cy="265176"/>
          </a:xfrm>
          <a:prstGeom prst="rect">
            <a:avLst/>
          </a:prstGeom>
          <a:noFill/>
          <a:ln/>
        </p:spPr>
        <p:txBody>
          <a:bodyPr wrap="square" lIns="0" tIns="0" rIns="0" bIns="0" rtlCol="0" anchor="ct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p>
        </p:txBody>
      </p:sp>
      <p:sp>
        <p:nvSpPr>
          <p:cNvPr id="21" name="Text 17"/>
          <p:cNvSpPr/>
          <p:nvPr/>
        </p:nvSpPr>
        <p:spPr>
          <a:xfrm>
            <a:off x="7796632" y="2395728"/>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تنمّي المدرسة المهارات الرقمية لدى المتعلّمين</a:t>
            </a:r>
            <a:endParaRPr lang="ar-SA" sz="820" dirty="0"/>
          </a:p>
        </p:txBody>
      </p:sp>
      <p:sp>
        <p:nvSpPr>
          <p:cNvPr id="22" name="Shape 18"/>
          <p:cNvSpPr/>
          <p:nvPr/>
        </p:nvSpPr>
        <p:spPr>
          <a:xfrm>
            <a:off x="7010248" y="2446020"/>
            <a:ext cx="713232" cy="265176"/>
          </a:xfrm>
          <a:prstGeom prst="roundRect">
            <a:avLst>
              <a:gd name="adj" fmla="val 20690"/>
            </a:avLst>
          </a:prstGeom>
          <a:solidFill>
            <a:srgbClr val="F2F8F5"/>
          </a:solidFill>
          <a:ln w="6350">
            <a:solidFill>
              <a:srgbClr val="E3EDE8"/>
            </a:solidFill>
            <a:prstDash val="solid"/>
          </a:ln>
        </p:spPr>
      </p:sp>
      <p:sp>
        <p:nvSpPr>
          <p:cNvPr id="23" name="Text 19"/>
          <p:cNvSpPr/>
          <p:nvPr/>
        </p:nvSpPr>
        <p:spPr>
          <a:xfrm>
            <a:off x="7010248" y="2436876"/>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‎2-1-1-10‎</a:t>
            </a:r>
            <a:endParaRPr lang="ar-SA" sz="800" dirty="0"/>
          </a:p>
        </p:txBody>
      </p:sp>
      <p:sp>
        <p:nvSpPr>
          <p:cNvPr id="24" name="Text 20"/>
          <p:cNvSpPr/>
          <p:nvPr/>
        </p:nvSpPr>
        <p:spPr>
          <a:xfrm>
            <a:off x="6342736" y="2441448"/>
            <a:ext cx="603504" cy="265176"/>
          </a:xfrm>
          <a:prstGeom prst="rect">
            <a:avLst/>
          </a:prstGeom>
          <a:noFill/>
          <a:ln/>
        </p:spPr>
        <p:txBody>
          <a:bodyPr wrap="square" lIns="0" tIns="0" rIns="0" bIns="0" rtlCol="0" anchor="ct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p>
        </p:txBody>
      </p:sp>
      <p:sp>
        <p:nvSpPr>
          <p:cNvPr id="25" name="Shape 21"/>
          <p:cNvSpPr/>
          <p:nvPr/>
        </p:nvSpPr>
        <p:spPr>
          <a:xfrm>
            <a:off x="457200" y="1097280"/>
            <a:ext cx="5510632" cy="1627632"/>
          </a:xfrm>
          <a:prstGeom prst="roundRect">
            <a:avLst>
              <a:gd name="adj" fmla="val 5056"/>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6" name="Shape 22"/>
          <p:cNvSpPr/>
          <p:nvPr/>
        </p:nvSpPr>
        <p:spPr>
          <a:xfrm>
            <a:off x="576072" y="1207008"/>
            <a:ext cx="5272888" cy="365760"/>
          </a:xfrm>
          <a:prstGeom prst="roundRect">
            <a:avLst>
              <a:gd name="adj" fmla="val 17500"/>
            </a:avLst>
          </a:prstGeom>
          <a:solidFill>
            <a:srgbClr val="095242"/>
          </a:solidFill>
          <a:ln/>
        </p:spPr>
      </p:sp>
      <p:sp>
        <p:nvSpPr>
          <p:cNvPr id="27" name="Shape 23"/>
          <p:cNvSpPr/>
          <p:nvPr/>
        </p:nvSpPr>
        <p:spPr>
          <a:xfrm>
            <a:off x="5519776" y="1252728"/>
            <a:ext cx="274320" cy="274320"/>
          </a:xfrm>
          <a:prstGeom prst="ellipse">
            <a:avLst/>
          </a:prstGeom>
          <a:solidFill>
            <a:srgbClr val="FFFFFF"/>
          </a:solidFill>
          <a:ln/>
        </p:spPr>
      </p:sp>
      <p:sp>
        <p:nvSpPr>
          <p:cNvPr id="28" name="Text 24"/>
          <p:cNvSpPr/>
          <p:nvPr/>
        </p:nvSpPr>
        <p:spPr>
          <a:xfrm>
            <a:off x="5519776" y="1239012"/>
            <a:ext cx="274320" cy="274320"/>
          </a:xfrm>
          <a:prstGeom prst="rect">
            <a:avLst/>
          </a:prstGeom>
          <a:noFill/>
          <a:ln/>
        </p:spPr>
        <p:txBody>
          <a:bodyPr wrap="square" lIns="0" tIns="0" rIns="0" bIns="0" rtlCol="0" anchor="ctr"/>
          <a:lstStyle/>
          <a:p>
            <a:pPr rtl="1" algn="ctr" indent="0" marL="0">
              <a:buNone/>
            </a:pPr>
            <a:r>
              <a:rPr lang="ar-SA" altLang="en-US" sz="1100" b="1" dirty="0">
                <a:solidFill>
                  <a:srgbClr val="095242"/>
                </a:solidFill>
                <a:latin typeface="Tajawal" pitchFamily="34" charset="0"/>
                <a:ea typeface="Tajawal" pitchFamily="34" charset="-122"/>
                <a:cs typeface="Tajawal" pitchFamily="34" charset="-120"/>
              </a:rPr>
              <a:t>٢</a:t>
            </a:r>
            <a:endParaRPr lang="ar-SA" sz="1100" dirty="0"/>
          </a:p>
        </p:txBody>
      </p:sp>
      <p:sp>
        <p:nvSpPr>
          <p:cNvPr id="29" name="Text 25"/>
          <p:cNvSpPr/>
          <p:nvPr/>
        </p:nvSpPr>
        <p:spPr>
          <a:xfrm>
            <a:off x="731520" y="1207008"/>
            <a:ext cx="4733392" cy="365760"/>
          </a:xfrm>
          <a:prstGeom prst="rect">
            <a:avLst/>
          </a:prstGeom>
          <a:noFill/>
          <a:ln/>
        </p:spPr>
        <p:txBody>
          <a:bodyPr wrap="square" lIns="0" tIns="0" rIns="0" bIns="0" rtlCol="0" anchor="ctr"/>
          <a:lstStyle/>
          <a:p>
            <a:pPr rtl="1" algn="r" indent="0" marL="0">
              <a:buNone/>
            </a:pPr>
            <a:r>
              <a:rPr lang="ar-SA" altLang="en-US" sz="1200" b="1" dirty="0">
                <a:solidFill>
                  <a:srgbClr val="FFFFFF"/>
                </a:solidFill>
                <a:latin typeface="Tajawal" pitchFamily="34" charset="0"/>
                <a:ea typeface="Tajawal" pitchFamily="34" charset="-122"/>
                <a:cs typeface="Tajawal" pitchFamily="34" charset="-120"/>
              </a:rPr>
              <a:t>مجال نواتج التعلم</a:t>
            </a:r>
            <a:endParaRPr lang="ar-SA" sz="1200" dirty="0"/>
          </a:p>
        </p:txBody>
      </p:sp>
      <p:sp>
        <p:nvSpPr>
          <p:cNvPr id="30" name="Text 26"/>
          <p:cNvSpPr/>
          <p:nvPr/>
        </p:nvSpPr>
        <p:spPr>
          <a:xfrm>
            <a:off x="2029968" y="1664208"/>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يحقّق المتعلمون نتائج متقدمة في الاختبارات التحصيلية للمرحلة الثانوية</a:t>
            </a:r>
            <a:endParaRPr lang="ar-SA" sz="820" dirty="0"/>
          </a:p>
        </p:txBody>
      </p:sp>
      <p:sp>
        <p:nvSpPr>
          <p:cNvPr id="31" name="Shape 27"/>
          <p:cNvSpPr/>
          <p:nvPr/>
        </p:nvSpPr>
        <p:spPr>
          <a:xfrm>
            <a:off x="1243584" y="1714500"/>
            <a:ext cx="713232" cy="265176"/>
          </a:xfrm>
          <a:prstGeom prst="roundRect">
            <a:avLst>
              <a:gd name="adj" fmla="val 20690"/>
            </a:avLst>
          </a:prstGeom>
          <a:solidFill>
            <a:srgbClr val="F2F8F5"/>
          </a:solidFill>
          <a:ln w="6350">
            <a:solidFill>
              <a:srgbClr val="E3EDE8"/>
            </a:solidFill>
            <a:prstDash val="solid"/>
          </a:ln>
        </p:spPr>
      </p:sp>
      <p:sp>
        <p:nvSpPr>
          <p:cNvPr id="32" name="Text 28"/>
          <p:cNvSpPr/>
          <p:nvPr/>
        </p:nvSpPr>
        <p:spPr>
          <a:xfrm>
            <a:off x="1243584" y="1705356"/>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‎3-1-1-10‎</a:t>
            </a:r>
            <a:endParaRPr lang="ar-SA" sz="800" dirty="0"/>
          </a:p>
        </p:txBody>
      </p:sp>
      <p:sp>
        <p:nvSpPr>
          <p:cNvPr id="33" name="Text 29"/>
          <p:cNvSpPr/>
          <p:nvPr/>
        </p:nvSpPr>
        <p:spPr>
          <a:xfrm>
            <a:off x="576072" y="1709928"/>
            <a:ext cx="603504" cy="265176"/>
          </a:xfrm>
          <a:prstGeom prst="rect">
            <a:avLst/>
          </a:prstGeom>
          <a:noFill/>
          <a:ln/>
        </p:spPr>
        <p:txBody>
          <a:bodyPr wrap="square" lIns="0" tIns="0" rIns="0" bIns="0" rtlCol="0" anchor="ct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p>
        </p:txBody>
      </p:sp>
      <p:sp>
        <p:nvSpPr>
          <p:cNvPr id="34" name="Text 30"/>
          <p:cNvSpPr/>
          <p:nvPr/>
        </p:nvSpPr>
        <p:spPr>
          <a:xfrm>
            <a:off x="2029968" y="2029968"/>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يحقّق المتعلمون نتائج متقدمة في اختبارات القدرات العامة للمرحلة الثانوية</a:t>
            </a:r>
            <a:endParaRPr lang="ar-SA" sz="820" dirty="0"/>
          </a:p>
        </p:txBody>
      </p:sp>
      <p:sp>
        <p:nvSpPr>
          <p:cNvPr id="35" name="Shape 31"/>
          <p:cNvSpPr/>
          <p:nvPr/>
        </p:nvSpPr>
        <p:spPr>
          <a:xfrm>
            <a:off x="1243584" y="2080260"/>
            <a:ext cx="713232" cy="265176"/>
          </a:xfrm>
          <a:prstGeom prst="roundRect">
            <a:avLst>
              <a:gd name="adj" fmla="val 20690"/>
            </a:avLst>
          </a:prstGeom>
          <a:solidFill>
            <a:srgbClr val="F2F8F5"/>
          </a:solidFill>
          <a:ln w="6350">
            <a:solidFill>
              <a:srgbClr val="E3EDE8"/>
            </a:solidFill>
            <a:prstDash val="solid"/>
          </a:ln>
        </p:spPr>
      </p:sp>
      <p:sp>
        <p:nvSpPr>
          <p:cNvPr id="36" name="Text 32"/>
          <p:cNvSpPr/>
          <p:nvPr/>
        </p:nvSpPr>
        <p:spPr>
          <a:xfrm>
            <a:off x="1243584" y="2071116"/>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‎3-1-1-11‎</a:t>
            </a:r>
            <a:endParaRPr lang="ar-SA" sz="800" dirty="0"/>
          </a:p>
        </p:txBody>
      </p:sp>
      <p:sp>
        <p:nvSpPr>
          <p:cNvPr id="37" name="Text 33"/>
          <p:cNvSpPr/>
          <p:nvPr/>
        </p:nvSpPr>
        <p:spPr>
          <a:xfrm>
            <a:off x="576072" y="2075688"/>
            <a:ext cx="603504" cy="265176"/>
          </a:xfrm>
          <a:prstGeom prst="rect">
            <a:avLst/>
          </a:prstGeom>
          <a:noFill/>
          <a:ln/>
        </p:spPr>
        <p:txBody>
          <a:bodyPr wrap="square" lIns="0" tIns="0" rIns="0" bIns="0" rtlCol="0" anchor="ct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p>
        </p:txBody>
      </p:sp>
      <p:sp>
        <p:nvSpPr>
          <p:cNvPr id="38" name="Shape 34"/>
          <p:cNvSpPr/>
          <p:nvPr/>
        </p:nvSpPr>
        <p:spPr>
          <a:xfrm>
            <a:off x="6223864" y="2871216"/>
            <a:ext cx="5510632" cy="1316736"/>
          </a:xfrm>
          <a:prstGeom prst="roundRect">
            <a:avLst>
              <a:gd name="adj" fmla="val 6250"/>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39" name="Shape 35"/>
          <p:cNvSpPr/>
          <p:nvPr/>
        </p:nvSpPr>
        <p:spPr>
          <a:xfrm>
            <a:off x="6342736" y="2980944"/>
            <a:ext cx="5272888" cy="365760"/>
          </a:xfrm>
          <a:prstGeom prst="roundRect">
            <a:avLst>
              <a:gd name="adj" fmla="val 17500"/>
            </a:avLst>
          </a:prstGeom>
          <a:solidFill>
            <a:srgbClr val="095242"/>
          </a:solidFill>
          <a:ln/>
        </p:spPr>
      </p:sp>
      <p:sp>
        <p:nvSpPr>
          <p:cNvPr id="40" name="Shape 36"/>
          <p:cNvSpPr/>
          <p:nvPr/>
        </p:nvSpPr>
        <p:spPr>
          <a:xfrm>
            <a:off x="11286439" y="3026664"/>
            <a:ext cx="274320" cy="274320"/>
          </a:xfrm>
          <a:prstGeom prst="ellipse">
            <a:avLst/>
          </a:prstGeom>
          <a:solidFill>
            <a:srgbClr val="FFFFFF"/>
          </a:solidFill>
          <a:ln/>
        </p:spPr>
      </p:sp>
      <p:sp>
        <p:nvSpPr>
          <p:cNvPr id="41" name="Text 37"/>
          <p:cNvSpPr/>
          <p:nvPr/>
        </p:nvSpPr>
        <p:spPr>
          <a:xfrm>
            <a:off x="11286439" y="3012948"/>
            <a:ext cx="274320" cy="274320"/>
          </a:xfrm>
          <a:prstGeom prst="rect">
            <a:avLst/>
          </a:prstGeom>
          <a:noFill/>
          <a:ln/>
        </p:spPr>
        <p:txBody>
          <a:bodyPr wrap="square" lIns="0" tIns="0" rIns="0" bIns="0" rtlCol="0" anchor="ctr"/>
          <a:lstStyle/>
          <a:p>
            <a:pPr rtl="1" algn="ctr" indent="0" marL="0">
              <a:buNone/>
            </a:pPr>
            <a:r>
              <a:rPr lang="ar-SA" altLang="en-US" sz="1100" b="1" dirty="0">
                <a:solidFill>
                  <a:srgbClr val="095242"/>
                </a:solidFill>
                <a:latin typeface="Tajawal" pitchFamily="34" charset="0"/>
                <a:ea typeface="Tajawal" pitchFamily="34" charset="-122"/>
                <a:cs typeface="Tajawal" pitchFamily="34" charset="-120"/>
              </a:rPr>
              <a:t>٣</a:t>
            </a:r>
            <a:endParaRPr lang="ar-SA" sz="1100" dirty="0"/>
          </a:p>
        </p:txBody>
      </p:sp>
      <p:sp>
        <p:nvSpPr>
          <p:cNvPr id="42" name="Text 38"/>
          <p:cNvSpPr/>
          <p:nvPr/>
        </p:nvSpPr>
        <p:spPr>
          <a:xfrm>
            <a:off x="6498184" y="2980944"/>
            <a:ext cx="4733392" cy="365760"/>
          </a:xfrm>
          <a:prstGeom prst="rect">
            <a:avLst/>
          </a:prstGeom>
          <a:noFill/>
          <a:ln/>
        </p:spPr>
        <p:txBody>
          <a:bodyPr wrap="square" lIns="0" tIns="0" rIns="0" bIns="0" rtlCol="0" anchor="ctr"/>
          <a:lstStyle/>
          <a:p>
            <a:pPr rtl="1" algn="r" indent="0" marL="0">
              <a:buNone/>
            </a:pPr>
            <a:r>
              <a:rPr lang="ar-SA" altLang="en-US" sz="1200" b="1" dirty="0">
                <a:solidFill>
                  <a:srgbClr val="FFFFFF"/>
                </a:solidFill>
                <a:latin typeface="Tajawal" pitchFamily="34" charset="0"/>
                <a:ea typeface="Tajawal" pitchFamily="34" charset="-122"/>
                <a:cs typeface="Tajawal" pitchFamily="34" charset="-120"/>
              </a:rPr>
              <a:t>مجال التوجيه الطلابي</a:t>
            </a:r>
            <a:endParaRPr lang="ar-SA" sz="1200" dirty="0"/>
          </a:p>
        </p:txBody>
      </p:sp>
      <p:sp>
        <p:nvSpPr>
          <p:cNvPr id="43" name="Text 39"/>
          <p:cNvSpPr/>
          <p:nvPr/>
        </p:nvSpPr>
        <p:spPr>
          <a:xfrm>
            <a:off x="7796632" y="3438144"/>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تنشر المدرسة قواعد السلوك والمواظبة، وتُتابع تطبيقها</a:t>
            </a:r>
            <a:endParaRPr lang="ar-SA" sz="820" dirty="0"/>
          </a:p>
        </p:txBody>
      </p:sp>
      <p:sp>
        <p:nvSpPr>
          <p:cNvPr id="44" name="Shape 40"/>
          <p:cNvSpPr/>
          <p:nvPr/>
        </p:nvSpPr>
        <p:spPr>
          <a:xfrm>
            <a:off x="7010248" y="3488436"/>
            <a:ext cx="713232" cy="265176"/>
          </a:xfrm>
          <a:prstGeom prst="roundRect">
            <a:avLst>
              <a:gd name="adj" fmla="val 20690"/>
            </a:avLst>
          </a:prstGeom>
          <a:solidFill>
            <a:srgbClr val="F2F8F5"/>
          </a:solidFill>
          <a:ln w="6350">
            <a:solidFill>
              <a:srgbClr val="E3EDE8"/>
            </a:solidFill>
            <a:prstDash val="solid"/>
          </a:ln>
        </p:spPr>
      </p:sp>
      <p:sp>
        <p:nvSpPr>
          <p:cNvPr id="45" name="Text 41"/>
          <p:cNvSpPr/>
          <p:nvPr/>
        </p:nvSpPr>
        <p:spPr>
          <a:xfrm>
            <a:off x="7010248" y="3479292"/>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‎1-2-1-2‎</a:t>
            </a:r>
            <a:endParaRPr lang="ar-SA" sz="800" dirty="0"/>
          </a:p>
        </p:txBody>
      </p:sp>
      <p:sp>
        <p:nvSpPr>
          <p:cNvPr id="46" name="Text 42"/>
          <p:cNvSpPr/>
          <p:nvPr/>
        </p:nvSpPr>
        <p:spPr>
          <a:xfrm>
            <a:off x="6342736" y="3483864"/>
            <a:ext cx="603504" cy="265176"/>
          </a:xfrm>
          <a:prstGeom prst="rect">
            <a:avLst/>
          </a:prstGeom>
          <a:noFill/>
          <a:ln/>
        </p:spPr>
        <p:txBody>
          <a:bodyPr wrap="square" lIns="0" tIns="0" rIns="0" bIns="0" rtlCol="0" anchor="ct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p>
        </p:txBody>
      </p:sp>
      <p:sp>
        <p:nvSpPr>
          <p:cNvPr id="47" name="Text 43"/>
          <p:cNvSpPr/>
          <p:nvPr/>
        </p:nvSpPr>
        <p:spPr>
          <a:xfrm>
            <a:off x="7796632" y="3803904"/>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يُظهر المتعلمون اتجاهات إيجابية نحو ذواتهم</a:t>
            </a:r>
            <a:endParaRPr lang="ar-SA" sz="820" dirty="0"/>
          </a:p>
        </p:txBody>
      </p:sp>
      <p:sp>
        <p:nvSpPr>
          <p:cNvPr id="48" name="Shape 44"/>
          <p:cNvSpPr/>
          <p:nvPr/>
        </p:nvSpPr>
        <p:spPr>
          <a:xfrm>
            <a:off x="7010248" y="3854196"/>
            <a:ext cx="713232" cy="265176"/>
          </a:xfrm>
          <a:prstGeom prst="roundRect">
            <a:avLst>
              <a:gd name="adj" fmla="val 20690"/>
            </a:avLst>
          </a:prstGeom>
          <a:solidFill>
            <a:srgbClr val="F2F8F5"/>
          </a:solidFill>
          <a:ln w="6350">
            <a:solidFill>
              <a:srgbClr val="E3EDE8"/>
            </a:solidFill>
            <a:prstDash val="solid"/>
          </a:ln>
        </p:spPr>
      </p:sp>
      <p:sp>
        <p:nvSpPr>
          <p:cNvPr id="49" name="Text 45"/>
          <p:cNvSpPr/>
          <p:nvPr/>
        </p:nvSpPr>
        <p:spPr>
          <a:xfrm>
            <a:off x="7010248" y="3845052"/>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‎3-2-1-2‎</a:t>
            </a:r>
            <a:endParaRPr lang="ar-SA" sz="800" dirty="0"/>
          </a:p>
        </p:txBody>
      </p:sp>
      <p:sp>
        <p:nvSpPr>
          <p:cNvPr id="50" name="Text 46"/>
          <p:cNvSpPr/>
          <p:nvPr/>
        </p:nvSpPr>
        <p:spPr>
          <a:xfrm>
            <a:off x="6342736" y="3849624"/>
            <a:ext cx="603504" cy="265176"/>
          </a:xfrm>
          <a:prstGeom prst="rect">
            <a:avLst/>
          </a:prstGeom>
          <a:noFill/>
          <a:ln/>
        </p:spPr>
        <p:txBody>
          <a:bodyPr wrap="square" lIns="0" tIns="0" rIns="0" bIns="0" rtlCol="0" anchor="ct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p>
        </p:txBody>
      </p:sp>
      <p:sp>
        <p:nvSpPr>
          <p:cNvPr id="51" name="Shape 47"/>
          <p:cNvSpPr/>
          <p:nvPr/>
        </p:nvSpPr>
        <p:spPr>
          <a:xfrm>
            <a:off x="457200" y="2871216"/>
            <a:ext cx="5510632" cy="1316736"/>
          </a:xfrm>
          <a:prstGeom prst="roundRect">
            <a:avLst>
              <a:gd name="adj" fmla="val 6250"/>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52" name="Shape 48"/>
          <p:cNvSpPr/>
          <p:nvPr/>
        </p:nvSpPr>
        <p:spPr>
          <a:xfrm>
            <a:off x="576072" y="2980944"/>
            <a:ext cx="5272888" cy="365760"/>
          </a:xfrm>
          <a:prstGeom prst="roundRect">
            <a:avLst>
              <a:gd name="adj" fmla="val 17500"/>
            </a:avLst>
          </a:prstGeom>
          <a:solidFill>
            <a:srgbClr val="095242"/>
          </a:solidFill>
          <a:ln/>
        </p:spPr>
      </p:sp>
      <p:sp>
        <p:nvSpPr>
          <p:cNvPr id="53" name="Shape 49"/>
          <p:cNvSpPr/>
          <p:nvPr/>
        </p:nvSpPr>
        <p:spPr>
          <a:xfrm>
            <a:off x="5519776" y="3026664"/>
            <a:ext cx="274320" cy="274320"/>
          </a:xfrm>
          <a:prstGeom prst="ellipse">
            <a:avLst/>
          </a:prstGeom>
          <a:solidFill>
            <a:srgbClr val="FFFFFF"/>
          </a:solidFill>
          <a:ln/>
        </p:spPr>
      </p:sp>
      <p:sp>
        <p:nvSpPr>
          <p:cNvPr id="54" name="Text 50"/>
          <p:cNvSpPr/>
          <p:nvPr/>
        </p:nvSpPr>
        <p:spPr>
          <a:xfrm>
            <a:off x="5519776" y="3012948"/>
            <a:ext cx="274320" cy="274320"/>
          </a:xfrm>
          <a:prstGeom prst="rect">
            <a:avLst/>
          </a:prstGeom>
          <a:noFill/>
          <a:ln/>
        </p:spPr>
        <p:txBody>
          <a:bodyPr wrap="square" lIns="0" tIns="0" rIns="0" bIns="0" rtlCol="0" anchor="ctr"/>
          <a:lstStyle/>
          <a:p>
            <a:pPr rtl="1" algn="ctr" indent="0" marL="0">
              <a:buNone/>
            </a:pPr>
            <a:r>
              <a:rPr lang="ar-SA" altLang="en-US" sz="1100" b="1" dirty="0">
                <a:solidFill>
                  <a:srgbClr val="095242"/>
                </a:solidFill>
                <a:latin typeface="Tajawal" pitchFamily="34" charset="0"/>
                <a:ea typeface="Tajawal" pitchFamily="34" charset="-122"/>
                <a:cs typeface="Tajawal" pitchFamily="34" charset="-120"/>
              </a:rPr>
              <a:t>٤</a:t>
            </a:r>
            <a:endParaRPr lang="ar-SA" sz="1100" dirty="0"/>
          </a:p>
        </p:txBody>
      </p:sp>
      <p:sp>
        <p:nvSpPr>
          <p:cNvPr id="55" name="Text 51"/>
          <p:cNvSpPr/>
          <p:nvPr/>
        </p:nvSpPr>
        <p:spPr>
          <a:xfrm>
            <a:off x="731520" y="2980944"/>
            <a:ext cx="4733392" cy="365760"/>
          </a:xfrm>
          <a:prstGeom prst="rect">
            <a:avLst/>
          </a:prstGeom>
          <a:noFill/>
          <a:ln/>
        </p:spPr>
        <p:txBody>
          <a:bodyPr wrap="square" lIns="0" tIns="0" rIns="0" bIns="0" rtlCol="0" anchor="ctr"/>
          <a:lstStyle/>
          <a:p>
            <a:pPr rtl="1" algn="r" indent="0" marL="0">
              <a:buNone/>
            </a:pPr>
            <a:r>
              <a:rPr lang="ar-SA" altLang="en-US" sz="1200" b="1" dirty="0">
                <a:solidFill>
                  <a:srgbClr val="FFFFFF"/>
                </a:solidFill>
                <a:latin typeface="Tajawal" pitchFamily="34" charset="0"/>
                <a:ea typeface="Tajawal" pitchFamily="34" charset="-122"/>
                <a:cs typeface="Tajawal" pitchFamily="34" charset="-120"/>
              </a:rPr>
              <a:t>مجال الأنشطة المدرسية</a:t>
            </a:r>
            <a:endParaRPr lang="ar-SA" sz="1200" dirty="0"/>
          </a:p>
        </p:txBody>
      </p:sp>
      <p:sp>
        <p:nvSpPr>
          <p:cNvPr id="56" name="Text 52"/>
          <p:cNvSpPr/>
          <p:nvPr/>
        </p:nvSpPr>
        <p:spPr>
          <a:xfrm>
            <a:off x="2029968" y="3438144"/>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تعزز المدرسة مشاركة الأسرة في تعلّم أبنائها</a:t>
            </a:r>
            <a:endParaRPr lang="ar-SA" sz="820" dirty="0"/>
          </a:p>
        </p:txBody>
      </p:sp>
      <p:sp>
        <p:nvSpPr>
          <p:cNvPr id="57" name="Shape 53"/>
          <p:cNvSpPr/>
          <p:nvPr/>
        </p:nvSpPr>
        <p:spPr>
          <a:xfrm>
            <a:off x="1243584" y="3488436"/>
            <a:ext cx="713232" cy="265176"/>
          </a:xfrm>
          <a:prstGeom prst="roundRect">
            <a:avLst>
              <a:gd name="adj" fmla="val 20690"/>
            </a:avLst>
          </a:prstGeom>
          <a:solidFill>
            <a:srgbClr val="F2F8F5"/>
          </a:solidFill>
          <a:ln w="6350">
            <a:solidFill>
              <a:srgbClr val="E3EDE8"/>
            </a:solidFill>
            <a:prstDash val="solid"/>
          </a:ln>
        </p:spPr>
      </p:sp>
      <p:sp>
        <p:nvSpPr>
          <p:cNvPr id="58" name="Text 54"/>
          <p:cNvSpPr/>
          <p:nvPr/>
        </p:nvSpPr>
        <p:spPr>
          <a:xfrm>
            <a:off x="1243584" y="3479292"/>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‎1-3-1-2‎</a:t>
            </a:r>
            <a:endParaRPr lang="ar-SA" sz="800" dirty="0"/>
          </a:p>
        </p:txBody>
      </p:sp>
      <p:sp>
        <p:nvSpPr>
          <p:cNvPr id="59" name="Text 55"/>
          <p:cNvSpPr/>
          <p:nvPr/>
        </p:nvSpPr>
        <p:spPr>
          <a:xfrm>
            <a:off x="576072" y="3483864"/>
            <a:ext cx="603504" cy="265176"/>
          </a:xfrm>
          <a:prstGeom prst="rect">
            <a:avLst/>
          </a:prstGeom>
          <a:noFill/>
          <a:ln/>
        </p:spPr>
        <p:txBody>
          <a:bodyPr wrap="square" lIns="0" tIns="0" rIns="0" bIns="0" rtlCol="0" anchor="ct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p>
        </p:txBody>
      </p:sp>
      <p:sp>
        <p:nvSpPr>
          <p:cNvPr id="60" name="Text 56"/>
          <p:cNvSpPr/>
          <p:nvPr/>
        </p:nvSpPr>
        <p:spPr>
          <a:xfrm>
            <a:off x="2029968" y="3803904"/>
            <a:ext cx="3727552" cy="365760"/>
          </a:xfrm>
          <a:prstGeom prst="rect">
            <a:avLst/>
          </a:prstGeom>
          <a:noFill/>
          <a:ln/>
        </p:spPr>
        <p:txBody>
          <a:bodyPr wrap="square" lIns="0" tIns="0" rIns="0" bIns="0" rtlCol="0" anchor="ctr"/>
          <a:lstStyle/>
          <a:p>
            <a:pPr rtl="1" algn="r" indent="0" marL="0">
              <a:lnSpc>
                <a:spcPct val="102000"/>
              </a:lnSpc>
              <a:buNone/>
            </a:pPr>
            <a:r>
              <a:rPr lang="ar-SA" altLang="en-US" sz="820" dirty="0">
                <a:solidFill>
                  <a:srgbClr val="34473F"/>
                </a:solidFill>
                <a:latin typeface="Tajawal" pitchFamily="34" charset="0"/>
                <a:ea typeface="Tajawal" pitchFamily="34" charset="-122"/>
                <a:cs typeface="Tajawal" pitchFamily="34" charset="-120"/>
              </a:rPr>
              <a:t>توفّر المدرسة برامج وأنشطة تربوية داعمة للسلوك الإيجابي</a:t>
            </a:r>
            <a:endParaRPr lang="ar-SA" sz="820" dirty="0"/>
          </a:p>
        </p:txBody>
      </p:sp>
      <p:sp>
        <p:nvSpPr>
          <p:cNvPr id="61" name="Shape 57"/>
          <p:cNvSpPr/>
          <p:nvPr/>
        </p:nvSpPr>
        <p:spPr>
          <a:xfrm>
            <a:off x="1243584" y="3854196"/>
            <a:ext cx="713232" cy="265176"/>
          </a:xfrm>
          <a:prstGeom prst="roundRect">
            <a:avLst>
              <a:gd name="adj" fmla="val 20690"/>
            </a:avLst>
          </a:prstGeom>
          <a:solidFill>
            <a:srgbClr val="F2F8F5"/>
          </a:solidFill>
          <a:ln w="6350">
            <a:solidFill>
              <a:srgbClr val="E3EDE8"/>
            </a:solidFill>
            <a:prstDash val="solid"/>
          </a:ln>
        </p:spPr>
      </p:sp>
      <p:sp>
        <p:nvSpPr>
          <p:cNvPr id="62" name="Text 58"/>
          <p:cNvSpPr/>
          <p:nvPr/>
        </p:nvSpPr>
        <p:spPr>
          <a:xfrm>
            <a:off x="1243584" y="3845052"/>
            <a:ext cx="713232" cy="265176"/>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‎1-2-1-5‎</a:t>
            </a:r>
            <a:endParaRPr lang="ar-SA" sz="800" dirty="0"/>
          </a:p>
        </p:txBody>
      </p:sp>
      <p:sp>
        <p:nvSpPr>
          <p:cNvPr id="63" name="Text 59"/>
          <p:cNvSpPr/>
          <p:nvPr/>
        </p:nvSpPr>
        <p:spPr>
          <a:xfrm>
            <a:off x="576072" y="3849624"/>
            <a:ext cx="603504" cy="265176"/>
          </a:xfrm>
          <a:prstGeom prst="rect">
            <a:avLst/>
          </a:prstGeom>
          <a:noFill/>
          <a:ln/>
        </p:spPr>
        <p:txBody>
          <a:bodyPr wrap="square" lIns="0" tIns="0" rIns="0" bIns="0" rtlCol="0" anchor="ct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p>
        </p:txBody>
      </p:sp>
      <p:sp>
        <p:nvSpPr>
          <p:cNvPr id="64" name="Shape 60"/>
          <p:cNvSpPr/>
          <p:nvPr/>
        </p:nvSpPr>
        <p:spPr>
          <a:xfrm>
            <a:off x="6223864" y="4425696"/>
            <a:ext cx="5510632" cy="1847088"/>
          </a:xfrm>
          <a:prstGeom prst="roundRect">
            <a:avLst>
              <a:gd name="adj" fmla="val 4455"/>
            </a:avLst>
          </a:prstGeom>
          <a:solidFill>
            <a:srgbClr val="095242"/>
          </a:solidFill>
          <a:ln/>
          <a:effectLst>
            <a:outerShdw sx="100000" sy="100000" kx="0" ky="0" algn="bl" rotWithShape="0" blurRad="127000" dist="31750" dir="5400000">
              <a:srgbClr val="062A21">
                <a:alpha val="20000"/>
              </a:srgbClr>
            </a:outerShdw>
          </a:effectLst>
        </p:spPr>
      </p:sp>
      <p:pic>
        <p:nvPicPr>
          <p:cNvPr id="65" name="Image 2" descr="/tmp/claude-0/-home-user-Mobile1/ab9bbf47-b054-5f6e-be59-70476e095ce8/scratchpad/assets/dots_white.png">    </p:cNvPr>
          <p:cNvPicPr>
            <a:picLocks noChangeAspect="1"/>
          </p:cNvPicPr>
          <p:nvPr/>
        </p:nvPicPr>
        <p:blipFill>
          <a:blip r:embed="rId3">
            <a:alphaModFix amt="32000"/>
          </a:blip>
          <a:stretch>
            <a:fillRect/>
          </a:stretch>
        </p:blipFill>
        <p:spPr>
          <a:xfrm>
            <a:off x="6333592" y="5248656"/>
            <a:ext cx="1371600" cy="914400"/>
          </a:xfrm>
          <a:prstGeom prst="rect">
            <a:avLst/>
          </a:prstGeom>
        </p:spPr>
      </p:pic>
      <p:pic>
        <p:nvPicPr>
          <p:cNvPr id="66" name="Image 3" descr="/tmp/claude-0/-home-user-Mobile1/ab9bbf47-b054-5f6e-be59-70476e095ce8/scratchpad/assets/icons/listchecks_white.png">    </p:cNvPr>
          <p:cNvPicPr>
            <a:picLocks noChangeAspect="1"/>
          </p:cNvPicPr>
          <p:nvPr/>
        </p:nvPicPr>
        <p:blipFill>
          <a:blip r:embed="rId4"/>
          <a:stretch>
            <a:fillRect/>
          </a:stretch>
        </p:blipFill>
        <p:spPr>
          <a:xfrm>
            <a:off x="11185855" y="4590288"/>
            <a:ext cx="274320" cy="274320"/>
          </a:xfrm>
          <a:prstGeom prst="rect">
            <a:avLst/>
          </a:prstGeom>
        </p:spPr>
      </p:pic>
      <p:sp>
        <p:nvSpPr>
          <p:cNvPr id="67" name="Text 61"/>
          <p:cNvSpPr/>
          <p:nvPr/>
        </p:nvSpPr>
        <p:spPr>
          <a:xfrm>
            <a:off x="6498184" y="4553712"/>
            <a:ext cx="4596232" cy="365760"/>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منهجية ترتيب الأولويات</a:t>
            </a:r>
            <a:endParaRPr lang="ar-SA" sz="1250" dirty="0"/>
          </a:p>
        </p:txBody>
      </p:sp>
      <p:sp>
        <p:nvSpPr>
          <p:cNvPr id="68" name="Text 62"/>
          <p:cNvSpPr/>
          <p:nvPr/>
        </p:nvSpPr>
        <p:spPr>
          <a:xfrm>
            <a:off x="6498184" y="4974336"/>
            <a:ext cx="4961992" cy="1170432"/>
          </a:xfrm>
          <a:prstGeom prst="rect">
            <a:avLst/>
          </a:prstGeom>
          <a:noFill/>
          <a:ln/>
        </p:spPr>
        <p:txBody>
          <a:bodyPr wrap="square" lIns="0" tIns="0" rIns="0" bIns="0" rtlCol="0" anchor="t"/>
          <a:lstStyle/>
          <a:p>
            <a:pPr rtl="1" algn="r" indent="0" marL="0">
              <a:lnSpc>
                <a:spcPct val="126000"/>
              </a:lnSpc>
              <a:buNone/>
            </a:pPr>
            <a:r>
              <a:rPr lang="ar-SA" altLang="en-US" sz="980" dirty="0">
                <a:solidFill>
                  <a:srgbClr val="D2E4DD"/>
                </a:solidFill>
                <a:latin typeface="Tajawal" pitchFamily="34" charset="0"/>
                <a:ea typeface="Tajawal" pitchFamily="34" charset="-122"/>
                <a:cs typeface="Tajawal" pitchFamily="34" charset="-120"/>
              </a:rPr>
              <a:t>اعتمد فريق الإعداد على تحليل نتائج التقويم الذاتي وفقًا للنسب المسجّلة في كل مؤشر، ثم رتّب الأولويات تصاعديًا من المؤشرات الأدنى نسبةً نحو الأعلى، مع تخصيص برامج علاجية مرتبطة بمعايير الاعتماد المدرسي.</a:t>
            </a:r>
            <a:endParaRPr lang="ar-SA" sz="980" dirty="0"/>
          </a:p>
        </p:txBody>
      </p:sp>
      <p:sp>
        <p:nvSpPr>
          <p:cNvPr id="69" name="Shape 63"/>
          <p:cNvSpPr/>
          <p:nvPr/>
        </p:nvSpPr>
        <p:spPr>
          <a:xfrm>
            <a:off x="5885536" y="4498848"/>
            <a:ext cx="82296" cy="82296"/>
          </a:xfrm>
          <a:prstGeom prst="rect">
            <a:avLst/>
          </a:prstGeom>
          <a:solidFill>
            <a:srgbClr val="0089A1"/>
          </a:solidFill>
          <a:ln/>
        </p:spPr>
      </p:sp>
      <p:sp>
        <p:nvSpPr>
          <p:cNvPr id="70" name="Text 64"/>
          <p:cNvSpPr/>
          <p:nvPr/>
        </p:nvSpPr>
        <p:spPr>
          <a:xfrm>
            <a:off x="3956152" y="4407408"/>
            <a:ext cx="18288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منحنى الأولويات</a:t>
            </a:r>
            <a:endParaRPr lang="ar-SA" sz="1250" dirty="0"/>
          </a:p>
        </p:txBody>
      </p:sp>
      <p:sp>
        <p:nvSpPr>
          <p:cNvPr id="71" name="Shape 65"/>
          <p:cNvSpPr/>
          <p:nvPr/>
        </p:nvSpPr>
        <p:spPr>
          <a:xfrm>
            <a:off x="4713618" y="5385816"/>
            <a:ext cx="1254214" cy="502920"/>
          </a:xfrm>
          <a:prstGeom prst="roundRect">
            <a:avLst>
              <a:gd name="adj" fmla="val 9091"/>
            </a:avLst>
          </a:prstGeom>
          <a:solidFill>
            <a:srgbClr val="0089A1"/>
          </a:solidFill>
          <a:ln/>
        </p:spPr>
      </p:sp>
      <p:sp>
        <p:nvSpPr>
          <p:cNvPr id="72" name="Text 66"/>
          <p:cNvSpPr/>
          <p:nvPr/>
        </p:nvSpPr>
        <p:spPr>
          <a:xfrm>
            <a:off x="4713618" y="5413248"/>
            <a:ext cx="1254214" cy="292608"/>
          </a:xfrm>
          <a:prstGeom prst="rect">
            <a:avLst/>
          </a:prstGeom>
          <a:noFill/>
          <a:ln/>
        </p:spPr>
        <p:txBody>
          <a:bodyPr wrap="square" lIns="0" tIns="0" rIns="0" bIns="0" rtlCol="0" anchor="t"/>
          <a:lstStyle/>
          <a:p>
            <a:pPr rtl="1" algn="ctr" indent="0" marL="0">
              <a:buNone/>
            </a:pPr>
            <a:r>
              <a:rPr lang="ar-SA" altLang="en-US" sz="1200" b="1" dirty="0">
                <a:solidFill>
                  <a:srgbClr val="FFFFFF"/>
                </a:solidFill>
                <a:latin typeface="Tajawal" pitchFamily="34" charset="0"/>
                <a:ea typeface="Tajawal" pitchFamily="34" charset="-122"/>
                <a:cs typeface="Tajawal" pitchFamily="34" charset="-120"/>
              </a:rPr>
              <a:t>١</a:t>
            </a:r>
            <a:endParaRPr lang="ar-SA" sz="1200" dirty="0"/>
          </a:p>
        </p:txBody>
      </p:sp>
      <p:sp>
        <p:nvSpPr>
          <p:cNvPr id="73" name="Text 67"/>
          <p:cNvSpPr/>
          <p:nvPr/>
        </p:nvSpPr>
        <p:spPr>
          <a:xfrm>
            <a:off x="4631322" y="5925312"/>
            <a:ext cx="1418806" cy="347472"/>
          </a:xfrm>
          <a:prstGeom prst="rect">
            <a:avLst/>
          </a:prstGeom>
          <a:noFill/>
          <a:ln/>
        </p:spPr>
        <p:txBody>
          <a:bodyPr wrap="square" lIns="0" tIns="0" rIns="0" bIns="0" rtlCol="0" anchor="t"/>
          <a:lstStyle/>
          <a:p>
            <a:pPr rtl="1" algn="ctr" indent="0" marL="0">
              <a:buNone/>
            </a:pPr>
            <a:r>
              <a:rPr lang="ar-SA" altLang="en-US" sz="860" b="1" dirty="0">
                <a:solidFill>
                  <a:srgbClr val="34473F"/>
                </a:solidFill>
                <a:latin typeface="Tajawal" pitchFamily="34" charset="0"/>
                <a:ea typeface="Tajawal" pitchFamily="34" charset="-122"/>
                <a:cs typeface="Tajawal" pitchFamily="34" charset="-120"/>
              </a:rPr>
              <a:t>التدريس</a:t>
            </a:r>
            <a:endParaRPr lang="ar-SA" sz="860" dirty="0"/>
          </a:p>
        </p:txBody>
      </p:sp>
      <p:sp>
        <p:nvSpPr>
          <p:cNvPr id="74" name="Shape 68"/>
          <p:cNvSpPr/>
          <p:nvPr/>
        </p:nvSpPr>
        <p:spPr>
          <a:xfrm>
            <a:off x="3294812" y="5093208"/>
            <a:ext cx="1254214" cy="795528"/>
          </a:xfrm>
          <a:prstGeom prst="roundRect">
            <a:avLst>
              <a:gd name="adj" fmla="val 5747"/>
            </a:avLst>
          </a:prstGeom>
          <a:solidFill>
            <a:srgbClr val="095242"/>
          </a:solidFill>
          <a:ln/>
        </p:spPr>
      </p:sp>
      <p:sp>
        <p:nvSpPr>
          <p:cNvPr id="75" name="Text 69"/>
          <p:cNvSpPr/>
          <p:nvPr/>
        </p:nvSpPr>
        <p:spPr>
          <a:xfrm>
            <a:off x="3294812" y="5120640"/>
            <a:ext cx="1254214" cy="292608"/>
          </a:xfrm>
          <a:prstGeom prst="rect">
            <a:avLst/>
          </a:prstGeom>
          <a:noFill/>
          <a:ln/>
        </p:spPr>
        <p:txBody>
          <a:bodyPr wrap="square" lIns="0" tIns="0" rIns="0" bIns="0" rtlCol="0" anchor="t"/>
          <a:lstStyle/>
          <a:p>
            <a:pPr rtl="1" algn="ctr" indent="0" marL="0">
              <a:buNone/>
            </a:pPr>
            <a:r>
              <a:rPr lang="ar-SA" altLang="en-US" sz="1200" b="1" dirty="0">
                <a:solidFill>
                  <a:srgbClr val="FFFFFF"/>
                </a:solidFill>
                <a:latin typeface="Tajawal" pitchFamily="34" charset="0"/>
                <a:ea typeface="Tajawal" pitchFamily="34" charset="-122"/>
                <a:cs typeface="Tajawal" pitchFamily="34" charset="-120"/>
              </a:rPr>
              <a:t>٢</a:t>
            </a:r>
            <a:endParaRPr lang="ar-SA" sz="1200" dirty="0"/>
          </a:p>
        </p:txBody>
      </p:sp>
      <p:sp>
        <p:nvSpPr>
          <p:cNvPr id="76" name="Text 70"/>
          <p:cNvSpPr/>
          <p:nvPr/>
        </p:nvSpPr>
        <p:spPr>
          <a:xfrm>
            <a:off x="3212516" y="5925312"/>
            <a:ext cx="1418806" cy="347472"/>
          </a:xfrm>
          <a:prstGeom prst="rect">
            <a:avLst/>
          </a:prstGeom>
          <a:noFill/>
          <a:ln/>
        </p:spPr>
        <p:txBody>
          <a:bodyPr wrap="square" lIns="0" tIns="0" rIns="0" bIns="0" rtlCol="0" anchor="t"/>
          <a:lstStyle/>
          <a:p>
            <a:pPr rtl="1" algn="ctr" indent="0" marL="0">
              <a:buNone/>
            </a:pPr>
            <a:r>
              <a:rPr lang="ar-SA" altLang="en-US" sz="860" b="1" dirty="0">
                <a:solidFill>
                  <a:srgbClr val="34473F"/>
                </a:solidFill>
                <a:latin typeface="Tajawal" pitchFamily="34" charset="0"/>
                <a:ea typeface="Tajawal" pitchFamily="34" charset="-122"/>
                <a:cs typeface="Tajawal" pitchFamily="34" charset="-120"/>
              </a:rPr>
              <a:t>نواتج التعلم</a:t>
            </a:r>
            <a:endParaRPr lang="ar-SA" sz="860" dirty="0"/>
          </a:p>
        </p:txBody>
      </p:sp>
      <p:sp>
        <p:nvSpPr>
          <p:cNvPr id="77" name="Shape 71"/>
          <p:cNvSpPr/>
          <p:nvPr/>
        </p:nvSpPr>
        <p:spPr>
          <a:xfrm>
            <a:off x="1876006" y="4800600"/>
            <a:ext cx="1254214" cy="1088136"/>
          </a:xfrm>
          <a:prstGeom prst="roundRect">
            <a:avLst>
              <a:gd name="adj" fmla="val 4202"/>
            </a:avLst>
          </a:prstGeom>
          <a:solidFill>
            <a:srgbClr val="095242"/>
          </a:solidFill>
          <a:ln/>
        </p:spPr>
      </p:sp>
      <p:sp>
        <p:nvSpPr>
          <p:cNvPr id="78" name="Text 72"/>
          <p:cNvSpPr/>
          <p:nvPr/>
        </p:nvSpPr>
        <p:spPr>
          <a:xfrm>
            <a:off x="1876006" y="4828032"/>
            <a:ext cx="1254214" cy="292608"/>
          </a:xfrm>
          <a:prstGeom prst="rect">
            <a:avLst/>
          </a:prstGeom>
          <a:noFill/>
          <a:ln/>
        </p:spPr>
        <p:txBody>
          <a:bodyPr wrap="square" lIns="0" tIns="0" rIns="0" bIns="0" rtlCol="0" anchor="t"/>
          <a:lstStyle/>
          <a:p>
            <a:pPr rtl="1" algn="ctr" indent="0" marL="0">
              <a:buNone/>
            </a:pPr>
            <a:r>
              <a:rPr lang="ar-SA" altLang="en-US" sz="1200" b="1" dirty="0">
                <a:solidFill>
                  <a:srgbClr val="FFFFFF"/>
                </a:solidFill>
                <a:latin typeface="Tajawal" pitchFamily="34" charset="0"/>
                <a:ea typeface="Tajawal" pitchFamily="34" charset="-122"/>
                <a:cs typeface="Tajawal" pitchFamily="34" charset="-120"/>
              </a:rPr>
              <a:t>٣</a:t>
            </a:r>
            <a:endParaRPr lang="ar-SA" sz="1200" dirty="0"/>
          </a:p>
        </p:txBody>
      </p:sp>
      <p:sp>
        <p:nvSpPr>
          <p:cNvPr id="79" name="Text 73"/>
          <p:cNvSpPr/>
          <p:nvPr/>
        </p:nvSpPr>
        <p:spPr>
          <a:xfrm>
            <a:off x="1793710" y="5925312"/>
            <a:ext cx="1418806" cy="347472"/>
          </a:xfrm>
          <a:prstGeom prst="rect">
            <a:avLst/>
          </a:prstGeom>
          <a:noFill/>
          <a:ln/>
        </p:spPr>
        <p:txBody>
          <a:bodyPr wrap="square" lIns="0" tIns="0" rIns="0" bIns="0" rtlCol="0" anchor="t"/>
          <a:lstStyle/>
          <a:p>
            <a:pPr rtl="1" algn="ctr" indent="0" marL="0">
              <a:buNone/>
            </a:pPr>
            <a:r>
              <a:rPr lang="ar-SA" altLang="en-US" sz="860" b="1" dirty="0">
                <a:solidFill>
                  <a:srgbClr val="34473F"/>
                </a:solidFill>
                <a:latin typeface="Tajawal" pitchFamily="34" charset="0"/>
                <a:ea typeface="Tajawal" pitchFamily="34" charset="-122"/>
                <a:cs typeface="Tajawal" pitchFamily="34" charset="-120"/>
              </a:rPr>
              <a:t>التوجيه الطلابي</a:t>
            </a:r>
            <a:endParaRPr lang="ar-SA" sz="860" dirty="0"/>
          </a:p>
        </p:txBody>
      </p:sp>
      <p:sp>
        <p:nvSpPr>
          <p:cNvPr id="80" name="Shape 74"/>
          <p:cNvSpPr/>
          <p:nvPr/>
        </p:nvSpPr>
        <p:spPr>
          <a:xfrm>
            <a:off x="457200" y="4507992"/>
            <a:ext cx="1254214" cy="1380744"/>
          </a:xfrm>
          <a:prstGeom prst="roundRect">
            <a:avLst>
              <a:gd name="adj" fmla="val 3645"/>
            </a:avLst>
          </a:prstGeom>
          <a:solidFill>
            <a:srgbClr val="095242"/>
          </a:solidFill>
          <a:ln/>
        </p:spPr>
      </p:sp>
      <p:sp>
        <p:nvSpPr>
          <p:cNvPr id="81" name="Text 75"/>
          <p:cNvSpPr/>
          <p:nvPr/>
        </p:nvSpPr>
        <p:spPr>
          <a:xfrm>
            <a:off x="457200" y="4535424"/>
            <a:ext cx="1254214" cy="292608"/>
          </a:xfrm>
          <a:prstGeom prst="rect">
            <a:avLst/>
          </a:prstGeom>
          <a:noFill/>
          <a:ln/>
        </p:spPr>
        <p:txBody>
          <a:bodyPr wrap="square" lIns="0" tIns="0" rIns="0" bIns="0" rtlCol="0" anchor="t"/>
          <a:lstStyle/>
          <a:p>
            <a:pPr rtl="1" algn="ctr" indent="0" marL="0">
              <a:buNone/>
            </a:pPr>
            <a:r>
              <a:rPr lang="ar-SA" altLang="en-US" sz="1200" b="1" dirty="0">
                <a:solidFill>
                  <a:srgbClr val="FFFFFF"/>
                </a:solidFill>
                <a:latin typeface="Tajawal" pitchFamily="34" charset="0"/>
                <a:ea typeface="Tajawal" pitchFamily="34" charset="-122"/>
                <a:cs typeface="Tajawal" pitchFamily="34" charset="-120"/>
              </a:rPr>
              <a:t>٤</a:t>
            </a:r>
            <a:endParaRPr lang="ar-SA" sz="1200" dirty="0"/>
          </a:p>
        </p:txBody>
      </p:sp>
      <p:sp>
        <p:nvSpPr>
          <p:cNvPr id="82" name="Text 76"/>
          <p:cNvSpPr/>
          <p:nvPr/>
        </p:nvSpPr>
        <p:spPr>
          <a:xfrm>
            <a:off x="374904" y="5925312"/>
            <a:ext cx="1418806" cy="347472"/>
          </a:xfrm>
          <a:prstGeom prst="rect">
            <a:avLst/>
          </a:prstGeom>
          <a:noFill/>
          <a:ln/>
        </p:spPr>
        <p:txBody>
          <a:bodyPr wrap="square" lIns="0" tIns="0" rIns="0" bIns="0" rtlCol="0" anchor="t"/>
          <a:lstStyle/>
          <a:p>
            <a:pPr rtl="1" algn="ctr" indent="0" marL="0">
              <a:buNone/>
            </a:pPr>
            <a:r>
              <a:rPr lang="ar-SA" altLang="en-US" sz="860" b="1" dirty="0">
                <a:solidFill>
                  <a:srgbClr val="34473F"/>
                </a:solidFill>
                <a:latin typeface="Tajawal" pitchFamily="34" charset="0"/>
                <a:ea typeface="Tajawal" pitchFamily="34" charset="-122"/>
                <a:cs typeface="Tajawal" pitchFamily="34" charset="-120"/>
              </a:rPr>
              <a:t>الأنشطة المدرسية</a:t>
            </a:r>
            <a:endParaRPr lang="ar-SA" sz="8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تحليل واقع المدرسة (SWOT)</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تحليل SWOT</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١١</a:t>
            </a:r>
            <a:endParaRPr lang="ar-SA" sz="900" dirty="0"/>
          </a:p>
        </p:txBody>
      </p:sp>
      <p:sp>
        <p:nvSpPr>
          <p:cNvPr id="8" name="Text 4"/>
          <p:cNvSpPr/>
          <p:nvPr/>
        </p:nvSpPr>
        <p:spPr>
          <a:xfrm>
            <a:off x="6223864" y="969264"/>
            <a:ext cx="5510632" cy="237744"/>
          </a:xfrm>
          <a:prstGeom prst="rect">
            <a:avLst/>
          </a:prstGeom>
          <a:noFill/>
          <a:ln/>
        </p:spPr>
        <p:txBody>
          <a:bodyPr wrap="square" lIns="0" tIns="0" rIns="0" bIns="0" rtlCol="0" anchor="t"/>
          <a:lstStyle/>
          <a:p>
            <a:pPr rtl="1" algn="ctr" indent="0" marL="0">
              <a:buNone/>
            </a:pPr>
            <a:r>
              <a:rPr lang="ar-SA" altLang="en-US" sz="1000" b="1" dirty="0">
                <a:solidFill>
                  <a:srgbClr val="095242"/>
                </a:solidFill>
                <a:latin typeface="Tajawal" pitchFamily="34" charset="0"/>
                <a:ea typeface="Tajawal" pitchFamily="34" charset="-122"/>
                <a:cs typeface="Tajawal" pitchFamily="34" charset="-120"/>
              </a:rPr>
              <a:t>عوامل داخلية</a:t>
            </a:r>
            <a:endParaRPr lang="ar-SA" sz="1000" dirty="0"/>
          </a:p>
        </p:txBody>
      </p:sp>
      <p:sp>
        <p:nvSpPr>
          <p:cNvPr id="9" name="Text 5"/>
          <p:cNvSpPr/>
          <p:nvPr/>
        </p:nvSpPr>
        <p:spPr>
          <a:xfrm>
            <a:off x="457200" y="969264"/>
            <a:ext cx="5510632" cy="237744"/>
          </a:xfrm>
          <a:prstGeom prst="rect">
            <a:avLst/>
          </a:prstGeom>
          <a:noFill/>
          <a:ln/>
        </p:spPr>
        <p:txBody>
          <a:bodyPr wrap="square" lIns="0" tIns="0" rIns="0" bIns="0" rtlCol="0" anchor="t"/>
          <a:lstStyle/>
          <a:p>
            <a:pPr rtl="1" algn="ctr" indent="0" marL="0">
              <a:buNone/>
            </a:pPr>
            <a:r>
              <a:rPr lang="ar-SA" altLang="en-US" sz="1000" b="1" dirty="0">
                <a:solidFill>
                  <a:srgbClr val="46551F"/>
                </a:solidFill>
                <a:latin typeface="Tajawal" pitchFamily="34" charset="0"/>
                <a:ea typeface="Tajawal" pitchFamily="34" charset="-122"/>
                <a:cs typeface="Tajawal" pitchFamily="34" charset="-120"/>
              </a:rPr>
              <a:t>عوامل خارجية</a:t>
            </a:r>
            <a:endParaRPr lang="ar-SA" sz="1000" dirty="0"/>
          </a:p>
        </p:txBody>
      </p:sp>
      <p:sp>
        <p:nvSpPr>
          <p:cNvPr id="10" name="Shape 6"/>
          <p:cNvSpPr/>
          <p:nvPr/>
        </p:nvSpPr>
        <p:spPr>
          <a:xfrm>
            <a:off x="6223864" y="1243584"/>
            <a:ext cx="5510632" cy="1920240"/>
          </a:xfrm>
          <a:prstGeom prst="roundRect">
            <a:avLst>
              <a:gd name="adj" fmla="val 4286"/>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1" name="Shape 7"/>
          <p:cNvSpPr/>
          <p:nvPr/>
        </p:nvSpPr>
        <p:spPr>
          <a:xfrm>
            <a:off x="6342736" y="1353312"/>
            <a:ext cx="5272888" cy="384048"/>
          </a:xfrm>
          <a:prstGeom prst="roundRect">
            <a:avLst>
              <a:gd name="adj" fmla="val 16667"/>
            </a:avLst>
          </a:prstGeom>
          <a:solidFill>
            <a:srgbClr val="095242"/>
          </a:solidFill>
          <a:ln/>
        </p:spPr>
      </p:sp>
      <p:sp>
        <p:nvSpPr>
          <p:cNvPr id="12" name="Shape 8"/>
          <p:cNvSpPr/>
          <p:nvPr/>
        </p:nvSpPr>
        <p:spPr>
          <a:xfrm>
            <a:off x="11268151" y="1408176"/>
            <a:ext cx="274320" cy="274320"/>
          </a:xfrm>
          <a:prstGeom prst="ellipse">
            <a:avLst/>
          </a:prstGeom>
          <a:solidFill>
            <a:srgbClr val="FFFFFF"/>
          </a:solidFill>
          <a:ln/>
        </p:spPr>
      </p:sp>
      <p:sp>
        <p:nvSpPr>
          <p:cNvPr id="13" name="Text 9"/>
          <p:cNvSpPr/>
          <p:nvPr/>
        </p:nvSpPr>
        <p:spPr>
          <a:xfrm>
            <a:off x="11268151" y="1394460"/>
            <a:ext cx="274320" cy="274320"/>
          </a:xfrm>
          <a:prstGeom prst="rect">
            <a:avLst/>
          </a:prstGeom>
          <a:noFill/>
          <a:ln/>
        </p:spPr>
        <p:txBody>
          <a:bodyPr wrap="square" lIns="0" tIns="0" rIns="0" bIns="0" rtlCol="0" anchor="ctr"/>
          <a:lstStyle/>
          <a:p>
            <a:pPr rtl="1" algn="ctr" indent="0" marL="0">
              <a:buNone/>
            </a:pPr>
            <a:r>
              <a:rPr lang="ar-SA" altLang="en-US" sz="1100" b="1" dirty="0">
                <a:solidFill>
                  <a:srgbClr val="095242"/>
                </a:solidFill>
                <a:latin typeface="Arial" pitchFamily="34" charset="0"/>
                <a:ea typeface="Arial" pitchFamily="34" charset="-122"/>
                <a:cs typeface="Arial" pitchFamily="34" charset="-120"/>
              </a:rPr>
              <a:t>S</a:t>
            </a:r>
            <a:endParaRPr lang="ar-SA" sz="1100" dirty="0"/>
          </a:p>
        </p:txBody>
      </p:sp>
      <p:sp>
        <p:nvSpPr>
          <p:cNvPr id="14" name="Text 10"/>
          <p:cNvSpPr/>
          <p:nvPr/>
        </p:nvSpPr>
        <p:spPr>
          <a:xfrm>
            <a:off x="6498184" y="1353312"/>
            <a:ext cx="4687672" cy="384048"/>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نقاط القوة</a:t>
            </a:r>
            <a:endParaRPr lang="ar-SA" sz="1250" dirty="0"/>
          </a:p>
        </p:txBody>
      </p:sp>
      <p:sp>
        <p:nvSpPr>
          <p:cNvPr id="15" name="Text 11"/>
          <p:cNvSpPr/>
          <p:nvPr/>
        </p:nvSpPr>
        <p:spPr>
          <a:xfrm>
            <a:off x="6498184" y="1847088"/>
            <a:ext cx="4961992" cy="1188720"/>
          </a:xfrm>
          <a:prstGeom prst="rect">
            <a:avLst/>
          </a:prstGeom>
          <a:noFill/>
          <a:ln/>
        </p:spPr>
        <p:txBody>
          <a:bodyPr wrap="square" lIns="0" tIns="0" rIns="0" bIns="0" rtlCol="0" anchor="t"/>
          <a:lstStyle/>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توفّر كادر تعليمي مؤهّل ومُتمكِّن.</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وجود برامج إثرائية وأنشطة طلابية متنوّعة ومنظّمة.</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توفّر بيئة مدرسية آمنة ومنظّمة.</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تفاعل جيّد بين المدرسة وأولياء الأمور.</a:t>
            </a:r>
            <a:endParaRPr lang="ar-SA" sz="930" dirty="0"/>
          </a:p>
        </p:txBody>
      </p:sp>
      <p:sp>
        <p:nvSpPr>
          <p:cNvPr id="16" name="Shape 12"/>
          <p:cNvSpPr/>
          <p:nvPr/>
        </p:nvSpPr>
        <p:spPr>
          <a:xfrm>
            <a:off x="457200" y="1243584"/>
            <a:ext cx="5510632" cy="1920240"/>
          </a:xfrm>
          <a:prstGeom prst="roundRect">
            <a:avLst>
              <a:gd name="adj" fmla="val 4286"/>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7" name="Shape 13"/>
          <p:cNvSpPr/>
          <p:nvPr/>
        </p:nvSpPr>
        <p:spPr>
          <a:xfrm>
            <a:off x="576072" y="1353312"/>
            <a:ext cx="5272888" cy="384048"/>
          </a:xfrm>
          <a:prstGeom prst="roundRect">
            <a:avLst>
              <a:gd name="adj" fmla="val 16667"/>
            </a:avLst>
          </a:prstGeom>
          <a:solidFill>
            <a:srgbClr val="D7E4BD"/>
          </a:solidFill>
          <a:ln/>
        </p:spPr>
      </p:sp>
      <p:sp>
        <p:nvSpPr>
          <p:cNvPr id="18" name="Shape 14"/>
          <p:cNvSpPr/>
          <p:nvPr/>
        </p:nvSpPr>
        <p:spPr>
          <a:xfrm>
            <a:off x="5501488" y="1408176"/>
            <a:ext cx="274320" cy="274320"/>
          </a:xfrm>
          <a:prstGeom prst="ellipse">
            <a:avLst/>
          </a:prstGeom>
          <a:solidFill>
            <a:srgbClr val="FFFFFF"/>
          </a:solidFill>
          <a:ln/>
        </p:spPr>
      </p:sp>
      <p:sp>
        <p:nvSpPr>
          <p:cNvPr id="19" name="Text 15"/>
          <p:cNvSpPr/>
          <p:nvPr/>
        </p:nvSpPr>
        <p:spPr>
          <a:xfrm>
            <a:off x="5501488" y="1394460"/>
            <a:ext cx="274320" cy="274320"/>
          </a:xfrm>
          <a:prstGeom prst="rect">
            <a:avLst/>
          </a:prstGeom>
          <a:noFill/>
          <a:ln/>
        </p:spPr>
        <p:txBody>
          <a:bodyPr wrap="square" lIns="0" tIns="0" rIns="0" bIns="0" rtlCol="0" anchor="ctr"/>
          <a:lstStyle/>
          <a:p>
            <a:pPr rtl="1" algn="ctr" indent="0" marL="0">
              <a:buNone/>
            </a:pPr>
            <a:r>
              <a:rPr lang="ar-SA" altLang="en-US" sz="1100" b="1" dirty="0">
                <a:solidFill>
                  <a:srgbClr val="46551F"/>
                </a:solidFill>
                <a:latin typeface="Arial" pitchFamily="34" charset="0"/>
                <a:ea typeface="Arial" pitchFamily="34" charset="-122"/>
                <a:cs typeface="Arial" pitchFamily="34" charset="-120"/>
              </a:rPr>
              <a:t>O</a:t>
            </a:r>
            <a:endParaRPr lang="ar-SA" sz="1100" dirty="0"/>
          </a:p>
        </p:txBody>
      </p:sp>
      <p:sp>
        <p:nvSpPr>
          <p:cNvPr id="20" name="Text 16"/>
          <p:cNvSpPr/>
          <p:nvPr/>
        </p:nvSpPr>
        <p:spPr>
          <a:xfrm>
            <a:off x="731520" y="1353312"/>
            <a:ext cx="4687672" cy="384048"/>
          </a:xfrm>
          <a:prstGeom prst="rect">
            <a:avLst/>
          </a:prstGeom>
          <a:noFill/>
          <a:ln/>
        </p:spPr>
        <p:txBody>
          <a:bodyPr wrap="square" lIns="0" tIns="0" rIns="0" bIns="0" rtlCol="0" anchor="ctr"/>
          <a:lstStyle/>
          <a:p>
            <a:pPr rtl="1" algn="r" indent="0" marL="0">
              <a:buNone/>
            </a:pPr>
            <a:r>
              <a:rPr lang="ar-SA" altLang="en-US" sz="1250" b="1" dirty="0">
                <a:solidFill>
                  <a:srgbClr val="46551F"/>
                </a:solidFill>
                <a:latin typeface="Tajawal" pitchFamily="34" charset="0"/>
                <a:ea typeface="Tajawal" pitchFamily="34" charset="-122"/>
                <a:cs typeface="Tajawal" pitchFamily="34" charset="-120"/>
              </a:rPr>
              <a:t>الفرص</a:t>
            </a:r>
            <a:endParaRPr lang="ar-SA" sz="1250" dirty="0"/>
          </a:p>
        </p:txBody>
      </p:sp>
      <p:sp>
        <p:nvSpPr>
          <p:cNvPr id="21" name="Text 17"/>
          <p:cNvSpPr/>
          <p:nvPr/>
        </p:nvSpPr>
        <p:spPr>
          <a:xfrm>
            <a:off x="731520" y="1847088"/>
            <a:ext cx="4961992" cy="1188720"/>
          </a:xfrm>
          <a:prstGeom prst="rect">
            <a:avLst/>
          </a:prstGeom>
          <a:noFill/>
          <a:ln/>
        </p:spPr>
        <p:txBody>
          <a:bodyPr wrap="square" lIns="0" tIns="0" rIns="0" bIns="0" rtlCol="0" anchor="t"/>
          <a:lstStyle/>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دعم الوزارة للتحوّل الرقمي في التعليم.</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توفّر برامج تدريبية للمعلمين عبر منصّات رسمية.</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إمكانية تفعيل شراكات مع المجتمع المحلّي.</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مشاركة المدارس في مبادرات تحسين نواتج التعلم.</a:t>
            </a:r>
            <a:endParaRPr lang="ar-SA" sz="930" dirty="0"/>
          </a:p>
        </p:txBody>
      </p:sp>
      <p:sp>
        <p:nvSpPr>
          <p:cNvPr id="22" name="Shape 18"/>
          <p:cNvSpPr/>
          <p:nvPr/>
        </p:nvSpPr>
        <p:spPr>
          <a:xfrm>
            <a:off x="6223864" y="3310128"/>
            <a:ext cx="5510632" cy="1920240"/>
          </a:xfrm>
          <a:prstGeom prst="roundRect">
            <a:avLst>
              <a:gd name="adj" fmla="val 4286"/>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3" name="Shape 19"/>
          <p:cNvSpPr/>
          <p:nvPr/>
        </p:nvSpPr>
        <p:spPr>
          <a:xfrm>
            <a:off x="6342736" y="3419856"/>
            <a:ext cx="5272888" cy="384048"/>
          </a:xfrm>
          <a:prstGeom prst="roundRect">
            <a:avLst>
              <a:gd name="adj" fmla="val 16667"/>
            </a:avLst>
          </a:prstGeom>
          <a:solidFill>
            <a:srgbClr val="095242"/>
          </a:solidFill>
          <a:ln/>
        </p:spPr>
      </p:sp>
      <p:sp>
        <p:nvSpPr>
          <p:cNvPr id="24" name="Shape 20"/>
          <p:cNvSpPr/>
          <p:nvPr/>
        </p:nvSpPr>
        <p:spPr>
          <a:xfrm>
            <a:off x="11268151" y="3474720"/>
            <a:ext cx="274320" cy="274320"/>
          </a:xfrm>
          <a:prstGeom prst="ellipse">
            <a:avLst/>
          </a:prstGeom>
          <a:solidFill>
            <a:srgbClr val="FFFFFF"/>
          </a:solidFill>
          <a:ln/>
        </p:spPr>
      </p:sp>
      <p:sp>
        <p:nvSpPr>
          <p:cNvPr id="25" name="Text 21"/>
          <p:cNvSpPr/>
          <p:nvPr/>
        </p:nvSpPr>
        <p:spPr>
          <a:xfrm>
            <a:off x="11268151" y="3461004"/>
            <a:ext cx="274320" cy="274320"/>
          </a:xfrm>
          <a:prstGeom prst="rect">
            <a:avLst/>
          </a:prstGeom>
          <a:noFill/>
          <a:ln/>
        </p:spPr>
        <p:txBody>
          <a:bodyPr wrap="square" lIns="0" tIns="0" rIns="0" bIns="0" rtlCol="0" anchor="ctr"/>
          <a:lstStyle/>
          <a:p>
            <a:pPr rtl="1" algn="ctr" indent="0" marL="0">
              <a:buNone/>
            </a:pPr>
            <a:r>
              <a:rPr lang="ar-SA" altLang="en-US" sz="1100" b="1" dirty="0">
                <a:solidFill>
                  <a:srgbClr val="095242"/>
                </a:solidFill>
                <a:latin typeface="Arial" pitchFamily="34" charset="0"/>
                <a:ea typeface="Arial" pitchFamily="34" charset="-122"/>
                <a:cs typeface="Arial" pitchFamily="34" charset="-120"/>
              </a:rPr>
              <a:t>W</a:t>
            </a:r>
            <a:endParaRPr lang="ar-SA" sz="1100" dirty="0"/>
          </a:p>
        </p:txBody>
      </p:sp>
      <p:sp>
        <p:nvSpPr>
          <p:cNvPr id="26" name="Text 22"/>
          <p:cNvSpPr/>
          <p:nvPr/>
        </p:nvSpPr>
        <p:spPr>
          <a:xfrm>
            <a:off x="6498184" y="3419856"/>
            <a:ext cx="4687672" cy="384048"/>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نقاط الضعف</a:t>
            </a:r>
            <a:endParaRPr lang="ar-SA" sz="1250" dirty="0"/>
          </a:p>
        </p:txBody>
      </p:sp>
      <p:sp>
        <p:nvSpPr>
          <p:cNvPr id="27" name="Text 23"/>
          <p:cNvSpPr/>
          <p:nvPr/>
        </p:nvSpPr>
        <p:spPr>
          <a:xfrm>
            <a:off x="6498184" y="3913632"/>
            <a:ext cx="4961992" cy="1188720"/>
          </a:xfrm>
          <a:prstGeom prst="rect">
            <a:avLst/>
          </a:prstGeom>
          <a:noFill/>
          <a:ln/>
        </p:spPr>
        <p:txBody>
          <a:bodyPr wrap="square" lIns="0" tIns="0" rIns="0" bIns="0" rtlCol="0" anchor="t"/>
          <a:lstStyle/>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انخفاض مستوى بعض الطلاب في مهارات القراءة والكتابة والرياضيات.</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نقص في استخدام التقنيات التعليمية داخل الفصول.</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ضعف في متابعة تنفيذ المبادرات حسب الجداول الزمنية.</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الحاجة إلى تطوير ممارسات التقييم النوعي للطلاب.</a:t>
            </a:r>
            <a:endParaRPr lang="ar-SA" sz="930" dirty="0"/>
          </a:p>
        </p:txBody>
      </p:sp>
      <p:sp>
        <p:nvSpPr>
          <p:cNvPr id="28" name="Shape 24"/>
          <p:cNvSpPr/>
          <p:nvPr/>
        </p:nvSpPr>
        <p:spPr>
          <a:xfrm>
            <a:off x="457200" y="3310128"/>
            <a:ext cx="5510632" cy="1920240"/>
          </a:xfrm>
          <a:prstGeom prst="roundRect">
            <a:avLst>
              <a:gd name="adj" fmla="val 4286"/>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9" name="Shape 25"/>
          <p:cNvSpPr/>
          <p:nvPr/>
        </p:nvSpPr>
        <p:spPr>
          <a:xfrm>
            <a:off x="576072" y="3419856"/>
            <a:ext cx="5272888" cy="384048"/>
          </a:xfrm>
          <a:prstGeom prst="roundRect">
            <a:avLst>
              <a:gd name="adj" fmla="val 16667"/>
            </a:avLst>
          </a:prstGeom>
          <a:solidFill>
            <a:srgbClr val="D7E4BD"/>
          </a:solidFill>
          <a:ln/>
        </p:spPr>
      </p:sp>
      <p:sp>
        <p:nvSpPr>
          <p:cNvPr id="30" name="Shape 26"/>
          <p:cNvSpPr/>
          <p:nvPr/>
        </p:nvSpPr>
        <p:spPr>
          <a:xfrm>
            <a:off x="5501488" y="3474720"/>
            <a:ext cx="274320" cy="274320"/>
          </a:xfrm>
          <a:prstGeom prst="ellipse">
            <a:avLst/>
          </a:prstGeom>
          <a:solidFill>
            <a:srgbClr val="FFFFFF"/>
          </a:solidFill>
          <a:ln/>
        </p:spPr>
      </p:sp>
      <p:sp>
        <p:nvSpPr>
          <p:cNvPr id="31" name="Text 27"/>
          <p:cNvSpPr/>
          <p:nvPr/>
        </p:nvSpPr>
        <p:spPr>
          <a:xfrm>
            <a:off x="5501488" y="3461004"/>
            <a:ext cx="274320" cy="274320"/>
          </a:xfrm>
          <a:prstGeom prst="rect">
            <a:avLst/>
          </a:prstGeom>
          <a:noFill/>
          <a:ln/>
        </p:spPr>
        <p:txBody>
          <a:bodyPr wrap="square" lIns="0" tIns="0" rIns="0" bIns="0" rtlCol="0" anchor="ctr"/>
          <a:lstStyle/>
          <a:p>
            <a:pPr rtl="1" algn="ctr" indent="0" marL="0">
              <a:buNone/>
            </a:pPr>
            <a:r>
              <a:rPr lang="ar-SA" altLang="en-US" sz="1100" b="1" dirty="0">
                <a:solidFill>
                  <a:srgbClr val="46551F"/>
                </a:solidFill>
                <a:latin typeface="Arial" pitchFamily="34" charset="0"/>
                <a:ea typeface="Arial" pitchFamily="34" charset="-122"/>
                <a:cs typeface="Arial" pitchFamily="34" charset="-120"/>
              </a:rPr>
              <a:t>T</a:t>
            </a:r>
            <a:endParaRPr lang="ar-SA" sz="1100" dirty="0"/>
          </a:p>
        </p:txBody>
      </p:sp>
      <p:sp>
        <p:nvSpPr>
          <p:cNvPr id="32" name="Text 28"/>
          <p:cNvSpPr/>
          <p:nvPr/>
        </p:nvSpPr>
        <p:spPr>
          <a:xfrm>
            <a:off x="731520" y="3419856"/>
            <a:ext cx="4687672" cy="384048"/>
          </a:xfrm>
          <a:prstGeom prst="rect">
            <a:avLst/>
          </a:prstGeom>
          <a:noFill/>
          <a:ln/>
        </p:spPr>
        <p:txBody>
          <a:bodyPr wrap="square" lIns="0" tIns="0" rIns="0" bIns="0" rtlCol="0" anchor="ctr"/>
          <a:lstStyle/>
          <a:p>
            <a:pPr rtl="1" algn="r" indent="0" marL="0">
              <a:buNone/>
            </a:pPr>
            <a:r>
              <a:rPr lang="ar-SA" altLang="en-US" sz="1250" b="1" dirty="0">
                <a:solidFill>
                  <a:srgbClr val="46551F"/>
                </a:solidFill>
                <a:latin typeface="Tajawal" pitchFamily="34" charset="0"/>
                <a:ea typeface="Tajawal" pitchFamily="34" charset="-122"/>
                <a:cs typeface="Tajawal" pitchFamily="34" charset="-120"/>
              </a:rPr>
              <a:t>التهديدات</a:t>
            </a:r>
            <a:endParaRPr lang="ar-SA" sz="1250" dirty="0"/>
          </a:p>
        </p:txBody>
      </p:sp>
      <p:sp>
        <p:nvSpPr>
          <p:cNvPr id="33" name="Text 29"/>
          <p:cNvSpPr/>
          <p:nvPr/>
        </p:nvSpPr>
        <p:spPr>
          <a:xfrm>
            <a:off x="731520" y="3913632"/>
            <a:ext cx="4961992" cy="1188720"/>
          </a:xfrm>
          <a:prstGeom prst="rect">
            <a:avLst/>
          </a:prstGeom>
          <a:noFill/>
          <a:ln/>
        </p:spPr>
        <p:txBody>
          <a:bodyPr wrap="square" lIns="0" tIns="0" rIns="0" bIns="0" rtlCol="0" anchor="t"/>
          <a:lstStyle/>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غياب بعض الطلاب وضعف الانتظام المدرسي في مجموعة من الفصول.</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ضعف الدعم المالي المُقدَّم للمدرسة لتنفيذ البرامج.</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ضعف الالتزام الأسري بمتابعة الأبناء أكاديميًا.</a:t>
            </a:r>
            <a:endParaRPr lang="ar-SA" sz="930" dirty="0"/>
          </a:p>
          <a:p>
            <a:pPr algn="r" marL="127000" indent="-127000">
              <a:lnSpc>
                <a:spcPct val="110000"/>
              </a:lnSpc>
              <a:spcAft>
                <a:spcPts val="500"/>
              </a:spcAft>
              <a:buSzPct val="100000"/>
              <a:buChar char="▪"/>
            </a:pPr>
            <a:r>
              <a:rPr lang="ar-SA" altLang="en-US" sz="930" dirty="0">
                <a:solidFill>
                  <a:srgbClr val="34473F"/>
                </a:solidFill>
                <a:latin typeface="Tajawal" pitchFamily="34" charset="0"/>
                <a:ea typeface="Tajawal" pitchFamily="34" charset="-122"/>
                <a:cs typeface="Tajawal" pitchFamily="34" charset="-120"/>
              </a:rPr>
              <a:t>محدودية المؤثرات الاجتماعية على الأداء.</a:t>
            </a:r>
            <a:endParaRPr lang="ar-SA" sz="930" dirty="0"/>
          </a:p>
        </p:txBody>
      </p:sp>
      <p:sp>
        <p:nvSpPr>
          <p:cNvPr id="34" name="Text 30"/>
          <p:cNvSpPr/>
          <p:nvPr/>
        </p:nvSpPr>
        <p:spPr>
          <a:xfrm>
            <a:off x="6248095" y="5358384"/>
            <a:ext cx="5486400" cy="274320"/>
          </a:xfrm>
          <a:prstGeom prst="rect">
            <a:avLst/>
          </a:prstGeom>
          <a:noFill/>
          <a:ln/>
        </p:spPr>
        <p:txBody>
          <a:bodyPr wrap="square" lIns="0" tIns="0" rIns="0" bIns="0" rtlCol="0" anchor="t"/>
          <a:lstStyle/>
          <a:p>
            <a:pPr rtl="1" algn="r" indent="0" marL="0">
              <a:buNone/>
            </a:pPr>
            <a:r>
              <a:rPr lang="ar-SA" altLang="en-US" sz="1100" b="1" dirty="0">
                <a:solidFill>
                  <a:srgbClr val="0A1F19"/>
                </a:solidFill>
                <a:latin typeface="Tajawal" pitchFamily="34" charset="0"/>
                <a:ea typeface="Tajawal" pitchFamily="34" charset="-122"/>
                <a:cs typeface="Tajawal" pitchFamily="34" charset="-120"/>
              </a:rPr>
              <a:t>الاستراتيجيات المُستنبَطة (SO، WO، ST، WT)</a:t>
            </a:r>
            <a:endParaRPr lang="ar-SA" sz="1100" dirty="0"/>
          </a:p>
        </p:txBody>
      </p:sp>
      <p:sp>
        <p:nvSpPr>
          <p:cNvPr id="35" name="Shape 31"/>
          <p:cNvSpPr/>
          <p:nvPr/>
        </p:nvSpPr>
        <p:spPr>
          <a:xfrm>
            <a:off x="9079763" y="5669280"/>
            <a:ext cx="2654732" cy="713232"/>
          </a:xfrm>
          <a:prstGeom prst="roundRect">
            <a:avLst>
              <a:gd name="adj" fmla="val 11538"/>
            </a:avLst>
          </a:prstGeom>
          <a:solidFill>
            <a:srgbClr val="F2F8F5"/>
          </a:solidFill>
          <a:ln w="9525">
            <a:solidFill>
              <a:srgbClr val="E3EDE8"/>
            </a:solidFill>
            <a:prstDash val="solid"/>
          </a:ln>
        </p:spPr>
      </p:sp>
      <p:sp>
        <p:nvSpPr>
          <p:cNvPr id="36" name="Shape 32"/>
          <p:cNvSpPr/>
          <p:nvPr/>
        </p:nvSpPr>
        <p:spPr>
          <a:xfrm>
            <a:off x="11149279" y="5833872"/>
            <a:ext cx="457200" cy="274320"/>
          </a:xfrm>
          <a:prstGeom prst="roundRect">
            <a:avLst>
              <a:gd name="adj" fmla="val 20000"/>
            </a:avLst>
          </a:prstGeom>
          <a:solidFill>
            <a:srgbClr val="095242"/>
          </a:solidFill>
          <a:ln/>
        </p:spPr>
      </p:sp>
      <p:sp>
        <p:nvSpPr>
          <p:cNvPr id="37" name="Text 33"/>
          <p:cNvSpPr/>
          <p:nvPr/>
        </p:nvSpPr>
        <p:spPr>
          <a:xfrm>
            <a:off x="11149279" y="5824728"/>
            <a:ext cx="457200" cy="27432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SO</a:t>
            </a:r>
            <a:endParaRPr lang="ar-SA" sz="950" dirty="0"/>
          </a:p>
        </p:txBody>
      </p:sp>
      <p:sp>
        <p:nvSpPr>
          <p:cNvPr id="38" name="Text 34"/>
          <p:cNvSpPr/>
          <p:nvPr/>
        </p:nvSpPr>
        <p:spPr>
          <a:xfrm>
            <a:off x="9216923" y="5751576"/>
            <a:ext cx="1886636" cy="274320"/>
          </a:xfrm>
          <a:prstGeom prst="rect">
            <a:avLst/>
          </a:prstGeom>
          <a:noFill/>
          <a:ln/>
        </p:spPr>
        <p:txBody>
          <a:bodyPr wrap="square" lIns="0" tIns="0" rIns="0" bIns="0" rtlCol="0" anchor="ctr"/>
          <a:lstStyle/>
          <a:p>
            <a:pPr rtl="1" algn="r" indent="0" marL="0">
              <a:buNone/>
            </a:pPr>
            <a:r>
              <a:rPr lang="ar-SA" altLang="en-US" sz="960" b="1" dirty="0">
                <a:solidFill>
                  <a:srgbClr val="04352B"/>
                </a:solidFill>
                <a:latin typeface="Tajawal" pitchFamily="34" charset="0"/>
                <a:ea typeface="Tajawal" pitchFamily="34" charset="-122"/>
                <a:cs typeface="Tajawal" pitchFamily="34" charset="-120"/>
              </a:rPr>
              <a:t>استثمار القوة</a:t>
            </a:r>
            <a:endParaRPr lang="ar-SA" sz="960" dirty="0"/>
          </a:p>
        </p:txBody>
      </p:sp>
      <p:sp>
        <p:nvSpPr>
          <p:cNvPr id="39" name="Text 35"/>
          <p:cNvSpPr/>
          <p:nvPr/>
        </p:nvSpPr>
        <p:spPr>
          <a:xfrm>
            <a:off x="9216923" y="6044184"/>
            <a:ext cx="1886636" cy="274320"/>
          </a:xfrm>
          <a:prstGeom prst="rect">
            <a:avLst/>
          </a:prstGeom>
          <a:noFill/>
          <a:ln/>
        </p:spPr>
        <p:txBody>
          <a:bodyPr wrap="square" lIns="0" tIns="0" rIns="0" bIns="0" rtlCol="0" anchor="ctr"/>
          <a:lstStyle/>
          <a:p>
            <a:pPr rtl="1" algn="r" indent="0" marL="0">
              <a:buNone/>
            </a:pPr>
            <a:r>
              <a:rPr lang="ar-SA" altLang="en-US" sz="780" dirty="0">
                <a:solidFill>
                  <a:srgbClr val="8A9A93"/>
                </a:solidFill>
                <a:latin typeface="Tajawal" pitchFamily="34" charset="0"/>
                <a:ea typeface="Tajawal" pitchFamily="34" charset="-122"/>
                <a:cs typeface="Tajawal" pitchFamily="34" charset="-120"/>
              </a:rPr>
              <a:t>تفعيل الكادر والشراكات لرفع نواتج التعلم.</a:t>
            </a:r>
            <a:endParaRPr lang="ar-SA" sz="780" dirty="0"/>
          </a:p>
        </p:txBody>
      </p:sp>
      <p:sp>
        <p:nvSpPr>
          <p:cNvPr id="40" name="Shape 36"/>
          <p:cNvSpPr/>
          <p:nvPr/>
        </p:nvSpPr>
        <p:spPr>
          <a:xfrm>
            <a:off x="6205576" y="5669280"/>
            <a:ext cx="2654732" cy="713232"/>
          </a:xfrm>
          <a:prstGeom prst="roundRect">
            <a:avLst>
              <a:gd name="adj" fmla="val 11538"/>
            </a:avLst>
          </a:prstGeom>
          <a:solidFill>
            <a:srgbClr val="F2F8F5"/>
          </a:solidFill>
          <a:ln w="9525">
            <a:solidFill>
              <a:srgbClr val="E3EDE8"/>
            </a:solidFill>
            <a:prstDash val="solid"/>
          </a:ln>
        </p:spPr>
      </p:sp>
      <p:sp>
        <p:nvSpPr>
          <p:cNvPr id="41" name="Shape 37"/>
          <p:cNvSpPr/>
          <p:nvPr/>
        </p:nvSpPr>
        <p:spPr>
          <a:xfrm>
            <a:off x="8275091" y="5833872"/>
            <a:ext cx="457200" cy="274320"/>
          </a:xfrm>
          <a:prstGeom prst="roundRect">
            <a:avLst>
              <a:gd name="adj" fmla="val 20000"/>
            </a:avLst>
          </a:prstGeom>
          <a:solidFill>
            <a:srgbClr val="095242"/>
          </a:solidFill>
          <a:ln/>
        </p:spPr>
      </p:sp>
      <p:sp>
        <p:nvSpPr>
          <p:cNvPr id="42" name="Text 38"/>
          <p:cNvSpPr/>
          <p:nvPr/>
        </p:nvSpPr>
        <p:spPr>
          <a:xfrm>
            <a:off x="8275091" y="5824728"/>
            <a:ext cx="457200" cy="27432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WO</a:t>
            </a:r>
            <a:endParaRPr lang="ar-SA" sz="950" dirty="0"/>
          </a:p>
        </p:txBody>
      </p:sp>
      <p:sp>
        <p:nvSpPr>
          <p:cNvPr id="43" name="Text 39"/>
          <p:cNvSpPr/>
          <p:nvPr/>
        </p:nvSpPr>
        <p:spPr>
          <a:xfrm>
            <a:off x="6342736" y="5751576"/>
            <a:ext cx="1886636" cy="274320"/>
          </a:xfrm>
          <a:prstGeom prst="rect">
            <a:avLst/>
          </a:prstGeom>
          <a:noFill/>
          <a:ln/>
        </p:spPr>
        <p:txBody>
          <a:bodyPr wrap="square" lIns="0" tIns="0" rIns="0" bIns="0" rtlCol="0" anchor="ctr"/>
          <a:lstStyle/>
          <a:p>
            <a:pPr rtl="1" algn="r" indent="0" marL="0">
              <a:buNone/>
            </a:pPr>
            <a:r>
              <a:rPr lang="ar-SA" altLang="en-US" sz="960" b="1" dirty="0">
                <a:solidFill>
                  <a:srgbClr val="04352B"/>
                </a:solidFill>
                <a:latin typeface="Tajawal" pitchFamily="34" charset="0"/>
                <a:ea typeface="Tajawal" pitchFamily="34" charset="-122"/>
                <a:cs typeface="Tajawal" pitchFamily="34" charset="-120"/>
              </a:rPr>
              <a:t>معالجة الضعف</a:t>
            </a:r>
            <a:endParaRPr lang="ar-SA" sz="960" dirty="0"/>
          </a:p>
        </p:txBody>
      </p:sp>
      <p:sp>
        <p:nvSpPr>
          <p:cNvPr id="44" name="Text 40"/>
          <p:cNvSpPr/>
          <p:nvPr/>
        </p:nvSpPr>
        <p:spPr>
          <a:xfrm>
            <a:off x="6342736" y="6044184"/>
            <a:ext cx="1886636" cy="274320"/>
          </a:xfrm>
          <a:prstGeom prst="rect">
            <a:avLst/>
          </a:prstGeom>
          <a:noFill/>
          <a:ln/>
        </p:spPr>
        <p:txBody>
          <a:bodyPr wrap="square" lIns="0" tIns="0" rIns="0" bIns="0" rtlCol="0" anchor="ctr"/>
          <a:lstStyle/>
          <a:p>
            <a:pPr rtl="1" algn="r" indent="0" marL="0">
              <a:buNone/>
            </a:pPr>
            <a:r>
              <a:rPr lang="ar-SA" altLang="en-US" sz="780" dirty="0">
                <a:solidFill>
                  <a:srgbClr val="8A9A93"/>
                </a:solidFill>
                <a:latin typeface="Tajawal" pitchFamily="34" charset="0"/>
                <a:ea typeface="Tajawal" pitchFamily="34" charset="-122"/>
                <a:cs typeface="Tajawal" pitchFamily="34" charset="-120"/>
              </a:rPr>
              <a:t>تدريب المعلمين على التقنية لسدّ الفجوة.</a:t>
            </a:r>
            <a:endParaRPr lang="ar-SA" sz="780" dirty="0"/>
          </a:p>
        </p:txBody>
      </p:sp>
      <p:sp>
        <p:nvSpPr>
          <p:cNvPr id="45" name="Shape 41"/>
          <p:cNvSpPr/>
          <p:nvPr/>
        </p:nvSpPr>
        <p:spPr>
          <a:xfrm>
            <a:off x="3331388" y="5669280"/>
            <a:ext cx="2654732" cy="713232"/>
          </a:xfrm>
          <a:prstGeom prst="roundRect">
            <a:avLst>
              <a:gd name="adj" fmla="val 11538"/>
            </a:avLst>
          </a:prstGeom>
          <a:solidFill>
            <a:srgbClr val="F2F8F5"/>
          </a:solidFill>
          <a:ln w="9525">
            <a:solidFill>
              <a:srgbClr val="E3EDE8"/>
            </a:solidFill>
            <a:prstDash val="solid"/>
          </a:ln>
        </p:spPr>
      </p:sp>
      <p:sp>
        <p:nvSpPr>
          <p:cNvPr id="46" name="Shape 42"/>
          <p:cNvSpPr/>
          <p:nvPr/>
        </p:nvSpPr>
        <p:spPr>
          <a:xfrm>
            <a:off x="5400904" y="5833872"/>
            <a:ext cx="457200" cy="274320"/>
          </a:xfrm>
          <a:prstGeom prst="roundRect">
            <a:avLst>
              <a:gd name="adj" fmla="val 20000"/>
            </a:avLst>
          </a:prstGeom>
          <a:solidFill>
            <a:srgbClr val="0089A1"/>
          </a:solidFill>
          <a:ln/>
        </p:spPr>
      </p:sp>
      <p:sp>
        <p:nvSpPr>
          <p:cNvPr id="47" name="Text 43"/>
          <p:cNvSpPr/>
          <p:nvPr/>
        </p:nvSpPr>
        <p:spPr>
          <a:xfrm>
            <a:off x="5400904" y="5824728"/>
            <a:ext cx="457200" cy="27432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ST</a:t>
            </a:r>
            <a:endParaRPr lang="ar-SA" sz="950" dirty="0"/>
          </a:p>
        </p:txBody>
      </p:sp>
      <p:sp>
        <p:nvSpPr>
          <p:cNvPr id="48" name="Text 44"/>
          <p:cNvSpPr/>
          <p:nvPr/>
        </p:nvSpPr>
        <p:spPr>
          <a:xfrm>
            <a:off x="3468548" y="5751576"/>
            <a:ext cx="1886636" cy="274320"/>
          </a:xfrm>
          <a:prstGeom prst="rect">
            <a:avLst/>
          </a:prstGeom>
          <a:noFill/>
          <a:ln/>
        </p:spPr>
        <p:txBody>
          <a:bodyPr wrap="square" lIns="0" tIns="0" rIns="0" bIns="0" rtlCol="0" anchor="ctr"/>
          <a:lstStyle/>
          <a:p>
            <a:pPr rtl="1" algn="r" indent="0" marL="0">
              <a:buNone/>
            </a:pPr>
            <a:r>
              <a:rPr lang="ar-SA" altLang="en-US" sz="960" b="1" dirty="0">
                <a:solidFill>
                  <a:srgbClr val="04352B"/>
                </a:solidFill>
                <a:latin typeface="Tajawal" pitchFamily="34" charset="0"/>
                <a:ea typeface="Tajawal" pitchFamily="34" charset="-122"/>
                <a:cs typeface="Tajawal" pitchFamily="34" charset="-120"/>
              </a:rPr>
              <a:t>مواجهة التهديدات</a:t>
            </a:r>
            <a:endParaRPr lang="ar-SA" sz="960" dirty="0"/>
          </a:p>
        </p:txBody>
      </p:sp>
      <p:sp>
        <p:nvSpPr>
          <p:cNvPr id="49" name="Text 45"/>
          <p:cNvSpPr/>
          <p:nvPr/>
        </p:nvSpPr>
        <p:spPr>
          <a:xfrm>
            <a:off x="3468548" y="6044184"/>
            <a:ext cx="1886636" cy="274320"/>
          </a:xfrm>
          <a:prstGeom prst="rect">
            <a:avLst/>
          </a:prstGeom>
          <a:noFill/>
          <a:ln/>
        </p:spPr>
        <p:txBody>
          <a:bodyPr wrap="square" lIns="0" tIns="0" rIns="0" bIns="0" rtlCol="0" anchor="ctr"/>
          <a:lstStyle/>
          <a:p>
            <a:pPr rtl="1" algn="r" indent="0" marL="0">
              <a:buNone/>
            </a:pPr>
            <a:r>
              <a:rPr lang="ar-SA" altLang="en-US" sz="780" dirty="0">
                <a:solidFill>
                  <a:srgbClr val="8A9A93"/>
                </a:solidFill>
                <a:latin typeface="Tajawal" pitchFamily="34" charset="0"/>
                <a:ea typeface="Tajawal" pitchFamily="34" charset="-122"/>
                <a:cs typeface="Tajawal" pitchFamily="34" charset="-120"/>
              </a:rPr>
              <a:t>تفعيل برامج الانضباط والتواصل الأسري.</a:t>
            </a:r>
            <a:endParaRPr lang="ar-SA" sz="780" dirty="0"/>
          </a:p>
        </p:txBody>
      </p:sp>
      <p:sp>
        <p:nvSpPr>
          <p:cNvPr id="50" name="Shape 46"/>
          <p:cNvSpPr/>
          <p:nvPr/>
        </p:nvSpPr>
        <p:spPr>
          <a:xfrm>
            <a:off x="457200" y="5669280"/>
            <a:ext cx="2654732" cy="713232"/>
          </a:xfrm>
          <a:prstGeom prst="roundRect">
            <a:avLst>
              <a:gd name="adj" fmla="val 11538"/>
            </a:avLst>
          </a:prstGeom>
          <a:solidFill>
            <a:srgbClr val="F2F8F5"/>
          </a:solidFill>
          <a:ln w="9525">
            <a:solidFill>
              <a:srgbClr val="E3EDE8"/>
            </a:solidFill>
            <a:prstDash val="solid"/>
          </a:ln>
        </p:spPr>
      </p:sp>
      <p:sp>
        <p:nvSpPr>
          <p:cNvPr id="51" name="Shape 47"/>
          <p:cNvSpPr/>
          <p:nvPr/>
        </p:nvSpPr>
        <p:spPr>
          <a:xfrm>
            <a:off x="2526716" y="5833872"/>
            <a:ext cx="457200" cy="274320"/>
          </a:xfrm>
          <a:prstGeom prst="roundRect">
            <a:avLst>
              <a:gd name="adj" fmla="val 20000"/>
            </a:avLst>
          </a:prstGeom>
          <a:solidFill>
            <a:srgbClr val="0089A1"/>
          </a:solidFill>
          <a:ln/>
        </p:spPr>
      </p:sp>
      <p:sp>
        <p:nvSpPr>
          <p:cNvPr id="52" name="Text 48"/>
          <p:cNvSpPr/>
          <p:nvPr/>
        </p:nvSpPr>
        <p:spPr>
          <a:xfrm>
            <a:off x="2526716" y="5824728"/>
            <a:ext cx="457200" cy="27432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WT</a:t>
            </a:r>
            <a:endParaRPr lang="ar-SA" sz="950" dirty="0"/>
          </a:p>
        </p:txBody>
      </p:sp>
      <p:sp>
        <p:nvSpPr>
          <p:cNvPr id="53" name="Text 49"/>
          <p:cNvSpPr/>
          <p:nvPr/>
        </p:nvSpPr>
        <p:spPr>
          <a:xfrm>
            <a:off x="594360" y="5751576"/>
            <a:ext cx="1886636" cy="274320"/>
          </a:xfrm>
          <a:prstGeom prst="rect">
            <a:avLst/>
          </a:prstGeom>
          <a:noFill/>
          <a:ln/>
        </p:spPr>
        <p:txBody>
          <a:bodyPr wrap="square" lIns="0" tIns="0" rIns="0" bIns="0" rtlCol="0" anchor="ctr"/>
          <a:lstStyle/>
          <a:p>
            <a:pPr rtl="1" algn="r" indent="0" marL="0">
              <a:buNone/>
            </a:pPr>
            <a:r>
              <a:rPr lang="ar-SA" altLang="en-US" sz="960" b="1" dirty="0">
                <a:solidFill>
                  <a:srgbClr val="04352B"/>
                </a:solidFill>
                <a:latin typeface="Tajawal" pitchFamily="34" charset="0"/>
                <a:ea typeface="Tajawal" pitchFamily="34" charset="-122"/>
                <a:cs typeface="Tajawal" pitchFamily="34" charset="-120"/>
              </a:rPr>
              <a:t>تقليل المخاطر</a:t>
            </a:r>
            <a:endParaRPr lang="ar-SA" sz="960" dirty="0"/>
          </a:p>
        </p:txBody>
      </p:sp>
      <p:sp>
        <p:nvSpPr>
          <p:cNvPr id="54" name="Text 50"/>
          <p:cNvSpPr/>
          <p:nvPr/>
        </p:nvSpPr>
        <p:spPr>
          <a:xfrm>
            <a:off x="594360" y="6044184"/>
            <a:ext cx="1886636" cy="274320"/>
          </a:xfrm>
          <a:prstGeom prst="rect">
            <a:avLst/>
          </a:prstGeom>
          <a:noFill/>
          <a:ln/>
        </p:spPr>
        <p:txBody>
          <a:bodyPr wrap="square" lIns="0" tIns="0" rIns="0" bIns="0" rtlCol="0" anchor="ctr"/>
          <a:lstStyle/>
          <a:p>
            <a:pPr rtl="1" algn="r" indent="0" marL="0">
              <a:buNone/>
            </a:pPr>
            <a:r>
              <a:rPr lang="ar-SA" altLang="en-US" sz="780" dirty="0">
                <a:solidFill>
                  <a:srgbClr val="8A9A93"/>
                </a:solidFill>
                <a:latin typeface="Tajawal" pitchFamily="34" charset="0"/>
                <a:ea typeface="Tajawal" pitchFamily="34" charset="-122"/>
                <a:cs typeface="Tajawal" pitchFamily="34" charset="-120"/>
              </a:rPr>
              <a:t>إعادة هندسة المتابعة وتحفيز الالتزام.</a:t>
            </a:r>
            <a:endParaRPr lang="ar-SA" sz="7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القضايا الملحة للمدرسة وفق تحليل SWOT</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القضايا الملحة للمدرسة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١٢</a:t>
            </a:r>
            <a:endParaRPr lang="ar-SA" sz="900" dirty="0"/>
          </a:p>
        </p:txBody>
      </p:sp>
      <p:sp>
        <p:nvSpPr>
          <p:cNvPr id="8" name="Text 4"/>
          <p:cNvSpPr/>
          <p:nvPr/>
        </p:nvSpPr>
        <p:spPr>
          <a:xfrm>
            <a:off x="457200" y="1005840"/>
            <a:ext cx="11277295" cy="347472"/>
          </a:xfrm>
          <a:prstGeom prst="rect">
            <a:avLst/>
          </a:prstGeom>
          <a:noFill/>
          <a:ln/>
        </p:spPr>
        <p:txBody>
          <a:bodyPr wrap="square" lIns="0" tIns="0" rIns="0" bIns="0" rtlCol="0" anchor="t"/>
          <a:lstStyle/>
          <a:p>
            <a:pPr rtl="1" algn="r" indent="0" marL="0">
              <a:buNone/>
            </a:pPr>
            <a:r>
              <a:rPr lang="ar-SA" altLang="en-US" sz="1050" dirty="0">
                <a:solidFill>
                  <a:srgbClr val="34473F"/>
                </a:solidFill>
                <a:latin typeface="Tajawal" pitchFamily="34" charset="0"/>
                <a:ea typeface="Tajawal" pitchFamily="34" charset="-122"/>
                <a:cs typeface="Tajawal" pitchFamily="34" charset="-120"/>
              </a:rPr>
              <a:t>بناءً على تحليل SWOT ومراجعة نتائج التقويم الذاتي، حُدِّدت القضايا الملحة التي تستدعي تدخُّلًا عاجلًا وتوجيهًا مباشرًا في برامج الخطة:</a:t>
            </a:r>
            <a:endParaRPr lang="ar-SA" sz="1050" dirty="0"/>
          </a:p>
        </p:txBody>
      </p:sp>
      <p:sp>
        <p:nvSpPr>
          <p:cNvPr id="9" name="Shape 5"/>
          <p:cNvSpPr/>
          <p:nvPr/>
        </p:nvSpPr>
        <p:spPr>
          <a:xfrm>
            <a:off x="6223864" y="1408176"/>
            <a:ext cx="5510632" cy="1188720"/>
          </a:xfrm>
          <a:prstGeom prst="roundRect">
            <a:avLst>
              <a:gd name="adj" fmla="val 6923"/>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0" name="Text 6"/>
          <p:cNvSpPr/>
          <p:nvPr/>
        </p:nvSpPr>
        <p:spPr>
          <a:xfrm>
            <a:off x="10728655" y="1453896"/>
            <a:ext cx="777240" cy="1097280"/>
          </a:xfrm>
          <a:prstGeom prst="rect">
            <a:avLst/>
          </a:prstGeom>
          <a:noFill/>
          <a:ln/>
        </p:spPr>
        <p:txBody>
          <a:bodyPr wrap="square" lIns="0" tIns="0" rIns="0" bIns="0" rtlCol="0" anchor="ctr"/>
          <a:lstStyle/>
          <a:p>
            <a:pPr rtl="1" algn="r" indent="0" marL="0">
              <a:buNone/>
            </a:pPr>
            <a:r>
              <a:rPr lang="ar-SA" altLang="en-US" sz="4400" dirty="0">
                <a:solidFill>
                  <a:srgbClr val="F0F6F2"/>
                </a:solidFill>
                <a:latin typeface="Tajawal ExtraBold" pitchFamily="34" charset="0"/>
                <a:ea typeface="Tajawal ExtraBold" pitchFamily="34" charset="-122"/>
                <a:cs typeface="Tajawal ExtraBold" pitchFamily="34" charset="-120"/>
              </a:rPr>
              <a:t>١</a:t>
            </a:r>
            <a:endParaRPr lang="ar-SA" sz="4400" dirty="0"/>
          </a:p>
        </p:txBody>
      </p:sp>
      <p:sp>
        <p:nvSpPr>
          <p:cNvPr id="11" name="Text 7"/>
          <p:cNvSpPr/>
          <p:nvPr/>
        </p:nvSpPr>
        <p:spPr>
          <a:xfrm>
            <a:off x="11149279" y="1554480"/>
            <a:ext cx="402336"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١</a:t>
            </a:r>
            <a:endParaRPr lang="ar-SA" sz="1300" dirty="0"/>
          </a:p>
        </p:txBody>
      </p:sp>
      <p:sp>
        <p:nvSpPr>
          <p:cNvPr id="12" name="Text 8"/>
          <p:cNvSpPr/>
          <p:nvPr/>
        </p:nvSpPr>
        <p:spPr>
          <a:xfrm>
            <a:off x="6443320" y="1536192"/>
            <a:ext cx="4577944" cy="512064"/>
          </a:xfrm>
          <a:prstGeom prst="rect">
            <a:avLst/>
          </a:prstGeom>
          <a:noFill/>
          <a:ln/>
        </p:spPr>
        <p:txBody>
          <a:bodyPr wrap="square" lIns="0" tIns="0" rIns="0" bIns="0" rtlCol="0" anchor="ctr"/>
          <a:lstStyle/>
          <a:p>
            <a:pPr rtl="1" algn="r" indent="0" marL="0">
              <a:lnSpc>
                <a:spcPct val="106000"/>
              </a:lnSpc>
              <a:buNone/>
            </a:pPr>
            <a:r>
              <a:rPr lang="ar-SA" altLang="en-US" sz="1100" b="1" dirty="0">
                <a:solidFill>
                  <a:srgbClr val="04352B"/>
                </a:solidFill>
                <a:latin typeface="Tajawal" pitchFamily="34" charset="0"/>
                <a:ea typeface="Tajawal" pitchFamily="34" charset="-122"/>
                <a:cs typeface="Tajawal" pitchFamily="34" charset="-120"/>
              </a:rPr>
              <a:t>تدنّي مستوى الطلاب في التحصيل الدراسي</a:t>
            </a:r>
            <a:endParaRPr lang="ar-SA" sz="1100" dirty="0"/>
          </a:p>
        </p:txBody>
      </p:sp>
      <p:sp>
        <p:nvSpPr>
          <p:cNvPr id="13" name="Text 9"/>
          <p:cNvSpPr/>
          <p:nvPr/>
        </p:nvSpPr>
        <p:spPr>
          <a:xfrm>
            <a:off x="6443320" y="2084832"/>
            <a:ext cx="4577944" cy="457200"/>
          </a:xfrm>
          <a:prstGeom prst="rect">
            <a:avLst/>
          </a:prstGeom>
          <a:noFill/>
          <a:ln/>
        </p:spPr>
        <p:txBody>
          <a:bodyPr wrap="square" lIns="0" tIns="0" rIns="0" bIns="0" rtlCol="0" anchor="t"/>
          <a:lstStyle/>
          <a:p>
            <a:pPr rtl="1" algn="r" indent="0" marL="0">
              <a:lnSpc>
                <a:spcPct val="112000"/>
              </a:lnSpc>
              <a:buNone/>
            </a:pPr>
            <a:r>
              <a:rPr lang="ar-SA" altLang="en-US" sz="880" dirty="0">
                <a:solidFill>
                  <a:srgbClr val="8A9A93"/>
                </a:solidFill>
                <a:latin typeface="Tajawal" pitchFamily="34" charset="0"/>
                <a:ea typeface="Tajawal" pitchFamily="34" charset="-122"/>
                <a:cs typeface="Tajawal" pitchFamily="34" charset="-120"/>
              </a:rPr>
              <a:t>(الاختبارات التحصيلية والقدرات): تكثيف برامج الدعم الأكاديمي وتقوية المهارات الأساسية.</a:t>
            </a:r>
            <a:endParaRPr lang="ar-SA" sz="880" dirty="0"/>
          </a:p>
        </p:txBody>
      </p:sp>
      <p:sp>
        <p:nvSpPr>
          <p:cNvPr id="14" name="Shape 10"/>
          <p:cNvSpPr/>
          <p:nvPr/>
        </p:nvSpPr>
        <p:spPr>
          <a:xfrm>
            <a:off x="457200" y="1408176"/>
            <a:ext cx="5510632" cy="1188720"/>
          </a:xfrm>
          <a:prstGeom prst="roundRect">
            <a:avLst>
              <a:gd name="adj" fmla="val 6923"/>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5" name="Text 11"/>
          <p:cNvSpPr/>
          <p:nvPr/>
        </p:nvSpPr>
        <p:spPr>
          <a:xfrm>
            <a:off x="4961992" y="1453896"/>
            <a:ext cx="777240" cy="1097280"/>
          </a:xfrm>
          <a:prstGeom prst="rect">
            <a:avLst/>
          </a:prstGeom>
          <a:noFill/>
          <a:ln/>
        </p:spPr>
        <p:txBody>
          <a:bodyPr wrap="square" lIns="0" tIns="0" rIns="0" bIns="0" rtlCol="0" anchor="ctr"/>
          <a:lstStyle/>
          <a:p>
            <a:pPr rtl="1" algn="r" indent="0" marL="0">
              <a:buNone/>
            </a:pPr>
            <a:r>
              <a:rPr lang="ar-SA" altLang="en-US" sz="4400" dirty="0">
                <a:solidFill>
                  <a:srgbClr val="F0F6F2"/>
                </a:solidFill>
                <a:latin typeface="Tajawal ExtraBold" pitchFamily="34" charset="0"/>
                <a:ea typeface="Tajawal ExtraBold" pitchFamily="34" charset="-122"/>
                <a:cs typeface="Tajawal ExtraBold" pitchFamily="34" charset="-120"/>
              </a:rPr>
              <a:t>٢</a:t>
            </a:r>
            <a:endParaRPr lang="ar-SA" sz="4400" dirty="0"/>
          </a:p>
        </p:txBody>
      </p:sp>
      <p:sp>
        <p:nvSpPr>
          <p:cNvPr id="16" name="Text 12"/>
          <p:cNvSpPr/>
          <p:nvPr/>
        </p:nvSpPr>
        <p:spPr>
          <a:xfrm>
            <a:off x="5382616" y="1554480"/>
            <a:ext cx="402336"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٢</a:t>
            </a:r>
            <a:endParaRPr lang="ar-SA" sz="1300" dirty="0"/>
          </a:p>
        </p:txBody>
      </p:sp>
      <p:sp>
        <p:nvSpPr>
          <p:cNvPr id="17" name="Text 13"/>
          <p:cNvSpPr/>
          <p:nvPr/>
        </p:nvSpPr>
        <p:spPr>
          <a:xfrm>
            <a:off x="676656" y="1536192"/>
            <a:ext cx="4577944" cy="512064"/>
          </a:xfrm>
          <a:prstGeom prst="rect">
            <a:avLst/>
          </a:prstGeom>
          <a:noFill/>
          <a:ln/>
        </p:spPr>
        <p:txBody>
          <a:bodyPr wrap="square" lIns="0" tIns="0" rIns="0" bIns="0" rtlCol="0" anchor="ctr"/>
          <a:lstStyle/>
          <a:p>
            <a:pPr rtl="1" algn="r" indent="0" marL="0">
              <a:lnSpc>
                <a:spcPct val="106000"/>
              </a:lnSpc>
              <a:buNone/>
            </a:pPr>
            <a:r>
              <a:rPr lang="ar-SA" altLang="en-US" sz="1100" b="1" dirty="0">
                <a:solidFill>
                  <a:srgbClr val="04352B"/>
                </a:solidFill>
                <a:latin typeface="Tajawal" pitchFamily="34" charset="0"/>
                <a:ea typeface="Tajawal" pitchFamily="34" charset="-122"/>
                <a:cs typeface="Tajawal" pitchFamily="34" charset="-120"/>
              </a:rPr>
              <a:t>ضعف في مستوى الانضباط المدرسي وأثره على العملية التعليمية</a:t>
            </a:r>
            <a:endParaRPr lang="ar-SA" sz="1100" dirty="0"/>
          </a:p>
        </p:txBody>
      </p:sp>
      <p:sp>
        <p:nvSpPr>
          <p:cNvPr id="18" name="Text 14"/>
          <p:cNvSpPr/>
          <p:nvPr/>
        </p:nvSpPr>
        <p:spPr>
          <a:xfrm>
            <a:off x="676656" y="2084832"/>
            <a:ext cx="4577944" cy="457200"/>
          </a:xfrm>
          <a:prstGeom prst="rect">
            <a:avLst/>
          </a:prstGeom>
          <a:noFill/>
          <a:ln/>
        </p:spPr>
        <p:txBody>
          <a:bodyPr wrap="square" lIns="0" tIns="0" rIns="0" bIns="0" rtlCol="0" anchor="t"/>
          <a:lstStyle/>
          <a:p>
            <a:pPr rtl="1" algn="r" indent="0" marL="0">
              <a:lnSpc>
                <a:spcPct val="112000"/>
              </a:lnSpc>
              <a:buNone/>
            </a:pPr>
            <a:r>
              <a:rPr lang="ar-SA" altLang="en-US" sz="880" dirty="0">
                <a:solidFill>
                  <a:srgbClr val="8A9A93"/>
                </a:solidFill>
                <a:latin typeface="Tajawal" pitchFamily="34" charset="0"/>
                <a:ea typeface="Tajawal" pitchFamily="34" charset="-122"/>
                <a:cs typeface="Tajawal" pitchFamily="34" charset="-120"/>
              </a:rPr>
              <a:t>تفعيل لائحة السلوك ومتابعة دقيقة للحالات الفردية مع تعزيز السلوك الإيجابي.</a:t>
            </a:r>
            <a:endParaRPr lang="ar-SA" sz="880" dirty="0"/>
          </a:p>
        </p:txBody>
      </p:sp>
      <p:sp>
        <p:nvSpPr>
          <p:cNvPr id="19" name="Shape 15"/>
          <p:cNvSpPr/>
          <p:nvPr/>
        </p:nvSpPr>
        <p:spPr>
          <a:xfrm>
            <a:off x="6223864" y="2761488"/>
            <a:ext cx="5510632" cy="1188720"/>
          </a:xfrm>
          <a:prstGeom prst="roundRect">
            <a:avLst>
              <a:gd name="adj" fmla="val 6923"/>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0" name="Text 16"/>
          <p:cNvSpPr/>
          <p:nvPr/>
        </p:nvSpPr>
        <p:spPr>
          <a:xfrm>
            <a:off x="10728655" y="2807208"/>
            <a:ext cx="777240" cy="1097280"/>
          </a:xfrm>
          <a:prstGeom prst="rect">
            <a:avLst/>
          </a:prstGeom>
          <a:noFill/>
          <a:ln/>
        </p:spPr>
        <p:txBody>
          <a:bodyPr wrap="square" lIns="0" tIns="0" rIns="0" bIns="0" rtlCol="0" anchor="ctr"/>
          <a:lstStyle/>
          <a:p>
            <a:pPr rtl="1" algn="r" indent="0" marL="0">
              <a:buNone/>
            </a:pPr>
            <a:r>
              <a:rPr lang="ar-SA" altLang="en-US" sz="4400" dirty="0">
                <a:solidFill>
                  <a:srgbClr val="F0F6F2"/>
                </a:solidFill>
                <a:latin typeface="Tajawal ExtraBold" pitchFamily="34" charset="0"/>
                <a:ea typeface="Tajawal ExtraBold" pitchFamily="34" charset="-122"/>
                <a:cs typeface="Tajawal ExtraBold" pitchFamily="34" charset="-120"/>
              </a:rPr>
              <a:t>٣</a:t>
            </a:r>
            <a:endParaRPr lang="ar-SA" sz="4400" dirty="0"/>
          </a:p>
        </p:txBody>
      </p:sp>
      <p:sp>
        <p:nvSpPr>
          <p:cNvPr id="21" name="Text 17"/>
          <p:cNvSpPr/>
          <p:nvPr/>
        </p:nvSpPr>
        <p:spPr>
          <a:xfrm>
            <a:off x="11149279" y="2907792"/>
            <a:ext cx="402336"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٣</a:t>
            </a:r>
            <a:endParaRPr lang="ar-SA" sz="1300" dirty="0"/>
          </a:p>
        </p:txBody>
      </p:sp>
      <p:sp>
        <p:nvSpPr>
          <p:cNvPr id="22" name="Text 18"/>
          <p:cNvSpPr/>
          <p:nvPr/>
        </p:nvSpPr>
        <p:spPr>
          <a:xfrm>
            <a:off x="6443320" y="2889504"/>
            <a:ext cx="4577944" cy="512064"/>
          </a:xfrm>
          <a:prstGeom prst="rect">
            <a:avLst/>
          </a:prstGeom>
          <a:noFill/>
          <a:ln/>
        </p:spPr>
        <p:txBody>
          <a:bodyPr wrap="square" lIns="0" tIns="0" rIns="0" bIns="0" rtlCol="0" anchor="ctr"/>
          <a:lstStyle/>
          <a:p>
            <a:pPr rtl="1" algn="r" indent="0" marL="0">
              <a:lnSpc>
                <a:spcPct val="106000"/>
              </a:lnSpc>
              <a:buNone/>
            </a:pPr>
            <a:r>
              <a:rPr lang="ar-SA" altLang="en-US" sz="1100" b="1" dirty="0">
                <a:solidFill>
                  <a:srgbClr val="04352B"/>
                </a:solidFill>
                <a:latin typeface="Tajawal" pitchFamily="34" charset="0"/>
                <a:ea typeface="Tajawal" pitchFamily="34" charset="-122"/>
                <a:cs typeface="Tajawal" pitchFamily="34" charset="-120"/>
              </a:rPr>
              <a:t>ضعف التواصل بين المدرسة والأسرة والمجتمع</a:t>
            </a:r>
            <a:endParaRPr lang="ar-SA" sz="1100" dirty="0"/>
          </a:p>
        </p:txBody>
      </p:sp>
      <p:sp>
        <p:nvSpPr>
          <p:cNvPr id="23" name="Text 19"/>
          <p:cNvSpPr/>
          <p:nvPr/>
        </p:nvSpPr>
        <p:spPr>
          <a:xfrm>
            <a:off x="6443320" y="3438144"/>
            <a:ext cx="4577944" cy="457200"/>
          </a:xfrm>
          <a:prstGeom prst="rect">
            <a:avLst/>
          </a:prstGeom>
          <a:noFill/>
          <a:ln/>
        </p:spPr>
        <p:txBody>
          <a:bodyPr wrap="square" lIns="0" tIns="0" rIns="0" bIns="0" rtlCol="0" anchor="t"/>
          <a:lstStyle/>
          <a:p>
            <a:pPr rtl="1" algn="r" indent="0" marL="0">
              <a:lnSpc>
                <a:spcPct val="112000"/>
              </a:lnSpc>
              <a:buNone/>
            </a:pPr>
            <a:r>
              <a:rPr lang="ar-SA" altLang="en-US" sz="880" dirty="0">
                <a:solidFill>
                  <a:srgbClr val="8A9A93"/>
                </a:solidFill>
                <a:latin typeface="Tajawal" pitchFamily="34" charset="0"/>
                <a:ea typeface="Tajawal" pitchFamily="34" charset="-122"/>
                <a:cs typeface="Tajawal" pitchFamily="34" charset="-120"/>
              </a:rPr>
              <a:t>تفعيل قنوات التواصل الفعّالة وتنظيم لقاءات دورية مع أولياء الأمور والشركاء.</a:t>
            </a:r>
            <a:endParaRPr lang="ar-SA" sz="880" dirty="0"/>
          </a:p>
        </p:txBody>
      </p:sp>
      <p:sp>
        <p:nvSpPr>
          <p:cNvPr id="24" name="Shape 20"/>
          <p:cNvSpPr/>
          <p:nvPr/>
        </p:nvSpPr>
        <p:spPr>
          <a:xfrm>
            <a:off x="457200" y="2761488"/>
            <a:ext cx="5510632" cy="1188720"/>
          </a:xfrm>
          <a:prstGeom prst="roundRect">
            <a:avLst>
              <a:gd name="adj" fmla="val 6923"/>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5" name="Text 21"/>
          <p:cNvSpPr/>
          <p:nvPr/>
        </p:nvSpPr>
        <p:spPr>
          <a:xfrm>
            <a:off x="4961992" y="2807208"/>
            <a:ext cx="777240" cy="1097280"/>
          </a:xfrm>
          <a:prstGeom prst="rect">
            <a:avLst/>
          </a:prstGeom>
          <a:noFill/>
          <a:ln/>
        </p:spPr>
        <p:txBody>
          <a:bodyPr wrap="square" lIns="0" tIns="0" rIns="0" bIns="0" rtlCol="0" anchor="ctr"/>
          <a:lstStyle/>
          <a:p>
            <a:pPr rtl="1" algn="r" indent="0" marL="0">
              <a:buNone/>
            </a:pPr>
            <a:r>
              <a:rPr lang="ar-SA" altLang="en-US" sz="4400" dirty="0">
                <a:solidFill>
                  <a:srgbClr val="F0F6F2"/>
                </a:solidFill>
                <a:latin typeface="Tajawal ExtraBold" pitchFamily="34" charset="0"/>
                <a:ea typeface="Tajawal ExtraBold" pitchFamily="34" charset="-122"/>
                <a:cs typeface="Tajawal ExtraBold" pitchFamily="34" charset="-120"/>
              </a:rPr>
              <a:t>٤</a:t>
            </a:r>
            <a:endParaRPr lang="ar-SA" sz="4400" dirty="0"/>
          </a:p>
        </p:txBody>
      </p:sp>
      <p:sp>
        <p:nvSpPr>
          <p:cNvPr id="26" name="Text 22"/>
          <p:cNvSpPr/>
          <p:nvPr/>
        </p:nvSpPr>
        <p:spPr>
          <a:xfrm>
            <a:off x="5382616" y="2907792"/>
            <a:ext cx="402336"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٤</a:t>
            </a:r>
            <a:endParaRPr lang="ar-SA" sz="1300" dirty="0"/>
          </a:p>
        </p:txBody>
      </p:sp>
      <p:sp>
        <p:nvSpPr>
          <p:cNvPr id="27" name="Text 23"/>
          <p:cNvSpPr/>
          <p:nvPr/>
        </p:nvSpPr>
        <p:spPr>
          <a:xfrm>
            <a:off x="676656" y="2889504"/>
            <a:ext cx="4577944" cy="512064"/>
          </a:xfrm>
          <a:prstGeom prst="rect">
            <a:avLst/>
          </a:prstGeom>
          <a:noFill/>
          <a:ln/>
        </p:spPr>
        <p:txBody>
          <a:bodyPr wrap="square" lIns="0" tIns="0" rIns="0" bIns="0" rtlCol="0" anchor="ctr"/>
          <a:lstStyle/>
          <a:p>
            <a:pPr rtl="1" algn="r" indent="0" marL="0">
              <a:lnSpc>
                <a:spcPct val="106000"/>
              </a:lnSpc>
              <a:buNone/>
            </a:pPr>
            <a:r>
              <a:rPr lang="ar-SA" altLang="en-US" sz="1100" b="1" dirty="0">
                <a:solidFill>
                  <a:srgbClr val="04352B"/>
                </a:solidFill>
                <a:latin typeface="Tajawal" pitchFamily="34" charset="0"/>
                <a:ea typeface="Tajawal" pitchFamily="34" charset="-122"/>
                <a:cs typeface="Tajawal" pitchFamily="34" charset="-120"/>
              </a:rPr>
              <a:t>عدم توفّر الأنشطة التي تستهدف جميع الطلاب</a:t>
            </a:r>
            <a:endParaRPr lang="ar-SA" sz="1100" dirty="0"/>
          </a:p>
        </p:txBody>
      </p:sp>
      <p:sp>
        <p:nvSpPr>
          <p:cNvPr id="28" name="Text 24"/>
          <p:cNvSpPr/>
          <p:nvPr/>
        </p:nvSpPr>
        <p:spPr>
          <a:xfrm>
            <a:off x="676656" y="3438144"/>
            <a:ext cx="4577944" cy="457200"/>
          </a:xfrm>
          <a:prstGeom prst="rect">
            <a:avLst/>
          </a:prstGeom>
          <a:noFill/>
          <a:ln/>
        </p:spPr>
        <p:txBody>
          <a:bodyPr wrap="square" lIns="0" tIns="0" rIns="0" bIns="0" rtlCol="0" anchor="t"/>
          <a:lstStyle/>
          <a:p>
            <a:pPr rtl="1" algn="r" indent="0" marL="0">
              <a:lnSpc>
                <a:spcPct val="112000"/>
              </a:lnSpc>
              <a:buNone/>
            </a:pPr>
            <a:r>
              <a:rPr lang="ar-SA" altLang="en-US" sz="880" dirty="0">
                <a:solidFill>
                  <a:srgbClr val="8A9A93"/>
                </a:solidFill>
                <a:latin typeface="Tajawal" pitchFamily="34" charset="0"/>
                <a:ea typeface="Tajawal" pitchFamily="34" charset="-122"/>
                <a:cs typeface="Tajawal" pitchFamily="34" charset="-120"/>
              </a:rPr>
              <a:t>توسيع نطاق البرامج الإثرائية للموهوبين والمتعثرين وذوي الاحتياجات الخاصة.</a:t>
            </a:r>
            <a:endParaRPr lang="ar-SA" sz="880" dirty="0"/>
          </a:p>
        </p:txBody>
      </p:sp>
      <p:sp>
        <p:nvSpPr>
          <p:cNvPr id="29" name="Shape 25"/>
          <p:cNvSpPr/>
          <p:nvPr/>
        </p:nvSpPr>
        <p:spPr>
          <a:xfrm>
            <a:off x="6223864" y="4114800"/>
            <a:ext cx="5510632" cy="1188720"/>
          </a:xfrm>
          <a:prstGeom prst="roundRect">
            <a:avLst>
              <a:gd name="adj" fmla="val 6923"/>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30" name="Text 26"/>
          <p:cNvSpPr/>
          <p:nvPr/>
        </p:nvSpPr>
        <p:spPr>
          <a:xfrm>
            <a:off x="10728655" y="4160520"/>
            <a:ext cx="777240" cy="1097280"/>
          </a:xfrm>
          <a:prstGeom prst="rect">
            <a:avLst/>
          </a:prstGeom>
          <a:noFill/>
          <a:ln/>
        </p:spPr>
        <p:txBody>
          <a:bodyPr wrap="square" lIns="0" tIns="0" rIns="0" bIns="0" rtlCol="0" anchor="ctr"/>
          <a:lstStyle/>
          <a:p>
            <a:pPr rtl="1" algn="r" indent="0" marL="0">
              <a:buNone/>
            </a:pPr>
            <a:r>
              <a:rPr lang="ar-SA" altLang="en-US" sz="4400" dirty="0">
                <a:solidFill>
                  <a:srgbClr val="F0F6F2"/>
                </a:solidFill>
                <a:latin typeface="Tajawal ExtraBold" pitchFamily="34" charset="0"/>
                <a:ea typeface="Tajawal ExtraBold" pitchFamily="34" charset="-122"/>
                <a:cs typeface="Tajawal ExtraBold" pitchFamily="34" charset="-120"/>
              </a:rPr>
              <a:t>٥</a:t>
            </a:r>
            <a:endParaRPr lang="ar-SA" sz="4400" dirty="0"/>
          </a:p>
        </p:txBody>
      </p:sp>
      <p:sp>
        <p:nvSpPr>
          <p:cNvPr id="31" name="Text 27"/>
          <p:cNvSpPr/>
          <p:nvPr/>
        </p:nvSpPr>
        <p:spPr>
          <a:xfrm>
            <a:off x="11149279" y="4261104"/>
            <a:ext cx="402336"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٥</a:t>
            </a:r>
            <a:endParaRPr lang="ar-SA" sz="1300" dirty="0"/>
          </a:p>
        </p:txBody>
      </p:sp>
      <p:sp>
        <p:nvSpPr>
          <p:cNvPr id="32" name="Text 28"/>
          <p:cNvSpPr/>
          <p:nvPr/>
        </p:nvSpPr>
        <p:spPr>
          <a:xfrm>
            <a:off x="6443320" y="4242816"/>
            <a:ext cx="4577944" cy="512064"/>
          </a:xfrm>
          <a:prstGeom prst="rect">
            <a:avLst/>
          </a:prstGeom>
          <a:noFill/>
          <a:ln/>
        </p:spPr>
        <p:txBody>
          <a:bodyPr wrap="square" lIns="0" tIns="0" rIns="0" bIns="0" rtlCol="0" anchor="ctr"/>
          <a:lstStyle/>
          <a:p>
            <a:pPr rtl="1" algn="r" indent="0" marL="0">
              <a:lnSpc>
                <a:spcPct val="106000"/>
              </a:lnSpc>
              <a:buNone/>
            </a:pPr>
            <a:r>
              <a:rPr lang="ar-SA" altLang="en-US" sz="1100" b="1" dirty="0">
                <a:solidFill>
                  <a:srgbClr val="04352B"/>
                </a:solidFill>
                <a:latin typeface="Tajawal" pitchFamily="34" charset="0"/>
                <a:ea typeface="Tajawal" pitchFamily="34" charset="-122"/>
                <a:cs typeface="Tajawal" pitchFamily="34" charset="-120"/>
              </a:rPr>
              <a:t>رفع كفاءة منسوبي المدرسة وتعزيز النمو المهني</a:t>
            </a:r>
            <a:endParaRPr lang="ar-SA" sz="1100" dirty="0"/>
          </a:p>
        </p:txBody>
      </p:sp>
      <p:sp>
        <p:nvSpPr>
          <p:cNvPr id="33" name="Text 29"/>
          <p:cNvSpPr/>
          <p:nvPr/>
        </p:nvSpPr>
        <p:spPr>
          <a:xfrm>
            <a:off x="6443320" y="4791456"/>
            <a:ext cx="4577944" cy="457200"/>
          </a:xfrm>
          <a:prstGeom prst="rect">
            <a:avLst/>
          </a:prstGeom>
          <a:noFill/>
          <a:ln/>
        </p:spPr>
        <p:txBody>
          <a:bodyPr wrap="square" lIns="0" tIns="0" rIns="0" bIns="0" rtlCol="0" anchor="t"/>
          <a:lstStyle/>
          <a:p>
            <a:pPr rtl="1" algn="r" indent="0" marL="0">
              <a:lnSpc>
                <a:spcPct val="112000"/>
              </a:lnSpc>
              <a:buNone/>
            </a:pPr>
            <a:r>
              <a:rPr lang="ar-SA" altLang="en-US" sz="880" dirty="0">
                <a:solidFill>
                  <a:srgbClr val="8A9A93"/>
                </a:solidFill>
                <a:latin typeface="Tajawal" pitchFamily="34" charset="0"/>
                <a:ea typeface="Tajawal" pitchFamily="34" charset="-122"/>
                <a:cs typeface="Tajawal" pitchFamily="34" charset="-120"/>
              </a:rPr>
              <a:t>تنفيذ خطة تطوير مهني فصلية مرتبطة بالاحتياجات الفعلية للمعلمين.</a:t>
            </a:r>
            <a:endParaRPr lang="ar-SA" sz="880" dirty="0"/>
          </a:p>
        </p:txBody>
      </p:sp>
      <p:sp>
        <p:nvSpPr>
          <p:cNvPr id="34" name="Shape 30"/>
          <p:cNvSpPr/>
          <p:nvPr/>
        </p:nvSpPr>
        <p:spPr>
          <a:xfrm>
            <a:off x="457200" y="4114800"/>
            <a:ext cx="5510632" cy="1188720"/>
          </a:xfrm>
          <a:prstGeom prst="roundRect">
            <a:avLst>
              <a:gd name="adj" fmla="val 6923"/>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35" name="Text 31"/>
          <p:cNvSpPr/>
          <p:nvPr/>
        </p:nvSpPr>
        <p:spPr>
          <a:xfrm>
            <a:off x="4961992" y="4160520"/>
            <a:ext cx="777240" cy="1097280"/>
          </a:xfrm>
          <a:prstGeom prst="rect">
            <a:avLst/>
          </a:prstGeom>
          <a:noFill/>
          <a:ln/>
        </p:spPr>
        <p:txBody>
          <a:bodyPr wrap="square" lIns="0" tIns="0" rIns="0" bIns="0" rtlCol="0" anchor="ctr"/>
          <a:lstStyle/>
          <a:p>
            <a:pPr rtl="1" algn="r" indent="0" marL="0">
              <a:buNone/>
            </a:pPr>
            <a:r>
              <a:rPr lang="ar-SA" altLang="en-US" sz="4400" dirty="0">
                <a:solidFill>
                  <a:srgbClr val="F0F6F2"/>
                </a:solidFill>
                <a:latin typeface="Tajawal ExtraBold" pitchFamily="34" charset="0"/>
                <a:ea typeface="Tajawal ExtraBold" pitchFamily="34" charset="-122"/>
                <a:cs typeface="Tajawal ExtraBold" pitchFamily="34" charset="-120"/>
              </a:rPr>
              <a:t>٦</a:t>
            </a:r>
            <a:endParaRPr lang="ar-SA" sz="4400" dirty="0"/>
          </a:p>
        </p:txBody>
      </p:sp>
      <p:sp>
        <p:nvSpPr>
          <p:cNvPr id="36" name="Text 32"/>
          <p:cNvSpPr/>
          <p:nvPr/>
        </p:nvSpPr>
        <p:spPr>
          <a:xfrm>
            <a:off x="5382616" y="4261104"/>
            <a:ext cx="402336" cy="329184"/>
          </a:xfrm>
          <a:prstGeom prst="rect">
            <a:avLst/>
          </a:prstGeom>
          <a:noFill/>
          <a:ln/>
        </p:spPr>
        <p:txBody>
          <a:bodyPr wrap="square" lIns="0" tIns="0" rIns="0" bIns="0" rtlCol="0" anchor="ctr"/>
          <a:lstStyle/>
          <a:p>
            <a:pPr rtl="1" algn="ctr" indent="0" marL="0">
              <a:buNone/>
            </a:pPr>
            <a:r>
              <a:rPr lang="ar-SA" altLang="en-US" sz="1300" dirty="0">
                <a:solidFill>
                  <a:srgbClr val="0089A1"/>
                </a:solidFill>
                <a:latin typeface="Tajawal ExtraBold" pitchFamily="34" charset="0"/>
                <a:ea typeface="Tajawal ExtraBold" pitchFamily="34" charset="-122"/>
                <a:cs typeface="Tajawal ExtraBold" pitchFamily="34" charset="-120"/>
              </a:rPr>
              <a:t>٦</a:t>
            </a:r>
            <a:endParaRPr lang="ar-SA" sz="1300" dirty="0"/>
          </a:p>
        </p:txBody>
      </p:sp>
      <p:sp>
        <p:nvSpPr>
          <p:cNvPr id="37" name="Text 33"/>
          <p:cNvSpPr/>
          <p:nvPr/>
        </p:nvSpPr>
        <p:spPr>
          <a:xfrm>
            <a:off x="676656" y="4242816"/>
            <a:ext cx="4577944" cy="512064"/>
          </a:xfrm>
          <a:prstGeom prst="rect">
            <a:avLst/>
          </a:prstGeom>
          <a:noFill/>
          <a:ln/>
        </p:spPr>
        <p:txBody>
          <a:bodyPr wrap="square" lIns="0" tIns="0" rIns="0" bIns="0" rtlCol="0" anchor="ctr"/>
          <a:lstStyle/>
          <a:p>
            <a:pPr rtl="1" algn="r" indent="0" marL="0">
              <a:lnSpc>
                <a:spcPct val="106000"/>
              </a:lnSpc>
              <a:buNone/>
            </a:pPr>
            <a:r>
              <a:rPr lang="ar-SA" altLang="en-US" sz="1100" b="1" dirty="0">
                <a:solidFill>
                  <a:srgbClr val="04352B"/>
                </a:solidFill>
                <a:latin typeface="Tajawal" pitchFamily="34" charset="0"/>
                <a:ea typeface="Tajawal" pitchFamily="34" charset="-122"/>
                <a:cs typeface="Tajawal" pitchFamily="34" charset="-120"/>
              </a:rPr>
              <a:t>تعزيز التوظيف الفاعل للتقنيات الرقمية في التعليم</a:t>
            </a:r>
            <a:endParaRPr lang="ar-SA" sz="1100" dirty="0"/>
          </a:p>
        </p:txBody>
      </p:sp>
      <p:sp>
        <p:nvSpPr>
          <p:cNvPr id="38" name="Text 34"/>
          <p:cNvSpPr/>
          <p:nvPr/>
        </p:nvSpPr>
        <p:spPr>
          <a:xfrm>
            <a:off x="676656" y="4791456"/>
            <a:ext cx="4577944" cy="457200"/>
          </a:xfrm>
          <a:prstGeom prst="rect">
            <a:avLst/>
          </a:prstGeom>
          <a:noFill/>
          <a:ln/>
        </p:spPr>
        <p:txBody>
          <a:bodyPr wrap="square" lIns="0" tIns="0" rIns="0" bIns="0" rtlCol="0" anchor="t"/>
          <a:lstStyle/>
          <a:p>
            <a:pPr rtl="1" algn="r" indent="0" marL="0">
              <a:lnSpc>
                <a:spcPct val="112000"/>
              </a:lnSpc>
              <a:buNone/>
            </a:pPr>
            <a:r>
              <a:rPr lang="ar-SA" altLang="en-US" sz="880" dirty="0">
                <a:solidFill>
                  <a:srgbClr val="8A9A93"/>
                </a:solidFill>
                <a:latin typeface="Tajawal" pitchFamily="34" charset="0"/>
                <a:ea typeface="Tajawal" pitchFamily="34" charset="-122"/>
                <a:cs typeface="Tajawal" pitchFamily="34" charset="-120"/>
              </a:rPr>
              <a:t>تدريب المعلمين على المنصّات وتنويع استخدام الأدوات الرقمية داخل الفصل.</a:t>
            </a:r>
            <a:endParaRPr lang="ar-SA" sz="880" dirty="0"/>
          </a:p>
        </p:txBody>
      </p:sp>
      <p:sp>
        <p:nvSpPr>
          <p:cNvPr id="39" name="Shape 35"/>
          <p:cNvSpPr/>
          <p:nvPr/>
        </p:nvSpPr>
        <p:spPr>
          <a:xfrm>
            <a:off x="457200" y="5504688"/>
            <a:ext cx="11277295" cy="868680"/>
          </a:xfrm>
          <a:prstGeom prst="roundRect">
            <a:avLst>
              <a:gd name="adj" fmla="val 9474"/>
            </a:avLst>
          </a:prstGeom>
          <a:solidFill>
            <a:srgbClr val="095242"/>
          </a:solidFill>
          <a:ln/>
          <a:effectLst>
            <a:outerShdw sx="100000" sy="100000" kx="0" ky="0" algn="bl" rotWithShape="0" blurRad="127000" dist="31750" dir="5400000">
              <a:srgbClr val="062A21">
                <a:alpha val="20000"/>
              </a:srgbClr>
            </a:outerShdw>
          </a:effectLst>
        </p:spPr>
      </p:sp>
      <p:pic>
        <p:nvPicPr>
          <p:cNvPr id="40" name="Image 2" descr="/tmp/claude-0/-home-user-Mobile1/ab9bbf47-b054-5f6e-be59-70476e095ce8/scratchpad/assets/dots_white.png">    </p:cNvPr>
          <p:cNvPicPr>
            <a:picLocks noChangeAspect="1"/>
          </p:cNvPicPr>
          <p:nvPr/>
        </p:nvPicPr>
        <p:blipFill>
          <a:blip r:embed="rId3">
            <a:alphaModFix amt="30000"/>
          </a:blip>
          <a:stretch>
            <a:fillRect/>
          </a:stretch>
        </p:blipFill>
        <p:spPr>
          <a:xfrm>
            <a:off x="548640" y="5559552"/>
            <a:ext cx="1188720" cy="777240"/>
          </a:xfrm>
          <a:prstGeom prst="rect">
            <a:avLst/>
          </a:prstGeom>
        </p:spPr>
      </p:pic>
      <p:sp>
        <p:nvSpPr>
          <p:cNvPr id="41" name="Shape 36"/>
          <p:cNvSpPr/>
          <p:nvPr/>
        </p:nvSpPr>
        <p:spPr>
          <a:xfrm>
            <a:off x="11112703" y="5756148"/>
            <a:ext cx="365760" cy="365760"/>
          </a:xfrm>
          <a:prstGeom prst="ellipse">
            <a:avLst/>
          </a:prstGeom>
          <a:solidFill>
            <a:srgbClr val="FFFFFF"/>
          </a:solidFill>
          <a:ln/>
        </p:spPr>
      </p:sp>
      <p:sp>
        <p:nvSpPr>
          <p:cNvPr id="42" name="Text 37"/>
          <p:cNvSpPr/>
          <p:nvPr/>
        </p:nvSpPr>
        <p:spPr>
          <a:xfrm>
            <a:off x="11112703" y="5742432"/>
            <a:ext cx="365760" cy="365760"/>
          </a:xfrm>
          <a:prstGeom prst="rect">
            <a:avLst/>
          </a:prstGeom>
          <a:noFill/>
          <a:ln/>
        </p:spPr>
        <p:txBody>
          <a:bodyPr wrap="square" lIns="0" tIns="0" rIns="0" bIns="0" rtlCol="0" anchor="ctr"/>
          <a:lstStyle/>
          <a:p>
            <a:pPr rtl="1" algn="ctr" indent="0" marL="0">
              <a:buNone/>
            </a:pPr>
            <a:r>
              <a:rPr lang="ar-SA" altLang="en-US" sz="1300" b="1" dirty="0">
                <a:solidFill>
                  <a:srgbClr val="095242"/>
                </a:solidFill>
                <a:latin typeface="Tajawal" pitchFamily="34" charset="0"/>
                <a:ea typeface="Tajawal" pitchFamily="34" charset="-122"/>
                <a:cs typeface="Tajawal" pitchFamily="34" charset="-120"/>
              </a:rPr>
              <a:t>٧</a:t>
            </a:r>
            <a:endParaRPr lang="ar-SA" sz="1300" dirty="0"/>
          </a:p>
        </p:txBody>
      </p:sp>
      <p:sp>
        <p:nvSpPr>
          <p:cNvPr id="43" name="Text 38"/>
          <p:cNvSpPr/>
          <p:nvPr/>
        </p:nvSpPr>
        <p:spPr>
          <a:xfrm>
            <a:off x="777240" y="5623560"/>
            <a:ext cx="10134295" cy="365760"/>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تحسين بيئة التعلم الصفية والمرافق المدرسية المساندة</a:t>
            </a:r>
            <a:endParaRPr lang="ar-SA" sz="1250" dirty="0"/>
          </a:p>
        </p:txBody>
      </p:sp>
      <p:sp>
        <p:nvSpPr>
          <p:cNvPr id="44" name="Text 39"/>
          <p:cNvSpPr/>
          <p:nvPr/>
        </p:nvSpPr>
        <p:spPr>
          <a:xfrm>
            <a:off x="777240" y="5998464"/>
            <a:ext cx="10134295" cy="320040"/>
          </a:xfrm>
          <a:prstGeom prst="rect">
            <a:avLst/>
          </a:prstGeom>
          <a:noFill/>
          <a:ln/>
        </p:spPr>
        <p:txBody>
          <a:bodyPr wrap="square" lIns="0" tIns="0" rIns="0" bIns="0" rtlCol="0" anchor="t"/>
          <a:lstStyle/>
          <a:p>
            <a:pPr rtl="1" algn="r" indent="0" marL="0">
              <a:buNone/>
            </a:pPr>
            <a:r>
              <a:rPr lang="ar-SA" altLang="en-US" sz="950" dirty="0">
                <a:solidFill>
                  <a:srgbClr val="CFE2DB"/>
                </a:solidFill>
                <a:latin typeface="Tajawal" pitchFamily="34" charset="0"/>
                <a:ea typeface="Tajawal" pitchFamily="34" charset="-122"/>
                <a:cs typeface="Tajawal" pitchFamily="34" charset="-120"/>
              </a:rPr>
              <a:t>صيانة دورية وتحسين التهوية والإضاءة، ورفع جودة الخدمات المساندة.</a:t>
            </a:r>
            <a:endParaRPr lang="ar-SA"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claude-0/-home-user-Mobile1/ab9bbf47-b054-5f6e-be59-70476e095ce8/scratchpad/assets/bg_divide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white.png">    </p:cNvPr>
          <p:cNvPicPr>
            <a:picLocks noChangeAspect="1"/>
          </p:cNvPicPr>
          <p:nvPr/>
        </p:nvPicPr>
        <p:blipFill>
          <a:blip r:embed="rId2"/>
          <a:stretch>
            <a:fillRect/>
          </a:stretch>
        </p:blipFill>
        <p:spPr>
          <a:xfrm>
            <a:off x="10682935" y="457200"/>
            <a:ext cx="1051560" cy="812902"/>
          </a:xfrm>
          <a:prstGeom prst="rect">
            <a:avLst/>
          </a:prstGeom>
        </p:spPr>
      </p:pic>
      <p:sp>
        <p:nvSpPr>
          <p:cNvPr id="4" name="Text 0"/>
          <p:cNvSpPr/>
          <p:nvPr/>
        </p:nvSpPr>
        <p:spPr>
          <a:xfrm>
            <a:off x="594360" y="1234440"/>
            <a:ext cx="4023360" cy="3291840"/>
          </a:xfrm>
          <a:prstGeom prst="rect">
            <a:avLst/>
          </a:prstGeom>
          <a:noFill/>
          <a:ln/>
        </p:spPr>
        <p:txBody>
          <a:bodyPr wrap="square" lIns="0" tIns="0" rIns="0" bIns="0" rtlCol="0" anchor="ctr"/>
          <a:lstStyle/>
          <a:p>
            <a:pPr rtl="1" algn="l" indent="0" marL="0">
              <a:buNone/>
            </a:pPr>
            <a:r>
              <a:rPr lang="ar-SA" altLang="en-US" sz="16500" dirty="0">
                <a:solidFill>
                  <a:srgbClr val="0C6553"/>
                </a:solidFill>
                <a:latin typeface="Tajawal ExtraBold" pitchFamily="34" charset="0"/>
                <a:ea typeface="Tajawal ExtraBold" pitchFamily="34" charset="-122"/>
                <a:cs typeface="Tajawal ExtraBold" pitchFamily="34" charset="-120"/>
              </a:rPr>
              <a:t>02</a:t>
            </a:r>
            <a:endParaRPr lang="ar-SA" sz="16500" dirty="0"/>
          </a:p>
        </p:txBody>
      </p:sp>
      <p:sp>
        <p:nvSpPr>
          <p:cNvPr id="5" name="Text 1"/>
          <p:cNvSpPr/>
          <p:nvPr/>
        </p:nvSpPr>
        <p:spPr>
          <a:xfrm>
            <a:off x="4967935" y="2084832"/>
            <a:ext cx="6766560" cy="292608"/>
          </a:xfrm>
          <a:prstGeom prst="rect">
            <a:avLst/>
          </a:prstGeom>
          <a:noFill/>
          <a:ln/>
        </p:spPr>
        <p:txBody>
          <a:bodyPr wrap="square" lIns="0" tIns="0" rIns="0" bIns="0" rtlCol="0" anchor="t"/>
          <a:lstStyle/>
          <a:p>
            <a:pPr rtl="1" algn="r" indent="0" marL="0">
              <a:buNone/>
            </a:pPr>
            <a:r>
              <a:rPr lang="ar-SA" altLang="en-US" sz="1200" b="1" spc="150" kern="0" dirty="0">
                <a:solidFill>
                  <a:srgbClr val="C9A45C"/>
                </a:solidFill>
                <a:latin typeface="Tajawal" pitchFamily="34" charset="0"/>
                <a:ea typeface="Tajawal" pitchFamily="34" charset="-122"/>
                <a:cs typeface="Tajawal" pitchFamily="34" charset="-120"/>
              </a:rPr>
              <a:t>الجزء الثاني</a:t>
            </a:r>
            <a:endParaRPr lang="ar-SA" sz="1200" dirty="0"/>
          </a:p>
        </p:txBody>
      </p:sp>
      <p:sp>
        <p:nvSpPr>
          <p:cNvPr id="6" name="Text 2"/>
          <p:cNvSpPr/>
          <p:nvPr/>
        </p:nvSpPr>
        <p:spPr>
          <a:xfrm>
            <a:off x="3687775" y="2395728"/>
            <a:ext cx="8046720" cy="914400"/>
          </a:xfrm>
          <a:prstGeom prst="rect">
            <a:avLst/>
          </a:prstGeom>
          <a:noFill/>
          <a:ln/>
        </p:spPr>
        <p:txBody>
          <a:bodyPr wrap="square" lIns="0" tIns="0" rIns="0" bIns="0" rtlCol="0" anchor="ctr"/>
          <a:lstStyle/>
          <a:p>
            <a:pPr rtl="1" algn="r" indent="0" marL="0">
              <a:buNone/>
            </a:pPr>
            <a:r>
              <a:rPr lang="ar-SA" altLang="en-US" sz="3800" dirty="0">
                <a:solidFill>
                  <a:srgbClr val="FFFFFF"/>
                </a:solidFill>
                <a:latin typeface="Tajawal ExtraBold" pitchFamily="34" charset="0"/>
                <a:ea typeface="Tajawal ExtraBold" pitchFamily="34" charset="-122"/>
                <a:cs typeface="Tajawal ExtraBold" pitchFamily="34" charset="-120"/>
              </a:rPr>
              <a:t>الأهداف والبرامج التشغيلية</a:t>
            </a:r>
            <a:endParaRPr lang="ar-SA" sz="3800" dirty="0"/>
          </a:p>
        </p:txBody>
      </p:sp>
      <p:sp>
        <p:nvSpPr>
          <p:cNvPr id="7" name="Shape 3"/>
          <p:cNvSpPr/>
          <p:nvPr/>
        </p:nvSpPr>
        <p:spPr>
          <a:xfrm>
            <a:off x="9997135" y="3474720"/>
            <a:ext cx="1737360" cy="0"/>
          </a:xfrm>
          <a:prstGeom prst="line">
            <a:avLst/>
          </a:prstGeom>
          <a:noFill/>
          <a:ln w="15875">
            <a:solidFill>
              <a:srgbClr val="C9A45C"/>
            </a:solidFill>
            <a:prstDash val="solid"/>
          </a:ln>
        </p:spPr>
      </p:sp>
      <p:sp>
        <p:nvSpPr>
          <p:cNvPr id="8" name="Shape 4"/>
          <p:cNvSpPr/>
          <p:nvPr/>
        </p:nvSpPr>
        <p:spPr>
          <a:xfrm>
            <a:off x="11643055" y="3867912"/>
            <a:ext cx="91440" cy="91440"/>
          </a:xfrm>
          <a:prstGeom prst="rect">
            <a:avLst/>
          </a:prstGeom>
          <a:solidFill>
            <a:srgbClr val="C9A45C"/>
          </a:solidFill>
          <a:ln/>
        </p:spPr>
      </p:sp>
      <p:sp>
        <p:nvSpPr>
          <p:cNvPr id="9" name="Text 5"/>
          <p:cNvSpPr/>
          <p:nvPr/>
        </p:nvSpPr>
        <p:spPr>
          <a:xfrm>
            <a:off x="8168335" y="3749040"/>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الأهداف الاستراتيجية العشرة للوزارة</a:t>
            </a:r>
            <a:endParaRPr lang="ar-SA" sz="1150" dirty="0"/>
          </a:p>
        </p:txBody>
      </p:sp>
      <p:sp>
        <p:nvSpPr>
          <p:cNvPr id="10" name="Shape 6"/>
          <p:cNvSpPr/>
          <p:nvPr/>
        </p:nvSpPr>
        <p:spPr>
          <a:xfrm>
            <a:off x="11643055" y="4270248"/>
            <a:ext cx="91440" cy="91440"/>
          </a:xfrm>
          <a:prstGeom prst="rect">
            <a:avLst/>
          </a:prstGeom>
          <a:solidFill>
            <a:srgbClr val="C9A45C"/>
          </a:solidFill>
          <a:ln/>
        </p:spPr>
      </p:sp>
      <p:sp>
        <p:nvSpPr>
          <p:cNvPr id="11" name="Text 7"/>
          <p:cNvSpPr/>
          <p:nvPr/>
        </p:nvSpPr>
        <p:spPr>
          <a:xfrm>
            <a:off x="8168335" y="4151376"/>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التوزيع الكمي للأهداف والبرامج</a:t>
            </a:r>
            <a:endParaRPr lang="ar-SA" sz="1150" dirty="0"/>
          </a:p>
        </p:txBody>
      </p:sp>
      <p:sp>
        <p:nvSpPr>
          <p:cNvPr id="12" name="Shape 8"/>
          <p:cNvSpPr/>
          <p:nvPr/>
        </p:nvSpPr>
        <p:spPr>
          <a:xfrm>
            <a:off x="11643055" y="4672584"/>
            <a:ext cx="91440" cy="91440"/>
          </a:xfrm>
          <a:prstGeom prst="rect">
            <a:avLst/>
          </a:prstGeom>
          <a:solidFill>
            <a:srgbClr val="C9A45C"/>
          </a:solidFill>
          <a:ln/>
        </p:spPr>
      </p:sp>
      <p:sp>
        <p:nvSpPr>
          <p:cNvPr id="13" name="Text 9"/>
          <p:cNvSpPr/>
          <p:nvPr/>
        </p:nvSpPr>
        <p:spPr>
          <a:xfrm>
            <a:off x="8168335" y="4553712"/>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الأهداف ١ إلى ٥ وبرامجها التفصيلية</a:t>
            </a:r>
            <a:endParaRPr lang="ar-SA" sz="1150" dirty="0"/>
          </a:p>
        </p:txBody>
      </p:sp>
      <p:sp>
        <p:nvSpPr>
          <p:cNvPr id="14" name="Shape 10"/>
          <p:cNvSpPr/>
          <p:nvPr/>
        </p:nvSpPr>
        <p:spPr>
          <a:xfrm>
            <a:off x="7848295" y="3867912"/>
            <a:ext cx="91440" cy="91440"/>
          </a:xfrm>
          <a:prstGeom prst="rect">
            <a:avLst/>
          </a:prstGeom>
          <a:solidFill>
            <a:srgbClr val="C9A45C"/>
          </a:solidFill>
          <a:ln/>
        </p:spPr>
      </p:sp>
      <p:sp>
        <p:nvSpPr>
          <p:cNvPr id="15" name="Text 11"/>
          <p:cNvSpPr/>
          <p:nvPr/>
        </p:nvSpPr>
        <p:spPr>
          <a:xfrm>
            <a:off x="4373575" y="3749040"/>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الأهداف ٦ إلى ١٠ وبرامجها التفصيلية</a:t>
            </a:r>
            <a:endParaRPr lang="ar-SA" sz="1150" dirty="0"/>
          </a:p>
        </p:txBody>
      </p:sp>
      <p:sp>
        <p:nvSpPr>
          <p:cNvPr id="16" name="Shape 12"/>
          <p:cNvSpPr/>
          <p:nvPr/>
        </p:nvSpPr>
        <p:spPr>
          <a:xfrm>
            <a:off x="7848295" y="4270248"/>
            <a:ext cx="91440" cy="91440"/>
          </a:xfrm>
          <a:prstGeom prst="rect">
            <a:avLst/>
          </a:prstGeom>
          <a:solidFill>
            <a:srgbClr val="C9A45C"/>
          </a:solidFill>
          <a:ln/>
        </p:spPr>
      </p:sp>
      <p:sp>
        <p:nvSpPr>
          <p:cNvPr id="17" name="Text 13"/>
          <p:cNvSpPr/>
          <p:nvPr/>
        </p:nvSpPr>
        <p:spPr>
          <a:xfrm>
            <a:off x="4373575" y="4151376"/>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١١٢ برنامجًا تشغيليًا</a:t>
            </a:r>
            <a:endParaRPr lang="ar-SA" sz="1150" dirty="0"/>
          </a:p>
        </p:txBody>
      </p:sp>
      <p:sp>
        <p:nvSpPr>
          <p:cNvPr id="18" name="Shape 14"/>
          <p:cNvSpPr/>
          <p:nvPr/>
        </p:nvSpPr>
        <p:spPr>
          <a:xfrm>
            <a:off x="7848295" y="4672584"/>
            <a:ext cx="91440" cy="91440"/>
          </a:xfrm>
          <a:prstGeom prst="rect">
            <a:avLst/>
          </a:prstGeom>
          <a:solidFill>
            <a:srgbClr val="C9A45C"/>
          </a:solidFill>
          <a:ln/>
        </p:spPr>
      </p:sp>
      <p:sp>
        <p:nvSpPr>
          <p:cNvPr id="19" name="Text 15"/>
          <p:cNvSpPr/>
          <p:nvPr/>
        </p:nvSpPr>
        <p:spPr>
          <a:xfrm>
            <a:off x="4373575" y="4553712"/>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٦٢ مؤشر اعتماد مدرسي</a:t>
            </a:r>
            <a:endParaRPr lang="ar-SA"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الثاني · الأهداف والبرامج</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الأهداف الاستراتيجية لوزارة التعليم</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الأهداف الاستراتيجية للوزارة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١٣</a:t>
            </a:r>
            <a:endParaRPr lang="ar-SA" sz="900" dirty="0"/>
          </a:p>
        </p:txBody>
      </p:sp>
      <p:sp>
        <p:nvSpPr>
          <p:cNvPr id="8" name="Text 4"/>
          <p:cNvSpPr/>
          <p:nvPr/>
        </p:nvSpPr>
        <p:spPr>
          <a:xfrm>
            <a:off x="457200" y="1005840"/>
            <a:ext cx="11277295" cy="365760"/>
          </a:xfrm>
          <a:prstGeom prst="rect">
            <a:avLst/>
          </a:prstGeom>
          <a:noFill/>
          <a:ln/>
        </p:spPr>
        <p:txBody>
          <a:bodyPr wrap="square" lIns="0" tIns="0" rIns="0" bIns="0" rtlCol="0" anchor="t"/>
          <a:lstStyle/>
          <a:p>
            <a:pPr rtl="1" algn="r" indent="0" marL="0">
              <a:buNone/>
            </a:pPr>
            <a:r>
              <a:rPr lang="ar-SA" altLang="en-US" sz="1080" dirty="0">
                <a:solidFill>
                  <a:srgbClr val="34473F"/>
                </a:solidFill>
                <a:latin typeface="Tajawal" pitchFamily="34" charset="0"/>
                <a:ea typeface="Tajawal" pitchFamily="34" charset="-122"/>
                <a:cs typeface="Tajawal" pitchFamily="34" charset="-120"/>
              </a:rPr>
              <a:t>تتوافق الأهداف العامة لخطة المدرسة مع الأهداف الاستراتيجية العشرة لوزارة التعليم، وتتفرّع منها البرامج التشغيلية المرتبطة بمؤشرات الاعتماد المدرسي.</a:t>
            </a:r>
            <a:endParaRPr lang="ar-SA" sz="1080" dirty="0"/>
          </a:p>
        </p:txBody>
      </p:sp>
      <p:sp>
        <p:nvSpPr>
          <p:cNvPr id="9" name="Shape 5"/>
          <p:cNvSpPr/>
          <p:nvPr/>
        </p:nvSpPr>
        <p:spPr>
          <a:xfrm>
            <a:off x="9639971" y="1517904"/>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0" name="Text 6"/>
          <p:cNvSpPr/>
          <p:nvPr/>
        </p:nvSpPr>
        <p:spPr>
          <a:xfrm>
            <a:off x="9767987" y="1554480"/>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١</a:t>
            </a:r>
            <a:endParaRPr lang="ar-SA" sz="3800" dirty="0"/>
          </a:p>
        </p:txBody>
      </p:sp>
      <p:sp>
        <p:nvSpPr>
          <p:cNvPr id="11" name="Shape 7"/>
          <p:cNvSpPr/>
          <p:nvPr/>
        </p:nvSpPr>
        <p:spPr>
          <a:xfrm>
            <a:off x="10513497" y="1664208"/>
            <a:ext cx="347472" cy="347472"/>
          </a:xfrm>
          <a:prstGeom prst="roundRect">
            <a:avLst>
              <a:gd name="adj" fmla="val 21053"/>
            </a:avLst>
          </a:prstGeom>
          <a:solidFill>
            <a:srgbClr val="095242"/>
          </a:solidFill>
          <a:ln/>
        </p:spPr>
      </p:sp>
      <p:sp>
        <p:nvSpPr>
          <p:cNvPr id="12" name="Text 8"/>
          <p:cNvSpPr/>
          <p:nvPr/>
        </p:nvSpPr>
        <p:spPr>
          <a:xfrm>
            <a:off x="10513497" y="1655064"/>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١</a:t>
            </a:r>
            <a:endParaRPr lang="ar-SA" sz="1150" dirty="0"/>
          </a:p>
        </p:txBody>
      </p:sp>
      <p:sp>
        <p:nvSpPr>
          <p:cNvPr id="13" name="Text 9"/>
          <p:cNvSpPr/>
          <p:nvPr/>
        </p:nvSpPr>
        <p:spPr>
          <a:xfrm>
            <a:off x="9731411" y="2084832"/>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ضمان وصول التعليم للجميع</a:t>
            </a:r>
            <a:endParaRPr lang="ar-SA" sz="930" dirty="0"/>
          </a:p>
        </p:txBody>
      </p:sp>
      <p:sp>
        <p:nvSpPr>
          <p:cNvPr id="14" name="Shape 10"/>
          <p:cNvSpPr/>
          <p:nvPr/>
        </p:nvSpPr>
        <p:spPr>
          <a:xfrm>
            <a:off x="7344278" y="1517904"/>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5" name="Text 11"/>
          <p:cNvSpPr/>
          <p:nvPr/>
        </p:nvSpPr>
        <p:spPr>
          <a:xfrm>
            <a:off x="7472294" y="1554480"/>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٢</a:t>
            </a:r>
            <a:endParaRPr lang="ar-SA" sz="3800" dirty="0"/>
          </a:p>
        </p:txBody>
      </p:sp>
      <p:sp>
        <p:nvSpPr>
          <p:cNvPr id="16" name="Shape 12"/>
          <p:cNvSpPr/>
          <p:nvPr/>
        </p:nvSpPr>
        <p:spPr>
          <a:xfrm>
            <a:off x="8217804" y="1664208"/>
            <a:ext cx="347472" cy="347472"/>
          </a:xfrm>
          <a:prstGeom prst="roundRect">
            <a:avLst>
              <a:gd name="adj" fmla="val 21053"/>
            </a:avLst>
          </a:prstGeom>
          <a:solidFill>
            <a:srgbClr val="095242"/>
          </a:solidFill>
          <a:ln/>
        </p:spPr>
      </p:sp>
      <p:sp>
        <p:nvSpPr>
          <p:cNvPr id="17" name="Text 13"/>
          <p:cNvSpPr/>
          <p:nvPr/>
        </p:nvSpPr>
        <p:spPr>
          <a:xfrm>
            <a:off x="8217804" y="1655064"/>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٢</a:t>
            </a:r>
            <a:endParaRPr lang="ar-SA" sz="1150" dirty="0"/>
          </a:p>
        </p:txBody>
      </p:sp>
      <p:sp>
        <p:nvSpPr>
          <p:cNvPr id="18" name="Text 14"/>
          <p:cNvSpPr/>
          <p:nvPr/>
        </p:nvSpPr>
        <p:spPr>
          <a:xfrm>
            <a:off x="7435718" y="2084832"/>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تطوير بيئة مدرسية آمنة وابتكارية</a:t>
            </a:r>
            <a:endParaRPr lang="ar-SA" sz="930" dirty="0"/>
          </a:p>
        </p:txBody>
      </p:sp>
      <p:sp>
        <p:nvSpPr>
          <p:cNvPr id="19" name="Shape 15"/>
          <p:cNvSpPr/>
          <p:nvPr/>
        </p:nvSpPr>
        <p:spPr>
          <a:xfrm>
            <a:off x="5048585" y="1517904"/>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0" name="Text 16"/>
          <p:cNvSpPr/>
          <p:nvPr/>
        </p:nvSpPr>
        <p:spPr>
          <a:xfrm>
            <a:off x="5176601" y="1554480"/>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٣</a:t>
            </a:r>
            <a:endParaRPr lang="ar-SA" sz="3800" dirty="0"/>
          </a:p>
        </p:txBody>
      </p:sp>
      <p:sp>
        <p:nvSpPr>
          <p:cNvPr id="21" name="Shape 17"/>
          <p:cNvSpPr/>
          <p:nvPr/>
        </p:nvSpPr>
        <p:spPr>
          <a:xfrm>
            <a:off x="5922112" y="1664208"/>
            <a:ext cx="347472" cy="347472"/>
          </a:xfrm>
          <a:prstGeom prst="roundRect">
            <a:avLst>
              <a:gd name="adj" fmla="val 21053"/>
            </a:avLst>
          </a:prstGeom>
          <a:solidFill>
            <a:srgbClr val="095242"/>
          </a:solidFill>
          <a:ln/>
        </p:spPr>
      </p:sp>
      <p:sp>
        <p:nvSpPr>
          <p:cNvPr id="22" name="Text 18"/>
          <p:cNvSpPr/>
          <p:nvPr/>
        </p:nvSpPr>
        <p:spPr>
          <a:xfrm>
            <a:off x="5922112" y="1655064"/>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٣</a:t>
            </a:r>
            <a:endParaRPr lang="ar-SA" sz="1150" dirty="0"/>
          </a:p>
        </p:txBody>
      </p:sp>
      <p:sp>
        <p:nvSpPr>
          <p:cNvPr id="23" name="Text 19"/>
          <p:cNvSpPr/>
          <p:nvPr/>
        </p:nvSpPr>
        <p:spPr>
          <a:xfrm>
            <a:off x="5140025" y="2084832"/>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تعزيز القيم والهوية الوطنية</a:t>
            </a:r>
            <a:endParaRPr lang="ar-SA" sz="930" dirty="0"/>
          </a:p>
        </p:txBody>
      </p:sp>
      <p:sp>
        <p:nvSpPr>
          <p:cNvPr id="24" name="Shape 20"/>
          <p:cNvSpPr/>
          <p:nvPr/>
        </p:nvSpPr>
        <p:spPr>
          <a:xfrm>
            <a:off x="2752893" y="1517904"/>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5" name="Text 21"/>
          <p:cNvSpPr/>
          <p:nvPr/>
        </p:nvSpPr>
        <p:spPr>
          <a:xfrm>
            <a:off x="2880909" y="1554480"/>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٤</a:t>
            </a:r>
            <a:endParaRPr lang="ar-SA" sz="3800" dirty="0"/>
          </a:p>
        </p:txBody>
      </p:sp>
      <p:sp>
        <p:nvSpPr>
          <p:cNvPr id="26" name="Shape 22"/>
          <p:cNvSpPr/>
          <p:nvPr/>
        </p:nvSpPr>
        <p:spPr>
          <a:xfrm>
            <a:off x="3626419" y="1664208"/>
            <a:ext cx="347472" cy="347472"/>
          </a:xfrm>
          <a:prstGeom prst="roundRect">
            <a:avLst>
              <a:gd name="adj" fmla="val 21053"/>
            </a:avLst>
          </a:prstGeom>
          <a:solidFill>
            <a:srgbClr val="095242"/>
          </a:solidFill>
          <a:ln/>
        </p:spPr>
      </p:sp>
      <p:sp>
        <p:nvSpPr>
          <p:cNvPr id="27" name="Text 23"/>
          <p:cNvSpPr/>
          <p:nvPr/>
        </p:nvSpPr>
        <p:spPr>
          <a:xfrm>
            <a:off x="3626419" y="1655064"/>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٤</a:t>
            </a:r>
            <a:endParaRPr lang="ar-SA" sz="1150" dirty="0"/>
          </a:p>
        </p:txBody>
      </p:sp>
      <p:sp>
        <p:nvSpPr>
          <p:cNvPr id="28" name="Text 24"/>
          <p:cNvSpPr/>
          <p:nvPr/>
        </p:nvSpPr>
        <p:spPr>
          <a:xfrm>
            <a:off x="2844333" y="2084832"/>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تحسين تجربة المستفيدين</a:t>
            </a:r>
            <a:endParaRPr lang="ar-SA" sz="930" dirty="0"/>
          </a:p>
        </p:txBody>
      </p:sp>
      <p:sp>
        <p:nvSpPr>
          <p:cNvPr id="29" name="Shape 25"/>
          <p:cNvSpPr/>
          <p:nvPr/>
        </p:nvSpPr>
        <p:spPr>
          <a:xfrm>
            <a:off x="457200" y="1517904"/>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30" name="Text 26"/>
          <p:cNvSpPr/>
          <p:nvPr/>
        </p:nvSpPr>
        <p:spPr>
          <a:xfrm>
            <a:off x="585216" y="1554480"/>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٥</a:t>
            </a:r>
            <a:endParaRPr lang="ar-SA" sz="3800" dirty="0"/>
          </a:p>
        </p:txBody>
      </p:sp>
      <p:sp>
        <p:nvSpPr>
          <p:cNvPr id="31" name="Shape 27"/>
          <p:cNvSpPr/>
          <p:nvPr/>
        </p:nvSpPr>
        <p:spPr>
          <a:xfrm>
            <a:off x="1330726" y="1664208"/>
            <a:ext cx="347472" cy="347472"/>
          </a:xfrm>
          <a:prstGeom prst="roundRect">
            <a:avLst>
              <a:gd name="adj" fmla="val 21053"/>
            </a:avLst>
          </a:prstGeom>
          <a:solidFill>
            <a:srgbClr val="095242"/>
          </a:solidFill>
          <a:ln/>
        </p:spPr>
      </p:sp>
      <p:sp>
        <p:nvSpPr>
          <p:cNvPr id="32" name="Text 28"/>
          <p:cNvSpPr/>
          <p:nvPr/>
        </p:nvSpPr>
        <p:spPr>
          <a:xfrm>
            <a:off x="1330726" y="1655064"/>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٥</a:t>
            </a:r>
            <a:endParaRPr lang="ar-SA" sz="1150" dirty="0"/>
          </a:p>
        </p:txBody>
      </p:sp>
      <p:sp>
        <p:nvSpPr>
          <p:cNvPr id="33" name="Text 29"/>
          <p:cNvSpPr/>
          <p:nvPr/>
        </p:nvSpPr>
        <p:spPr>
          <a:xfrm>
            <a:off x="548640" y="2084832"/>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الاستثمار في الطلاب والمدارس الأولى بالرعاية</a:t>
            </a:r>
            <a:endParaRPr lang="ar-SA" sz="930" dirty="0"/>
          </a:p>
        </p:txBody>
      </p:sp>
      <p:sp>
        <p:nvSpPr>
          <p:cNvPr id="34" name="Shape 30"/>
          <p:cNvSpPr/>
          <p:nvPr/>
        </p:nvSpPr>
        <p:spPr>
          <a:xfrm>
            <a:off x="9639971" y="3127248"/>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35" name="Text 31"/>
          <p:cNvSpPr/>
          <p:nvPr/>
        </p:nvSpPr>
        <p:spPr>
          <a:xfrm>
            <a:off x="9767987" y="3163824"/>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٦</a:t>
            </a:r>
            <a:endParaRPr lang="ar-SA" sz="3800" dirty="0"/>
          </a:p>
        </p:txBody>
      </p:sp>
      <p:sp>
        <p:nvSpPr>
          <p:cNvPr id="36" name="Shape 32"/>
          <p:cNvSpPr/>
          <p:nvPr/>
        </p:nvSpPr>
        <p:spPr>
          <a:xfrm>
            <a:off x="10513497" y="3273552"/>
            <a:ext cx="347472" cy="347472"/>
          </a:xfrm>
          <a:prstGeom prst="roundRect">
            <a:avLst>
              <a:gd name="adj" fmla="val 21053"/>
            </a:avLst>
          </a:prstGeom>
          <a:solidFill>
            <a:srgbClr val="095242"/>
          </a:solidFill>
          <a:ln/>
        </p:spPr>
      </p:sp>
      <p:sp>
        <p:nvSpPr>
          <p:cNvPr id="37" name="Text 33"/>
          <p:cNvSpPr/>
          <p:nvPr/>
        </p:nvSpPr>
        <p:spPr>
          <a:xfrm>
            <a:off x="10513497" y="3264408"/>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٦</a:t>
            </a:r>
            <a:endParaRPr lang="ar-SA" sz="1150" dirty="0"/>
          </a:p>
        </p:txBody>
      </p:sp>
      <p:sp>
        <p:nvSpPr>
          <p:cNvPr id="38" name="Text 34"/>
          <p:cNvSpPr/>
          <p:nvPr/>
        </p:nvSpPr>
        <p:spPr>
          <a:xfrm>
            <a:off x="9731411" y="3694176"/>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تحسين أداء المدارس وتعزيز شراكتها مع المجتمع</a:t>
            </a:r>
            <a:endParaRPr lang="ar-SA" sz="930" dirty="0"/>
          </a:p>
        </p:txBody>
      </p:sp>
      <p:sp>
        <p:nvSpPr>
          <p:cNvPr id="39" name="Shape 35"/>
          <p:cNvSpPr/>
          <p:nvPr/>
        </p:nvSpPr>
        <p:spPr>
          <a:xfrm>
            <a:off x="7344278" y="3127248"/>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40" name="Text 36"/>
          <p:cNvSpPr/>
          <p:nvPr/>
        </p:nvSpPr>
        <p:spPr>
          <a:xfrm>
            <a:off x="7472294" y="3163824"/>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٧</a:t>
            </a:r>
            <a:endParaRPr lang="ar-SA" sz="3800" dirty="0"/>
          </a:p>
        </p:txBody>
      </p:sp>
      <p:sp>
        <p:nvSpPr>
          <p:cNvPr id="41" name="Shape 37"/>
          <p:cNvSpPr/>
          <p:nvPr/>
        </p:nvSpPr>
        <p:spPr>
          <a:xfrm>
            <a:off x="8217804" y="3273552"/>
            <a:ext cx="347472" cy="347472"/>
          </a:xfrm>
          <a:prstGeom prst="roundRect">
            <a:avLst>
              <a:gd name="adj" fmla="val 21053"/>
            </a:avLst>
          </a:prstGeom>
          <a:solidFill>
            <a:srgbClr val="095242"/>
          </a:solidFill>
          <a:ln/>
        </p:spPr>
      </p:sp>
      <p:sp>
        <p:nvSpPr>
          <p:cNvPr id="42" name="Text 38"/>
          <p:cNvSpPr/>
          <p:nvPr/>
        </p:nvSpPr>
        <p:spPr>
          <a:xfrm>
            <a:off x="8217804" y="3264408"/>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٧</a:t>
            </a:r>
            <a:endParaRPr lang="ar-SA" sz="1150" dirty="0"/>
          </a:p>
        </p:txBody>
      </p:sp>
      <p:sp>
        <p:nvSpPr>
          <p:cNvPr id="43" name="Text 39"/>
          <p:cNvSpPr/>
          <p:nvPr/>
        </p:nvSpPr>
        <p:spPr>
          <a:xfrm>
            <a:off x="7435718" y="3694176"/>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رفع كفاءة الإنفاق وتعزيز الاستدامة المالية</a:t>
            </a:r>
            <a:endParaRPr lang="ar-SA" sz="930" dirty="0"/>
          </a:p>
        </p:txBody>
      </p:sp>
      <p:sp>
        <p:nvSpPr>
          <p:cNvPr id="44" name="Shape 40"/>
          <p:cNvSpPr/>
          <p:nvPr/>
        </p:nvSpPr>
        <p:spPr>
          <a:xfrm>
            <a:off x="5048585" y="3127248"/>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45" name="Text 41"/>
          <p:cNvSpPr/>
          <p:nvPr/>
        </p:nvSpPr>
        <p:spPr>
          <a:xfrm>
            <a:off x="5176601" y="3163824"/>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٨</a:t>
            </a:r>
            <a:endParaRPr lang="ar-SA" sz="3800" dirty="0"/>
          </a:p>
        </p:txBody>
      </p:sp>
      <p:sp>
        <p:nvSpPr>
          <p:cNvPr id="46" name="Shape 42"/>
          <p:cNvSpPr/>
          <p:nvPr/>
        </p:nvSpPr>
        <p:spPr>
          <a:xfrm>
            <a:off x="5922112" y="3273552"/>
            <a:ext cx="347472" cy="347472"/>
          </a:xfrm>
          <a:prstGeom prst="roundRect">
            <a:avLst>
              <a:gd name="adj" fmla="val 21053"/>
            </a:avLst>
          </a:prstGeom>
          <a:solidFill>
            <a:srgbClr val="095242"/>
          </a:solidFill>
          <a:ln/>
        </p:spPr>
      </p:sp>
      <p:sp>
        <p:nvSpPr>
          <p:cNvPr id="47" name="Text 43"/>
          <p:cNvSpPr/>
          <p:nvPr/>
        </p:nvSpPr>
        <p:spPr>
          <a:xfrm>
            <a:off x="5922112" y="3264408"/>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٨</a:t>
            </a:r>
            <a:endParaRPr lang="ar-SA" sz="1150" dirty="0"/>
          </a:p>
        </p:txBody>
      </p:sp>
      <p:sp>
        <p:nvSpPr>
          <p:cNvPr id="48" name="Text 44"/>
          <p:cNvSpPr/>
          <p:nvPr/>
        </p:nvSpPr>
        <p:spPr>
          <a:xfrm>
            <a:off x="5140025" y="3694176"/>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تطوير كفاءات الموارد البشرية وتعزيز الثقافة المؤسسية</a:t>
            </a:r>
            <a:endParaRPr lang="ar-SA" sz="930" dirty="0"/>
          </a:p>
        </p:txBody>
      </p:sp>
      <p:sp>
        <p:nvSpPr>
          <p:cNvPr id="49" name="Shape 45"/>
          <p:cNvSpPr/>
          <p:nvPr/>
        </p:nvSpPr>
        <p:spPr>
          <a:xfrm>
            <a:off x="2752893" y="3127248"/>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50" name="Text 46"/>
          <p:cNvSpPr/>
          <p:nvPr/>
        </p:nvSpPr>
        <p:spPr>
          <a:xfrm>
            <a:off x="2880909" y="3163824"/>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٩</a:t>
            </a:r>
            <a:endParaRPr lang="ar-SA" sz="3800" dirty="0"/>
          </a:p>
        </p:txBody>
      </p:sp>
      <p:sp>
        <p:nvSpPr>
          <p:cNvPr id="51" name="Shape 47"/>
          <p:cNvSpPr/>
          <p:nvPr/>
        </p:nvSpPr>
        <p:spPr>
          <a:xfrm>
            <a:off x="3626419" y="3273552"/>
            <a:ext cx="347472" cy="347472"/>
          </a:xfrm>
          <a:prstGeom prst="roundRect">
            <a:avLst>
              <a:gd name="adj" fmla="val 21053"/>
            </a:avLst>
          </a:prstGeom>
          <a:solidFill>
            <a:srgbClr val="095242"/>
          </a:solidFill>
          <a:ln/>
        </p:spPr>
      </p:sp>
      <p:sp>
        <p:nvSpPr>
          <p:cNvPr id="52" name="Text 48"/>
          <p:cNvSpPr/>
          <p:nvPr/>
        </p:nvSpPr>
        <p:spPr>
          <a:xfrm>
            <a:off x="3626419" y="3264408"/>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٩</a:t>
            </a:r>
            <a:endParaRPr lang="ar-SA" sz="1150" dirty="0"/>
          </a:p>
        </p:txBody>
      </p:sp>
      <p:sp>
        <p:nvSpPr>
          <p:cNvPr id="53" name="Text 49"/>
          <p:cNvSpPr/>
          <p:nvPr/>
        </p:nvSpPr>
        <p:spPr>
          <a:xfrm>
            <a:off x="2844333" y="3694176"/>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الارتقاء بمستوى التجربة الرقمية</a:t>
            </a:r>
            <a:endParaRPr lang="ar-SA" sz="930" dirty="0"/>
          </a:p>
        </p:txBody>
      </p:sp>
      <p:sp>
        <p:nvSpPr>
          <p:cNvPr id="54" name="Shape 50"/>
          <p:cNvSpPr/>
          <p:nvPr/>
        </p:nvSpPr>
        <p:spPr>
          <a:xfrm>
            <a:off x="457200" y="3127248"/>
            <a:ext cx="2094525" cy="1389888"/>
          </a:xfrm>
          <a:prstGeom prst="roundRect">
            <a:avLst>
              <a:gd name="adj" fmla="val 5921"/>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55" name="Text 51"/>
          <p:cNvSpPr/>
          <p:nvPr/>
        </p:nvSpPr>
        <p:spPr>
          <a:xfrm>
            <a:off x="585216" y="3163824"/>
            <a:ext cx="1838493" cy="658368"/>
          </a:xfrm>
          <a:prstGeom prst="rect">
            <a:avLst/>
          </a:prstGeom>
          <a:noFill/>
          <a:ln/>
        </p:spPr>
        <p:txBody>
          <a:bodyPr wrap="square" lIns="0" tIns="0" rIns="0" bIns="0" rtlCol="0" anchor="ctr"/>
          <a:lstStyle/>
          <a:p>
            <a:pPr rtl="1" algn="l" indent="0" marL="0">
              <a:buNone/>
            </a:pPr>
            <a:r>
              <a:rPr lang="ar-SA" altLang="en-US" sz="3800" dirty="0">
                <a:solidFill>
                  <a:srgbClr val="F0F6F2"/>
                </a:solidFill>
                <a:latin typeface="Tajawal ExtraBold" pitchFamily="34" charset="0"/>
                <a:ea typeface="Tajawal ExtraBold" pitchFamily="34" charset="-122"/>
                <a:cs typeface="Tajawal ExtraBold" pitchFamily="34" charset="-120"/>
              </a:rPr>
              <a:t>١٠</a:t>
            </a:r>
            <a:endParaRPr lang="ar-SA" sz="3800" dirty="0"/>
          </a:p>
        </p:txBody>
      </p:sp>
      <p:sp>
        <p:nvSpPr>
          <p:cNvPr id="56" name="Shape 52"/>
          <p:cNvSpPr/>
          <p:nvPr/>
        </p:nvSpPr>
        <p:spPr>
          <a:xfrm>
            <a:off x="1330726" y="3273552"/>
            <a:ext cx="347472" cy="347472"/>
          </a:xfrm>
          <a:prstGeom prst="roundRect">
            <a:avLst>
              <a:gd name="adj" fmla="val 21053"/>
            </a:avLst>
          </a:prstGeom>
          <a:solidFill>
            <a:srgbClr val="095242"/>
          </a:solidFill>
          <a:ln/>
        </p:spPr>
      </p:sp>
      <p:sp>
        <p:nvSpPr>
          <p:cNvPr id="57" name="Text 53"/>
          <p:cNvSpPr/>
          <p:nvPr/>
        </p:nvSpPr>
        <p:spPr>
          <a:xfrm>
            <a:off x="1330726" y="3264408"/>
            <a:ext cx="347472" cy="347472"/>
          </a:xfrm>
          <a:prstGeom prst="rect">
            <a:avLst/>
          </a:prstGeom>
          <a:noFill/>
          <a:ln/>
        </p:spPr>
        <p:txBody>
          <a:bodyPr wrap="square" lIns="0" tIns="0" rIns="0" bIns="0" rtlCol="0" anchor="ctr"/>
          <a:lstStyle/>
          <a:p>
            <a:pPr rtl="1" algn="ctr" indent="0" marL="0">
              <a:buNone/>
            </a:pPr>
            <a:r>
              <a:rPr lang="ar-SA" altLang="en-US" sz="1150" b="1" dirty="0">
                <a:solidFill>
                  <a:srgbClr val="FFFFFF"/>
                </a:solidFill>
                <a:latin typeface="Tajawal" pitchFamily="34" charset="0"/>
                <a:ea typeface="Tajawal" pitchFamily="34" charset="-122"/>
                <a:cs typeface="Tajawal" pitchFamily="34" charset="-120"/>
              </a:rPr>
              <a:t>١٠</a:t>
            </a:r>
            <a:endParaRPr lang="ar-SA" sz="1150" dirty="0"/>
          </a:p>
        </p:txBody>
      </p:sp>
      <p:sp>
        <p:nvSpPr>
          <p:cNvPr id="58" name="Text 54"/>
          <p:cNvSpPr/>
          <p:nvPr/>
        </p:nvSpPr>
        <p:spPr>
          <a:xfrm>
            <a:off x="548640" y="3694176"/>
            <a:ext cx="1911645" cy="749808"/>
          </a:xfrm>
          <a:prstGeom prst="rect">
            <a:avLst/>
          </a:prstGeom>
          <a:noFill/>
          <a:ln/>
        </p:spPr>
        <p:txBody>
          <a:bodyPr wrap="square" lIns="0" tIns="0" rIns="0" bIns="0" rtlCol="0" anchor="ctr"/>
          <a:lstStyle/>
          <a:p>
            <a:pPr rtl="1" algn="ctr" indent="0" marL="0">
              <a:lnSpc>
                <a:spcPct val="106000"/>
              </a:lnSpc>
              <a:buNone/>
            </a:pPr>
            <a:r>
              <a:rPr lang="ar-SA" altLang="en-US" sz="930" b="1" dirty="0">
                <a:solidFill>
                  <a:srgbClr val="04352B"/>
                </a:solidFill>
                <a:latin typeface="Tajawal" pitchFamily="34" charset="0"/>
                <a:ea typeface="Tajawal" pitchFamily="34" charset="-122"/>
                <a:cs typeface="Tajawal" pitchFamily="34" charset="-120"/>
              </a:rPr>
              <a:t>تعزيز الحوكمة والالتزام وإدارة المخاطر</a:t>
            </a:r>
            <a:endParaRPr lang="ar-SA" sz="930" dirty="0"/>
          </a:p>
        </p:txBody>
      </p:sp>
      <p:sp>
        <p:nvSpPr>
          <p:cNvPr id="59" name="Shape 55"/>
          <p:cNvSpPr/>
          <p:nvPr/>
        </p:nvSpPr>
        <p:spPr>
          <a:xfrm>
            <a:off x="457200" y="4791456"/>
            <a:ext cx="11277295" cy="1682496"/>
          </a:xfrm>
          <a:prstGeom prst="roundRect">
            <a:avLst>
              <a:gd name="adj" fmla="val 4891"/>
            </a:avLst>
          </a:prstGeom>
          <a:solidFill>
            <a:srgbClr val="095242"/>
          </a:solidFill>
          <a:ln/>
          <a:effectLst>
            <a:outerShdw sx="100000" sy="100000" kx="0" ky="0" algn="bl" rotWithShape="0" blurRad="127000" dist="31750" dir="5400000">
              <a:srgbClr val="062A21">
                <a:alpha val="20000"/>
              </a:srgbClr>
            </a:outerShdw>
          </a:effectLst>
        </p:spPr>
      </p:sp>
      <p:pic>
        <p:nvPicPr>
          <p:cNvPr id="60" name="Image 2" descr="/tmp/claude-0/-home-user-Mobile1/ab9bbf47-b054-5f6e-be59-70476e095ce8/scratchpad/assets/arc_white.png">    </p:cNvPr>
          <p:cNvPicPr>
            <a:picLocks noChangeAspect="1"/>
          </p:cNvPicPr>
          <p:nvPr/>
        </p:nvPicPr>
        <p:blipFill>
          <a:blip r:embed="rId3">
            <a:alphaModFix amt="24000"/>
          </a:blip>
          <a:stretch>
            <a:fillRect/>
          </a:stretch>
        </p:blipFill>
        <p:spPr>
          <a:xfrm>
            <a:off x="548640" y="4471416"/>
            <a:ext cx="1920240" cy="1920240"/>
          </a:xfrm>
          <a:prstGeom prst="rect">
            <a:avLst/>
          </a:prstGeom>
        </p:spPr>
      </p:pic>
      <p:sp>
        <p:nvSpPr>
          <p:cNvPr id="61" name="Text 56"/>
          <p:cNvSpPr/>
          <p:nvPr/>
        </p:nvSpPr>
        <p:spPr>
          <a:xfrm>
            <a:off x="786384" y="4910328"/>
            <a:ext cx="10591495" cy="329184"/>
          </a:xfrm>
          <a:prstGeom prst="rect">
            <a:avLst/>
          </a:prstGeom>
          <a:noFill/>
          <a:ln/>
        </p:spPr>
        <p:txBody>
          <a:bodyPr wrap="square" lIns="0" tIns="0" rIns="0" bIns="0" rtlCol="0" anchor="t"/>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مواءمة برامج الخطة مع أهداف الوزارة</a:t>
            </a:r>
            <a:endParaRPr lang="ar-SA" sz="1250" dirty="0"/>
          </a:p>
        </p:txBody>
      </p:sp>
      <p:sp>
        <p:nvSpPr>
          <p:cNvPr id="62" name="Text 57"/>
          <p:cNvSpPr/>
          <p:nvPr/>
        </p:nvSpPr>
        <p:spPr>
          <a:xfrm>
            <a:off x="5029200" y="5266944"/>
            <a:ext cx="6376111" cy="868680"/>
          </a:xfrm>
          <a:prstGeom prst="rect">
            <a:avLst/>
          </a:prstGeom>
          <a:noFill/>
          <a:ln/>
        </p:spPr>
        <p:txBody>
          <a:bodyPr wrap="square" lIns="0" tIns="0" rIns="0" bIns="0" rtlCol="0" anchor="t"/>
          <a:lstStyle/>
          <a:p>
            <a:pPr rtl="1" algn="r" indent="0" marL="0">
              <a:lnSpc>
                <a:spcPct val="120000"/>
              </a:lnSpc>
              <a:buNone/>
            </a:pPr>
            <a:r>
              <a:rPr lang="ar-SA" altLang="en-US" sz="920" dirty="0">
                <a:solidFill>
                  <a:srgbClr val="D2E4DD"/>
                </a:solidFill>
                <a:latin typeface="Tajawal" pitchFamily="34" charset="0"/>
                <a:ea typeface="Tajawal" pitchFamily="34" charset="-122"/>
                <a:cs typeface="Tajawal" pitchFamily="34" charset="-120"/>
              </a:rPr>
              <a:t>تُربط كلّ برامج الخطة التشغيلية بهدف استراتيجي واحد على الأقل من الأهداف العشرة، ولكلّ برنامج رقم مؤشر اعتماد مدرسي يرتبط به ضمانًا للمواءمة الرأسية بين المستوى الميداني والمستوى الاستراتيجي.</a:t>
            </a:r>
            <a:endParaRPr lang="ar-SA" sz="920" dirty="0"/>
          </a:p>
        </p:txBody>
      </p:sp>
      <p:sp>
        <p:nvSpPr>
          <p:cNvPr id="63" name="Shape 58"/>
          <p:cNvSpPr/>
          <p:nvPr/>
        </p:nvSpPr>
        <p:spPr>
          <a:xfrm>
            <a:off x="3566160" y="5266944"/>
            <a:ext cx="1243584" cy="621792"/>
          </a:xfrm>
          <a:prstGeom prst="roundRect">
            <a:avLst>
              <a:gd name="adj" fmla="val 11765"/>
            </a:avLst>
          </a:prstGeom>
          <a:solidFill>
            <a:srgbClr val="FFFFFF">
              <a:alpha val="12000"/>
            </a:srgbClr>
          </a:solidFill>
          <a:ln w="9525">
            <a:solidFill>
              <a:srgbClr val="FFFFFF">
                <a:alpha val="40000"/>
              </a:srgbClr>
            </a:solidFill>
            <a:prstDash val="solid"/>
          </a:ln>
        </p:spPr>
      </p:sp>
      <p:sp>
        <p:nvSpPr>
          <p:cNvPr id="64" name="Text 59"/>
          <p:cNvSpPr/>
          <p:nvPr/>
        </p:nvSpPr>
        <p:spPr>
          <a:xfrm>
            <a:off x="3566160" y="5312664"/>
            <a:ext cx="1243584" cy="274320"/>
          </a:xfrm>
          <a:prstGeom prst="rect">
            <a:avLst/>
          </a:prstGeom>
          <a:noFill/>
          <a:ln/>
        </p:spPr>
        <p:txBody>
          <a:bodyPr wrap="square" lIns="0" tIns="0" rIns="0" bIns="0" rtlCol="0" anchor="t"/>
          <a:lstStyle/>
          <a:p>
            <a:pPr rtl="1" algn="ctr" indent="0" marL="0">
              <a:buNone/>
            </a:pPr>
            <a:r>
              <a:rPr lang="ar-SA" altLang="en-US" sz="1300" dirty="0">
                <a:solidFill>
                  <a:srgbClr val="FFFFFF"/>
                </a:solidFill>
                <a:latin typeface="Tajawal ExtraBold" pitchFamily="34" charset="0"/>
                <a:ea typeface="Tajawal ExtraBold" pitchFamily="34" charset="-122"/>
                <a:cs typeface="Tajawal ExtraBold" pitchFamily="34" charset="-120"/>
              </a:rPr>
              <a:t>١٠</a:t>
            </a:r>
            <a:endParaRPr lang="ar-SA" sz="1300" dirty="0"/>
          </a:p>
        </p:txBody>
      </p:sp>
      <p:sp>
        <p:nvSpPr>
          <p:cNvPr id="65" name="Text 60"/>
          <p:cNvSpPr/>
          <p:nvPr/>
        </p:nvSpPr>
        <p:spPr>
          <a:xfrm>
            <a:off x="3566160" y="5605272"/>
            <a:ext cx="1243584" cy="237744"/>
          </a:xfrm>
          <a:prstGeom prst="rect">
            <a:avLst/>
          </a:prstGeom>
          <a:noFill/>
          <a:ln/>
        </p:spPr>
        <p:txBody>
          <a:bodyPr wrap="square" lIns="0" tIns="0" rIns="0" bIns="0" rtlCol="0" anchor="t"/>
          <a:lstStyle/>
          <a:p>
            <a:pPr rtl="1" algn="ctr" indent="0" marL="0">
              <a:buNone/>
            </a:pPr>
            <a:r>
              <a:rPr lang="ar-SA" altLang="en-US" sz="800" dirty="0">
                <a:solidFill>
                  <a:srgbClr val="CFE2DB"/>
                </a:solidFill>
                <a:latin typeface="Tajawal" pitchFamily="34" charset="0"/>
                <a:ea typeface="Tajawal" pitchFamily="34" charset="-122"/>
                <a:cs typeface="Tajawal" pitchFamily="34" charset="-120"/>
              </a:rPr>
              <a:t>أهداف استراتيجية</a:t>
            </a:r>
            <a:endParaRPr lang="ar-SA" sz="800" dirty="0"/>
          </a:p>
        </p:txBody>
      </p:sp>
      <p:sp>
        <p:nvSpPr>
          <p:cNvPr id="66" name="Shape 61"/>
          <p:cNvSpPr/>
          <p:nvPr/>
        </p:nvSpPr>
        <p:spPr>
          <a:xfrm>
            <a:off x="2176272" y="5266944"/>
            <a:ext cx="1243584" cy="621792"/>
          </a:xfrm>
          <a:prstGeom prst="roundRect">
            <a:avLst>
              <a:gd name="adj" fmla="val 11765"/>
            </a:avLst>
          </a:prstGeom>
          <a:solidFill>
            <a:srgbClr val="FFFFFF">
              <a:alpha val="12000"/>
            </a:srgbClr>
          </a:solidFill>
          <a:ln w="9525">
            <a:solidFill>
              <a:srgbClr val="FFFFFF">
                <a:alpha val="40000"/>
              </a:srgbClr>
            </a:solidFill>
            <a:prstDash val="solid"/>
          </a:ln>
        </p:spPr>
      </p:sp>
      <p:sp>
        <p:nvSpPr>
          <p:cNvPr id="67" name="Text 62"/>
          <p:cNvSpPr/>
          <p:nvPr/>
        </p:nvSpPr>
        <p:spPr>
          <a:xfrm>
            <a:off x="2176272" y="5312664"/>
            <a:ext cx="1243584" cy="274320"/>
          </a:xfrm>
          <a:prstGeom prst="rect">
            <a:avLst/>
          </a:prstGeom>
          <a:noFill/>
          <a:ln/>
        </p:spPr>
        <p:txBody>
          <a:bodyPr wrap="square" lIns="0" tIns="0" rIns="0" bIns="0" rtlCol="0" anchor="t"/>
          <a:lstStyle/>
          <a:p>
            <a:pPr rtl="1" algn="ctr" indent="0" marL="0">
              <a:buNone/>
            </a:pPr>
            <a:r>
              <a:rPr lang="ar-SA" altLang="en-US" sz="1300" dirty="0">
                <a:solidFill>
                  <a:srgbClr val="FFFFFF"/>
                </a:solidFill>
                <a:latin typeface="Tajawal ExtraBold" pitchFamily="34" charset="0"/>
                <a:ea typeface="Tajawal ExtraBold" pitchFamily="34" charset="-122"/>
                <a:cs typeface="Tajawal ExtraBold" pitchFamily="34" charset="-120"/>
              </a:rPr>
              <a:t>١١٢</a:t>
            </a:r>
            <a:endParaRPr lang="ar-SA" sz="1300" dirty="0"/>
          </a:p>
        </p:txBody>
      </p:sp>
      <p:sp>
        <p:nvSpPr>
          <p:cNvPr id="68" name="Text 63"/>
          <p:cNvSpPr/>
          <p:nvPr/>
        </p:nvSpPr>
        <p:spPr>
          <a:xfrm>
            <a:off x="2176272" y="5605272"/>
            <a:ext cx="1243584" cy="237744"/>
          </a:xfrm>
          <a:prstGeom prst="rect">
            <a:avLst/>
          </a:prstGeom>
          <a:noFill/>
          <a:ln/>
        </p:spPr>
        <p:txBody>
          <a:bodyPr wrap="square" lIns="0" tIns="0" rIns="0" bIns="0" rtlCol="0" anchor="t"/>
          <a:lstStyle/>
          <a:p>
            <a:pPr rtl="1" algn="ctr" indent="0" marL="0">
              <a:buNone/>
            </a:pPr>
            <a:r>
              <a:rPr lang="ar-SA" altLang="en-US" sz="800" dirty="0">
                <a:solidFill>
                  <a:srgbClr val="CFE2DB"/>
                </a:solidFill>
                <a:latin typeface="Tajawal" pitchFamily="34" charset="0"/>
                <a:ea typeface="Tajawal" pitchFamily="34" charset="-122"/>
                <a:cs typeface="Tajawal" pitchFamily="34" charset="-120"/>
              </a:rPr>
              <a:t>برنامجًا تشغيليًا</a:t>
            </a:r>
            <a:endParaRPr lang="ar-SA" sz="800" dirty="0"/>
          </a:p>
        </p:txBody>
      </p:sp>
      <p:sp>
        <p:nvSpPr>
          <p:cNvPr id="69" name="Shape 64"/>
          <p:cNvSpPr/>
          <p:nvPr/>
        </p:nvSpPr>
        <p:spPr>
          <a:xfrm>
            <a:off x="786384" y="5266944"/>
            <a:ext cx="1243584" cy="621792"/>
          </a:xfrm>
          <a:prstGeom prst="roundRect">
            <a:avLst>
              <a:gd name="adj" fmla="val 11765"/>
            </a:avLst>
          </a:prstGeom>
          <a:solidFill>
            <a:srgbClr val="FFFFFF">
              <a:alpha val="12000"/>
            </a:srgbClr>
          </a:solidFill>
          <a:ln w="9525">
            <a:solidFill>
              <a:srgbClr val="FFFFFF">
                <a:alpha val="40000"/>
              </a:srgbClr>
            </a:solidFill>
            <a:prstDash val="solid"/>
          </a:ln>
        </p:spPr>
      </p:sp>
      <p:sp>
        <p:nvSpPr>
          <p:cNvPr id="70" name="Text 65"/>
          <p:cNvSpPr/>
          <p:nvPr/>
        </p:nvSpPr>
        <p:spPr>
          <a:xfrm>
            <a:off x="786384" y="5312664"/>
            <a:ext cx="1243584" cy="274320"/>
          </a:xfrm>
          <a:prstGeom prst="rect">
            <a:avLst/>
          </a:prstGeom>
          <a:noFill/>
          <a:ln/>
        </p:spPr>
        <p:txBody>
          <a:bodyPr wrap="square" lIns="0" tIns="0" rIns="0" bIns="0" rtlCol="0" anchor="t"/>
          <a:lstStyle/>
          <a:p>
            <a:pPr rtl="1" algn="ctr" indent="0" marL="0">
              <a:buNone/>
            </a:pPr>
            <a:r>
              <a:rPr lang="ar-SA" altLang="en-US" sz="1300" dirty="0">
                <a:solidFill>
                  <a:srgbClr val="FFFFFF"/>
                </a:solidFill>
                <a:latin typeface="Tajawal ExtraBold" pitchFamily="34" charset="0"/>
                <a:ea typeface="Tajawal ExtraBold" pitchFamily="34" charset="-122"/>
                <a:cs typeface="Tajawal ExtraBold" pitchFamily="34" charset="-120"/>
              </a:rPr>
              <a:t>٦٢</a:t>
            </a:r>
            <a:endParaRPr lang="ar-SA" sz="1300" dirty="0"/>
          </a:p>
        </p:txBody>
      </p:sp>
      <p:sp>
        <p:nvSpPr>
          <p:cNvPr id="71" name="Text 66"/>
          <p:cNvSpPr/>
          <p:nvPr/>
        </p:nvSpPr>
        <p:spPr>
          <a:xfrm>
            <a:off x="786384" y="5605272"/>
            <a:ext cx="1243584" cy="237744"/>
          </a:xfrm>
          <a:prstGeom prst="rect">
            <a:avLst/>
          </a:prstGeom>
          <a:noFill/>
          <a:ln/>
        </p:spPr>
        <p:txBody>
          <a:bodyPr wrap="square" lIns="0" tIns="0" rIns="0" bIns="0" rtlCol="0" anchor="t"/>
          <a:lstStyle/>
          <a:p>
            <a:pPr rtl="1" algn="ctr" indent="0" marL="0">
              <a:buNone/>
            </a:pPr>
            <a:r>
              <a:rPr lang="ar-SA" altLang="en-US" sz="800" dirty="0">
                <a:solidFill>
                  <a:srgbClr val="CFE2DB"/>
                </a:solidFill>
                <a:latin typeface="Tajawal" pitchFamily="34" charset="0"/>
                <a:ea typeface="Tajawal" pitchFamily="34" charset="-122"/>
                <a:cs typeface="Tajawal" pitchFamily="34" charset="-120"/>
              </a:rPr>
              <a:t>مؤشر اعتماد</a:t>
            </a:r>
            <a:endParaRPr lang="ar-SA"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الثاني · الأهداف والبرامج</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التوزيع الكمي للأهداف</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التوزيع الكمي للأهداف</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١٤</a:t>
            </a:r>
            <a:endParaRPr lang="ar-SA" sz="900" dirty="0"/>
          </a:p>
        </p:txBody>
      </p:sp>
      <p:sp>
        <p:nvSpPr>
          <p:cNvPr id="8" name="Shape 4"/>
          <p:cNvSpPr/>
          <p:nvPr/>
        </p:nvSpPr>
        <p:spPr>
          <a:xfrm>
            <a:off x="9107195" y="1042416"/>
            <a:ext cx="2627300" cy="859536"/>
          </a:xfrm>
          <a:prstGeom prst="roundRect">
            <a:avLst>
              <a:gd name="adj" fmla="val 9574"/>
            </a:avLst>
          </a:prstGeom>
          <a:solidFill>
            <a:srgbClr val="095242"/>
          </a:solidFill>
          <a:ln/>
          <a:effectLst>
            <a:outerShdw sx="100000" sy="100000" kx="0" ky="0" algn="bl" rotWithShape="0" blurRad="127000" dist="31750" dir="5400000">
              <a:srgbClr val="062A21">
                <a:alpha val="18000"/>
              </a:srgbClr>
            </a:outerShdw>
          </a:effectLst>
        </p:spPr>
      </p:sp>
      <p:sp>
        <p:nvSpPr>
          <p:cNvPr id="9" name="Text 5"/>
          <p:cNvSpPr/>
          <p:nvPr/>
        </p:nvSpPr>
        <p:spPr>
          <a:xfrm>
            <a:off x="9290075" y="1042416"/>
            <a:ext cx="1050920" cy="859536"/>
          </a:xfrm>
          <a:prstGeom prst="rect">
            <a:avLst/>
          </a:prstGeom>
          <a:noFill/>
          <a:ln/>
        </p:spPr>
        <p:txBody>
          <a:bodyPr wrap="square" lIns="0" tIns="0" rIns="0" bIns="0" rtlCol="0" anchor="ctr"/>
          <a:lstStyle/>
          <a:p>
            <a:pPr rtl="1" algn="ctr" indent="0" marL="0">
              <a:buNone/>
            </a:pPr>
            <a:r>
              <a:rPr lang="ar-SA" altLang="en-US" sz="2500" dirty="0">
                <a:solidFill>
                  <a:srgbClr val="FFFFFF"/>
                </a:solidFill>
                <a:latin typeface="Tajawal ExtraBold" pitchFamily="34" charset="0"/>
                <a:ea typeface="Tajawal ExtraBold" pitchFamily="34" charset="-122"/>
                <a:cs typeface="Tajawal ExtraBold" pitchFamily="34" charset="-120"/>
              </a:rPr>
              <a:t>١٠</a:t>
            </a:r>
            <a:endParaRPr lang="ar-SA" sz="2500" dirty="0"/>
          </a:p>
        </p:txBody>
      </p:sp>
      <p:sp>
        <p:nvSpPr>
          <p:cNvPr id="10" name="Text 6"/>
          <p:cNvSpPr/>
          <p:nvPr/>
        </p:nvSpPr>
        <p:spPr>
          <a:xfrm>
            <a:off x="10158115" y="1042416"/>
            <a:ext cx="1430076" cy="859536"/>
          </a:xfrm>
          <a:prstGeom prst="rect">
            <a:avLst/>
          </a:prstGeom>
          <a:noFill/>
          <a:ln/>
        </p:spPr>
        <p:txBody>
          <a:bodyPr wrap="square" lIns="0" tIns="0" rIns="0" bIns="0" rtlCol="0" anchor="ctr"/>
          <a:lstStyle/>
          <a:p>
            <a:pPr rtl="1" algn="r" indent="0" marL="0">
              <a:buNone/>
            </a:pPr>
            <a:r>
              <a:rPr lang="ar-SA" altLang="en-US" sz="1100" b="1" dirty="0">
                <a:solidFill>
                  <a:srgbClr val="CFE2DB"/>
                </a:solidFill>
                <a:latin typeface="Tajawal" pitchFamily="34" charset="0"/>
                <a:ea typeface="Tajawal" pitchFamily="34" charset="-122"/>
                <a:cs typeface="Tajawal" pitchFamily="34" charset="-120"/>
              </a:rPr>
              <a:t>إجمالي الأهداف</a:t>
            </a:r>
            <a:endParaRPr lang="ar-SA" sz="1100" dirty="0"/>
          </a:p>
        </p:txBody>
      </p:sp>
      <p:sp>
        <p:nvSpPr>
          <p:cNvPr id="11" name="Shape 7"/>
          <p:cNvSpPr/>
          <p:nvPr/>
        </p:nvSpPr>
        <p:spPr>
          <a:xfrm>
            <a:off x="6223864" y="1042416"/>
            <a:ext cx="2627300" cy="859536"/>
          </a:xfrm>
          <a:prstGeom prst="roundRect">
            <a:avLst>
              <a:gd name="adj" fmla="val 9574"/>
            </a:avLst>
          </a:prstGeom>
          <a:solidFill>
            <a:srgbClr val="FFFFFF"/>
          </a:solidFill>
          <a:ln w="12700">
            <a:solidFill>
              <a:srgbClr val="095242"/>
            </a:solidFill>
            <a:prstDash val="solid"/>
          </a:ln>
        </p:spPr>
      </p:sp>
      <p:sp>
        <p:nvSpPr>
          <p:cNvPr id="12" name="Text 8"/>
          <p:cNvSpPr/>
          <p:nvPr/>
        </p:nvSpPr>
        <p:spPr>
          <a:xfrm>
            <a:off x="6406744" y="1042416"/>
            <a:ext cx="1050920" cy="859536"/>
          </a:xfrm>
          <a:prstGeom prst="rect">
            <a:avLst/>
          </a:prstGeom>
          <a:noFill/>
          <a:ln/>
        </p:spPr>
        <p:txBody>
          <a:bodyPr wrap="square" lIns="0" tIns="0" rIns="0" bIns="0" rtlCol="0" anchor="ctr"/>
          <a:lstStyle/>
          <a:p>
            <a:pPr rtl="1" algn="ctr" indent="0" marL="0">
              <a:buNone/>
            </a:pPr>
            <a:r>
              <a:rPr lang="ar-SA" altLang="en-US" sz="2500" dirty="0">
                <a:solidFill>
                  <a:srgbClr val="095242"/>
                </a:solidFill>
                <a:latin typeface="Tajawal ExtraBold" pitchFamily="34" charset="0"/>
                <a:ea typeface="Tajawal ExtraBold" pitchFamily="34" charset="-122"/>
                <a:cs typeface="Tajawal ExtraBold" pitchFamily="34" charset="-120"/>
              </a:rPr>
              <a:t>٤</a:t>
            </a:r>
            <a:endParaRPr lang="ar-SA" sz="2500" dirty="0"/>
          </a:p>
        </p:txBody>
      </p:sp>
      <p:sp>
        <p:nvSpPr>
          <p:cNvPr id="13" name="Text 9"/>
          <p:cNvSpPr/>
          <p:nvPr/>
        </p:nvSpPr>
        <p:spPr>
          <a:xfrm>
            <a:off x="7274784" y="1042416"/>
            <a:ext cx="1430076" cy="859536"/>
          </a:xfrm>
          <a:prstGeom prst="rect">
            <a:avLst/>
          </a:prstGeom>
          <a:noFill/>
          <a:ln/>
        </p:spPr>
        <p:txBody>
          <a:bodyPr wrap="square" lIns="0" tIns="0" rIns="0" bIns="0" rtlCol="0" anchor="ctr"/>
          <a:lstStyle/>
          <a:p>
            <a:pPr rtl="1" algn="r" indent="0" marL="0">
              <a:buNone/>
            </a:pPr>
            <a:r>
              <a:rPr lang="ar-SA" altLang="en-US" sz="1100" b="1" dirty="0">
                <a:solidFill>
                  <a:srgbClr val="34473F"/>
                </a:solidFill>
                <a:latin typeface="Tajawal" pitchFamily="34" charset="0"/>
                <a:ea typeface="Tajawal" pitchFamily="34" charset="-122"/>
                <a:cs typeface="Tajawal" pitchFamily="34" charset="-120"/>
              </a:rPr>
              <a:t>إجمالي المجالات</a:t>
            </a:r>
            <a:endParaRPr lang="ar-SA" sz="1100" dirty="0"/>
          </a:p>
        </p:txBody>
      </p:sp>
      <p:sp>
        <p:nvSpPr>
          <p:cNvPr id="14" name="Shape 10"/>
          <p:cNvSpPr/>
          <p:nvPr/>
        </p:nvSpPr>
        <p:spPr>
          <a:xfrm>
            <a:off x="3340532" y="1042416"/>
            <a:ext cx="2627300" cy="859536"/>
          </a:xfrm>
          <a:prstGeom prst="roundRect">
            <a:avLst>
              <a:gd name="adj" fmla="val 9574"/>
            </a:avLst>
          </a:prstGeom>
          <a:solidFill>
            <a:srgbClr val="095242"/>
          </a:solidFill>
          <a:ln/>
          <a:effectLst>
            <a:outerShdw sx="100000" sy="100000" kx="0" ky="0" algn="bl" rotWithShape="0" blurRad="127000" dist="31750" dir="5400000">
              <a:srgbClr val="062A21">
                <a:alpha val="18000"/>
              </a:srgbClr>
            </a:outerShdw>
          </a:effectLst>
        </p:spPr>
      </p:sp>
      <p:sp>
        <p:nvSpPr>
          <p:cNvPr id="15" name="Text 11"/>
          <p:cNvSpPr/>
          <p:nvPr/>
        </p:nvSpPr>
        <p:spPr>
          <a:xfrm>
            <a:off x="3523412" y="1042416"/>
            <a:ext cx="1050920" cy="859536"/>
          </a:xfrm>
          <a:prstGeom prst="rect">
            <a:avLst/>
          </a:prstGeom>
          <a:noFill/>
          <a:ln/>
        </p:spPr>
        <p:txBody>
          <a:bodyPr wrap="square" lIns="0" tIns="0" rIns="0" bIns="0" rtlCol="0" anchor="ctr"/>
          <a:lstStyle/>
          <a:p>
            <a:pPr rtl="1" algn="ctr" indent="0" marL="0">
              <a:buNone/>
            </a:pPr>
            <a:r>
              <a:rPr lang="ar-SA" altLang="en-US" sz="2500" dirty="0">
                <a:solidFill>
                  <a:srgbClr val="FFFFFF"/>
                </a:solidFill>
                <a:latin typeface="Tajawal ExtraBold" pitchFamily="34" charset="0"/>
                <a:ea typeface="Tajawal ExtraBold" pitchFamily="34" charset="-122"/>
                <a:cs typeface="Tajawal ExtraBold" pitchFamily="34" charset="-120"/>
              </a:rPr>
              <a:t>٦٢</a:t>
            </a:r>
            <a:endParaRPr lang="ar-SA" sz="2500" dirty="0"/>
          </a:p>
        </p:txBody>
      </p:sp>
      <p:sp>
        <p:nvSpPr>
          <p:cNvPr id="16" name="Text 12"/>
          <p:cNvSpPr/>
          <p:nvPr/>
        </p:nvSpPr>
        <p:spPr>
          <a:xfrm>
            <a:off x="4391452" y="1042416"/>
            <a:ext cx="1430076" cy="859536"/>
          </a:xfrm>
          <a:prstGeom prst="rect">
            <a:avLst/>
          </a:prstGeom>
          <a:noFill/>
          <a:ln/>
        </p:spPr>
        <p:txBody>
          <a:bodyPr wrap="square" lIns="0" tIns="0" rIns="0" bIns="0" rtlCol="0" anchor="ctr"/>
          <a:lstStyle/>
          <a:p>
            <a:pPr rtl="1" algn="r" indent="0" marL="0">
              <a:buNone/>
            </a:pPr>
            <a:r>
              <a:rPr lang="ar-SA" altLang="en-US" sz="1100" b="1" dirty="0">
                <a:solidFill>
                  <a:srgbClr val="CFE2DB"/>
                </a:solidFill>
                <a:latin typeface="Tajawal" pitchFamily="34" charset="0"/>
                <a:ea typeface="Tajawal" pitchFamily="34" charset="-122"/>
                <a:cs typeface="Tajawal" pitchFamily="34" charset="-120"/>
              </a:rPr>
              <a:t>إجمالي المؤشرات</a:t>
            </a:r>
            <a:endParaRPr lang="ar-SA" sz="1100" dirty="0"/>
          </a:p>
        </p:txBody>
      </p:sp>
      <p:sp>
        <p:nvSpPr>
          <p:cNvPr id="17" name="Shape 13"/>
          <p:cNvSpPr/>
          <p:nvPr/>
        </p:nvSpPr>
        <p:spPr>
          <a:xfrm>
            <a:off x="457200" y="1042416"/>
            <a:ext cx="2627300" cy="859536"/>
          </a:xfrm>
          <a:prstGeom prst="roundRect">
            <a:avLst>
              <a:gd name="adj" fmla="val 9574"/>
            </a:avLst>
          </a:prstGeom>
          <a:solidFill>
            <a:srgbClr val="FFFFFF"/>
          </a:solidFill>
          <a:ln w="12700">
            <a:solidFill>
              <a:srgbClr val="095242"/>
            </a:solidFill>
            <a:prstDash val="solid"/>
          </a:ln>
        </p:spPr>
      </p:sp>
      <p:sp>
        <p:nvSpPr>
          <p:cNvPr id="18" name="Text 14"/>
          <p:cNvSpPr/>
          <p:nvPr/>
        </p:nvSpPr>
        <p:spPr>
          <a:xfrm>
            <a:off x="640080" y="1042416"/>
            <a:ext cx="1050920" cy="859536"/>
          </a:xfrm>
          <a:prstGeom prst="rect">
            <a:avLst/>
          </a:prstGeom>
          <a:noFill/>
          <a:ln/>
        </p:spPr>
        <p:txBody>
          <a:bodyPr wrap="square" lIns="0" tIns="0" rIns="0" bIns="0" rtlCol="0" anchor="ctr"/>
          <a:lstStyle/>
          <a:p>
            <a:pPr rtl="1" algn="ctr" indent="0" marL="0">
              <a:buNone/>
            </a:pPr>
            <a:r>
              <a:rPr lang="ar-SA" altLang="en-US" sz="2500" dirty="0">
                <a:solidFill>
                  <a:srgbClr val="095242"/>
                </a:solidFill>
                <a:latin typeface="Tajawal ExtraBold" pitchFamily="34" charset="0"/>
                <a:ea typeface="Tajawal ExtraBold" pitchFamily="34" charset="-122"/>
                <a:cs typeface="Tajawal ExtraBold" pitchFamily="34" charset="-120"/>
              </a:rPr>
              <a:t>١١٢</a:t>
            </a:r>
            <a:endParaRPr lang="ar-SA" sz="2500" dirty="0"/>
          </a:p>
        </p:txBody>
      </p:sp>
      <p:sp>
        <p:nvSpPr>
          <p:cNvPr id="19" name="Text 15"/>
          <p:cNvSpPr/>
          <p:nvPr/>
        </p:nvSpPr>
        <p:spPr>
          <a:xfrm>
            <a:off x="1508120" y="1042416"/>
            <a:ext cx="1430076" cy="859536"/>
          </a:xfrm>
          <a:prstGeom prst="rect">
            <a:avLst/>
          </a:prstGeom>
          <a:noFill/>
          <a:ln/>
        </p:spPr>
        <p:txBody>
          <a:bodyPr wrap="square" lIns="0" tIns="0" rIns="0" bIns="0" rtlCol="0" anchor="ctr"/>
          <a:lstStyle/>
          <a:p>
            <a:pPr rtl="1" algn="r" indent="0" marL="0">
              <a:buNone/>
            </a:pPr>
            <a:r>
              <a:rPr lang="ar-SA" altLang="en-US" sz="1100" b="1" dirty="0">
                <a:solidFill>
                  <a:srgbClr val="34473F"/>
                </a:solidFill>
                <a:latin typeface="Tajawal" pitchFamily="34" charset="0"/>
                <a:ea typeface="Tajawal" pitchFamily="34" charset="-122"/>
                <a:cs typeface="Tajawal" pitchFamily="34" charset="-120"/>
              </a:rPr>
              <a:t>إجمالي البرامج</a:t>
            </a:r>
            <a:endParaRPr lang="ar-SA"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785055" y="2103120"/>
          <a:ext cx="6949440" cy="914400"/>
        </p:xfrm>
        <a:graphic>
          <a:graphicData uri="http://schemas.openxmlformats.org/drawingml/2006/table">
            <a:tbl>
              <a:tblPr/>
              <a:tblGrid>
                <a:gridCol w="905256"/>
                <a:gridCol w="868680"/>
                <a:gridCol w="868680"/>
                <a:gridCol w="1325880"/>
                <a:gridCol w="2651760"/>
                <a:gridCol w="329184"/>
              </a:tblGrid>
              <a:tr h="310896">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النسبة المئوية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البرامج</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المؤشرات</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المجال</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الهدف الاستراتيجي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م</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٩٫٦٪</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١١</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٨</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التعليم والتعلّم</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ضمان وصول التعليم للجميع</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١</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١٠٫٥٪</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١٢</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١٠</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البيئة المدرسية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تطوير بيئة مدرسية آمنة وابتكارية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٢</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١٠٫٥٪</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١٢</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٦</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القيم والمواطنة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تعزيز القيم والهوية الوطنية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٣</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٨٫٨٪</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١٠</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٥</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الخدمات المساندة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تحسين تجربة المستفيدين</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٤</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١٠٫٥٪</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١٢</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٦</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التعليم والتعلّم</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الاستثمار في الطلاب والمدارس الأولى بالرعاية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٥</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٩٫٦٪</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١١</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٥</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الشراكة المجتمعية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تحسين أداء المدارس وتعزيز شراكتها مع المجتمع</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٦</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٧٫٩٪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٣</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الموارد والاستدامة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رفع كفاءة الإنفاق وتعزيز الاستدامة المالية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٧</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٨٫٨٪</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١٠</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٥</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الموارد البشرية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تطوير كفاءات الموارد البشرية وتعزيز الثقافة المؤسسية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٨</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٨٫٨٪</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١٠</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٦</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التحوّل الرقمي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الارتقاء بمستوى التجربة الرقمية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b="1" dirty="0">
                          <a:solidFill>
                            <a:srgbClr val="095242"/>
                          </a:solidFill>
                          <a:latin typeface="Tajawal" pitchFamily="34" charset="0"/>
                          <a:ea typeface="Tajawal" pitchFamily="34" charset="-122"/>
                          <a:cs typeface="Tajawal" pitchFamily="34" charset="-120"/>
                        </a:rPr>
                        <a:t>١٣٫٢٪</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١٥</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٨</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الحوكمة والتقويم</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20" dirty="0">
                          <a:solidFill>
                            <a:srgbClr val="04352B"/>
                          </a:solidFill>
                          <a:latin typeface="Tajawal" pitchFamily="34" charset="0"/>
                          <a:ea typeface="Tajawal" pitchFamily="34" charset="-122"/>
                          <a:cs typeface="Tajawal" pitchFamily="34" charset="-120"/>
                        </a:rPr>
                        <a:t>تعزيز الحوكمة والالتزام وإدارة المخاطر</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b="1" dirty="0">
                          <a:solidFill>
                            <a:srgbClr val="34473F"/>
                          </a:solidFill>
                          <a:latin typeface="Tajawal" pitchFamily="34" charset="0"/>
                          <a:ea typeface="Tajawal" pitchFamily="34" charset="-122"/>
                          <a:cs typeface="Tajawal" pitchFamily="34" charset="-120"/>
                        </a:rPr>
                        <a:t>١٠</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10896">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١٠٠٪</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١١٢</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٦٢</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الإجمالي الكلي</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hMerge="1">
                  <a:tcPr/>
                </a:tc>
                <a:tc hMerge="1">
                  <a:tcPr/>
                </a:tc>
              </a:tr>
            </a:tbl>
          </a:graphicData>
        </a:graphic>
      </p:graphicFrame>
      <p:sp>
        <p:nvSpPr>
          <p:cNvPr id="21" name="Shape 16"/>
          <p:cNvSpPr/>
          <p:nvPr/>
        </p:nvSpPr>
        <p:spPr>
          <a:xfrm>
            <a:off x="4398264" y="2157984"/>
            <a:ext cx="82296" cy="82296"/>
          </a:xfrm>
          <a:prstGeom prst="rect">
            <a:avLst/>
          </a:prstGeom>
          <a:solidFill>
            <a:srgbClr val="0089A1"/>
          </a:solidFill>
          <a:ln/>
        </p:spPr>
      </p:sp>
      <p:sp>
        <p:nvSpPr>
          <p:cNvPr id="22" name="Text 17"/>
          <p:cNvSpPr/>
          <p:nvPr/>
        </p:nvSpPr>
        <p:spPr>
          <a:xfrm>
            <a:off x="2286000" y="2066544"/>
            <a:ext cx="201168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التوزيع البصري للبرامج</a:t>
            </a:r>
            <a:endParaRPr lang="ar-SA" sz="1250" dirty="0"/>
          </a:p>
        </p:txBody>
      </p:sp>
      <p:graphicFrame>
        <p:nvGraphicFramePr>
          <p:cNvPr id="23" name="Chart 0" descr=""/>
          <p:cNvGraphicFramePr/>
          <p:nvPr/>
        </p:nvGraphicFramePr>
        <p:xfrm>
          <a:off x="457200" y="2414016"/>
          <a:ext cx="4023360" cy="2286000"/>
        </p:xfrm>
        <a:graphic xmlns:a="http://schemas.openxmlformats.org/drawingml/2006/main">
          <a:graphicData uri="http://schemas.openxmlformats.org/drawingml/2006/chart">
            <c:chart xmlns:c="http://schemas.openxmlformats.org/drawingml/2006/chart" r:id="rId3"/>
          </a:graphicData>
        </a:graphic>
      </p:graphicFrame>
      <p:sp>
        <p:nvSpPr>
          <p:cNvPr id="24" name="Shape 18"/>
          <p:cNvSpPr/>
          <p:nvPr/>
        </p:nvSpPr>
        <p:spPr>
          <a:xfrm>
            <a:off x="457200" y="4901184"/>
            <a:ext cx="4023360" cy="1463040"/>
          </a:xfrm>
          <a:prstGeom prst="roundRect">
            <a:avLst>
              <a:gd name="adj" fmla="val 5625"/>
            </a:avLst>
          </a:prstGeom>
          <a:solidFill>
            <a:srgbClr val="095242"/>
          </a:solidFill>
          <a:ln/>
          <a:effectLst>
            <a:outerShdw sx="100000" sy="100000" kx="0" ky="0" algn="bl" rotWithShape="0" blurRad="127000" dist="31750" dir="5400000">
              <a:srgbClr val="062A21">
                <a:alpha val="18000"/>
              </a:srgbClr>
            </a:outerShdw>
          </a:effectLst>
        </p:spPr>
      </p:sp>
      <p:pic>
        <p:nvPicPr>
          <p:cNvPr id="25" name="Image 2" descr="/tmp/claude-0/-home-user-Mobile1/ab9bbf47-b054-5f6e-be59-70476e095ce8/scratchpad/assets/icons/trending_white.png">    </p:cNvPr>
          <p:cNvPicPr>
            <a:picLocks noChangeAspect="1"/>
          </p:cNvPicPr>
          <p:nvPr/>
        </p:nvPicPr>
        <p:blipFill>
          <a:blip r:embed="rId4"/>
          <a:stretch>
            <a:fillRect/>
          </a:stretch>
        </p:blipFill>
        <p:spPr>
          <a:xfrm>
            <a:off x="3977640" y="5065776"/>
            <a:ext cx="256032" cy="256032"/>
          </a:xfrm>
          <a:prstGeom prst="rect">
            <a:avLst/>
          </a:prstGeom>
        </p:spPr>
      </p:pic>
      <p:sp>
        <p:nvSpPr>
          <p:cNvPr id="26" name="Text 19"/>
          <p:cNvSpPr/>
          <p:nvPr/>
        </p:nvSpPr>
        <p:spPr>
          <a:xfrm>
            <a:off x="694944" y="5020056"/>
            <a:ext cx="3200400" cy="310896"/>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قراءة في التوزيع</a:t>
            </a:r>
            <a:endParaRPr lang="ar-SA" sz="1150" dirty="0"/>
          </a:p>
        </p:txBody>
      </p:sp>
      <p:sp>
        <p:nvSpPr>
          <p:cNvPr id="27" name="Text 20"/>
          <p:cNvSpPr/>
          <p:nvPr/>
        </p:nvSpPr>
        <p:spPr>
          <a:xfrm>
            <a:off x="694944" y="5367528"/>
            <a:ext cx="3520440" cy="914400"/>
          </a:xfrm>
          <a:prstGeom prst="rect">
            <a:avLst/>
          </a:prstGeom>
          <a:noFill/>
          <a:ln/>
        </p:spPr>
        <p:txBody>
          <a:bodyPr wrap="square" lIns="0" tIns="0" rIns="0" bIns="0" rtlCol="0" anchor="t"/>
          <a:lstStyle/>
          <a:p>
            <a:pPr rtl="1" algn="r" indent="0" marL="0">
              <a:lnSpc>
                <a:spcPct val="120000"/>
              </a:lnSpc>
              <a:buNone/>
            </a:pPr>
            <a:r>
              <a:rPr lang="ar-SA" altLang="en-US" sz="900" dirty="0">
                <a:solidFill>
                  <a:srgbClr val="D2E4DD"/>
                </a:solidFill>
                <a:latin typeface="Tajawal" pitchFamily="34" charset="0"/>
                <a:ea typeface="Tajawal" pitchFamily="34" charset="-122"/>
                <a:cs typeface="Tajawal" pitchFamily="34" charset="-120"/>
              </a:rPr>
              <a:t>يتصدّر الهدف العاشر (الحوكمة) بـ ١٥ برنامجًا (١٣٫٢٪)، يليه الثاني والثالث والخامس بـ ١٢ برنامجًا، وأقلّها الهدف السابع بـ ٩ برامج لتركّزه على الحوكمة المالية.</a:t>
            </a:r>
            <a:endParaRPr lang="ar-SA"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١</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١٥</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1</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١</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ضمان وصول التعليم للجميع</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١١</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٨٠٪</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تكافؤ الفرص التعليمية</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دمج ذوي الإعاقة</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تهيئة البيئة لذوي الإعاقة</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مواءمة دورات المياه</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تسهيل التنقل بين المرافق</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تجهيز الفصول والمعامل</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توفير مصادر التعلم</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برامج دعم القراءة</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برامج دعم الرياضيات</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برامج دعم العلوم</a:t>
            </a:r>
            <a:endParaRPr lang="ar-SA" sz="980" dirty="0"/>
          </a:p>
        </p:txBody>
      </p:sp>
      <p:sp>
        <p:nvSpPr>
          <p:cNvPr id="52" name="Shape 46"/>
          <p:cNvSpPr/>
          <p:nvPr/>
        </p:nvSpPr>
        <p:spPr>
          <a:xfrm>
            <a:off x="3322244" y="4480560"/>
            <a:ext cx="2682164" cy="420624"/>
          </a:xfrm>
          <a:prstGeom prst="roundRect">
            <a:avLst>
              <a:gd name="adj" fmla="val 19565"/>
            </a:avLst>
          </a:prstGeom>
          <a:solidFill>
            <a:srgbClr val="F2F8F5"/>
          </a:solidFill>
          <a:ln w="9525">
            <a:solidFill>
              <a:srgbClr val="E3EDE8"/>
            </a:solidFill>
            <a:prstDash val="solid"/>
          </a:ln>
        </p:spPr>
      </p:sp>
      <p:sp>
        <p:nvSpPr>
          <p:cNvPr id="53" name="Shape 47"/>
          <p:cNvSpPr/>
          <p:nvPr/>
        </p:nvSpPr>
        <p:spPr>
          <a:xfrm>
            <a:off x="5730088" y="4649724"/>
            <a:ext cx="82296" cy="82296"/>
          </a:xfrm>
          <a:prstGeom prst="ellipse">
            <a:avLst/>
          </a:prstGeom>
          <a:solidFill>
            <a:srgbClr val="0089A1"/>
          </a:solidFill>
          <a:ln/>
        </p:spPr>
      </p:sp>
      <p:sp>
        <p:nvSpPr>
          <p:cNvPr id="54" name="Text 48"/>
          <p:cNvSpPr/>
          <p:nvPr/>
        </p:nvSpPr>
        <p:spPr>
          <a:xfrm>
            <a:off x="3450260"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خطط الدعم الفردية</a:t>
            </a:r>
            <a:endParaRPr lang="ar-SA" sz="980" dirty="0"/>
          </a:p>
        </p:txBody>
      </p:sp>
      <p:sp>
        <p:nvSpPr>
          <p:cNvPr id="55" name="Shape 49"/>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6" name="Text 50"/>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57" name="Shape 51"/>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58" name="Text 52"/>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‎2-1-1-1‎</a:t>
            </a:r>
            <a:endParaRPr lang="ar-SA" sz="800" dirty="0"/>
          </a:p>
        </p:txBody>
      </p:sp>
      <p:sp>
        <p:nvSpPr>
          <p:cNvPr id="59" name="Shape 53"/>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60" name="Text 54"/>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‎2-1-1-2‎</a:t>
            </a:r>
            <a:endParaRPr lang="ar-SA" sz="800" dirty="0"/>
          </a:p>
        </p:txBody>
      </p:sp>
      <p:sp>
        <p:nvSpPr>
          <p:cNvPr id="61" name="Shape 55"/>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62" name="Text 56"/>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‎3-1-1-1‎</a:t>
            </a:r>
            <a:endParaRPr lang="ar-SA" sz="800" dirty="0"/>
          </a:p>
        </p:txBody>
      </p:sp>
      <p:sp>
        <p:nvSpPr>
          <p:cNvPr id="63" name="Shape 57"/>
          <p:cNvSpPr/>
          <p:nvPr/>
        </p:nvSpPr>
        <p:spPr>
          <a:xfrm>
            <a:off x="8534095" y="5559552"/>
            <a:ext cx="658368" cy="274320"/>
          </a:xfrm>
          <a:prstGeom prst="roundRect">
            <a:avLst>
              <a:gd name="adj" fmla="val 20000"/>
            </a:avLst>
          </a:prstGeom>
          <a:solidFill>
            <a:srgbClr val="FFFFFF"/>
          </a:solidFill>
          <a:ln w="9525">
            <a:solidFill>
              <a:srgbClr val="095242"/>
            </a:solidFill>
            <a:prstDash val="solid"/>
          </a:ln>
        </p:spPr>
      </p:sp>
      <p:sp>
        <p:nvSpPr>
          <p:cNvPr id="64" name="Text 58"/>
          <p:cNvSpPr/>
          <p:nvPr/>
        </p:nvSpPr>
        <p:spPr>
          <a:xfrm>
            <a:off x="8534095"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‎3-1-1-2‎</a:t>
            </a:r>
            <a:endParaRPr lang="ar-SA" sz="800" dirty="0"/>
          </a:p>
        </p:txBody>
      </p:sp>
      <p:sp>
        <p:nvSpPr>
          <p:cNvPr id="65" name="Shape 59"/>
          <p:cNvSpPr/>
          <p:nvPr/>
        </p:nvSpPr>
        <p:spPr>
          <a:xfrm>
            <a:off x="7765999" y="5559552"/>
            <a:ext cx="658368" cy="274320"/>
          </a:xfrm>
          <a:prstGeom prst="roundRect">
            <a:avLst>
              <a:gd name="adj" fmla="val 20000"/>
            </a:avLst>
          </a:prstGeom>
          <a:solidFill>
            <a:srgbClr val="FFFFFF"/>
          </a:solidFill>
          <a:ln w="9525">
            <a:solidFill>
              <a:srgbClr val="095242"/>
            </a:solidFill>
            <a:prstDash val="solid"/>
          </a:ln>
        </p:spPr>
      </p:sp>
      <p:sp>
        <p:nvSpPr>
          <p:cNvPr id="66" name="Text 60"/>
          <p:cNvSpPr/>
          <p:nvPr/>
        </p:nvSpPr>
        <p:spPr>
          <a:xfrm>
            <a:off x="7765999"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‎3-1-1-3‎</a:t>
            </a:r>
            <a:endParaRPr lang="ar-SA" sz="800" dirty="0"/>
          </a:p>
        </p:txBody>
      </p:sp>
      <p:sp>
        <p:nvSpPr>
          <p:cNvPr id="67" name="Shape 61"/>
          <p:cNvSpPr/>
          <p:nvPr/>
        </p:nvSpPr>
        <p:spPr>
          <a:xfrm>
            <a:off x="10838383" y="5907024"/>
            <a:ext cx="658368" cy="274320"/>
          </a:xfrm>
          <a:prstGeom prst="roundRect">
            <a:avLst>
              <a:gd name="adj" fmla="val 20000"/>
            </a:avLst>
          </a:prstGeom>
          <a:solidFill>
            <a:srgbClr val="FFFFFF"/>
          </a:solidFill>
          <a:ln w="9525">
            <a:solidFill>
              <a:srgbClr val="095242"/>
            </a:solidFill>
            <a:prstDash val="solid"/>
          </a:ln>
        </p:spPr>
      </p:sp>
      <p:sp>
        <p:nvSpPr>
          <p:cNvPr id="68" name="Text 62"/>
          <p:cNvSpPr/>
          <p:nvPr/>
        </p:nvSpPr>
        <p:spPr>
          <a:xfrm>
            <a:off x="10838383"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‎4-1-1-2‎</a:t>
            </a:r>
            <a:endParaRPr lang="ar-SA" sz="800" dirty="0"/>
          </a:p>
        </p:txBody>
      </p:sp>
      <p:sp>
        <p:nvSpPr>
          <p:cNvPr id="69" name="Shape 63"/>
          <p:cNvSpPr/>
          <p:nvPr/>
        </p:nvSpPr>
        <p:spPr>
          <a:xfrm>
            <a:off x="10070287" y="5907024"/>
            <a:ext cx="658368" cy="274320"/>
          </a:xfrm>
          <a:prstGeom prst="roundRect">
            <a:avLst>
              <a:gd name="adj" fmla="val 20000"/>
            </a:avLst>
          </a:prstGeom>
          <a:solidFill>
            <a:srgbClr val="FFFFFF"/>
          </a:solidFill>
          <a:ln w="9525">
            <a:solidFill>
              <a:srgbClr val="095242"/>
            </a:solidFill>
            <a:prstDash val="solid"/>
          </a:ln>
        </p:spPr>
      </p:sp>
      <p:sp>
        <p:nvSpPr>
          <p:cNvPr id="70" name="Text 64"/>
          <p:cNvSpPr/>
          <p:nvPr/>
        </p:nvSpPr>
        <p:spPr>
          <a:xfrm>
            <a:off x="10070287"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‎4-1-1-3‎</a:t>
            </a:r>
            <a:endParaRPr lang="ar-SA" sz="800" dirty="0"/>
          </a:p>
        </p:txBody>
      </p:sp>
      <p:sp>
        <p:nvSpPr>
          <p:cNvPr id="71" name="Shape 65"/>
          <p:cNvSpPr/>
          <p:nvPr/>
        </p:nvSpPr>
        <p:spPr>
          <a:xfrm>
            <a:off x="9302191" y="5907024"/>
            <a:ext cx="658368" cy="274320"/>
          </a:xfrm>
          <a:prstGeom prst="roundRect">
            <a:avLst>
              <a:gd name="adj" fmla="val 20000"/>
            </a:avLst>
          </a:prstGeom>
          <a:solidFill>
            <a:srgbClr val="FFFFFF"/>
          </a:solidFill>
          <a:ln w="9525">
            <a:solidFill>
              <a:srgbClr val="095242"/>
            </a:solidFill>
            <a:prstDash val="solid"/>
          </a:ln>
        </p:spPr>
      </p:sp>
      <p:sp>
        <p:nvSpPr>
          <p:cNvPr id="72" name="Text 66"/>
          <p:cNvSpPr/>
          <p:nvPr/>
        </p:nvSpPr>
        <p:spPr>
          <a:xfrm>
            <a:off x="9302191"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‎4-1-1-4‎</a:t>
            </a:r>
            <a:endParaRPr lang="ar-SA" sz="800" dirty="0"/>
          </a:p>
        </p:txBody>
      </p:sp>
      <p:sp>
        <p:nvSpPr>
          <p:cNvPr id="73" name="Shape 67"/>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74"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75" name="Text 68"/>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76" name="Text 69"/>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ارتفاع نسبة الفصول المهيّأة لذوي الإعاقة • زيادة المستفيدين من برامج الدعم بنسبة لا تقل عن ٢٠٪ • تنوّع مصادر التعلّم وتغطية المهارات الأساسية.</a:t>
            </a:r>
            <a:endParaRPr lang="ar-SA" sz="9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١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١٦</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١: ضمان وصول التعليم للجميع</a:t>
            </a:r>
            <a:endParaRPr lang="ar-SA" sz="15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ضمان وصول التعليم للجميع</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ضمان حصول جميع الطلاب على فرص تعليمية متكافئة وشاملة، وتوفير بيئات تعليمية داعمة تراعي الفروق الفردية والاحتياجات التعليمية المتنوعة، بما يسهم في تحسين جودة التعليم وتعزيز نواتج التعلم وتحقيق مبادئ العدالة وتكافؤ الفرص.</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التفصيلي (١-١)</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المستفيدين من برامج الدعم والتهيئة لذوي الإعاقة والموهوبين خلال العام. المستهدف: رفع نسبة الفرص التعليمية المتكافئة للطلاب جميعًا بنسبة ٨٠٪ خلال العام.</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حصر، خطط، تنفيذ</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قاعدة بيانات + موارد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٣-٥</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تكافؤ الفرص التعليمية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برامج فردية تأهيلية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 الدمج</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مركز التأهيل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 التربية الخاصة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 تربية خاصة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٦-١٥</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دمج ذوي الإعاقة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٢</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جولات، تقييم، تطوير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السلامة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دعم فني وميزانية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١-٤</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تهيئة البيئة لذوي الإعاقة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٣</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صيانة، تجهيز</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السلامة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مقاول صيانة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٢-٣</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مواءمة دورات المياه</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٤</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منحدرات، لوحات إرشادية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السلامة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معدات تنقّل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تسهيل التنقل بين المرافق</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٥</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تجهيز، صيانة دورية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الفصول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أثاث + أجهزة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١-٤</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تجهيز الفصول والمعامل</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٦</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مكتبة، مصادر رقمية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منصة مدرستي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أمين مصادر التعلّم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منصات وأجهزة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١-٣٠</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توفير مصادر التعلّم</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٧</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حصص علاجية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المتعثرون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الإشراف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 اللغة العربية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 قراءة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٤-٢٥</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برامج دعم القراءة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٨</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حصص وأنشطة علاجية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المتعثرون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الإشراف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 الرياضيات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وسائل وأدوات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٤-٢٥</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برامج دعم الرياضيات</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تجارب وأنشطة تطبيقية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المتعثرون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الإشراف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محضر المختبر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 العلوم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معامل ومواد تعليمية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٦-٢٢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برامج دعم العلوم</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١٠</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فردية موثقة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 المحتاجون للدعم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الإشراف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سجل متابعة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١-٣٠</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خطط الدعم الفردية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١١</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٢</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١٧</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2</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٢</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تطوير بيئة مدرسية آمنة وابتكارية</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١٢</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١٠</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٨٥٪</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الأمن والسلامة المدرسية</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خطة الإخلاء والطوارئ</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تحسين بيئة الفصول</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تجهيز المعامل</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تحسين التهوية والإضاءة</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صيانة الأثاث</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تحسين الساحات المدرسية</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تطوير المقصف المدرسي</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النشاط البدني المدرسي</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الصيانة الوقائية</a:t>
            </a:r>
            <a:endParaRPr lang="ar-SA" sz="980" dirty="0"/>
          </a:p>
        </p:txBody>
      </p:sp>
      <p:sp>
        <p:nvSpPr>
          <p:cNvPr id="52" name="Shape 46"/>
          <p:cNvSpPr/>
          <p:nvPr/>
        </p:nvSpPr>
        <p:spPr>
          <a:xfrm>
            <a:off x="3322244" y="4480560"/>
            <a:ext cx="2682164" cy="420624"/>
          </a:xfrm>
          <a:prstGeom prst="roundRect">
            <a:avLst>
              <a:gd name="adj" fmla="val 19565"/>
            </a:avLst>
          </a:prstGeom>
          <a:solidFill>
            <a:srgbClr val="F2F8F5"/>
          </a:solidFill>
          <a:ln w="9525">
            <a:solidFill>
              <a:srgbClr val="E3EDE8"/>
            </a:solidFill>
            <a:prstDash val="solid"/>
          </a:ln>
        </p:spPr>
      </p:sp>
      <p:sp>
        <p:nvSpPr>
          <p:cNvPr id="53" name="Shape 47"/>
          <p:cNvSpPr/>
          <p:nvPr/>
        </p:nvSpPr>
        <p:spPr>
          <a:xfrm>
            <a:off x="5730088" y="4649724"/>
            <a:ext cx="82296" cy="82296"/>
          </a:xfrm>
          <a:prstGeom prst="ellipse">
            <a:avLst/>
          </a:prstGeom>
          <a:solidFill>
            <a:srgbClr val="0089A1"/>
          </a:solidFill>
          <a:ln/>
        </p:spPr>
      </p:sp>
      <p:sp>
        <p:nvSpPr>
          <p:cNvPr id="54" name="Text 48"/>
          <p:cNvSpPr/>
          <p:nvPr/>
        </p:nvSpPr>
        <p:spPr>
          <a:xfrm>
            <a:off x="3450260"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النظافة المدرسية</a:t>
            </a:r>
            <a:endParaRPr lang="ar-SA" sz="980" dirty="0"/>
          </a:p>
        </p:txBody>
      </p:sp>
      <p:sp>
        <p:nvSpPr>
          <p:cNvPr id="55" name="Shape 49"/>
          <p:cNvSpPr/>
          <p:nvPr/>
        </p:nvSpPr>
        <p:spPr>
          <a:xfrm>
            <a:off x="457200" y="4480560"/>
            <a:ext cx="2682164" cy="420624"/>
          </a:xfrm>
          <a:prstGeom prst="roundRect">
            <a:avLst>
              <a:gd name="adj" fmla="val 19565"/>
            </a:avLst>
          </a:prstGeom>
          <a:solidFill>
            <a:srgbClr val="F2F8F5"/>
          </a:solidFill>
          <a:ln w="9525">
            <a:solidFill>
              <a:srgbClr val="E3EDE8"/>
            </a:solidFill>
            <a:prstDash val="solid"/>
          </a:ln>
        </p:spPr>
      </p:sp>
      <p:sp>
        <p:nvSpPr>
          <p:cNvPr id="56" name="Shape 50"/>
          <p:cNvSpPr/>
          <p:nvPr/>
        </p:nvSpPr>
        <p:spPr>
          <a:xfrm>
            <a:off x="2865044" y="4649724"/>
            <a:ext cx="82296" cy="82296"/>
          </a:xfrm>
          <a:prstGeom prst="ellipse">
            <a:avLst/>
          </a:prstGeom>
          <a:solidFill>
            <a:srgbClr val="0089A1"/>
          </a:solidFill>
          <a:ln/>
        </p:spPr>
      </p:sp>
      <p:sp>
        <p:nvSpPr>
          <p:cNvPr id="57" name="Text 51"/>
          <p:cNvSpPr/>
          <p:nvPr/>
        </p:nvSpPr>
        <p:spPr>
          <a:xfrm>
            <a:off x="585216"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إدارة المخاطر</a:t>
            </a:r>
            <a:endParaRPr lang="ar-SA" sz="980" dirty="0"/>
          </a:p>
        </p:txBody>
      </p:sp>
      <p:sp>
        <p:nvSpPr>
          <p:cNvPr id="58" name="Shape 52"/>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9" name="Text 53"/>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60" name="Shape 54"/>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61" name="Text 55"/>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‎1-1-1-1‎</a:t>
            </a:r>
            <a:endParaRPr lang="ar-SA" sz="800" dirty="0"/>
          </a:p>
        </p:txBody>
      </p:sp>
      <p:sp>
        <p:nvSpPr>
          <p:cNvPr id="62" name="Shape 56"/>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63" name="Text 57"/>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‎1-4-1-7‎</a:t>
            </a:r>
            <a:endParaRPr lang="ar-SA" sz="800" dirty="0"/>
          </a:p>
        </p:txBody>
      </p:sp>
      <p:sp>
        <p:nvSpPr>
          <p:cNvPr id="64" name="Shape 58"/>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65" name="Text 59"/>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‎3-2-1-3‎</a:t>
            </a:r>
            <a:endParaRPr lang="ar-SA" sz="800" dirty="0"/>
          </a:p>
        </p:txBody>
      </p:sp>
      <p:sp>
        <p:nvSpPr>
          <p:cNvPr id="66" name="Shape 60"/>
          <p:cNvSpPr/>
          <p:nvPr/>
        </p:nvSpPr>
        <p:spPr>
          <a:xfrm>
            <a:off x="8534095" y="5559552"/>
            <a:ext cx="658368" cy="274320"/>
          </a:xfrm>
          <a:prstGeom prst="roundRect">
            <a:avLst>
              <a:gd name="adj" fmla="val 20000"/>
            </a:avLst>
          </a:prstGeom>
          <a:solidFill>
            <a:srgbClr val="FFFFFF"/>
          </a:solidFill>
          <a:ln w="9525">
            <a:solidFill>
              <a:srgbClr val="095242"/>
            </a:solidFill>
            <a:prstDash val="solid"/>
          </a:ln>
        </p:spPr>
      </p:sp>
      <p:sp>
        <p:nvSpPr>
          <p:cNvPr id="67" name="Text 61"/>
          <p:cNvSpPr/>
          <p:nvPr/>
        </p:nvSpPr>
        <p:spPr>
          <a:xfrm>
            <a:off x="8534095"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‎4-1-1-1‎</a:t>
            </a:r>
            <a:endParaRPr lang="ar-SA" sz="800" dirty="0"/>
          </a:p>
        </p:txBody>
      </p:sp>
      <p:sp>
        <p:nvSpPr>
          <p:cNvPr id="68" name="Shape 62"/>
          <p:cNvSpPr/>
          <p:nvPr/>
        </p:nvSpPr>
        <p:spPr>
          <a:xfrm>
            <a:off x="7765999" y="5559552"/>
            <a:ext cx="658368" cy="274320"/>
          </a:xfrm>
          <a:prstGeom prst="roundRect">
            <a:avLst>
              <a:gd name="adj" fmla="val 20000"/>
            </a:avLst>
          </a:prstGeom>
          <a:solidFill>
            <a:srgbClr val="FFFFFF"/>
          </a:solidFill>
          <a:ln w="9525">
            <a:solidFill>
              <a:srgbClr val="095242"/>
            </a:solidFill>
            <a:prstDash val="solid"/>
          </a:ln>
        </p:spPr>
      </p:sp>
      <p:sp>
        <p:nvSpPr>
          <p:cNvPr id="69" name="Text 63"/>
          <p:cNvSpPr/>
          <p:nvPr/>
        </p:nvSpPr>
        <p:spPr>
          <a:xfrm>
            <a:off x="7765999"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‎4-1-1-2‎</a:t>
            </a:r>
            <a:endParaRPr lang="ar-SA" sz="800" dirty="0"/>
          </a:p>
        </p:txBody>
      </p:sp>
      <p:sp>
        <p:nvSpPr>
          <p:cNvPr id="70" name="Shape 64"/>
          <p:cNvSpPr/>
          <p:nvPr/>
        </p:nvSpPr>
        <p:spPr>
          <a:xfrm>
            <a:off x="10838383" y="5907024"/>
            <a:ext cx="658368" cy="274320"/>
          </a:xfrm>
          <a:prstGeom prst="roundRect">
            <a:avLst>
              <a:gd name="adj" fmla="val 20000"/>
            </a:avLst>
          </a:prstGeom>
          <a:solidFill>
            <a:srgbClr val="FFFFFF"/>
          </a:solidFill>
          <a:ln w="9525">
            <a:solidFill>
              <a:srgbClr val="095242"/>
            </a:solidFill>
            <a:prstDash val="solid"/>
          </a:ln>
        </p:spPr>
      </p:sp>
      <p:sp>
        <p:nvSpPr>
          <p:cNvPr id="71" name="Text 65"/>
          <p:cNvSpPr/>
          <p:nvPr/>
        </p:nvSpPr>
        <p:spPr>
          <a:xfrm>
            <a:off x="10838383"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‎4-1-1-3‎</a:t>
            </a:r>
            <a:endParaRPr lang="ar-SA" sz="800" dirty="0"/>
          </a:p>
        </p:txBody>
      </p:sp>
      <p:sp>
        <p:nvSpPr>
          <p:cNvPr id="72" name="Shape 66"/>
          <p:cNvSpPr/>
          <p:nvPr/>
        </p:nvSpPr>
        <p:spPr>
          <a:xfrm>
            <a:off x="10070287" y="5907024"/>
            <a:ext cx="658368" cy="274320"/>
          </a:xfrm>
          <a:prstGeom prst="roundRect">
            <a:avLst>
              <a:gd name="adj" fmla="val 20000"/>
            </a:avLst>
          </a:prstGeom>
          <a:solidFill>
            <a:srgbClr val="FFFFFF"/>
          </a:solidFill>
          <a:ln w="9525">
            <a:solidFill>
              <a:srgbClr val="095242"/>
            </a:solidFill>
            <a:prstDash val="solid"/>
          </a:ln>
        </p:spPr>
      </p:sp>
      <p:sp>
        <p:nvSpPr>
          <p:cNvPr id="73" name="Text 67"/>
          <p:cNvSpPr/>
          <p:nvPr/>
        </p:nvSpPr>
        <p:spPr>
          <a:xfrm>
            <a:off x="10070287"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‎4-1-1-4‎</a:t>
            </a:r>
            <a:endParaRPr lang="ar-SA" sz="800" dirty="0"/>
          </a:p>
        </p:txBody>
      </p:sp>
      <p:sp>
        <p:nvSpPr>
          <p:cNvPr id="74" name="Shape 68"/>
          <p:cNvSpPr/>
          <p:nvPr/>
        </p:nvSpPr>
        <p:spPr>
          <a:xfrm>
            <a:off x="9302191" y="5907024"/>
            <a:ext cx="658368" cy="274320"/>
          </a:xfrm>
          <a:prstGeom prst="roundRect">
            <a:avLst>
              <a:gd name="adj" fmla="val 20000"/>
            </a:avLst>
          </a:prstGeom>
          <a:solidFill>
            <a:srgbClr val="FFFFFF"/>
          </a:solidFill>
          <a:ln w="9525">
            <a:solidFill>
              <a:srgbClr val="095242"/>
            </a:solidFill>
            <a:prstDash val="solid"/>
          </a:ln>
        </p:spPr>
      </p:sp>
      <p:sp>
        <p:nvSpPr>
          <p:cNvPr id="75" name="Text 69"/>
          <p:cNvSpPr/>
          <p:nvPr/>
        </p:nvSpPr>
        <p:spPr>
          <a:xfrm>
            <a:off x="9302191"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‎4-2-1-1‎</a:t>
            </a:r>
            <a:endParaRPr lang="ar-SA" sz="800" dirty="0"/>
          </a:p>
        </p:txBody>
      </p:sp>
      <p:sp>
        <p:nvSpPr>
          <p:cNvPr id="76" name="Shape 70"/>
          <p:cNvSpPr/>
          <p:nvPr/>
        </p:nvSpPr>
        <p:spPr>
          <a:xfrm>
            <a:off x="8534095" y="5907024"/>
            <a:ext cx="658368" cy="274320"/>
          </a:xfrm>
          <a:prstGeom prst="roundRect">
            <a:avLst>
              <a:gd name="adj" fmla="val 20000"/>
            </a:avLst>
          </a:prstGeom>
          <a:solidFill>
            <a:srgbClr val="FFFFFF"/>
          </a:solidFill>
          <a:ln w="9525">
            <a:solidFill>
              <a:srgbClr val="095242"/>
            </a:solidFill>
            <a:prstDash val="solid"/>
          </a:ln>
        </p:spPr>
      </p:sp>
      <p:sp>
        <p:nvSpPr>
          <p:cNvPr id="77" name="Text 71"/>
          <p:cNvSpPr/>
          <p:nvPr/>
        </p:nvSpPr>
        <p:spPr>
          <a:xfrm>
            <a:off x="8534095"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‎4-2-1-2‎</a:t>
            </a:r>
            <a:endParaRPr lang="ar-SA" sz="800" dirty="0"/>
          </a:p>
        </p:txBody>
      </p:sp>
      <p:sp>
        <p:nvSpPr>
          <p:cNvPr id="78" name="Shape 72"/>
          <p:cNvSpPr/>
          <p:nvPr/>
        </p:nvSpPr>
        <p:spPr>
          <a:xfrm>
            <a:off x="7765999" y="5907024"/>
            <a:ext cx="658368" cy="274320"/>
          </a:xfrm>
          <a:prstGeom prst="roundRect">
            <a:avLst>
              <a:gd name="adj" fmla="val 20000"/>
            </a:avLst>
          </a:prstGeom>
          <a:solidFill>
            <a:srgbClr val="FFFFFF"/>
          </a:solidFill>
          <a:ln w="9525">
            <a:solidFill>
              <a:srgbClr val="095242"/>
            </a:solidFill>
            <a:prstDash val="solid"/>
          </a:ln>
        </p:spPr>
      </p:sp>
      <p:sp>
        <p:nvSpPr>
          <p:cNvPr id="79" name="Text 73"/>
          <p:cNvSpPr/>
          <p:nvPr/>
        </p:nvSpPr>
        <p:spPr>
          <a:xfrm>
            <a:off x="7765999"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‎4-2-1-3‎</a:t>
            </a:r>
            <a:endParaRPr lang="ar-SA" sz="800" dirty="0"/>
          </a:p>
        </p:txBody>
      </p:sp>
      <p:sp>
        <p:nvSpPr>
          <p:cNvPr id="80" name="Shape 74"/>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81"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82" name="Text 75"/>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83" name="Text 76"/>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بيئة مدرسية صحيّة ومنظّمة • فصول ومعامل مجهّزة بمعايير السلامة • انخفاض في حوادث الإصابة • صيانة وقائية موثّقة.</a:t>
            </a:r>
            <a:endParaRPr lang="ar-SA" sz="9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٢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١٨</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٢: تطوير بيئة مدرسية آمنة وابتكارية</a:t>
            </a:r>
            <a:endParaRPr lang="ar-SA" sz="15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تطوير بيئة مدرسية آمنة وابتكارية</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توفير بيئة مدرسية آمنة وجاذبة ومحفزة للتعلم والإبداع، من خلال تعزيز معايير الأمن والسلامة، وتحسين المرافق والتجهيزات المدرسية، ودعم الصحة المدرسية والأنشطة البدنية، بما يسهم في رفع جودة الحياة المدرسية وتحقيق رضا المستفيدين.</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التفصيلي (٢-١)</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المرافق المدرسية المهيأة وفق معايير السلامة ومستوى رضا المستفيدين. المستهدف: تطوير بيئة المدرسة لتكون آمنة ومحفزة للإبداع بنسبة ٨٥٪ خلال العام.</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جولات، توعية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جميع منسوبي المدرسة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الدفاع المدني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منسق الأمن والسلامة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 معدات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الأمن والسلامة المدرسية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تدريب، محاكاة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جميع منسوبي المدرسة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الدفاع المدني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منسق الأمن والسلامة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معتمدة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٤، ٢٠</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خطة الإخلاء والطوارئ</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٢</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تنظيم، تجميل</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الفصول</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المرافق</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المعلمون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أثاث + لوحات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٣-٢٥</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تحسين بيئة الفصول</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٣</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تجهيز، صيانة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المعامل</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معلم العلوم ومحضر المختبر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مواد ومعدات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٣-٥</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تجهيز المعامل</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٤</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صيانة، استبدال</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المبنى</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المرافق</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لجنة المرافق</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عقد صيانة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١-٣</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تحسين التهوية والإضاءة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٥</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صيانة دورية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الأثاث</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المرافق</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لجنة المرافق</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عقد صيانة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دوري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صيانة الأثاث</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٦</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تنظيم، تجميل</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الساحات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المرافق</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رائد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معدات وأدوات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٢-١٨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تحسين الساحات المدرسية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٧</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مراجعة الوجبات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المقصف</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الجهات الصحية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السلامة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لجنة الصحة المدرسية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عقد + شروط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دوري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تطوير المقصف المدرسي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٨</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أنشطة، مسابقات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النشاط الطلابي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معلم التربية البدنية ورائد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معدات رياضية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النشاط البدني المدرسي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جدول، تنفيذ</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المبنى</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المرافق</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لجنة المرافق</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جدول صيانة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شهري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الصيانة الوقائية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١٠</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جداول، متابعة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المبنى</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شركة النظافة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مشرف الخدمات والسلامة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عمال نظافة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يومي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النظافة المدرسية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١١</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سجل + معالجة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المدرسة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لجنة إدارة المخاطر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نموذج سجل</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دوري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إدارة المخاطر</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١٢</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٣</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١٩</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3</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٣</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تعزيز القيم والهوية الوطنية</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١٢</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٦</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٩٠٪</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تعزيز الهوية الوطنية</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القيم الإسلامية</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يوم التأسيس</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اليوم الوطني</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المواطنة الرقمية</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سفراء القيم</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القيم المهنية</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الانضباط المدرسي</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السلوك الإيجابي</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الاعتزاز بالهوية</a:t>
            </a:r>
            <a:endParaRPr lang="ar-SA" sz="980" dirty="0"/>
          </a:p>
        </p:txBody>
      </p:sp>
      <p:sp>
        <p:nvSpPr>
          <p:cNvPr id="52" name="Shape 46"/>
          <p:cNvSpPr/>
          <p:nvPr/>
        </p:nvSpPr>
        <p:spPr>
          <a:xfrm>
            <a:off x="3322244" y="4480560"/>
            <a:ext cx="2682164" cy="420624"/>
          </a:xfrm>
          <a:prstGeom prst="roundRect">
            <a:avLst>
              <a:gd name="adj" fmla="val 19565"/>
            </a:avLst>
          </a:prstGeom>
          <a:solidFill>
            <a:srgbClr val="F2F8F5"/>
          </a:solidFill>
          <a:ln w="9525">
            <a:solidFill>
              <a:srgbClr val="E3EDE8"/>
            </a:solidFill>
            <a:prstDash val="solid"/>
          </a:ln>
        </p:spPr>
      </p:sp>
      <p:sp>
        <p:nvSpPr>
          <p:cNvPr id="53" name="Shape 47"/>
          <p:cNvSpPr/>
          <p:nvPr/>
        </p:nvSpPr>
        <p:spPr>
          <a:xfrm>
            <a:off x="5730088" y="4649724"/>
            <a:ext cx="82296" cy="82296"/>
          </a:xfrm>
          <a:prstGeom prst="ellipse">
            <a:avLst/>
          </a:prstGeom>
          <a:solidFill>
            <a:srgbClr val="0089A1"/>
          </a:solidFill>
          <a:ln/>
        </p:spPr>
      </p:sp>
      <p:sp>
        <p:nvSpPr>
          <p:cNvPr id="54" name="Text 48"/>
          <p:cNvSpPr/>
          <p:nvPr/>
        </p:nvSpPr>
        <p:spPr>
          <a:xfrm>
            <a:off x="3450260"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المحافظة على المرافق</a:t>
            </a:r>
            <a:endParaRPr lang="ar-SA" sz="980" dirty="0"/>
          </a:p>
        </p:txBody>
      </p:sp>
      <p:sp>
        <p:nvSpPr>
          <p:cNvPr id="55" name="Shape 49"/>
          <p:cNvSpPr/>
          <p:nvPr/>
        </p:nvSpPr>
        <p:spPr>
          <a:xfrm>
            <a:off x="457200" y="4480560"/>
            <a:ext cx="2682164" cy="420624"/>
          </a:xfrm>
          <a:prstGeom prst="roundRect">
            <a:avLst>
              <a:gd name="adj" fmla="val 19565"/>
            </a:avLst>
          </a:prstGeom>
          <a:solidFill>
            <a:srgbClr val="F2F8F5"/>
          </a:solidFill>
          <a:ln w="9525">
            <a:solidFill>
              <a:srgbClr val="E3EDE8"/>
            </a:solidFill>
            <a:prstDash val="solid"/>
          </a:ln>
        </p:spPr>
      </p:sp>
      <p:sp>
        <p:nvSpPr>
          <p:cNvPr id="56" name="Shape 50"/>
          <p:cNvSpPr/>
          <p:nvPr/>
        </p:nvSpPr>
        <p:spPr>
          <a:xfrm>
            <a:off x="2865044" y="4649724"/>
            <a:ext cx="82296" cy="82296"/>
          </a:xfrm>
          <a:prstGeom prst="ellipse">
            <a:avLst/>
          </a:prstGeom>
          <a:solidFill>
            <a:srgbClr val="0089A1"/>
          </a:solidFill>
          <a:ln/>
        </p:spPr>
      </p:sp>
      <p:sp>
        <p:nvSpPr>
          <p:cNvPr id="57" name="Text 51"/>
          <p:cNvSpPr/>
          <p:nvPr/>
        </p:nvSpPr>
        <p:spPr>
          <a:xfrm>
            <a:off x="585216"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احترام التنوع الثقافي</a:t>
            </a:r>
            <a:endParaRPr lang="ar-SA" sz="980" dirty="0"/>
          </a:p>
        </p:txBody>
      </p:sp>
      <p:sp>
        <p:nvSpPr>
          <p:cNvPr id="58" name="Shape 52"/>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9" name="Text 53"/>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60" name="Shape 54"/>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61" name="Text 55"/>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‎1-2-1-1‎</a:t>
            </a:r>
            <a:endParaRPr lang="ar-SA" sz="800" dirty="0"/>
          </a:p>
        </p:txBody>
      </p:sp>
      <p:sp>
        <p:nvSpPr>
          <p:cNvPr id="62" name="Shape 56"/>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63" name="Text 57"/>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‎1-2-1-2‎</a:t>
            </a:r>
            <a:endParaRPr lang="ar-SA" sz="800" dirty="0"/>
          </a:p>
        </p:txBody>
      </p:sp>
      <p:sp>
        <p:nvSpPr>
          <p:cNvPr id="64" name="Shape 58"/>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65" name="Text 59"/>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‎1-2-1-3‎</a:t>
            </a:r>
            <a:endParaRPr lang="ar-SA" sz="800" dirty="0"/>
          </a:p>
        </p:txBody>
      </p:sp>
      <p:sp>
        <p:nvSpPr>
          <p:cNvPr id="66" name="Shape 60"/>
          <p:cNvSpPr/>
          <p:nvPr/>
        </p:nvSpPr>
        <p:spPr>
          <a:xfrm>
            <a:off x="8534095" y="5559552"/>
            <a:ext cx="658368" cy="274320"/>
          </a:xfrm>
          <a:prstGeom prst="roundRect">
            <a:avLst>
              <a:gd name="adj" fmla="val 20000"/>
            </a:avLst>
          </a:prstGeom>
          <a:solidFill>
            <a:srgbClr val="FFFFFF"/>
          </a:solidFill>
          <a:ln w="9525">
            <a:solidFill>
              <a:srgbClr val="095242"/>
            </a:solidFill>
            <a:prstDash val="solid"/>
          </a:ln>
        </p:spPr>
      </p:sp>
      <p:sp>
        <p:nvSpPr>
          <p:cNvPr id="67" name="Text 61"/>
          <p:cNvSpPr/>
          <p:nvPr/>
        </p:nvSpPr>
        <p:spPr>
          <a:xfrm>
            <a:off x="8534095"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‎1-2-1-4‎</a:t>
            </a:r>
            <a:endParaRPr lang="ar-SA" sz="800" dirty="0"/>
          </a:p>
        </p:txBody>
      </p:sp>
      <p:sp>
        <p:nvSpPr>
          <p:cNvPr id="68" name="Shape 62"/>
          <p:cNvSpPr/>
          <p:nvPr/>
        </p:nvSpPr>
        <p:spPr>
          <a:xfrm>
            <a:off x="7765999" y="5559552"/>
            <a:ext cx="658368" cy="274320"/>
          </a:xfrm>
          <a:prstGeom prst="roundRect">
            <a:avLst>
              <a:gd name="adj" fmla="val 20000"/>
            </a:avLst>
          </a:prstGeom>
          <a:solidFill>
            <a:srgbClr val="FFFFFF"/>
          </a:solidFill>
          <a:ln w="9525">
            <a:solidFill>
              <a:srgbClr val="095242"/>
            </a:solidFill>
            <a:prstDash val="solid"/>
          </a:ln>
        </p:spPr>
      </p:sp>
      <p:sp>
        <p:nvSpPr>
          <p:cNvPr id="69" name="Text 63"/>
          <p:cNvSpPr/>
          <p:nvPr/>
        </p:nvSpPr>
        <p:spPr>
          <a:xfrm>
            <a:off x="7765999"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‎3-2-1-1‎</a:t>
            </a:r>
            <a:endParaRPr lang="ar-SA" sz="800" dirty="0"/>
          </a:p>
        </p:txBody>
      </p:sp>
      <p:sp>
        <p:nvSpPr>
          <p:cNvPr id="70" name="Shape 64"/>
          <p:cNvSpPr/>
          <p:nvPr/>
        </p:nvSpPr>
        <p:spPr>
          <a:xfrm>
            <a:off x="10838383" y="5907024"/>
            <a:ext cx="658368" cy="274320"/>
          </a:xfrm>
          <a:prstGeom prst="roundRect">
            <a:avLst>
              <a:gd name="adj" fmla="val 20000"/>
            </a:avLst>
          </a:prstGeom>
          <a:solidFill>
            <a:srgbClr val="FFFFFF"/>
          </a:solidFill>
          <a:ln w="9525">
            <a:solidFill>
              <a:srgbClr val="095242"/>
            </a:solidFill>
            <a:prstDash val="solid"/>
          </a:ln>
        </p:spPr>
      </p:sp>
      <p:sp>
        <p:nvSpPr>
          <p:cNvPr id="71" name="Text 65"/>
          <p:cNvSpPr/>
          <p:nvPr/>
        </p:nvSpPr>
        <p:spPr>
          <a:xfrm>
            <a:off x="10838383"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‎3-2-1-7‎</a:t>
            </a:r>
            <a:endParaRPr lang="ar-SA" sz="800" dirty="0"/>
          </a:p>
        </p:txBody>
      </p:sp>
      <p:sp>
        <p:nvSpPr>
          <p:cNvPr id="72" name="Shape 66"/>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73"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74" name="Text 67"/>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75" name="Text 68"/>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انغراس قيم المواطنة في الممارسة اليومية • مشاركة فاعلة في المناسبات الوطنية • انضباط مدرسي مرتفع • سلوك إيجابي في تعاملات الطلاب.</a:t>
            </a:r>
            <a:endParaRPr lang="ar-SA" sz="9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٣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٢٠</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٣: تعزيز القيم والهوية الوطنية</a:t>
            </a:r>
            <a:endParaRPr lang="ar-SA" sz="15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تعزيز القيم والهوية الوطنية</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ترسيخ القيم الإسلامية والوطنية في نفوس الطلاب، وتعزيز الانتماء والولاء للوطن وقيادته، وتنمية السلوك الإيجابي والمواطنة المسؤولة، من خلال البرامج والأنشطة التربوية والمناسبات الوطنية التي تسهم في بناء الشخصية المتوازنة والهوية الوطنية الراسخة.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التفصيلي (٣-١)</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مشاركة الطلاب والمعلمين في برامج تعزيز القيم والمناسبات الوطنية والأنشطة الداعمة للهوية الوطنية والإسلامية. المستهدف: غرس القيم الوطنية والإسلامية وتعزيز الهوية بنسبة ٩٠٪ خلال العام.</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إذاعة، لقاءات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الكل</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الجميع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 والمرشد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سنوية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تعزيز الهوية الوطنية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حلقات، أنشطة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جميع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التوجيه</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معلم الدين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وسائل دعوية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التوجيه الطلابي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القيم الإسلامية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٢</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احتفال، مسابقات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جميع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تجهيز قاعة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١٢-١٤</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يوم التأسيس</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٣</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احتفال، مسابقات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جميع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تجهيزات + جوائز</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٥-٧</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اليوم الوطني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٤</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محاضرات، ورش</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المرشد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معلم الحاسب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محتوى رقمي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شهري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المواطنة الرقمية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التعليم والتعلم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٥</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تدريب، مبادرات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المرشد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ميثاق + جوائز</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سفراء القيم</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٦</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لقاءات، تطوير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معلمون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اللجان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ميثاق مهني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شهري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التوجيه الطلابي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القيم المهنية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الإدارة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٧</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متابعة، لوائح</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المرشد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لائحة + سجلات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يومي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التوجيه الطلابي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الانضباط المدرسي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٨</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تعزيز، جوائز</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المرشد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نموذج تعزيز</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التوجيه الطلابي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السلوك الإيجابي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أنشطة، مناسبات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جميع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موارد إعلامية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دوري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الاعتزاز بالهوية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١٠</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توعية، متابعة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جميع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لا يوجد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الإدارة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لوحات إرشاد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يومي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المحافظة على المرافق</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١١</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ورش، مبادرات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المرشد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محتوى تثقيفي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شهري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التوجيه الطلابي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احترام التنوع الثقافي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١٢</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٤</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٢١</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4</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٤</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تحسين تجربة المستفيدين</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١٠</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٥</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٨٥٪</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التغذية الراجعة</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قياس رضا المستفيدين</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تحسين بيئة التعلم</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تحسين المقصف المدرسي</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تحسين ساحة الاصطفاف</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تحسين الخدمات المساندة</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برامج الصحة المدرسية</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وجبتي الصحية</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صحتي مسؤوليتي</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المناخ الآمن نفسيًا واجتماعيًا</a:t>
            </a:r>
            <a:endParaRPr lang="ar-SA" sz="980" dirty="0"/>
          </a:p>
        </p:txBody>
      </p:sp>
      <p:sp>
        <p:nvSpPr>
          <p:cNvPr id="52" name="Shape 46"/>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3" name="Text 47"/>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54" name="Shape 48"/>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55" name="Text 49"/>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‎1-5-1-2‎</a:t>
            </a:r>
            <a:endParaRPr lang="ar-SA" sz="800" dirty="0"/>
          </a:p>
        </p:txBody>
      </p:sp>
      <p:sp>
        <p:nvSpPr>
          <p:cNvPr id="56" name="Shape 50"/>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57" name="Text 51"/>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‎2-2-1-4‎</a:t>
            </a:r>
            <a:endParaRPr lang="ar-SA" sz="800" dirty="0"/>
          </a:p>
        </p:txBody>
      </p:sp>
      <p:sp>
        <p:nvSpPr>
          <p:cNvPr id="58" name="Shape 52"/>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59" name="Text 53"/>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‎3-2-1-3‎</a:t>
            </a:r>
            <a:endParaRPr lang="ar-SA" sz="800" dirty="0"/>
          </a:p>
        </p:txBody>
      </p:sp>
      <p:sp>
        <p:nvSpPr>
          <p:cNvPr id="60" name="Shape 54"/>
          <p:cNvSpPr/>
          <p:nvPr/>
        </p:nvSpPr>
        <p:spPr>
          <a:xfrm>
            <a:off x="8534095" y="5559552"/>
            <a:ext cx="658368" cy="274320"/>
          </a:xfrm>
          <a:prstGeom prst="roundRect">
            <a:avLst>
              <a:gd name="adj" fmla="val 20000"/>
            </a:avLst>
          </a:prstGeom>
          <a:solidFill>
            <a:srgbClr val="FFFFFF"/>
          </a:solidFill>
          <a:ln w="9525">
            <a:solidFill>
              <a:srgbClr val="095242"/>
            </a:solidFill>
            <a:prstDash val="solid"/>
          </a:ln>
        </p:spPr>
      </p:sp>
      <p:sp>
        <p:nvSpPr>
          <p:cNvPr id="61" name="Text 55"/>
          <p:cNvSpPr/>
          <p:nvPr/>
        </p:nvSpPr>
        <p:spPr>
          <a:xfrm>
            <a:off x="8534095"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‎4-1-1-2‎</a:t>
            </a:r>
            <a:endParaRPr lang="ar-SA" sz="800" dirty="0"/>
          </a:p>
        </p:txBody>
      </p:sp>
      <p:sp>
        <p:nvSpPr>
          <p:cNvPr id="62" name="Shape 56"/>
          <p:cNvSpPr/>
          <p:nvPr/>
        </p:nvSpPr>
        <p:spPr>
          <a:xfrm>
            <a:off x="7765999" y="5559552"/>
            <a:ext cx="658368" cy="274320"/>
          </a:xfrm>
          <a:prstGeom prst="roundRect">
            <a:avLst>
              <a:gd name="adj" fmla="val 20000"/>
            </a:avLst>
          </a:prstGeom>
          <a:solidFill>
            <a:srgbClr val="FFFFFF"/>
          </a:solidFill>
          <a:ln w="9525">
            <a:solidFill>
              <a:srgbClr val="095242"/>
            </a:solidFill>
            <a:prstDash val="solid"/>
          </a:ln>
        </p:spPr>
      </p:sp>
      <p:sp>
        <p:nvSpPr>
          <p:cNvPr id="63" name="Text 57"/>
          <p:cNvSpPr/>
          <p:nvPr/>
        </p:nvSpPr>
        <p:spPr>
          <a:xfrm>
            <a:off x="7765999"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‎4-1-1-4‎</a:t>
            </a:r>
            <a:endParaRPr lang="ar-SA" sz="800" dirty="0"/>
          </a:p>
        </p:txBody>
      </p:sp>
      <p:sp>
        <p:nvSpPr>
          <p:cNvPr id="64" name="Shape 58"/>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65"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66" name="Text 59"/>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67" name="Text 60"/>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ارتفاع مؤشرات رضا الطلاب وأولياء الأمور • تحسّن جودة الخدمات المساندة • مقصف صحي معتمد • مناخ نفسي إيجابي.</a:t>
            </a:r>
            <a:endParaRPr lang="ar-SA" sz="9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٤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٢٢</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٤: تحسين تجربة المستفيدين</a:t>
            </a:r>
            <a:endParaRPr lang="ar-SA" sz="15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تحسين تجربة المستفيدين</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تطوير الخدمات المساندة ورفع جودتها بما يسهم في تحسين تجربة المستفيدين، وتعزيز رضا الطلاب وأولياء الأمور ومنسوبي المدرسة عن الخدمات التعليمية والإدارية والصحية والبيئية المقدمة، وفق معايير الجودة والاعتماد المدرسي.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التفصيلي (٤-١)</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رضا الطلاب وأولياء الأمور عن الخدمات التعليمية والأكاديمية والخدمات المساندة المقدمة في المدرسة. المستهدف: رفع نسبة رضا المستفيدين عن الخدمات المدرسية إلى ٨٥٪ خلال العام الدراسي.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استبانات ولقاءات دورية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 المستفيدين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أدوات استبانة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فصلي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التغذية الراجعة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استبانة موحدة وتحليل النتائج</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 المستفيدين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فريق الجودة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نموذج معتمد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نهاية الفصل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قياس رضا المستفيدين</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٢</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تطوير وصيانة بيئة التعلم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 والصيانة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ميزانية تشغيل وتجهيزات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دوري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تحسين بيئة التعلم</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٣</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توفير وجبات صحية ومتابعة الجودة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الجهات الصحية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لجنة السلامة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موردون معتمدون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تحسين المقصف المدرسي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٤</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تنظيم وتجميل ساحة الاصطفاف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 والصيانة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رائد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مظلات ولوحات إرشادية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خلال الفصل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تحسين ساحة الاصطفاف</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٥</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مراجعة الخدمات وتطويرها</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 المستفيدين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تحسين معتمدة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دوري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تحسين الخدمات المساندة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٦</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فحوصات صحية وبرامج توعوية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الصحة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كادر صحي ومواد توعوية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برامج الصحة المدرسية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٧</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حملات توعوية ومسابقات غذائية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الجهات الصحية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مواد توعوية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أسبوعي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وجبتي الصحية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٨</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ورش عمل ومبادرات صحية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الجهات الصحية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موارد توعوية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صحتي مسؤوليتي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برامج إرشادية ومبادرات داعمة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 المستفيدين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الجهات المختصة بالصحة النفسية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 المدرسية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أدوات قياس وبرامج إرشادية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المناخ الآمن نفسيًا واجتماعيًا</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١٠</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٥</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٢٣</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5</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٥</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الاستثمار في الطلاب والمدارس الأولى بالرعاية</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١٢</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٦</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٨٠٪</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البرامج الإثرائية</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رعاية الموهوبين</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تنمية التفكير والابتكار</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تنمية المهارات القرائية</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التعلم الذاتي</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المشاريع التطبيقية</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البحث العلمي</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STEM</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البرمجة والذكاء الاصطناعي</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أندية القراءة</a:t>
            </a:r>
            <a:endParaRPr lang="ar-SA" sz="980" dirty="0"/>
          </a:p>
        </p:txBody>
      </p:sp>
      <p:sp>
        <p:nvSpPr>
          <p:cNvPr id="52" name="Shape 46"/>
          <p:cNvSpPr/>
          <p:nvPr/>
        </p:nvSpPr>
        <p:spPr>
          <a:xfrm>
            <a:off x="3322244" y="4480560"/>
            <a:ext cx="2682164" cy="420624"/>
          </a:xfrm>
          <a:prstGeom prst="roundRect">
            <a:avLst>
              <a:gd name="adj" fmla="val 19565"/>
            </a:avLst>
          </a:prstGeom>
          <a:solidFill>
            <a:srgbClr val="F2F8F5"/>
          </a:solidFill>
          <a:ln w="9525">
            <a:solidFill>
              <a:srgbClr val="E3EDE8"/>
            </a:solidFill>
            <a:prstDash val="solid"/>
          </a:ln>
        </p:spPr>
      </p:sp>
      <p:sp>
        <p:nvSpPr>
          <p:cNvPr id="53" name="Shape 47"/>
          <p:cNvSpPr/>
          <p:nvPr/>
        </p:nvSpPr>
        <p:spPr>
          <a:xfrm>
            <a:off x="5730088" y="4649724"/>
            <a:ext cx="82296" cy="82296"/>
          </a:xfrm>
          <a:prstGeom prst="ellipse">
            <a:avLst/>
          </a:prstGeom>
          <a:solidFill>
            <a:srgbClr val="0089A1"/>
          </a:solidFill>
          <a:ln/>
        </p:spPr>
      </p:sp>
      <p:sp>
        <p:nvSpPr>
          <p:cNvPr id="54" name="Text 48"/>
          <p:cNvSpPr/>
          <p:nvPr/>
        </p:nvSpPr>
        <p:spPr>
          <a:xfrm>
            <a:off x="3450260"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الأولمبيادات والمسابقات</a:t>
            </a:r>
            <a:endParaRPr lang="ar-SA" sz="980" dirty="0"/>
          </a:p>
        </p:txBody>
      </p:sp>
      <p:sp>
        <p:nvSpPr>
          <p:cNvPr id="55" name="Shape 49"/>
          <p:cNvSpPr/>
          <p:nvPr/>
        </p:nvSpPr>
        <p:spPr>
          <a:xfrm>
            <a:off x="457200" y="4480560"/>
            <a:ext cx="2682164" cy="420624"/>
          </a:xfrm>
          <a:prstGeom prst="roundRect">
            <a:avLst>
              <a:gd name="adj" fmla="val 19565"/>
            </a:avLst>
          </a:prstGeom>
          <a:solidFill>
            <a:srgbClr val="F2F8F5"/>
          </a:solidFill>
          <a:ln w="9525">
            <a:solidFill>
              <a:srgbClr val="E3EDE8"/>
            </a:solidFill>
            <a:prstDash val="solid"/>
          </a:ln>
        </p:spPr>
      </p:sp>
      <p:sp>
        <p:nvSpPr>
          <p:cNvPr id="56" name="Shape 50"/>
          <p:cNvSpPr/>
          <p:nvPr/>
        </p:nvSpPr>
        <p:spPr>
          <a:xfrm>
            <a:off x="2865044" y="4649724"/>
            <a:ext cx="82296" cy="82296"/>
          </a:xfrm>
          <a:prstGeom prst="ellipse">
            <a:avLst/>
          </a:prstGeom>
          <a:solidFill>
            <a:srgbClr val="0089A1"/>
          </a:solidFill>
          <a:ln/>
        </p:spPr>
      </p:sp>
      <p:sp>
        <p:nvSpPr>
          <p:cNvPr id="57" name="Text 51"/>
          <p:cNvSpPr/>
          <p:nvPr/>
        </p:nvSpPr>
        <p:spPr>
          <a:xfrm>
            <a:off x="585216"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المهارات العاطفية والاجتماعية</a:t>
            </a:r>
            <a:endParaRPr lang="ar-SA" sz="980" dirty="0"/>
          </a:p>
        </p:txBody>
      </p:sp>
      <p:sp>
        <p:nvSpPr>
          <p:cNvPr id="58" name="Shape 52"/>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9" name="Text 53"/>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60" name="Shape 54"/>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61" name="Text 55"/>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‎1-2-1-5‎</a:t>
            </a:r>
            <a:endParaRPr lang="ar-SA" sz="800" dirty="0"/>
          </a:p>
        </p:txBody>
      </p:sp>
      <p:sp>
        <p:nvSpPr>
          <p:cNvPr id="62" name="Shape 56"/>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63" name="Text 57"/>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‎2-1-1-5‎</a:t>
            </a:r>
            <a:endParaRPr lang="ar-SA" sz="800" dirty="0"/>
          </a:p>
        </p:txBody>
      </p:sp>
      <p:sp>
        <p:nvSpPr>
          <p:cNvPr id="64" name="Shape 58"/>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65" name="Text 59"/>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‎2-1-1-6‎</a:t>
            </a:r>
            <a:endParaRPr lang="ar-SA" sz="800" dirty="0"/>
          </a:p>
        </p:txBody>
      </p:sp>
      <p:sp>
        <p:nvSpPr>
          <p:cNvPr id="66" name="Shape 60"/>
          <p:cNvSpPr/>
          <p:nvPr/>
        </p:nvSpPr>
        <p:spPr>
          <a:xfrm>
            <a:off x="8534095" y="5559552"/>
            <a:ext cx="658368" cy="274320"/>
          </a:xfrm>
          <a:prstGeom prst="roundRect">
            <a:avLst>
              <a:gd name="adj" fmla="val 20000"/>
            </a:avLst>
          </a:prstGeom>
          <a:solidFill>
            <a:srgbClr val="FFFFFF"/>
          </a:solidFill>
          <a:ln w="9525">
            <a:solidFill>
              <a:srgbClr val="095242"/>
            </a:solidFill>
            <a:prstDash val="solid"/>
          </a:ln>
        </p:spPr>
      </p:sp>
      <p:sp>
        <p:nvSpPr>
          <p:cNvPr id="67" name="Text 61"/>
          <p:cNvSpPr/>
          <p:nvPr/>
        </p:nvSpPr>
        <p:spPr>
          <a:xfrm>
            <a:off x="8534095"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‎2-1-1-7‎</a:t>
            </a:r>
            <a:endParaRPr lang="ar-SA" sz="800" dirty="0"/>
          </a:p>
        </p:txBody>
      </p:sp>
      <p:sp>
        <p:nvSpPr>
          <p:cNvPr id="68" name="Shape 62"/>
          <p:cNvSpPr/>
          <p:nvPr/>
        </p:nvSpPr>
        <p:spPr>
          <a:xfrm>
            <a:off x="7765999" y="5559552"/>
            <a:ext cx="658368" cy="274320"/>
          </a:xfrm>
          <a:prstGeom prst="roundRect">
            <a:avLst>
              <a:gd name="adj" fmla="val 20000"/>
            </a:avLst>
          </a:prstGeom>
          <a:solidFill>
            <a:srgbClr val="FFFFFF"/>
          </a:solidFill>
          <a:ln w="9525">
            <a:solidFill>
              <a:srgbClr val="095242"/>
            </a:solidFill>
            <a:prstDash val="solid"/>
          </a:ln>
        </p:spPr>
      </p:sp>
      <p:sp>
        <p:nvSpPr>
          <p:cNvPr id="69" name="Text 63"/>
          <p:cNvSpPr/>
          <p:nvPr/>
        </p:nvSpPr>
        <p:spPr>
          <a:xfrm>
            <a:off x="7765999"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‎2-1-1-8‎</a:t>
            </a:r>
            <a:endParaRPr lang="ar-SA" sz="800" dirty="0"/>
          </a:p>
        </p:txBody>
      </p:sp>
      <p:sp>
        <p:nvSpPr>
          <p:cNvPr id="70" name="Shape 64"/>
          <p:cNvSpPr/>
          <p:nvPr/>
        </p:nvSpPr>
        <p:spPr>
          <a:xfrm>
            <a:off x="10838383" y="5907024"/>
            <a:ext cx="658368" cy="274320"/>
          </a:xfrm>
          <a:prstGeom prst="roundRect">
            <a:avLst>
              <a:gd name="adj" fmla="val 20000"/>
            </a:avLst>
          </a:prstGeom>
          <a:solidFill>
            <a:srgbClr val="FFFFFF"/>
          </a:solidFill>
          <a:ln w="9525">
            <a:solidFill>
              <a:srgbClr val="095242"/>
            </a:solidFill>
            <a:prstDash val="solid"/>
          </a:ln>
        </p:spPr>
      </p:sp>
      <p:sp>
        <p:nvSpPr>
          <p:cNvPr id="71" name="Text 65"/>
          <p:cNvSpPr/>
          <p:nvPr/>
        </p:nvSpPr>
        <p:spPr>
          <a:xfrm>
            <a:off x="10838383"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‎3-2-1-6‎</a:t>
            </a:r>
            <a:endParaRPr lang="ar-SA" sz="800" dirty="0"/>
          </a:p>
        </p:txBody>
      </p:sp>
      <p:sp>
        <p:nvSpPr>
          <p:cNvPr id="72" name="Shape 66"/>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73"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74" name="Text 67"/>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75" name="Text 68"/>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رفع نسبة المشاركة في المسابقات والأولمبيادات • أندية علمية ومشاريع طلابية موثّقة • تنمية مهارات التفكير العليا والبحث العلمي.</a:t>
            </a:r>
            <a:endParaRPr lang="ar-SA" sz="9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٥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٢٤</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٥: الاستثمار في الطلاب والمدارس الأولى بالرعاية</a:t>
            </a:r>
            <a:endParaRPr lang="ar-SA" sz="15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رعاية الموهوبين وتنمية القدرات</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اكتشاف الطلاب الموهوبين والمتميزين ورعايتهم، وتنمية قدراتهم ومهاراتهم من خلال البرامج الإثرائية والمسابقات العلمية والابتكارية، وتوفير بيئة تعليمية داعمة تسهم في تعزيز التميز والإبداع وتحقيق أقصى إمكاناتهم.</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التفصيلي (٥-١)</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الطلاب الموهوبين المستفيدين من البرامج الإثرائية والمسابقات. المستهدف: تنمية مهارات الموهوبين والمتميزين بنسبة ٨٠٪ خلال العام الدراسي ١٤٤٨هـ.</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ورش، مشاريع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موهوبون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موهبة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موارد إثرائية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البرامج الإثرائية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التعليم والتعلم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خطط فردية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موهوبون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موهبة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المرشد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مرشد موهبة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التوجيه الطلابي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رعاية الموهوبين</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التعليم والتعلم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٢</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ورش، تحديات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الإشراف</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أدوات تفكير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تنمية التفكير والابتكار</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التعليم والتعلم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٣</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أنشطة قرائية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الإشراف</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المصادر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معلم العربية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مكتبة + موارد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تنمية المهارات القرائية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نواتج 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٤</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ملفات إنجاز</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لا يوجد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المصادر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منصات تعلم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مستمر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التحسين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التعلم الذاتي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نواتج 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٥</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مشاريع، عرض</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الإشراف</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ورش وأدوات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شهري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المشاريع التطبيقية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نواتج 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٦</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أبحاث، تحكيم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الإشراف</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المصادر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إشراف بحثي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فصلي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البحث العلمي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نواتج 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٧</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تجارب، مشاريع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الإشراف</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الحاسب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معلم العلوم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معامل + أدوات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STEM</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التعليم والتعلم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٨</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ورش، مشاريع</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إدارة التعليم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معلم الحاسب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أجهزة + منصات</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البرمجة والذكاء الاصطناعي</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التعليم والتعلم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جلسات، مناقشة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وزارة الثقافة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أمين المصادر</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كتب + قاعة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أندية القراءة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نواتج 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١٠</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تأهيل، مشاركة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متفوقون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موهبة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المعلم</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مدربون</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موسمي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الأولمبيادات والمسابقات</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نواتج التعلم</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١١</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022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ورش، أنشطة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طلاب</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الصحة النفسية</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النشاط</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المرشد</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اختصاصي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أسبوعي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١-٢</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10" dirty="0">
                          <a:solidFill>
                            <a:srgbClr val="34473F"/>
                          </a:solidFill>
                          <a:latin typeface="Tajawal" pitchFamily="34" charset="0"/>
                          <a:ea typeface="Tajawal" pitchFamily="34" charset="-122"/>
                          <a:cs typeface="Tajawal" pitchFamily="34" charset="-120"/>
                        </a:rPr>
                        <a:t>خطة التوجيه الطلابي</a:t>
                      </a:r>
                      <a:endParaRPr lang="ar-SA" sz="71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20" b="1" dirty="0">
                          <a:solidFill>
                            <a:srgbClr val="04352B"/>
                          </a:solidFill>
                          <a:latin typeface="Tajawal" pitchFamily="34" charset="0"/>
                          <a:ea typeface="Tajawal" pitchFamily="34" charset="-122"/>
                          <a:cs typeface="Tajawal" pitchFamily="34" charset="-120"/>
                        </a:rPr>
                        <a:t>المهارات العاطفية والاجتماعية</a:t>
                      </a:r>
                      <a:endParaRPr lang="ar-SA" sz="7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البيئة المدرسية</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00" dirty="0">
                          <a:solidFill>
                            <a:srgbClr val="34473F"/>
                          </a:solidFill>
                          <a:latin typeface="Tajawal" pitchFamily="34" charset="0"/>
                          <a:ea typeface="Tajawal" pitchFamily="34" charset="-122"/>
                          <a:cs typeface="Tajawal" pitchFamily="34" charset="-120"/>
                        </a:rPr>
                        <a:t>١٢</a:t>
                      </a:r>
                      <a:endParaRPr lang="ar-SA" sz="7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٦</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٢٥</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6</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٦</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تحسين أداء المدارس وتعزيز شراكتها مع المجتمع</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١١</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٥</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٨٥٪</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الشراكة المجتمعية</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مشاركة الأسرة</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العلاقات الإيجابية</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التطوع</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خدمة المجتمع</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بنك الطعام المدرسي</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التشجير</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الزيارات المجتمعية</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المبادرات المجتمعية</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التواصل الأسري</a:t>
            </a:r>
            <a:endParaRPr lang="ar-SA" sz="980" dirty="0"/>
          </a:p>
        </p:txBody>
      </p:sp>
      <p:sp>
        <p:nvSpPr>
          <p:cNvPr id="52" name="Shape 46"/>
          <p:cNvSpPr/>
          <p:nvPr/>
        </p:nvSpPr>
        <p:spPr>
          <a:xfrm>
            <a:off x="3322244" y="4480560"/>
            <a:ext cx="2682164" cy="420624"/>
          </a:xfrm>
          <a:prstGeom prst="roundRect">
            <a:avLst>
              <a:gd name="adj" fmla="val 19565"/>
            </a:avLst>
          </a:prstGeom>
          <a:solidFill>
            <a:srgbClr val="F2F8F5"/>
          </a:solidFill>
          <a:ln w="9525">
            <a:solidFill>
              <a:srgbClr val="E3EDE8"/>
            </a:solidFill>
            <a:prstDash val="solid"/>
          </a:ln>
        </p:spPr>
      </p:sp>
      <p:sp>
        <p:nvSpPr>
          <p:cNvPr id="53" name="Shape 47"/>
          <p:cNvSpPr/>
          <p:nvPr/>
        </p:nvSpPr>
        <p:spPr>
          <a:xfrm>
            <a:off x="5730088" y="4649724"/>
            <a:ext cx="82296" cy="82296"/>
          </a:xfrm>
          <a:prstGeom prst="ellipse">
            <a:avLst/>
          </a:prstGeom>
          <a:solidFill>
            <a:srgbClr val="0089A1"/>
          </a:solidFill>
          <a:ln/>
        </p:spPr>
      </p:sp>
      <p:sp>
        <p:nvSpPr>
          <p:cNvPr id="54" name="Text 48"/>
          <p:cNvSpPr/>
          <p:nvPr/>
        </p:nvSpPr>
        <p:spPr>
          <a:xfrm>
            <a:off x="3450260"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الشراكات الصحية والتعليمية</a:t>
            </a:r>
            <a:endParaRPr lang="ar-SA" sz="980" dirty="0"/>
          </a:p>
        </p:txBody>
      </p:sp>
      <p:sp>
        <p:nvSpPr>
          <p:cNvPr id="55" name="Shape 49"/>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6" name="Text 50"/>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57" name="Shape 51"/>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58" name="Text 52"/>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‎1-3-1-3‎</a:t>
            </a:r>
            <a:endParaRPr lang="ar-SA" sz="800" dirty="0"/>
          </a:p>
        </p:txBody>
      </p:sp>
      <p:sp>
        <p:nvSpPr>
          <p:cNvPr id="59" name="Shape 53"/>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60" name="Text 54"/>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‎1-3-1-2‎</a:t>
            </a:r>
            <a:endParaRPr lang="ar-SA" sz="800" dirty="0"/>
          </a:p>
        </p:txBody>
      </p:sp>
      <p:sp>
        <p:nvSpPr>
          <p:cNvPr id="61" name="Shape 55"/>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62" name="Text 56"/>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‎1-3-1-1‎</a:t>
            </a:r>
            <a:endParaRPr lang="ar-SA" sz="800" dirty="0"/>
          </a:p>
        </p:txBody>
      </p:sp>
      <p:sp>
        <p:nvSpPr>
          <p:cNvPr id="63" name="Shape 57"/>
          <p:cNvSpPr/>
          <p:nvPr/>
        </p:nvSpPr>
        <p:spPr>
          <a:xfrm>
            <a:off x="8534095" y="5559552"/>
            <a:ext cx="658368" cy="274320"/>
          </a:xfrm>
          <a:prstGeom prst="roundRect">
            <a:avLst>
              <a:gd name="adj" fmla="val 20000"/>
            </a:avLst>
          </a:prstGeom>
          <a:solidFill>
            <a:srgbClr val="FFFFFF"/>
          </a:solidFill>
          <a:ln w="9525">
            <a:solidFill>
              <a:srgbClr val="095242"/>
            </a:solidFill>
            <a:prstDash val="solid"/>
          </a:ln>
        </p:spPr>
      </p:sp>
      <p:sp>
        <p:nvSpPr>
          <p:cNvPr id="64" name="Text 58"/>
          <p:cNvSpPr/>
          <p:nvPr/>
        </p:nvSpPr>
        <p:spPr>
          <a:xfrm>
            <a:off x="8534095"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‎3-2-1-4‎</a:t>
            </a:r>
            <a:endParaRPr lang="ar-SA" sz="800" dirty="0"/>
          </a:p>
        </p:txBody>
      </p:sp>
      <p:sp>
        <p:nvSpPr>
          <p:cNvPr id="65" name="Shape 59"/>
          <p:cNvSpPr/>
          <p:nvPr/>
        </p:nvSpPr>
        <p:spPr>
          <a:xfrm>
            <a:off x="7765999" y="5559552"/>
            <a:ext cx="658368" cy="274320"/>
          </a:xfrm>
          <a:prstGeom prst="roundRect">
            <a:avLst>
              <a:gd name="adj" fmla="val 20000"/>
            </a:avLst>
          </a:prstGeom>
          <a:solidFill>
            <a:srgbClr val="FFFFFF"/>
          </a:solidFill>
          <a:ln w="9525">
            <a:solidFill>
              <a:srgbClr val="095242"/>
            </a:solidFill>
            <a:prstDash val="solid"/>
          </a:ln>
        </p:spPr>
      </p:sp>
      <p:sp>
        <p:nvSpPr>
          <p:cNvPr id="66" name="Text 60"/>
          <p:cNvSpPr/>
          <p:nvPr/>
        </p:nvSpPr>
        <p:spPr>
          <a:xfrm>
            <a:off x="7765999"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‎1-2-1-5‎</a:t>
            </a:r>
            <a:endParaRPr lang="ar-SA" sz="800" dirty="0"/>
          </a:p>
        </p:txBody>
      </p:sp>
      <p:sp>
        <p:nvSpPr>
          <p:cNvPr id="67" name="Shape 61"/>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68"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69" name="Text 62"/>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70" name="Text 63"/>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شراكات موثّقة مع جهات حكومية وأهلية • نموّ مشاركة الأسرة في برامج التعلّم • مبادرات تطوّعية وخدمية فاعلة.</a:t>
            </a:r>
            <a:endParaRPr lang="ar-SA" sz="9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٦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٢٦</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٦: تحسين أداء المدارس وتعزيز شراكتها مع المجتمع</a:t>
            </a:r>
            <a:endParaRPr lang="ar-SA" sz="15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الشراكة المجتمعية</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تعزيز الشراكة الفاعلة بين المدرسة والأسرة ومؤسسات المجتمع، وتوسيع نطاق المبادرات المجتمعية والتطوعية، وبناء علاقات تكاملية تسهم في دعم العملية التعليمية وتحسين نواتج التعلم وترسيخ المسؤولية المجتمعية.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التفصيلي (١-٦)</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عدد الشراكات الفاعلة ومستوى مشاركة الأسرة والمجتمع. المستهدف: تفعيل شراكات مجتمعية مؤثرة بنسبة ٨٥٪ خلال العام الدراسي.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اتفاقيات، مبادرات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المجتمع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شراكات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دوري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الشراكة المجتمعية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لقاءات، برامج</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أولياء الأمور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قنوات تواصل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مشاركة الأسرة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٢</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ميثاق علاقات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ميثاق + توعية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العلاقات الإيجابية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٣</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مبادرات تطوعية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 + أسر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جمعيات أهلية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تنسيق + خطة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التطوع</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٤</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مشاريع خدمية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البلدية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تنسيق + موارد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فصلي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خدمة المجتمع</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٥</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جمع، توزيع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محتاجون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بنك الطعام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صناديق جمع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أسبوعي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بنك الطعام المدرسي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٦</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غرس، متابعة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المدرسة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البلدية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أشتال + سقاية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موسمي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التشجير</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٧</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زيارات منظمة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تنسيق + حافلات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فصلي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الزيارات المجتمعية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٨</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مبادرات نوعية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موارد + إعلام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فصلي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المبادرات المجتمعية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رسائل، نشرات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أسر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وسائل تواصل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التواصل الأسري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١٠</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7521">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اتفاقيات نوعية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الصحة +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شراكات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دوري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الشراكات الصحية والتعليمية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١١</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٧</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٢٧</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7</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٧</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رفع كفاءة الإنفاق وتعزيز الاستدامة المالية</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٩</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٣</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٨٠٪</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الاستدامة المالية</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إدارة الموارد</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إدارة المرافق والخدمات</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الصيانة الوقائية</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ترشيد الاستهلاك</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ترشيد المياه</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الحوكمة المالية</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متابعة العقود</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إدارة الأصول والتجهيزات</a:t>
            </a:r>
            <a:endParaRPr lang="ar-SA" sz="980" dirty="0"/>
          </a:p>
        </p:txBody>
      </p:sp>
      <p:sp>
        <p:nvSpPr>
          <p:cNvPr id="49" name="Shape 43"/>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0" name="Text 44"/>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51" name="Shape 45"/>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52" name="Text 46"/>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‎1-4-1-3‎</a:t>
            </a:r>
            <a:endParaRPr lang="ar-SA" sz="800" dirty="0"/>
          </a:p>
        </p:txBody>
      </p:sp>
      <p:sp>
        <p:nvSpPr>
          <p:cNvPr id="53" name="Shape 47"/>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54" name="Text 48"/>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‎4-1-1-1‎</a:t>
            </a:r>
            <a:endParaRPr lang="ar-SA" sz="800" dirty="0"/>
          </a:p>
        </p:txBody>
      </p:sp>
      <p:sp>
        <p:nvSpPr>
          <p:cNvPr id="55" name="Shape 49"/>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56" name="Text 50"/>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‎2-1-1-5‎</a:t>
            </a:r>
            <a:endParaRPr lang="ar-SA" sz="800" dirty="0"/>
          </a:p>
        </p:txBody>
      </p:sp>
      <p:sp>
        <p:nvSpPr>
          <p:cNvPr id="57" name="Shape 51"/>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58"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59" name="Text 52"/>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60" name="Text 53"/>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انخفاض ملموس في استهلاك الموارد • صيانة وقائية موثّقة • إدارة أصول دقيقة • التزام بسياسات الحوكمة المالية.</a:t>
            </a:r>
            <a:endParaRPr lang="ar-SA" sz="9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٧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٢٨</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٧: رفع كفاءة الإنفاق وتعزيز الاستدامة المالية</a:t>
            </a:r>
            <a:endParaRPr lang="ar-SA" sz="15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الموارد والاستدامة</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تعزيز الاستدامة المالية ورفع كفاءة الإنفاق وترشيد استهلاك الموارد، وتحسين إدارة الأصول والمرافق والعقود وفق مبادئ الحوكمة والكفاءة التشغيلية، بما يسهم في دعم جودة البيئة التعليمية وتحقيق الاستخدام الأمثل للموارد المتاحة.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التفصيلي (١-٧)</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الخفض في استهلاك الموارد وكفاءة إدارة الأصول والعقود. المستهدف: خفض استهلاك الموارد ورفع كفاءة الإنفاق بنسبة ٨٠٪ خلال العام الدراسي ١٤٤٨هـ.</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تخطيط، مراجعة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المدرسة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مالية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ربعي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الاستدامة المالية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حصر، توزيع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المدرسة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سجل موارد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إدارة الموارد</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٢</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متابعة، تشغيل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تشغيلية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إدارة المرافق والخدمات</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٣</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جدول، تنفيذ</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عقد صيانة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الصيانة الوقائية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٤</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حملات، متابعة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لوحات + توعية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ترشيد الاستهلاك</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٥</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حواجز، متابعة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أدوات ترشيد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ترشيد المياه</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٦</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إجراءات، تقارير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المدرسة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نموذج معتمد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ربعي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الحوكمة المالية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٧</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مراجعة، تقييم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العقود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ملف العقود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متابعة العقود</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٨</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جرد، تصنيف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الأصول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المرافق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نظام جرد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ربعي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إدارة الأصول والتجهيزات</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٨</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٢٩</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8</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٨</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تطوير كفاءات الموارد البشرية وتعزيز الثقافة المؤسسية</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١٠</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٥</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٩٠٪</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التطوير المهني</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الرخص المهنية</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مجتمعات التعلم المهنية</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اللقاءات التربوية</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التدريب على استراتيجيات التدريس</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التدريب على الأمن والسلامة</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التدريب على الإخلاء</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بناء فرق العمل</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القيم المهنية</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التطوير الإداري</a:t>
            </a:r>
            <a:endParaRPr lang="ar-SA" sz="980" dirty="0"/>
          </a:p>
        </p:txBody>
      </p:sp>
      <p:sp>
        <p:nvSpPr>
          <p:cNvPr id="52" name="Shape 46"/>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3" name="Text 47"/>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54" name="Shape 48"/>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55" name="Text 49"/>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‎1-4-1-5‎</a:t>
            </a:r>
            <a:endParaRPr lang="ar-SA" sz="800" dirty="0"/>
          </a:p>
        </p:txBody>
      </p:sp>
      <p:sp>
        <p:nvSpPr>
          <p:cNvPr id="56" name="Shape 50"/>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57" name="Text 51"/>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‎1-4-1-4‎</a:t>
            </a:r>
            <a:endParaRPr lang="ar-SA" sz="800" dirty="0"/>
          </a:p>
        </p:txBody>
      </p:sp>
      <p:sp>
        <p:nvSpPr>
          <p:cNvPr id="58" name="Shape 52"/>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59" name="Text 53"/>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‎1-4-1-2‎</a:t>
            </a:r>
            <a:endParaRPr lang="ar-SA" sz="800" dirty="0"/>
          </a:p>
        </p:txBody>
      </p:sp>
      <p:sp>
        <p:nvSpPr>
          <p:cNvPr id="60" name="Shape 54"/>
          <p:cNvSpPr/>
          <p:nvPr/>
        </p:nvSpPr>
        <p:spPr>
          <a:xfrm>
            <a:off x="8534095" y="5559552"/>
            <a:ext cx="658368" cy="274320"/>
          </a:xfrm>
          <a:prstGeom prst="roundRect">
            <a:avLst>
              <a:gd name="adj" fmla="val 20000"/>
            </a:avLst>
          </a:prstGeom>
          <a:solidFill>
            <a:srgbClr val="FFFFFF"/>
          </a:solidFill>
          <a:ln w="9525">
            <a:solidFill>
              <a:srgbClr val="095242"/>
            </a:solidFill>
            <a:prstDash val="solid"/>
          </a:ln>
        </p:spPr>
      </p:sp>
      <p:sp>
        <p:nvSpPr>
          <p:cNvPr id="61" name="Text 55"/>
          <p:cNvSpPr/>
          <p:nvPr/>
        </p:nvSpPr>
        <p:spPr>
          <a:xfrm>
            <a:off x="8534095"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‎4-2-1-1‎</a:t>
            </a:r>
            <a:endParaRPr lang="ar-SA" sz="800" dirty="0"/>
          </a:p>
        </p:txBody>
      </p:sp>
      <p:sp>
        <p:nvSpPr>
          <p:cNvPr id="62" name="Shape 56"/>
          <p:cNvSpPr/>
          <p:nvPr/>
        </p:nvSpPr>
        <p:spPr>
          <a:xfrm>
            <a:off x="7765999" y="5559552"/>
            <a:ext cx="658368" cy="274320"/>
          </a:xfrm>
          <a:prstGeom prst="roundRect">
            <a:avLst>
              <a:gd name="adj" fmla="val 20000"/>
            </a:avLst>
          </a:prstGeom>
          <a:solidFill>
            <a:srgbClr val="FFFFFF"/>
          </a:solidFill>
          <a:ln w="9525">
            <a:solidFill>
              <a:srgbClr val="095242"/>
            </a:solidFill>
            <a:prstDash val="solid"/>
          </a:ln>
        </p:spPr>
      </p:sp>
      <p:sp>
        <p:nvSpPr>
          <p:cNvPr id="63" name="Text 57"/>
          <p:cNvSpPr/>
          <p:nvPr/>
        </p:nvSpPr>
        <p:spPr>
          <a:xfrm>
            <a:off x="7765999"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‎1-2-1-2‎</a:t>
            </a:r>
            <a:endParaRPr lang="ar-SA" sz="800" dirty="0"/>
          </a:p>
        </p:txBody>
      </p:sp>
      <p:sp>
        <p:nvSpPr>
          <p:cNvPr id="64" name="Shape 58"/>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65"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66" name="Text 59"/>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67" name="Text 60"/>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حصول جميع المعلمين على الرخصة المهنية • إكمال خطة تدريبية فصلية لا تقل عن ٢٠ ساعة • مجتمعات تعلم نشطة في كل تخصّص.</a:t>
            </a:r>
            <a:endParaRPr lang="ar-SA" sz="9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٨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٣٠</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٨: تطوير كفاءات الموارد البشرية وتعزيز الثقافة المؤسسية</a:t>
            </a:r>
            <a:endParaRPr lang="ar-SA" sz="15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الموارد البشرية</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تنمية الكفاءات البشرية ورفع مستوى الأداء المهني لمنسوبي المدرسة من خلال برامج التطوير المهني المستدام، وتعزيز ثقافة التعلم المستمر والعمل المؤسسي، بما يسهم في تحسين جودة الممارسات التعليمية والإدارية وتحقيق مستهدفات المدرسة ووزارة التعليم.</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التفصيلي (١-٨)</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المعلمين المستفيدين من برامج التطوير المهني وحاصلي الرخص. المستهدف: رفع كفاءة المعلمين عبر التطوير المهني بنسبة ١٠٠٪ خلال العام الدراسي ١٤٤٨هـ.</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ورش، تدريب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أكاديمية 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تدريبية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التطوير المهني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تأهيل، اختبارات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هيئة التقويم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دورات تأهيل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موسمي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الرخص المهنية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٢</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لقاءات، جلسات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الإشراف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قاعات + موارد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أسبوعي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مجتمعات التعلم المهنية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٣</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حلقات، نقاش</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الإشراف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قاعة + برنامج</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اللقاءات التربوية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٤</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ورش، تطبيق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معلمون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أكاديمية 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الإشراف</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مدربون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فصلي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التدريب على استراتيجيات التدريس</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٥</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تدريب، محاكاة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الدفاع المدني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السلامة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مدرب سلامة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فصلي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التدريب على الأمن والسلامة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٦</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محاكاة، تدريب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الدفاع المدني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السلامة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 معدات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فصلي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التدريب على الإخلاء</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٧</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ورش، مهام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العاملون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خبير + قاعة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بناء فرق العمل</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٨</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ميثاق، توعية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العاملون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ميثاق معتمد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القيم المهنية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ورش، تطبيق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إداريون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تطوير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فصلي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التطوير الإداري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١٠</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٣١</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9</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٩</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الارتقاء بمستوى التجربة الرقمية</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١٠</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٦</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٨٥٪</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التعليم الرقمي</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التعلم الإلكتروني</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التقنية الرقمية</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المواطنة الرقمية</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ملفات الإنجاز الإلكترونية</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مصادر التعلم الرقمية</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الأمن الرقمي</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توظيف الذكاء الاصطناعي</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البرمجة</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الأنظمة الإلكترونية للتقويم</a:t>
            </a:r>
            <a:endParaRPr lang="ar-SA" sz="980" dirty="0"/>
          </a:p>
        </p:txBody>
      </p:sp>
      <p:sp>
        <p:nvSpPr>
          <p:cNvPr id="52" name="Shape 46"/>
          <p:cNvSpPr/>
          <p:nvPr/>
        </p:nvSpPr>
        <p:spPr>
          <a:xfrm>
            <a:off x="7711135" y="5138928"/>
            <a:ext cx="4023360" cy="1316736"/>
          </a:xfrm>
          <a:prstGeom prst="roundRect">
            <a:avLst>
              <a:gd name="adj" fmla="val 6250"/>
            </a:avLst>
          </a:prstGeom>
          <a:solidFill>
            <a:srgbClr val="FFFFFF"/>
          </a:solidFill>
          <a:ln w="9525">
            <a:solidFill>
              <a:srgbClr val="E3EDE8"/>
            </a:solidFill>
            <a:prstDash val="solid"/>
          </a:ln>
        </p:spPr>
      </p:sp>
      <p:sp>
        <p:nvSpPr>
          <p:cNvPr id="53" name="Text 47"/>
          <p:cNvSpPr/>
          <p:nvPr/>
        </p:nvSpPr>
        <p:spPr>
          <a:xfrm>
            <a:off x="7948879" y="5230368"/>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54" name="Shape 48"/>
          <p:cNvSpPr/>
          <p:nvPr/>
        </p:nvSpPr>
        <p:spPr>
          <a:xfrm>
            <a:off x="10838383" y="5559552"/>
            <a:ext cx="658368" cy="274320"/>
          </a:xfrm>
          <a:prstGeom prst="roundRect">
            <a:avLst>
              <a:gd name="adj" fmla="val 20000"/>
            </a:avLst>
          </a:prstGeom>
          <a:solidFill>
            <a:srgbClr val="FFFFFF"/>
          </a:solidFill>
          <a:ln w="9525">
            <a:solidFill>
              <a:srgbClr val="095242"/>
            </a:solidFill>
            <a:prstDash val="solid"/>
          </a:ln>
        </p:spPr>
      </p:sp>
      <p:sp>
        <p:nvSpPr>
          <p:cNvPr id="55" name="Text 49"/>
          <p:cNvSpPr/>
          <p:nvPr/>
        </p:nvSpPr>
        <p:spPr>
          <a:xfrm>
            <a:off x="10838383"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‎2-1-1-4‎</a:t>
            </a:r>
            <a:endParaRPr lang="ar-SA" sz="800" dirty="0"/>
          </a:p>
        </p:txBody>
      </p:sp>
      <p:sp>
        <p:nvSpPr>
          <p:cNvPr id="56" name="Shape 50"/>
          <p:cNvSpPr/>
          <p:nvPr/>
        </p:nvSpPr>
        <p:spPr>
          <a:xfrm>
            <a:off x="10070287" y="5559552"/>
            <a:ext cx="658368" cy="274320"/>
          </a:xfrm>
          <a:prstGeom prst="roundRect">
            <a:avLst>
              <a:gd name="adj" fmla="val 20000"/>
            </a:avLst>
          </a:prstGeom>
          <a:solidFill>
            <a:srgbClr val="FFFFFF"/>
          </a:solidFill>
          <a:ln w="9525">
            <a:solidFill>
              <a:srgbClr val="095242"/>
            </a:solidFill>
            <a:prstDash val="solid"/>
          </a:ln>
        </p:spPr>
      </p:sp>
      <p:sp>
        <p:nvSpPr>
          <p:cNvPr id="57" name="Text 51"/>
          <p:cNvSpPr/>
          <p:nvPr/>
        </p:nvSpPr>
        <p:spPr>
          <a:xfrm>
            <a:off x="10070287"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‎3-2-1-1‎</a:t>
            </a:r>
            <a:endParaRPr lang="ar-SA" sz="800" dirty="0"/>
          </a:p>
        </p:txBody>
      </p:sp>
      <p:sp>
        <p:nvSpPr>
          <p:cNvPr id="58" name="Shape 52"/>
          <p:cNvSpPr/>
          <p:nvPr/>
        </p:nvSpPr>
        <p:spPr>
          <a:xfrm>
            <a:off x="9302191" y="5559552"/>
            <a:ext cx="658368" cy="274320"/>
          </a:xfrm>
          <a:prstGeom prst="roundRect">
            <a:avLst>
              <a:gd name="adj" fmla="val 20000"/>
            </a:avLst>
          </a:prstGeom>
          <a:solidFill>
            <a:srgbClr val="FFFFFF"/>
          </a:solidFill>
          <a:ln w="9525">
            <a:solidFill>
              <a:srgbClr val="095242"/>
            </a:solidFill>
            <a:prstDash val="solid"/>
          </a:ln>
        </p:spPr>
      </p:sp>
      <p:sp>
        <p:nvSpPr>
          <p:cNvPr id="59" name="Text 53"/>
          <p:cNvSpPr/>
          <p:nvPr/>
        </p:nvSpPr>
        <p:spPr>
          <a:xfrm>
            <a:off x="9302191"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‎3-2-1-6‎</a:t>
            </a:r>
            <a:endParaRPr lang="ar-SA" sz="800" dirty="0"/>
          </a:p>
        </p:txBody>
      </p:sp>
      <p:sp>
        <p:nvSpPr>
          <p:cNvPr id="60" name="Shape 54"/>
          <p:cNvSpPr/>
          <p:nvPr/>
        </p:nvSpPr>
        <p:spPr>
          <a:xfrm>
            <a:off x="8534095" y="5559552"/>
            <a:ext cx="658368" cy="274320"/>
          </a:xfrm>
          <a:prstGeom prst="roundRect">
            <a:avLst>
              <a:gd name="adj" fmla="val 20000"/>
            </a:avLst>
          </a:prstGeom>
          <a:solidFill>
            <a:srgbClr val="FFFFFF"/>
          </a:solidFill>
          <a:ln w="9525">
            <a:solidFill>
              <a:srgbClr val="095242"/>
            </a:solidFill>
            <a:prstDash val="solid"/>
          </a:ln>
        </p:spPr>
      </p:sp>
      <p:sp>
        <p:nvSpPr>
          <p:cNvPr id="61" name="Text 55"/>
          <p:cNvSpPr/>
          <p:nvPr/>
        </p:nvSpPr>
        <p:spPr>
          <a:xfrm>
            <a:off x="8534095"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‎1-2-1-5‎</a:t>
            </a:r>
            <a:endParaRPr lang="ar-SA" sz="800" dirty="0"/>
          </a:p>
        </p:txBody>
      </p:sp>
      <p:sp>
        <p:nvSpPr>
          <p:cNvPr id="62" name="Shape 56"/>
          <p:cNvSpPr/>
          <p:nvPr/>
        </p:nvSpPr>
        <p:spPr>
          <a:xfrm>
            <a:off x="7765999" y="5559552"/>
            <a:ext cx="658368" cy="274320"/>
          </a:xfrm>
          <a:prstGeom prst="roundRect">
            <a:avLst>
              <a:gd name="adj" fmla="val 20000"/>
            </a:avLst>
          </a:prstGeom>
          <a:solidFill>
            <a:srgbClr val="FFFFFF"/>
          </a:solidFill>
          <a:ln w="9525">
            <a:solidFill>
              <a:srgbClr val="095242"/>
            </a:solidFill>
            <a:prstDash val="solid"/>
          </a:ln>
        </p:spPr>
      </p:sp>
      <p:sp>
        <p:nvSpPr>
          <p:cNvPr id="63" name="Text 57"/>
          <p:cNvSpPr/>
          <p:nvPr/>
        </p:nvSpPr>
        <p:spPr>
          <a:xfrm>
            <a:off x="7765999" y="5550408"/>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‎2-2-1-1‎</a:t>
            </a:r>
            <a:endParaRPr lang="ar-SA" sz="800" dirty="0"/>
          </a:p>
        </p:txBody>
      </p:sp>
      <p:sp>
        <p:nvSpPr>
          <p:cNvPr id="64" name="Shape 58"/>
          <p:cNvSpPr/>
          <p:nvPr/>
        </p:nvSpPr>
        <p:spPr>
          <a:xfrm>
            <a:off x="10838383" y="5907024"/>
            <a:ext cx="658368" cy="274320"/>
          </a:xfrm>
          <a:prstGeom prst="roundRect">
            <a:avLst>
              <a:gd name="adj" fmla="val 20000"/>
            </a:avLst>
          </a:prstGeom>
          <a:solidFill>
            <a:srgbClr val="FFFFFF"/>
          </a:solidFill>
          <a:ln w="9525">
            <a:solidFill>
              <a:srgbClr val="095242"/>
            </a:solidFill>
            <a:prstDash val="solid"/>
          </a:ln>
        </p:spPr>
      </p:sp>
      <p:sp>
        <p:nvSpPr>
          <p:cNvPr id="65" name="Text 59"/>
          <p:cNvSpPr/>
          <p:nvPr/>
        </p:nvSpPr>
        <p:spPr>
          <a:xfrm>
            <a:off x="10838383" y="589788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‎2-2-1-2‎</a:t>
            </a:r>
            <a:endParaRPr lang="ar-SA" sz="800" dirty="0"/>
          </a:p>
        </p:txBody>
      </p:sp>
      <p:sp>
        <p:nvSpPr>
          <p:cNvPr id="66" name="Shape 60"/>
          <p:cNvSpPr/>
          <p:nvPr/>
        </p:nvSpPr>
        <p:spPr>
          <a:xfrm>
            <a:off x="457200" y="5138928"/>
            <a:ext cx="6997903" cy="1316736"/>
          </a:xfrm>
          <a:prstGeom prst="roundRect">
            <a:avLst>
              <a:gd name="adj" fmla="val 6250"/>
            </a:avLst>
          </a:prstGeom>
          <a:solidFill>
            <a:srgbClr val="095242"/>
          </a:solidFill>
          <a:ln/>
          <a:effectLst>
            <a:outerShdw sx="100000" sy="100000" kx="0" ky="0" algn="bl" rotWithShape="0" blurRad="127000" dist="31750" dir="5400000">
              <a:srgbClr val="062A21">
                <a:alpha val="20000"/>
              </a:srgbClr>
            </a:outerShdw>
          </a:effectLst>
        </p:spPr>
      </p:sp>
      <p:pic>
        <p:nvPicPr>
          <p:cNvPr id="67" name="Image 4" descr="/tmp/claude-0/-home-user-Mobile1/ab9bbf47-b054-5f6e-be59-70476e095ce8/scratchpad/assets/icons/sparkles_white.png">    </p:cNvPr>
          <p:cNvPicPr>
            <a:picLocks noChangeAspect="1"/>
          </p:cNvPicPr>
          <p:nvPr/>
        </p:nvPicPr>
        <p:blipFill>
          <a:blip r:embed="rId5"/>
          <a:stretch>
            <a:fillRect/>
          </a:stretch>
        </p:blipFill>
        <p:spPr>
          <a:xfrm>
            <a:off x="6997903" y="5248656"/>
            <a:ext cx="256032" cy="256032"/>
          </a:xfrm>
          <a:prstGeom prst="rect">
            <a:avLst/>
          </a:prstGeom>
        </p:spPr>
      </p:pic>
      <p:sp>
        <p:nvSpPr>
          <p:cNvPr id="68" name="Text 61"/>
          <p:cNvSpPr/>
          <p:nvPr/>
        </p:nvSpPr>
        <p:spPr>
          <a:xfrm>
            <a:off x="731520" y="5230368"/>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69" name="Text 62"/>
          <p:cNvSpPr/>
          <p:nvPr/>
        </p:nvSpPr>
        <p:spPr>
          <a:xfrm>
            <a:off x="731520" y="5550408"/>
            <a:ext cx="6449263" cy="813816"/>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رفع تفعيل المنصات الإلكترونية لجميع الفصول • إدخال أدوات الذكاء الاصطناعي في التدريس • ملفات إنجاز رقمية موثّقة.</a:t>
            </a:r>
            <a:endParaRPr lang="ar-SA" sz="9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٩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٣٢</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٩: الارتقاء بمستوى التجربة الرقمية</a:t>
            </a:r>
            <a:endParaRPr lang="ar-SA" sz="15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الارتقاء بمستوى التجربة الرقمية</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تعزيز التحول الرقمي في المدرسة وتوظيف التقنيات الحديثة والذكاء الاصطناعي في عمليتي التعليم والتعلم، ورفع كفاءة استخدام المنصات الرقمية والأنظمة الإلكترونية، بما يسهم في تحسين جودة الأداء التعليمي والإداري وتحقيق مستهدفات وزارة التعليم.</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وصف المحور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استخدام المنصات الرقمية وتوظيف الذكاء الاصطناعي في التعلم بنسبة ٨٠٪ خلال العام الدراسي.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دروس رقمية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منصة مدرستي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الحاسب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أجهزة + منصات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التعليم الرقمي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منصات + محتوى</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منصة مدرستي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الحاسب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حسابات + متابعة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التعلم الإلكتروني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٢</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أدوات، تطبيقات</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الحاسب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أجهزة محدثة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التقنية الرقمية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٣</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محاضرات، ورش</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الحاسب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محتوى توعية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التوجيه الطلابي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المواطنة الرقمية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البيئة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٤</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توثيق، متابعة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لا يوجد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الحاسب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نظام موحد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ملفات الإنجاز الإلكترونية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٥</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مكتبة رقمية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وزارة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أمين المصادر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حسابات + موارد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مصادر التعلم الرقمية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٦</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ضوابط، توعية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هيئة الأمن السيبراني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المرشد</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الحاسب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خبير أمن سيبراني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ربعي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الأمن الرقمي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٧</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ورش، مشاريع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موهبة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الحاسب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أدوات ذكاء اصطناعي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شهري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توظيف الذكاء الاصطناعي</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٨</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حصص، تطبيق</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طلاب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المعلم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الحاسب</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أجهزة + محتوى</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أسبوعي</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النشاط</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البرمجة</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التعليم والتعلم</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6027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إدخال، تحليل</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جميع</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إدارة التعليم</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اللجان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الإدارة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أنظمة معتمدة</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مستمر</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١-٢</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40" dirty="0">
                          <a:solidFill>
                            <a:srgbClr val="34473F"/>
                          </a:solidFill>
                          <a:latin typeface="Tajawal" pitchFamily="34" charset="0"/>
                          <a:ea typeface="Tajawal" pitchFamily="34" charset="-122"/>
                          <a:cs typeface="Tajawal" pitchFamily="34" charset="-120"/>
                        </a:rPr>
                        <a:t>خطة التحسين</a:t>
                      </a:r>
                      <a:endParaRPr lang="ar-SA" sz="7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750" b="1" dirty="0">
                          <a:solidFill>
                            <a:srgbClr val="04352B"/>
                          </a:solidFill>
                          <a:latin typeface="Tajawal" pitchFamily="34" charset="0"/>
                          <a:ea typeface="Tajawal" pitchFamily="34" charset="-122"/>
                          <a:cs typeface="Tajawal" pitchFamily="34" charset="-120"/>
                        </a:rPr>
                        <a:t>الأنظمة الإلكترونية للتقويم</a:t>
                      </a:r>
                      <a:endParaRPr lang="ar-SA" sz="7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الإدارة المدرسية</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730" dirty="0">
                          <a:solidFill>
                            <a:srgbClr val="34473F"/>
                          </a:solidFill>
                          <a:latin typeface="Tajawal" pitchFamily="34" charset="0"/>
                          <a:ea typeface="Tajawal" pitchFamily="34" charset="-122"/>
                          <a:cs typeface="Tajawal" pitchFamily="34" charset="-120"/>
                        </a:rPr>
                        <a:t>١٠</a:t>
                      </a:r>
                      <a:endParaRPr lang="ar-SA" sz="73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الاستراتيجي ١٠</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٣٣</a:t>
            </a:r>
            <a:endParaRPr lang="ar-SA" sz="900" dirty="0"/>
          </a:p>
        </p:txBody>
      </p:sp>
      <p:pic>
        <p:nvPicPr>
          <p:cNvPr id="5" name="Image 1" descr="/tmp/claude-0/-home-user-Mobile1/ab9bbf47-b054-5f6e-be59-70476e095ce8/scratchpad/assets/band_goal.jpg">    </p:cNvPr>
          <p:cNvPicPr>
            <a:picLocks noChangeAspect="1"/>
          </p:cNvPicPr>
          <p:nvPr/>
        </p:nvPicPr>
        <p:blipFill>
          <a:blip r:embed="rId2"/>
          <a:stretch>
            <a:fillRect/>
          </a:stretch>
        </p:blipFill>
        <p:spPr>
          <a:xfrm>
            <a:off x="457200" y="274320"/>
            <a:ext cx="11277295" cy="1371600"/>
          </a:xfrm>
          <a:prstGeom prst="rect">
            <a:avLst/>
          </a:prstGeom>
        </p:spPr>
      </p:pic>
      <p:pic>
        <p:nvPicPr>
          <p:cNvPr id="6" name="Image 2" descr="/tmp/claude-0/-home-user-Mobile1/ab9bbf47-b054-5f6e-be59-70476e095ce8/scratchpad/assets/moe_white.png">    </p:cNvPr>
          <p:cNvPicPr>
            <a:picLocks noChangeAspect="1"/>
          </p:cNvPicPr>
          <p:nvPr/>
        </p:nvPicPr>
        <p:blipFill>
          <a:blip r:embed="rId3"/>
          <a:stretch>
            <a:fillRect/>
          </a:stretch>
        </p:blipFill>
        <p:spPr>
          <a:xfrm>
            <a:off x="859536" y="502920"/>
            <a:ext cx="1170432" cy="905256"/>
          </a:xfrm>
          <a:prstGeom prst="rect">
            <a:avLst/>
          </a:prstGeom>
        </p:spPr>
      </p:pic>
      <p:sp>
        <p:nvSpPr>
          <p:cNvPr id="7" name="Text 2"/>
          <p:cNvSpPr/>
          <p:nvPr/>
        </p:nvSpPr>
        <p:spPr>
          <a:xfrm>
            <a:off x="9768535" y="274320"/>
            <a:ext cx="1783080" cy="1371600"/>
          </a:xfrm>
          <a:prstGeom prst="rect">
            <a:avLst/>
          </a:prstGeom>
          <a:noFill/>
          <a:ln/>
        </p:spPr>
        <p:txBody>
          <a:bodyPr wrap="square" lIns="0" tIns="0" rIns="0" bIns="0" rtlCol="0" anchor="ctr"/>
          <a:lstStyle/>
          <a:p>
            <a:pPr rtl="1" algn="l" indent="0" marL="0">
              <a:buNone/>
            </a:pPr>
            <a:r>
              <a:rPr lang="ar-SA" altLang="en-US" sz="6600" dirty="0">
                <a:solidFill>
                  <a:srgbClr val="0C6553"/>
                </a:solidFill>
                <a:latin typeface="Tajawal ExtraBold" pitchFamily="34" charset="0"/>
                <a:ea typeface="Tajawal ExtraBold" pitchFamily="34" charset="-122"/>
                <a:cs typeface="Tajawal ExtraBold" pitchFamily="34" charset="-120"/>
              </a:rPr>
              <a:t>10</a:t>
            </a:r>
            <a:endParaRPr lang="ar-SA" sz="6600" dirty="0"/>
          </a:p>
        </p:txBody>
      </p:sp>
      <p:sp>
        <p:nvSpPr>
          <p:cNvPr id="8" name="Text 3"/>
          <p:cNvSpPr/>
          <p:nvPr/>
        </p:nvSpPr>
        <p:spPr>
          <a:xfrm>
            <a:off x="2468880" y="475488"/>
            <a:ext cx="8899855" cy="310896"/>
          </a:xfrm>
          <a:prstGeom prst="rect">
            <a:avLst/>
          </a:prstGeom>
          <a:noFill/>
          <a:ln/>
        </p:spPr>
        <p:txBody>
          <a:bodyPr wrap="square" lIns="0" tIns="0" rIns="0" bIns="0" rtlCol="0" anchor="t"/>
          <a:lstStyle/>
          <a:p>
            <a:pPr rtl="1" algn="r" indent="0" marL="0">
              <a:buNone/>
            </a:pPr>
            <a:r>
              <a:rPr lang="ar-SA" altLang="en-US" sz="1200" b="1" dirty="0">
                <a:solidFill>
                  <a:srgbClr val="C9A45C"/>
                </a:solidFill>
                <a:latin typeface="Tajawal" pitchFamily="34" charset="0"/>
                <a:ea typeface="Tajawal" pitchFamily="34" charset="-122"/>
                <a:cs typeface="Tajawal" pitchFamily="34" charset="-120"/>
              </a:rPr>
              <a:t>الهدف الاستراتيجي رقم ١٠</a:t>
            </a:r>
            <a:endParaRPr lang="ar-SA" sz="1200" dirty="0"/>
          </a:p>
        </p:txBody>
      </p:sp>
      <p:sp>
        <p:nvSpPr>
          <p:cNvPr id="9" name="Text 4"/>
          <p:cNvSpPr/>
          <p:nvPr/>
        </p:nvSpPr>
        <p:spPr>
          <a:xfrm>
            <a:off x="2468880" y="804672"/>
            <a:ext cx="8899855" cy="621792"/>
          </a:xfrm>
          <a:prstGeom prst="rect">
            <a:avLst/>
          </a:prstGeom>
          <a:noFill/>
          <a:ln/>
        </p:spPr>
        <p:txBody>
          <a:bodyPr wrap="square" lIns="0" tIns="0" rIns="0" bIns="0" rtlCol="0" anchor="ctr"/>
          <a:lstStyle/>
          <a:p>
            <a:pPr rtl="1" algn="r" indent="0" marL="0">
              <a:buNone/>
            </a:pPr>
            <a:r>
              <a:rPr lang="ar-SA" altLang="en-US" sz="2200" dirty="0">
                <a:solidFill>
                  <a:srgbClr val="FFFFFF"/>
                </a:solidFill>
                <a:latin typeface="Tajawal ExtraBold" pitchFamily="34" charset="0"/>
                <a:ea typeface="Tajawal ExtraBold" pitchFamily="34" charset="-122"/>
                <a:cs typeface="Tajawal ExtraBold" pitchFamily="34" charset="-120"/>
              </a:rPr>
              <a:t>تعزيز الحوكمة والالتزام وإدارة المخاطر</a:t>
            </a:r>
            <a:endParaRPr lang="ar-SA" sz="2200" dirty="0"/>
          </a:p>
        </p:txBody>
      </p:sp>
      <p:sp>
        <p:nvSpPr>
          <p:cNvPr id="10" name="Shape 5"/>
          <p:cNvSpPr/>
          <p:nvPr/>
        </p:nvSpPr>
        <p:spPr>
          <a:xfrm>
            <a:off x="7253935" y="1847088"/>
            <a:ext cx="4480560"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pic>
        <p:nvPicPr>
          <p:cNvPr id="11" name="Image 3" descr="/tmp/claude-0/-home-user-Mobile1/ab9bbf47-b054-5f6e-be59-70476e095ce8/scratchpad/assets/arc_white.png">    </p:cNvPr>
          <p:cNvPicPr>
            <a:picLocks noChangeAspect="1"/>
          </p:cNvPicPr>
          <p:nvPr/>
        </p:nvPicPr>
        <p:blipFill>
          <a:blip r:embed="rId4">
            <a:alphaModFix amt="28000"/>
          </a:blip>
          <a:stretch>
            <a:fillRect/>
          </a:stretch>
        </p:blipFill>
        <p:spPr>
          <a:xfrm>
            <a:off x="10545775" y="1591056"/>
            <a:ext cx="1463040" cy="1463040"/>
          </a:xfrm>
          <a:prstGeom prst="rect">
            <a:avLst/>
          </a:prstGeom>
        </p:spPr>
      </p:pic>
      <p:sp>
        <p:nvSpPr>
          <p:cNvPr id="12" name="Text 6"/>
          <p:cNvSpPr/>
          <p:nvPr/>
        </p:nvSpPr>
        <p:spPr>
          <a:xfrm>
            <a:off x="7528255" y="1847088"/>
            <a:ext cx="1371600" cy="969264"/>
          </a:xfrm>
          <a:prstGeom prst="rect">
            <a:avLst/>
          </a:prstGeom>
          <a:noFill/>
          <a:ln/>
        </p:spPr>
        <p:txBody>
          <a:bodyPr wrap="square" lIns="0" tIns="0" rIns="0" bIns="0" rtlCol="0" anchor="ctr"/>
          <a:lstStyle/>
          <a:p>
            <a:pPr rtl="1" algn="ctr" indent="0" marL="0">
              <a:buNone/>
            </a:pPr>
            <a:r>
              <a:rPr lang="ar-SA" altLang="en-US" sz="3000" dirty="0">
                <a:solidFill>
                  <a:srgbClr val="FFFFFF"/>
                </a:solidFill>
                <a:latin typeface="Tajawal ExtraBold" pitchFamily="34" charset="0"/>
                <a:ea typeface="Tajawal ExtraBold" pitchFamily="34" charset="-122"/>
                <a:cs typeface="Tajawal ExtraBold" pitchFamily="34" charset="-120"/>
              </a:rPr>
              <a:t>١٥</a:t>
            </a:r>
            <a:endParaRPr lang="ar-SA" sz="3000" dirty="0"/>
          </a:p>
        </p:txBody>
      </p:sp>
      <p:sp>
        <p:nvSpPr>
          <p:cNvPr id="13" name="Text 7"/>
          <p:cNvSpPr/>
          <p:nvPr/>
        </p:nvSpPr>
        <p:spPr>
          <a:xfrm>
            <a:off x="8945575" y="1847088"/>
            <a:ext cx="1645920" cy="969264"/>
          </a:xfrm>
          <a:prstGeom prst="rect">
            <a:avLst/>
          </a:prstGeom>
          <a:noFill/>
          <a:ln/>
        </p:spPr>
        <p:txBody>
          <a:bodyPr wrap="square" lIns="0" tIns="0" rIns="0" bIns="0" rtlCol="0" anchor="ctr"/>
          <a:lstStyle/>
          <a:p>
            <a:pPr rtl="1" algn="r" indent="0" marL="0">
              <a:buNone/>
            </a:pPr>
            <a:r>
              <a:rPr lang="ar-SA" altLang="en-US" sz="1250" b="1" dirty="0">
                <a:solidFill>
                  <a:srgbClr val="CFE2DB"/>
                </a:solidFill>
                <a:latin typeface="Tajawal" pitchFamily="34" charset="0"/>
                <a:ea typeface="Tajawal" pitchFamily="34" charset="-122"/>
                <a:cs typeface="Tajawal" pitchFamily="34" charset="-120"/>
              </a:rPr>
              <a:t>عدد البرامج التشغيلية</a:t>
            </a:r>
            <a:endParaRPr lang="ar-SA" sz="1250" dirty="0"/>
          </a:p>
        </p:txBody>
      </p:sp>
      <p:sp>
        <p:nvSpPr>
          <p:cNvPr id="14" name="Shape 8"/>
          <p:cNvSpPr/>
          <p:nvPr/>
        </p:nvSpPr>
        <p:spPr>
          <a:xfrm>
            <a:off x="3855568"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Text 9"/>
          <p:cNvSpPr/>
          <p:nvPr/>
        </p:nvSpPr>
        <p:spPr>
          <a:xfrm>
            <a:off x="4020160"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٨</a:t>
            </a:r>
            <a:endParaRPr lang="ar-SA" sz="2200" dirty="0"/>
          </a:p>
        </p:txBody>
      </p:sp>
      <p:sp>
        <p:nvSpPr>
          <p:cNvPr id="16" name="Text 10"/>
          <p:cNvSpPr/>
          <p:nvPr/>
        </p:nvSpPr>
        <p:spPr>
          <a:xfrm>
            <a:off x="5117440"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عدد مؤشرات الاعتماد المرتبطة</a:t>
            </a:r>
            <a:endParaRPr lang="ar-SA" sz="1050" dirty="0"/>
          </a:p>
        </p:txBody>
      </p:sp>
      <p:sp>
        <p:nvSpPr>
          <p:cNvPr id="17" name="Shape 11"/>
          <p:cNvSpPr/>
          <p:nvPr/>
        </p:nvSpPr>
        <p:spPr>
          <a:xfrm>
            <a:off x="457200" y="1847088"/>
            <a:ext cx="3142336" cy="969264"/>
          </a:xfrm>
          <a:prstGeom prst="roundRect">
            <a:avLst>
              <a:gd name="adj" fmla="val 8491"/>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8" name="Text 12"/>
          <p:cNvSpPr/>
          <p:nvPr/>
        </p:nvSpPr>
        <p:spPr>
          <a:xfrm>
            <a:off x="621792" y="1847088"/>
            <a:ext cx="1051560" cy="96926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٩٠٪</a:t>
            </a:r>
            <a:endParaRPr lang="ar-SA" sz="2200" dirty="0"/>
          </a:p>
        </p:txBody>
      </p:sp>
      <p:sp>
        <p:nvSpPr>
          <p:cNvPr id="19" name="Text 13"/>
          <p:cNvSpPr/>
          <p:nvPr/>
        </p:nvSpPr>
        <p:spPr>
          <a:xfrm>
            <a:off x="1719072" y="1847088"/>
            <a:ext cx="1715872" cy="969264"/>
          </a:xfrm>
          <a:prstGeom prst="rect">
            <a:avLst/>
          </a:prstGeom>
          <a:noFill/>
          <a:ln/>
        </p:spPr>
        <p:txBody>
          <a:bodyPr wrap="square" lIns="0" tIns="0" rIns="0" bIns="0" rtlCol="0" anchor="ctr"/>
          <a:lstStyle/>
          <a:p>
            <a:pPr rtl="1" algn="r" indent="0" marL="0">
              <a:buNone/>
            </a:pPr>
            <a:r>
              <a:rPr lang="ar-SA" altLang="en-US" sz="1050" b="1" dirty="0">
                <a:solidFill>
                  <a:srgbClr val="34473F"/>
                </a:solidFill>
                <a:latin typeface="Tajawal" pitchFamily="34" charset="0"/>
                <a:ea typeface="Tajawal" pitchFamily="34" charset="-122"/>
                <a:cs typeface="Tajawal" pitchFamily="34" charset="-120"/>
              </a:rPr>
              <a:t>نسبة التحقّق المستهدفة</a:t>
            </a:r>
            <a:endParaRPr lang="ar-SA" sz="1050" dirty="0"/>
          </a:p>
        </p:txBody>
      </p:sp>
      <p:sp>
        <p:nvSpPr>
          <p:cNvPr id="20" name="Shape 14"/>
          <p:cNvSpPr/>
          <p:nvPr/>
        </p:nvSpPr>
        <p:spPr>
          <a:xfrm>
            <a:off x="11652199" y="3127248"/>
            <a:ext cx="82296" cy="82296"/>
          </a:xfrm>
          <a:prstGeom prst="rect">
            <a:avLst/>
          </a:prstGeom>
          <a:solidFill>
            <a:srgbClr val="0089A1"/>
          </a:solidFill>
          <a:ln/>
        </p:spPr>
      </p:sp>
      <p:sp>
        <p:nvSpPr>
          <p:cNvPr id="21" name="Text 15"/>
          <p:cNvSpPr/>
          <p:nvPr/>
        </p:nvSpPr>
        <p:spPr>
          <a:xfrm>
            <a:off x="8351215" y="3035808"/>
            <a:ext cx="32004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البرامج التشغيلية ضمن هذا الهدف</a:t>
            </a:r>
            <a:endParaRPr lang="ar-SA" sz="1250" dirty="0"/>
          </a:p>
        </p:txBody>
      </p:sp>
      <p:sp>
        <p:nvSpPr>
          <p:cNvPr id="22" name="Shape 16"/>
          <p:cNvSpPr/>
          <p:nvPr/>
        </p:nvSpPr>
        <p:spPr>
          <a:xfrm>
            <a:off x="9052331" y="3419856"/>
            <a:ext cx="2682164" cy="420624"/>
          </a:xfrm>
          <a:prstGeom prst="roundRect">
            <a:avLst>
              <a:gd name="adj" fmla="val 19565"/>
            </a:avLst>
          </a:prstGeom>
          <a:solidFill>
            <a:srgbClr val="F2F8F5"/>
          </a:solidFill>
          <a:ln w="9525">
            <a:solidFill>
              <a:srgbClr val="E3EDE8"/>
            </a:solidFill>
            <a:prstDash val="solid"/>
          </a:ln>
        </p:spPr>
      </p:sp>
      <p:sp>
        <p:nvSpPr>
          <p:cNvPr id="23" name="Shape 17"/>
          <p:cNvSpPr/>
          <p:nvPr/>
        </p:nvSpPr>
        <p:spPr>
          <a:xfrm>
            <a:off x="11460175" y="3589020"/>
            <a:ext cx="82296" cy="82296"/>
          </a:xfrm>
          <a:prstGeom prst="ellipse">
            <a:avLst/>
          </a:prstGeom>
          <a:solidFill>
            <a:srgbClr val="0089A1"/>
          </a:solidFill>
          <a:ln/>
        </p:spPr>
      </p:sp>
      <p:sp>
        <p:nvSpPr>
          <p:cNvPr id="24" name="Text 18"/>
          <p:cNvSpPr/>
          <p:nvPr/>
        </p:nvSpPr>
        <p:spPr>
          <a:xfrm>
            <a:off x="9180347"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الخطة التشغيلية</a:t>
            </a:r>
            <a:endParaRPr lang="ar-SA" sz="980" dirty="0"/>
          </a:p>
        </p:txBody>
      </p:sp>
      <p:sp>
        <p:nvSpPr>
          <p:cNvPr id="25" name="Shape 19"/>
          <p:cNvSpPr/>
          <p:nvPr/>
        </p:nvSpPr>
        <p:spPr>
          <a:xfrm>
            <a:off x="6187288" y="3419856"/>
            <a:ext cx="2682164" cy="420624"/>
          </a:xfrm>
          <a:prstGeom prst="roundRect">
            <a:avLst>
              <a:gd name="adj" fmla="val 19565"/>
            </a:avLst>
          </a:prstGeom>
          <a:solidFill>
            <a:srgbClr val="F2F8F5"/>
          </a:solidFill>
          <a:ln w="9525">
            <a:solidFill>
              <a:srgbClr val="E3EDE8"/>
            </a:solidFill>
            <a:prstDash val="solid"/>
          </a:ln>
        </p:spPr>
      </p:sp>
      <p:sp>
        <p:nvSpPr>
          <p:cNvPr id="26" name="Shape 20"/>
          <p:cNvSpPr/>
          <p:nvPr/>
        </p:nvSpPr>
        <p:spPr>
          <a:xfrm>
            <a:off x="8595131" y="3589020"/>
            <a:ext cx="82296" cy="82296"/>
          </a:xfrm>
          <a:prstGeom prst="ellipse">
            <a:avLst/>
          </a:prstGeom>
          <a:solidFill>
            <a:srgbClr val="0089A1"/>
          </a:solidFill>
          <a:ln/>
        </p:spPr>
      </p:sp>
      <p:sp>
        <p:nvSpPr>
          <p:cNvPr id="27" name="Text 21"/>
          <p:cNvSpPr/>
          <p:nvPr/>
        </p:nvSpPr>
        <p:spPr>
          <a:xfrm>
            <a:off x="6315304"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متابعة تنفيذ الخطة</a:t>
            </a:r>
            <a:endParaRPr lang="ar-SA" sz="980" dirty="0"/>
          </a:p>
        </p:txBody>
      </p:sp>
      <p:sp>
        <p:nvSpPr>
          <p:cNvPr id="28" name="Shape 22"/>
          <p:cNvSpPr/>
          <p:nvPr/>
        </p:nvSpPr>
        <p:spPr>
          <a:xfrm>
            <a:off x="3322244" y="3419856"/>
            <a:ext cx="2682164" cy="420624"/>
          </a:xfrm>
          <a:prstGeom prst="roundRect">
            <a:avLst>
              <a:gd name="adj" fmla="val 19565"/>
            </a:avLst>
          </a:prstGeom>
          <a:solidFill>
            <a:srgbClr val="F2F8F5"/>
          </a:solidFill>
          <a:ln w="9525">
            <a:solidFill>
              <a:srgbClr val="E3EDE8"/>
            </a:solidFill>
            <a:prstDash val="solid"/>
          </a:ln>
        </p:spPr>
      </p:sp>
      <p:sp>
        <p:nvSpPr>
          <p:cNvPr id="29" name="Shape 23"/>
          <p:cNvSpPr/>
          <p:nvPr/>
        </p:nvSpPr>
        <p:spPr>
          <a:xfrm>
            <a:off x="5730088" y="3589020"/>
            <a:ext cx="82296" cy="82296"/>
          </a:xfrm>
          <a:prstGeom prst="ellipse">
            <a:avLst/>
          </a:prstGeom>
          <a:solidFill>
            <a:srgbClr val="0089A1"/>
          </a:solidFill>
          <a:ln/>
        </p:spPr>
      </p:sp>
      <p:sp>
        <p:nvSpPr>
          <p:cNvPr id="30" name="Text 24"/>
          <p:cNvSpPr/>
          <p:nvPr/>
        </p:nvSpPr>
        <p:spPr>
          <a:xfrm>
            <a:off x="3450260"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التقويم الذاتي</a:t>
            </a:r>
            <a:endParaRPr lang="ar-SA" sz="980" dirty="0"/>
          </a:p>
        </p:txBody>
      </p:sp>
      <p:sp>
        <p:nvSpPr>
          <p:cNvPr id="31" name="Shape 25"/>
          <p:cNvSpPr/>
          <p:nvPr/>
        </p:nvSpPr>
        <p:spPr>
          <a:xfrm>
            <a:off x="457200" y="3419856"/>
            <a:ext cx="2682164" cy="420624"/>
          </a:xfrm>
          <a:prstGeom prst="roundRect">
            <a:avLst>
              <a:gd name="adj" fmla="val 19565"/>
            </a:avLst>
          </a:prstGeom>
          <a:solidFill>
            <a:srgbClr val="F2F8F5"/>
          </a:solidFill>
          <a:ln w="9525">
            <a:solidFill>
              <a:srgbClr val="E3EDE8"/>
            </a:solidFill>
            <a:prstDash val="solid"/>
          </a:ln>
        </p:spPr>
      </p:sp>
      <p:sp>
        <p:nvSpPr>
          <p:cNvPr id="32" name="Shape 26"/>
          <p:cNvSpPr/>
          <p:nvPr/>
        </p:nvSpPr>
        <p:spPr>
          <a:xfrm>
            <a:off x="2865044" y="3589020"/>
            <a:ext cx="82296" cy="82296"/>
          </a:xfrm>
          <a:prstGeom prst="ellipse">
            <a:avLst/>
          </a:prstGeom>
          <a:solidFill>
            <a:srgbClr val="0089A1"/>
          </a:solidFill>
          <a:ln/>
        </p:spPr>
      </p:sp>
      <p:sp>
        <p:nvSpPr>
          <p:cNvPr id="33" name="Text 27"/>
          <p:cNvSpPr/>
          <p:nvPr/>
        </p:nvSpPr>
        <p:spPr>
          <a:xfrm>
            <a:off x="585216" y="3419856"/>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خطة التحسين المدرسي</a:t>
            </a:r>
            <a:endParaRPr lang="ar-SA" sz="980" dirty="0"/>
          </a:p>
        </p:txBody>
      </p:sp>
      <p:sp>
        <p:nvSpPr>
          <p:cNvPr id="34" name="Shape 28"/>
          <p:cNvSpPr/>
          <p:nvPr/>
        </p:nvSpPr>
        <p:spPr>
          <a:xfrm>
            <a:off x="9052331" y="3950208"/>
            <a:ext cx="2682164" cy="420624"/>
          </a:xfrm>
          <a:prstGeom prst="roundRect">
            <a:avLst>
              <a:gd name="adj" fmla="val 19565"/>
            </a:avLst>
          </a:prstGeom>
          <a:solidFill>
            <a:srgbClr val="F2F8F5"/>
          </a:solidFill>
          <a:ln w="9525">
            <a:solidFill>
              <a:srgbClr val="E3EDE8"/>
            </a:solidFill>
            <a:prstDash val="solid"/>
          </a:ln>
        </p:spPr>
      </p:sp>
      <p:sp>
        <p:nvSpPr>
          <p:cNvPr id="35" name="Shape 29"/>
          <p:cNvSpPr/>
          <p:nvPr/>
        </p:nvSpPr>
        <p:spPr>
          <a:xfrm>
            <a:off x="11460175" y="4119372"/>
            <a:ext cx="82296" cy="82296"/>
          </a:xfrm>
          <a:prstGeom prst="ellipse">
            <a:avLst/>
          </a:prstGeom>
          <a:solidFill>
            <a:srgbClr val="0089A1"/>
          </a:solidFill>
          <a:ln/>
        </p:spPr>
      </p:sp>
      <p:sp>
        <p:nvSpPr>
          <p:cNvPr id="36" name="Text 30"/>
          <p:cNvSpPr/>
          <p:nvPr/>
        </p:nvSpPr>
        <p:spPr>
          <a:xfrm>
            <a:off x="9180347"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إدارة المخاطر</a:t>
            </a:r>
            <a:endParaRPr lang="ar-SA" sz="980" dirty="0"/>
          </a:p>
        </p:txBody>
      </p:sp>
      <p:sp>
        <p:nvSpPr>
          <p:cNvPr id="37" name="Shape 31"/>
          <p:cNvSpPr/>
          <p:nvPr/>
        </p:nvSpPr>
        <p:spPr>
          <a:xfrm>
            <a:off x="6187288" y="3950208"/>
            <a:ext cx="2682164" cy="420624"/>
          </a:xfrm>
          <a:prstGeom prst="roundRect">
            <a:avLst>
              <a:gd name="adj" fmla="val 19565"/>
            </a:avLst>
          </a:prstGeom>
          <a:solidFill>
            <a:srgbClr val="F2F8F5"/>
          </a:solidFill>
          <a:ln w="9525">
            <a:solidFill>
              <a:srgbClr val="E3EDE8"/>
            </a:solidFill>
            <a:prstDash val="solid"/>
          </a:ln>
        </p:spPr>
      </p:sp>
      <p:sp>
        <p:nvSpPr>
          <p:cNvPr id="38" name="Shape 32"/>
          <p:cNvSpPr/>
          <p:nvPr/>
        </p:nvSpPr>
        <p:spPr>
          <a:xfrm>
            <a:off x="8595131" y="4119372"/>
            <a:ext cx="82296" cy="82296"/>
          </a:xfrm>
          <a:prstGeom prst="ellipse">
            <a:avLst/>
          </a:prstGeom>
          <a:solidFill>
            <a:srgbClr val="0089A1"/>
          </a:solidFill>
          <a:ln/>
        </p:spPr>
      </p:sp>
      <p:sp>
        <p:nvSpPr>
          <p:cNvPr id="39" name="Text 33"/>
          <p:cNvSpPr/>
          <p:nvPr/>
        </p:nvSpPr>
        <p:spPr>
          <a:xfrm>
            <a:off x="6315304"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مؤشرات الأداء</a:t>
            </a:r>
            <a:endParaRPr lang="ar-SA" sz="980" dirty="0"/>
          </a:p>
        </p:txBody>
      </p:sp>
      <p:sp>
        <p:nvSpPr>
          <p:cNvPr id="40" name="Shape 34"/>
          <p:cNvSpPr/>
          <p:nvPr/>
        </p:nvSpPr>
        <p:spPr>
          <a:xfrm>
            <a:off x="3322244" y="3950208"/>
            <a:ext cx="2682164" cy="420624"/>
          </a:xfrm>
          <a:prstGeom prst="roundRect">
            <a:avLst>
              <a:gd name="adj" fmla="val 19565"/>
            </a:avLst>
          </a:prstGeom>
          <a:solidFill>
            <a:srgbClr val="F2F8F5"/>
          </a:solidFill>
          <a:ln w="9525">
            <a:solidFill>
              <a:srgbClr val="E3EDE8"/>
            </a:solidFill>
            <a:prstDash val="solid"/>
          </a:ln>
        </p:spPr>
      </p:sp>
      <p:sp>
        <p:nvSpPr>
          <p:cNvPr id="41" name="Shape 35"/>
          <p:cNvSpPr/>
          <p:nvPr/>
        </p:nvSpPr>
        <p:spPr>
          <a:xfrm>
            <a:off x="5730088" y="4119372"/>
            <a:ext cx="82296" cy="82296"/>
          </a:xfrm>
          <a:prstGeom prst="ellipse">
            <a:avLst/>
          </a:prstGeom>
          <a:solidFill>
            <a:srgbClr val="0089A1"/>
          </a:solidFill>
          <a:ln/>
        </p:spPr>
      </p:sp>
      <p:sp>
        <p:nvSpPr>
          <p:cNvPr id="42" name="Text 36"/>
          <p:cNvSpPr/>
          <p:nvPr/>
        </p:nvSpPr>
        <p:spPr>
          <a:xfrm>
            <a:off x="3450260"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الحوكمة المدرسية</a:t>
            </a:r>
            <a:endParaRPr lang="ar-SA" sz="980" dirty="0"/>
          </a:p>
        </p:txBody>
      </p:sp>
      <p:sp>
        <p:nvSpPr>
          <p:cNvPr id="43" name="Shape 37"/>
          <p:cNvSpPr/>
          <p:nvPr/>
        </p:nvSpPr>
        <p:spPr>
          <a:xfrm>
            <a:off x="457200" y="3950208"/>
            <a:ext cx="2682164" cy="420624"/>
          </a:xfrm>
          <a:prstGeom prst="roundRect">
            <a:avLst>
              <a:gd name="adj" fmla="val 19565"/>
            </a:avLst>
          </a:prstGeom>
          <a:solidFill>
            <a:srgbClr val="F2F8F5"/>
          </a:solidFill>
          <a:ln w="9525">
            <a:solidFill>
              <a:srgbClr val="E3EDE8"/>
            </a:solidFill>
            <a:prstDash val="solid"/>
          </a:ln>
        </p:spPr>
      </p:sp>
      <p:sp>
        <p:nvSpPr>
          <p:cNvPr id="44" name="Shape 38"/>
          <p:cNvSpPr/>
          <p:nvPr/>
        </p:nvSpPr>
        <p:spPr>
          <a:xfrm>
            <a:off x="2865044" y="4119372"/>
            <a:ext cx="82296" cy="82296"/>
          </a:xfrm>
          <a:prstGeom prst="ellipse">
            <a:avLst/>
          </a:prstGeom>
          <a:solidFill>
            <a:srgbClr val="0089A1"/>
          </a:solidFill>
          <a:ln/>
        </p:spPr>
      </p:sp>
      <p:sp>
        <p:nvSpPr>
          <p:cNvPr id="45" name="Text 39"/>
          <p:cNvSpPr/>
          <p:nvPr/>
        </p:nvSpPr>
        <p:spPr>
          <a:xfrm>
            <a:off x="585216" y="3950208"/>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قياس الأثر</a:t>
            </a:r>
            <a:endParaRPr lang="ar-SA" sz="980" dirty="0"/>
          </a:p>
        </p:txBody>
      </p:sp>
      <p:sp>
        <p:nvSpPr>
          <p:cNvPr id="46" name="Shape 40"/>
          <p:cNvSpPr/>
          <p:nvPr/>
        </p:nvSpPr>
        <p:spPr>
          <a:xfrm>
            <a:off x="9052331" y="4480560"/>
            <a:ext cx="2682164" cy="420624"/>
          </a:xfrm>
          <a:prstGeom prst="roundRect">
            <a:avLst>
              <a:gd name="adj" fmla="val 19565"/>
            </a:avLst>
          </a:prstGeom>
          <a:solidFill>
            <a:srgbClr val="F2F8F5"/>
          </a:solidFill>
          <a:ln w="9525">
            <a:solidFill>
              <a:srgbClr val="E3EDE8"/>
            </a:solidFill>
            <a:prstDash val="solid"/>
          </a:ln>
        </p:spPr>
      </p:sp>
      <p:sp>
        <p:nvSpPr>
          <p:cNvPr id="47" name="Shape 41"/>
          <p:cNvSpPr/>
          <p:nvPr/>
        </p:nvSpPr>
        <p:spPr>
          <a:xfrm>
            <a:off x="11460175" y="4649724"/>
            <a:ext cx="82296" cy="82296"/>
          </a:xfrm>
          <a:prstGeom prst="ellipse">
            <a:avLst/>
          </a:prstGeom>
          <a:solidFill>
            <a:srgbClr val="0089A1"/>
          </a:solidFill>
          <a:ln/>
        </p:spPr>
      </p:sp>
      <p:sp>
        <p:nvSpPr>
          <p:cNvPr id="48" name="Text 42"/>
          <p:cNvSpPr/>
          <p:nvPr/>
        </p:nvSpPr>
        <p:spPr>
          <a:xfrm>
            <a:off x="9180347"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متابعة البلاغات</a:t>
            </a:r>
            <a:endParaRPr lang="ar-SA" sz="980" dirty="0"/>
          </a:p>
        </p:txBody>
      </p:sp>
      <p:sp>
        <p:nvSpPr>
          <p:cNvPr id="49" name="Shape 43"/>
          <p:cNvSpPr/>
          <p:nvPr/>
        </p:nvSpPr>
        <p:spPr>
          <a:xfrm>
            <a:off x="6187288" y="4480560"/>
            <a:ext cx="2682164" cy="420624"/>
          </a:xfrm>
          <a:prstGeom prst="roundRect">
            <a:avLst>
              <a:gd name="adj" fmla="val 19565"/>
            </a:avLst>
          </a:prstGeom>
          <a:solidFill>
            <a:srgbClr val="F2F8F5"/>
          </a:solidFill>
          <a:ln w="9525">
            <a:solidFill>
              <a:srgbClr val="E3EDE8"/>
            </a:solidFill>
            <a:prstDash val="solid"/>
          </a:ln>
        </p:spPr>
      </p:sp>
      <p:sp>
        <p:nvSpPr>
          <p:cNvPr id="50" name="Shape 44"/>
          <p:cNvSpPr/>
          <p:nvPr/>
        </p:nvSpPr>
        <p:spPr>
          <a:xfrm>
            <a:off x="8595131" y="4649724"/>
            <a:ext cx="82296" cy="82296"/>
          </a:xfrm>
          <a:prstGeom prst="ellipse">
            <a:avLst/>
          </a:prstGeom>
          <a:solidFill>
            <a:srgbClr val="0089A1"/>
          </a:solidFill>
          <a:ln/>
        </p:spPr>
      </p:sp>
      <p:sp>
        <p:nvSpPr>
          <p:cNvPr id="51" name="Text 45"/>
          <p:cNvSpPr/>
          <p:nvPr/>
        </p:nvSpPr>
        <p:spPr>
          <a:xfrm>
            <a:off x="6315304"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سجلات الأمن والسلامة</a:t>
            </a:r>
            <a:endParaRPr lang="ar-SA" sz="980" dirty="0"/>
          </a:p>
        </p:txBody>
      </p:sp>
      <p:sp>
        <p:nvSpPr>
          <p:cNvPr id="52" name="Shape 46"/>
          <p:cNvSpPr/>
          <p:nvPr/>
        </p:nvSpPr>
        <p:spPr>
          <a:xfrm>
            <a:off x="3322244" y="4480560"/>
            <a:ext cx="2682164" cy="420624"/>
          </a:xfrm>
          <a:prstGeom prst="roundRect">
            <a:avLst>
              <a:gd name="adj" fmla="val 19565"/>
            </a:avLst>
          </a:prstGeom>
          <a:solidFill>
            <a:srgbClr val="F2F8F5"/>
          </a:solidFill>
          <a:ln w="9525">
            <a:solidFill>
              <a:srgbClr val="E3EDE8"/>
            </a:solidFill>
            <a:prstDash val="solid"/>
          </a:ln>
        </p:spPr>
      </p:sp>
      <p:sp>
        <p:nvSpPr>
          <p:cNvPr id="53" name="Shape 47"/>
          <p:cNvSpPr/>
          <p:nvPr/>
        </p:nvSpPr>
        <p:spPr>
          <a:xfrm>
            <a:off x="5730088" y="4649724"/>
            <a:ext cx="82296" cy="82296"/>
          </a:xfrm>
          <a:prstGeom prst="ellipse">
            <a:avLst/>
          </a:prstGeom>
          <a:solidFill>
            <a:srgbClr val="0089A1"/>
          </a:solidFill>
          <a:ln/>
        </p:spPr>
      </p:sp>
      <p:sp>
        <p:nvSpPr>
          <p:cNvPr id="54" name="Text 48"/>
          <p:cNvSpPr/>
          <p:nvPr/>
        </p:nvSpPr>
        <p:spPr>
          <a:xfrm>
            <a:off x="3450260"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خطط الطوارئ</a:t>
            </a:r>
            <a:endParaRPr lang="ar-SA" sz="980" dirty="0"/>
          </a:p>
        </p:txBody>
      </p:sp>
      <p:sp>
        <p:nvSpPr>
          <p:cNvPr id="55" name="Shape 49"/>
          <p:cNvSpPr/>
          <p:nvPr/>
        </p:nvSpPr>
        <p:spPr>
          <a:xfrm>
            <a:off x="457200" y="4480560"/>
            <a:ext cx="2682164" cy="420624"/>
          </a:xfrm>
          <a:prstGeom prst="roundRect">
            <a:avLst>
              <a:gd name="adj" fmla="val 19565"/>
            </a:avLst>
          </a:prstGeom>
          <a:solidFill>
            <a:srgbClr val="F2F8F5"/>
          </a:solidFill>
          <a:ln w="9525">
            <a:solidFill>
              <a:srgbClr val="E3EDE8"/>
            </a:solidFill>
            <a:prstDash val="solid"/>
          </a:ln>
        </p:spPr>
      </p:sp>
      <p:sp>
        <p:nvSpPr>
          <p:cNvPr id="56" name="Shape 50"/>
          <p:cNvSpPr/>
          <p:nvPr/>
        </p:nvSpPr>
        <p:spPr>
          <a:xfrm>
            <a:off x="2865044" y="4649724"/>
            <a:ext cx="82296" cy="82296"/>
          </a:xfrm>
          <a:prstGeom prst="ellipse">
            <a:avLst/>
          </a:prstGeom>
          <a:solidFill>
            <a:srgbClr val="0089A1"/>
          </a:solidFill>
          <a:ln/>
        </p:spPr>
      </p:sp>
      <p:sp>
        <p:nvSpPr>
          <p:cNvPr id="57" name="Text 51"/>
          <p:cNvSpPr/>
          <p:nvPr/>
        </p:nvSpPr>
        <p:spPr>
          <a:xfrm>
            <a:off x="585216" y="4480560"/>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اللجان المدرسية</a:t>
            </a:r>
            <a:endParaRPr lang="ar-SA" sz="980" dirty="0"/>
          </a:p>
        </p:txBody>
      </p:sp>
      <p:sp>
        <p:nvSpPr>
          <p:cNvPr id="58" name="Shape 52"/>
          <p:cNvSpPr/>
          <p:nvPr/>
        </p:nvSpPr>
        <p:spPr>
          <a:xfrm>
            <a:off x="9052331" y="5010912"/>
            <a:ext cx="2682164" cy="420624"/>
          </a:xfrm>
          <a:prstGeom prst="roundRect">
            <a:avLst>
              <a:gd name="adj" fmla="val 19565"/>
            </a:avLst>
          </a:prstGeom>
          <a:solidFill>
            <a:srgbClr val="F2F8F5"/>
          </a:solidFill>
          <a:ln w="9525">
            <a:solidFill>
              <a:srgbClr val="E3EDE8"/>
            </a:solidFill>
            <a:prstDash val="solid"/>
          </a:ln>
        </p:spPr>
      </p:sp>
      <p:sp>
        <p:nvSpPr>
          <p:cNvPr id="59" name="Shape 53"/>
          <p:cNvSpPr/>
          <p:nvPr/>
        </p:nvSpPr>
        <p:spPr>
          <a:xfrm>
            <a:off x="11460175" y="5180076"/>
            <a:ext cx="82296" cy="82296"/>
          </a:xfrm>
          <a:prstGeom prst="ellipse">
            <a:avLst/>
          </a:prstGeom>
          <a:solidFill>
            <a:srgbClr val="0089A1"/>
          </a:solidFill>
          <a:ln/>
        </p:spPr>
      </p:sp>
      <p:sp>
        <p:nvSpPr>
          <p:cNvPr id="60" name="Text 54"/>
          <p:cNvSpPr/>
          <p:nvPr/>
        </p:nvSpPr>
        <p:spPr>
          <a:xfrm>
            <a:off x="9180347" y="5010912"/>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المتابعة والتقويم</a:t>
            </a:r>
            <a:endParaRPr lang="ar-SA" sz="980" dirty="0"/>
          </a:p>
        </p:txBody>
      </p:sp>
      <p:sp>
        <p:nvSpPr>
          <p:cNvPr id="61" name="Shape 55"/>
          <p:cNvSpPr/>
          <p:nvPr/>
        </p:nvSpPr>
        <p:spPr>
          <a:xfrm>
            <a:off x="6187288" y="5010912"/>
            <a:ext cx="2682164" cy="420624"/>
          </a:xfrm>
          <a:prstGeom prst="roundRect">
            <a:avLst>
              <a:gd name="adj" fmla="val 19565"/>
            </a:avLst>
          </a:prstGeom>
          <a:solidFill>
            <a:srgbClr val="F2F8F5"/>
          </a:solidFill>
          <a:ln w="9525">
            <a:solidFill>
              <a:srgbClr val="E3EDE8"/>
            </a:solidFill>
            <a:prstDash val="solid"/>
          </a:ln>
        </p:spPr>
      </p:sp>
      <p:sp>
        <p:nvSpPr>
          <p:cNvPr id="62" name="Shape 56"/>
          <p:cNvSpPr/>
          <p:nvPr/>
        </p:nvSpPr>
        <p:spPr>
          <a:xfrm>
            <a:off x="8595131" y="5180076"/>
            <a:ext cx="82296" cy="82296"/>
          </a:xfrm>
          <a:prstGeom prst="ellipse">
            <a:avLst/>
          </a:prstGeom>
          <a:solidFill>
            <a:srgbClr val="0089A1"/>
          </a:solidFill>
          <a:ln/>
        </p:spPr>
      </p:sp>
      <p:sp>
        <p:nvSpPr>
          <p:cNvPr id="63" name="Text 57"/>
          <p:cNvSpPr/>
          <p:nvPr/>
        </p:nvSpPr>
        <p:spPr>
          <a:xfrm>
            <a:off x="6315304" y="5010912"/>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تحليل النتائج</a:t>
            </a:r>
            <a:endParaRPr lang="ar-SA" sz="980" dirty="0"/>
          </a:p>
        </p:txBody>
      </p:sp>
      <p:sp>
        <p:nvSpPr>
          <p:cNvPr id="64" name="Shape 58"/>
          <p:cNvSpPr/>
          <p:nvPr/>
        </p:nvSpPr>
        <p:spPr>
          <a:xfrm>
            <a:off x="3322244" y="5010912"/>
            <a:ext cx="2682164" cy="420624"/>
          </a:xfrm>
          <a:prstGeom prst="roundRect">
            <a:avLst>
              <a:gd name="adj" fmla="val 19565"/>
            </a:avLst>
          </a:prstGeom>
          <a:solidFill>
            <a:srgbClr val="F2F8F5"/>
          </a:solidFill>
          <a:ln w="9525">
            <a:solidFill>
              <a:srgbClr val="E3EDE8"/>
            </a:solidFill>
            <a:prstDash val="solid"/>
          </a:ln>
        </p:spPr>
      </p:sp>
      <p:sp>
        <p:nvSpPr>
          <p:cNvPr id="65" name="Shape 59"/>
          <p:cNvSpPr/>
          <p:nvPr/>
        </p:nvSpPr>
        <p:spPr>
          <a:xfrm>
            <a:off x="5730088" y="5180076"/>
            <a:ext cx="82296" cy="82296"/>
          </a:xfrm>
          <a:prstGeom prst="ellipse">
            <a:avLst/>
          </a:prstGeom>
          <a:solidFill>
            <a:srgbClr val="0089A1"/>
          </a:solidFill>
          <a:ln/>
        </p:spPr>
      </p:sp>
      <p:sp>
        <p:nvSpPr>
          <p:cNvPr id="66" name="Text 60"/>
          <p:cNvSpPr/>
          <p:nvPr/>
        </p:nvSpPr>
        <p:spPr>
          <a:xfrm>
            <a:off x="3450260" y="5010912"/>
            <a:ext cx="2224964" cy="420624"/>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تقارير الأداء</a:t>
            </a:r>
            <a:endParaRPr lang="ar-SA" sz="980" dirty="0"/>
          </a:p>
        </p:txBody>
      </p:sp>
      <p:sp>
        <p:nvSpPr>
          <p:cNvPr id="67" name="Shape 61"/>
          <p:cNvSpPr/>
          <p:nvPr/>
        </p:nvSpPr>
        <p:spPr>
          <a:xfrm>
            <a:off x="7711135" y="5669280"/>
            <a:ext cx="4023360" cy="786384"/>
          </a:xfrm>
          <a:prstGeom prst="roundRect">
            <a:avLst>
              <a:gd name="adj" fmla="val 10465"/>
            </a:avLst>
          </a:prstGeom>
          <a:solidFill>
            <a:srgbClr val="FFFFFF"/>
          </a:solidFill>
          <a:ln w="9525">
            <a:solidFill>
              <a:srgbClr val="E3EDE8"/>
            </a:solidFill>
            <a:prstDash val="solid"/>
          </a:ln>
        </p:spPr>
      </p:sp>
      <p:sp>
        <p:nvSpPr>
          <p:cNvPr id="68" name="Text 62"/>
          <p:cNvSpPr/>
          <p:nvPr/>
        </p:nvSpPr>
        <p:spPr>
          <a:xfrm>
            <a:off x="7948879" y="5760720"/>
            <a:ext cx="3566160" cy="274320"/>
          </a:xfrm>
          <a:prstGeom prst="rect">
            <a:avLst/>
          </a:prstGeom>
          <a:noFill/>
          <a:ln/>
        </p:spPr>
        <p:txBody>
          <a:bodyPr wrap="square" lIns="0" tIns="0" rIns="0" bIns="0" rtlCol="0" anchor="t"/>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مؤشرات الاعتماد المدرسي</a:t>
            </a:r>
            <a:endParaRPr lang="ar-SA" sz="1050" dirty="0"/>
          </a:p>
        </p:txBody>
      </p:sp>
      <p:sp>
        <p:nvSpPr>
          <p:cNvPr id="69" name="Shape 63"/>
          <p:cNvSpPr/>
          <p:nvPr/>
        </p:nvSpPr>
        <p:spPr>
          <a:xfrm>
            <a:off x="10838383" y="6089904"/>
            <a:ext cx="658368" cy="274320"/>
          </a:xfrm>
          <a:prstGeom prst="roundRect">
            <a:avLst>
              <a:gd name="adj" fmla="val 20000"/>
            </a:avLst>
          </a:prstGeom>
          <a:solidFill>
            <a:srgbClr val="FFFFFF"/>
          </a:solidFill>
          <a:ln w="9525">
            <a:solidFill>
              <a:srgbClr val="095242"/>
            </a:solidFill>
            <a:prstDash val="solid"/>
          </a:ln>
        </p:spPr>
      </p:sp>
      <p:sp>
        <p:nvSpPr>
          <p:cNvPr id="70" name="Text 64"/>
          <p:cNvSpPr/>
          <p:nvPr/>
        </p:nvSpPr>
        <p:spPr>
          <a:xfrm>
            <a:off x="10838383" y="608076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‎1-1-1-1‎</a:t>
            </a:r>
            <a:endParaRPr lang="ar-SA" sz="800" dirty="0"/>
          </a:p>
        </p:txBody>
      </p:sp>
      <p:sp>
        <p:nvSpPr>
          <p:cNvPr id="71" name="Shape 65"/>
          <p:cNvSpPr/>
          <p:nvPr/>
        </p:nvSpPr>
        <p:spPr>
          <a:xfrm>
            <a:off x="10070287" y="6089904"/>
            <a:ext cx="658368" cy="274320"/>
          </a:xfrm>
          <a:prstGeom prst="roundRect">
            <a:avLst>
              <a:gd name="adj" fmla="val 20000"/>
            </a:avLst>
          </a:prstGeom>
          <a:solidFill>
            <a:srgbClr val="FFFFFF"/>
          </a:solidFill>
          <a:ln w="9525">
            <a:solidFill>
              <a:srgbClr val="095242"/>
            </a:solidFill>
            <a:prstDash val="solid"/>
          </a:ln>
        </p:spPr>
      </p:sp>
      <p:sp>
        <p:nvSpPr>
          <p:cNvPr id="72" name="Text 66"/>
          <p:cNvSpPr/>
          <p:nvPr/>
        </p:nvSpPr>
        <p:spPr>
          <a:xfrm>
            <a:off x="10070287" y="608076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‎1-1-1-2‎</a:t>
            </a:r>
            <a:endParaRPr lang="ar-SA" sz="800" dirty="0"/>
          </a:p>
        </p:txBody>
      </p:sp>
      <p:sp>
        <p:nvSpPr>
          <p:cNvPr id="73" name="Shape 67"/>
          <p:cNvSpPr/>
          <p:nvPr/>
        </p:nvSpPr>
        <p:spPr>
          <a:xfrm>
            <a:off x="9302191" y="6089904"/>
            <a:ext cx="658368" cy="274320"/>
          </a:xfrm>
          <a:prstGeom prst="roundRect">
            <a:avLst>
              <a:gd name="adj" fmla="val 20000"/>
            </a:avLst>
          </a:prstGeom>
          <a:solidFill>
            <a:srgbClr val="FFFFFF"/>
          </a:solidFill>
          <a:ln w="9525">
            <a:solidFill>
              <a:srgbClr val="095242"/>
            </a:solidFill>
            <a:prstDash val="solid"/>
          </a:ln>
        </p:spPr>
      </p:sp>
      <p:sp>
        <p:nvSpPr>
          <p:cNvPr id="74" name="Text 68"/>
          <p:cNvSpPr/>
          <p:nvPr/>
        </p:nvSpPr>
        <p:spPr>
          <a:xfrm>
            <a:off x="9302191" y="608076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‎1-4-1-6‎</a:t>
            </a:r>
            <a:endParaRPr lang="ar-SA" sz="800" dirty="0"/>
          </a:p>
        </p:txBody>
      </p:sp>
      <p:sp>
        <p:nvSpPr>
          <p:cNvPr id="75" name="Shape 69"/>
          <p:cNvSpPr/>
          <p:nvPr/>
        </p:nvSpPr>
        <p:spPr>
          <a:xfrm>
            <a:off x="8534095" y="6089904"/>
            <a:ext cx="658368" cy="274320"/>
          </a:xfrm>
          <a:prstGeom prst="roundRect">
            <a:avLst>
              <a:gd name="adj" fmla="val 20000"/>
            </a:avLst>
          </a:prstGeom>
          <a:solidFill>
            <a:srgbClr val="FFFFFF"/>
          </a:solidFill>
          <a:ln w="9525">
            <a:solidFill>
              <a:srgbClr val="095242"/>
            </a:solidFill>
            <a:prstDash val="solid"/>
          </a:ln>
        </p:spPr>
      </p:sp>
      <p:sp>
        <p:nvSpPr>
          <p:cNvPr id="76" name="Text 70"/>
          <p:cNvSpPr/>
          <p:nvPr/>
        </p:nvSpPr>
        <p:spPr>
          <a:xfrm>
            <a:off x="8534095" y="608076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‎1-4-1-7‎</a:t>
            </a:r>
            <a:endParaRPr lang="ar-SA" sz="800" dirty="0"/>
          </a:p>
        </p:txBody>
      </p:sp>
      <p:sp>
        <p:nvSpPr>
          <p:cNvPr id="77" name="Shape 71"/>
          <p:cNvSpPr/>
          <p:nvPr/>
        </p:nvSpPr>
        <p:spPr>
          <a:xfrm>
            <a:off x="7765999" y="6089904"/>
            <a:ext cx="658368" cy="274320"/>
          </a:xfrm>
          <a:prstGeom prst="roundRect">
            <a:avLst>
              <a:gd name="adj" fmla="val 20000"/>
            </a:avLst>
          </a:prstGeom>
          <a:solidFill>
            <a:srgbClr val="FFFFFF"/>
          </a:solidFill>
          <a:ln w="9525">
            <a:solidFill>
              <a:srgbClr val="095242"/>
            </a:solidFill>
            <a:prstDash val="solid"/>
          </a:ln>
        </p:spPr>
      </p:sp>
      <p:sp>
        <p:nvSpPr>
          <p:cNvPr id="78" name="Text 72"/>
          <p:cNvSpPr/>
          <p:nvPr/>
        </p:nvSpPr>
        <p:spPr>
          <a:xfrm>
            <a:off x="7765999" y="6080760"/>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‎4-2-1-1‎</a:t>
            </a:r>
            <a:endParaRPr lang="ar-SA" sz="800" dirty="0"/>
          </a:p>
        </p:txBody>
      </p:sp>
      <p:sp>
        <p:nvSpPr>
          <p:cNvPr id="79" name="Shape 73"/>
          <p:cNvSpPr/>
          <p:nvPr/>
        </p:nvSpPr>
        <p:spPr>
          <a:xfrm>
            <a:off x="10838383" y="6437376"/>
            <a:ext cx="658368" cy="274320"/>
          </a:xfrm>
          <a:prstGeom prst="roundRect">
            <a:avLst>
              <a:gd name="adj" fmla="val 20000"/>
            </a:avLst>
          </a:prstGeom>
          <a:solidFill>
            <a:srgbClr val="FFFFFF"/>
          </a:solidFill>
          <a:ln w="9525">
            <a:solidFill>
              <a:srgbClr val="095242"/>
            </a:solidFill>
            <a:prstDash val="solid"/>
          </a:ln>
        </p:spPr>
      </p:sp>
      <p:sp>
        <p:nvSpPr>
          <p:cNvPr id="80" name="Text 74"/>
          <p:cNvSpPr/>
          <p:nvPr/>
        </p:nvSpPr>
        <p:spPr>
          <a:xfrm>
            <a:off x="10838383" y="6428232"/>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‎4-2-1-2‎</a:t>
            </a:r>
            <a:endParaRPr lang="ar-SA" sz="800" dirty="0"/>
          </a:p>
        </p:txBody>
      </p:sp>
      <p:sp>
        <p:nvSpPr>
          <p:cNvPr id="81" name="Shape 75"/>
          <p:cNvSpPr/>
          <p:nvPr/>
        </p:nvSpPr>
        <p:spPr>
          <a:xfrm>
            <a:off x="10070287" y="6437376"/>
            <a:ext cx="658368" cy="274320"/>
          </a:xfrm>
          <a:prstGeom prst="roundRect">
            <a:avLst>
              <a:gd name="adj" fmla="val 20000"/>
            </a:avLst>
          </a:prstGeom>
          <a:solidFill>
            <a:srgbClr val="FFFFFF"/>
          </a:solidFill>
          <a:ln w="9525">
            <a:solidFill>
              <a:srgbClr val="095242"/>
            </a:solidFill>
            <a:prstDash val="solid"/>
          </a:ln>
        </p:spPr>
      </p:sp>
      <p:sp>
        <p:nvSpPr>
          <p:cNvPr id="82" name="Text 76"/>
          <p:cNvSpPr/>
          <p:nvPr/>
        </p:nvSpPr>
        <p:spPr>
          <a:xfrm>
            <a:off x="10070287" y="6428232"/>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‎1-4-1-2‎</a:t>
            </a:r>
            <a:endParaRPr lang="ar-SA" sz="800" dirty="0"/>
          </a:p>
        </p:txBody>
      </p:sp>
      <p:sp>
        <p:nvSpPr>
          <p:cNvPr id="83" name="Shape 77"/>
          <p:cNvSpPr/>
          <p:nvPr/>
        </p:nvSpPr>
        <p:spPr>
          <a:xfrm>
            <a:off x="9302191" y="6437376"/>
            <a:ext cx="658368" cy="274320"/>
          </a:xfrm>
          <a:prstGeom prst="roundRect">
            <a:avLst>
              <a:gd name="adj" fmla="val 20000"/>
            </a:avLst>
          </a:prstGeom>
          <a:solidFill>
            <a:srgbClr val="FFFFFF"/>
          </a:solidFill>
          <a:ln w="9525">
            <a:solidFill>
              <a:srgbClr val="095242"/>
            </a:solidFill>
            <a:prstDash val="solid"/>
          </a:ln>
        </p:spPr>
      </p:sp>
      <p:sp>
        <p:nvSpPr>
          <p:cNvPr id="84" name="Text 78"/>
          <p:cNvSpPr/>
          <p:nvPr/>
        </p:nvSpPr>
        <p:spPr>
          <a:xfrm>
            <a:off x="9302191" y="6428232"/>
            <a:ext cx="658368" cy="274320"/>
          </a:xfrm>
          <a:prstGeom prst="rect">
            <a:avLst/>
          </a:prstGeom>
          <a:noFill/>
          <a:ln/>
        </p:spPr>
        <p:txBody>
          <a:bodyPr wrap="square" lIns="0" tIns="0" rIns="0" bIns="0" rtlCol="0" anchor="ctr"/>
          <a:lstStyle/>
          <a:p>
            <a:pPr rtl="1" algn="ctr" indent="0" marL="0">
              <a:buNone/>
            </a:pPr>
            <a:r>
              <a:rPr lang="ar-SA" altLang="en-US" sz="800" b="1" dirty="0">
                <a:solidFill>
                  <a:srgbClr val="04352B"/>
                </a:solidFill>
                <a:latin typeface="Tajawal" pitchFamily="34" charset="0"/>
                <a:ea typeface="Tajawal" pitchFamily="34" charset="-122"/>
                <a:cs typeface="Tajawal" pitchFamily="34" charset="-120"/>
              </a:rPr>
              <a:t>‎3-2-1-3‎</a:t>
            </a:r>
            <a:endParaRPr lang="ar-SA" sz="800" dirty="0"/>
          </a:p>
        </p:txBody>
      </p:sp>
      <p:sp>
        <p:nvSpPr>
          <p:cNvPr id="85" name="Shape 79"/>
          <p:cNvSpPr/>
          <p:nvPr/>
        </p:nvSpPr>
        <p:spPr>
          <a:xfrm>
            <a:off x="457200" y="5669280"/>
            <a:ext cx="6997903" cy="786384"/>
          </a:xfrm>
          <a:prstGeom prst="roundRect">
            <a:avLst>
              <a:gd name="adj" fmla="val 10465"/>
            </a:avLst>
          </a:prstGeom>
          <a:solidFill>
            <a:srgbClr val="095242"/>
          </a:solidFill>
          <a:ln/>
          <a:effectLst>
            <a:outerShdw sx="100000" sy="100000" kx="0" ky="0" algn="bl" rotWithShape="0" blurRad="127000" dist="31750" dir="5400000">
              <a:srgbClr val="062A21">
                <a:alpha val="20000"/>
              </a:srgbClr>
            </a:outerShdw>
          </a:effectLst>
        </p:spPr>
      </p:sp>
      <p:pic>
        <p:nvPicPr>
          <p:cNvPr id="86" name="Image 4" descr="/tmp/claude-0/-home-user-Mobile1/ab9bbf47-b054-5f6e-be59-70476e095ce8/scratchpad/assets/icons/sparkles_white.png">    </p:cNvPr>
          <p:cNvPicPr>
            <a:picLocks noChangeAspect="1"/>
          </p:cNvPicPr>
          <p:nvPr/>
        </p:nvPicPr>
        <p:blipFill>
          <a:blip r:embed="rId5"/>
          <a:stretch>
            <a:fillRect/>
          </a:stretch>
        </p:blipFill>
        <p:spPr>
          <a:xfrm>
            <a:off x="6997903" y="5779008"/>
            <a:ext cx="256032" cy="256032"/>
          </a:xfrm>
          <a:prstGeom prst="rect">
            <a:avLst/>
          </a:prstGeom>
        </p:spPr>
      </p:pic>
      <p:sp>
        <p:nvSpPr>
          <p:cNvPr id="87" name="Text 80"/>
          <p:cNvSpPr/>
          <p:nvPr/>
        </p:nvSpPr>
        <p:spPr>
          <a:xfrm>
            <a:off x="731520" y="5760720"/>
            <a:ext cx="6129223" cy="27432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المخرجات المتوقّعة</a:t>
            </a:r>
            <a:endParaRPr lang="ar-SA" sz="1150" dirty="0"/>
          </a:p>
        </p:txBody>
      </p:sp>
      <p:sp>
        <p:nvSpPr>
          <p:cNvPr id="88" name="Text 81"/>
          <p:cNvSpPr/>
          <p:nvPr/>
        </p:nvSpPr>
        <p:spPr>
          <a:xfrm>
            <a:off x="731520" y="6080760"/>
            <a:ext cx="6449263" cy="283464"/>
          </a:xfrm>
          <a:prstGeom prst="rect">
            <a:avLst/>
          </a:prstGeom>
          <a:noFill/>
          <a:ln/>
        </p:spPr>
        <p:txBody>
          <a:bodyPr wrap="square" lIns="0" tIns="0" rIns="0" bIns="0" rtlCol="0" anchor="t"/>
          <a:lstStyle/>
          <a:p>
            <a:pPr rtl="1" algn="r" indent="0" marL="0">
              <a:lnSpc>
                <a:spcPct val="120000"/>
              </a:lnSpc>
              <a:buNone/>
            </a:pPr>
            <a:r>
              <a:rPr lang="ar-SA" altLang="en-US" sz="960" dirty="0">
                <a:solidFill>
                  <a:srgbClr val="D7E8E2"/>
                </a:solidFill>
                <a:latin typeface="Tajawal" pitchFamily="34" charset="0"/>
                <a:ea typeface="Tajawal" pitchFamily="34" charset="-122"/>
                <a:cs typeface="Tajawal" pitchFamily="34" charset="-120"/>
              </a:rPr>
              <a:t>منظومة حوكمة كاملة لكلّ برنامج • تقارير دورية موثّقة • سجل مخاطر محدّث • التزام بمعايير السلامة وخطط الطوارئ.</a:t>
            </a:r>
            <a:endParaRPr lang="ar-SA" sz="9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الهدف ١٠ · البرامج التفصيلية</a:t>
            </a:r>
            <a:endParaRPr lang="ar-SA" sz="800" dirty="0"/>
          </a:p>
        </p:txBody>
      </p:sp>
      <p:sp>
        <p:nvSpPr>
          <p:cNvPr id="4" name="Text 1"/>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٣٤</a:t>
            </a:r>
            <a:endParaRPr lang="ar-SA" sz="900" dirty="0"/>
          </a:p>
        </p:txBody>
      </p:sp>
      <p:sp>
        <p:nvSpPr>
          <p:cNvPr id="5" name="Shape 2"/>
          <p:cNvSpPr/>
          <p:nvPr/>
        </p:nvSpPr>
        <p:spPr>
          <a:xfrm>
            <a:off x="457200" y="274320"/>
            <a:ext cx="11277295" cy="548640"/>
          </a:xfrm>
          <a:prstGeom prst="roundRect">
            <a:avLst>
              <a:gd name="adj" fmla="val 15000"/>
            </a:avLst>
          </a:prstGeom>
          <a:solidFill>
            <a:srgbClr val="095242"/>
          </a:solidFill>
          <a:ln/>
        </p:spPr>
      </p:sp>
      <p:sp>
        <p:nvSpPr>
          <p:cNvPr id="6" name="Shape 3"/>
          <p:cNvSpPr/>
          <p:nvPr/>
        </p:nvSpPr>
        <p:spPr>
          <a:xfrm>
            <a:off x="621792" y="379476"/>
            <a:ext cx="1417320" cy="338328"/>
          </a:xfrm>
          <a:prstGeom prst="roundRect">
            <a:avLst>
              <a:gd name="adj" fmla="val 18919"/>
            </a:avLst>
          </a:prstGeom>
          <a:solidFill>
            <a:srgbClr val="FFFFFF">
              <a:alpha val="14000"/>
            </a:srgbClr>
          </a:solidFill>
          <a:ln w="6350">
            <a:solidFill>
              <a:srgbClr val="FFFFFF">
                <a:alpha val="45000"/>
              </a:srgbClr>
            </a:solidFill>
            <a:prstDash val="solid"/>
          </a:ln>
        </p:spPr>
      </p:sp>
      <p:sp>
        <p:nvSpPr>
          <p:cNvPr id="7" name="Text 4"/>
          <p:cNvSpPr/>
          <p:nvPr/>
        </p:nvSpPr>
        <p:spPr>
          <a:xfrm>
            <a:off x="621792" y="370332"/>
            <a:ext cx="1417320" cy="33832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البرامج التفصيلية</a:t>
            </a:r>
            <a:endParaRPr lang="ar-SA" sz="950" dirty="0"/>
          </a:p>
        </p:txBody>
      </p:sp>
      <p:sp>
        <p:nvSpPr>
          <p:cNvPr id="8" name="Text 5"/>
          <p:cNvSpPr/>
          <p:nvPr/>
        </p:nvSpPr>
        <p:spPr>
          <a:xfrm>
            <a:off x="2240280" y="274320"/>
            <a:ext cx="9219895" cy="548640"/>
          </a:xfrm>
          <a:prstGeom prst="rect">
            <a:avLst/>
          </a:prstGeom>
          <a:noFill/>
          <a:ln/>
        </p:spPr>
        <p:txBody>
          <a:bodyPr wrap="square" lIns="0" tIns="0" rIns="0" bIns="0" rtlCol="0" anchor="ctr"/>
          <a:lstStyle/>
          <a:p>
            <a:pPr rtl="1" algn="r" indent="0" marL="0">
              <a:buNone/>
            </a:pPr>
            <a:r>
              <a:rPr lang="ar-SA" altLang="en-US" sz="1550" b="1" dirty="0">
                <a:solidFill>
                  <a:srgbClr val="FFFFFF"/>
                </a:solidFill>
                <a:latin typeface="Tajawal" pitchFamily="34" charset="0"/>
                <a:ea typeface="Tajawal" pitchFamily="34" charset="-122"/>
                <a:cs typeface="Tajawal" pitchFamily="34" charset="-120"/>
              </a:rPr>
              <a:t>الهدف الاستراتيجي العام ١٠: تعزيز الحوكمة والالتزام وإدارة المخاطر</a:t>
            </a:r>
            <a:endParaRPr lang="ar-SA" sz="15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77295" cy="914400"/>
        </p:xfrm>
        <a:graphic>
          <a:graphicData uri="http://schemas.openxmlformats.org/drawingml/2006/table">
            <a:tbl>
              <a:tblPr/>
              <a:tblGrid>
                <a:gridCol w="9494215"/>
                <a:gridCol w="1783080"/>
              </a:tblGrid>
              <a:tr h="274320">
                <a:tc>
                  <a:txBody>
                    <a:bodyPr/>
                    <a:lstStyle/>
                    <a:p>
                      <a:pPr rtl="1" algn="r" indent="0" marL="0">
                        <a:buNone/>
                      </a:pPr>
                      <a:r>
                        <a:rPr lang="ar-SA" altLang="en-US" sz="940" b="1" dirty="0">
                          <a:solidFill>
                            <a:srgbClr val="04352B"/>
                          </a:solidFill>
                          <a:latin typeface="Tajawal" pitchFamily="34" charset="0"/>
                          <a:ea typeface="Tajawal" pitchFamily="34" charset="-122"/>
                          <a:cs typeface="Tajawal" pitchFamily="34" charset="-120"/>
                        </a:rPr>
                        <a:t>تعزيز الحوكمة والالتزام وإدارة المخاطر</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المحور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548640">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يهدف هذا المحور إلى تعزيز الحوكمة المدرسية ورفع مستوى الالتزام بالأنظمة واللوائح، وتطبيق ممارسات التقويم الذاتي المستمر، وإدارة المخاطر بكفاءة، بما يسهم في تحسين الأداء المؤسسي وتحقيق متطلبات الاعتماد المدرسي وضمان جودة العمليات التعليمية والإدارية.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وصف المحور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r h="420624">
                <a:tc>
                  <a:txBody>
                    <a:bodyPr/>
                    <a:lstStyle/>
                    <a:p>
                      <a:pPr rtl="1" algn="r" indent="0" marL="0">
                        <a:buNone/>
                      </a:pPr>
                      <a:r>
                        <a:rPr lang="ar-SA" altLang="en-US" sz="840" b="1" dirty="0">
                          <a:solidFill>
                            <a:srgbClr val="0B4A56"/>
                          </a:solidFill>
                          <a:latin typeface="Tajawal" pitchFamily="34" charset="0"/>
                          <a:ea typeface="Tajawal" pitchFamily="34" charset="-122"/>
                          <a:cs typeface="Tajawal" pitchFamily="34" charset="-120"/>
                        </a:rPr>
                        <a:t>نسبة الالتزام بمتطلبات الحوكمة وإدارة المخاطر والتقويم الذاتي بنسبة ٨٠٪ خلال العام الدراسي.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 قياس الأداء (المستهدف)</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C6553"/>
                    </a:solidFill>
                  </a:tcPr>
                </a:tc>
              </a:tr>
            </a:tbl>
          </a:graphicData>
        </a:graphic>
      </p:graphicFrame>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11277295" cy="914400"/>
        </p:xfrm>
        <a:graphic>
          <a:graphicData uri="http://schemas.openxmlformats.org/drawingml/2006/table">
            <a:tbl>
              <a:tblPr/>
              <a:tblGrid>
                <a:gridCol w="859536"/>
                <a:gridCol w="1243584"/>
                <a:gridCol w="941832"/>
                <a:gridCol w="960120"/>
                <a:gridCol w="914400"/>
                <a:gridCol w="1051560"/>
                <a:gridCol w="1097280"/>
                <a:gridCol w="548640"/>
                <a:gridCol w="365760"/>
                <a:gridCol w="914400"/>
                <a:gridCol w="1371600"/>
                <a:gridCol w="804672"/>
                <a:gridCol w="292608"/>
              </a:tblGrid>
              <a:tr h="274320">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مؤشر تحقق الهدف</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أسلوب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الفئة المستهدفة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3">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جهة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المتطلبات</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زمن التنفيذ</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مصدر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اسم المشروع / البرنامج</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المجال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92608">
                <a:tc vMerge="1">
                  <a:tcPr/>
                </a:tc>
                <a:tc vMerge="1">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الدعم الخارجي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المساندة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الرئيسة وفريق العمل</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الأسبوع</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ف</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vMerge="1">
                  <a:tcPr/>
                </a:tc>
                <a:tc vMerge="1">
                  <a:tcPr/>
                </a:tc>
                <a:tc vMerge="1">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بناء الخطة، متابعة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الإشراف</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نموذج + بيانات</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١-٤</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الخطة التشغيلية</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١</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متابعة، تقارير</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البرامج</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الإشراف</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أدوات متابعة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ربعي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متابعة تنفيذ الخطة</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٢</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تقييم، تحليل</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هيئة التقويم</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الجودة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نموذج معتمد</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نهاية العام</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التقويم الذاتي</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٣</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تخطيط، تنفيذ</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الإشراف</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الجودة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محدثة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ربعي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خطة التحسين المدرسي</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٤</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تحديد، معالجة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إدارة التعليم</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سجل + خطة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مستمر</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إدارة المخاطر</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٥</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قياس، تحليل</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البرامج</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إدارة التعليم</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لوحة مؤشرات</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ربعي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مؤشرات الأداء</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٦</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إجراءات، لوائح</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إدارة التعليم</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أنظمة + ميثاق</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ربعي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الحوكمة المدرسية</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٧</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قياس، مقارنة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هيئة التقويم</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أدوات قياس</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ربعي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قياس الأثر</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٨</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استقبال، معالجة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البلاغات</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لا يوجد</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المرشد</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نظام بلاغات</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مستمر</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متابعة البلاغات</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تحديث، أرشفة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الدفاع المدني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السلامة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ملفات + نماذج</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مستمر</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سجلات الأمن والسلامة</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البيئة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١٠</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تجهيز، محاكاة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الدفاع المدني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السلامة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 تدريب</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فصلي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خطط الطوارئ</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البيئة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١١</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تشكيل، اجتماعات</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البرامج</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لا يوجد</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محاضر + خطة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مستمر</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اللجان المدرسية</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١٢</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متابعة، تقييم</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المدرسة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الإشراف</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الجودة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أدوات شاملة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مستمر</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المتابعة والتقويم</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١٣</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تحليل، تقرير</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النتائج</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الإشراف</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أدوات تحليل</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نهاية الفصل</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تحليل النتائج</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نواتج التعلم</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١٤</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40182">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إعداد، رفع</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الجهة المختصة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إدارة التعليم</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الإدارة</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اللجان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نماذج رفع</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ربعي</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١-٢</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80" dirty="0">
                          <a:solidFill>
                            <a:srgbClr val="34473F"/>
                          </a:solidFill>
                          <a:latin typeface="Tajawal" pitchFamily="34" charset="0"/>
                          <a:ea typeface="Tajawal" pitchFamily="34" charset="-122"/>
                          <a:cs typeface="Tajawal" pitchFamily="34" charset="-120"/>
                        </a:rPr>
                        <a:t>خطة التحسين</a:t>
                      </a:r>
                      <a:endParaRPr lang="ar-SA" sz="6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690" b="1" dirty="0">
                          <a:solidFill>
                            <a:srgbClr val="04352B"/>
                          </a:solidFill>
                          <a:latin typeface="Tajawal" pitchFamily="34" charset="0"/>
                          <a:ea typeface="Tajawal" pitchFamily="34" charset="-122"/>
                          <a:cs typeface="Tajawal" pitchFamily="34" charset="-120"/>
                        </a:rPr>
                        <a:t>تقارير الأداء</a:t>
                      </a:r>
                      <a:endParaRPr lang="ar-SA" sz="69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الإدارة المدرسية</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670" dirty="0">
                          <a:solidFill>
                            <a:srgbClr val="34473F"/>
                          </a:solidFill>
                          <a:latin typeface="Tajawal" pitchFamily="34" charset="0"/>
                          <a:ea typeface="Tajawal" pitchFamily="34" charset="-122"/>
                          <a:cs typeface="Tajawal" pitchFamily="34" charset="-120"/>
                        </a:rPr>
                        <a:t>١٥</a:t>
                      </a:r>
                      <a:endParaRPr lang="ar-SA" sz="6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tmp/claude-0/-home-user-Mobile1/ab9bbf47-b054-5f6e-be59-70476e095ce8/scratchpad/assets/bg_divide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white.png">    </p:cNvPr>
          <p:cNvPicPr>
            <a:picLocks noChangeAspect="1"/>
          </p:cNvPicPr>
          <p:nvPr/>
        </p:nvPicPr>
        <p:blipFill>
          <a:blip r:embed="rId2"/>
          <a:stretch>
            <a:fillRect/>
          </a:stretch>
        </p:blipFill>
        <p:spPr>
          <a:xfrm>
            <a:off x="10682935" y="457200"/>
            <a:ext cx="1051560" cy="812902"/>
          </a:xfrm>
          <a:prstGeom prst="rect">
            <a:avLst/>
          </a:prstGeom>
        </p:spPr>
      </p:pic>
      <p:sp>
        <p:nvSpPr>
          <p:cNvPr id="4" name="Text 0"/>
          <p:cNvSpPr/>
          <p:nvPr/>
        </p:nvSpPr>
        <p:spPr>
          <a:xfrm>
            <a:off x="594360" y="1234440"/>
            <a:ext cx="4023360" cy="3291840"/>
          </a:xfrm>
          <a:prstGeom prst="rect">
            <a:avLst/>
          </a:prstGeom>
          <a:noFill/>
          <a:ln/>
        </p:spPr>
        <p:txBody>
          <a:bodyPr wrap="square" lIns="0" tIns="0" rIns="0" bIns="0" rtlCol="0" anchor="ctr"/>
          <a:lstStyle/>
          <a:p>
            <a:pPr rtl="1" algn="l" indent="0" marL="0">
              <a:buNone/>
            </a:pPr>
            <a:r>
              <a:rPr lang="ar-SA" altLang="en-US" sz="16500" dirty="0">
                <a:solidFill>
                  <a:srgbClr val="0C6553"/>
                </a:solidFill>
                <a:latin typeface="Tajawal ExtraBold" pitchFamily="34" charset="0"/>
                <a:ea typeface="Tajawal ExtraBold" pitchFamily="34" charset="-122"/>
                <a:cs typeface="Tajawal ExtraBold" pitchFamily="34" charset="-120"/>
              </a:rPr>
              <a:t>03</a:t>
            </a:r>
            <a:endParaRPr lang="ar-SA" sz="16500" dirty="0"/>
          </a:p>
        </p:txBody>
      </p:sp>
      <p:sp>
        <p:nvSpPr>
          <p:cNvPr id="5" name="Text 1"/>
          <p:cNvSpPr/>
          <p:nvPr/>
        </p:nvSpPr>
        <p:spPr>
          <a:xfrm>
            <a:off x="4967935" y="2084832"/>
            <a:ext cx="6766560" cy="292608"/>
          </a:xfrm>
          <a:prstGeom prst="rect">
            <a:avLst/>
          </a:prstGeom>
          <a:noFill/>
          <a:ln/>
        </p:spPr>
        <p:txBody>
          <a:bodyPr wrap="square" lIns="0" tIns="0" rIns="0" bIns="0" rtlCol="0" anchor="t"/>
          <a:lstStyle/>
          <a:p>
            <a:pPr rtl="1" algn="r" indent="0" marL="0">
              <a:buNone/>
            </a:pPr>
            <a:r>
              <a:rPr lang="ar-SA" altLang="en-US" sz="1200" b="1" spc="150" kern="0" dirty="0">
                <a:solidFill>
                  <a:srgbClr val="C9A45C"/>
                </a:solidFill>
                <a:latin typeface="Tajawal" pitchFamily="34" charset="0"/>
                <a:ea typeface="Tajawal" pitchFamily="34" charset="-122"/>
                <a:cs typeface="Tajawal" pitchFamily="34" charset="-120"/>
              </a:rPr>
              <a:t>الجزء الثالث</a:t>
            </a:r>
            <a:endParaRPr lang="ar-SA" sz="1200" dirty="0"/>
          </a:p>
        </p:txBody>
      </p:sp>
      <p:sp>
        <p:nvSpPr>
          <p:cNvPr id="6" name="Text 2"/>
          <p:cNvSpPr/>
          <p:nvPr/>
        </p:nvSpPr>
        <p:spPr>
          <a:xfrm>
            <a:off x="3687775" y="2395728"/>
            <a:ext cx="8046720" cy="914400"/>
          </a:xfrm>
          <a:prstGeom prst="rect">
            <a:avLst/>
          </a:prstGeom>
          <a:noFill/>
          <a:ln/>
        </p:spPr>
        <p:txBody>
          <a:bodyPr wrap="square" lIns="0" tIns="0" rIns="0" bIns="0" rtlCol="0" anchor="ctr"/>
          <a:lstStyle/>
          <a:p>
            <a:pPr rtl="1" algn="r" indent="0" marL="0">
              <a:buNone/>
            </a:pPr>
            <a:r>
              <a:rPr lang="ar-SA" altLang="en-US" sz="3800" dirty="0">
                <a:solidFill>
                  <a:srgbClr val="FFFFFF"/>
                </a:solidFill>
                <a:latin typeface="Tajawal ExtraBold" pitchFamily="34" charset="0"/>
                <a:ea typeface="Tajawal ExtraBold" pitchFamily="34" charset="-122"/>
                <a:cs typeface="Tajawal ExtraBold" pitchFamily="34" charset="-120"/>
              </a:rPr>
              <a:t>المتابعة والحوكمة والاعتماد</a:t>
            </a:r>
            <a:endParaRPr lang="ar-SA" sz="3800" dirty="0"/>
          </a:p>
        </p:txBody>
      </p:sp>
      <p:sp>
        <p:nvSpPr>
          <p:cNvPr id="7" name="Shape 3"/>
          <p:cNvSpPr/>
          <p:nvPr/>
        </p:nvSpPr>
        <p:spPr>
          <a:xfrm>
            <a:off x="9997135" y="3474720"/>
            <a:ext cx="1737360" cy="0"/>
          </a:xfrm>
          <a:prstGeom prst="line">
            <a:avLst/>
          </a:prstGeom>
          <a:noFill/>
          <a:ln w="15875">
            <a:solidFill>
              <a:srgbClr val="C9A45C"/>
            </a:solidFill>
            <a:prstDash val="solid"/>
          </a:ln>
        </p:spPr>
      </p:sp>
      <p:sp>
        <p:nvSpPr>
          <p:cNvPr id="8" name="Shape 4"/>
          <p:cNvSpPr/>
          <p:nvPr/>
        </p:nvSpPr>
        <p:spPr>
          <a:xfrm>
            <a:off x="11643055" y="3867912"/>
            <a:ext cx="91440" cy="91440"/>
          </a:xfrm>
          <a:prstGeom prst="rect">
            <a:avLst/>
          </a:prstGeom>
          <a:solidFill>
            <a:srgbClr val="C9A45C"/>
          </a:solidFill>
          <a:ln/>
        </p:spPr>
      </p:sp>
      <p:sp>
        <p:nvSpPr>
          <p:cNvPr id="9" name="Text 5"/>
          <p:cNvSpPr/>
          <p:nvPr/>
        </p:nvSpPr>
        <p:spPr>
          <a:xfrm>
            <a:off x="8168335" y="3749040"/>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نظام متابعة وتحسين الخطة</a:t>
            </a:r>
            <a:endParaRPr lang="ar-SA" sz="1150" dirty="0"/>
          </a:p>
        </p:txBody>
      </p:sp>
      <p:sp>
        <p:nvSpPr>
          <p:cNvPr id="10" name="Shape 6"/>
          <p:cNvSpPr/>
          <p:nvPr/>
        </p:nvSpPr>
        <p:spPr>
          <a:xfrm>
            <a:off x="11643055" y="4270248"/>
            <a:ext cx="91440" cy="91440"/>
          </a:xfrm>
          <a:prstGeom prst="rect">
            <a:avLst/>
          </a:prstGeom>
          <a:solidFill>
            <a:srgbClr val="C9A45C"/>
          </a:solidFill>
          <a:ln/>
        </p:spPr>
      </p:sp>
      <p:sp>
        <p:nvSpPr>
          <p:cNvPr id="11" name="Text 7"/>
          <p:cNvSpPr/>
          <p:nvPr/>
        </p:nvSpPr>
        <p:spPr>
          <a:xfrm>
            <a:off x="8168335" y="4151376"/>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أربع جولات متابعة على مدار العام</a:t>
            </a:r>
            <a:endParaRPr lang="ar-SA" sz="1150" dirty="0"/>
          </a:p>
        </p:txBody>
      </p:sp>
      <p:sp>
        <p:nvSpPr>
          <p:cNvPr id="12" name="Shape 8"/>
          <p:cNvSpPr/>
          <p:nvPr/>
        </p:nvSpPr>
        <p:spPr>
          <a:xfrm>
            <a:off x="11643055" y="4672584"/>
            <a:ext cx="91440" cy="91440"/>
          </a:xfrm>
          <a:prstGeom prst="rect">
            <a:avLst/>
          </a:prstGeom>
          <a:solidFill>
            <a:srgbClr val="C9A45C"/>
          </a:solidFill>
          <a:ln/>
        </p:spPr>
      </p:sp>
      <p:sp>
        <p:nvSpPr>
          <p:cNvPr id="13" name="Text 9"/>
          <p:cNvSpPr/>
          <p:nvPr/>
        </p:nvSpPr>
        <p:spPr>
          <a:xfrm>
            <a:off x="8168335" y="4553712"/>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نظام المتابعة والمساءلة</a:t>
            </a:r>
            <a:endParaRPr lang="ar-SA" sz="1150" dirty="0"/>
          </a:p>
        </p:txBody>
      </p:sp>
      <p:sp>
        <p:nvSpPr>
          <p:cNvPr id="14" name="Shape 10"/>
          <p:cNvSpPr/>
          <p:nvPr/>
        </p:nvSpPr>
        <p:spPr>
          <a:xfrm>
            <a:off x="7848295" y="3867912"/>
            <a:ext cx="91440" cy="91440"/>
          </a:xfrm>
          <a:prstGeom prst="rect">
            <a:avLst/>
          </a:prstGeom>
          <a:solidFill>
            <a:srgbClr val="C9A45C"/>
          </a:solidFill>
          <a:ln/>
        </p:spPr>
      </p:sp>
      <p:sp>
        <p:nvSpPr>
          <p:cNvPr id="15" name="Text 11"/>
          <p:cNvSpPr/>
          <p:nvPr/>
        </p:nvSpPr>
        <p:spPr>
          <a:xfrm>
            <a:off x="4373575" y="3749040"/>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نموذج المساءلة</a:t>
            </a:r>
            <a:endParaRPr lang="ar-SA" sz="1150" dirty="0"/>
          </a:p>
        </p:txBody>
      </p:sp>
      <p:sp>
        <p:nvSpPr>
          <p:cNvPr id="16" name="Shape 12"/>
          <p:cNvSpPr/>
          <p:nvPr/>
        </p:nvSpPr>
        <p:spPr>
          <a:xfrm>
            <a:off x="7848295" y="4270248"/>
            <a:ext cx="91440" cy="91440"/>
          </a:xfrm>
          <a:prstGeom prst="rect">
            <a:avLst/>
          </a:prstGeom>
          <a:solidFill>
            <a:srgbClr val="C9A45C"/>
          </a:solidFill>
          <a:ln/>
        </p:spPr>
      </p:sp>
      <p:sp>
        <p:nvSpPr>
          <p:cNvPr id="17" name="Text 13"/>
          <p:cNvSpPr/>
          <p:nvPr/>
        </p:nvSpPr>
        <p:spPr>
          <a:xfrm>
            <a:off x="4373575" y="4151376"/>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دورة التحسين المستمر</a:t>
            </a:r>
            <a:endParaRPr lang="ar-SA" sz="1150" dirty="0"/>
          </a:p>
        </p:txBody>
      </p:sp>
      <p:sp>
        <p:nvSpPr>
          <p:cNvPr id="18" name="Shape 14"/>
          <p:cNvSpPr/>
          <p:nvPr/>
        </p:nvSpPr>
        <p:spPr>
          <a:xfrm>
            <a:off x="7848295" y="4672584"/>
            <a:ext cx="91440" cy="91440"/>
          </a:xfrm>
          <a:prstGeom prst="rect">
            <a:avLst/>
          </a:prstGeom>
          <a:solidFill>
            <a:srgbClr val="C9A45C"/>
          </a:solidFill>
          <a:ln/>
        </p:spPr>
      </p:sp>
      <p:sp>
        <p:nvSpPr>
          <p:cNvPr id="19" name="Text 15"/>
          <p:cNvSpPr/>
          <p:nvPr/>
        </p:nvSpPr>
        <p:spPr>
          <a:xfrm>
            <a:off x="4373575" y="4553712"/>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اعتماد الخطة التشغيلية</a:t>
            </a:r>
            <a:endParaRPr lang="ar-SA"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الثالث · المتابعة والحوكمة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نظام متابعة وتحسين الخطة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نظام المتابعة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٣٥</a:t>
            </a:r>
            <a:endParaRPr lang="ar-SA" sz="900" dirty="0"/>
          </a:p>
        </p:txBody>
      </p:sp>
      <p:sp>
        <p:nvSpPr>
          <p:cNvPr id="8" name="Text 4"/>
          <p:cNvSpPr/>
          <p:nvPr/>
        </p:nvSpPr>
        <p:spPr>
          <a:xfrm>
            <a:off x="457200" y="1005840"/>
            <a:ext cx="11277295" cy="347472"/>
          </a:xfrm>
          <a:prstGeom prst="rect">
            <a:avLst/>
          </a:prstGeom>
          <a:noFill/>
          <a:ln/>
        </p:spPr>
        <p:txBody>
          <a:bodyPr wrap="square" lIns="0" tIns="0" rIns="0" bIns="0" rtlCol="0" anchor="t"/>
          <a:lstStyle/>
          <a:p>
            <a:pPr rtl="1" algn="r" indent="0" marL="0">
              <a:buNone/>
            </a:pPr>
            <a:r>
              <a:rPr lang="ar-SA" altLang="en-US" sz="1050" dirty="0">
                <a:solidFill>
                  <a:srgbClr val="34473F"/>
                </a:solidFill>
                <a:latin typeface="Tajawal" pitchFamily="34" charset="0"/>
                <a:ea typeface="Tajawal" pitchFamily="34" charset="-122"/>
                <a:cs typeface="Tajawal" pitchFamily="34" charset="-120"/>
              </a:rPr>
              <a:t>يُنفَّذ نظام متابعة دوري على مدار العام الدراسي عبر أربع جولات متابعة محدّدة الأهداف، لرصد التقدم وتقييم مستوى التنفيذ وتوثيق مؤشرات التحقق.</a:t>
            </a:r>
            <a:endParaRPr lang="ar-SA" sz="10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426464"/>
          <a:ext cx="11277295" cy="914400"/>
        </p:xfrm>
        <a:graphic>
          <a:graphicData uri="http://schemas.openxmlformats.org/drawingml/2006/table">
            <a:tbl>
              <a:tblPr/>
              <a:tblGrid>
                <a:gridCol w="1920240"/>
                <a:gridCol w="5333695"/>
                <a:gridCol w="868680"/>
                <a:gridCol w="2103120"/>
                <a:gridCol w="1051560"/>
              </a:tblGrid>
              <a:tr h="329184">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مستوى التنفيذ</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مؤشرات التحقق</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الأسبوع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موعد المتابعة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المتابعة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20624">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جيد ☐   متوسط ☐   ضعيف ☐</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سجلات الإنجاز، صور التنفيذ، تقارير المسؤولين، عينة من المخرجات</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089A1"/>
                          </a:solidFill>
                          <a:latin typeface="Tajawal" pitchFamily="34" charset="0"/>
                          <a:ea typeface="Tajawal" pitchFamily="34" charset="-122"/>
                          <a:cs typeface="Tajawal" pitchFamily="34" charset="-120"/>
                        </a:rPr>
                        <a:t>٤</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80" dirty="0">
                          <a:solidFill>
                            <a:srgbClr val="34473F"/>
                          </a:solidFill>
                          <a:latin typeface="Tajawal" pitchFamily="34" charset="0"/>
                          <a:ea typeface="Tajawal" pitchFamily="34" charset="-122"/>
                          <a:cs typeface="Tajawal" pitchFamily="34" charset="-120"/>
                        </a:rPr>
                        <a:t>نهاية الأسبوع ٤</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الأولى</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20624">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جيد ☐   متوسط ☐   ضعيف ☐</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تقرير منتصف العام، نتائج الاختبارات، استبانات الرضا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089A1"/>
                          </a:solidFill>
                          <a:latin typeface="Tajawal" pitchFamily="34" charset="0"/>
                          <a:ea typeface="Tajawal" pitchFamily="34" charset="-122"/>
                          <a:cs typeface="Tajawal" pitchFamily="34" charset="-120"/>
                        </a:rPr>
                        <a:t>١٥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80" dirty="0">
                          <a:solidFill>
                            <a:srgbClr val="34473F"/>
                          </a:solidFill>
                          <a:latin typeface="Tajawal" pitchFamily="34" charset="0"/>
                          <a:ea typeface="Tajawal" pitchFamily="34" charset="-122"/>
                          <a:cs typeface="Tajawal" pitchFamily="34" charset="-120"/>
                        </a:rPr>
                        <a:t>نهاية الفصل الأول</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الثانية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20624">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جيد ☐   متوسط ☐   ضعيف ☐</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تحديث سجل المخاطر، تقارير اللجان، تحليل البلاغات</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089A1"/>
                          </a:solidFill>
                          <a:latin typeface="Tajawal" pitchFamily="34" charset="0"/>
                          <a:ea typeface="Tajawal" pitchFamily="34" charset="-122"/>
                          <a:cs typeface="Tajawal" pitchFamily="34" charset="-120"/>
                        </a:rPr>
                        <a:t>٢٥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80" dirty="0">
                          <a:solidFill>
                            <a:srgbClr val="34473F"/>
                          </a:solidFill>
                          <a:latin typeface="Tajawal" pitchFamily="34" charset="0"/>
                          <a:ea typeface="Tajawal" pitchFamily="34" charset="-122"/>
                          <a:cs typeface="Tajawal" pitchFamily="34" charset="-120"/>
                        </a:rPr>
                        <a:t>منتصف الفصل الثاني</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الثالثة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20624">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جيد ☐   متوسط ☐   ضعيف ☐</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التقرير الختامي، التقويم الذاتي، توصيات العام القادم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089A1"/>
                          </a:solidFill>
                          <a:latin typeface="Tajawal" pitchFamily="34" charset="0"/>
                          <a:ea typeface="Tajawal" pitchFamily="34" charset="-122"/>
                          <a:cs typeface="Tajawal" pitchFamily="34" charset="-120"/>
                        </a:rPr>
                        <a:t>٣٦</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80" dirty="0">
                          <a:solidFill>
                            <a:srgbClr val="34473F"/>
                          </a:solidFill>
                          <a:latin typeface="Tajawal" pitchFamily="34" charset="0"/>
                          <a:ea typeface="Tajawal" pitchFamily="34" charset="-122"/>
                          <a:cs typeface="Tajawal" pitchFamily="34" charset="-120"/>
                        </a:rPr>
                        <a:t>نهاية العام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الرابعة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0" name="Shape 5"/>
          <p:cNvSpPr/>
          <p:nvPr/>
        </p:nvSpPr>
        <p:spPr>
          <a:xfrm>
            <a:off x="11652199" y="3456432"/>
            <a:ext cx="82296" cy="82296"/>
          </a:xfrm>
          <a:prstGeom prst="rect">
            <a:avLst/>
          </a:prstGeom>
          <a:solidFill>
            <a:srgbClr val="0089A1"/>
          </a:solidFill>
          <a:ln/>
        </p:spPr>
      </p:sp>
      <p:sp>
        <p:nvSpPr>
          <p:cNvPr id="11" name="Text 6"/>
          <p:cNvSpPr/>
          <p:nvPr/>
        </p:nvSpPr>
        <p:spPr>
          <a:xfrm>
            <a:off x="8808415" y="3364992"/>
            <a:ext cx="274320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أدوات المتابعة والتحسين</a:t>
            </a:r>
            <a:endParaRPr lang="ar-SA" sz="1250" dirty="0"/>
          </a:p>
        </p:txBody>
      </p:sp>
      <p:sp>
        <p:nvSpPr>
          <p:cNvPr id="12" name="Shape 7"/>
          <p:cNvSpPr/>
          <p:nvPr/>
        </p:nvSpPr>
        <p:spPr>
          <a:xfrm>
            <a:off x="9079763" y="3767328"/>
            <a:ext cx="2654732" cy="1298448"/>
          </a:xfrm>
          <a:prstGeom prst="roundRect">
            <a:avLst>
              <a:gd name="adj" fmla="val 6338"/>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3" name="Shape 8"/>
          <p:cNvSpPr/>
          <p:nvPr/>
        </p:nvSpPr>
        <p:spPr>
          <a:xfrm>
            <a:off x="11076127" y="3913632"/>
            <a:ext cx="457200" cy="457200"/>
          </a:xfrm>
          <a:prstGeom prst="ellipse">
            <a:avLst/>
          </a:prstGeom>
          <a:solidFill>
            <a:srgbClr val="F2F8F5"/>
          </a:solidFill>
          <a:ln w="9525">
            <a:solidFill>
              <a:srgbClr val="E3EDE8"/>
            </a:solidFill>
            <a:prstDash val="solid"/>
          </a:ln>
        </p:spPr>
      </p:sp>
      <p:pic>
        <p:nvPicPr>
          <p:cNvPr id="14" name="Image 2" descr="/tmp/claude-0/-home-user-Mobile1/ab9bbf47-b054-5f6e-be59-70476e095ce8/scratchpad/assets/icons/chart_green.png">    </p:cNvPr>
          <p:cNvPicPr>
            <a:picLocks noChangeAspect="1"/>
          </p:cNvPicPr>
          <p:nvPr/>
        </p:nvPicPr>
        <p:blipFill>
          <a:blip r:embed="rId3"/>
          <a:stretch>
            <a:fillRect/>
          </a:stretch>
        </p:blipFill>
        <p:spPr>
          <a:xfrm>
            <a:off x="11194999" y="4032504"/>
            <a:ext cx="219456" cy="219456"/>
          </a:xfrm>
          <a:prstGeom prst="rect">
            <a:avLst/>
          </a:prstGeom>
        </p:spPr>
      </p:pic>
      <p:sp>
        <p:nvSpPr>
          <p:cNvPr id="15" name="Text 9"/>
          <p:cNvSpPr/>
          <p:nvPr/>
        </p:nvSpPr>
        <p:spPr>
          <a:xfrm>
            <a:off x="9280931" y="3913632"/>
            <a:ext cx="1722044" cy="457200"/>
          </a:xfrm>
          <a:prstGeom prst="rect">
            <a:avLst/>
          </a:prstGeom>
          <a:noFill/>
          <a:ln/>
        </p:spPr>
        <p:txBody>
          <a:bodyPr wrap="square" lIns="0" tIns="0" rIns="0" bIns="0" rtlCol="0" anchor="ctr"/>
          <a:lstStyle/>
          <a:p>
            <a:pPr rtl="1" algn="r" indent="0" marL="0">
              <a:lnSpc>
                <a:spcPct val="102000"/>
              </a:lnSpc>
              <a:buNone/>
            </a:pPr>
            <a:r>
              <a:rPr lang="ar-SA" altLang="en-US" sz="1100" b="1" dirty="0">
                <a:solidFill>
                  <a:srgbClr val="04352B"/>
                </a:solidFill>
                <a:latin typeface="Tajawal" pitchFamily="34" charset="0"/>
                <a:ea typeface="Tajawal" pitchFamily="34" charset="-122"/>
                <a:cs typeface="Tajawal" pitchFamily="34" charset="-120"/>
              </a:rPr>
              <a:t>لوحة مؤشرات الأداء</a:t>
            </a:r>
            <a:endParaRPr lang="ar-SA" sz="1100" dirty="0"/>
          </a:p>
        </p:txBody>
      </p:sp>
      <p:sp>
        <p:nvSpPr>
          <p:cNvPr id="16" name="Text 10"/>
          <p:cNvSpPr/>
          <p:nvPr/>
        </p:nvSpPr>
        <p:spPr>
          <a:xfrm>
            <a:off x="9280931" y="4425696"/>
            <a:ext cx="2252396" cy="548640"/>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رصد آني لنسب التقدم في كل برنامج وكل مؤشر اعتماد.</a:t>
            </a:r>
            <a:endParaRPr lang="ar-SA" sz="860" dirty="0"/>
          </a:p>
        </p:txBody>
      </p:sp>
      <p:sp>
        <p:nvSpPr>
          <p:cNvPr id="17" name="Shape 11"/>
          <p:cNvSpPr/>
          <p:nvPr/>
        </p:nvSpPr>
        <p:spPr>
          <a:xfrm>
            <a:off x="6205576" y="3767328"/>
            <a:ext cx="2654732" cy="1298448"/>
          </a:xfrm>
          <a:prstGeom prst="roundRect">
            <a:avLst>
              <a:gd name="adj" fmla="val 6338"/>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18" name="Shape 12"/>
          <p:cNvSpPr/>
          <p:nvPr/>
        </p:nvSpPr>
        <p:spPr>
          <a:xfrm>
            <a:off x="8201939" y="3913632"/>
            <a:ext cx="457200" cy="457200"/>
          </a:xfrm>
          <a:prstGeom prst="ellipse">
            <a:avLst/>
          </a:prstGeom>
          <a:solidFill>
            <a:srgbClr val="F2F8F5"/>
          </a:solidFill>
          <a:ln w="9525">
            <a:solidFill>
              <a:srgbClr val="E3EDE8"/>
            </a:solidFill>
            <a:prstDash val="solid"/>
          </a:ln>
        </p:spPr>
      </p:sp>
      <p:pic>
        <p:nvPicPr>
          <p:cNvPr id="19" name="Image 3" descr="/tmp/claude-0/-home-user-Mobile1/ab9bbf47-b054-5f6e-be59-70476e095ce8/scratchpad/assets/icons/refresh_green.png">    </p:cNvPr>
          <p:cNvPicPr>
            <a:picLocks noChangeAspect="1"/>
          </p:cNvPicPr>
          <p:nvPr/>
        </p:nvPicPr>
        <p:blipFill>
          <a:blip r:embed="rId4"/>
          <a:stretch>
            <a:fillRect/>
          </a:stretch>
        </p:blipFill>
        <p:spPr>
          <a:xfrm>
            <a:off x="8320811" y="4032504"/>
            <a:ext cx="219456" cy="219456"/>
          </a:xfrm>
          <a:prstGeom prst="rect">
            <a:avLst/>
          </a:prstGeom>
        </p:spPr>
      </p:pic>
      <p:sp>
        <p:nvSpPr>
          <p:cNvPr id="20" name="Text 13"/>
          <p:cNvSpPr/>
          <p:nvPr/>
        </p:nvSpPr>
        <p:spPr>
          <a:xfrm>
            <a:off x="6406744" y="3913632"/>
            <a:ext cx="1722044" cy="457200"/>
          </a:xfrm>
          <a:prstGeom prst="rect">
            <a:avLst/>
          </a:prstGeom>
          <a:noFill/>
          <a:ln/>
        </p:spPr>
        <p:txBody>
          <a:bodyPr wrap="square" lIns="0" tIns="0" rIns="0" bIns="0" rtlCol="0" anchor="ctr"/>
          <a:lstStyle/>
          <a:p>
            <a:pPr rtl="1" algn="r" indent="0" marL="0">
              <a:lnSpc>
                <a:spcPct val="102000"/>
              </a:lnSpc>
              <a:buNone/>
            </a:pPr>
            <a:r>
              <a:rPr lang="ar-SA" altLang="en-US" sz="1100" b="1" dirty="0">
                <a:solidFill>
                  <a:srgbClr val="04352B"/>
                </a:solidFill>
                <a:latin typeface="Tajawal" pitchFamily="34" charset="0"/>
                <a:ea typeface="Tajawal" pitchFamily="34" charset="-122"/>
                <a:cs typeface="Tajawal" pitchFamily="34" charset="-120"/>
              </a:rPr>
              <a:t>حلقات التغذية الراجعة</a:t>
            </a:r>
            <a:endParaRPr lang="ar-SA" sz="1100" dirty="0"/>
          </a:p>
        </p:txBody>
      </p:sp>
      <p:sp>
        <p:nvSpPr>
          <p:cNvPr id="21" name="Text 14"/>
          <p:cNvSpPr/>
          <p:nvPr/>
        </p:nvSpPr>
        <p:spPr>
          <a:xfrm>
            <a:off x="6406744" y="4425696"/>
            <a:ext cx="2252396" cy="548640"/>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جلسات مراجعة دورية مع المسؤولين تستنتج خطوات التحسين.</a:t>
            </a:r>
            <a:endParaRPr lang="ar-SA" sz="860" dirty="0"/>
          </a:p>
        </p:txBody>
      </p:sp>
      <p:sp>
        <p:nvSpPr>
          <p:cNvPr id="22" name="Shape 15"/>
          <p:cNvSpPr/>
          <p:nvPr/>
        </p:nvSpPr>
        <p:spPr>
          <a:xfrm>
            <a:off x="3331388" y="3767328"/>
            <a:ext cx="2654732" cy="1298448"/>
          </a:xfrm>
          <a:prstGeom prst="roundRect">
            <a:avLst>
              <a:gd name="adj" fmla="val 6338"/>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3" name="Shape 16"/>
          <p:cNvSpPr/>
          <p:nvPr/>
        </p:nvSpPr>
        <p:spPr>
          <a:xfrm>
            <a:off x="5327752" y="3913632"/>
            <a:ext cx="457200" cy="457200"/>
          </a:xfrm>
          <a:prstGeom prst="ellipse">
            <a:avLst/>
          </a:prstGeom>
          <a:solidFill>
            <a:srgbClr val="F2F8F5"/>
          </a:solidFill>
          <a:ln w="9525">
            <a:solidFill>
              <a:srgbClr val="E3EDE8"/>
            </a:solidFill>
            <a:prstDash val="solid"/>
          </a:ln>
        </p:spPr>
      </p:sp>
      <p:pic>
        <p:nvPicPr>
          <p:cNvPr id="24" name="Image 4" descr="/tmp/claude-0/-home-user-Mobile1/ab9bbf47-b054-5f6e-be59-70476e095ce8/scratchpad/assets/icons/file_green.png">    </p:cNvPr>
          <p:cNvPicPr>
            <a:picLocks noChangeAspect="1"/>
          </p:cNvPicPr>
          <p:nvPr/>
        </p:nvPicPr>
        <p:blipFill>
          <a:blip r:embed="rId5"/>
          <a:stretch>
            <a:fillRect/>
          </a:stretch>
        </p:blipFill>
        <p:spPr>
          <a:xfrm>
            <a:off x="5446624" y="4032504"/>
            <a:ext cx="219456" cy="219456"/>
          </a:xfrm>
          <a:prstGeom prst="rect">
            <a:avLst/>
          </a:prstGeom>
        </p:spPr>
      </p:pic>
      <p:sp>
        <p:nvSpPr>
          <p:cNvPr id="25" name="Text 17"/>
          <p:cNvSpPr/>
          <p:nvPr/>
        </p:nvSpPr>
        <p:spPr>
          <a:xfrm>
            <a:off x="3532556" y="3913632"/>
            <a:ext cx="1722044" cy="457200"/>
          </a:xfrm>
          <a:prstGeom prst="rect">
            <a:avLst/>
          </a:prstGeom>
          <a:noFill/>
          <a:ln/>
        </p:spPr>
        <p:txBody>
          <a:bodyPr wrap="square" lIns="0" tIns="0" rIns="0" bIns="0" rtlCol="0" anchor="ctr"/>
          <a:lstStyle/>
          <a:p>
            <a:pPr rtl="1" algn="r" indent="0" marL="0">
              <a:lnSpc>
                <a:spcPct val="102000"/>
              </a:lnSpc>
              <a:buNone/>
            </a:pPr>
            <a:r>
              <a:rPr lang="ar-SA" altLang="en-US" sz="1100" b="1" dirty="0">
                <a:solidFill>
                  <a:srgbClr val="04352B"/>
                </a:solidFill>
                <a:latin typeface="Tajawal" pitchFamily="34" charset="0"/>
                <a:ea typeface="Tajawal" pitchFamily="34" charset="-122"/>
                <a:cs typeface="Tajawal" pitchFamily="34" charset="-120"/>
              </a:rPr>
              <a:t>سجل المخرجات</a:t>
            </a:r>
            <a:endParaRPr lang="ar-SA" sz="1100" dirty="0"/>
          </a:p>
        </p:txBody>
      </p:sp>
      <p:sp>
        <p:nvSpPr>
          <p:cNvPr id="26" name="Text 18"/>
          <p:cNvSpPr/>
          <p:nvPr/>
        </p:nvSpPr>
        <p:spPr>
          <a:xfrm>
            <a:off x="3532556" y="4425696"/>
            <a:ext cx="2252396" cy="548640"/>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توثيق رقمي لكل مخرج تعليمي وإداري ضمن ملف البرنامج.</a:t>
            </a:r>
            <a:endParaRPr lang="ar-SA" sz="860" dirty="0"/>
          </a:p>
        </p:txBody>
      </p:sp>
      <p:sp>
        <p:nvSpPr>
          <p:cNvPr id="27" name="Shape 19"/>
          <p:cNvSpPr/>
          <p:nvPr/>
        </p:nvSpPr>
        <p:spPr>
          <a:xfrm>
            <a:off x="457200" y="3767328"/>
            <a:ext cx="2654732" cy="1298448"/>
          </a:xfrm>
          <a:prstGeom prst="roundRect">
            <a:avLst>
              <a:gd name="adj" fmla="val 6338"/>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sp>
        <p:nvSpPr>
          <p:cNvPr id="28" name="Shape 20"/>
          <p:cNvSpPr/>
          <p:nvPr/>
        </p:nvSpPr>
        <p:spPr>
          <a:xfrm>
            <a:off x="2453564" y="3913632"/>
            <a:ext cx="457200" cy="457200"/>
          </a:xfrm>
          <a:prstGeom prst="ellipse">
            <a:avLst/>
          </a:prstGeom>
          <a:solidFill>
            <a:srgbClr val="F2F8F5"/>
          </a:solidFill>
          <a:ln w="9525">
            <a:solidFill>
              <a:srgbClr val="E3EDE8"/>
            </a:solidFill>
            <a:prstDash val="solid"/>
          </a:ln>
        </p:spPr>
      </p:sp>
      <p:pic>
        <p:nvPicPr>
          <p:cNvPr id="29" name="Image 5" descr="/tmp/claude-0/-home-user-Mobile1/ab9bbf47-b054-5f6e-be59-70476e095ce8/scratchpad/assets/icons/shield_green.png">    </p:cNvPr>
          <p:cNvPicPr>
            <a:picLocks noChangeAspect="1"/>
          </p:cNvPicPr>
          <p:nvPr/>
        </p:nvPicPr>
        <p:blipFill>
          <a:blip r:embed="rId6"/>
          <a:stretch>
            <a:fillRect/>
          </a:stretch>
        </p:blipFill>
        <p:spPr>
          <a:xfrm>
            <a:off x="2572436" y="4032504"/>
            <a:ext cx="219456" cy="219456"/>
          </a:xfrm>
          <a:prstGeom prst="rect">
            <a:avLst/>
          </a:prstGeom>
        </p:spPr>
      </p:pic>
      <p:sp>
        <p:nvSpPr>
          <p:cNvPr id="30" name="Text 21"/>
          <p:cNvSpPr/>
          <p:nvPr/>
        </p:nvSpPr>
        <p:spPr>
          <a:xfrm>
            <a:off x="658368" y="3913632"/>
            <a:ext cx="1722044" cy="457200"/>
          </a:xfrm>
          <a:prstGeom prst="rect">
            <a:avLst/>
          </a:prstGeom>
          <a:noFill/>
          <a:ln/>
        </p:spPr>
        <p:txBody>
          <a:bodyPr wrap="square" lIns="0" tIns="0" rIns="0" bIns="0" rtlCol="0" anchor="ctr"/>
          <a:lstStyle/>
          <a:p>
            <a:pPr rtl="1" algn="r" indent="0" marL="0">
              <a:lnSpc>
                <a:spcPct val="102000"/>
              </a:lnSpc>
              <a:buNone/>
            </a:pPr>
            <a:r>
              <a:rPr lang="ar-SA" altLang="en-US" sz="1100" b="1" dirty="0">
                <a:solidFill>
                  <a:srgbClr val="04352B"/>
                </a:solidFill>
                <a:latin typeface="Tajawal" pitchFamily="34" charset="0"/>
                <a:ea typeface="Tajawal" pitchFamily="34" charset="-122"/>
                <a:cs typeface="Tajawal" pitchFamily="34" charset="-120"/>
              </a:rPr>
              <a:t>سجل المخاطر</a:t>
            </a:r>
            <a:endParaRPr lang="ar-SA" sz="1100" dirty="0"/>
          </a:p>
        </p:txBody>
      </p:sp>
      <p:sp>
        <p:nvSpPr>
          <p:cNvPr id="31" name="Text 22"/>
          <p:cNvSpPr/>
          <p:nvPr/>
        </p:nvSpPr>
        <p:spPr>
          <a:xfrm>
            <a:off x="658368" y="4425696"/>
            <a:ext cx="2252396" cy="548640"/>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إدارة المخاطر ومراجعة احتمالات التأخير في كل جولة.</a:t>
            </a:r>
            <a:endParaRPr lang="ar-SA" sz="860" dirty="0"/>
          </a:p>
        </p:txBody>
      </p:sp>
      <p:sp>
        <p:nvSpPr>
          <p:cNvPr id="32" name="Shape 23"/>
          <p:cNvSpPr/>
          <p:nvPr/>
        </p:nvSpPr>
        <p:spPr>
          <a:xfrm>
            <a:off x="457200" y="5321808"/>
            <a:ext cx="11277295" cy="969264"/>
          </a:xfrm>
          <a:prstGeom prst="roundRect">
            <a:avLst>
              <a:gd name="adj" fmla="val 8491"/>
            </a:avLst>
          </a:prstGeom>
          <a:solidFill>
            <a:srgbClr val="095242"/>
          </a:solidFill>
          <a:ln/>
          <a:effectLst>
            <a:outerShdw sx="100000" sy="100000" kx="0" ky="0" algn="bl" rotWithShape="0" blurRad="127000" dist="31750" dir="5400000">
              <a:srgbClr val="062A21">
                <a:alpha val="20000"/>
              </a:srgbClr>
            </a:outerShdw>
          </a:effectLst>
        </p:spPr>
      </p:sp>
      <p:sp>
        <p:nvSpPr>
          <p:cNvPr id="33" name="Text 24"/>
          <p:cNvSpPr/>
          <p:nvPr/>
        </p:nvSpPr>
        <p:spPr>
          <a:xfrm>
            <a:off x="9082735" y="5321808"/>
            <a:ext cx="2377440" cy="969264"/>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دورة التحسين المستمر</a:t>
            </a:r>
            <a:endParaRPr lang="ar-SA" sz="1250" dirty="0"/>
          </a:p>
        </p:txBody>
      </p:sp>
      <p:sp>
        <p:nvSpPr>
          <p:cNvPr id="34" name="Shape 25"/>
          <p:cNvSpPr/>
          <p:nvPr/>
        </p:nvSpPr>
        <p:spPr>
          <a:xfrm>
            <a:off x="7281367" y="5577840"/>
            <a:ext cx="1572768" cy="457200"/>
          </a:xfrm>
          <a:prstGeom prst="roundRect">
            <a:avLst>
              <a:gd name="adj" fmla="val 50000"/>
            </a:avLst>
          </a:prstGeom>
          <a:solidFill>
            <a:srgbClr val="FFFFFF">
              <a:alpha val="13000"/>
            </a:srgbClr>
          </a:solidFill>
          <a:ln w="9525">
            <a:solidFill>
              <a:srgbClr val="FFFFFF">
                <a:alpha val="38000"/>
              </a:srgbClr>
            </a:solidFill>
            <a:prstDash val="solid"/>
          </a:ln>
        </p:spPr>
      </p:sp>
      <p:sp>
        <p:nvSpPr>
          <p:cNvPr id="35" name="Text 26"/>
          <p:cNvSpPr/>
          <p:nvPr/>
        </p:nvSpPr>
        <p:spPr>
          <a:xfrm>
            <a:off x="7281367" y="5568696"/>
            <a:ext cx="1572768" cy="45720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١.  رصد</a:t>
            </a:r>
            <a:endParaRPr lang="ar-SA" sz="950" dirty="0"/>
          </a:p>
        </p:txBody>
      </p:sp>
      <p:sp>
        <p:nvSpPr>
          <p:cNvPr id="36" name="Text 27"/>
          <p:cNvSpPr/>
          <p:nvPr/>
        </p:nvSpPr>
        <p:spPr>
          <a:xfrm>
            <a:off x="6988759" y="5577840"/>
            <a:ext cx="274320" cy="457200"/>
          </a:xfrm>
          <a:prstGeom prst="rect">
            <a:avLst/>
          </a:prstGeom>
          <a:noFill/>
          <a:ln/>
        </p:spPr>
        <p:txBody>
          <a:bodyPr wrap="square" lIns="0" tIns="0" rIns="0" bIns="0" rtlCol="0" anchor="ctr"/>
          <a:lstStyle/>
          <a:p>
            <a:pPr rtl="1" algn="ctr" indent="0" marL="0">
              <a:buNone/>
            </a:pPr>
            <a:r>
              <a:rPr lang="ar-SA" altLang="en-US" sz="1500" b="1" dirty="0">
                <a:solidFill>
                  <a:srgbClr val="C9A45C"/>
                </a:solidFill>
                <a:latin typeface="Tajawal" pitchFamily="34" charset="0"/>
                <a:ea typeface="Tajawal" pitchFamily="34" charset="-122"/>
                <a:cs typeface="Tajawal" pitchFamily="34" charset="-120"/>
              </a:rPr>
              <a:t>‹</a:t>
            </a:r>
            <a:endParaRPr lang="ar-SA" sz="1500" dirty="0"/>
          </a:p>
        </p:txBody>
      </p:sp>
      <p:sp>
        <p:nvSpPr>
          <p:cNvPr id="37" name="Shape 28"/>
          <p:cNvSpPr/>
          <p:nvPr/>
        </p:nvSpPr>
        <p:spPr>
          <a:xfrm>
            <a:off x="5397703" y="5577840"/>
            <a:ext cx="1572768" cy="457200"/>
          </a:xfrm>
          <a:prstGeom prst="roundRect">
            <a:avLst>
              <a:gd name="adj" fmla="val 50000"/>
            </a:avLst>
          </a:prstGeom>
          <a:solidFill>
            <a:srgbClr val="FFFFFF">
              <a:alpha val="13000"/>
            </a:srgbClr>
          </a:solidFill>
          <a:ln w="9525">
            <a:solidFill>
              <a:srgbClr val="FFFFFF">
                <a:alpha val="38000"/>
              </a:srgbClr>
            </a:solidFill>
            <a:prstDash val="solid"/>
          </a:ln>
        </p:spPr>
      </p:sp>
      <p:sp>
        <p:nvSpPr>
          <p:cNvPr id="38" name="Text 29"/>
          <p:cNvSpPr/>
          <p:nvPr/>
        </p:nvSpPr>
        <p:spPr>
          <a:xfrm>
            <a:off x="5397703" y="5568696"/>
            <a:ext cx="1572768" cy="45720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٢.  تحليل</a:t>
            </a:r>
            <a:endParaRPr lang="ar-SA" sz="950" dirty="0"/>
          </a:p>
        </p:txBody>
      </p:sp>
      <p:sp>
        <p:nvSpPr>
          <p:cNvPr id="39" name="Text 30"/>
          <p:cNvSpPr/>
          <p:nvPr/>
        </p:nvSpPr>
        <p:spPr>
          <a:xfrm>
            <a:off x="5105095" y="5577840"/>
            <a:ext cx="274320" cy="457200"/>
          </a:xfrm>
          <a:prstGeom prst="rect">
            <a:avLst/>
          </a:prstGeom>
          <a:noFill/>
          <a:ln/>
        </p:spPr>
        <p:txBody>
          <a:bodyPr wrap="square" lIns="0" tIns="0" rIns="0" bIns="0" rtlCol="0" anchor="ctr"/>
          <a:lstStyle/>
          <a:p>
            <a:pPr rtl="1" algn="ctr" indent="0" marL="0">
              <a:buNone/>
            </a:pPr>
            <a:r>
              <a:rPr lang="ar-SA" altLang="en-US" sz="1500" b="1" dirty="0">
                <a:solidFill>
                  <a:srgbClr val="C9A45C"/>
                </a:solidFill>
                <a:latin typeface="Tajawal" pitchFamily="34" charset="0"/>
                <a:ea typeface="Tajawal" pitchFamily="34" charset="-122"/>
                <a:cs typeface="Tajawal" pitchFamily="34" charset="-120"/>
              </a:rPr>
              <a:t>‹</a:t>
            </a:r>
            <a:endParaRPr lang="ar-SA" sz="1500" dirty="0"/>
          </a:p>
        </p:txBody>
      </p:sp>
      <p:sp>
        <p:nvSpPr>
          <p:cNvPr id="40" name="Shape 31"/>
          <p:cNvSpPr/>
          <p:nvPr/>
        </p:nvSpPr>
        <p:spPr>
          <a:xfrm>
            <a:off x="3514039" y="5577840"/>
            <a:ext cx="1572768" cy="457200"/>
          </a:xfrm>
          <a:prstGeom prst="roundRect">
            <a:avLst>
              <a:gd name="adj" fmla="val 50000"/>
            </a:avLst>
          </a:prstGeom>
          <a:solidFill>
            <a:srgbClr val="FFFFFF">
              <a:alpha val="13000"/>
            </a:srgbClr>
          </a:solidFill>
          <a:ln w="9525">
            <a:solidFill>
              <a:srgbClr val="FFFFFF">
                <a:alpha val="38000"/>
              </a:srgbClr>
            </a:solidFill>
            <a:prstDash val="solid"/>
          </a:ln>
        </p:spPr>
      </p:sp>
      <p:sp>
        <p:nvSpPr>
          <p:cNvPr id="41" name="Text 32"/>
          <p:cNvSpPr/>
          <p:nvPr/>
        </p:nvSpPr>
        <p:spPr>
          <a:xfrm>
            <a:off x="3514039" y="5568696"/>
            <a:ext cx="1572768" cy="45720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٣.  تدخّل تصحيحي</a:t>
            </a:r>
            <a:endParaRPr lang="ar-SA" sz="950" dirty="0"/>
          </a:p>
        </p:txBody>
      </p:sp>
      <p:sp>
        <p:nvSpPr>
          <p:cNvPr id="42" name="Text 33"/>
          <p:cNvSpPr/>
          <p:nvPr/>
        </p:nvSpPr>
        <p:spPr>
          <a:xfrm>
            <a:off x="3221431" y="5577840"/>
            <a:ext cx="274320" cy="457200"/>
          </a:xfrm>
          <a:prstGeom prst="rect">
            <a:avLst/>
          </a:prstGeom>
          <a:noFill/>
          <a:ln/>
        </p:spPr>
        <p:txBody>
          <a:bodyPr wrap="square" lIns="0" tIns="0" rIns="0" bIns="0" rtlCol="0" anchor="ctr"/>
          <a:lstStyle/>
          <a:p>
            <a:pPr rtl="1" algn="ctr" indent="0" marL="0">
              <a:buNone/>
            </a:pPr>
            <a:r>
              <a:rPr lang="ar-SA" altLang="en-US" sz="1500" b="1" dirty="0">
                <a:solidFill>
                  <a:srgbClr val="C9A45C"/>
                </a:solidFill>
                <a:latin typeface="Tajawal" pitchFamily="34" charset="0"/>
                <a:ea typeface="Tajawal" pitchFamily="34" charset="-122"/>
                <a:cs typeface="Tajawal" pitchFamily="34" charset="-120"/>
              </a:rPr>
              <a:t>‹</a:t>
            </a:r>
            <a:endParaRPr lang="ar-SA" sz="1500" dirty="0"/>
          </a:p>
        </p:txBody>
      </p:sp>
      <p:sp>
        <p:nvSpPr>
          <p:cNvPr id="43" name="Shape 34"/>
          <p:cNvSpPr/>
          <p:nvPr/>
        </p:nvSpPr>
        <p:spPr>
          <a:xfrm>
            <a:off x="1630375" y="5577840"/>
            <a:ext cx="1572768" cy="457200"/>
          </a:xfrm>
          <a:prstGeom prst="roundRect">
            <a:avLst>
              <a:gd name="adj" fmla="val 50000"/>
            </a:avLst>
          </a:prstGeom>
          <a:solidFill>
            <a:srgbClr val="FFFFFF">
              <a:alpha val="13000"/>
            </a:srgbClr>
          </a:solidFill>
          <a:ln w="9525">
            <a:solidFill>
              <a:srgbClr val="FFFFFF">
                <a:alpha val="38000"/>
              </a:srgbClr>
            </a:solidFill>
            <a:prstDash val="solid"/>
          </a:ln>
        </p:spPr>
      </p:sp>
      <p:sp>
        <p:nvSpPr>
          <p:cNvPr id="44" name="Text 35"/>
          <p:cNvSpPr/>
          <p:nvPr/>
        </p:nvSpPr>
        <p:spPr>
          <a:xfrm>
            <a:off x="1630375" y="5568696"/>
            <a:ext cx="1572768" cy="45720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٤.  تحقق من الأثر</a:t>
            </a:r>
            <a:endParaRPr lang="ar-SA" sz="950" dirty="0"/>
          </a:p>
        </p:txBody>
      </p:sp>
      <p:sp>
        <p:nvSpPr>
          <p:cNvPr id="45" name="Text 36"/>
          <p:cNvSpPr/>
          <p:nvPr/>
        </p:nvSpPr>
        <p:spPr>
          <a:xfrm>
            <a:off x="1337767" y="5577840"/>
            <a:ext cx="274320" cy="457200"/>
          </a:xfrm>
          <a:prstGeom prst="rect">
            <a:avLst/>
          </a:prstGeom>
          <a:noFill/>
          <a:ln/>
        </p:spPr>
        <p:txBody>
          <a:bodyPr wrap="square" lIns="0" tIns="0" rIns="0" bIns="0" rtlCol="0" anchor="ctr"/>
          <a:lstStyle/>
          <a:p>
            <a:pPr rtl="1" algn="ctr" indent="0" marL="0">
              <a:buNone/>
            </a:pPr>
            <a:r>
              <a:rPr lang="ar-SA" altLang="en-US" sz="1500" b="1" dirty="0">
                <a:solidFill>
                  <a:srgbClr val="C9A45C"/>
                </a:solidFill>
                <a:latin typeface="Tajawal" pitchFamily="34" charset="0"/>
                <a:ea typeface="Tajawal" pitchFamily="34" charset="-122"/>
                <a:cs typeface="Tajawal" pitchFamily="34" charset="-120"/>
              </a:rPr>
              <a:t>‹</a:t>
            </a:r>
            <a:endParaRPr lang="ar-SA" sz="1500" dirty="0"/>
          </a:p>
        </p:txBody>
      </p:sp>
      <p:sp>
        <p:nvSpPr>
          <p:cNvPr id="46" name="Shape 37"/>
          <p:cNvSpPr/>
          <p:nvPr/>
        </p:nvSpPr>
        <p:spPr>
          <a:xfrm>
            <a:off x="-253289" y="5577840"/>
            <a:ext cx="1572768" cy="457200"/>
          </a:xfrm>
          <a:prstGeom prst="roundRect">
            <a:avLst>
              <a:gd name="adj" fmla="val 50000"/>
            </a:avLst>
          </a:prstGeom>
          <a:solidFill>
            <a:srgbClr val="FFFFFF">
              <a:alpha val="13000"/>
            </a:srgbClr>
          </a:solidFill>
          <a:ln w="9525">
            <a:solidFill>
              <a:srgbClr val="FFFFFF">
                <a:alpha val="38000"/>
              </a:srgbClr>
            </a:solidFill>
            <a:prstDash val="solid"/>
          </a:ln>
        </p:spPr>
      </p:sp>
      <p:sp>
        <p:nvSpPr>
          <p:cNvPr id="47" name="Text 38"/>
          <p:cNvSpPr/>
          <p:nvPr/>
        </p:nvSpPr>
        <p:spPr>
          <a:xfrm>
            <a:off x="-253289" y="5568696"/>
            <a:ext cx="1572768" cy="457200"/>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٥.  توثيق</a:t>
            </a:r>
            <a:endParaRPr lang="ar-SA"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الثالث · المتابعة والحوكمة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نظام المتابعة والمساءلة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نظام المساءلة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٣٦</a:t>
            </a:r>
            <a:endParaRPr lang="ar-SA" sz="900" dirty="0"/>
          </a:p>
        </p:txBody>
      </p:sp>
      <p:sp>
        <p:nvSpPr>
          <p:cNvPr id="8" name="Text 4"/>
          <p:cNvSpPr/>
          <p:nvPr/>
        </p:nvSpPr>
        <p:spPr>
          <a:xfrm>
            <a:off x="457200" y="1005840"/>
            <a:ext cx="11277295" cy="347472"/>
          </a:xfrm>
          <a:prstGeom prst="rect">
            <a:avLst/>
          </a:prstGeom>
          <a:noFill/>
          <a:ln/>
        </p:spPr>
        <p:txBody>
          <a:bodyPr wrap="square" lIns="0" tIns="0" rIns="0" bIns="0" rtlCol="0" anchor="t"/>
          <a:lstStyle/>
          <a:p>
            <a:pPr rtl="1" algn="r" indent="0" marL="0">
              <a:buNone/>
            </a:pPr>
            <a:r>
              <a:rPr lang="ar-SA" altLang="en-US" sz="1050" dirty="0">
                <a:solidFill>
                  <a:srgbClr val="34473F"/>
                </a:solidFill>
                <a:latin typeface="Tajawal" pitchFamily="34" charset="0"/>
                <a:ea typeface="Tajawal" pitchFamily="34" charset="-122"/>
                <a:cs typeface="Tajawal" pitchFamily="34" charset="-120"/>
              </a:rPr>
              <a:t>يهدف نظام المساءلة إلى تتبّع الالتزام بمواعيد التنفيذ وضمان المسؤولية الفردية والجماعية عن كل برنامج، وفق منهجية موضوعية موثّقة.</a:t>
            </a:r>
            <a:endParaRPr lang="ar-SA" sz="10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426464"/>
          <a:ext cx="11277295" cy="914400"/>
        </p:xfrm>
        <a:graphic>
          <a:graphicData uri="http://schemas.openxmlformats.org/drawingml/2006/table">
            <a:tbl>
              <a:tblPr/>
              <a:tblGrid>
                <a:gridCol w="2819324"/>
                <a:gridCol w="2819324"/>
                <a:gridCol w="2819324"/>
                <a:gridCol w="2819324"/>
              </a:tblGrid>
              <a:tr h="329184">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تاريخ التنفيذ الفعلي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تاريخ التنفيذ المحدد في الخطة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مسؤول التنفيذ</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اسم البرنامج / المشروع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graphicFrame>
        <p:nvGraphicFramePr>
          <p:cNvPr id="79" name="Table 1"/>
          <p:cNvGraphicFramePr>
            <a:graphicFrameLocks noGrp="1"/>
          </p:cNvGraphicFramePr>
          <p:nvPr>
            <p:extLst>
              <p:ext uri="{D42A27DB-BD31-4B8C-83A1-F6EECF244321}">
                <p14:modId xmlns:p14="http://schemas.microsoft.com/office/powerpoint/2010/main" val="1579011935"/>
              </p:ext>
            </p:extLst>
          </p:nvPr>
        </p:nvGraphicFramePr>
        <p:xfrm>
          <a:off x="457200" y="2322576"/>
          <a:ext cx="11277295" cy="914400"/>
        </p:xfrm>
        <a:graphic>
          <a:graphicData uri="http://schemas.openxmlformats.org/drawingml/2006/table">
            <a:tbl>
              <a:tblPr/>
              <a:tblGrid>
                <a:gridCol w="1691640"/>
                <a:gridCol w="2069287"/>
                <a:gridCol w="658368"/>
                <a:gridCol w="713232"/>
                <a:gridCol w="566928"/>
                <a:gridCol w="1371600"/>
                <a:gridCol w="786384"/>
                <a:gridCol w="658368"/>
                <a:gridCol w="566928"/>
                <a:gridCol w="914400"/>
                <a:gridCol w="868680"/>
              </a:tblGrid>
              <a:tr h="274320">
                <a:tc gridSpan="5">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مستوى الإنجاز (تقويم البرنامج / المشروع)</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hMerge="1">
                  <a:tcPr/>
                </a:tc>
                <a:tc hMerge="1">
                  <a:tcPr/>
                </a:tc>
                <a:tc rowSpan="2">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أسباب عدم التنفيذ</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4">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متابعة التنفيذ</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hMerge="1">
                  <a:tcPr/>
                </a:tc>
                <a:tc rowSpan="2">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الفصل الدراسي</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10896">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أداة التقويم المستخدمة</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ملاحظات</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ضعيف</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متوسط</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عالٍ</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جاري التنفيذ</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لم ينفذ</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نفذ</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80" b="1" dirty="0">
                          <a:solidFill>
                            <a:srgbClr val="FFFFFF"/>
                          </a:solidFill>
                          <a:latin typeface="Tajawal" pitchFamily="34" charset="0"/>
                          <a:ea typeface="Tajawal" pitchFamily="34" charset="-122"/>
                          <a:cs typeface="Tajawal" pitchFamily="34" charset="-120"/>
                        </a:rPr>
                        <a:t>تاريخ المتابعة</a:t>
                      </a:r>
                      <a:endParaRPr lang="ar-SA" sz="7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r>
              <a:tr h="38404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rowSpan="2">
                  <a:txBody>
                    <a:bodyPr/>
                    <a:lstStyle/>
                    <a:p>
                      <a:pPr rtl="1" algn="ctr" indent="0" marL="0">
                        <a:buNone/>
                      </a:pPr>
                      <a:r>
                        <a:rPr lang="ar-SA" altLang="en-US" sz="1100" b="1" dirty="0">
                          <a:solidFill>
                            <a:srgbClr val="FFFFFF"/>
                          </a:solidFill>
                          <a:latin typeface="Tajawal" pitchFamily="34" charset="0"/>
                          <a:ea typeface="Tajawal" pitchFamily="34" charset="-122"/>
                          <a:cs typeface="Tajawal" pitchFamily="34" charset="-120"/>
                        </a:rPr>
                        <a:t>الأول</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089A1"/>
                    </a:solidFill>
                  </a:tcPr>
                </a:tc>
              </a:tr>
              <a:tr h="38404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vMerge="1">
                  <a:tcPr/>
                </a:tc>
              </a:tr>
              <a:tr h="38404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rowSpan="2">
                  <a:txBody>
                    <a:bodyPr/>
                    <a:lstStyle/>
                    <a:p>
                      <a:pPr rtl="1" algn="ctr" indent="0" marL="0">
                        <a:buNone/>
                      </a:pPr>
                      <a:r>
                        <a:rPr lang="ar-SA" altLang="en-US" sz="1100" b="1" dirty="0">
                          <a:solidFill>
                            <a:srgbClr val="FFFFFF"/>
                          </a:solidFill>
                          <a:latin typeface="Tajawal" pitchFamily="34" charset="0"/>
                          <a:ea typeface="Tajawal" pitchFamily="34" charset="-122"/>
                          <a:cs typeface="Tajawal" pitchFamily="34" charset="-120"/>
                        </a:rPr>
                        <a:t>الثاني</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84048">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vMerge="1">
                  <a:tcPr/>
                </a:tc>
              </a:tr>
            </a:tbl>
          </a:graphicData>
        </a:graphic>
      </p:graphicFrame>
      <p:sp>
        <p:nvSpPr>
          <p:cNvPr id="11" name="Shape 5"/>
          <p:cNvSpPr/>
          <p:nvPr/>
        </p:nvSpPr>
        <p:spPr>
          <a:xfrm>
            <a:off x="6202375" y="4626864"/>
            <a:ext cx="5532120" cy="1737360"/>
          </a:xfrm>
          <a:prstGeom prst="roundRect">
            <a:avLst>
              <a:gd name="adj" fmla="val 4737"/>
            </a:avLst>
          </a:prstGeom>
          <a:solidFill>
            <a:srgbClr val="095242"/>
          </a:solidFill>
          <a:ln/>
          <a:effectLst>
            <a:outerShdw sx="100000" sy="100000" kx="0" ky="0" algn="bl" rotWithShape="0" blurRad="127000" dist="31750" dir="5400000">
              <a:srgbClr val="062A21">
                <a:alpha val="20000"/>
              </a:srgbClr>
            </a:outerShdw>
          </a:effectLst>
        </p:spPr>
      </p:sp>
      <p:pic>
        <p:nvPicPr>
          <p:cNvPr id="12" name="Image 2" descr="/tmp/claude-0/-home-user-Mobile1/ab9bbf47-b054-5f6e-be59-70476e095ce8/scratchpad/assets/dots_white.png">    </p:cNvPr>
          <p:cNvPicPr>
            <a:picLocks noChangeAspect="1"/>
          </p:cNvPicPr>
          <p:nvPr/>
        </p:nvPicPr>
        <p:blipFill>
          <a:blip r:embed="rId3">
            <a:alphaModFix amt="28000"/>
          </a:blip>
          <a:stretch>
            <a:fillRect/>
          </a:stretch>
        </p:blipFill>
        <p:spPr>
          <a:xfrm>
            <a:off x="10134295" y="5312664"/>
            <a:ext cx="1463040" cy="1005840"/>
          </a:xfrm>
          <a:prstGeom prst="rect">
            <a:avLst/>
          </a:prstGeom>
        </p:spPr>
      </p:pic>
      <p:sp>
        <p:nvSpPr>
          <p:cNvPr id="13" name="Text 6"/>
          <p:cNvSpPr/>
          <p:nvPr/>
        </p:nvSpPr>
        <p:spPr>
          <a:xfrm>
            <a:off x="6476695" y="4773168"/>
            <a:ext cx="4983480" cy="310896"/>
          </a:xfrm>
          <a:prstGeom prst="rect">
            <a:avLst/>
          </a:prstGeom>
          <a:noFill/>
          <a:ln/>
        </p:spPr>
        <p:txBody>
          <a:bodyPr wrap="square" lIns="0" tIns="0" rIns="0" bIns="0" rtlCol="0" anchor="t"/>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مستويات التصعيد</a:t>
            </a:r>
            <a:endParaRPr lang="ar-SA" sz="1250" dirty="0"/>
          </a:p>
        </p:txBody>
      </p:sp>
      <p:sp>
        <p:nvSpPr>
          <p:cNvPr id="14" name="Shape 7"/>
          <p:cNvSpPr/>
          <p:nvPr/>
        </p:nvSpPr>
        <p:spPr>
          <a:xfrm>
            <a:off x="9832543" y="5175504"/>
            <a:ext cx="1627632" cy="402336"/>
          </a:xfrm>
          <a:prstGeom prst="roundRect">
            <a:avLst>
              <a:gd name="adj" fmla="val 50000"/>
            </a:avLst>
          </a:prstGeom>
          <a:solidFill>
            <a:srgbClr val="FFFFFF">
              <a:alpha val="13000"/>
            </a:srgbClr>
          </a:solidFill>
          <a:ln w="9525">
            <a:solidFill>
              <a:srgbClr val="FFFFFF">
                <a:alpha val="38000"/>
              </a:srgbClr>
            </a:solidFill>
            <a:prstDash val="solid"/>
          </a:ln>
        </p:spPr>
      </p:sp>
      <p:sp>
        <p:nvSpPr>
          <p:cNvPr id="15" name="Text 8"/>
          <p:cNvSpPr/>
          <p:nvPr/>
        </p:nvSpPr>
        <p:spPr>
          <a:xfrm>
            <a:off x="9832543" y="5166360"/>
            <a:ext cx="1627632" cy="402336"/>
          </a:xfrm>
          <a:prstGeom prst="rect">
            <a:avLst/>
          </a:prstGeom>
          <a:noFill/>
          <a:ln/>
        </p:spPr>
        <p:txBody>
          <a:bodyPr wrap="square" lIns="0" tIns="0" rIns="0" bIns="0" rtlCol="0" anchor="ct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  تنبيه شفوي</a:t>
            </a:r>
            <a:endParaRPr lang="ar-SA" sz="860" dirty="0"/>
          </a:p>
        </p:txBody>
      </p:sp>
      <p:sp>
        <p:nvSpPr>
          <p:cNvPr id="16" name="Shape 9"/>
          <p:cNvSpPr/>
          <p:nvPr/>
        </p:nvSpPr>
        <p:spPr>
          <a:xfrm>
            <a:off x="8058607" y="5175504"/>
            <a:ext cx="1627632" cy="402336"/>
          </a:xfrm>
          <a:prstGeom prst="roundRect">
            <a:avLst>
              <a:gd name="adj" fmla="val 50000"/>
            </a:avLst>
          </a:prstGeom>
          <a:solidFill>
            <a:srgbClr val="FFFFFF">
              <a:alpha val="13000"/>
            </a:srgbClr>
          </a:solidFill>
          <a:ln w="9525">
            <a:solidFill>
              <a:srgbClr val="FFFFFF">
                <a:alpha val="38000"/>
              </a:srgbClr>
            </a:solidFill>
            <a:prstDash val="solid"/>
          </a:ln>
        </p:spPr>
      </p:sp>
      <p:sp>
        <p:nvSpPr>
          <p:cNvPr id="17" name="Text 10"/>
          <p:cNvSpPr/>
          <p:nvPr/>
        </p:nvSpPr>
        <p:spPr>
          <a:xfrm>
            <a:off x="8058607" y="5166360"/>
            <a:ext cx="1627632" cy="402336"/>
          </a:xfrm>
          <a:prstGeom prst="rect">
            <a:avLst/>
          </a:prstGeom>
          <a:noFill/>
          <a:ln/>
        </p:spPr>
        <p:txBody>
          <a:bodyPr wrap="square" lIns="0" tIns="0" rIns="0" bIns="0" rtlCol="0" anchor="ct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٢.  إشعار كتابي</a:t>
            </a:r>
            <a:endParaRPr lang="ar-SA" sz="860" dirty="0"/>
          </a:p>
        </p:txBody>
      </p:sp>
      <p:sp>
        <p:nvSpPr>
          <p:cNvPr id="18" name="Shape 11"/>
          <p:cNvSpPr/>
          <p:nvPr/>
        </p:nvSpPr>
        <p:spPr>
          <a:xfrm>
            <a:off x="6284671" y="5175504"/>
            <a:ext cx="1627632" cy="402336"/>
          </a:xfrm>
          <a:prstGeom prst="roundRect">
            <a:avLst>
              <a:gd name="adj" fmla="val 50000"/>
            </a:avLst>
          </a:prstGeom>
          <a:solidFill>
            <a:srgbClr val="FFFFFF">
              <a:alpha val="13000"/>
            </a:srgbClr>
          </a:solidFill>
          <a:ln w="9525">
            <a:solidFill>
              <a:srgbClr val="FFFFFF">
                <a:alpha val="38000"/>
              </a:srgbClr>
            </a:solidFill>
            <a:prstDash val="solid"/>
          </a:ln>
        </p:spPr>
      </p:sp>
      <p:sp>
        <p:nvSpPr>
          <p:cNvPr id="19" name="Text 12"/>
          <p:cNvSpPr/>
          <p:nvPr/>
        </p:nvSpPr>
        <p:spPr>
          <a:xfrm>
            <a:off x="6284671" y="5166360"/>
            <a:ext cx="1627632" cy="402336"/>
          </a:xfrm>
          <a:prstGeom prst="rect">
            <a:avLst/>
          </a:prstGeom>
          <a:noFill/>
          <a:ln/>
        </p:spPr>
        <p:txBody>
          <a:bodyPr wrap="square" lIns="0" tIns="0" rIns="0" bIns="0" rtlCol="0" anchor="ct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٣.  اجتماع متابعة</a:t>
            </a:r>
            <a:endParaRPr lang="ar-SA" sz="860" dirty="0"/>
          </a:p>
        </p:txBody>
      </p:sp>
      <p:sp>
        <p:nvSpPr>
          <p:cNvPr id="20" name="Shape 13"/>
          <p:cNvSpPr/>
          <p:nvPr/>
        </p:nvSpPr>
        <p:spPr>
          <a:xfrm>
            <a:off x="9832543" y="5687568"/>
            <a:ext cx="1627632" cy="402336"/>
          </a:xfrm>
          <a:prstGeom prst="roundRect">
            <a:avLst>
              <a:gd name="adj" fmla="val 50000"/>
            </a:avLst>
          </a:prstGeom>
          <a:solidFill>
            <a:srgbClr val="FFFFFF">
              <a:alpha val="13000"/>
            </a:srgbClr>
          </a:solidFill>
          <a:ln w="9525">
            <a:solidFill>
              <a:srgbClr val="FFFFFF">
                <a:alpha val="38000"/>
              </a:srgbClr>
            </a:solidFill>
            <a:prstDash val="solid"/>
          </a:ln>
        </p:spPr>
      </p:sp>
      <p:sp>
        <p:nvSpPr>
          <p:cNvPr id="21" name="Text 14"/>
          <p:cNvSpPr/>
          <p:nvPr/>
        </p:nvSpPr>
        <p:spPr>
          <a:xfrm>
            <a:off x="9832543" y="5678424"/>
            <a:ext cx="1627632" cy="402336"/>
          </a:xfrm>
          <a:prstGeom prst="rect">
            <a:avLst/>
          </a:prstGeom>
          <a:noFill/>
          <a:ln/>
        </p:spPr>
        <p:txBody>
          <a:bodyPr wrap="square" lIns="0" tIns="0" rIns="0" bIns="0" rtlCol="0" anchor="ct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٤.  خطاب رسمي</a:t>
            </a:r>
            <a:endParaRPr lang="ar-SA" sz="860" dirty="0"/>
          </a:p>
        </p:txBody>
      </p:sp>
      <p:sp>
        <p:nvSpPr>
          <p:cNvPr id="22" name="Shape 15"/>
          <p:cNvSpPr/>
          <p:nvPr/>
        </p:nvSpPr>
        <p:spPr>
          <a:xfrm>
            <a:off x="8058607" y="5687568"/>
            <a:ext cx="1627632" cy="402336"/>
          </a:xfrm>
          <a:prstGeom prst="roundRect">
            <a:avLst>
              <a:gd name="adj" fmla="val 50000"/>
            </a:avLst>
          </a:prstGeom>
          <a:solidFill>
            <a:srgbClr val="FFFFFF">
              <a:alpha val="13000"/>
            </a:srgbClr>
          </a:solidFill>
          <a:ln w="9525">
            <a:solidFill>
              <a:srgbClr val="FFFFFF">
                <a:alpha val="38000"/>
              </a:srgbClr>
            </a:solidFill>
            <a:prstDash val="solid"/>
          </a:ln>
        </p:spPr>
      </p:sp>
      <p:sp>
        <p:nvSpPr>
          <p:cNvPr id="23" name="Text 16"/>
          <p:cNvSpPr/>
          <p:nvPr/>
        </p:nvSpPr>
        <p:spPr>
          <a:xfrm>
            <a:off x="8058607" y="5678424"/>
            <a:ext cx="1627632" cy="402336"/>
          </a:xfrm>
          <a:prstGeom prst="rect">
            <a:avLst/>
          </a:prstGeom>
          <a:noFill/>
          <a:ln/>
        </p:spPr>
        <p:txBody>
          <a:bodyPr wrap="square" lIns="0" tIns="0" rIns="0" bIns="0" rtlCol="0" anchor="ct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٥.  رفع التقرير للجهة المختصة</a:t>
            </a:r>
            <a:endParaRPr lang="ar-SA" sz="860" dirty="0"/>
          </a:p>
        </p:txBody>
      </p:sp>
      <p:sp>
        <p:nvSpPr>
          <p:cNvPr id="24" name="Shape 17"/>
          <p:cNvSpPr/>
          <p:nvPr/>
        </p:nvSpPr>
        <p:spPr>
          <a:xfrm>
            <a:off x="4238549" y="4626864"/>
            <a:ext cx="1707794" cy="1737360"/>
          </a:xfrm>
          <a:prstGeom prst="roundRect">
            <a:avLst>
              <a:gd name="adj" fmla="val 4819"/>
            </a:avLst>
          </a:prstGeom>
          <a:solidFill>
            <a:srgbClr val="F2F8F5"/>
          </a:solidFill>
          <a:ln w="9525">
            <a:solidFill>
              <a:srgbClr val="E3EDE8"/>
            </a:solidFill>
            <a:prstDash val="solid"/>
          </a:ln>
        </p:spPr>
      </p:sp>
      <p:sp>
        <p:nvSpPr>
          <p:cNvPr id="25" name="Text 18"/>
          <p:cNvSpPr/>
          <p:nvPr/>
        </p:nvSpPr>
        <p:spPr>
          <a:xfrm>
            <a:off x="4421429" y="4791456"/>
            <a:ext cx="1342034" cy="310896"/>
          </a:xfrm>
          <a:prstGeom prst="rect">
            <a:avLst/>
          </a:prstGeom>
          <a:noFill/>
          <a:ln/>
        </p:spPr>
        <p:txBody>
          <a:bodyPr wrap="square" lIns="0" tIns="0" rIns="0" bIns="0" rtlCol="0" anchor="t"/>
          <a:lstStyle/>
          <a:p>
            <a:pPr rtl="1" algn="r" indent="0" marL="0">
              <a:buNone/>
            </a:pPr>
            <a:r>
              <a:rPr lang="ar-SA" altLang="en-US" sz="1150" b="1" dirty="0">
                <a:solidFill>
                  <a:srgbClr val="04352B"/>
                </a:solidFill>
                <a:latin typeface="Tajawal" pitchFamily="34" charset="0"/>
                <a:ea typeface="Tajawal" pitchFamily="34" charset="-122"/>
                <a:cs typeface="Tajawal" pitchFamily="34" charset="-120"/>
              </a:rPr>
              <a:t>الشفافية</a:t>
            </a:r>
            <a:endParaRPr lang="ar-SA" sz="1150" dirty="0"/>
          </a:p>
        </p:txBody>
      </p:sp>
      <p:sp>
        <p:nvSpPr>
          <p:cNvPr id="26" name="Text 19"/>
          <p:cNvSpPr/>
          <p:nvPr/>
        </p:nvSpPr>
        <p:spPr>
          <a:xfrm>
            <a:off x="4421429" y="5175504"/>
            <a:ext cx="1342034" cy="1005840"/>
          </a:xfrm>
          <a:prstGeom prst="rect">
            <a:avLst/>
          </a:prstGeom>
          <a:noFill/>
          <a:ln/>
        </p:spPr>
        <p:txBody>
          <a:bodyPr wrap="square" lIns="0" tIns="0" rIns="0" bIns="0" rtlCol="0" anchor="t"/>
          <a:lstStyle/>
          <a:p>
            <a:pPr rtl="1" algn="r" indent="0" marL="0">
              <a:lnSpc>
                <a:spcPct val="120000"/>
              </a:lnSpc>
              <a:buNone/>
            </a:pPr>
            <a:r>
              <a:rPr lang="ar-SA" altLang="en-US" sz="900" dirty="0">
                <a:solidFill>
                  <a:srgbClr val="34473F"/>
                </a:solidFill>
                <a:latin typeface="Tajawal" pitchFamily="34" charset="0"/>
                <a:ea typeface="Tajawal" pitchFamily="34" charset="-122"/>
                <a:cs typeface="Tajawal" pitchFamily="34" charset="-120"/>
              </a:rPr>
              <a:t>معايير المساءلة معلنة ومعروفة لكل الفريق منذ بداية العام.</a:t>
            </a:r>
            <a:endParaRPr lang="ar-SA" sz="900" dirty="0"/>
          </a:p>
        </p:txBody>
      </p:sp>
      <p:sp>
        <p:nvSpPr>
          <p:cNvPr id="27" name="Shape 20"/>
          <p:cNvSpPr/>
          <p:nvPr/>
        </p:nvSpPr>
        <p:spPr>
          <a:xfrm>
            <a:off x="2347874" y="4626864"/>
            <a:ext cx="1707794" cy="1737360"/>
          </a:xfrm>
          <a:prstGeom prst="roundRect">
            <a:avLst>
              <a:gd name="adj" fmla="val 4819"/>
            </a:avLst>
          </a:prstGeom>
          <a:solidFill>
            <a:srgbClr val="F2F8F5"/>
          </a:solidFill>
          <a:ln w="9525">
            <a:solidFill>
              <a:srgbClr val="E3EDE8"/>
            </a:solidFill>
            <a:prstDash val="solid"/>
          </a:ln>
        </p:spPr>
      </p:sp>
      <p:sp>
        <p:nvSpPr>
          <p:cNvPr id="28" name="Text 21"/>
          <p:cNvSpPr/>
          <p:nvPr/>
        </p:nvSpPr>
        <p:spPr>
          <a:xfrm>
            <a:off x="2530754" y="4791456"/>
            <a:ext cx="1342034" cy="310896"/>
          </a:xfrm>
          <a:prstGeom prst="rect">
            <a:avLst/>
          </a:prstGeom>
          <a:noFill/>
          <a:ln/>
        </p:spPr>
        <p:txBody>
          <a:bodyPr wrap="square" lIns="0" tIns="0" rIns="0" bIns="0" rtlCol="0" anchor="t"/>
          <a:lstStyle/>
          <a:p>
            <a:pPr rtl="1" algn="r" indent="0" marL="0">
              <a:buNone/>
            </a:pPr>
            <a:r>
              <a:rPr lang="ar-SA" altLang="en-US" sz="1150" b="1" dirty="0">
                <a:solidFill>
                  <a:srgbClr val="04352B"/>
                </a:solidFill>
                <a:latin typeface="Tajawal" pitchFamily="34" charset="0"/>
                <a:ea typeface="Tajawal" pitchFamily="34" charset="-122"/>
                <a:cs typeface="Tajawal" pitchFamily="34" charset="-120"/>
              </a:rPr>
              <a:t>التوثيق</a:t>
            </a:r>
            <a:endParaRPr lang="ar-SA" sz="1150" dirty="0"/>
          </a:p>
        </p:txBody>
      </p:sp>
      <p:sp>
        <p:nvSpPr>
          <p:cNvPr id="29" name="Text 22"/>
          <p:cNvSpPr/>
          <p:nvPr/>
        </p:nvSpPr>
        <p:spPr>
          <a:xfrm>
            <a:off x="2530754" y="5175504"/>
            <a:ext cx="1342034" cy="1005840"/>
          </a:xfrm>
          <a:prstGeom prst="rect">
            <a:avLst/>
          </a:prstGeom>
          <a:noFill/>
          <a:ln/>
        </p:spPr>
        <p:txBody>
          <a:bodyPr wrap="square" lIns="0" tIns="0" rIns="0" bIns="0" rtlCol="0" anchor="t"/>
          <a:lstStyle/>
          <a:p>
            <a:pPr rtl="1" algn="r" indent="0" marL="0">
              <a:lnSpc>
                <a:spcPct val="120000"/>
              </a:lnSpc>
              <a:buNone/>
            </a:pPr>
            <a:r>
              <a:rPr lang="ar-SA" altLang="en-US" sz="900" dirty="0">
                <a:solidFill>
                  <a:srgbClr val="34473F"/>
                </a:solidFill>
                <a:latin typeface="Tajawal" pitchFamily="34" charset="0"/>
                <a:ea typeface="Tajawal" pitchFamily="34" charset="-122"/>
                <a:cs typeface="Tajawal" pitchFamily="34" charset="-120"/>
              </a:rPr>
              <a:t>كل عملية مساءلة مدعّمة بأدلّة ومخرجات ومستندات.</a:t>
            </a:r>
            <a:endParaRPr lang="ar-SA" sz="900" dirty="0"/>
          </a:p>
        </p:txBody>
      </p:sp>
      <p:sp>
        <p:nvSpPr>
          <p:cNvPr id="30" name="Shape 23"/>
          <p:cNvSpPr/>
          <p:nvPr/>
        </p:nvSpPr>
        <p:spPr>
          <a:xfrm>
            <a:off x="457200" y="4626864"/>
            <a:ext cx="1707794" cy="1737360"/>
          </a:xfrm>
          <a:prstGeom prst="roundRect">
            <a:avLst>
              <a:gd name="adj" fmla="val 4819"/>
            </a:avLst>
          </a:prstGeom>
          <a:solidFill>
            <a:srgbClr val="F2F8F5"/>
          </a:solidFill>
          <a:ln w="9525">
            <a:solidFill>
              <a:srgbClr val="E3EDE8"/>
            </a:solidFill>
            <a:prstDash val="solid"/>
          </a:ln>
        </p:spPr>
      </p:sp>
      <p:sp>
        <p:nvSpPr>
          <p:cNvPr id="31" name="Text 24"/>
          <p:cNvSpPr/>
          <p:nvPr/>
        </p:nvSpPr>
        <p:spPr>
          <a:xfrm>
            <a:off x="640080" y="4791456"/>
            <a:ext cx="1342034" cy="310896"/>
          </a:xfrm>
          <a:prstGeom prst="rect">
            <a:avLst/>
          </a:prstGeom>
          <a:noFill/>
          <a:ln/>
        </p:spPr>
        <p:txBody>
          <a:bodyPr wrap="square" lIns="0" tIns="0" rIns="0" bIns="0" rtlCol="0" anchor="t"/>
          <a:lstStyle/>
          <a:p>
            <a:pPr rtl="1" algn="r" indent="0" marL="0">
              <a:buNone/>
            </a:pPr>
            <a:r>
              <a:rPr lang="ar-SA" altLang="en-US" sz="1150" b="1" dirty="0">
                <a:solidFill>
                  <a:srgbClr val="04352B"/>
                </a:solidFill>
                <a:latin typeface="Tajawal" pitchFamily="34" charset="0"/>
                <a:ea typeface="Tajawal" pitchFamily="34" charset="-122"/>
                <a:cs typeface="Tajawal" pitchFamily="34" charset="-120"/>
              </a:rPr>
              <a:t>التحسين</a:t>
            </a:r>
            <a:endParaRPr lang="ar-SA" sz="1150" dirty="0"/>
          </a:p>
        </p:txBody>
      </p:sp>
      <p:sp>
        <p:nvSpPr>
          <p:cNvPr id="32" name="Text 25"/>
          <p:cNvSpPr/>
          <p:nvPr/>
        </p:nvSpPr>
        <p:spPr>
          <a:xfrm>
            <a:off x="640080" y="5175504"/>
            <a:ext cx="1342034" cy="1005840"/>
          </a:xfrm>
          <a:prstGeom prst="rect">
            <a:avLst/>
          </a:prstGeom>
          <a:noFill/>
          <a:ln/>
        </p:spPr>
        <p:txBody>
          <a:bodyPr wrap="square" lIns="0" tIns="0" rIns="0" bIns="0" rtlCol="0" anchor="t"/>
          <a:lstStyle/>
          <a:p>
            <a:pPr rtl="1" algn="r" indent="0" marL="0">
              <a:lnSpc>
                <a:spcPct val="120000"/>
              </a:lnSpc>
              <a:buNone/>
            </a:pPr>
            <a:r>
              <a:rPr lang="ar-SA" altLang="en-US" sz="900" dirty="0">
                <a:solidFill>
                  <a:srgbClr val="34473F"/>
                </a:solidFill>
                <a:latin typeface="Tajawal" pitchFamily="34" charset="0"/>
                <a:ea typeface="Tajawal" pitchFamily="34" charset="-122"/>
                <a:cs typeface="Tajawal" pitchFamily="34" charset="-120"/>
              </a:rPr>
              <a:t>المساءلة وسيلة للتطوير وليست غاية للعقاب الإداري.</a:t>
            </a:r>
            <a:endParaRPr lang="ar-SA"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الثالث · المتابعة والحوكمة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نموذج المساءلة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نموذج المساءلة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٣٧</a:t>
            </a:r>
            <a:endParaRPr lang="ar-SA" sz="900" dirty="0"/>
          </a:p>
        </p:txBody>
      </p:sp>
      <p:sp>
        <p:nvSpPr>
          <p:cNvPr id="8" name="Shape 4"/>
          <p:cNvSpPr/>
          <p:nvPr/>
        </p:nvSpPr>
        <p:spPr>
          <a:xfrm>
            <a:off x="457200" y="1097280"/>
            <a:ext cx="11277295" cy="457200"/>
          </a:xfrm>
          <a:prstGeom prst="roundRect">
            <a:avLst>
              <a:gd name="adj" fmla="val 16000"/>
            </a:avLst>
          </a:prstGeom>
          <a:solidFill>
            <a:srgbClr val="095242"/>
          </a:solidFill>
          <a:ln/>
        </p:spPr>
      </p:sp>
      <p:sp>
        <p:nvSpPr>
          <p:cNvPr id="9" name="Text 5"/>
          <p:cNvSpPr/>
          <p:nvPr/>
        </p:nvSpPr>
        <p:spPr>
          <a:xfrm>
            <a:off x="457200" y="1097280"/>
            <a:ext cx="11277295" cy="457200"/>
          </a:xfrm>
          <a:prstGeom prst="rect">
            <a:avLst/>
          </a:prstGeom>
          <a:noFill/>
          <a:ln/>
        </p:spPr>
        <p:txBody>
          <a:bodyPr wrap="square" lIns="0" tIns="0" rIns="0" bIns="0" rtlCol="0" anchor="ctr"/>
          <a:lstStyle/>
          <a:p>
            <a:pPr rtl="1" algn="ctr" indent="0" marL="0">
              <a:buNone/>
            </a:pPr>
            <a:r>
              <a:rPr lang="ar-SA" altLang="en-US" sz="1400" b="1" dirty="0">
                <a:solidFill>
                  <a:srgbClr val="FFFFFF"/>
                </a:solidFill>
                <a:latin typeface="Tajawal" pitchFamily="34" charset="0"/>
                <a:ea typeface="Tajawal" pitchFamily="34" charset="-122"/>
                <a:cs typeface="Tajawal" pitchFamily="34" charset="-120"/>
              </a:rPr>
              <a:t>نظام المساءلة</a:t>
            </a:r>
            <a:endParaRPr lang="ar-SA" sz="14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664208"/>
          <a:ext cx="11277295" cy="914400"/>
        </p:xfrm>
        <a:graphic>
          <a:graphicData uri="http://schemas.openxmlformats.org/drawingml/2006/table">
            <a:tbl>
              <a:tblPr/>
              <a:tblGrid>
                <a:gridCol w="1036015"/>
                <a:gridCol w="868680"/>
                <a:gridCol w="1417320"/>
                <a:gridCol w="914400"/>
                <a:gridCol w="2148840"/>
                <a:gridCol w="914400"/>
                <a:gridCol w="1874520"/>
                <a:gridCol w="2103120"/>
              </a:tblGrid>
              <a:tr h="310896">
                <a:tc rowSpan="2">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اسم مسؤول المساءلة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rowSpan="2">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اسم مسؤول تنفيذ البرنامج</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gridSpan="4">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نوع المساءلة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4352B"/>
                    </a:solidFill>
                  </a:tcPr>
                </a:tc>
                <a:tc hMerge="1">
                  <a:tcPr/>
                </a:tc>
                <a:tc hMerge="1">
                  <a:tcPr/>
                </a:tc>
                <a:tc hMerge="1">
                  <a:tcPr/>
                </a:tc>
                <a:tc rowSpan="2">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اسم المشروع / البرنامج</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vMerge="1">
                  <a:tcPr/>
                </a:tc>
                <a:tc vMerge="1">
                  <a:tcPr/>
                </a:tc>
                <a:tc vMerge="1">
                  <a:tcPr/>
                </a:tc>
                <a:tc>
                  <a:txBody>
                    <a:bodyPr/>
                    <a:lstStyle/>
                    <a:p>
                      <a:pPr rtl="1" algn="ctr" indent="0" marL="0">
                        <a:buNone/>
                      </a:pPr>
                      <a:r>
                        <a:rPr lang="ar-SA" altLang="en-US" sz="820" b="1" dirty="0">
                          <a:solidFill>
                            <a:srgbClr val="FFFFFF"/>
                          </a:solidFill>
                          <a:latin typeface="Tajawal" pitchFamily="34" charset="0"/>
                          <a:ea typeface="Tajawal" pitchFamily="34" charset="-122"/>
                          <a:cs typeface="Tajawal" pitchFamily="34" charset="-120"/>
                        </a:rPr>
                        <a:t>التاريخ</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20" b="1" dirty="0">
                          <a:solidFill>
                            <a:srgbClr val="FFFFFF"/>
                          </a:solidFill>
                          <a:latin typeface="Tajawal" pitchFamily="34" charset="0"/>
                          <a:ea typeface="Tajawal" pitchFamily="34" charset="-122"/>
                          <a:cs typeface="Tajawal" pitchFamily="34" charset="-120"/>
                        </a:rPr>
                        <a:t>كتابي (عند عدم الالتزام بالموعد الجديد)</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20" b="1" dirty="0">
                          <a:solidFill>
                            <a:srgbClr val="FFFFFF"/>
                          </a:solidFill>
                          <a:latin typeface="Tajawal" pitchFamily="34" charset="0"/>
                          <a:ea typeface="Tajawal" pitchFamily="34" charset="-122"/>
                          <a:cs typeface="Tajawal" pitchFamily="34" charset="-120"/>
                        </a:rPr>
                        <a:t>التاريخ</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20" b="1" dirty="0">
                          <a:solidFill>
                            <a:srgbClr val="FFFFFF"/>
                          </a:solidFill>
                          <a:latin typeface="Tajawal" pitchFamily="34" charset="0"/>
                          <a:ea typeface="Tajawal" pitchFamily="34" charset="-122"/>
                          <a:cs typeface="Tajawal" pitchFamily="34" charset="-120"/>
                        </a:rPr>
                        <a:t>شفوي (عند التأخير في التنفيذ)</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vMerge="1">
                  <a:tcPr/>
                </a:tc>
              </a:tr>
              <a:tr h="45720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5720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5720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5720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5720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5720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5720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
        <p:nvSpPr>
          <p:cNvPr id="11" name="Text 6"/>
          <p:cNvSpPr/>
          <p:nvPr/>
        </p:nvSpPr>
        <p:spPr>
          <a:xfrm>
            <a:off x="457200" y="6035040"/>
            <a:ext cx="11277295" cy="274320"/>
          </a:xfrm>
          <a:prstGeom prst="rect">
            <a:avLst/>
          </a:prstGeom>
          <a:noFill/>
          <a:ln/>
        </p:spPr>
        <p:txBody>
          <a:bodyPr wrap="square" lIns="0" tIns="0" rIns="0" bIns="0" rtlCol="0" anchor="t"/>
          <a:lstStyle/>
          <a:p>
            <a:pPr rtl="1" algn="r" indent="0" marL="0">
              <a:buNone/>
            </a:pPr>
            <a:r>
              <a:rPr lang="ar-SA" altLang="en-US" sz="900" dirty="0">
                <a:solidFill>
                  <a:srgbClr val="8A9A93"/>
                </a:solidFill>
                <a:latin typeface="Tajawal" pitchFamily="34" charset="0"/>
                <a:ea typeface="Tajawal" pitchFamily="34" charset="-122"/>
                <a:cs typeface="Tajawal" pitchFamily="34" charset="-120"/>
              </a:rPr>
              <a:t>يُستخدم هذا النموذج عند وجود تأخّر في تنفيذ أحد برامج الخطة، ويُرفق ضمن ملف المتابعة الدورية.</a:t>
            </a:r>
            <a:endParaRPr lang="ar-SA"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الثالث · المتابعة والحوكمة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اعتماد الخطة التشغيلية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اعتماد الخطة التشغيلية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٣٨</a:t>
            </a:r>
            <a:endParaRPr lang="ar-SA" sz="900" dirty="0"/>
          </a:p>
        </p:txBody>
      </p:sp>
      <p:sp>
        <p:nvSpPr>
          <p:cNvPr id="8" name="Shape 4"/>
          <p:cNvSpPr/>
          <p:nvPr/>
        </p:nvSpPr>
        <p:spPr>
          <a:xfrm>
            <a:off x="1463040" y="329184"/>
            <a:ext cx="2468880" cy="457200"/>
          </a:xfrm>
          <a:prstGeom prst="roundRect">
            <a:avLst>
              <a:gd name="adj" fmla="val 20000"/>
            </a:avLst>
          </a:prstGeom>
          <a:solidFill>
            <a:srgbClr val="F2F8F5"/>
          </a:solidFill>
          <a:ln w="9525">
            <a:solidFill>
              <a:srgbClr val="E3EDE8"/>
            </a:solidFill>
            <a:prstDash val="solid"/>
          </a:ln>
        </p:spPr>
      </p:sp>
      <p:sp>
        <p:nvSpPr>
          <p:cNvPr id="9" name="Text 5"/>
          <p:cNvSpPr/>
          <p:nvPr/>
        </p:nvSpPr>
        <p:spPr>
          <a:xfrm>
            <a:off x="1463040" y="365760"/>
            <a:ext cx="2468880" cy="237744"/>
          </a:xfrm>
          <a:prstGeom prst="rect">
            <a:avLst/>
          </a:prstGeom>
          <a:noFill/>
          <a:ln/>
        </p:spPr>
        <p:txBody>
          <a:bodyPr wrap="square" lIns="0" tIns="0" rIns="0" bIns="0" rtlCol="0" anchor="t"/>
          <a:lstStyle/>
          <a:p>
            <a:pPr rtl="1" algn="ctr" indent="0" marL="0">
              <a:buNone/>
            </a:pPr>
            <a:r>
              <a:rPr lang="ar-SA" altLang="en-US" sz="950" b="1" dirty="0">
                <a:solidFill>
                  <a:srgbClr val="095242"/>
                </a:solidFill>
                <a:latin typeface="Tajawal" pitchFamily="34" charset="0"/>
                <a:ea typeface="Tajawal" pitchFamily="34" charset="-122"/>
                <a:cs typeface="Tajawal" pitchFamily="34" charset="-120"/>
              </a:rPr>
              <a:t>محضر اجتماع الاعتماد</a:t>
            </a:r>
            <a:endParaRPr lang="ar-SA" sz="950" dirty="0"/>
          </a:p>
        </p:txBody>
      </p:sp>
      <p:sp>
        <p:nvSpPr>
          <p:cNvPr id="10" name="Text 6"/>
          <p:cNvSpPr/>
          <p:nvPr/>
        </p:nvSpPr>
        <p:spPr>
          <a:xfrm>
            <a:off x="1463040" y="576072"/>
            <a:ext cx="2468880" cy="201168"/>
          </a:xfrm>
          <a:prstGeom prst="rect">
            <a:avLst/>
          </a:prstGeom>
          <a:noFill/>
          <a:ln/>
        </p:spPr>
        <p:txBody>
          <a:bodyPr wrap="square" lIns="0" tIns="0" rIns="0" bIns="0" rtlCol="0" anchor="t"/>
          <a:lstStyle/>
          <a:p>
            <a:pPr rtl="1" algn="ctr" indent="0" marL="0">
              <a:buNone/>
            </a:pPr>
            <a:r>
              <a:rPr lang="ar-SA" altLang="en-US" sz="760" dirty="0">
                <a:solidFill>
                  <a:srgbClr val="8A9A93"/>
                </a:solidFill>
                <a:latin typeface="Tajawal" pitchFamily="34" charset="0"/>
                <a:ea typeface="Tajawal" pitchFamily="34" charset="-122"/>
                <a:cs typeface="Tajawal" pitchFamily="34" charset="-120"/>
              </a:rPr>
              <a:t>مرفق نسخة موقّعة</a:t>
            </a:r>
            <a:endParaRPr lang="ar-SA" sz="760" dirty="0"/>
          </a:p>
        </p:txBody>
      </p:sp>
      <p:sp>
        <p:nvSpPr>
          <p:cNvPr id="11" name="Shape 7"/>
          <p:cNvSpPr/>
          <p:nvPr/>
        </p:nvSpPr>
        <p:spPr>
          <a:xfrm>
            <a:off x="457200" y="1133856"/>
            <a:ext cx="11277295" cy="841248"/>
          </a:xfrm>
          <a:prstGeom prst="roundRect">
            <a:avLst>
              <a:gd name="adj" fmla="val 9783"/>
            </a:avLst>
          </a:prstGeom>
          <a:solidFill>
            <a:srgbClr val="095242"/>
          </a:solidFill>
          <a:ln/>
          <a:effectLst>
            <a:outerShdw sx="100000" sy="100000" kx="0" ky="0" algn="bl" rotWithShape="0" blurRad="127000" dist="31750" dir="5400000">
              <a:srgbClr val="062A21">
                <a:alpha val="20000"/>
              </a:srgbClr>
            </a:outerShdw>
          </a:effectLst>
        </p:spPr>
      </p:sp>
      <p:pic>
        <p:nvPicPr>
          <p:cNvPr id="12" name="Image 2" descr="/tmp/claude-0/-home-user-Mobile1/ab9bbf47-b054-5f6e-be59-70476e095ce8/scratchpad/assets/dots_white.png">    </p:cNvPr>
          <p:cNvPicPr>
            <a:picLocks noChangeAspect="1"/>
          </p:cNvPicPr>
          <p:nvPr/>
        </p:nvPicPr>
        <p:blipFill>
          <a:blip r:embed="rId3">
            <a:alphaModFix amt="28000"/>
          </a:blip>
          <a:stretch>
            <a:fillRect/>
          </a:stretch>
        </p:blipFill>
        <p:spPr>
          <a:xfrm>
            <a:off x="566928" y="1188720"/>
            <a:ext cx="1188720" cy="731520"/>
          </a:xfrm>
          <a:prstGeom prst="rect">
            <a:avLst/>
          </a:prstGeom>
        </p:spPr>
      </p:pic>
      <p:sp>
        <p:nvSpPr>
          <p:cNvPr id="13" name="Text 8"/>
          <p:cNvSpPr/>
          <p:nvPr/>
        </p:nvSpPr>
        <p:spPr>
          <a:xfrm>
            <a:off x="822960" y="1133856"/>
            <a:ext cx="10545775" cy="841248"/>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FFFFFF"/>
                </a:solidFill>
                <a:latin typeface="Tajawal" pitchFamily="34" charset="0"/>
                <a:ea typeface="Tajawal" pitchFamily="34" charset="-122"/>
                <a:cs typeface="Tajawal" pitchFamily="34" charset="-120"/>
              </a:rPr>
              <a:t>تمّ اعتماد هذه الخطة التشغيلية لمدرسة ................ للعام الدراسي ١٤٤٨هـ بعد مراجعتها ومناقشة برامجها وأهدافها، وذلك بحضور الفريق التالي:</a:t>
            </a:r>
            <a:endParaRPr lang="ar-SA" sz="12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882335" y="2377440"/>
          <a:ext cx="5852160" cy="914400"/>
        </p:xfrm>
        <a:graphic>
          <a:graphicData uri="http://schemas.openxmlformats.org/drawingml/2006/table">
            <a:tbl>
              <a:tblPr/>
              <a:tblGrid>
                <a:gridCol w="1828800"/>
                <a:gridCol w="3383280"/>
                <a:gridCol w="640080"/>
              </a:tblGrid>
              <a:tr h="329184">
                <a:tc>
                  <a:txBody>
                    <a:bodyPr/>
                    <a:lstStyle/>
                    <a:p>
                      <a:pPr rtl="1" algn="ctr" indent="0" marL="0">
                        <a:buNone/>
                      </a:pPr>
                      <a:r>
                        <a:rPr lang="ar-SA" altLang="en-US" sz="1000" b="1" dirty="0">
                          <a:solidFill>
                            <a:srgbClr val="FFFFFF"/>
                          </a:solidFill>
                          <a:latin typeface="Tajawal" pitchFamily="34" charset="0"/>
                          <a:ea typeface="Tajawal" pitchFamily="34" charset="-122"/>
                          <a:cs typeface="Tajawal" pitchFamily="34" charset="-120"/>
                        </a:rPr>
                        <a:t>التوقيع</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1000" b="1" dirty="0">
                          <a:solidFill>
                            <a:srgbClr val="FFFFFF"/>
                          </a:solidFill>
                          <a:latin typeface="Tajawal" pitchFamily="34" charset="0"/>
                          <a:ea typeface="Tajawal" pitchFamily="34" charset="-122"/>
                          <a:cs typeface="Tajawal" pitchFamily="34" charset="-120"/>
                        </a:rPr>
                        <a:t>الاسم</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1000" b="1" dirty="0">
                          <a:solidFill>
                            <a:srgbClr val="FFFFFF"/>
                          </a:solidFill>
                          <a:latin typeface="Tajawal" pitchFamily="34" charset="0"/>
                          <a:ea typeface="Tajawal" pitchFamily="34" charset="-122"/>
                          <a:cs typeface="Tajawal" pitchFamily="34" charset="-120"/>
                        </a:rPr>
                        <a:t>م</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١</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٢</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٣</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٤</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٦</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5" name="Shape 9"/>
          <p:cNvSpPr/>
          <p:nvPr/>
        </p:nvSpPr>
        <p:spPr>
          <a:xfrm>
            <a:off x="457200" y="2651760"/>
            <a:ext cx="5059375" cy="1737360"/>
          </a:xfrm>
          <a:prstGeom prst="roundRect">
            <a:avLst>
              <a:gd name="adj" fmla="val 4737"/>
            </a:avLst>
          </a:prstGeom>
          <a:solidFill>
            <a:srgbClr val="FFFFFF"/>
          </a:solidFill>
          <a:ln w="12700">
            <a:solidFill>
              <a:srgbClr val="095242"/>
            </a:solidFill>
            <a:prstDash val="solid"/>
          </a:ln>
          <a:effectLst>
            <a:outerShdw sx="100000" sy="100000" kx="0" ky="0" algn="bl" rotWithShape="0" blurRad="76200" dist="19050" dir="5400000">
              <a:srgbClr val="0C3A2E">
                <a:alpha val="7000"/>
              </a:srgbClr>
            </a:outerShdw>
          </a:effectLst>
        </p:spPr>
      </p:sp>
      <p:pic>
        <p:nvPicPr>
          <p:cNvPr id="16" name="Image 3" descr="/tmp/claude-0/-home-user-Mobile1/ab9bbf47-b054-5f6e-be59-70476e095ce8/scratchpad/assets/arc_white.png">    </p:cNvPr>
          <p:cNvPicPr>
            <a:picLocks noChangeAspect="1"/>
          </p:cNvPicPr>
          <p:nvPr/>
        </p:nvPicPr>
        <p:blipFill>
          <a:blip r:embed="rId4">
            <a:alphaModFix amt="7000"/>
          </a:blip>
          <a:stretch>
            <a:fillRect/>
          </a:stretch>
        </p:blipFill>
        <p:spPr>
          <a:xfrm>
            <a:off x="4053535" y="2514600"/>
            <a:ext cx="1463040" cy="1463040"/>
          </a:xfrm>
          <a:prstGeom prst="rect">
            <a:avLst/>
          </a:prstGeom>
        </p:spPr>
      </p:pic>
      <p:sp>
        <p:nvSpPr>
          <p:cNvPr id="17" name="Text 10"/>
          <p:cNvSpPr/>
          <p:nvPr/>
        </p:nvSpPr>
        <p:spPr>
          <a:xfrm>
            <a:off x="822960" y="2651760"/>
            <a:ext cx="4327855" cy="1737360"/>
          </a:xfrm>
          <a:prstGeom prst="rect">
            <a:avLst/>
          </a:prstGeom>
          <a:noFill/>
          <a:ln/>
        </p:spPr>
        <p:txBody>
          <a:bodyPr wrap="square" lIns="0" tIns="0" rIns="0" bIns="0" rtlCol="0" anchor="ctr"/>
          <a:lstStyle/>
          <a:p>
            <a:pPr algn="ctr" indent="0" marL="0">
              <a:lnSpc>
                <a:spcPct val="130000"/>
              </a:lnSpc>
              <a:spcAft>
                <a:spcPts val="600"/>
              </a:spcAft>
              <a:buNone/>
            </a:pPr>
            <a:r>
              <a:rPr lang="ar-SA" altLang="en-US" sz="1500" b="1" dirty="0">
                <a:solidFill>
                  <a:srgbClr val="04352B"/>
                </a:solidFill>
                <a:latin typeface="Tajawal" pitchFamily="34" charset="0"/>
                <a:ea typeface="Tajawal" pitchFamily="34" charset="-122"/>
                <a:cs typeface="Tajawal" pitchFamily="34" charset="-120"/>
              </a:rPr>
              <a:t>بالتخطيط نصنع التميّز،</a:t>
            </a:r>
            <a:endParaRPr lang="ar-SA" sz="1500" dirty="0"/>
          </a:p>
          <a:p>
            <a:pPr algn="ctr" indent="0" marL="0">
              <a:lnSpc>
                <a:spcPct val="130000"/>
              </a:lnSpc>
              <a:spcAft>
                <a:spcPts val="600"/>
              </a:spcAft>
              <a:buNone/>
            </a:pPr>
            <a:r>
              <a:rPr lang="ar-SA" altLang="en-US" sz="1500" b="1" dirty="0">
                <a:solidFill>
                  <a:srgbClr val="04352B"/>
                </a:solidFill>
                <a:latin typeface="Tajawal" pitchFamily="34" charset="0"/>
                <a:ea typeface="Tajawal" pitchFamily="34" charset="-122"/>
                <a:cs typeface="Tajawal" pitchFamily="34" charset="-120"/>
              </a:rPr>
              <a:t>وبالعمل المشترك نحقّق الأهداف.</a:t>
            </a:r>
            <a:endParaRPr lang="ar-SA" sz="1500" dirty="0"/>
          </a:p>
        </p:txBody>
      </p:sp>
      <p:sp>
        <p:nvSpPr>
          <p:cNvPr id="18" name="Text 11"/>
          <p:cNvSpPr/>
          <p:nvPr/>
        </p:nvSpPr>
        <p:spPr>
          <a:xfrm>
            <a:off x="457200" y="4663440"/>
            <a:ext cx="5059375" cy="365760"/>
          </a:xfrm>
          <a:prstGeom prst="rect">
            <a:avLst/>
          </a:prstGeom>
          <a:noFill/>
          <a:ln/>
        </p:spPr>
        <p:txBody>
          <a:bodyPr wrap="square" lIns="0" tIns="0" rIns="0" bIns="0" rtlCol="0" anchor="t"/>
          <a:lstStyle/>
          <a:p>
            <a:pPr rtl="1" algn="r" indent="0" marL="0">
              <a:buNone/>
            </a:pPr>
            <a:r>
              <a:rPr lang="ar-SA" altLang="en-US" sz="1200" b="1" dirty="0">
                <a:solidFill>
                  <a:srgbClr val="095242"/>
                </a:solidFill>
                <a:latin typeface="Tajawal" pitchFamily="34" charset="0"/>
                <a:ea typeface="Tajawal" pitchFamily="34" charset="-122"/>
                <a:cs typeface="Tajawal" pitchFamily="34" charset="-120"/>
              </a:rPr>
              <a:t>تاريخ الاعتماد:  ……………………………</a:t>
            </a:r>
            <a:endParaRPr lang="ar-SA" sz="1200" dirty="0"/>
          </a:p>
        </p:txBody>
      </p:sp>
      <p:sp>
        <p:nvSpPr>
          <p:cNvPr id="19" name="Text 12"/>
          <p:cNvSpPr/>
          <p:nvPr/>
        </p:nvSpPr>
        <p:spPr>
          <a:xfrm>
            <a:off x="457200" y="5138928"/>
            <a:ext cx="5059375" cy="365760"/>
          </a:xfrm>
          <a:prstGeom prst="rect">
            <a:avLst/>
          </a:prstGeom>
          <a:noFill/>
          <a:ln/>
        </p:spPr>
        <p:txBody>
          <a:bodyPr wrap="square" lIns="0" tIns="0" rIns="0" bIns="0" rtlCol="0" anchor="t"/>
          <a:lstStyle/>
          <a:p>
            <a:pPr rtl="1" algn="r" indent="0" marL="0">
              <a:buNone/>
            </a:pPr>
            <a:r>
              <a:rPr lang="ar-SA" altLang="en-US" sz="1200" b="1" dirty="0">
                <a:solidFill>
                  <a:srgbClr val="095242"/>
                </a:solidFill>
                <a:latin typeface="Tajawal" pitchFamily="34" charset="0"/>
                <a:ea typeface="Tajawal" pitchFamily="34" charset="-122"/>
                <a:cs typeface="Tajawal" pitchFamily="34" charset="-120"/>
              </a:rPr>
              <a:t>يعتمد / مدير المدرسة:  ……………………………</a:t>
            </a:r>
            <a:endParaRPr lang="ar-SA"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tmp/claude-0/-home-user-Mobile1/ab9bbf47-b054-5f6e-be59-70476e095ce8/scratchpad/assets/bg_closing.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white.png">    </p:cNvPr>
          <p:cNvPicPr>
            <a:picLocks noChangeAspect="1"/>
          </p:cNvPicPr>
          <p:nvPr/>
        </p:nvPicPr>
        <p:blipFill>
          <a:blip r:embed="rId2"/>
          <a:stretch>
            <a:fillRect/>
          </a:stretch>
        </p:blipFill>
        <p:spPr>
          <a:xfrm>
            <a:off x="5437480" y="658368"/>
            <a:ext cx="1316736" cy="1017727"/>
          </a:xfrm>
          <a:prstGeom prst="rect">
            <a:avLst/>
          </a:prstGeom>
        </p:spPr>
      </p:pic>
      <p:sp>
        <p:nvSpPr>
          <p:cNvPr id="4" name="Text 0"/>
          <p:cNvSpPr/>
          <p:nvPr/>
        </p:nvSpPr>
        <p:spPr>
          <a:xfrm>
            <a:off x="1097280" y="1828800"/>
            <a:ext cx="9997135" cy="292608"/>
          </a:xfrm>
          <a:prstGeom prst="rect">
            <a:avLst/>
          </a:prstGeom>
          <a:noFill/>
          <a:ln/>
        </p:spPr>
        <p:txBody>
          <a:bodyPr wrap="square" lIns="0" tIns="0" rIns="0" bIns="0" rtlCol="0" anchor="t"/>
          <a:lstStyle/>
          <a:p>
            <a:pPr rtl="1" algn="ctr" indent="0" marL="0">
              <a:buNone/>
            </a:pPr>
            <a:r>
              <a:rPr lang="ar-SA" altLang="en-US" sz="1200" dirty="0">
                <a:solidFill>
                  <a:srgbClr val="CBDED7"/>
                </a:solidFill>
                <a:latin typeface="Tajawal" pitchFamily="34" charset="0"/>
                <a:ea typeface="Tajawal" pitchFamily="34" charset="-122"/>
                <a:cs typeface="Tajawal" pitchFamily="34" charset="-120"/>
              </a:rPr>
              <a:t>إدارة التعليم بمنطقة ................</a:t>
            </a:r>
            <a:endParaRPr lang="ar-SA" sz="1200" dirty="0"/>
          </a:p>
        </p:txBody>
      </p:sp>
      <p:sp>
        <p:nvSpPr>
          <p:cNvPr id="5" name="Text 1"/>
          <p:cNvSpPr/>
          <p:nvPr/>
        </p:nvSpPr>
        <p:spPr>
          <a:xfrm>
            <a:off x="914400" y="2231136"/>
            <a:ext cx="10362895" cy="1371600"/>
          </a:xfrm>
          <a:prstGeom prst="rect">
            <a:avLst/>
          </a:prstGeom>
          <a:noFill/>
          <a:ln/>
        </p:spPr>
        <p:txBody>
          <a:bodyPr wrap="square" lIns="0" tIns="0" rIns="0" bIns="0" rtlCol="0" anchor="ctr"/>
          <a:lstStyle/>
          <a:p>
            <a:pPr rtl="1" algn="ctr" indent="0" marL="0">
              <a:lnSpc>
                <a:spcPct val="112000"/>
              </a:lnSpc>
              <a:buNone/>
            </a:pPr>
            <a:r>
              <a:rPr lang="ar-SA" altLang="en-US" sz="4000" dirty="0">
                <a:solidFill>
                  <a:srgbClr val="FFFFFF"/>
                </a:solidFill>
                <a:latin typeface="Tajawal ExtraBold" pitchFamily="34" charset="0"/>
                <a:ea typeface="Tajawal ExtraBold" pitchFamily="34" charset="-122"/>
                <a:cs typeface="Tajawal ExtraBold" pitchFamily="34" charset="-120"/>
              </a:rPr>
              <a:t>سجل اجتماعات فريق إعداد الخطة التشغيلية</a:t>
            </a:r>
            <a:endParaRPr lang="ar-SA" sz="4000" dirty="0"/>
          </a:p>
        </p:txBody>
      </p:sp>
      <p:sp>
        <p:nvSpPr>
          <p:cNvPr id="6" name="Shape 2"/>
          <p:cNvSpPr/>
          <p:nvPr/>
        </p:nvSpPr>
        <p:spPr>
          <a:xfrm>
            <a:off x="4815688" y="3712464"/>
            <a:ext cx="1051560" cy="0"/>
          </a:xfrm>
          <a:prstGeom prst="line">
            <a:avLst/>
          </a:prstGeom>
          <a:noFill/>
          <a:ln w="12700">
            <a:solidFill>
              <a:srgbClr val="C9A45C"/>
            </a:solidFill>
            <a:prstDash val="solid"/>
          </a:ln>
        </p:spPr>
      </p:sp>
      <p:sp>
        <p:nvSpPr>
          <p:cNvPr id="7" name="Shape 3"/>
          <p:cNvSpPr/>
          <p:nvPr/>
        </p:nvSpPr>
        <p:spPr>
          <a:xfrm>
            <a:off x="6324448" y="3712464"/>
            <a:ext cx="1051560" cy="0"/>
          </a:xfrm>
          <a:prstGeom prst="line">
            <a:avLst/>
          </a:prstGeom>
          <a:noFill/>
          <a:ln w="12700">
            <a:solidFill>
              <a:srgbClr val="C9A45C"/>
            </a:solidFill>
            <a:prstDash val="solid"/>
          </a:ln>
        </p:spPr>
      </p:sp>
      <p:sp>
        <p:nvSpPr>
          <p:cNvPr id="8" name="Shape 4"/>
          <p:cNvSpPr/>
          <p:nvPr/>
        </p:nvSpPr>
        <p:spPr>
          <a:xfrm>
            <a:off x="6040984" y="3657600"/>
            <a:ext cx="109728" cy="109728"/>
          </a:xfrm>
          <a:prstGeom prst="diamond">
            <a:avLst/>
          </a:prstGeom>
          <a:solidFill>
            <a:srgbClr val="C9A45C"/>
          </a:solidFill>
          <a:ln/>
        </p:spPr>
      </p:sp>
      <p:sp>
        <p:nvSpPr>
          <p:cNvPr id="9" name="Text 5"/>
          <p:cNvSpPr/>
          <p:nvPr/>
        </p:nvSpPr>
        <p:spPr>
          <a:xfrm>
            <a:off x="1097280" y="3858768"/>
            <a:ext cx="9997135" cy="457200"/>
          </a:xfrm>
          <a:prstGeom prst="rect">
            <a:avLst/>
          </a:prstGeom>
          <a:noFill/>
          <a:ln/>
        </p:spPr>
        <p:txBody>
          <a:bodyPr wrap="square" lIns="0" tIns="0" rIns="0" bIns="0" rtlCol="0" anchor="t"/>
          <a:lstStyle/>
          <a:p>
            <a:pPr rtl="1" algn="ctr" indent="0" marL="0">
              <a:buNone/>
            </a:pPr>
            <a:r>
              <a:rPr lang="ar-SA" altLang="en-US" sz="2200" b="1" dirty="0">
                <a:solidFill>
                  <a:srgbClr val="C9A45C"/>
                </a:solidFill>
                <a:latin typeface="Tajawal" pitchFamily="34" charset="0"/>
                <a:ea typeface="Tajawal" pitchFamily="34" charset="-122"/>
                <a:cs typeface="Tajawal" pitchFamily="34" charset="-120"/>
              </a:rPr>
              <a:t>التميز</a:t>
            </a:r>
            <a:endParaRPr lang="ar-SA" sz="2200" dirty="0"/>
          </a:p>
        </p:txBody>
      </p:sp>
      <p:sp>
        <p:nvSpPr>
          <p:cNvPr id="10" name="Shape 6"/>
          <p:cNvSpPr/>
          <p:nvPr/>
        </p:nvSpPr>
        <p:spPr>
          <a:xfrm>
            <a:off x="4587088" y="4517136"/>
            <a:ext cx="3017520" cy="493776"/>
          </a:xfrm>
          <a:prstGeom prst="roundRect">
            <a:avLst>
              <a:gd name="adj" fmla="val 18519"/>
            </a:avLst>
          </a:prstGeom>
          <a:solidFill>
            <a:srgbClr val="FFFFFF">
              <a:alpha val="12000"/>
            </a:srgbClr>
          </a:solidFill>
          <a:ln w="12700">
            <a:solidFill>
              <a:srgbClr val="C9A45C"/>
            </a:solidFill>
            <a:prstDash val="solid"/>
          </a:ln>
        </p:spPr>
      </p:sp>
      <p:sp>
        <p:nvSpPr>
          <p:cNvPr id="11" name="Text 7"/>
          <p:cNvSpPr/>
          <p:nvPr/>
        </p:nvSpPr>
        <p:spPr>
          <a:xfrm>
            <a:off x="4587088" y="4498848"/>
            <a:ext cx="3017520" cy="493776"/>
          </a:xfrm>
          <a:prstGeom prst="rect">
            <a:avLst/>
          </a:prstGeom>
          <a:noFill/>
          <a:ln/>
        </p:spPr>
        <p:txBody>
          <a:bodyPr wrap="square" lIns="0" tIns="0" rIns="0" bIns="0" rtlCol="0" anchor="ctr"/>
          <a:lstStyle/>
          <a:p>
            <a:pPr rtl="1" algn="ctr" indent="0" marL="0">
              <a:buNone/>
            </a:pPr>
            <a:r>
              <a:rPr lang="ar-SA" altLang="en-US" sz="1400" b="1" dirty="0">
                <a:solidFill>
                  <a:srgbClr val="FFFFFF"/>
                </a:solidFill>
                <a:latin typeface="Tajawal" pitchFamily="34" charset="0"/>
                <a:ea typeface="Tajawal" pitchFamily="34" charset="-122"/>
                <a:cs typeface="Tajawal" pitchFamily="34" charset="-120"/>
              </a:rPr>
              <a:t>العام الدراسي ١٤٤٨ ـ ١٤٤٩هـ</a:t>
            </a:r>
            <a:endParaRPr lang="ar-SA" sz="1400" dirty="0"/>
          </a:p>
        </p:txBody>
      </p:sp>
      <p:sp>
        <p:nvSpPr>
          <p:cNvPr id="12" name="Text 8"/>
          <p:cNvSpPr/>
          <p:nvPr/>
        </p:nvSpPr>
        <p:spPr>
          <a:xfrm>
            <a:off x="1463040" y="5394960"/>
            <a:ext cx="9265615" cy="548640"/>
          </a:xfrm>
          <a:prstGeom prst="rect">
            <a:avLst/>
          </a:prstGeom>
          <a:noFill/>
          <a:ln/>
        </p:spPr>
        <p:txBody>
          <a:bodyPr wrap="square" lIns="0" tIns="0" rIns="0" bIns="0" rtlCol="0" anchor="t"/>
          <a:lstStyle/>
          <a:p>
            <a:pPr rtl="1" algn="ctr" indent="0" marL="0">
              <a:lnSpc>
                <a:spcPct val="120000"/>
              </a:lnSpc>
              <a:buNone/>
            </a:pPr>
            <a:r>
              <a:rPr lang="ar-SA" altLang="en-US" sz="1150" dirty="0">
                <a:solidFill>
                  <a:srgbClr val="C7DCD5"/>
                </a:solidFill>
                <a:latin typeface="Tajawal" pitchFamily="34" charset="0"/>
                <a:ea typeface="Tajawal" pitchFamily="34" charset="-122"/>
                <a:cs typeface="Tajawal" pitchFamily="34" charset="-120"/>
              </a:rPr>
              <a:t>«التخطيط الواضح هو طريق المدرسة نحو التميّز، وأداة فريقها لصُنع نقلة نوعية في مخرجات التعلّم»</a:t>
            </a:r>
            <a:endParaRPr lang="ar-SA"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كشف بأسماء منسوبات المدرسة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فريق إعداد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٤٠</a:t>
            </a:r>
            <a:endParaRPr lang="ar-SA"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7295" cy="914400"/>
        </p:xfrm>
        <a:graphic>
          <a:graphicData uri="http://schemas.openxmlformats.org/drawingml/2006/table">
            <a:tbl>
              <a:tblPr/>
              <a:tblGrid>
                <a:gridCol w="1081735"/>
                <a:gridCol w="2103120"/>
                <a:gridCol w="2103120"/>
                <a:gridCol w="2286000"/>
                <a:gridCol w="3017520"/>
                <a:gridCol w="685800"/>
              </a:tblGrid>
              <a:tr h="329184">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التوقيع</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المؤهل العلمي</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التخصص</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المسمى الوظيفي</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الاسم</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م</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٢</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٣</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٤</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٥</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٦</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٨</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١٠</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١١</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١٢</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١٣</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١٤</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FFFFFF"/>
                          </a:solidFill>
                          <a:latin typeface="Tajawal" pitchFamily="34" charset="0"/>
                          <a:ea typeface="Tajawal" pitchFamily="34" charset="-122"/>
                          <a:cs typeface="Tajawal" pitchFamily="34" charset="-120"/>
                        </a:rPr>
                        <a:t>١٥</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الأول · قراءة الواقع</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فريق إعداد الخطة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فريق إعداد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٤١</a:t>
            </a:r>
            <a:endParaRPr lang="ar-SA" sz="900" dirty="0"/>
          </a:p>
        </p:txBody>
      </p:sp>
      <p:sp>
        <p:nvSpPr>
          <p:cNvPr id="8" name="Shape 4"/>
          <p:cNvSpPr/>
          <p:nvPr/>
        </p:nvSpPr>
        <p:spPr>
          <a:xfrm>
            <a:off x="1463040" y="384048"/>
            <a:ext cx="2423160" cy="402336"/>
          </a:xfrm>
          <a:prstGeom prst="roundRect">
            <a:avLst>
              <a:gd name="adj" fmla="val 50000"/>
            </a:avLst>
          </a:prstGeom>
          <a:solidFill>
            <a:srgbClr val="F2F8F5"/>
          </a:solidFill>
          <a:ln w="9525">
            <a:solidFill>
              <a:srgbClr val="E3EDE8"/>
            </a:solidFill>
            <a:prstDash val="solid"/>
          </a:ln>
        </p:spPr>
      </p:sp>
      <p:sp>
        <p:nvSpPr>
          <p:cNvPr id="9" name="Text 5"/>
          <p:cNvSpPr/>
          <p:nvPr/>
        </p:nvSpPr>
        <p:spPr>
          <a:xfrm>
            <a:off x="1463040" y="374904"/>
            <a:ext cx="2423160" cy="402336"/>
          </a:xfrm>
          <a:prstGeom prst="rect">
            <a:avLst/>
          </a:prstGeom>
          <a:noFill/>
          <a:ln/>
        </p:spPr>
        <p:txBody>
          <a:bodyPr wrap="square" lIns="0" tIns="0" rIns="0" bIns="0" rtlCol="0" anchor="ctr"/>
          <a:lstStyle/>
          <a:p>
            <a:pPr rtl="1" algn="ctr" indent="0" marL="0">
              <a:buNone/>
            </a:pPr>
            <a:r>
              <a:rPr lang="ar-SA" altLang="en-US" sz="950" b="1" dirty="0">
                <a:solidFill>
                  <a:srgbClr val="095242"/>
                </a:solidFill>
                <a:latin typeface="Tajawal" pitchFamily="34" charset="0"/>
                <a:ea typeface="Tajawal" pitchFamily="34" charset="-122"/>
                <a:cs typeface="Tajawal" pitchFamily="34" charset="-120"/>
              </a:rPr>
              <a:t>محضر اجتماع تشكيل الفريق</a:t>
            </a:r>
            <a:endParaRPr lang="ar-SA" sz="950" dirty="0"/>
          </a:p>
        </p:txBody>
      </p:sp>
      <p:sp>
        <p:nvSpPr>
          <p:cNvPr id="10" name="Text 6"/>
          <p:cNvSpPr/>
          <p:nvPr/>
        </p:nvSpPr>
        <p:spPr>
          <a:xfrm>
            <a:off x="3429000" y="1033272"/>
            <a:ext cx="8305495" cy="548640"/>
          </a:xfrm>
          <a:prstGeom prst="rect">
            <a:avLst/>
          </a:prstGeom>
          <a:noFill/>
          <a:ln/>
        </p:spPr>
        <p:txBody>
          <a:bodyPr wrap="square" lIns="0" tIns="0" rIns="0" bIns="0" rtlCol="0" anchor="t"/>
          <a:lstStyle/>
          <a:p>
            <a:pPr rtl="1" algn="r" indent="0" marL="0">
              <a:lnSpc>
                <a:spcPct val="122000"/>
              </a:lnSpc>
              <a:buNone/>
            </a:pPr>
            <a:r>
              <a:rPr lang="ar-SA" altLang="en-US" sz="1050" dirty="0">
                <a:solidFill>
                  <a:srgbClr val="34473F"/>
                </a:solidFill>
                <a:latin typeface="Tajawal" pitchFamily="34" charset="0"/>
                <a:ea typeface="Tajawal" pitchFamily="34" charset="-122"/>
                <a:cs typeface="Tajawal" pitchFamily="34" charset="-120"/>
              </a:rPr>
              <a:t>شُكِّل فريق إعداد الخطة التشغيلية بقرار من إدارة المدرسة، ضامنًا تمثيلًا متوازنًا للمعلمين والمرشد الطلابي والمشرفين، ليضطلع بمسؤولية بناء الخطة ومتابعة تنفيذها وتقويم أثرها على نواتج التعلّم.</a:t>
            </a:r>
            <a:endParaRPr lang="ar-SA" sz="10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3429000" y="1645920"/>
          <a:ext cx="8305495" cy="914400"/>
        </p:xfrm>
        <a:graphic>
          <a:graphicData uri="http://schemas.openxmlformats.org/drawingml/2006/table">
            <a:tbl>
              <a:tblPr/>
              <a:tblGrid>
                <a:gridCol w="6001207"/>
                <a:gridCol w="1920240"/>
                <a:gridCol w="384048"/>
              </a:tblGrid>
              <a:tr h="310896">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المهام والمسؤوليات</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الدور</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40" b="1" dirty="0">
                          <a:solidFill>
                            <a:srgbClr val="FFFFFF"/>
                          </a:solidFill>
                          <a:latin typeface="Tajawal" pitchFamily="34" charset="0"/>
                          <a:ea typeface="Tajawal" pitchFamily="34" charset="-122"/>
                          <a:cs typeface="Tajawal" pitchFamily="34" charset="-120"/>
                        </a:rPr>
                        <a:t>م</a:t>
                      </a:r>
                      <a:endParaRPr lang="ar-SA" sz="9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502920">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الإشراف العام على إعداد الخطة التشغيلية، اعتماد المسارات والأهداف، متابعة التنفيذ، وإقرار التقارير النهائية.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رئيس فريق الإعداد</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02920">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متابعة مؤشرات الأداء، جمع وتحليل البيانات، إعداد التقارير الدورية، وقياس مستوى الإنجاز.</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منسّق الجودة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٢</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تنفيذ برامج التوجيه والإرشاد، تعزيز السلوك الإيجابي، متابعة الحالات الطلابية، والمشاركة في معالجة التحديات السلوكية.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المرشد الطلابي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٣</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02920">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التخطيط للبرامج والأنشطة الطلابية، تنفيذ المبادرات الإثرائية، وتحفيز مشاركة الطلاب في المسابقات والفعاليات.</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رائد النشاط</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٤</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دعم تحسين نواتج التعلّم، متابعة التحصيل الدراسي، تنفيذ البرامج العلاجية والإثرائية، ونقل الخبرات التعليمية.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معلم متميّز (قائد تطوير المهارات الأكاديمية)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دعم توظيف التقنيات التعليمية، متابعة منصات التعليم الإلكتروني، تدريب المعلمين، وتعزيز التحوّل الرقمي بالمدرسة.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معلم متميّز (قائد التحوّل الرقمي والتعليم الإلكتروني)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٦</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تعزيز الشراكة بين المدرسة والأسرة، نقل المقترحات والملاحظات، دعم البرامج المدرسية، والمشاركة في المبادرات المجتمعية.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ممثل أولياء الأمور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٧</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566928">
                <a:tc>
                  <a:txBody>
                    <a:bodyPr/>
                    <a:lstStyle/>
                    <a:p>
                      <a:pPr rtl="1" algn="r" indent="0" marL="0">
                        <a:buNone/>
                      </a:pPr>
                      <a:r>
                        <a:rPr lang="ar-SA" altLang="en-US" sz="870" dirty="0">
                          <a:solidFill>
                            <a:srgbClr val="34473F"/>
                          </a:solidFill>
                          <a:latin typeface="Tajawal" pitchFamily="34" charset="0"/>
                          <a:ea typeface="Tajawal" pitchFamily="34" charset="-122"/>
                          <a:cs typeface="Tajawal" pitchFamily="34" charset="-120"/>
                        </a:rPr>
                        <a:t>متابعة تطبيق اشتراطات الأمن والسلامة، تنفيذ خطط الإخلاء والتدريب، رصد المخاطر، وتعزيز البيئة المدرسية الآمنة.</a:t>
                      </a:r>
                      <a:endParaRPr lang="ar-SA" sz="87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منسّق الأمن والسلامة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٨</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2" name="Shape 7"/>
          <p:cNvSpPr/>
          <p:nvPr/>
        </p:nvSpPr>
        <p:spPr>
          <a:xfrm>
            <a:off x="3118104" y="1124712"/>
            <a:ext cx="82296" cy="82296"/>
          </a:xfrm>
          <a:prstGeom prst="rect">
            <a:avLst/>
          </a:prstGeom>
          <a:solidFill>
            <a:srgbClr val="0089A1"/>
          </a:solidFill>
          <a:ln/>
        </p:spPr>
      </p:sp>
      <p:sp>
        <p:nvSpPr>
          <p:cNvPr id="13" name="Text 8"/>
          <p:cNvSpPr/>
          <p:nvPr/>
        </p:nvSpPr>
        <p:spPr>
          <a:xfrm>
            <a:off x="457200" y="1033272"/>
            <a:ext cx="256032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مهام الفريق الرئيسية</a:t>
            </a:r>
            <a:endParaRPr lang="ar-SA" sz="1250" dirty="0"/>
          </a:p>
        </p:txBody>
      </p:sp>
      <p:sp>
        <p:nvSpPr>
          <p:cNvPr id="14" name="Shape 9"/>
          <p:cNvSpPr/>
          <p:nvPr/>
        </p:nvSpPr>
        <p:spPr>
          <a:xfrm>
            <a:off x="457200" y="1481328"/>
            <a:ext cx="2743200" cy="1078992"/>
          </a:xfrm>
          <a:prstGeom prst="roundRect">
            <a:avLst>
              <a:gd name="adj" fmla="val 7627"/>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pic>
        <p:nvPicPr>
          <p:cNvPr id="15" name="Image 2" descr="/tmp/claude-0/-home-user-Mobile1/ab9bbf47-b054-5f6e-be59-70476e095ce8/scratchpad/assets/icons/chart_green.png">    </p:cNvPr>
          <p:cNvPicPr>
            <a:picLocks noChangeAspect="1"/>
          </p:cNvPicPr>
          <p:nvPr/>
        </p:nvPicPr>
        <p:blipFill>
          <a:blip r:embed="rId3"/>
          <a:stretch>
            <a:fillRect/>
          </a:stretch>
        </p:blipFill>
        <p:spPr>
          <a:xfrm>
            <a:off x="2743200" y="1618488"/>
            <a:ext cx="256032" cy="256032"/>
          </a:xfrm>
          <a:prstGeom prst="rect">
            <a:avLst/>
          </a:prstGeom>
        </p:spPr>
      </p:pic>
      <p:sp>
        <p:nvSpPr>
          <p:cNvPr id="16" name="Text 10"/>
          <p:cNvSpPr/>
          <p:nvPr/>
        </p:nvSpPr>
        <p:spPr>
          <a:xfrm>
            <a:off x="640080" y="1581912"/>
            <a:ext cx="2029968" cy="329184"/>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تحليل واقع المدرسة</a:t>
            </a:r>
            <a:endParaRPr lang="ar-SA" sz="1050" dirty="0"/>
          </a:p>
        </p:txBody>
      </p:sp>
      <p:sp>
        <p:nvSpPr>
          <p:cNvPr id="17" name="Text 11"/>
          <p:cNvSpPr/>
          <p:nvPr/>
        </p:nvSpPr>
        <p:spPr>
          <a:xfrm>
            <a:off x="640080" y="1938528"/>
            <a:ext cx="2377440" cy="566928"/>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جمع البيانات ودراسة نتائج التقويم الذاتي وتحليل SWOT</a:t>
            </a:r>
            <a:endParaRPr lang="ar-SA" sz="860" dirty="0"/>
          </a:p>
        </p:txBody>
      </p:sp>
      <p:sp>
        <p:nvSpPr>
          <p:cNvPr id="18" name="Shape 12"/>
          <p:cNvSpPr/>
          <p:nvPr/>
        </p:nvSpPr>
        <p:spPr>
          <a:xfrm>
            <a:off x="457200" y="2706624"/>
            <a:ext cx="2743200" cy="1078992"/>
          </a:xfrm>
          <a:prstGeom prst="roundRect">
            <a:avLst>
              <a:gd name="adj" fmla="val 7627"/>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pic>
        <p:nvPicPr>
          <p:cNvPr id="19" name="Image 3" descr="/tmp/claude-0/-home-user-Mobile1/ab9bbf47-b054-5f6e-be59-70476e095ce8/scratchpad/assets/icons/target_green.png">    </p:cNvPr>
          <p:cNvPicPr>
            <a:picLocks noChangeAspect="1"/>
          </p:cNvPicPr>
          <p:nvPr/>
        </p:nvPicPr>
        <p:blipFill>
          <a:blip r:embed="rId4"/>
          <a:stretch>
            <a:fillRect/>
          </a:stretch>
        </p:blipFill>
        <p:spPr>
          <a:xfrm>
            <a:off x="2743200" y="2843784"/>
            <a:ext cx="256032" cy="256032"/>
          </a:xfrm>
          <a:prstGeom prst="rect">
            <a:avLst/>
          </a:prstGeom>
        </p:spPr>
      </p:pic>
      <p:sp>
        <p:nvSpPr>
          <p:cNvPr id="20" name="Text 13"/>
          <p:cNvSpPr/>
          <p:nvPr/>
        </p:nvSpPr>
        <p:spPr>
          <a:xfrm>
            <a:off x="640080" y="2807208"/>
            <a:ext cx="2029968" cy="329184"/>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صياغة الأهداف والمؤشرات</a:t>
            </a:r>
            <a:endParaRPr lang="ar-SA" sz="1050" dirty="0"/>
          </a:p>
        </p:txBody>
      </p:sp>
      <p:sp>
        <p:nvSpPr>
          <p:cNvPr id="21" name="Text 14"/>
          <p:cNvSpPr/>
          <p:nvPr/>
        </p:nvSpPr>
        <p:spPr>
          <a:xfrm>
            <a:off x="640080" y="3163824"/>
            <a:ext cx="2377440" cy="566928"/>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ربط البرامج بالأهداف الاستراتيجية للوزارة</a:t>
            </a:r>
            <a:endParaRPr lang="ar-SA" sz="860" dirty="0"/>
          </a:p>
        </p:txBody>
      </p:sp>
      <p:sp>
        <p:nvSpPr>
          <p:cNvPr id="22" name="Shape 15"/>
          <p:cNvSpPr/>
          <p:nvPr/>
        </p:nvSpPr>
        <p:spPr>
          <a:xfrm>
            <a:off x="457200" y="3931920"/>
            <a:ext cx="2743200" cy="1078992"/>
          </a:xfrm>
          <a:prstGeom prst="roundRect">
            <a:avLst>
              <a:gd name="adj" fmla="val 7627"/>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pic>
        <p:nvPicPr>
          <p:cNvPr id="23" name="Image 4" descr="/tmp/claude-0/-home-user-Mobile1/ab9bbf47-b054-5f6e-be59-70476e095ce8/scratchpad/assets/icons/users_green.png">    </p:cNvPr>
          <p:cNvPicPr>
            <a:picLocks noChangeAspect="1"/>
          </p:cNvPicPr>
          <p:nvPr/>
        </p:nvPicPr>
        <p:blipFill>
          <a:blip r:embed="rId5"/>
          <a:stretch>
            <a:fillRect/>
          </a:stretch>
        </p:blipFill>
        <p:spPr>
          <a:xfrm>
            <a:off x="2743200" y="4069080"/>
            <a:ext cx="256032" cy="256032"/>
          </a:xfrm>
          <a:prstGeom prst="rect">
            <a:avLst/>
          </a:prstGeom>
        </p:spPr>
      </p:pic>
      <p:sp>
        <p:nvSpPr>
          <p:cNvPr id="24" name="Text 16"/>
          <p:cNvSpPr/>
          <p:nvPr/>
        </p:nvSpPr>
        <p:spPr>
          <a:xfrm>
            <a:off x="640080" y="4032504"/>
            <a:ext cx="2029968" cy="329184"/>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توزيع الأدوار والمسؤوليات</a:t>
            </a:r>
            <a:endParaRPr lang="ar-SA" sz="1050" dirty="0"/>
          </a:p>
        </p:txBody>
      </p:sp>
      <p:sp>
        <p:nvSpPr>
          <p:cNvPr id="25" name="Text 17"/>
          <p:cNvSpPr/>
          <p:nvPr/>
        </p:nvSpPr>
        <p:spPr>
          <a:xfrm>
            <a:off x="640080" y="4389120"/>
            <a:ext cx="2377440" cy="566928"/>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تحديد مسؤول رئيسي ومساعد لكل برنامج</a:t>
            </a:r>
            <a:endParaRPr lang="ar-SA" sz="860" dirty="0"/>
          </a:p>
        </p:txBody>
      </p:sp>
      <p:sp>
        <p:nvSpPr>
          <p:cNvPr id="26" name="Shape 18"/>
          <p:cNvSpPr/>
          <p:nvPr/>
        </p:nvSpPr>
        <p:spPr>
          <a:xfrm>
            <a:off x="457200" y="5157216"/>
            <a:ext cx="2743200" cy="1078992"/>
          </a:xfrm>
          <a:prstGeom prst="roundRect">
            <a:avLst>
              <a:gd name="adj" fmla="val 7627"/>
            </a:avLst>
          </a:prstGeom>
          <a:solidFill>
            <a:srgbClr val="FFFFFF"/>
          </a:solidFill>
          <a:ln w="9525">
            <a:solidFill>
              <a:srgbClr val="E3EDE8"/>
            </a:solidFill>
            <a:prstDash val="solid"/>
          </a:ln>
          <a:effectLst>
            <a:outerShdw sx="100000" sy="100000" kx="0" ky="0" algn="bl" rotWithShape="0" blurRad="76200" dist="19050" dir="5400000">
              <a:srgbClr val="0C3A2E">
                <a:alpha val="5500"/>
              </a:srgbClr>
            </a:outerShdw>
          </a:effectLst>
        </p:spPr>
      </p:sp>
      <p:pic>
        <p:nvPicPr>
          <p:cNvPr id="27" name="Image 5" descr="/tmp/claude-0/-home-user-Mobile1/ab9bbf47-b054-5f6e-be59-70476e095ce8/scratchpad/assets/icons/refresh_green.png">    </p:cNvPr>
          <p:cNvPicPr>
            <a:picLocks noChangeAspect="1"/>
          </p:cNvPicPr>
          <p:nvPr/>
        </p:nvPicPr>
        <p:blipFill>
          <a:blip r:embed="rId6"/>
          <a:stretch>
            <a:fillRect/>
          </a:stretch>
        </p:blipFill>
        <p:spPr>
          <a:xfrm>
            <a:off x="2743200" y="5294376"/>
            <a:ext cx="256032" cy="256032"/>
          </a:xfrm>
          <a:prstGeom prst="rect">
            <a:avLst/>
          </a:prstGeom>
        </p:spPr>
      </p:pic>
      <p:sp>
        <p:nvSpPr>
          <p:cNvPr id="28" name="Text 19"/>
          <p:cNvSpPr/>
          <p:nvPr/>
        </p:nvSpPr>
        <p:spPr>
          <a:xfrm>
            <a:off x="640080" y="5257800"/>
            <a:ext cx="2029968" cy="329184"/>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المتابعة والتقويم</a:t>
            </a:r>
            <a:endParaRPr lang="ar-SA" sz="1050" dirty="0"/>
          </a:p>
        </p:txBody>
      </p:sp>
      <p:sp>
        <p:nvSpPr>
          <p:cNvPr id="29" name="Text 20"/>
          <p:cNvSpPr/>
          <p:nvPr/>
        </p:nvSpPr>
        <p:spPr>
          <a:xfrm>
            <a:off x="640080" y="5614416"/>
            <a:ext cx="2377440" cy="566928"/>
          </a:xfrm>
          <a:prstGeom prst="rect">
            <a:avLst/>
          </a:prstGeom>
          <a:noFill/>
          <a:ln/>
        </p:spPr>
        <p:txBody>
          <a:bodyPr wrap="square" lIns="0" tIns="0" rIns="0" bIns="0" rtlCol="0" anchor="t"/>
          <a:lstStyle/>
          <a:p>
            <a:pPr rtl="1" algn="r" indent="0" marL="0">
              <a:lnSpc>
                <a:spcPct val="114000"/>
              </a:lnSpc>
              <a:buNone/>
            </a:pPr>
            <a:r>
              <a:rPr lang="ar-SA" altLang="en-US" sz="860" dirty="0">
                <a:solidFill>
                  <a:srgbClr val="8A9A93"/>
                </a:solidFill>
                <a:latin typeface="Tajawal" pitchFamily="34" charset="0"/>
                <a:ea typeface="Tajawal" pitchFamily="34" charset="-122"/>
                <a:cs typeface="Tajawal" pitchFamily="34" charset="-120"/>
              </a:rPr>
              <a:t>رصد التنفيذ وإعداد التقارير الفصلية والسنوية</a:t>
            </a:r>
            <a:endParaRPr lang="ar-SA" sz="86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محضر اجتماع تشكيل فريق إعداد الخطة التشغيلية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محضر اجتماع تشكيل فريق إعداد الخطة التشغيلية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٤٢</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تشكيل فريق إعداد الخطة التشغيلية</a:t>
            </a:r>
            <a:endParaRPr lang="ar-SA" sz="12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المدرسة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فريق إعداد الخطة التشغيلية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تشكيل فريق إعداد الخطة التشغيلية وتوزيع الأدوار والمسؤوليات ومناقشة آلية إعداد الخطة التشغيلية للمدرسة.</a:t>
            </a:r>
            <a:endParaRPr lang="ar-SA" sz="980" dirty="0"/>
          </a:p>
        </p:txBody>
      </p:sp>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الالتزام بالمهام والمسؤوليات الموكلة لكل عضو.</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تشكيل فريق إعداد الخطة التشغيلية واعتماد أعضاء الفريق وتحديد مهامهم.</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تشكيل فريق إعداد الخطة التشغيلية.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تعزيز العمل التشاركي بين أعضاء الفريق لتحقيق أهداف الخطة.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مناقشة اختصاصات أعضاء الفريق وتوزيع المسؤوليات وفق مجالات العمل.</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توزيع الأدوار والمسؤوليات بين أعضاء الفريق.</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الالتزام بالجدول الزمني لإعداد الخطة التشغيلية.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استعراض مراحل بناء الخطة التشغيلية ومتطلبات إعدادها.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استعراض مراحل إعداد الخطة التشغيلية.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الاعتماد على البيانات والمؤشرات في تحديد الأولويات.</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مناقشة مصادر البيانات وأدوات تحليل الواقع المدرسي.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آلية جمع البيانات وتحليل الواقع المدرسي.</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توثيق أعمال الفريق ورفع تقارير الإنجاز أولًا بأول.</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الاتفاق على آلية المتابعة والاجتماعات الدورية لمتابعة الإنجاز.</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تحديد خطة العمل وآليات المتابعة.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36"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مهام فريق العمل</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فريق إعداد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٤٣</a:t>
            </a:r>
            <a:endParaRPr lang="ar-SA" sz="900" dirty="0"/>
          </a:p>
        </p:txBody>
      </p:sp>
      <p:sp>
        <p:nvSpPr>
          <p:cNvPr id="8" name="Shape 4"/>
          <p:cNvSpPr/>
          <p:nvPr/>
        </p:nvSpPr>
        <p:spPr>
          <a:xfrm>
            <a:off x="457200" y="1024128"/>
            <a:ext cx="11277295" cy="530352"/>
          </a:xfrm>
          <a:prstGeom prst="roundRect">
            <a:avLst>
              <a:gd name="adj" fmla="val 15517"/>
            </a:avLst>
          </a:prstGeom>
          <a:solidFill>
            <a:srgbClr val="095242"/>
          </a:solidFill>
          <a:ln/>
        </p:spPr>
      </p:sp>
      <p:sp>
        <p:nvSpPr>
          <p:cNvPr id="9" name="Shape 5"/>
          <p:cNvSpPr/>
          <p:nvPr/>
        </p:nvSpPr>
        <p:spPr>
          <a:xfrm>
            <a:off x="11149279" y="1106424"/>
            <a:ext cx="365760" cy="365760"/>
          </a:xfrm>
          <a:prstGeom prst="ellipse">
            <a:avLst/>
          </a:prstGeom>
          <a:solidFill>
            <a:srgbClr val="FFFFFF"/>
          </a:solidFill>
          <a:ln/>
        </p:spPr>
      </p:sp>
      <p:pic>
        <p:nvPicPr>
          <p:cNvPr id="10" name="Image 2" descr="/tmp/claude-0/-home-user-Mobile1/ab9bbf47-b054-5f6e-be59-70476e095ce8/scratchpad/assets/icons/crown_green.png">    </p:cNvPr>
          <p:cNvPicPr>
            <a:picLocks noChangeAspect="1"/>
          </p:cNvPicPr>
          <p:nvPr/>
        </p:nvPicPr>
        <p:blipFill>
          <a:blip r:embed="rId3"/>
          <a:stretch>
            <a:fillRect/>
          </a:stretch>
        </p:blipFill>
        <p:spPr>
          <a:xfrm>
            <a:off x="11244377" y="1201522"/>
            <a:ext cx="175565" cy="175565"/>
          </a:xfrm>
          <a:prstGeom prst="rect">
            <a:avLst/>
          </a:prstGeom>
        </p:spPr>
      </p:pic>
      <p:sp>
        <p:nvSpPr>
          <p:cNvPr id="11" name="Text 6"/>
          <p:cNvSpPr/>
          <p:nvPr/>
        </p:nvSpPr>
        <p:spPr>
          <a:xfrm>
            <a:off x="5516575" y="1024128"/>
            <a:ext cx="5486400" cy="530352"/>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مديرة المدرسة</a:t>
            </a:r>
            <a:endParaRPr lang="ar-SA" sz="1250" dirty="0"/>
          </a:p>
        </p:txBody>
      </p:sp>
      <p:sp>
        <p:nvSpPr>
          <p:cNvPr id="12" name="Text 7"/>
          <p:cNvSpPr/>
          <p:nvPr/>
        </p:nvSpPr>
        <p:spPr>
          <a:xfrm>
            <a:off x="713232" y="1024128"/>
            <a:ext cx="5303520" cy="530352"/>
          </a:xfrm>
          <a:prstGeom prst="rect">
            <a:avLst/>
          </a:prstGeom>
          <a:noFill/>
          <a:ln/>
        </p:spPr>
        <p:txBody>
          <a:bodyPr wrap="square" lIns="0" tIns="0" rIns="0" bIns="0" rtlCol="0" anchor="ctr"/>
          <a:lstStyle/>
          <a:p>
            <a:pPr algn="l" indent="0" marL="0">
              <a:buNone/>
            </a:pPr>
            <a:r>
              <a:rPr lang="ar-SA" altLang="en-US" sz="940" dirty="0">
                <a:solidFill>
                  <a:srgbClr val="CFE2DB"/>
                </a:solidFill>
                <a:latin typeface="Tajawal" pitchFamily="34" charset="0"/>
                <a:ea typeface="Tajawal" pitchFamily="34" charset="-122"/>
                <a:cs typeface="Tajawal" pitchFamily="34" charset="-120"/>
              </a:rPr>
              <a:t>الاسم:  ………………………………          </a:t>
            </a:r>
            <a:pPr algn="l" indent="0" marL="0">
              <a:buNone/>
            </a:pPr>
            <a:r>
              <a:rPr lang="ar-SA" altLang="en-US" sz="940" dirty="0">
                <a:solidFill>
                  <a:srgbClr val="CFE2DB"/>
                </a:solidFill>
                <a:latin typeface="Tajawal" pitchFamily="34" charset="0"/>
                <a:ea typeface="Tajawal" pitchFamily="34" charset="-122"/>
                <a:cs typeface="Tajawal" pitchFamily="34" charset="-120"/>
              </a:rPr>
              <a:t>المهمة في فريق التخطيط:  </a:t>
            </a:r>
            <a:pPr algn="l" indent="0" marL="0">
              <a:buNone/>
            </a:pPr>
            <a:r>
              <a:rPr lang="ar-SA" altLang="en-US" sz="940" b="1" dirty="0">
                <a:solidFill>
                  <a:srgbClr val="C9A45C"/>
                </a:solidFill>
                <a:latin typeface="Tajawal" pitchFamily="34" charset="0"/>
                <a:ea typeface="Tajawal" pitchFamily="34" charset="-122"/>
                <a:cs typeface="Tajawal" pitchFamily="34" charset="-120"/>
              </a:rPr>
              <a:t>رئيسة الفريق</a:t>
            </a:r>
            <a:endParaRPr lang="ar-SA" sz="94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11277295" cy="914400"/>
        </p:xfrm>
        <a:graphic>
          <a:graphicData uri="http://schemas.openxmlformats.org/drawingml/2006/table">
            <a:tbl>
              <a:tblPr/>
              <a:tblGrid>
                <a:gridCol w="2377440"/>
                <a:gridCol w="822960"/>
                <a:gridCol w="731520"/>
                <a:gridCol w="6888175"/>
                <a:gridCol w="457200"/>
              </a:tblGrid>
              <a:tr h="256032">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ملاحظات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لم ينفذ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البيان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المشاركة في بناء الخطة من بدايتها حتى نهايتها</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مراجعة بيانات استمارة تشخيص الواقع والمشاركة مع أعضاء فريق التخطيط (تحديد نقاط القوة والضعف والفرص والتحديات وتحديد القضايا الملحة وتحديد الأهداف العامة والتفصيلية)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الإشراف العام على متابعة سير بناء الخطة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الإشراف العام على متابعة فريق التخطيط والأنشطة والبرامج المنفذة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تنظيم استمارة الخطة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
        <p:nvSpPr>
          <p:cNvPr id="14" name="Shape 8"/>
          <p:cNvSpPr/>
          <p:nvPr/>
        </p:nvSpPr>
        <p:spPr>
          <a:xfrm>
            <a:off x="457200" y="3749040"/>
            <a:ext cx="11277295" cy="530352"/>
          </a:xfrm>
          <a:prstGeom prst="roundRect">
            <a:avLst>
              <a:gd name="adj" fmla="val 15517"/>
            </a:avLst>
          </a:prstGeom>
          <a:solidFill>
            <a:srgbClr val="095242"/>
          </a:solidFill>
          <a:ln/>
        </p:spPr>
      </p:sp>
      <p:sp>
        <p:nvSpPr>
          <p:cNvPr id="15" name="Shape 9"/>
          <p:cNvSpPr/>
          <p:nvPr/>
        </p:nvSpPr>
        <p:spPr>
          <a:xfrm>
            <a:off x="11149279" y="3831336"/>
            <a:ext cx="365760" cy="365760"/>
          </a:xfrm>
          <a:prstGeom prst="ellipse">
            <a:avLst/>
          </a:prstGeom>
          <a:solidFill>
            <a:srgbClr val="FFFFFF"/>
          </a:solidFill>
          <a:ln/>
        </p:spPr>
      </p:sp>
      <p:pic>
        <p:nvPicPr>
          <p:cNvPr id="16" name="Image 3" descr="/tmp/claude-0/-home-user-Mobile1/ab9bbf47-b054-5f6e-be59-70476e095ce8/scratchpad/assets/icons/clipboard_green.png">    </p:cNvPr>
          <p:cNvPicPr>
            <a:picLocks noChangeAspect="1"/>
          </p:cNvPicPr>
          <p:nvPr/>
        </p:nvPicPr>
        <p:blipFill>
          <a:blip r:embed="rId4"/>
          <a:stretch>
            <a:fillRect/>
          </a:stretch>
        </p:blipFill>
        <p:spPr>
          <a:xfrm>
            <a:off x="11244377" y="3926434"/>
            <a:ext cx="175565" cy="175565"/>
          </a:xfrm>
          <a:prstGeom prst="rect">
            <a:avLst/>
          </a:prstGeom>
        </p:spPr>
      </p:pic>
      <p:sp>
        <p:nvSpPr>
          <p:cNvPr id="17" name="Text 10"/>
          <p:cNvSpPr/>
          <p:nvPr/>
        </p:nvSpPr>
        <p:spPr>
          <a:xfrm>
            <a:off x="5516575" y="3749040"/>
            <a:ext cx="5486400" cy="530352"/>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الموجهة الطلابية</a:t>
            </a:r>
            <a:endParaRPr lang="ar-SA" sz="1250" dirty="0"/>
          </a:p>
        </p:txBody>
      </p:sp>
      <p:sp>
        <p:nvSpPr>
          <p:cNvPr id="18" name="Text 11"/>
          <p:cNvSpPr/>
          <p:nvPr/>
        </p:nvSpPr>
        <p:spPr>
          <a:xfrm>
            <a:off x="713232" y="3749040"/>
            <a:ext cx="5303520" cy="530352"/>
          </a:xfrm>
          <a:prstGeom prst="rect">
            <a:avLst/>
          </a:prstGeom>
          <a:noFill/>
          <a:ln/>
        </p:spPr>
        <p:txBody>
          <a:bodyPr wrap="square" lIns="0" tIns="0" rIns="0" bIns="0" rtlCol="0" anchor="ctr"/>
          <a:lstStyle/>
          <a:p>
            <a:pPr algn="l" indent="0" marL="0">
              <a:buNone/>
            </a:pPr>
            <a:r>
              <a:rPr lang="ar-SA" altLang="en-US" sz="940" dirty="0">
                <a:solidFill>
                  <a:srgbClr val="CFE2DB"/>
                </a:solidFill>
                <a:latin typeface="Tajawal" pitchFamily="34" charset="0"/>
                <a:ea typeface="Tajawal" pitchFamily="34" charset="-122"/>
                <a:cs typeface="Tajawal" pitchFamily="34" charset="-120"/>
              </a:rPr>
              <a:t>الاسم:  ………………………………          </a:t>
            </a:r>
            <a:pPr algn="l" indent="0" marL="0">
              <a:buNone/>
            </a:pPr>
            <a:r>
              <a:rPr lang="ar-SA" altLang="en-US" sz="940" dirty="0">
                <a:solidFill>
                  <a:srgbClr val="CFE2DB"/>
                </a:solidFill>
                <a:latin typeface="Tajawal" pitchFamily="34" charset="0"/>
                <a:ea typeface="Tajawal" pitchFamily="34" charset="-122"/>
                <a:cs typeface="Tajawal" pitchFamily="34" charset="-120"/>
              </a:rPr>
              <a:t>المهمة في فريق التخطيط:  </a:t>
            </a:r>
            <a:pPr algn="l" indent="0" marL="0">
              <a:buNone/>
            </a:pPr>
            <a:r>
              <a:rPr lang="ar-SA" altLang="en-US" sz="940" b="1" dirty="0">
                <a:solidFill>
                  <a:srgbClr val="C9A45C"/>
                </a:solidFill>
                <a:latin typeface="Tajawal" pitchFamily="34" charset="0"/>
                <a:ea typeface="Tajawal" pitchFamily="34" charset="-122"/>
                <a:cs typeface="Tajawal" pitchFamily="34" charset="-120"/>
              </a:rPr>
              <a:t>مقررة اللجنة</a:t>
            </a:r>
            <a:endParaRPr lang="ar-SA" sz="940" dirty="0"/>
          </a:p>
        </p:txBody>
      </p:sp>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457200" y="4352544"/>
          <a:ext cx="11277295" cy="914400"/>
        </p:xfrm>
        <a:graphic>
          <a:graphicData uri="http://schemas.openxmlformats.org/drawingml/2006/table">
            <a:tbl>
              <a:tblPr/>
              <a:tblGrid>
                <a:gridCol w="2377440"/>
                <a:gridCol w="822960"/>
                <a:gridCol w="731520"/>
                <a:gridCol w="6888175"/>
                <a:gridCol w="457200"/>
              </a:tblGrid>
              <a:tr h="256032">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ملاحظات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لم ينفذ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البيان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المشاركة في بناء الخطة من بدايتها حتى نهايتها</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المساعدة في الإشراف على فريق التخطيط والأنشطة والبرامج المنعقدة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إعداد محاضر الاجتماعات وتوثيق أعمال الفريق</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تنفيذ التوصيات والقرارات الصادرة عن الفريق</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جمع البيانات والمعلومات اللازمة لبناء الخطة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تنظيم ملفات وأدلة الخطة التشغيلية وحفظها</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مهام فريق العمل</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فريق إعداد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٤٤</a:t>
            </a:r>
            <a:endParaRPr lang="ar-SA" sz="900" dirty="0"/>
          </a:p>
        </p:txBody>
      </p:sp>
      <p:sp>
        <p:nvSpPr>
          <p:cNvPr id="8" name="Shape 4"/>
          <p:cNvSpPr/>
          <p:nvPr/>
        </p:nvSpPr>
        <p:spPr>
          <a:xfrm>
            <a:off x="457200" y="1024128"/>
            <a:ext cx="11277295" cy="530352"/>
          </a:xfrm>
          <a:prstGeom prst="roundRect">
            <a:avLst>
              <a:gd name="adj" fmla="val 15517"/>
            </a:avLst>
          </a:prstGeom>
          <a:solidFill>
            <a:srgbClr val="095242"/>
          </a:solidFill>
          <a:ln/>
        </p:spPr>
      </p:sp>
      <p:sp>
        <p:nvSpPr>
          <p:cNvPr id="9" name="Shape 5"/>
          <p:cNvSpPr/>
          <p:nvPr/>
        </p:nvSpPr>
        <p:spPr>
          <a:xfrm>
            <a:off x="11149279" y="1106424"/>
            <a:ext cx="365760" cy="365760"/>
          </a:xfrm>
          <a:prstGeom prst="ellipse">
            <a:avLst/>
          </a:prstGeom>
          <a:solidFill>
            <a:srgbClr val="FFFFFF"/>
          </a:solidFill>
          <a:ln/>
        </p:spPr>
      </p:sp>
      <p:pic>
        <p:nvPicPr>
          <p:cNvPr id="10" name="Image 2" descr="/tmp/claude-0/-home-user-Mobile1/ab9bbf47-b054-5f6e-be59-70476e095ce8/scratchpad/assets/icons/sparkles_green.png">    </p:cNvPr>
          <p:cNvPicPr>
            <a:picLocks noChangeAspect="1"/>
          </p:cNvPicPr>
          <p:nvPr/>
        </p:nvPicPr>
        <p:blipFill>
          <a:blip r:embed="rId3"/>
          <a:stretch>
            <a:fillRect/>
          </a:stretch>
        </p:blipFill>
        <p:spPr>
          <a:xfrm>
            <a:off x="11244377" y="1201522"/>
            <a:ext cx="175565" cy="175565"/>
          </a:xfrm>
          <a:prstGeom prst="rect">
            <a:avLst/>
          </a:prstGeom>
        </p:spPr>
      </p:pic>
      <p:sp>
        <p:nvSpPr>
          <p:cNvPr id="11" name="Text 6"/>
          <p:cNvSpPr/>
          <p:nvPr/>
        </p:nvSpPr>
        <p:spPr>
          <a:xfrm>
            <a:off x="5516575" y="1024128"/>
            <a:ext cx="5486400" cy="530352"/>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رائد النشاط</a:t>
            </a:r>
            <a:endParaRPr lang="ar-SA" sz="1250" dirty="0"/>
          </a:p>
        </p:txBody>
      </p:sp>
      <p:sp>
        <p:nvSpPr>
          <p:cNvPr id="12" name="Text 7"/>
          <p:cNvSpPr/>
          <p:nvPr/>
        </p:nvSpPr>
        <p:spPr>
          <a:xfrm>
            <a:off x="713232" y="1024128"/>
            <a:ext cx="5303520" cy="530352"/>
          </a:xfrm>
          <a:prstGeom prst="rect">
            <a:avLst/>
          </a:prstGeom>
          <a:noFill/>
          <a:ln/>
        </p:spPr>
        <p:txBody>
          <a:bodyPr wrap="square" lIns="0" tIns="0" rIns="0" bIns="0" rtlCol="0" anchor="ctr"/>
          <a:lstStyle/>
          <a:p>
            <a:pPr algn="l" indent="0" marL="0">
              <a:buNone/>
            </a:pPr>
            <a:r>
              <a:rPr lang="ar-SA" altLang="en-US" sz="940" dirty="0">
                <a:solidFill>
                  <a:srgbClr val="CFE2DB"/>
                </a:solidFill>
                <a:latin typeface="Tajawal" pitchFamily="34" charset="0"/>
                <a:ea typeface="Tajawal" pitchFamily="34" charset="-122"/>
                <a:cs typeface="Tajawal" pitchFamily="34" charset="-120"/>
              </a:rPr>
              <a:t>الاسم:  ………………………………          </a:t>
            </a:r>
            <a:pPr algn="l" indent="0" marL="0">
              <a:buNone/>
            </a:pPr>
            <a:r>
              <a:rPr lang="ar-SA" altLang="en-US" sz="940" dirty="0">
                <a:solidFill>
                  <a:srgbClr val="CFE2DB"/>
                </a:solidFill>
                <a:latin typeface="Tajawal" pitchFamily="34" charset="0"/>
                <a:ea typeface="Tajawal" pitchFamily="34" charset="-122"/>
                <a:cs typeface="Tajawal" pitchFamily="34" charset="-120"/>
              </a:rPr>
              <a:t>المهمة في فريق التخطيط:  </a:t>
            </a:r>
            <a:pPr algn="l" indent="0" marL="0">
              <a:buNone/>
            </a:pPr>
            <a:r>
              <a:rPr lang="ar-SA" altLang="en-US" sz="940" b="1" dirty="0">
                <a:solidFill>
                  <a:srgbClr val="C9A45C"/>
                </a:solidFill>
                <a:latin typeface="Tajawal" pitchFamily="34" charset="0"/>
                <a:ea typeface="Tajawal" pitchFamily="34" charset="-122"/>
                <a:cs typeface="Tajawal" pitchFamily="34" charset="-120"/>
              </a:rPr>
              <a:t>عضو</a:t>
            </a:r>
            <a:endParaRPr lang="ar-SA" sz="94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11277295" cy="914400"/>
        </p:xfrm>
        <a:graphic>
          <a:graphicData uri="http://schemas.openxmlformats.org/drawingml/2006/table">
            <a:tbl>
              <a:tblPr/>
              <a:tblGrid>
                <a:gridCol w="2377440"/>
                <a:gridCol w="822960"/>
                <a:gridCol w="731520"/>
                <a:gridCol w="6888175"/>
                <a:gridCol w="457200"/>
              </a:tblGrid>
              <a:tr h="256032">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ملاحظات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لم ينفذ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البيان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التخطيط للبرامج والأنشطة الطلابية المرتبطة بأهداف الخطة التشغيلية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تنفيذ المبادرات الإثرائية والبرامج النوعية الداعمة لنواتج التعلم</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تحفيز مشاركة الطلاب في المسابقات والفعاليات المحلية والوطنية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المساهمة في تنمية مهارات القيادة والابتكار والعمل التطوعي لدى الطلاب</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تنفيذ الأنشطة وقياس أثرها ورفع تقارير الإنجاز</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
        <p:nvSpPr>
          <p:cNvPr id="14" name="Shape 8"/>
          <p:cNvSpPr/>
          <p:nvPr/>
        </p:nvSpPr>
        <p:spPr>
          <a:xfrm>
            <a:off x="457200" y="3749040"/>
            <a:ext cx="11277295" cy="530352"/>
          </a:xfrm>
          <a:prstGeom prst="roundRect">
            <a:avLst>
              <a:gd name="adj" fmla="val 15517"/>
            </a:avLst>
          </a:prstGeom>
          <a:solidFill>
            <a:srgbClr val="095242"/>
          </a:solidFill>
          <a:ln/>
        </p:spPr>
      </p:sp>
      <p:sp>
        <p:nvSpPr>
          <p:cNvPr id="15" name="Shape 9"/>
          <p:cNvSpPr/>
          <p:nvPr/>
        </p:nvSpPr>
        <p:spPr>
          <a:xfrm>
            <a:off x="11149279" y="3831336"/>
            <a:ext cx="365760" cy="365760"/>
          </a:xfrm>
          <a:prstGeom prst="ellipse">
            <a:avLst/>
          </a:prstGeom>
          <a:solidFill>
            <a:srgbClr val="FFFFFF"/>
          </a:solidFill>
          <a:ln/>
        </p:spPr>
      </p:sp>
      <p:pic>
        <p:nvPicPr>
          <p:cNvPr id="16" name="Image 3" descr="/tmp/claude-0/-home-user-Mobile1/ab9bbf47-b054-5f6e-be59-70476e095ce8/scratchpad/assets/icons/handshake_green.png">    </p:cNvPr>
          <p:cNvPicPr>
            <a:picLocks noChangeAspect="1"/>
          </p:cNvPicPr>
          <p:nvPr/>
        </p:nvPicPr>
        <p:blipFill>
          <a:blip r:embed="rId4"/>
          <a:stretch>
            <a:fillRect/>
          </a:stretch>
        </p:blipFill>
        <p:spPr>
          <a:xfrm>
            <a:off x="11244377" y="3926434"/>
            <a:ext cx="175565" cy="175565"/>
          </a:xfrm>
          <a:prstGeom prst="rect">
            <a:avLst/>
          </a:prstGeom>
        </p:spPr>
      </p:pic>
      <p:sp>
        <p:nvSpPr>
          <p:cNvPr id="17" name="Text 10"/>
          <p:cNvSpPr/>
          <p:nvPr/>
        </p:nvSpPr>
        <p:spPr>
          <a:xfrm>
            <a:off x="5516575" y="3749040"/>
            <a:ext cx="5486400" cy="530352"/>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ممثل أولياء الأمور</a:t>
            </a:r>
            <a:endParaRPr lang="ar-SA" sz="1250" dirty="0"/>
          </a:p>
        </p:txBody>
      </p:sp>
      <p:sp>
        <p:nvSpPr>
          <p:cNvPr id="18" name="Text 11"/>
          <p:cNvSpPr/>
          <p:nvPr/>
        </p:nvSpPr>
        <p:spPr>
          <a:xfrm>
            <a:off x="713232" y="3749040"/>
            <a:ext cx="5303520" cy="530352"/>
          </a:xfrm>
          <a:prstGeom prst="rect">
            <a:avLst/>
          </a:prstGeom>
          <a:noFill/>
          <a:ln/>
        </p:spPr>
        <p:txBody>
          <a:bodyPr wrap="square" lIns="0" tIns="0" rIns="0" bIns="0" rtlCol="0" anchor="ctr"/>
          <a:lstStyle/>
          <a:p>
            <a:pPr algn="l" indent="0" marL="0">
              <a:buNone/>
            </a:pPr>
            <a:r>
              <a:rPr lang="ar-SA" altLang="en-US" sz="940" dirty="0">
                <a:solidFill>
                  <a:srgbClr val="CFE2DB"/>
                </a:solidFill>
                <a:latin typeface="Tajawal" pitchFamily="34" charset="0"/>
                <a:ea typeface="Tajawal" pitchFamily="34" charset="-122"/>
                <a:cs typeface="Tajawal" pitchFamily="34" charset="-120"/>
              </a:rPr>
              <a:t>الاسم:  ………………………………          </a:t>
            </a:r>
            <a:pPr algn="l" indent="0" marL="0">
              <a:buNone/>
            </a:pPr>
            <a:r>
              <a:rPr lang="ar-SA" altLang="en-US" sz="940" dirty="0">
                <a:solidFill>
                  <a:srgbClr val="CFE2DB"/>
                </a:solidFill>
                <a:latin typeface="Tajawal" pitchFamily="34" charset="0"/>
                <a:ea typeface="Tajawal" pitchFamily="34" charset="-122"/>
                <a:cs typeface="Tajawal" pitchFamily="34" charset="-120"/>
              </a:rPr>
              <a:t>المهمة في فريق التخطيط:  </a:t>
            </a:r>
            <a:pPr algn="l" indent="0" marL="0">
              <a:buNone/>
            </a:pPr>
            <a:r>
              <a:rPr lang="ar-SA" altLang="en-US" sz="940" b="1" dirty="0">
                <a:solidFill>
                  <a:srgbClr val="C9A45C"/>
                </a:solidFill>
                <a:latin typeface="Tajawal" pitchFamily="34" charset="0"/>
                <a:ea typeface="Tajawal" pitchFamily="34" charset="-122"/>
                <a:cs typeface="Tajawal" pitchFamily="34" charset="-120"/>
              </a:rPr>
              <a:t>عضو</a:t>
            </a:r>
            <a:endParaRPr lang="ar-SA" sz="940" dirty="0"/>
          </a:p>
        </p:txBody>
      </p:sp>
      <p:graphicFrame>
        <p:nvGraphicFramePr>
          <p:cNvPr id="95" name="Table 1"/>
          <p:cNvGraphicFramePr>
            <a:graphicFrameLocks noGrp="1"/>
          </p:cNvGraphicFramePr>
          <p:nvPr>
            <p:extLst>
              <p:ext uri="{D42A27DB-BD31-4B8C-83A1-F6EECF244321}">
                <p14:modId xmlns:p14="http://schemas.microsoft.com/office/powerpoint/2010/main" val="1579011935"/>
              </p:ext>
            </p:extLst>
          </p:nvPr>
        </p:nvGraphicFramePr>
        <p:xfrm>
          <a:off x="457200" y="4352544"/>
          <a:ext cx="11277295" cy="914400"/>
        </p:xfrm>
        <a:graphic>
          <a:graphicData uri="http://schemas.openxmlformats.org/drawingml/2006/table">
            <a:tbl>
              <a:tblPr/>
              <a:tblGrid>
                <a:gridCol w="2377440"/>
                <a:gridCol w="822960"/>
                <a:gridCol w="731520"/>
                <a:gridCol w="6888175"/>
                <a:gridCol w="457200"/>
              </a:tblGrid>
              <a:tr h="256032">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ملاحظات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لم ينفذ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البيان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المشاركة في بناء الخطة التشغيلية وإبداء المرئيات والمقترحات</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نقل احتياجات وتطلعات أولياء الأمور لفريق التخطيط</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دعم الشراكة بين المدرسة والأسرة والمجتمع المحلي</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المساهمة في تنفيذ المبادرات والبرامج المجتمعية الداعمة للتعلم</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تحفيز أولياء الأمور على المشاركة في برامج المدرسة وفعالياتها</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أثر البرامج المقدمة وتقديم التغذية الراجعة ومقترحات التحسين</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مهام فريق العمل</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فريق إعداد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٤٥</a:t>
            </a:r>
            <a:endParaRPr lang="ar-SA" sz="900" dirty="0"/>
          </a:p>
        </p:txBody>
      </p:sp>
      <p:sp>
        <p:nvSpPr>
          <p:cNvPr id="8" name="Shape 4"/>
          <p:cNvSpPr/>
          <p:nvPr/>
        </p:nvSpPr>
        <p:spPr>
          <a:xfrm>
            <a:off x="457200" y="1024128"/>
            <a:ext cx="11277295" cy="530352"/>
          </a:xfrm>
          <a:prstGeom prst="roundRect">
            <a:avLst>
              <a:gd name="adj" fmla="val 15517"/>
            </a:avLst>
          </a:prstGeom>
          <a:solidFill>
            <a:srgbClr val="095242"/>
          </a:solidFill>
          <a:ln/>
        </p:spPr>
      </p:sp>
      <p:sp>
        <p:nvSpPr>
          <p:cNvPr id="9" name="Shape 5"/>
          <p:cNvSpPr/>
          <p:nvPr/>
        </p:nvSpPr>
        <p:spPr>
          <a:xfrm>
            <a:off x="11149279" y="1106424"/>
            <a:ext cx="365760" cy="365760"/>
          </a:xfrm>
          <a:prstGeom prst="ellipse">
            <a:avLst/>
          </a:prstGeom>
          <a:solidFill>
            <a:srgbClr val="FFFFFF"/>
          </a:solidFill>
          <a:ln/>
        </p:spPr>
      </p:sp>
      <p:pic>
        <p:nvPicPr>
          <p:cNvPr id="10" name="Image 2" descr="/tmp/claude-0/-home-user-Mobile1/ab9bbf47-b054-5f6e-be59-70476e095ce8/scratchpad/assets/icons/award_green.png">    </p:cNvPr>
          <p:cNvPicPr>
            <a:picLocks noChangeAspect="1"/>
          </p:cNvPicPr>
          <p:nvPr/>
        </p:nvPicPr>
        <p:blipFill>
          <a:blip r:embed="rId3"/>
          <a:stretch>
            <a:fillRect/>
          </a:stretch>
        </p:blipFill>
        <p:spPr>
          <a:xfrm>
            <a:off x="11244377" y="1201522"/>
            <a:ext cx="175565" cy="175565"/>
          </a:xfrm>
          <a:prstGeom prst="rect">
            <a:avLst/>
          </a:prstGeom>
        </p:spPr>
      </p:pic>
      <p:sp>
        <p:nvSpPr>
          <p:cNvPr id="11" name="Text 6"/>
          <p:cNvSpPr/>
          <p:nvPr/>
        </p:nvSpPr>
        <p:spPr>
          <a:xfrm>
            <a:off x="5516575" y="1024128"/>
            <a:ext cx="5486400" cy="530352"/>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منسّق الجودة</a:t>
            </a:r>
            <a:endParaRPr lang="ar-SA" sz="1250" dirty="0"/>
          </a:p>
        </p:txBody>
      </p:sp>
      <p:sp>
        <p:nvSpPr>
          <p:cNvPr id="12" name="Text 7"/>
          <p:cNvSpPr/>
          <p:nvPr/>
        </p:nvSpPr>
        <p:spPr>
          <a:xfrm>
            <a:off x="713232" y="1024128"/>
            <a:ext cx="5303520" cy="530352"/>
          </a:xfrm>
          <a:prstGeom prst="rect">
            <a:avLst/>
          </a:prstGeom>
          <a:noFill/>
          <a:ln/>
        </p:spPr>
        <p:txBody>
          <a:bodyPr wrap="square" lIns="0" tIns="0" rIns="0" bIns="0" rtlCol="0" anchor="ctr"/>
          <a:lstStyle/>
          <a:p>
            <a:pPr algn="l" indent="0" marL="0">
              <a:buNone/>
            </a:pPr>
            <a:r>
              <a:rPr lang="ar-SA" altLang="en-US" sz="940" dirty="0">
                <a:solidFill>
                  <a:srgbClr val="CFE2DB"/>
                </a:solidFill>
                <a:latin typeface="Tajawal" pitchFamily="34" charset="0"/>
                <a:ea typeface="Tajawal" pitchFamily="34" charset="-122"/>
                <a:cs typeface="Tajawal" pitchFamily="34" charset="-120"/>
              </a:rPr>
              <a:t>الاسم:  ………………………………          </a:t>
            </a:r>
            <a:pPr algn="l" indent="0" marL="0">
              <a:buNone/>
            </a:pPr>
            <a:r>
              <a:rPr lang="ar-SA" altLang="en-US" sz="940" dirty="0">
                <a:solidFill>
                  <a:srgbClr val="CFE2DB"/>
                </a:solidFill>
                <a:latin typeface="Tajawal" pitchFamily="34" charset="0"/>
                <a:ea typeface="Tajawal" pitchFamily="34" charset="-122"/>
                <a:cs typeface="Tajawal" pitchFamily="34" charset="-120"/>
              </a:rPr>
              <a:t>المهمة في فريق التخطيط:  </a:t>
            </a:r>
            <a:pPr algn="l" indent="0" marL="0">
              <a:buNone/>
            </a:pPr>
            <a:r>
              <a:rPr lang="ar-SA" altLang="en-US" sz="940" b="1" dirty="0">
                <a:solidFill>
                  <a:srgbClr val="C9A45C"/>
                </a:solidFill>
                <a:latin typeface="Tajawal" pitchFamily="34" charset="0"/>
                <a:ea typeface="Tajawal" pitchFamily="34" charset="-122"/>
                <a:cs typeface="Tajawal" pitchFamily="34" charset="-120"/>
              </a:rPr>
              <a:t>عضو</a:t>
            </a:r>
            <a:endParaRPr lang="ar-SA" sz="94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11277295" cy="914400"/>
        </p:xfrm>
        <a:graphic>
          <a:graphicData uri="http://schemas.openxmlformats.org/drawingml/2006/table">
            <a:tbl>
              <a:tblPr/>
              <a:tblGrid>
                <a:gridCol w="2377440"/>
                <a:gridCol w="822960"/>
                <a:gridCol w="731520"/>
                <a:gridCol w="6888175"/>
                <a:gridCol w="457200"/>
              </a:tblGrid>
              <a:tr h="256032">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ملاحظات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لم ينفذ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البيان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المشاركة في بناء الخطة التشغيلية وفق معايير الجودة والاعتماد المدرسي</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مؤشرات الأداء وقياس مدى تحقق الأهداف التشغيلية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الإشراف على تطبيق التقويم الذاتي وتحليل نتائجه واستخراج فرص التحسين</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تنفيذ خطط التحسين وقياس أثرها على أداء المدرسة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توثيق الشواهد والأدلة المرتبطة بمؤشرات الجودة والاعتماد المدرسي</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إعداد التقارير الدورية ورفع التوصيات اللازمة لتعزيز جودة الأداء المدرسي</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4" name="Shape 8"/>
          <p:cNvSpPr/>
          <p:nvPr/>
        </p:nvSpPr>
        <p:spPr>
          <a:xfrm>
            <a:off x="457200" y="3749040"/>
            <a:ext cx="11277295" cy="530352"/>
          </a:xfrm>
          <a:prstGeom prst="roundRect">
            <a:avLst>
              <a:gd name="adj" fmla="val 15517"/>
            </a:avLst>
          </a:prstGeom>
          <a:solidFill>
            <a:srgbClr val="095242"/>
          </a:solidFill>
          <a:ln/>
        </p:spPr>
      </p:sp>
      <p:sp>
        <p:nvSpPr>
          <p:cNvPr id="15" name="Shape 9"/>
          <p:cNvSpPr/>
          <p:nvPr/>
        </p:nvSpPr>
        <p:spPr>
          <a:xfrm>
            <a:off x="11149279" y="3831336"/>
            <a:ext cx="365760" cy="365760"/>
          </a:xfrm>
          <a:prstGeom prst="ellipse">
            <a:avLst/>
          </a:prstGeom>
          <a:solidFill>
            <a:srgbClr val="FFFFFF"/>
          </a:solidFill>
          <a:ln/>
        </p:spPr>
      </p:sp>
      <p:pic>
        <p:nvPicPr>
          <p:cNvPr id="16" name="Image 3" descr="/tmp/claude-0/-home-user-Mobile1/ab9bbf47-b054-5f6e-be59-70476e095ce8/scratchpad/assets/icons/shield_green.png">    </p:cNvPr>
          <p:cNvPicPr>
            <a:picLocks noChangeAspect="1"/>
          </p:cNvPicPr>
          <p:nvPr/>
        </p:nvPicPr>
        <p:blipFill>
          <a:blip r:embed="rId4"/>
          <a:stretch>
            <a:fillRect/>
          </a:stretch>
        </p:blipFill>
        <p:spPr>
          <a:xfrm>
            <a:off x="11244377" y="3926434"/>
            <a:ext cx="175565" cy="175565"/>
          </a:xfrm>
          <a:prstGeom prst="rect">
            <a:avLst/>
          </a:prstGeom>
        </p:spPr>
      </p:pic>
      <p:sp>
        <p:nvSpPr>
          <p:cNvPr id="17" name="Text 10"/>
          <p:cNvSpPr/>
          <p:nvPr/>
        </p:nvSpPr>
        <p:spPr>
          <a:xfrm>
            <a:off x="5516575" y="3749040"/>
            <a:ext cx="5486400" cy="530352"/>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منسّق الأمن والسلامة</a:t>
            </a:r>
            <a:endParaRPr lang="ar-SA" sz="1250" dirty="0"/>
          </a:p>
        </p:txBody>
      </p:sp>
      <p:sp>
        <p:nvSpPr>
          <p:cNvPr id="18" name="Text 11"/>
          <p:cNvSpPr/>
          <p:nvPr/>
        </p:nvSpPr>
        <p:spPr>
          <a:xfrm>
            <a:off x="713232" y="3749040"/>
            <a:ext cx="5303520" cy="530352"/>
          </a:xfrm>
          <a:prstGeom prst="rect">
            <a:avLst/>
          </a:prstGeom>
          <a:noFill/>
          <a:ln/>
        </p:spPr>
        <p:txBody>
          <a:bodyPr wrap="square" lIns="0" tIns="0" rIns="0" bIns="0" rtlCol="0" anchor="ctr"/>
          <a:lstStyle/>
          <a:p>
            <a:pPr algn="l" indent="0" marL="0">
              <a:buNone/>
            </a:pPr>
            <a:r>
              <a:rPr lang="ar-SA" altLang="en-US" sz="940" dirty="0">
                <a:solidFill>
                  <a:srgbClr val="CFE2DB"/>
                </a:solidFill>
                <a:latin typeface="Tajawal" pitchFamily="34" charset="0"/>
                <a:ea typeface="Tajawal" pitchFamily="34" charset="-122"/>
                <a:cs typeface="Tajawal" pitchFamily="34" charset="-120"/>
              </a:rPr>
              <a:t>الاسم:  ………………………………          </a:t>
            </a:r>
            <a:pPr algn="l" indent="0" marL="0">
              <a:buNone/>
            </a:pPr>
            <a:r>
              <a:rPr lang="ar-SA" altLang="en-US" sz="940" dirty="0">
                <a:solidFill>
                  <a:srgbClr val="CFE2DB"/>
                </a:solidFill>
                <a:latin typeface="Tajawal" pitchFamily="34" charset="0"/>
                <a:ea typeface="Tajawal" pitchFamily="34" charset="-122"/>
                <a:cs typeface="Tajawal" pitchFamily="34" charset="-120"/>
              </a:rPr>
              <a:t>المهمة في فريق التخطيط:  </a:t>
            </a:r>
            <a:pPr algn="l" indent="0" marL="0">
              <a:buNone/>
            </a:pPr>
            <a:r>
              <a:rPr lang="ar-SA" altLang="en-US" sz="940" b="1" dirty="0">
                <a:solidFill>
                  <a:srgbClr val="C9A45C"/>
                </a:solidFill>
                <a:latin typeface="Tajawal" pitchFamily="34" charset="0"/>
                <a:ea typeface="Tajawal" pitchFamily="34" charset="-122"/>
                <a:cs typeface="Tajawal" pitchFamily="34" charset="-120"/>
              </a:rPr>
              <a:t>عضو</a:t>
            </a:r>
            <a:endParaRPr lang="ar-SA" sz="940" dirty="0"/>
          </a:p>
        </p:txBody>
      </p:sp>
      <p:graphicFrame>
        <p:nvGraphicFramePr>
          <p:cNvPr id="97" name="Table 1"/>
          <p:cNvGraphicFramePr>
            <a:graphicFrameLocks noGrp="1"/>
          </p:cNvGraphicFramePr>
          <p:nvPr>
            <p:extLst>
              <p:ext uri="{D42A27DB-BD31-4B8C-83A1-F6EECF244321}">
                <p14:modId xmlns:p14="http://schemas.microsoft.com/office/powerpoint/2010/main" val="1579011935"/>
              </p:ext>
            </p:extLst>
          </p:nvPr>
        </p:nvGraphicFramePr>
        <p:xfrm>
          <a:off x="457200" y="4352544"/>
          <a:ext cx="11277295" cy="914400"/>
        </p:xfrm>
        <a:graphic>
          <a:graphicData uri="http://schemas.openxmlformats.org/drawingml/2006/table">
            <a:tbl>
              <a:tblPr/>
              <a:tblGrid>
                <a:gridCol w="2377440"/>
                <a:gridCol w="822960"/>
                <a:gridCol w="731520"/>
                <a:gridCol w="6888175"/>
                <a:gridCol w="457200"/>
              </a:tblGrid>
              <a:tr h="256032">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ملاحظات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لم ينفذ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البيان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المشاركة في بناء الخطة التشغيلية فيما يخص الأمن والسلامة المدرسية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حصر احتياجات الأمن والسلامة ورفعها لفريق التخطيط</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تطبيق إجراءات الأمن والسلامة في مرافق المدرسة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إعداد وتنفيذ خطط الإخلاء والتجارب الافتراضية والفرضيات</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نشر الوعي بإجراءات الأمن والسلامة بين منسوبي المدرسة والطلاب</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جاهزية أدوات السلامة وإعداد التقارير الدورية ومقترحات التحسين</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مهام فريق العمل</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فريق إعداد الخطة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٤٦</a:t>
            </a:r>
            <a:endParaRPr lang="ar-SA" sz="900" dirty="0"/>
          </a:p>
        </p:txBody>
      </p:sp>
      <p:sp>
        <p:nvSpPr>
          <p:cNvPr id="8" name="Shape 4"/>
          <p:cNvSpPr/>
          <p:nvPr/>
        </p:nvSpPr>
        <p:spPr>
          <a:xfrm>
            <a:off x="457200" y="1024128"/>
            <a:ext cx="11277295" cy="530352"/>
          </a:xfrm>
          <a:prstGeom prst="roundRect">
            <a:avLst>
              <a:gd name="adj" fmla="val 15517"/>
            </a:avLst>
          </a:prstGeom>
          <a:solidFill>
            <a:srgbClr val="095242"/>
          </a:solidFill>
          <a:ln/>
        </p:spPr>
      </p:sp>
      <p:sp>
        <p:nvSpPr>
          <p:cNvPr id="9" name="Shape 5"/>
          <p:cNvSpPr/>
          <p:nvPr/>
        </p:nvSpPr>
        <p:spPr>
          <a:xfrm>
            <a:off x="11149279" y="1106424"/>
            <a:ext cx="365760" cy="365760"/>
          </a:xfrm>
          <a:prstGeom prst="ellipse">
            <a:avLst/>
          </a:prstGeom>
          <a:solidFill>
            <a:srgbClr val="FFFFFF"/>
          </a:solidFill>
          <a:ln/>
        </p:spPr>
      </p:sp>
      <p:pic>
        <p:nvPicPr>
          <p:cNvPr id="10" name="Image 2" descr="/tmp/claude-0/-home-user-Mobile1/ab9bbf47-b054-5f6e-be59-70476e095ce8/scratchpad/assets/icons/book_green.png">    </p:cNvPr>
          <p:cNvPicPr>
            <a:picLocks noChangeAspect="1"/>
          </p:cNvPicPr>
          <p:nvPr/>
        </p:nvPicPr>
        <p:blipFill>
          <a:blip r:embed="rId3"/>
          <a:stretch>
            <a:fillRect/>
          </a:stretch>
        </p:blipFill>
        <p:spPr>
          <a:xfrm>
            <a:off x="11244377" y="1201522"/>
            <a:ext cx="175565" cy="175565"/>
          </a:xfrm>
          <a:prstGeom prst="rect">
            <a:avLst/>
          </a:prstGeom>
        </p:spPr>
      </p:pic>
      <p:sp>
        <p:nvSpPr>
          <p:cNvPr id="11" name="Text 6"/>
          <p:cNvSpPr/>
          <p:nvPr/>
        </p:nvSpPr>
        <p:spPr>
          <a:xfrm>
            <a:off x="5516575" y="1024128"/>
            <a:ext cx="5486400" cy="530352"/>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معلم متميّز (قائد تطوير المهارات الأكاديمية)</a:t>
            </a:r>
            <a:endParaRPr lang="ar-SA" sz="1250" dirty="0"/>
          </a:p>
        </p:txBody>
      </p:sp>
      <p:sp>
        <p:nvSpPr>
          <p:cNvPr id="12" name="Text 7"/>
          <p:cNvSpPr/>
          <p:nvPr/>
        </p:nvSpPr>
        <p:spPr>
          <a:xfrm>
            <a:off x="713232" y="1024128"/>
            <a:ext cx="5303520" cy="530352"/>
          </a:xfrm>
          <a:prstGeom prst="rect">
            <a:avLst/>
          </a:prstGeom>
          <a:noFill/>
          <a:ln/>
        </p:spPr>
        <p:txBody>
          <a:bodyPr wrap="square" lIns="0" tIns="0" rIns="0" bIns="0" rtlCol="0" anchor="ctr"/>
          <a:lstStyle/>
          <a:p>
            <a:pPr algn="l" indent="0" marL="0">
              <a:buNone/>
            </a:pPr>
            <a:r>
              <a:rPr lang="ar-SA" altLang="en-US" sz="940" dirty="0">
                <a:solidFill>
                  <a:srgbClr val="CFE2DB"/>
                </a:solidFill>
                <a:latin typeface="Tajawal" pitchFamily="34" charset="0"/>
                <a:ea typeface="Tajawal" pitchFamily="34" charset="-122"/>
                <a:cs typeface="Tajawal" pitchFamily="34" charset="-120"/>
              </a:rPr>
              <a:t>الاسم:  ………………………………          </a:t>
            </a:r>
            <a:pPr algn="l" indent="0" marL="0">
              <a:buNone/>
            </a:pPr>
            <a:r>
              <a:rPr lang="ar-SA" altLang="en-US" sz="940" dirty="0">
                <a:solidFill>
                  <a:srgbClr val="CFE2DB"/>
                </a:solidFill>
                <a:latin typeface="Tajawal" pitchFamily="34" charset="0"/>
                <a:ea typeface="Tajawal" pitchFamily="34" charset="-122"/>
                <a:cs typeface="Tajawal" pitchFamily="34" charset="-120"/>
              </a:rPr>
              <a:t>المهمة في فريق التخطيط:  </a:t>
            </a:r>
            <a:pPr algn="l" indent="0" marL="0">
              <a:buNone/>
            </a:pPr>
            <a:r>
              <a:rPr lang="ar-SA" altLang="en-US" sz="940" b="1" dirty="0">
                <a:solidFill>
                  <a:srgbClr val="C9A45C"/>
                </a:solidFill>
                <a:latin typeface="Tajawal" pitchFamily="34" charset="0"/>
                <a:ea typeface="Tajawal" pitchFamily="34" charset="-122"/>
                <a:cs typeface="Tajawal" pitchFamily="34" charset="-120"/>
              </a:rPr>
              <a:t>عضو</a:t>
            </a:r>
            <a:endParaRPr lang="ar-SA" sz="94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11277295" cy="914400"/>
        </p:xfrm>
        <a:graphic>
          <a:graphicData uri="http://schemas.openxmlformats.org/drawingml/2006/table">
            <a:tbl>
              <a:tblPr/>
              <a:tblGrid>
                <a:gridCol w="2377440"/>
                <a:gridCol w="822960"/>
                <a:gridCol w="731520"/>
                <a:gridCol w="6888175"/>
                <a:gridCol w="457200"/>
              </a:tblGrid>
              <a:tr h="256032">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ملاحظات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لم ينفذ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البيان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المشاركة في بناء الخطة التشغيلية فيما يتعلق بتحسين نواتج التعلم والتحصيل الدراسي</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تحليل نتائج الاختبارات والقياسات وتحديد جوانب القوة وفرص التحسين</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اقتراح البرامج والمبادرات الداعمة لتنمية المهارات الأكاديمية لدى المتعلمين</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دعم المعلمين في تطبيق استراتيجيات التدريس الفاعلة وتنمية مهارات التفكير العليا</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مؤشرات الأداء الأكاديمي وقياس أثر البرامج العلاجية والإثرائية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المساهمة في رفع نتائج المتعلمين في الاختبارات الوطنية والداخلية وتحقيق المستهدفات التعليمية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4" name="Shape 8"/>
          <p:cNvSpPr/>
          <p:nvPr/>
        </p:nvSpPr>
        <p:spPr>
          <a:xfrm>
            <a:off x="457200" y="3749040"/>
            <a:ext cx="11277295" cy="530352"/>
          </a:xfrm>
          <a:prstGeom prst="roundRect">
            <a:avLst>
              <a:gd name="adj" fmla="val 15517"/>
            </a:avLst>
          </a:prstGeom>
          <a:solidFill>
            <a:srgbClr val="095242"/>
          </a:solidFill>
          <a:ln/>
        </p:spPr>
      </p:sp>
      <p:sp>
        <p:nvSpPr>
          <p:cNvPr id="15" name="Shape 9"/>
          <p:cNvSpPr/>
          <p:nvPr/>
        </p:nvSpPr>
        <p:spPr>
          <a:xfrm>
            <a:off x="11149279" y="3831336"/>
            <a:ext cx="365760" cy="365760"/>
          </a:xfrm>
          <a:prstGeom prst="ellipse">
            <a:avLst/>
          </a:prstGeom>
          <a:solidFill>
            <a:srgbClr val="FFFFFF"/>
          </a:solidFill>
          <a:ln/>
        </p:spPr>
      </p:sp>
      <p:pic>
        <p:nvPicPr>
          <p:cNvPr id="16" name="Image 3" descr="/tmp/claude-0/-home-user-Mobile1/ab9bbf47-b054-5f6e-be59-70476e095ce8/scratchpad/assets/icons/laptop_green.png">    </p:cNvPr>
          <p:cNvPicPr>
            <a:picLocks noChangeAspect="1"/>
          </p:cNvPicPr>
          <p:nvPr/>
        </p:nvPicPr>
        <p:blipFill>
          <a:blip r:embed="rId4"/>
          <a:stretch>
            <a:fillRect/>
          </a:stretch>
        </p:blipFill>
        <p:spPr>
          <a:xfrm>
            <a:off x="11244377" y="3926434"/>
            <a:ext cx="175565" cy="175565"/>
          </a:xfrm>
          <a:prstGeom prst="rect">
            <a:avLst/>
          </a:prstGeom>
        </p:spPr>
      </p:pic>
      <p:sp>
        <p:nvSpPr>
          <p:cNvPr id="17" name="Text 10"/>
          <p:cNvSpPr/>
          <p:nvPr/>
        </p:nvSpPr>
        <p:spPr>
          <a:xfrm>
            <a:off x="5516575" y="3749040"/>
            <a:ext cx="5486400" cy="530352"/>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معلم متميّز (قائد التحول الرقمي والتعليم الإلكتروني)</a:t>
            </a:r>
            <a:endParaRPr lang="ar-SA" sz="1250" dirty="0"/>
          </a:p>
        </p:txBody>
      </p:sp>
      <p:sp>
        <p:nvSpPr>
          <p:cNvPr id="18" name="Text 11"/>
          <p:cNvSpPr/>
          <p:nvPr/>
        </p:nvSpPr>
        <p:spPr>
          <a:xfrm>
            <a:off x="713232" y="3749040"/>
            <a:ext cx="5303520" cy="530352"/>
          </a:xfrm>
          <a:prstGeom prst="rect">
            <a:avLst/>
          </a:prstGeom>
          <a:noFill/>
          <a:ln/>
        </p:spPr>
        <p:txBody>
          <a:bodyPr wrap="square" lIns="0" tIns="0" rIns="0" bIns="0" rtlCol="0" anchor="ctr"/>
          <a:lstStyle/>
          <a:p>
            <a:pPr algn="l" indent="0" marL="0">
              <a:buNone/>
            </a:pPr>
            <a:r>
              <a:rPr lang="ar-SA" altLang="en-US" sz="940" dirty="0">
                <a:solidFill>
                  <a:srgbClr val="CFE2DB"/>
                </a:solidFill>
                <a:latin typeface="Tajawal" pitchFamily="34" charset="0"/>
                <a:ea typeface="Tajawal" pitchFamily="34" charset="-122"/>
                <a:cs typeface="Tajawal" pitchFamily="34" charset="-120"/>
              </a:rPr>
              <a:t>الاسم:  ………………………………          </a:t>
            </a:r>
            <a:pPr algn="l" indent="0" marL="0">
              <a:buNone/>
            </a:pPr>
            <a:r>
              <a:rPr lang="ar-SA" altLang="en-US" sz="940" dirty="0">
                <a:solidFill>
                  <a:srgbClr val="CFE2DB"/>
                </a:solidFill>
                <a:latin typeface="Tajawal" pitchFamily="34" charset="0"/>
                <a:ea typeface="Tajawal" pitchFamily="34" charset="-122"/>
                <a:cs typeface="Tajawal" pitchFamily="34" charset="-120"/>
              </a:rPr>
              <a:t>المهمة في فريق التخطيط:  </a:t>
            </a:r>
            <a:pPr algn="l" indent="0" marL="0">
              <a:buNone/>
            </a:pPr>
            <a:r>
              <a:rPr lang="ar-SA" altLang="en-US" sz="940" b="1" dirty="0">
                <a:solidFill>
                  <a:srgbClr val="C9A45C"/>
                </a:solidFill>
                <a:latin typeface="Tajawal" pitchFamily="34" charset="0"/>
                <a:ea typeface="Tajawal" pitchFamily="34" charset="-122"/>
                <a:cs typeface="Tajawal" pitchFamily="34" charset="-120"/>
              </a:rPr>
              <a:t>عضو</a:t>
            </a:r>
            <a:endParaRPr lang="ar-SA" sz="940" dirty="0"/>
          </a:p>
        </p:txBody>
      </p:sp>
      <p:graphicFrame>
        <p:nvGraphicFramePr>
          <p:cNvPr id="99" name="Table 1"/>
          <p:cNvGraphicFramePr>
            <a:graphicFrameLocks noGrp="1"/>
          </p:cNvGraphicFramePr>
          <p:nvPr>
            <p:extLst>
              <p:ext uri="{D42A27DB-BD31-4B8C-83A1-F6EECF244321}">
                <p14:modId xmlns:p14="http://schemas.microsoft.com/office/powerpoint/2010/main" val="1579011935"/>
              </p:ext>
            </p:extLst>
          </p:nvPr>
        </p:nvGraphicFramePr>
        <p:xfrm>
          <a:off x="457200" y="4352544"/>
          <a:ext cx="11277295" cy="914400"/>
        </p:xfrm>
        <a:graphic>
          <a:graphicData uri="http://schemas.openxmlformats.org/drawingml/2006/table">
            <a:tbl>
              <a:tblPr/>
              <a:tblGrid>
                <a:gridCol w="2377440"/>
                <a:gridCol w="822960"/>
                <a:gridCol w="731520"/>
                <a:gridCol w="6888175"/>
                <a:gridCol w="457200"/>
              </a:tblGrid>
              <a:tr h="256032">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ملاحظات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لم ينفذ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نفذ</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البيان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المشاركة في بناء الخطة التشغيلية فيما يتعلق بالتحول الرقمي والتعليم الإلكتروني</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دعم توظيف التقنيات التعليمية والمنصات الرقمية في العملية التعليمية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تقديم المقترحات والمبادرات الرقمية الداعمة لأهداف الخطة التشغيلية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تدريب ودعم المعلمين في استخدام التطبيقات والمنصات التعليمية الحديثة</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متابعة مؤشرات التحول الرقمي وقياس أثر التعليم الإلكتروني على نواتج التعلم</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83464">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100" dirty="0">
                          <a:solidFill>
                            <a:srgbClr val="34473F"/>
                          </a:solidFill>
                          <a:latin typeface="Tajawal" pitchFamily="34" charset="0"/>
                          <a:ea typeface="Tajawal" pitchFamily="34" charset="-122"/>
                          <a:cs typeface="Tajawal" pitchFamily="34" charset="-120"/>
                        </a:rPr>
                        <a:t>☐</a:t>
                      </a:r>
                      <a:endParaRPr lang="ar-SA" sz="11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50" dirty="0">
                          <a:solidFill>
                            <a:srgbClr val="34473F"/>
                          </a:solidFill>
                          <a:latin typeface="Tajawal" pitchFamily="34" charset="0"/>
                          <a:ea typeface="Tajawal" pitchFamily="34" charset="-122"/>
                          <a:cs typeface="Tajawal" pitchFamily="34" charset="-120"/>
                        </a:rPr>
                        <a:t>المساهمة في نشر ثقافة الابتكار الرقمي وتطوير المهارات الرقمية لدى المتعلمين</a:t>
                      </a:r>
                      <a:endParaRPr lang="ar-SA" sz="85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04352B"/>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اجتماعات لجنة التميز</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اجتماعات لجنة التميز</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٤٧</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اللجنة الإدارية</a:t>
            </a:r>
            <a:endParaRPr lang="ar-SA" sz="12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المدرسة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اللجنة الإدارية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مناقشة الخطة التشغيلية للمدرسة وتحديد أولويات التحسين وتوزيع المهام والمسؤوليات ومتابعة مؤشرات الأداء.</a:t>
            </a:r>
            <a:endParaRPr lang="ar-SA" sz="980" dirty="0"/>
          </a:p>
        </p:txBody>
      </p:sp>
      <p:graphicFrame>
        <p:nvGraphicFramePr>
          <p:cNvPr id="101"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اعتماد القضايا الملحة وأولويات التحسين.</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مناقشة نتائج التقويم الخارجي والتقويم الذاتي وتحليل واقع المدرسة وتحديد القضايا الملحة وأولويات التحسين.</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استعراض نتائج تحليل الواقع (SWOT).</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التركيز على تحسين مؤشرات التدريس ونواتج التعلم.</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تحديد المجالات ذات الأولوية في الخطة التشغيلية.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أولويات الخطة التشغيلية.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متابعة تنفيذ المهام وفق الخطة الزمنية.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اعتماد فرق العمل وتوزيع المهام والمسؤوليات.</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اعتماد فرق العمل واللجان.</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تنفيذ البرامج وفق مؤشرات الأداء المستهدفة.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مناقشة البرامج والمبادرات المرتبطة بالخطة التشغيلية.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اعتماد البرامج والمبادرات التشغيلية.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قياس الأثر وإعداد تقارير الإنجاز والتحسين المستمر.</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تحديد آليات المتابعة والتقويم ورفع التقارير الدورية.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آليات المتابعة والتقويم.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51"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اجتماعات لجنة التميز</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اجتماعات لجنة التميز</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٤٨</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الهيئة التعليمية</a:t>
            </a:r>
            <a:endParaRPr lang="ar-SA" sz="12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قاعة الاجتماعات</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الهيئة التعليمية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الاجتماع مع الهيئة التعليمية (المعلمات) وشرح الخطة التشغيلية وأهداف المدرسة وتوزيع المهام والمسؤوليات.</a:t>
            </a:r>
            <a:endParaRPr lang="ar-SA" sz="980" dirty="0"/>
          </a:p>
        </p:txBody>
      </p:sp>
      <p:graphicFrame>
        <p:nvGraphicFramePr>
          <p:cNvPr id="103"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تعزيز الالتزام بتنفيذ البرامج والمبادرات الواردة في الخطة التشغيلية.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جرى استعراض الخطة التشغيلية وأبرز مستهدفاتها للعام الدراسي ومناقشة أدوار الهيئة التعليمية في تنفيذها.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التعريف بالخطة التشغيلية ومستهدفاتها.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الالتزام بالأنظمة والتعليمات بما يحقق جودة الأداء المدرسي.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توضيح الأنظمة والتعليمات المنظمة للعمل المدرسي وآليات تطبيقها خلال العام الدراسي.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التعليمات والتنظيمات المدرسية.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متابعة تنفيذ المهام الموكلة لكل عضو وفق الخطة الزمنية المعتمدة.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إقرار تشكيل اللجان المدرسية وتوزيع المهام وفق التخصصات والاحتياجات التشغيلية.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اعتماد اللجان وتوزيع المسؤوليات.</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توثيق الإنجازات ورفع تقارير المتابعة بشكل منتظم.</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مناقشة أساليب المتابعة وقياس مستوى الإنجاز وآلية رفع التقارير الدورية.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استعراض آليات المتابعة والتقويم.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العمل على رفع نواتج التعلم وتحسين مؤشرات الأداء المدرسي.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استعراض مؤشرات الأداء المستهدفة ومناقشة دور المعلمات في تحسين نتائجها.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مؤشرات الأداء المستهدفة.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54"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اجتماعات لجنة التميز</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اجتماعات لجنة التميز</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٤٩</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لجنة التوجيه والإرشاد</a:t>
            </a:r>
            <a:endParaRPr lang="ar-SA" sz="12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لجنة التوجيه والإرشاد</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الاجتماع مع لجنة التوجيه والإرشاد لمناقشة الخطة التشغيلية وتحديد الأدوار والمسؤوليات والبرامج الإرشادية.</a:t>
            </a:r>
            <a:endParaRPr lang="ar-SA" sz="980" dirty="0"/>
          </a:p>
        </p:txBody>
      </p:sp>
      <p:graphicFrame>
        <p:nvGraphicFramePr>
          <p:cNvPr id="105"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أعمال اللجنة</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الالتزام بتنفيذ البرامج الإرشادية وفق الخطة المعتمدة.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استعرضت اللجنة أهدافها وأدوارها في دعم تنفيذ الخطة التشغيلية وتحقيق مستهدفاتها.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أهداف لجنة التوجيه والإرشاد وعلاقتها بالخطة التشغيلية.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تعزيز البرامج الوقائية والعلاجية وفق احتياجات الطالبات.</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مناقشة مجالات العمل الإرشادي وتحديد الأولويات والاحتياجات الطلابية.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تحديد مجالات العمل الرئيسة للجنة التوجيه والإرشاد.</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تفعيل العمل التشاركي بين أعضاء اللجنة لتحقيق الأهداف.</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إقرار تشكيل اللجنة وتحديد مسؤوليات كل عضو وفق اختصاصه.</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اعتماد تشكيل اللجنة وتوزيع الأدوار.</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إعداد تقارير دورية عن الإنجازات والمعالجات المنفذة.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ناقشت اللجنة آليات تنفيذ البرامج الإرشادية ومتابعة نتائجها.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تنظيم أعمال اللجنة وآليات التنفيذ والمتابعة.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تعزيز الشراكة مع الأسرة وتفعيل البرامج الداعمة للسلوك الإيجابي والتحصيل الدراسي.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استعراض إجراءات متابعة الحالات الطلابية وآليات تقديم الدعم المناسب لها.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متابعة الحالات الطلابية والخدمات الإرشادية المقدمة.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57"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اجتماعات لجنة التميز</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اجتماعات لجنة التميز</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٥٠</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لجنة النشاط الطلابي</a:t>
            </a:r>
            <a:endParaRPr lang="ar-SA" sz="125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لجنة النشاط الطلابي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الاجتماع مع لجنة النشاط الطلابي لمناقشة خطة النشاط الطلابي وتوزيع المهام والمسؤوليات وتنفيذ البرامج والفعاليات الطلابية.</a:t>
            </a:r>
            <a:endParaRPr lang="ar-SA" sz="980" dirty="0"/>
          </a:p>
        </p:txBody>
      </p:sp>
      <p:graphicFrame>
        <p:nvGraphicFramePr>
          <p:cNvPr id="107"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أعمال اللجنة</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الالتزام بتنفيذ برامج النشاط وفق الخطة التشغيلية المعتمدة.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ناقشت اللجنة دور النشاط الطلابي في دعم الخطة التشغيلية وتحقيق مستهدفاتها التربوية والتعليمية.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مراجعة أهداف النشاط الطلابي وخطة التنفيذ.</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تنويع البرامج والأنشطة بما يلبي احتياجات الطالبات وميولهن.</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عرض البرامج والفعاليات المقترحة ومناقشة آليات تنفيذها خلال العام الدراسي.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استعراض مجالات وبرامج النشاط الطلابي.</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تفعيل مشاركة الطالبات في المسابقات والفعاليات المختلفة.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اعتماد أعضاء اللجنة وتحديد مسؤوليات كل عضو وفق اختصاصه.</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تشكيل اللجنة وتوزيع المهام.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توثيق الأنشطة وقياس أثرها على تنمية مهارات الطالبات.</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استعرضت اللجنة أساليب تنفيذ البرامج وطرق متابعة مؤشرات الأداء والإنجاز.</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آليات تنفيذ الأنشطة ومتابعتها.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الاستفادة من الشراكات المجتمعية في تنفيذ البرامج النوعية.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مناقشة سبل دعم الأنشطة الطلابية من خلال الشراكات المجتمعية والأسرية.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بحث فرص التعاون مع الأسرة والمجتمع.</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60"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1945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1945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1945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1945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19456">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اجتماعات لجنة التميز</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اجتماعات لجنة التميز</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٥١</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لجنة الأمن والسلامة</a:t>
            </a:r>
            <a:endParaRPr lang="ar-SA" sz="12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لجنة الأمن والسلامة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الاجتماع مع لجنة الأمن والسلامة لمناقشة خطة الأمن والسلامة بالمدرسة وتوزيع المهام والمسؤوليات ومتابعة إجراءات الوقاية والسلامة.</a:t>
            </a:r>
            <a:endParaRPr lang="ar-SA" sz="980" dirty="0"/>
          </a:p>
        </p:txBody>
      </p:sp>
      <p:graphicFrame>
        <p:nvGraphicFramePr>
          <p:cNvPr id="109"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أعمال اللجنة</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الالتزام بتطبيق إجراءات الأمن والسلامة في جميع مرافق المدرسة.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استعرضت اللجنة دورها في تعزيز بيئة مدرسية آمنة ودعم متطلبات الخطة التشغيلية.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أهداف لجنة الأمن والسلامة وخطة العمل المعتمدة.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تنفيذ برامج التوعية والتدريب على الإخلاء والطوارئ.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مراجعة إجراءات السلامة وخطط الإخلاء وآليات التعامل مع الحالات الطارئة.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استعراض متطلبات الأمن والسلامة وخطط الطوارئ.</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متابعة جاهزية وسائل الأمن والسلامة بشكل دوري.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تحديد مسؤوليات أعضاء اللجنة وتوزيع الأدوار وفق اختصاصات العمل.</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اعتماد تشكيل اللجنة وتوزيع المهام.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رفع الملاحظات والاحتياجات المتعلقة بالأمن والسلامة أولًا بأول.</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ناقشت اللجنة احتياجات الصيانة وآليات متابعة المرافق والتجهيزات المدرسية.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الصيانة الوقائية للمرافق والتجهيزات.</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إعداد تقارير دورية عن مستوى تطبيق الأمن والسلامة بالمدرسة.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اعتماد آليات المتابعة الدورية ورصد مستوى الالتزام بإجراءات السلامة.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تحديد إجراءات المتابعة والتقويم.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63"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اجتماعات لجنة التميز</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اجتماعات لجنة التميز</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٥٢</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لجنة التميز ضمن الخطة التشغيلية للفصل الأول</a:t>
            </a:r>
            <a:endParaRPr lang="ar-SA" sz="125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لجنة التميز ضمن الخطة التشغيلية للفصل الأول</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نشر ثقافة التميز المؤسسي في المدرسة وتفعيل مبادرات التميز وفق الخطة التشغيلية بما يسهم في تحسين الأداء المدرسي وتحقيق مستهدفات المدرسة.</a:t>
            </a:r>
            <a:endParaRPr lang="ar-SA" sz="980" dirty="0"/>
          </a:p>
        </p:txBody>
      </p:sp>
      <p:graphicFrame>
        <p:nvGraphicFramePr>
          <p:cNvPr id="111"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أعمال اللجنة</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تعزيز ثقافة التميز بين منسوبات المدرسة وتبني أفضل الممارسات.</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استعرضت اللجنة أهمية التميز المؤسسي وأثره في تطوير الأداء ورفع كفاءة العمل المدرسي.</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التعريف بمبادئ التميز المؤسسي وأهدافه.</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توحيد الجهود نحو تطبيق معايير التميز في البرامج والممارسات المدرسية.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تمت مراجعة معايير التميز ومجالات تطبيقها داخل المدرسة لتحقيق الأداء المستهدف.</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معايير التميز ومتطلبات تطبيقها.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الالتزام بتنفيذ المهام والمسؤوليات وفق الخطة الزمنية المحددة.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توزيع المهام بين أعضاء اللجنة وفق الاختصاصات ومجالات العمل المعتمدة.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تحديد أدوار أعضاء اللجنة ومسؤولياتهم.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تنفيذ المبادرات التطويرية ومتابعة أثرها على مؤشرات الأداء.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ناقشت اللجنة المبادرات المقترحة وفرص تطوير الأداء المؤسسي وتحسين النتائج.</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استعراض المبادرات والبرامج الداعمة للتميز.</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الاستمرار في توثيق الإنجازات وتحديث ملفات الأدلة بصورة دورية.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40" dirty="0">
                          <a:solidFill>
                            <a:srgbClr val="34473F"/>
                          </a:solidFill>
                          <a:latin typeface="Tajawal" pitchFamily="34" charset="0"/>
                          <a:ea typeface="Tajawal" pitchFamily="34" charset="-122"/>
                          <a:cs typeface="Tajawal" pitchFamily="34" charset="-120"/>
                        </a:rPr>
                        <a:t>تم اعتماد إجراءات متابعة الإنجازات وحفظ الشواهد والأدلة الداعمة لمجالات التميز.</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مناقشة آليات المتابعة والتوثيق.</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66"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اجتماعات لجنة التميز</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اجتماعات لجنة التميز</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٥٣</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لجنة التميز ضمن الخطة التشغيلية</a:t>
            </a:r>
            <a:endParaRPr lang="ar-SA" sz="125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a:t>
            </a:r>
            <a:endParaRPr lang="ar-SA" sz="980" dirty="0"/>
          </a:p>
        </p:txBody>
      </p:sp>
      <p:graphicFrame>
        <p:nvGraphicFramePr>
          <p:cNvPr id="113"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أعمال اللجنة</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69"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سجل الاجتماعات</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اجتماعات لجنة التميز</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اجتماعات لجنة التميز</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٥٤</a:t>
            </a:r>
            <a:endParaRPr lang="ar-SA" sz="900" dirty="0"/>
          </a:p>
        </p:txBody>
      </p:sp>
      <p:sp>
        <p:nvSpPr>
          <p:cNvPr id="8" name="Shape 4"/>
          <p:cNvSpPr/>
          <p:nvPr/>
        </p:nvSpPr>
        <p:spPr>
          <a:xfrm>
            <a:off x="11652199" y="1115568"/>
            <a:ext cx="82296" cy="82296"/>
          </a:xfrm>
          <a:prstGeom prst="rect">
            <a:avLst/>
          </a:prstGeom>
          <a:solidFill>
            <a:srgbClr val="0089A1"/>
          </a:solidFill>
          <a:ln/>
        </p:spPr>
      </p:sp>
      <p:sp>
        <p:nvSpPr>
          <p:cNvPr id="9" name="Text 5"/>
          <p:cNvSpPr/>
          <p:nvPr/>
        </p:nvSpPr>
        <p:spPr>
          <a:xfrm>
            <a:off x="5516575" y="1024128"/>
            <a:ext cx="603504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محضر اجتماع لجنة التميز ضمن الخطة التشغيلية للفصل الثاني</a:t>
            </a:r>
            <a:endParaRPr lang="ar-SA" sz="12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767535"/>
                <a:gridCol w="2743200"/>
                <a:gridCol w="3291840"/>
                <a:gridCol w="2103120"/>
                <a:gridCol w="1371600"/>
              </a:tblGrid>
              <a:tr h="310896">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عدد الحضور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مقر الاجتماع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الفئة المستهدفة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التاريخ</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اليوم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65760">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b="1" dirty="0">
                          <a:solidFill>
                            <a:srgbClr val="04352B"/>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……/……/١٤٤٨هـ</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c>
                  <a:txBody>
                    <a:bodyPr/>
                    <a:lstStyle/>
                    <a:p>
                      <a:pPr rtl="1" algn="ctr" indent="0" marL="0">
                        <a:buNone/>
                      </a:pPr>
                      <a:r>
                        <a:rPr lang="ar-SA" altLang="en-US" sz="900" dirty="0">
                          <a:solidFill>
                            <a:srgbClr val="34473F"/>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tcPr>
                </a:tc>
              </a:tr>
            </a:tbl>
          </a:graphicData>
        </a:graphic>
      </p:graphicFrame>
      <p:sp>
        <p:nvSpPr>
          <p:cNvPr id="11" name="Shape 6"/>
          <p:cNvSpPr/>
          <p:nvPr/>
        </p:nvSpPr>
        <p:spPr>
          <a:xfrm>
            <a:off x="457200" y="2157984"/>
            <a:ext cx="11277295" cy="402336"/>
          </a:xfrm>
          <a:prstGeom prst="roundRect">
            <a:avLst>
              <a:gd name="adj" fmla="val 20455"/>
            </a:avLst>
          </a:prstGeom>
          <a:solidFill>
            <a:srgbClr val="EAF5F8"/>
          </a:solidFill>
          <a:ln w="9525">
            <a:solidFill>
              <a:srgbClr val="CFE6EC"/>
            </a:solidFill>
            <a:prstDash val="solid"/>
          </a:ln>
        </p:spPr>
      </p:sp>
      <p:sp>
        <p:nvSpPr>
          <p:cNvPr id="12" name="Text 7"/>
          <p:cNvSpPr/>
          <p:nvPr/>
        </p:nvSpPr>
        <p:spPr>
          <a:xfrm>
            <a:off x="676656" y="2157984"/>
            <a:ext cx="10838383" cy="402336"/>
          </a:xfrm>
          <a:prstGeom prst="rect">
            <a:avLst/>
          </a:prstGeom>
          <a:noFill/>
          <a:ln/>
        </p:spPr>
        <p:txBody>
          <a:bodyPr wrap="square" lIns="0" tIns="0" rIns="0" bIns="0" rtlCol="0" anchor="ctr"/>
          <a:lstStyle/>
          <a:p>
            <a:pPr algn="r" indent="0" marL="0">
              <a:buNone/>
            </a:pPr>
            <a:r>
              <a:rPr lang="ar-SA" altLang="en-US" sz="980" b="1" dirty="0">
                <a:solidFill>
                  <a:srgbClr val="095242"/>
                </a:solidFill>
                <a:latin typeface="Tajawal" pitchFamily="34" charset="0"/>
                <a:ea typeface="Tajawal" pitchFamily="34" charset="-122"/>
                <a:cs typeface="Tajawal" pitchFamily="34" charset="-120"/>
              </a:rPr>
              <a:t>الهدف من الاجتماع:   </a:t>
            </a:r>
            <a:pPr algn="r" indent="0" marL="0">
              <a:buNone/>
            </a:pPr>
            <a:r>
              <a:rPr lang="ar-SA" altLang="en-US" sz="980" dirty="0">
                <a:solidFill>
                  <a:srgbClr val="0B4A56"/>
                </a:solidFill>
                <a:latin typeface="Tajawal" pitchFamily="34" charset="0"/>
                <a:ea typeface="Tajawal" pitchFamily="34" charset="-122"/>
                <a:cs typeface="Tajawal" pitchFamily="34" charset="-120"/>
              </a:rPr>
              <a:t>……………………………………………………………………………………</a:t>
            </a:r>
            <a:endParaRPr lang="ar-SA" sz="980" dirty="0"/>
          </a:p>
        </p:txBody>
      </p:sp>
      <p:graphicFrame>
        <p:nvGraphicFramePr>
          <p:cNvPr id="115" name="Table 1"/>
          <p:cNvGraphicFramePr>
            <a:graphicFrameLocks noGrp="1"/>
          </p:cNvGraphicFramePr>
          <p:nvPr>
            <p:extLst>
              <p:ext uri="{D42A27DB-BD31-4B8C-83A1-F6EECF244321}">
                <p14:modId xmlns:p14="http://schemas.microsoft.com/office/powerpoint/2010/main" val="1579011935"/>
              </p:ext>
            </p:extLst>
          </p:nvPr>
        </p:nvGraphicFramePr>
        <p:xfrm>
          <a:off x="457200" y="2688336"/>
          <a:ext cx="11277295" cy="914400"/>
        </p:xfrm>
        <a:graphic>
          <a:graphicData uri="http://schemas.openxmlformats.org/drawingml/2006/table">
            <a:tbl>
              <a:tblPr/>
              <a:tblGrid>
                <a:gridCol w="3489808"/>
                <a:gridCol w="4587088"/>
                <a:gridCol w="3200400"/>
              </a:tblGrid>
              <a:tr h="292608">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التوصيات</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محضر الأعمال</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60" b="1" dirty="0">
                          <a:solidFill>
                            <a:srgbClr val="FFFFFF"/>
                          </a:solidFill>
                          <a:latin typeface="Tajawal" pitchFamily="34" charset="0"/>
                          <a:ea typeface="Tajawal" pitchFamily="34" charset="-122"/>
                          <a:cs typeface="Tajawal" pitchFamily="34" charset="-120"/>
                        </a:rPr>
                        <a:t>جدول أعمال اللجنة</a:t>
                      </a:r>
                      <a:endParaRPr lang="ar-SA" sz="9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02336">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graphicFrame>
        <p:nvGraphicFramePr>
          <p:cNvPr id="172" name="Table 2"/>
          <p:cNvGraphicFramePr>
            <a:graphicFrameLocks noGrp="1"/>
          </p:cNvGraphicFramePr>
          <p:nvPr>
            <p:extLst>
              <p:ext uri="{D42A27DB-BD31-4B8C-83A1-F6EECF244321}">
                <p14:modId xmlns:p14="http://schemas.microsoft.com/office/powerpoint/2010/main" val="1579011935"/>
              </p:ext>
            </p:extLst>
          </p:nvPr>
        </p:nvGraphicFramePr>
        <p:xfrm>
          <a:off x="5973775" y="4956048"/>
          <a:ext cx="5760720" cy="914400"/>
        </p:xfrm>
        <a:graphic>
          <a:graphicData uri="http://schemas.openxmlformats.org/drawingml/2006/table">
            <a:tbl>
              <a:tblPr/>
              <a:tblGrid>
                <a:gridCol w="2103120"/>
                <a:gridCol w="3108960"/>
                <a:gridCol w="548640"/>
              </a:tblGrid>
              <a:tr h="256032">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التوقيع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الاسم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م</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167205">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bl>
          </a:graphicData>
        </a:graphic>
      </p:graphicFrame>
      <p:sp>
        <p:nvSpPr>
          <p:cNvPr id="15" name="Shape 8"/>
          <p:cNvSpPr/>
          <p:nvPr/>
        </p:nvSpPr>
        <p:spPr>
          <a:xfrm>
            <a:off x="457200" y="5230368"/>
            <a:ext cx="5150815" cy="914400"/>
          </a:xfrm>
          <a:prstGeom prst="roundRect">
            <a:avLst>
              <a:gd name="adj" fmla="val 9000"/>
            </a:avLst>
          </a:prstGeom>
          <a:solidFill>
            <a:srgbClr val="F2F8F5"/>
          </a:solidFill>
          <a:ln w="9525">
            <a:solidFill>
              <a:srgbClr val="E3EDE8"/>
            </a:solidFill>
            <a:prstDash val="solid"/>
          </a:ln>
        </p:spPr>
      </p:sp>
      <p:sp>
        <p:nvSpPr>
          <p:cNvPr id="16" name="Text 9"/>
          <p:cNvSpPr/>
          <p:nvPr/>
        </p:nvSpPr>
        <p:spPr>
          <a:xfrm>
            <a:off x="731520" y="5340096"/>
            <a:ext cx="4602175" cy="292608"/>
          </a:xfrm>
          <a:prstGeom prst="rect">
            <a:avLst/>
          </a:prstGeom>
          <a:noFill/>
          <a:ln/>
        </p:spPr>
        <p:txBody>
          <a:bodyPr wrap="square" lIns="0" tIns="0" rIns="0" bIns="0" rtlCol="0" anchor="t"/>
          <a:lstStyle/>
          <a:p>
            <a:pPr rtl="1" algn="r" indent="0" marL="0">
              <a:buNone/>
            </a:pPr>
            <a:r>
              <a:rPr lang="ar-SA" altLang="en-US" sz="1200" b="1" dirty="0">
                <a:solidFill>
                  <a:srgbClr val="04352B"/>
                </a:solidFill>
                <a:latin typeface="Tajawal" pitchFamily="34" charset="0"/>
                <a:ea typeface="Tajawal" pitchFamily="34" charset="-122"/>
                <a:cs typeface="Tajawal" pitchFamily="34" charset="-120"/>
              </a:rPr>
              <a:t>يعتمد / مديرة المدرسة</a:t>
            </a:r>
            <a:endParaRPr lang="ar-SA" sz="1200" dirty="0"/>
          </a:p>
        </p:txBody>
      </p:sp>
      <p:sp>
        <p:nvSpPr>
          <p:cNvPr id="17" name="Text 10"/>
          <p:cNvSpPr/>
          <p:nvPr/>
        </p:nvSpPr>
        <p:spPr>
          <a:xfrm>
            <a:off x="731520" y="5669280"/>
            <a:ext cx="4602175" cy="292608"/>
          </a:xfrm>
          <a:prstGeom prst="rect">
            <a:avLst/>
          </a:prstGeom>
          <a:noFill/>
          <a:ln/>
        </p:spPr>
        <p:txBody>
          <a:bodyPr wrap="square" lIns="0" tIns="0" rIns="0" bIns="0" rtlCol="0" anchor="t"/>
          <a:lstStyle/>
          <a:p>
            <a:pPr rtl="1" algn="r" indent="0" marL="0">
              <a:buNone/>
            </a:pPr>
            <a:r>
              <a:rPr lang="ar-SA" altLang="en-US" sz="1200" dirty="0">
                <a:solidFill>
                  <a:srgbClr val="8A9A93"/>
                </a:solidFill>
                <a:latin typeface="Tajawal" pitchFamily="34" charset="0"/>
                <a:ea typeface="Tajawal" pitchFamily="34" charset="-122"/>
                <a:cs typeface="Tajawal" pitchFamily="34" charset="-120"/>
              </a:rPr>
              <a:t>……………………………………………</a:t>
            </a:r>
            <a:endParaRPr lang="ar-SA"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tmp/claude-0/-home-user-Mobile1/ab9bbf47-b054-5f6e-be59-70476e095ce8/scratchpad/assets/bg_divide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white.png">    </p:cNvPr>
          <p:cNvPicPr>
            <a:picLocks noChangeAspect="1"/>
          </p:cNvPicPr>
          <p:nvPr/>
        </p:nvPicPr>
        <p:blipFill>
          <a:blip r:embed="rId2"/>
          <a:stretch>
            <a:fillRect/>
          </a:stretch>
        </p:blipFill>
        <p:spPr>
          <a:xfrm>
            <a:off x="10682935" y="457200"/>
            <a:ext cx="1051560" cy="812902"/>
          </a:xfrm>
          <a:prstGeom prst="rect">
            <a:avLst/>
          </a:prstGeom>
        </p:spPr>
      </p:pic>
      <p:sp>
        <p:nvSpPr>
          <p:cNvPr id="4" name="Text 0"/>
          <p:cNvSpPr/>
          <p:nvPr/>
        </p:nvSpPr>
        <p:spPr>
          <a:xfrm>
            <a:off x="594360" y="1234440"/>
            <a:ext cx="4023360" cy="3291840"/>
          </a:xfrm>
          <a:prstGeom prst="rect">
            <a:avLst/>
          </a:prstGeom>
          <a:noFill/>
          <a:ln/>
        </p:spPr>
        <p:txBody>
          <a:bodyPr wrap="square" lIns="0" tIns="0" rIns="0" bIns="0" rtlCol="0" anchor="ctr"/>
          <a:lstStyle/>
          <a:p>
            <a:pPr rtl="1" algn="l" indent="0" marL="0">
              <a:buNone/>
            </a:pPr>
            <a:r>
              <a:rPr lang="ar-SA" altLang="en-US" sz="16500" dirty="0">
                <a:solidFill>
                  <a:srgbClr val="0C6553"/>
                </a:solidFill>
                <a:latin typeface="Tajawal ExtraBold" pitchFamily="34" charset="0"/>
                <a:ea typeface="Tajawal ExtraBold" pitchFamily="34" charset="-122"/>
                <a:cs typeface="Tajawal ExtraBold" pitchFamily="34" charset="-120"/>
              </a:rPr>
              <a:t>04</a:t>
            </a:r>
            <a:endParaRPr lang="ar-SA" sz="16500" dirty="0"/>
          </a:p>
        </p:txBody>
      </p:sp>
      <p:sp>
        <p:nvSpPr>
          <p:cNvPr id="5" name="Text 1"/>
          <p:cNvSpPr/>
          <p:nvPr/>
        </p:nvSpPr>
        <p:spPr>
          <a:xfrm>
            <a:off x="4967935" y="2084832"/>
            <a:ext cx="6766560" cy="292608"/>
          </a:xfrm>
          <a:prstGeom prst="rect">
            <a:avLst/>
          </a:prstGeom>
          <a:noFill/>
          <a:ln/>
        </p:spPr>
        <p:txBody>
          <a:bodyPr wrap="square" lIns="0" tIns="0" rIns="0" bIns="0" rtlCol="0" anchor="t"/>
          <a:lstStyle/>
          <a:p>
            <a:pPr rtl="1" algn="r" indent="0" marL="0">
              <a:buNone/>
            </a:pPr>
            <a:r>
              <a:rPr lang="ar-SA" altLang="en-US" sz="1200" b="1" spc="150" kern="0" dirty="0">
                <a:solidFill>
                  <a:srgbClr val="C9A45C"/>
                </a:solidFill>
                <a:latin typeface="Tajawal" pitchFamily="34" charset="0"/>
                <a:ea typeface="Tajawal" pitchFamily="34" charset="-122"/>
                <a:cs typeface="Tajawal" pitchFamily="34" charset="-120"/>
              </a:rPr>
              <a:t>الجزء الرابع</a:t>
            </a:r>
            <a:endParaRPr lang="ar-SA" sz="1200" dirty="0"/>
          </a:p>
        </p:txBody>
      </p:sp>
      <p:sp>
        <p:nvSpPr>
          <p:cNvPr id="6" name="Text 2"/>
          <p:cNvSpPr/>
          <p:nvPr/>
        </p:nvSpPr>
        <p:spPr>
          <a:xfrm>
            <a:off x="3687775" y="2395728"/>
            <a:ext cx="8046720" cy="914400"/>
          </a:xfrm>
          <a:prstGeom prst="rect">
            <a:avLst/>
          </a:prstGeom>
          <a:noFill/>
          <a:ln/>
        </p:spPr>
        <p:txBody>
          <a:bodyPr wrap="square" lIns="0" tIns="0" rIns="0" bIns="0" rtlCol="0" anchor="ctr"/>
          <a:lstStyle/>
          <a:p>
            <a:pPr rtl="1" algn="r" indent="0" marL="0">
              <a:buNone/>
            </a:pPr>
            <a:r>
              <a:rPr lang="ar-SA" altLang="en-US" sz="3800" dirty="0">
                <a:solidFill>
                  <a:srgbClr val="FFFFFF"/>
                </a:solidFill>
                <a:latin typeface="Tajawal ExtraBold" pitchFamily="34" charset="0"/>
                <a:ea typeface="Tajawal ExtraBold" pitchFamily="34" charset="-122"/>
                <a:cs typeface="Tajawal ExtraBold" pitchFamily="34" charset="-120"/>
              </a:rPr>
              <a:t>أدوات تطوير الخطة</a:t>
            </a:r>
            <a:endParaRPr lang="ar-SA" sz="3800" dirty="0"/>
          </a:p>
        </p:txBody>
      </p:sp>
      <p:sp>
        <p:nvSpPr>
          <p:cNvPr id="7" name="Shape 3"/>
          <p:cNvSpPr/>
          <p:nvPr/>
        </p:nvSpPr>
        <p:spPr>
          <a:xfrm>
            <a:off x="9997135" y="3474720"/>
            <a:ext cx="1737360" cy="0"/>
          </a:xfrm>
          <a:prstGeom prst="line">
            <a:avLst/>
          </a:prstGeom>
          <a:noFill/>
          <a:ln w="15875">
            <a:solidFill>
              <a:srgbClr val="C9A45C"/>
            </a:solidFill>
            <a:prstDash val="solid"/>
          </a:ln>
        </p:spPr>
      </p:sp>
      <p:sp>
        <p:nvSpPr>
          <p:cNvPr id="8" name="Shape 4"/>
          <p:cNvSpPr/>
          <p:nvPr/>
        </p:nvSpPr>
        <p:spPr>
          <a:xfrm>
            <a:off x="11643055" y="3867912"/>
            <a:ext cx="91440" cy="91440"/>
          </a:xfrm>
          <a:prstGeom prst="rect">
            <a:avLst/>
          </a:prstGeom>
          <a:solidFill>
            <a:srgbClr val="C9A45C"/>
          </a:solidFill>
          <a:ln/>
        </p:spPr>
      </p:sp>
      <p:sp>
        <p:nvSpPr>
          <p:cNvPr id="9" name="Text 5"/>
          <p:cNvSpPr/>
          <p:nvPr/>
        </p:nvSpPr>
        <p:spPr>
          <a:xfrm>
            <a:off x="8168335" y="3749040"/>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خط الأساس والمستهدفات الرقمية</a:t>
            </a:r>
            <a:endParaRPr lang="ar-SA" sz="1150" dirty="0"/>
          </a:p>
        </p:txBody>
      </p:sp>
      <p:sp>
        <p:nvSpPr>
          <p:cNvPr id="10" name="Shape 6"/>
          <p:cNvSpPr/>
          <p:nvPr/>
        </p:nvSpPr>
        <p:spPr>
          <a:xfrm>
            <a:off x="11643055" y="4270248"/>
            <a:ext cx="91440" cy="91440"/>
          </a:xfrm>
          <a:prstGeom prst="rect">
            <a:avLst/>
          </a:prstGeom>
          <a:solidFill>
            <a:srgbClr val="C9A45C"/>
          </a:solidFill>
          <a:ln/>
        </p:spPr>
      </p:sp>
      <p:sp>
        <p:nvSpPr>
          <p:cNvPr id="11" name="Text 7"/>
          <p:cNvSpPr/>
          <p:nvPr/>
        </p:nvSpPr>
        <p:spPr>
          <a:xfrm>
            <a:off x="8168335" y="4151376"/>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سجل مخاطر تنفيذ الخطة</a:t>
            </a:r>
            <a:endParaRPr lang="ar-SA" sz="1150" dirty="0"/>
          </a:p>
        </p:txBody>
      </p:sp>
      <p:sp>
        <p:nvSpPr>
          <p:cNvPr id="12" name="Shape 8"/>
          <p:cNvSpPr/>
          <p:nvPr/>
        </p:nvSpPr>
        <p:spPr>
          <a:xfrm>
            <a:off x="11643055" y="4672584"/>
            <a:ext cx="91440" cy="91440"/>
          </a:xfrm>
          <a:prstGeom prst="rect">
            <a:avLst/>
          </a:prstGeom>
          <a:solidFill>
            <a:srgbClr val="C9A45C"/>
          </a:solidFill>
          <a:ln/>
        </p:spPr>
      </p:sp>
      <p:sp>
        <p:nvSpPr>
          <p:cNvPr id="13" name="Text 9"/>
          <p:cNvSpPr/>
          <p:nvPr/>
        </p:nvSpPr>
        <p:spPr>
          <a:xfrm>
            <a:off x="8168335" y="4553712"/>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الميزانية التشغيلية التقديرية</a:t>
            </a:r>
            <a:endParaRPr lang="ar-SA" sz="1150" dirty="0"/>
          </a:p>
        </p:txBody>
      </p:sp>
      <p:sp>
        <p:nvSpPr>
          <p:cNvPr id="14" name="Shape 10"/>
          <p:cNvSpPr/>
          <p:nvPr/>
        </p:nvSpPr>
        <p:spPr>
          <a:xfrm>
            <a:off x="11643055" y="5074920"/>
            <a:ext cx="91440" cy="91440"/>
          </a:xfrm>
          <a:prstGeom prst="rect">
            <a:avLst/>
          </a:prstGeom>
          <a:solidFill>
            <a:srgbClr val="C9A45C"/>
          </a:solidFill>
          <a:ln/>
        </p:spPr>
      </p:sp>
      <p:sp>
        <p:nvSpPr>
          <p:cNvPr id="15" name="Text 11"/>
          <p:cNvSpPr/>
          <p:nvPr/>
        </p:nvSpPr>
        <p:spPr>
          <a:xfrm>
            <a:off x="8168335" y="4956048"/>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المخطط الزمني للبرامج</a:t>
            </a:r>
            <a:endParaRPr lang="ar-SA" sz="1150" dirty="0"/>
          </a:p>
        </p:txBody>
      </p:sp>
      <p:sp>
        <p:nvSpPr>
          <p:cNvPr id="16" name="Shape 12"/>
          <p:cNvSpPr/>
          <p:nvPr/>
        </p:nvSpPr>
        <p:spPr>
          <a:xfrm>
            <a:off x="7848295" y="3867912"/>
            <a:ext cx="91440" cy="91440"/>
          </a:xfrm>
          <a:prstGeom prst="rect">
            <a:avLst/>
          </a:prstGeom>
          <a:solidFill>
            <a:srgbClr val="C9A45C"/>
          </a:solidFill>
          <a:ln/>
        </p:spPr>
      </p:sp>
      <p:sp>
        <p:nvSpPr>
          <p:cNvPr id="17" name="Text 13"/>
          <p:cNvSpPr/>
          <p:nvPr/>
        </p:nvSpPr>
        <p:spPr>
          <a:xfrm>
            <a:off x="4373575" y="3749040"/>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لوحة المتابعة الفصلية</a:t>
            </a:r>
            <a:endParaRPr lang="ar-SA" sz="1150" dirty="0"/>
          </a:p>
        </p:txBody>
      </p:sp>
      <p:sp>
        <p:nvSpPr>
          <p:cNvPr id="18" name="Shape 14"/>
          <p:cNvSpPr/>
          <p:nvPr/>
        </p:nvSpPr>
        <p:spPr>
          <a:xfrm>
            <a:off x="7848295" y="4270248"/>
            <a:ext cx="91440" cy="91440"/>
          </a:xfrm>
          <a:prstGeom prst="rect">
            <a:avLst/>
          </a:prstGeom>
          <a:solidFill>
            <a:srgbClr val="C9A45C"/>
          </a:solidFill>
          <a:ln/>
        </p:spPr>
      </p:sp>
      <p:sp>
        <p:nvSpPr>
          <p:cNvPr id="19" name="Text 15"/>
          <p:cNvSpPr/>
          <p:nvPr/>
        </p:nvSpPr>
        <p:spPr>
          <a:xfrm>
            <a:off x="4373575" y="4151376"/>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مواءمة الخطة مع رؤية ٢٠٣٠</a:t>
            </a:r>
            <a:endParaRPr lang="ar-SA" sz="1150" dirty="0"/>
          </a:p>
        </p:txBody>
      </p:sp>
      <p:sp>
        <p:nvSpPr>
          <p:cNvPr id="20" name="Shape 16"/>
          <p:cNvSpPr/>
          <p:nvPr/>
        </p:nvSpPr>
        <p:spPr>
          <a:xfrm>
            <a:off x="7848295" y="4672584"/>
            <a:ext cx="91440" cy="91440"/>
          </a:xfrm>
          <a:prstGeom prst="rect">
            <a:avLst/>
          </a:prstGeom>
          <a:solidFill>
            <a:srgbClr val="C9A45C"/>
          </a:solidFill>
          <a:ln/>
        </p:spPr>
      </p:sp>
      <p:sp>
        <p:nvSpPr>
          <p:cNvPr id="21" name="Text 17"/>
          <p:cNvSpPr/>
          <p:nvPr/>
        </p:nvSpPr>
        <p:spPr>
          <a:xfrm>
            <a:off x="4373575" y="4553712"/>
            <a:ext cx="3383280" cy="347472"/>
          </a:xfrm>
          <a:prstGeom prst="rect">
            <a:avLst/>
          </a:prstGeom>
          <a:noFill/>
          <a:ln/>
        </p:spPr>
        <p:txBody>
          <a:bodyPr wrap="square" lIns="0" tIns="0" rIns="0" bIns="0" rtlCol="0" anchor="ctr"/>
          <a:lstStyle/>
          <a:p>
            <a:pPr rtl="1" algn="r" indent="0" marL="0">
              <a:buNone/>
            </a:pPr>
            <a:r>
              <a:rPr lang="ar-SA" altLang="en-US" sz="1150" dirty="0">
                <a:solidFill>
                  <a:srgbClr val="D5E7E1"/>
                </a:solidFill>
                <a:latin typeface="Tajawal" pitchFamily="34" charset="0"/>
                <a:ea typeface="Tajawal" pitchFamily="34" charset="-122"/>
                <a:cs typeface="Tajawal" pitchFamily="34" charset="-120"/>
              </a:rPr>
              <a:t>مصفوفة المسؤوليات وخطة التواصل</a:t>
            </a:r>
            <a:endParaRPr lang="ar-SA"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الرابع · أدوات تطوير الخطة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خط الأساس والمستهدفات الرقمية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خط الأساس والمستهدفات</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٥٥</a:t>
            </a:r>
            <a:endParaRPr lang="ar-SA" sz="900" dirty="0"/>
          </a:p>
        </p:txBody>
      </p:sp>
      <p:sp>
        <p:nvSpPr>
          <p:cNvPr id="8" name="Text 4"/>
          <p:cNvSpPr/>
          <p:nvPr/>
        </p:nvSpPr>
        <p:spPr>
          <a:xfrm>
            <a:off x="457200" y="1005840"/>
            <a:ext cx="11277295" cy="475488"/>
          </a:xfrm>
          <a:prstGeom prst="rect">
            <a:avLst/>
          </a:prstGeom>
          <a:noFill/>
          <a:ln/>
        </p:spPr>
        <p:txBody>
          <a:bodyPr wrap="square" lIns="0" tIns="0" rIns="0" bIns="0" rtlCol="0" anchor="t"/>
          <a:lstStyle/>
          <a:p>
            <a:pPr rtl="1" algn="r" indent="0" marL="0">
              <a:lnSpc>
                <a:spcPct val="120000"/>
              </a:lnSpc>
              <a:buNone/>
            </a:pPr>
            <a:r>
              <a:rPr lang="ar-SA" altLang="en-US" sz="1040" dirty="0">
                <a:solidFill>
                  <a:srgbClr val="34473F"/>
                </a:solidFill>
                <a:latin typeface="Tajawal" pitchFamily="34" charset="0"/>
                <a:ea typeface="Tajawal" pitchFamily="34" charset="-122"/>
                <a:cs typeface="Tajawal" pitchFamily="34" charset="-120"/>
              </a:rPr>
              <a:t>لا يمكن ترتيب الأولويات أو قياس الأثر دون خط أساس رقمي. يربط هذا الجدول كل مؤشر بوضعه الحالي ومستهدفه وفجوته وأداة قياسه ودوريتها، ليصبح التحسّن قابلًا للإثبات لا للانطباع.</a:t>
            </a:r>
            <a:endParaRPr lang="ar-SA" sz="104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1591056"/>
          <a:ext cx="11277295" cy="914400"/>
        </p:xfrm>
        <a:graphic>
          <a:graphicData uri="http://schemas.openxmlformats.org/drawingml/2006/table">
            <a:tbl>
              <a:tblPr/>
              <a:tblGrid>
                <a:gridCol w="1218895"/>
                <a:gridCol w="1965960"/>
                <a:gridCol w="1051560"/>
                <a:gridCol w="960120"/>
                <a:gridCol w="1051560"/>
                <a:gridCol w="960120"/>
                <a:gridCol w="3657600"/>
                <a:gridCol w="411480"/>
              </a:tblGrid>
              <a:tr h="329184">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دورية القياس</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أداة القياس</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الفجوة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المستهدف</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خط الأساس</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رقم المؤشر</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المؤشر</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فصلي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نتائج التقويم الذاتي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١٢٫٢٥ نقطة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٨٥٪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089A1"/>
                          </a:solidFill>
                          <a:latin typeface="Tajawal" pitchFamily="34" charset="0"/>
                          <a:ea typeface="Tajawal" pitchFamily="34" charset="-122"/>
                          <a:cs typeface="Tajawal" pitchFamily="34" charset="-120"/>
                        </a:rPr>
                        <a:t>٧٢٫٧٥٪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‎2-1-1-9‎</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توفير فرص متكافئة للتعلم لجميع المتعلّمين</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شهري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تقارير المنصة التعليمية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٨٠٪</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‎2-1-1-4‎</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تفعيل التعلم الإلكتروني لدعم تعلّم الطلاب</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فصلي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اختبار مهارات رقمية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٨٠٪</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‎2-1-1-10‎</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تنمية المهارات الرقمية لدى المتعلّمين</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سنوي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نتائج الاختبارات الوطنية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٨٠٪</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‎3-1-1-10‎</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نتائج المتعلمين في الاختبارات التحصيلية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سنوي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نتائج الاختبارات الوطنية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٨٠٪</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‎3-1-1-11‎</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نتائج المتعلمين في اختبارات القدرات العامة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شهري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سجل الانضباط والمواظبة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٩٠٪</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‎1-2-1-2‎</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نشر قواعد السلوك والمواظبة ومتابعة تطبيقها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فصلي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مقياس الاتجاهات الطلابي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٨٥٪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‎3-2-1-2‎</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إظهار المتعلمين اتجاهات إيجابية نحو ذواتهم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فصلي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سجل اللقاءات والحضور</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٨٥٪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‎1-3-1-2‎</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تعزيز مشاركة الأسرة في تعلّم أبنائها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٨</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9184">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فصلي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سجل الأنشطة وأثرها</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8A9A93"/>
                          </a:solidFill>
                          <a:latin typeface="Tajawal" pitchFamily="34" charset="0"/>
                          <a:ea typeface="Tajawal" pitchFamily="34" charset="-122"/>
                          <a:cs typeface="Tajawal" pitchFamily="34" charset="-120"/>
                        </a:rPr>
                        <a:t>……</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٨٥٪</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00" b="1" dirty="0">
                          <a:solidFill>
                            <a:srgbClr val="8A9A93"/>
                          </a:solidFill>
                          <a:latin typeface="Tajawal" pitchFamily="34" charset="0"/>
                          <a:ea typeface="Tajawal" pitchFamily="34" charset="-122"/>
                          <a:cs typeface="Tajawal" pitchFamily="34" charset="-120"/>
                        </a:rPr>
                        <a:t>……٪</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dirty="0">
                          <a:solidFill>
                            <a:srgbClr val="8A9A93"/>
                          </a:solidFill>
                          <a:latin typeface="Tajawal" pitchFamily="34" charset="0"/>
                          <a:ea typeface="Tajawal" pitchFamily="34" charset="-122"/>
                          <a:cs typeface="Tajawal" pitchFamily="34" charset="-120"/>
                        </a:rPr>
                        <a:t>‎1-2-1-5‎</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توفير أنشطة تربوية داعمة للسلوك الإيجابي</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
        <p:nvSpPr>
          <p:cNvPr id="10" name="Shape 5"/>
          <p:cNvSpPr/>
          <p:nvPr/>
        </p:nvSpPr>
        <p:spPr>
          <a:xfrm>
            <a:off x="8121701" y="5138928"/>
            <a:ext cx="3612794" cy="1207008"/>
          </a:xfrm>
          <a:prstGeom prst="roundRect">
            <a:avLst>
              <a:gd name="adj" fmla="val 6818"/>
            </a:avLst>
          </a:prstGeom>
          <a:solidFill>
            <a:srgbClr val="095242"/>
          </a:solidFill>
          <a:ln/>
          <a:effectLst>
            <a:outerShdw sx="100000" sy="100000" kx="0" ky="0" algn="bl" rotWithShape="0" blurRad="127000" dist="31750" dir="5400000">
              <a:srgbClr val="062A21">
                <a:alpha val="20000"/>
              </a:srgbClr>
            </a:outerShdw>
          </a:effectLst>
        </p:spPr>
      </p:sp>
      <p:sp>
        <p:nvSpPr>
          <p:cNvPr id="11" name="Text 6"/>
          <p:cNvSpPr/>
          <p:nvPr/>
        </p:nvSpPr>
        <p:spPr>
          <a:xfrm>
            <a:off x="8322869" y="5285232"/>
            <a:ext cx="3210458" cy="292608"/>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Tajawal" pitchFamily="34" charset="0"/>
                <a:ea typeface="Tajawal" pitchFamily="34" charset="-122"/>
                <a:cs typeface="Tajawal" pitchFamily="34" charset="-120"/>
              </a:rPr>
              <a:t>لماذا خط الأساس؟</a:t>
            </a:r>
            <a:endParaRPr lang="ar-SA" sz="1150" dirty="0"/>
          </a:p>
        </p:txBody>
      </p:sp>
      <p:sp>
        <p:nvSpPr>
          <p:cNvPr id="12" name="Text 7"/>
          <p:cNvSpPr/>
          <p:nvPr/>
        </p:nvSpPr>
        <p:spPr>
          <a:xfrm>
            <a:off x="8322869" y="5632704"/>
            <a:ext cx="3210458" cy="621792"/>
          </a:xfrm>
          <a:prstGeom prst="rect">
            <a:avLst/>
          </a:prstGeom>
          <a:noFill/>
          <a:ln/>
        </p:spPr>
        <p:txBody>
          <a:bodyPr wrap="square" lIns="0" tIns="0" rIns="0" bIns="0" rtlCol="0" anchor="t"/>
          <a:lstStyle/>
          <a:p>
            <a:pPr rtl="1" algn="r" indent="0" marL="0">
              <a:lnSpc>
                <a:spcPct val="118000"/>
              </a:lnSpc>
              <a:buNone/>
            </a:pPr>
            <a:r>
              <a:rPr lang="ar-SA" altLang="en-US" sz="880" dirty="0">
                <a:solidFill>
                  <a:srgbClr val="D2E4DD"/>
                </a:solidFill>
                <a:latin typeface="Tajawal" pitchFamily="34" charset="0"/>
                <a:ea typeface="Tajawal" pitchFamily="34" charset="-122"/>
                <a:cs typeface="Tajawal" pitchFamily="34" charset="-120"/>
              </a:rPr>
              <a:t>ترتيب الأولويات تصاعديًا يفترض وجود نسبة مسجّلة لكل مؤشر. بلا رقم بداية يتحوّل الترتيب إلى تقدير شخصي.</a:t>
            </a:r>
            <a:endParaRPr lang="ar-SA" sz="880" dirty="0"/>
          </a:p>
        </p:txBody>
      </p:sp>
      <p:sp>
        <p:nvSpPr>
          <p:cNvPr id="13" name="Shape 8"/>
          <p:cNvSpPr/>
          <p:nvPr/>
        </p:nvSpPr>
        <p:spPr>
          <a:xfrm>
            <a:off x="4289450" y="5138928"/>
            <a:ext cx="3612794" cy="1207008"/>
          </a:xfrm>
          <a:prstGeom prst="roundRect">
            <a:avLst>
              <a:gd name="adj" fmla="val 6818"/>
            </a:avLst>
          </a:prstGeom>
          <a:solidFill>
            <a:srgbClr val="F2F8F5"/>
          </a:solidFill>
          <a:ln w="9525">
            <a:solidFill>
              <a:srgbClr val="E3EDE8"/>
            </a:solidFill>
            <a:prstDash val="solid"/>
          </a:ln>
        </p:spPr>
      </p:sp>
      <p:sp>
        <p:nvSpPr>
          <p:cNvPr id="14" name="Text 9"/>
          <p:cNvSpPr/>
          <p:nvPr/>
        </p:nvSpPr>
        <p:spPr>
          <a:xfrm>
            <a:off x="4490618" y="5285232"/>
            <a:ext cx="3210458" cy="292608"/>
          </a:xfrm>
          <a:prstGeom prst="rect">
            <a:avLst/>
          </a:prstGeom>
          <a:noFill/>
          <a:ln/>
        </p:spPr>
        <p:txBody>
          <a:bodyPr wrap="square" lIns="0" tIns="0" rIns="0" bIns="0" rtlCol="0" anchor="t"/>
          <a:lstStyle/>
          <a:p>
            <a:pPr rtl="1" algn="r" indent="0" marL="0">
              <a:buNone/>
            </a:pPr>
            <a:r>
              <a:rPr lang="ar-SA" altLang="en-US" sz="1150" b="1" dirty="0">
                <a:solidFill>
                  <a:srgbClr val="04352B"/>
                </a:solidFill>
                <a:latin typeface="Tajawal" pitchFamily="34" charset="0"/>
                <a:ea typeface="Tajawal" pitchFamily="34" charset="-122"/>
                <a:cs typeface="Tajawal" pitchFamily="34" charset="-120"/>
              </a:rPr>
              <a:t>صياغة المستهدف</a:t>
            </a:r>
            <a:endParaRPr lang="ar-SA" sz="1150" dirty="0"/>
          </a:p>
        </p:txBody>
      </p:sp>
      <p:sp>
        <p:nvSpPr>
          <p:cNvPr id="15" name="Text 10"/>
          <p:cNvSpPr/>
          <p:nvPr/>
        </p:nvSpPr>
        <p:spPr>
          <a:xfrm>
            <a:off x="4490618" y="5632704"/>
            <a:ext cx="3210458" cy="621792"/>
          </a:xfrm>
          <a:prstGeom prst="rect">
            <a:avLst/>
          </a:prstGeom>
          <a:noFill/>
          <a:ln/>
        </p:spPr>
        <p:txBody>
          <a:bodyPr wrap="square" lIns="0" tIns="0" rIns="0" bIns="0" rtlCol="0" anchor="t"/>
          <a:lstStyle/>
          <a:p>
            <a:pPr rtl="1" algn="r" indent="0" marL="0">
              <a:lnSpc>
                <a:spcPct val="118000"/>
              </a:lnSpc>
              <a:buNone/>
            </a:pPr>
            <a:r>
              <a:rPr lang="ar-SA" altLang="en-US" sz="880" dirty="0">
                <a:solidFill>
                  <a:srgbClr val="34473F"/>
                </a:solidFill>
                <a:latin typeface="Tajawal" pitchFamily="34" charset="0"/>
                <a:ea typeface="Tajawal" pitchFamily="34" charset="-122"/>
                <a:cs typeface="Tajawal" pitchFamily="34" charset="-120"/>
              </a:rPr>
              <a:t>المستهدف رقم ونقطة زمنية معًا: «من ٦٢٪ إلى ٧٥٪ بنهاية الفصل الثاني» لا «رفع المستوى».</a:t>
            </a:r>
            <a:endParaRPr lang="ar-SA" sz="880" dirty="0"/>
          </a:p>
        </p:txBody>
      </p:sp>
      <p:sp>
        <p:nvSpPr>
          <p:cNvPr id="16" name="Shape 11"/>
          <p:cNvSpPr/>
          <p:nvPr/>
        </p:nvSpPr>
        <p:spPr>
          <a:xfrm>
            <a:off x="457200" y="5138928"/>
            <a:ext cx="3612794" cy="1207008"/>
          </a:xfrm>
          <a:prstGeom prst="roundRect">
            <a:avLst>
              <a:gd name="adj" fmla="val 6818"/>
            </a:avLst>
          </a:prstGeom>
          <a:solidFill>
            <a:srgbClr val="F2F8F5"/>
          </a:solidFill>
          <a:ln w="9525">
            <a:solidFill>
              <a:srgbClr val="E3EDE8"/>
            </a:solidFill>
            <a:prstDash val="solid"/>
          </a:ln>
        </p:spPr>
      </p:sp>
      <p:sp>
        <p:nvSpPr>
          <p:cNvPr id="17" name="Text 12"/>
          <p:cNvSpPr/>
          <p:nvPr/>
        </p:nvSpPr>
        <p:spPr>
          <a:xfrm>
            <a:off x="658368" y="5285232"/>
            <a:ext cx="3210458" cy="292608"/>
          </a:xfrm>
          <a:prstGeom prst="rect">
            <a:avLst/>
          </a:prstGeom>
          <a:noFill/>
          <a:ln/>
        </p:spPr>
        <p:txBody>
          <a:bodyPr wrap="square" lIns="0" tIns="0" rIns="0" bIns="0" rtlCol="0" anchor="t"/>
          <a:lstStyle/>
          <a:p>
            <a:pPr rtl="1" algn="r" indent="0" marL="0">
              <a:buNone/>
            </a:pPr>
            <a:r>
              <a:rPr lang="ar-SA" altLang="en-US" sz="1150" b="1" dirty="0">
                <a:solidFill>
                  <a:srgbClr val="04352B"/>
                </a:solidFill>
                <a:latin typeface="Tajawal" pitchFamily="34" charset="0"/>
                <a:ea typeface="Tajawal" pitchFamily="34" charset="-122"/>
                <a:cs typeface="Tajawal" pitchFamily="34" charset="-120"/>
              </a:rPr>
              <a:t>أداة القياس</a:t>
            </a:r>
            <a:endParaRPr lang="ar-SA" sz="1150" dirty="0"/>
          </a:p>
        </p:txBody>
      </p:sp>
      <p:sp>
        <p:nvSpPr>
          <p:cNvPr id="18" name="Text 13"/>
          <p:cNvSpPr/>
          <p:nvPr/>
        </p:nvSpPr>
        <p:spPr>
          <a:xfrm>
            <a:off x="658368" y="5632704"/>
            <a:ext cx="3210458" cy="621792"/>
          </a:xfrm>
          <a:prstGeom prst="rect">
            <a:avLst/>
          </a:prstGeom>
          <a:noFill/>
          <a:ln/>
        </p:spPr>
        <p:txBody>
          <a:bodyPr wrap="square" lIns="0" tIns="0" rIns="0" bIns="0" rtlCol="0" anchor="t"/>
          <a:lstStyle/>
          <a:p>
            <a:pPr rtl="1" algn="r" indent="0" marL="0">
              <a:lnSpc>
                <a:spcPct val="118000"/>
              </a:lnSpc>
              <a:buNone/>
            </a:pPr>
            <a:r>
              <a:rPr lang="ar-SA" altLang="en-US" sz="880" dirty="0">
                <a:solidFill>
                  <a:srgbClr val="34473F"/>
                </a:solidFill>
                <a:latin typeface="Tajawal" pitchFamily="34" charset="0"/>
                <a:ea typeface="Tajawal" pitchFamily="34" charset="-122"/>
                <a:cs typeface="Tajawal" pitchFamily="34" charset="-120"/>
              </a:rPr>
              <a:t>لكل مؤشر أداة واحدة معتمدة تُطبّق بالطريقة نفسها في كل جولة، وإلا فالمقارنة غير صحيحة.</a:t>
            </a:r>
            <a:endParaRPr lang="ar-SA" sz="8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الرابع · أدوات تطوير الخطة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سجل مخاطر تنفيذ الخطة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سجل المخاطر</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٥٦</a:t>
            </a:r>
            <a:endParaRPr lang="ar-SA" sz="900" dirty="0"/>
          </a:p>
        </p:txBody>
      </p:sp>
      <p:sp>
        <p:nvSpPr>
          <p:cNvPr id="8" name="Text 4"/>
          <p:cNvSpPr/>
          <p:nvPr/>
        </p:nvSpPr>
        <p:spPr>
          <a:xfrm>
            <a:off x="457200" y="1005840"/>
            <a:ext cx="11277295" cy="457200"/>
          </a:xfrm>
          <a:prstGeom prst="rect">
            <a:avLst/>
          </a:prstGeom>
          <a:noFill/>
          <a:ln/>
        </p:spPr>
        <p:txBody>
          <a:bodyPr wrap="square" lIns="0" tIns="0" rIns="0" bIns="0" rtlCol="0" anchor="t"/>
          <a:lstStyle/>
          <a:p>
            <a:pPr rtl="1" algn="r" indent="0" marL="0">
              <a:lnSpc>
                <a:spcPct val="120000"/>
              </a:lnSpc>
              <a:buNone/>
            </a:pPr>
            <a:r>
              <a:rPr lang="ar-SA" altLang="en-US" sz="1040" dirty="0">
                <a:solidFill>
                  <a:srgbClr val="34473F"/>
                </a:solidFill>
                <a:latin typeface="Tajawal" pitchFamily="34" charset="0"/>
                <a:ea typeface="Tajawal" pitchFamily="34" charset="-122"/>
                <a:cs typeface="Tajawal" pitchFamily="34" charset="-120"/>
              </a:rPr>
              <a:t>الخطة الأصلية تتضمّن برنامجًا لإدارة مخاطر المبنى، ولا تتضمّن سجلًا لمخاطر تنفيذ الخطة نفسها. هذا السجل يرصد ما قد يعطّل التنفيذ ويحدّد الاستجابة والمسؤول مسبقًا.</a:t>
            </a:r>
            <a:endParaRPr lang="ar-SA" sz="104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11277295" cy="914400"/>
        </p:xfrm>
        <a:graphic>
          <a:graphicData uri="http://schemas.openxmlformats.org/drawingml/2006/table">
            <a:tbl>
              <a:tblPr/>
              <a:tblGrid>
                <a:gridCol w="1691640"/>
                <a:gridCol w="1173175"/>
                <a:gridCol w="1234440"/>
                <a:gridCol w="868680"/>
                <a:gridCol w="1051560"/>
                <a:gridCol w="3566160"/>
                <a:gridCol w="411480"/>
              </a:tblGrid>
              <a:tr h="329184">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المسؤول</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إجراء الاستجابة الوقائي</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درجة الخطورة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الأثر</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الاحتمالية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الخطر المحتمل</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411480">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الإدارة المدرسية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ترتيب البرامج حسب الأولوية وتفعيل الشراكات المجتمعية لتغطية التكاليف</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B3261E"/>
                          </a:solidFill>
                          <a:latin typeface="Tajawal" pitchFamily="34" charset="0"/>
                          <a:ea typeface="Tajawal" pitchFamily="34" charset="-122"/>
                          <a:cs typeface="Tajawal" pitchFamily="34" charset="-120"/>
                        </a:rPr>
                        <a:t>مرتفعة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عالٍ</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عالية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ضعف الدعم المالي المُقدَّم لتنفيذ البرامج</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11480">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فريق إعداد الخطة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توزيع البرامج على المخطط الزمني وتجنّب أسابيع الاختبارات والتقييمات</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B3261E"/>
                          </a:solidFill>
                          <a:latin typeface="Tajawal" pitchFamily="34" charset="0"/>
                          <a:ea typeface="Tajawal" pitchFamily="34" charset="-122"/>
                          <a:cs typeface="Tajawal" pitchFamily="34" charset="-120"/>
                        </a:rPr>
                        <a:t>مرتفعة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متوسط</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عالية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تعارض البرامج مع الأعباء التدريسية وأسابيع الاختبارات</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11480">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لجنة المرافق</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التعاقد المبكر وتحديد موردين بدلاء وجدول صيانة معتمد</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B3261E"/>
                          </a:solidFill>
                          <a:latin typeface="Tajawal" pitchFamily="34" charset="0"/>
                          <a:ea typeface="Tajawal" pitchFamily="34" charset="-122"/>
                          <a:cs typeface="Tajawal" pitchFamily="34" charset="-120"/>
                        </a:rPr>
                        <a:t>مرتفعة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عالٍ</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متوسطة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تأخر توريد التجهيزات وأعمال الصيانة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11480">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المرشد الطلابي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تنويع قنوات التواصل وجدولة لقاءات دورية معلنة مسبقًا</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B3261E"/>
                          </a:solidFill>
                          <a:latin typeface="Tajawal" pitchFamily="34" charset="0"/>
                          <a:ea typeface="Tajawal" pitchFamily="34" charset="-122"/>
                          <a:cs typeface="Tajawal" pitchFamily="34" charset="-120"/>
                        </a:rPr>
                        <a:t>مرتفعة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عالٍ</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متوسطة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ضعف الالتزام الأسري بمتابعة الأبناء أكاديميًا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11480">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قائد التحول الرقمي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خطة بديلة ورقية لكل نشاط رقمي وصيانة دورية للشبكة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C9A45C"/>
                          </a:solidFill>
                          <a:latin typeface="Tajawal" pitchFamily="34" charset="0"/>
                          <a:ea typeface="Tajawal" pitchFamily="34" charset="-122"/>
                          <a:cs typeface="Tajawal" pitchFamily="34" charset="-120"/>
                        </a:rPr>
                        <a:t>متوسطة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متوسط</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متوسطة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انقطاع الخدمة الرقمية أو ضعف الشبكة داخل المدرسة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411480">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رئيس فريق الإعداد</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تحديد بديل معتمد لكل دور وتوثيق الأعمال أولًا بأول</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60" b="1" dirty="0">
                          <a:solidFill>
                            <a:srgbClr val="C9A45C"/>
                          </a:solidFill>
                          <a:latin typeface="Tajawal" pitchFamily="34" charset="0"/>
                          <a:ea typeface="Tajawal" pitchFamily="34" charset="-122"/>
                          <a:cs typeface="Tajawal" pitchFamily="34" charset="-120"/>
                        </a:rPr>
                        <a:t>متوسطة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متوسط</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متوسطة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غياب أو نقل أحد أعضاء فريق الخطة أثناء العام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411480">
                <a:tc>
                  <a:txBody>
                    <a:bodyPr/>
                    <a:lstStyle/>
                    <a:p>
                      <a:pPr rtl="1" algn="ctr" indent="0" marL="0">
                        <a:buNone/>
                      </a:pPr>
                      <a:r>
                        <a:rPr lang="ar-SA" altLang="en-US" sz="820" dirty="0">
                          <a:solidFill>
                            <a:srgbClr val="34473F"/>
                          </a:solidFill>
                          <a:latin typeface="Tajawal" pitchFamily="34" charset="0"/>
                          <a:ea typeface="Tajawal" pitchFamily="34" charset="-122"/>
                          <a:cs typeface="Tajawal" pitchFamily="34" charset="-120"/>
                        </a:rPr>
                        <a:t>منسّق الجودة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20" dirty="0">
                          <a:solidFill>
                            <a:srgbClr val="34473F"/>
                          </a:solidFill>
                          <a:latin typeface="Tajawal" pitchFamily="34" charset="0"/>
                          <a:ea typeface="Tajawal" pitchFamily="34" charset="-122"/>
                          <a:cs typeface="Tajawal" pitchFamily="34" charset="-120"/>
                        </a:rPr>
                        <a:t>تبسيط الأدوات وتنويع أوقات التطبيق وتحفيز المشاركة</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60" b="1" dirty="0">
                          <a:solidFill>
                            <a:srgbClr val="C9A45C"/>
                          </a:solidFill>
                          <a:latin typeface="Tajawal" pitchFamily="34" charset="0"/>
                          <a:ea typeface="Tajawal" pitchFamily="34" charset="-122"/>
                          <a:cs typeface="Tajawal" pitchFamily="34" charset="-120"/>
                        </a:rPr>
                        <a:t>متوسطة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منخفض</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عالية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تدني نسبة الاستجابة لاستبانات قياس الرضا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
        <p:nvSpPr>
          <p:cNvPr id="10" name="Shape 5"/>
          <p:cNvSpPr/>
          <p:nvPr/>
        </p:nvSpPr>
        <p:spPr>
          <a:xfrm>
            <a:off x="8121701" y="5029200"/>
            <a:ext cx="3612794" cy="658368"/>
          </a:xfrm>
          <a:prstGeom prst="roundRect">
            <a:avLst>
              <a:gd name="adj" fmla="val 12500"/>
            </a:avLst>
          </a:prstGeom>
          <a:solidFill>
            <a:srgbClr val="F2F8F5"/>
          </a:solidFill>
          <a:ln w="9525">
            <a:solidFill>
              <a:srgbClr val="E3EDE8"/>
            </a:solidFill>
            <a:prstDash val="solid"/>
          </a:ln>
        </p:spPr>
      </p:sp>
      <p:sp>
        <p:nvSpPr>
          <p:cNvPr id="11" name="Shape 6"/>
          <p:cNvSpPr/>
          <p:nvPr/>
        </p:nvSpPr>
        <p:spPr>
          <a:xfrm>
            <a:off x="11259007" y="5221224"/>
            <a:ext cx="274320" cy="274320"/>
          </a:xfrm>
          <a:prstGeom prst="roundRect">
            <a:avLst>
              <a:gd name="adj" fmla="val 20000"/>
            </a:avLst>
          </a:prstGeom>
          <a:solidFill>
            <a:srgbClr val="B3261E"/>
          </a:solidFill>
          <a:ln/>
        </p:spPr>
      </p:sp>
      <p:sp>
        <p:nvSpPr>
          <p:cNvPr id="12" name="Text 7"/>
          <p:cNvSpPr/>
          <p:nvPr/>
        </p:nvSpPr>
        <p:spPr>
          <a:xfrm>
            <a:off x="8304581" y="5102352"/>
            <a:ext cx="2881274" cy="274320"/>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مرتفعة</a:t>
            </a:r>
            <a:endParaRPr lang="ar-SA" sz="1050" dirty="0"/>
          </a:p>
        </p:txBody>
      </p:sp>
      <p:sp>
        <p:nvSpPr>
          <p:cNvPr id="13" name="Text 8"/>
          <p:cNvSpPr/>
          <p:nvPr/>
        </p:nvSpPr>
        <p:spPr>
          <a:xfrm>
            <a:off x="8304581" y="5376672"/>
            <a:ext cx="2881274" cy="256032"/>
          </a:xfrm>
          <a:prstGeom prst="rect">
            <a:avLst/>
          </a:prstGeom>
          <a:noFill/>
          <a:ln/>
        </p:spPr>
        <p:txBody>
          <a:bodyPr wrap="square" lIns="0" tIns="0" rIns="0" bIns="0" rtlCol="0" anchor="ctr"/>
          <a:lstStyle/>
          <a:p>
            <a:pPr rtl="1" algn="r" indent="0" marL="0">
              <a:buNone/>
            </a:pPr>
            <a:r>
              <a:rPr lang="ar-SA" altLang="en-US" sz="840" dirty="0">
                <a:solidFill>
                  <a:srgbClr val="8A9A93"/>
                </a:solidFill>
                <a:latin typeface="Tajawal" pitchFamily="34" charset="0"/>
                <a:ea typeface="Tajawal" pitchFamily="34" charset="-122"/>
                <a:cs typeface="Tajawal" pitchFamily="34" charset="-120"/>
              </a:rPr>
              <a:t>تُراجَع في كل جولة متابعة</a:t>
            </a:r>
            <a:endParaRPr lang="ar-SA" sz="840" dirty="0"/>
          </a:p>
        </p:txBody>
      </p:sp>
      <p:sp>
        <p:nvSpPr>
          <p:cNvPr id="14" name="Shape 9"/>
          <p:cNvSpPr/>
          <p:nvPr/>
        </p:nvSpPr>
        <p:spPr>
          <a:xfrm>
            <a:off x="4289450" y="5029200"/>
            <a:ext cx="3612794" cy="658368"/>
          </a:xfrm>
          <a:prstGeom prst="roundRect">
            <a:avLst>
              <a:gd name="adj" fmla="val 12500"/>
            </a:avLst>
          </a:prstGeom>
          <a:solidFill>
            <a:srgbClr val="F2F8F5"/>
          </a:solidFill>
          <a:ln w="9525">
            <a:solidFill>
              <a:srgbClr val="E3EDE8"/>
            </a:solidFill>
            <a:prstDash val="solid"/>
          </a:ln>
        </p:spPr>
      </p:sp>
      <p:sp>
        <p:nvSpPr>
          <p:cNvPr id="15" name="Shape 10"/>
          <p:cNvSpPr/>
          <p:nvPr/>
        </p:nvSpPr>
        <p:spPr>
          <a:xfrm>
            <a:off x="7426757" y="5221224"/>
            <a:ext cx="274320" cy="274320"/>
          </a:xfrm>
          <a:prstGeom prst="roundRect">
            <a:avLst>
              <a:gd name="adj" fmla="val 20000"/>
            </a:avLst>
          </a:prstGeom>
          <a:solidFill>
            <a:srgbClr val="C9A45C"/>
          </a:solidFill>
          <a:ln/>
        </p:spPr>
      </p:sp>
      <p:sp>
        <p:nvSpPr>
          <p:cNvPr id="16" name="Text 11"/>
          <p:cNvSpPr/>
          <p:nvPr/>
        </p:nvSpPr>
        <p:spPr>
          <a:xfrm>
            <a:off x="4472330" y="5102352"/>
            <a:ext cx="2881274" cy="274320"/>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متوسطة</a:t>
            </a:r>
            <a:endParaRPr lang="ar-SA" sz="1050" dirty="0"/>
          </a:p>
        </p:txBody>
      </p:sp>
      <p:sp>
        <p:nvSpPr>
          <p:cNvPr id="17" name="Text 12"/>
          <p:cNvSpPr/>
          <p:nvPr/>
        </p:nvSpPr>
        <p:spPr>
          <a:xfrm>
            <a:off x="4472330" y="5376672"/>
            <a:ext cx="2881274" cy="256032"/>
          </a:xfrm>
          <a:prstGeom prst="rect">
            <a:avLst/>
          </a:prstGeom>
          <a:noFill/>
          <a:ln/>
        </p:spPr>
        <p:txBody>
          <a:bodyPr wrap="square" lIns="0" tIns="0" rIns="0" bIns="0" rtlCol="0" anchor="ctr"/>
          <a:lstStyle/>
          <a:p>
            <a:pPr rtl="1" algn="r" indent="0" marL="0">
              <a:buNone/>
            </a:pPr>
            <a:r>
              <a:rPr lang="ar-SA" altLang="en-US" sz="840" dirty="0">
                <a:solidFill>
                  <a:srgbClr val="8A9A93"/>
                </a:solidFill>
                <a:latin typeface="Tajawal" pitchFamily="34" charset="0"/>
                <a:ea typeface="Tajawal" pitchFamily="34" charset="-122"/>
                <a:cs typeface="Tajawal" pitchFamily="34" charset="-120"/>
              </a:rPr>
              <a:t>تُراجَع فصليًا</a:t>
            </a:r>
            <a:endParaRPr lang="ar-SA" sz="840" dirty="0"/>
          </a:p>
        </p:txBody>
      </p:sp>
      <p:sp>
        <p:nvSpPr>
          <p:cNvPr id="18" name="Shape 13"/>
          <p:cNvSpPr/>
          <p:nvPr/>
        </p:nvSpPr>
        <p:spPr>
          <a:xfrm>
            <a:off x="457200" y="5029200"/>
            <a:ext cx="3612794" cy="658368"/>
          </a:xfrm>
          <a:prstGeom prst="roundRect">
            <a:avLst>
              <a:gd name="adj" fmla="val 12500"/>
            </a:avLst>
          </a:prstGeom>
          <a:solidFill>
            <a:srgbClr val="F2F8F5"/>
          </a:solidFill>
          <a:ln w="9525">
            <a:solidFill>
              <a:srgbClr val="E3EDE8"/>
            </a:solidFill>
            <a:prstDash val="solid"/>
          </a:ln>
        </p:spPr>
      </p:sp>
      <p:sp>
        <p:nvSpPr>
          <p:cNvPr id="19" name="Shape 14"/>
          <p:cNvSpPr/>
          <p:nvPr/>
        </p:nvSpPr>
        <p:spPr>
          <a:xfrm>
            <a:off x="3594506" y="5221224"/>
            <a:ext cx="274320" cy="274320"/>
          </a:xfrm>
          <a:prstGeom prst="roundRect">
            <a:avLst>
              <a:gd name="adj" fmla="val 20000"/>
            </a:avLst>
          </a:prstGeom>
          <a:solidFill>
            <a:srgbClr val="0089A1"/>
          </a:solidFill>
          <a:ln/>
        </p:spPr>
      </p:sp>
      <p:sp>
        <p:nvSpPr>
          <p:cNvPr id="20" name="Text 15"/>
          <p:cNvSpPr/>
          <p:nvPr/>
        </p:nvSpPr>
        <p:spPr>
          <a:xfrm>
            <a:off x="640080" y="5102352"/>
            <a:ext cx="2881274" cy="274320"/>
          </a:xfrm>
          <a:prstGeom prst="rect">
            <a:avLst/>
          </a:prstGeom>
          <a:noFill/>
          <a:ln/>
        </p:spPr>
        <p:txBody>
          <a:bodyPr wrap="square" lIns="0" tIns="0" rIns="0" bIns="0" rtlCol="0" anchor="ctr"/>
          <a:lstStyle/>
          <a:p>
            <a:pPr rtl="1" algn="r" indent="0" marL="0">
              <a:buNone/>
            </a:pPr>
            <a:r>
              <a:rPr lang="ar-SA" altLang="en-US" sz="1050" b="1" dirty="0">
                <a:solidFill>
                  <a:srgbClr val="04352B"/>
                </a:solidFill>
                <a:latin typeface="Tajawal" pitchFamily="34" charset="0"/>
                <a:ea typeface="Tajawal" pitchFamily="34" charset="-122"/>
                <a:cs typeface="Tajawal" pitchFamily="34" charset="-120"/>
              </a:rPr>
              <a:t>منخفضة</a:t>
            </a:r>
            <a:endParaRPr lang="ar-SA" sz="1050" dirty="0"/>
          </a:p>
        </p:txBody>
      </p:sp>
      <p:sp>
        <p:nvSpPr>
          <p:cNvPr id="21" name="Text 16"/>
          <p:cNvSpPr/>
          <p:nvPr/>
        </p:nvSpPr>
        <p:spPr>
          <a:xfrm>
            <a:off x="640080" y="5376672"/>
            <a:ext cx="2881274" cy="256032"/>
          </a:xfrm>
          <a:prstGeom prst="rect">
            <a:avLst/>
          </a:prstGeom>
          <a:noFill/>
          <a:ln/>
        </p:spPr>
        <p:txBody>
          <a:bodyPr wrap="square" lIns="0" tIns="0" rIns="0" bIns="0" rtlCol="0" anchor="ctr"/>
          <a:lstStyle/>
          <a:p>
            <a:pPr rtl="1" algn="r" indent="0" marL="0">
              <a:buNone/>
            </a:pPr>
            <a:r>
              <a:rPr lang="ar-SA" altLang="en-US" sz="840" dirty="0">
                <a:solidFill>
                  <a:srgbClr val="8A9A93"/>
                </a:solidFill>
                <a:latin typeface="Tajawal" pitchFamily="34" charset="0"/>
                <a:ea typeface="Tajawal" pitchFamily="34" charset="-122"/>
                <a:cs typeface="Tajawal" pitchFamily="34" charset="-120"/>
              </a:rPr>
              <a:t>تُراجَع نهاية العام</a:t>
            </a:r>
            <a:endParaRPr lang="ar-SA" sz="840" dirty="0"/>
          </a:p>
        </p:txBody>
      </p:sp>
      <p:sp>
        <p:nvSpPr>
          <p:cNvPr id="22" name="Shape 17"/>
          <p:cNvSpPr/>
          <p:nvPr/>
        </p:nvSpPr>
        <p:spPr>
          <a:xfrm>
            <a:off x="457200" y="5870448"/>
            <a:ext cx="11277295" cy="512064"/>
          </a:xfrm>
          <a:prstGeom prst="roundRect">
            <a:avLst>
              <a:gd name="adj" fmla="val 16071"/>
            </a:avLst>
          </a:prstGeom>
          <a:solidFill>
            <a:srgbClr val="095242"/>
          </a:solidFill>
          <a:ln/>
        </p:spPr>
      </p:sp>
      <p:sp>
        <p:nvSpPr>
          <p:cNvPr id="23" name="Text 18"/>
          <p:cNvSpPr/>
          <p:nvPr/>
        </p:nvSpPr>
        <p:spPr>
          <a:xfrm>
            <a:off x="731520" y="5870448"/>
            <a:ext cx="10728655" cy="512064"/>
          </a:xfrm>
          <a:prstGeom prst="rect">
            <a:avLst/>
          </a:prstGeom>
          <a:noFill/>
          <a:ln/>
        </p:spPr>
        <p:txBody>
          <a:bodyPr wrap="square" lIns="0" tIns="0" rIns="0" bIns="0" rtlCol="0" anchor="ctr"/>
          <a:lstStyle/>
          <a:p>
            <a:pPr rtl="1" algn="r" indent="0" marL="0">
              <a:buNone/>
            </a:pPr>
            <a:r>
              <a:rPr lang="ar-SA" altLang="en-US" sz="1000" b="1" dirty="0">
                <a:solidFill>
                  <a:srgbClr val="FFFFFF"/>
                </a:solidFill>
                <a:latin typeface="Tajawal" pitchFamily="34" charset="0"/>
                <a:ea typeface="Tajawal" pitchFamily="34" charset="-122"/>
                <a:cs typeface="Tajawal" pitchFamily="34" charset="-120"/>
              </a:rPr>
              <a:t>يُحدَّث هذا السجل في كل جولة متابعة، وتُرفع المخاطر المرتفعة إلى اجتماع اللجنة الإدارية مع إجراء تصحيحي موثّق.</a:t>
            </a:r>
            <a:endParaRPr lang="ar-SA"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الرابع · أدوات تطوير الخطة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الميزانية التشغيلية التقديرية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الميزانية التشغيلية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٥٧</a:t>
            </a:r>
            <a:endParaRPr lang="ar-SA" sz="900" dirty="0"/>
          </a:p>
        </p:txBody>
      </p:sp>
      <p:sp>
        <p:nvSpPr>
          <p:cNvPr id="8" name="Text 4"/>
          <p:cNvSpPr/>
          <p:nvPr/>
        </p:nvSpPr>
        <p:spPr>
          <a:xfrm>
            <a:off x="457200" y="1005840"/>
            <a:ext cx="11277295" cy="457200"/>
          </a:xfrm>
          <a:prstGeom prst="rect">
            <a:avLst/>
          </a:prstGeom>
          <a:noFill/>
          <a:ln/>
        </p:spPr>
        <p:txBody>
          <a:bodyPr wrap="square" lIns="0" tIns="0" rIns="0" bIns="0" rtlCol="0" anchor="t"/>
          <a:lstStyle/>
          <a:p>
            <a:pPr rtl="1" algn="r" indent="0" marL="0">
              <a:lnSpc>
                <a:spcPct val="120000"/>
              </a:lnSpc>
              <a:buNone/>
            </a:pPr>
            <a:r>
              <a:rPr lang="ar-SA" altLang="en-US" sz="1040" dirty="0">
                <a:solidFill>
                  <a:srgbClr val="34473F"/>
                </a:solidFill>
                <a:latin typeface="Tajawal" pitchFamily="34" charset="0"/>
                <a:ea typeface="Tajawal" pitchFamily="34" charset="-122"/>
                <a:cs typeface="Tajawal" pitchFamily="34" charset="-120"/>
              </a:rPr>
              <a:t>الخطة الأصلية تسرد متطلبات مادية (مقاول صيانة، أثاث، أجهزة، جوائز) دون بند تكلفة أو مصدر تمويل. هذا الجدول يحوّل المتطلبات إلى التزام مالي واضح وقابل للاعتماد.</a:t>
            </a:r>
            <a:endParaRPr lang="ar-SA" sz="1040" dirty="0"/>
          </a:p>
        </p:txBody>
      </p:sp>
      <p:sp>
        <p:nvSpPr>
          <p:cNvPr id="9" name="Shape 5"/>
          <p:cNvSpPr/>
          <p:nvPr/>
        </p:nvSpPr>
        <p:spPr>
          <a:xfrm>
            <a:off x="9093479" y="1554480"/>
            <a:ext cx="2641016" cy="786384"/>
          </a:xfrm>
          <a:prstGeom prst="roundRect">
            <a:avLst>
              <a:gd name="adj" fmla="val 10465"/>
            </a:avLst>
          </a:prstGeom>
          <a:solidFill>
            <a:srgbClr val="095242"/>
          </a:solidFill>
          <a:ln/>
          <a:effectLst>
            <a:outerShdw sx="100000" sy="100000" kx="0" ky="0" algn="bl" rotWithShape="0" blurRad="127000" dist="31750" dir="5400000">
              <a:srgbClr val="062A21">
                <a:alpha val="18000"/>
              </a:srgbClr>
            </a:outerShdw>
          </a:effectLst>
        </p:spPr>
      </p:sp>
      <p:sp>
        <p:nvSpPr>
          <p:cNvPr id="10" name="Text 6"/>
          <p:cNvSpPr/>
          <p:nvPr/>
        </p:nvSpPr>
        <p:spPr>
          <a:xfrm>
            <a:off x="9258071" y="1554480"/>
            <a:ext cx="1109227" cy="786384"/>
          </a:xfrm>
          <a:prstGeom prst="rect">
            <a:avLst/>
          </a:prstGeom>
          <a:noFill/>
          <a:ln/>
        </p:spPr>
        <p:txBody>
          <a:bodyPr wrap="square" lIns="0" tIns="0" rIns="0" bIns="0" rtlCol="0" anchor="ctr"/>
          <a:lstStyle/>
          <a:p>
            <a:pPr rtl="1" algn="ctr" indent="0" marL="0">
              <a:buNone/>
            </a:pPr>
            <a:r>
              <a:rPr lang="ar-SA" altLang="en-US" sz="1500" dirty="0">
                <a:solidFill>
                  <a:srgbClr val="FFFFFF"/>
                </a:solidFill>
                <a:latin typeface="Tajawal ExtraBold" pitchFamily="34" charset="0"/>
                <a:ea typeface="Tajawal ExtraBold" pitchFamily="34" charset="-122"/>
                <a:cs typeface="Tajawal ExtraBold" pitchFamily="34" charset="-120"/>
              </a:rPr>
              <a:t>…………</a:t>
            </a:r>
            <a:endParaRPr lang="ar-SA" sz="1500" dirty="0"/>
          </a:p>
        </p:txBody>
      </p:sp>
      <p:sp>
        <p:nvSpPr>
          <p:cNvPr id="11" name="Text 7"/>
          <p:cNvSpPr/>
          <p:nvPr/>
        </p:nvSpPr>
        <p:spPr>
          <a:xfrm>
            <a:off x="10202706" y="1554480"/>
            <a:ext cx="1385485" cy="786384"/>
          </a:xfrm>
          <a:prstGeom prst="rect">
            <a:avLst/>
          </a:prstGeom>
          <a:noFill/>
          <a:ln/>
        </p:spPr>
        <p:txBody>
          <a:bodyPr wrap="square" lIns="0" tIns="0" rIns="0" bIns="0" rtlCol="0" anchor="ctr"/>
          <a:lstStyle/>
          <a:p>
            <a:pPr rtl="1" algn="r" indent="0" marL="0">
              <a:lnSpc>
                <a:spcPct val="105000"/>
              </a:lnSpc>
              <a:buNone/>
            </a:pPr>
            <a:r>
              <a:rPr lang="ar-SA" altLang="en-US" sz="960" b="1" dirty="0">
                <a:solidFill>
                  <a:srgbClr val="CFE2DB"/>
                </a:solidFill>
                <a:latin typeface="Tajawal" pitchFamily="34" charset="0"/>
                <a:ea typeface="Tajawal" pitchFamily="34" charset="-122"/>
                <a:cs typeface="Tajawal" pitchFamily="34" charset="-120"/>
              </a:rPr>
              <a:t>إجمالي التكلفة التقديرية</a:t>
            </a:r>
            <a:endParaRPr lang="ar-SA" sz="960" dirty="0"/>
          </a:p>
        </p:txBody>
      </p:sp>
      <p:sp>
        <p:nvSpPr>
          <p:cNvPr id="12" name="Shape 8"/>
          <p:cNvSpPr/>
          <p:nvPr/>
        </p:nvSpPr>
        <p:spPr>
          <a:xfrm>
            <a:off x="6214720" y="1554480"/>
            <a:ext cx="2641016" cy="786384"/>
          </a:xfrm>
          <a:prstGeom prst="roundRect">
            <a:avLst>
              <a:gd name="adj" fmla="val 10465"/>
            </a:avLst>
          </a:prstGeom>
          <a:solidFill>
            <a:srgbClr val="FFFFFF"/>
          </a:solidFill>
          <a:ln w="12700">
            <a:solidFill>
              <a:srgbClr val="095242"/>
            </a:solidFill>
            <a:prstDash val="solid"/>
          </a:ln>
        </p:spPr>
      </p:sp>
      <p:sp>
        <p:nvSpPr>
          <p:cNvPr id="13" name="Text 9"/>
          <p:cNvSpPr/>
          <p:nvPr/>
        </p:nvSpPr>
        <p:spPr>
          <a:xfrm>
            <a:off x="6379312" y="1554480"/>
            <a:ext cx="1109227" cy="78638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٥</a:t>
            </a:r>
            <a:endParaRPr lang="ar-SA" sz="2200" dirty="0"/>
          </a:p>
        </p:txBody>
      </p:sp>
      <p:sp>
        <p:nvSpPr>
          <p:cNvPr id="14" name="Text 10"/>
          <p:cNvSpPr/>
          <p:nvPr/>
        </p:nvSpPr>
        <p:spPr>
          <a:xfrm>
            <a:off x="7323946" y="1554480"/>
            <a:ext cx="1385485" cy="786384"/>
          </a:xfrm>
          <a:prstGeom prst="rect">
            <a:avLst/>
          </a:prstGeom>
          <a:noFill/>
          <a:ln/>
        </p:spPr>
        <p:txBody>
          <a:bodyPr wrap="square" lIns="0" tIns="0" rIns="0" bIns="0" rtlCol="0" anchor="ctr"/>
          <a:lstStyle/>
          <a:p>
            <a:pPr rtl="1" algn="r" indent="0" marL="0">
              <a:lnSpc>
                <a:spcPct val="105000"/>
              </a:lnSpc>
              <a:buNone/>
            </a:pPr>
            <a:r>
              <a:rPr lang="ar-SA" altLang="en-US" sz="960" b="1" dirty="0">
                <a:solidFill>
                  <a:srgbClr val="34473F"/>
                </a:solidFill>
                <a:latin typeface="Tajawal" pitchFamily="34" charset="0"/>
                <a:ea typeface="Tajawal" pitchFamily="34" charset="-122"/>
                <a:cs typeface="Tajawal" pitchFamily="34" charset="-120"/>
              </a:rPr>
              <a:t>بنود أساسية إلزامية التنفيذ</a:t>
            </a:r>
            <a:endParaRPr lang="ar-SA" sz="960" dirty="0"/>
          </a:p>
        </p:txBody>
      </p:sp>
      <p:sp>
        <p:nvSpPr>
          <p:cNvPr id="15" name="Shape 11"/>
          <p:cNvSpPr/>
          <p:nvPr/>
        </p:nvSpPr>
        <p:spPr>
          <a:xfrm>
            <a:off x="3335960" y="1554480"/>
            <a:ext cx="2641016" cy="786384"/>
          </a:xfrm>
          <a:prstGeom prst="roundRect">
            <a:avLst>
              <a:gd name="adj" fmla="val 10465"/>
            </a:avLst>
          </a:prstGeom>
          <a:solidFill>
            <a:srgbClr val="FFFFFF"/>
          </a:solidFill>
          <a:ln w="12700">
            <a:solidFill>
              <a:srgbClr val="095242"/>
            </a:solidFill>
            <a:prstDash val="solid"/>
          </a:ln>
        </p:spPr>
      </p:sp>
      <p:sp>
        <p:nvSpPr>
          <p:cNvPr id="16" name="Text 12"/>
          <p:cNvSpPr/>
          <p:nvPr/>
        </p:nvSpPr>
        <p:spPr>
          <a:xfrm>
            <a:off x="3500552" y="1554480"/>
            <a:ext cx="1109227" cy="78638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٢</a:t>
            </a:r>
            <a:endParaRPr lang="ar-SA" sz="2200" dirty="0"/>
          </a:p>
        </p:txBody>
      </p:sp>
      <p:sp>
        <p:nvSpPr>
          <p:cNvPr id="17" name="Text 13"/>
          <p:cNvSpPr/>
          <p:nvPr/>
        </p:nvSpPr>
        <p:spPr>
          <a:xfrm>
            <a:off x="4445186" y="1554480"/>
            <a:ext cx="1385485" cy="786384"/>
          </a:xfrm>
          <a:prstGeom prst="rect">
            <a:avLst/>
          </a:prstGeom>
          <a:noFill/>
          <a:ln/>
        </p:spPr>
        <p:txBody>
          <a:bodyPr wrap="square" lIns="0" tIns="0" rIns="0" bIns="0" rtlCol="0" anchor="ctr"/>
          <a:lstStyle/>
          <a:p>
            <a:pPr rtl="1" algn="r" indent="0" marL="0">
              <a:lnSpc>
                <a:spcPct val="105000"/>
              </a:lnSpc>
              <a:buNone/>
            </a:pPr>
            <a:r>
              <a:rPr lang="ar-SA" altLang="en-US" sz="960" b="1" dirty="0">
                <a:solidFill>
                  <a:srgbClr val="34473F"/>
                </a:solidFill>
                <a:latin typeface="Tajawal" pitchFamily="34" charset="0"/>
                <a:ea typeface="Tajawal" pitchFamily="34" charset="-122"/>
                <a:cs typeface="Tajawal" pitchFamily="34" charset="-120"/>
              </a:rPr>
              <a:t>بنود تعتمد على الشراكات</a:t>
            </a:r>
            <a:endParaRPr lang="ar-SA" sz="960" dirty="0"/>
          </a:p>
        </p:txBody>
      </p:sp>
      <p:sp>
        <p:nvSpPr>
          <p:cNvPr id="18" name="Shape 14"/>
          <p:cNvSpPr/>
          <p:nvPr/>
        </p:nvSpPr>
        <p:spPr>
          <a:xfrm>
            <a:off x="457200" y="1554480"/>
            <a:ext cx="2641016" cy="786384"/>
          </a:xfrm>
          <a:prstGeom prst="roundRect">
            <a:avLst>
              <a:gd name="adj" fmla="val 10465"/>
            </a:avLst>
          </a:prstGeom>
          <a:solidFill>
            <a:srgbClr val="FFFFFF"/>
          </a:solidFill>
          <a:ln w="12700">
            <a:solidFill>
              <a:srgbClr val="095242"/>
            </a:solidFill>
            <a:prstDash val="solid"/>
          </a:ln>
        </p:spPr>
      </p:sp>
      <p:sp>
        <p:nvSpPr>
          <p:cNvPr id="19" name="Text 15"/>
          <p:cNvSpPr/>
          <p:nvPr/>
        </p:nvSpPr>
        <p:spPr>
          <a:xfrm>
            <a:off x="621792" y="1554480"/>
            <a:ext cx="1109227" cy="786384"/>
          </a:xfrm>
          <a:prstGeom prst="rect">
            <a:avLst/>
          </a:prstGeom>
          <a:noFill/>
          <a:ln/>
        </p:spPr>
        <p:txBody>
          <a:bodyPr wrap="square" lIns="0" tIns="0" rIns="0" bIns="0" rtlCol="0" anchor="ctr"/>
          <a:lstStyle/>
          <a:p>
            <a:pPr rtl="1" algn="ctr" indent="0" marL="0">
              <a:buNone/>
            </a:pPr>
            <a:r>
              <a:rPr lang="ar-SA" altLang="en-US" sz="2200" dirty="0">
                <a:solidFill>
                  <a:srgbClr val="095242"/>
                </a:solidFill>
                <a:latin typeface="Tajawal ExtraBold" pitchFamily="34" charset="0"/>
                <a:ea typeface="Tajawal ExtraBold" pitchFamily="34" charset="-122"/>
                <a:cs typeface="Tajawal ExtraBold" pitchFamily="34" charset="-120"/>
              </a:rPr>
              <a:t>١</a:t>
            </a:r>
            <a:endParaRPr lang="ar-SA" sz="2200" dirty="0"/>
          </a:p>
        </p:txBody>
      </p:sp>
      <p:sp>
        <p:nvSpPr>
          <p:cNvPr id="20" name="Text 16"/>
          <p:cNvSpPr/>
          <p:nvPr/>
        </p:nvSpPr>
        <p:spPr>
          <a:xfrm>
            <a:off x="1566427" y="1554480"/>
            <a:ext cx="1385485" cy="786384"/>
          </a:xfrm>
          <a:prstGeom prst="rect">
            <a:avLst/>
          </a:prstGeom>
          <a:noFill/>
          <a:ln/>
        </p:spPr>
        <p:txBody>
          <a:bodyPr wrap="square" lIns="0" tIns="0" rIns="0" bIns="0" rtlCol="0" anchor="ctr"/>
          <a:lstStyle/>
          <a:p>
            <a:pPr rtl="1" algn="r" indent="0" marL="0">
              <a:lnSpc>
                <a:spcPct val="105000"/>
              </a:lnSpc>
              <a:buNone/>
            </a:pPr>
            <a:r>
              <a:rPr lang="ar-SA" altLang="en-US" sz="960" b="1" dirty="0">
                <a:solidFill>
                  <a:srgbClr val="34473F"/>
                </a:solidFill>
                <a:latin typeface="Tajawal" pitchFamily="34" charset="0"/>
                <a:ea typeface="Tajawal" pitchFamily="34" charset="-122"/>
                <a:cs typeface="Tajawal" pitchFamily="34" charset="-120"/>
              </a:rPr>
              <a:t>بند اختياري حسب الموارد</a:t>
            </a:r>
            <a:endParaRPr lang="ar-SA" sz="96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2487168"/>
          <a:ext cx="11277295" cy="914400"/>
        </p:xfrm>
        <a:graphic>
          <a:graphicData uri="http://schemas.openxmlformats.org/drawingml/2006/table">
            <a:tbl>
              <a:tblPr/>
              <a:tblGrid>
                <a:gridCol w="1173175"/>
                <a:gridCol w="2011680"/>
                <a:gridCol w="2103120"/>
                <a:gridCol w="1554480"/>
                <a:gridCol w="4023360"/>
                <a:gridCol w="411480"/>
              </a:tblGrid>
              <a:tr h="310896">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الأولوية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مصدر التمويل</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التكلفة التقديرية (ريال)</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الهدف المرتبط</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بند الإنفاق</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م</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20040">
                <a:tc>
                  <a:txBody>
                    <a:bodyPr/>
                    <a:lstStyle/>
                    <a:p>
                      <a:pPr rtl="1" algn="ctr" indent="0" marL="0">
                        <a:buNone/>
                      </a:pPr>
                      <a:r>
                        <a:rPr lang="ar-SA" altLang="en-US" sz="860" b="1" dirty="0">
                          <a:solidFill>
                            <a:srgbClr val="095242"/>
                          </a:solidFill>
                          <a:latin typeface="Tajawal" pitchFamily="34" charset="0"/>
                          <a:ea typeface="Tajawal" pitchFamily="34" charset="-122"/>
                          <a:cs typeface="Tajawal" pitchFamily="34" charset="-120"/>
                        </a:rPr>
                        <a:t>أساسية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ميزانية 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80" dirty="0">
                          <a:solidFill>
                            <a:srgbClr val="8A9A93"/>
                          </a:solidFill>
                          <a:latin typeface="Tajawal" pitchFamily="34" charset="0"/>
                          <a:ea typeface="Tajawal" pitchFamily="34" charset="-122"/>
                          <a:cs typeface="Tajawal" pitchFamily="34" charset="-120"/>
                        </a:rPr>
                        <a:t>…………</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الهدف ١ و 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تجهيز الفصول والمعامل بالأثاث والأجهزة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١</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0040">
                <a:tc>
                  <a:txBody>
                    <a:bodyPr/>
                    <a:lstStyle/>
                    <a:p>
                      <a:pPr rtl="1" algn="ctr" indent="0" marL="0">
                        <a:buNone/>
                      </a:pPr>
                      <a:r>
                        <a:rPr lang="ar-SA" altLang="en-US" sz="860" b="1" dirty="0">
                          <a:solidFill>
                            <a:srgbClr val="095242"/>
                          </a:solidFill>
                          <a:latin typeface="Tajawal" pitchFamily="34" charset="0"/>
                          <a:ea typeface="Tajawal" pitchFamily="34" charset="-122"/>
                          <a:cs typeface="Tajawal" pitchFamily="34" charset="-120"/>
                        </a:rPr>
                        <a:t>أساسية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ميزانية 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80" dirty="0">
                          <a:solidFill>
                            <a:srgbClr val="8A9A93"/>
                          </a:solidFill>
                          <a:latin typeface="Tajawal" pitchFamily="34" charset="0"/>
                          <a:ea typeface="Tajawal" pitchFamily="34" charset="-122"/>
                          <a:cs typeface="Tajawal" pitchFamily="34" charset="-120"/>
                        </a:rPr>
                        <a:t>…………</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الهدف ١ و 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الصيانة الوقائية ومواءمة المرافق لذوي الإعاقة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٢</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0040">
                <a:tc>
                  <a:txBody>
                    <a:bodyPr/>
                    <a:lstStyle/>
                    <a:p>
                      <a:pPr rtl="1" algn="ctr" indent="0" marL="0">
                        <a:buNone/>
                      </a:pPr>
                      <a:r>
                        <a:rPr lang="ar-SA" altLang="en-US" sz="860" b="1" dirty="0">
                          <a:solidFill>
                            <a:srgbClr val="0089A1"/>
                          </a:solidFill>
                          <a:latin typeface="Tajawal" pitchFamily="34" charset="0"/>
                          <a:ea typeface="Tajawal" pitchFamily="34" charset="-122"/>
                          <a:cs typeface="Tajawal" pitchFamily="34" charset="-120"/>
                        </a:rPr>
                        <a:t>تعزيزية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شراكة مجتمعية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80" dirty="0">
                          <a:solidFill>
                            <a:srgbClr val="8A9A93"/>
                          </a:solidFill>
                          <a:latin typeface="Tajawal" pitchFamily="34" charset="0"/>
                          <a:ea typeface="Tajawal" pitchFamily="34" charset="-122"/>
                          <a:cs typeface="Tajawal" pitchFamily="34" charset="-120"/>
                        </a:rPr>
                        <a:t>…………</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الهدف ١ و 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مصادر التعلم والمكتبة والمصادر الرقمية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٣</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0040">
                <a:tc>
                  <a:txBody>
                    <a:bodyPr/>
                    <a:lstStyle/>
                    <a:p>
                      <a:pPr rtl="1" algn="ctr" indent="0" marL="0">
                        <a:buNone/>
                      </a:pPr>
                      <a:r>
                        <a:rPr lang="ar-SA" altLang="en-US" sz="860" b="1" dirty="0">
                          <a:solidFill>
                            <a:srgbClr val="095242"/>
                          </a:solidFill>
                          <a:latin typeface="Tajawal" pitchFamily="34" charset="0"/>
                          <a:ea typeface="Tajawal" pitchFamily="34" charset="-122"/>
                          <a:cs typeface="Tajawal" pitchFamily="34" charset="-120"/>
                        </a:rPr>
                        <a:t>أساسية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أكاديمية المعلم</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80" dirty="0">
                          <a:solidFill>
                            <a:srgbClr val="8A9A93"/>
                          </a:solidFill>
                          <a:latin typeface="Tajawal" pitchFamily="34" charset="0"/>
                          <a:ea typeface="Tajawal" pitchFamily="34" charset="-122"/>
                          <a:cs typeface="Tajawal" pitchFamily="34" charset="-120"/>
                        </a:rPr>
                        <a:t>…………</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الهدف ٨</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برامج التطوير المهني وورش المعلمين</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٤</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0040">
                <a:tc>
                  <a:txBody>
                    <a:bodyPr/>
                    <a:lstStyle/>
                    <a:p>
                      <a:pPr rtl="1" algn="ctr" indent="0" marL="0">
                        <a:buNone/>
                      </a:pPr>
                      <a:r>
                        <a:rPr lang="ar-SA" altLang="en-US" sz="860" b="1" dirty="0">
                          <a:solidFill>
                            <a:srgbClr val="0089A1"/>
                          </a:solidFill>
                          <a:latin typeface="Tajawal" pitchFamily="34" charset="0"/>
                          <a:ea typeface="Tajawal" pitchFamily="34" charset="-122"/>
                          <a:cs typeface="Tajawal" pitchFamily="34" charset="-120"/>
                        </a:rPr>
                        <a:t>تعزيزية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شراكة مجتمعية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80" dirty="0">
                          <a:solidFill>
                            <a:srgbClr val="8A9A93"/>
                          </a:solidFill>
                          <a:latin typeface="Tajawal" pitchFamily="34" charset="0"/>
                          <a:ea typeface="Tajawal" pitchFamily="34" charset="-122"/>
                          <a:cs typeface="Tajawal" pitchFamily="34" charset="-120"/>
                        </a:rPr>
                        <a:t>…………</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الهدف ٣ و 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جوائز وتحفيز السلوك الإيجابي والمسابقات</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٥</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0040">
                <a:tc>
                  <a:txBody>
                    <a:bodyPr/>
                    <a:lstStyle/>
                    <a:p>
                      <a:pPr rtl="1" algn="ctr" indent="0" marL="0">
                        <a:buNone/>
                      </a:pPr>
                      <a:r>
                        <a:rPr lang="ar-SA" altLang="en-US" sz="860" b="1" dirty="0">
                          <a:solidFill>
                            <a:srgbClr val="095242"/>
                          </a:solidFill>
                          <a:latin typeface="Tajawal" pitchFamily="34" charset="0"/>
                          <a:ea typeface="Tajawal" pitchFamily="34" charset="-122"/>
                          <a:cs typeface="Tajawal" pitchFamily="34" charset="-120"/>
                        </a:rPr>
                        <a:t>أساسية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ميزانية 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80" dirty="0">
                          <a:solidFill>
                            <a:srgbClr val="8A9A93"/>
                          </a:solidFill>
                          <a:latin typeface="Tajawal" pitchFamily="34" charset="0"/>
                          <a:ea typeface="Tajawal" pitchFamily="34" charset="-122"/>
                          <a:cs typeface="Tajawal" pitchFamily="34" charset="-120"/>
                        </a:rPr>
                        <a:t>…………</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الهدف ٢ و ١٠</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أدوات ومستلزمات الأمن والسلامة والإخلاء</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20040">
                <a:tc>
                  <a:txBody>
                    <a:bodyPr/>
                    <a:lstStyle/>
                    <a:p>
                      <a:pPr rtl="1" algn="ctr" indent="0" marL="0">
                        <a:buNone/>
                      </a:pPr>
                      <a:r>
                        <a:rPr lang="ar-SA" altLang="en-US" sz="860" b="1" dirty="0">
                          <a:solidFill>
                            <a:srgbClr val="8A9A93"/>
                          </a:solidFill>
                          <a:latin typeface="Tajawal" pitchFamily="34" charset="0"/>
                          <a:ea typeface="Tajawal" pitchFamily="34" charset="-122"/>
                          <a:cs typeface="Tajawal" pitchFamily="34" charset="-120"/>
                        </a:rPr>
                        <a:t>اختيارية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شراكة مجتمعية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80" dirty="0">
                          <a:solidFill>
                            <a:srgbClr val="8A9A93"/>
                          </a:solidFill>
                          <a:latin typeface="Tajawal" pitchFamily="34" charset="0"/>
                          <a:ea typeface="Tajawal" pitchFamily="34" charset="-122"/>
                          <a:cs typeface="Tajawal" pitchFamily="34" charset="-120"/>
                        </a:rPr>
                        <a:t>…………</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الهدف ٣ و ٦</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فعاليات المناسبات الوطنية والمبادرات المجتمعية</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20040">
                <a:tc>
                  <a:txBody>
                    <a:bodyPr/>
                    <a:lstStyle/>
                    <a:p>
                      <a:pPr rtl="1" algn="ctr" indent="0" marL="0">
                        <a:buNone/>
                      </a:pPr>
                      <a:r>
                        <a:rPr lang="ar-SA" altLang="en-US" sz="860" b="1" dirty="0">
                          <a:solidFill>
                            <a:srgbClr val="095242"/>
                          </a:solidFill>
                          <a:latin typeface="Tajawal" pitchFamily="34" charset="0"/>
                          <a:ea typeface="Tajawal" pitchFamily="34" charset="-122"/>
                          <a:cs typeface="Tajawal" pitchFamily="34" charset="-120"/>
                        </a:rPr>
                        <a:t>أساسية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ميزانية تشغيلية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80" dirty="0">
                          <a:solidFill>
                            <a:srgbClr val="8A9A93"/>
                          </a:solidFill>
                          <a:latin typeface="Tajawal" pitchFamily="34" charset="0"/>
                          <a:ea typeface="Tajawal" pitchFamily="34" charset="-122"/>
                          <a:cs typeface="Tajawal" pitchFamily="34" charset="-120"/>
                        </a:rPr>
                        <a:t>…………</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الهدف ١٠</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أدوات القياس والاستبانات وطباعة التقارير</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40" dirty="0">
                          <a:solidFill>
                            <a:srgbClr val="34473F"/>
                          </a:solidFill>
                          <a:latin typeface="Tajawal" pitchFamily="34" charset="0"/>
                          <a:ea typeface="Tajawal" pitchFamily="34" charset="-122"/>
                          <a:cs typeface="Tajawal" pitchFamily="34" charset="-120"/>
                        </a:rPr>
                        <a:t>٨</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22" name="Shape 17"/>
          <p:cNvSpPr/>
          <p:nvPr/>
        </p:nvSpPr>
        <p:spPr>
          <a:xfrm>
            <a:off x="457200" y="5504688"/>
            <a:ext cx="11277295" cy="822960"/>
          </a:xfrm>
          <a:prstGeom prst="roundRect">
            <a:avLst>
              <a:gd name="adj" fmla="val 10000"/>
            </a:avLst>
          </a:prstGeom>
          <a:solidFill>
            <a:srgbClr val="095242"/>
          </a:solidFill>
          <a:ln/>
          <a:effectLst>
            <a:outerShdw sx="100000" sy="100000" kx="0" ky="0" algn="bl" rotWithShape="0" blurRad="127000" dist="31750" dir="5400000">
              <a:srgbClr val="062A21">
                <a:alpha val="20000"/>
              </a:srgbClr>
            </a:outerShdw>
          </a:effectLst>
        </p:spPr>
      </p:sp>
      <p:pic>
        <p:nvPicPr>
          <p:cNvPr id="23" name="Image 2" descr="/tmp/claude-0/-home-user-Mobile1/ab9bbf47-b054-5f6e-be59-70476e095ce8/scratchpad/assets/dots_white.png">    </p:cNvPr>
          <p:cNvPicPr>
            <a:picLocks noChangeAspect="1"/>
          </p:cNvPicPr>
          <p:nvPr/>
        </p:nvPicPr>
        <p:blipFill>
          <a:blip r:embed="rId3">
            <a:alphaModFix amt="26000"/>
          </a:blip>
          <a:stretch>
            <a:fillRect/>
          </a:stretch>
        </p:blipFill>
        <p:spPr>
          <a:xfrm>
            <a:off x="566928" y="5559552"/>
            <a:ext cx="1097280" cy="713232"/>
          </a:xfrm>
          <a:prstGeom prst="rect">
            <a:avLst/>
          </a:prstGeom>
        </p:spPr>
      </p:pic>
      <p:sp>
        <p:nvSpPr>
          <p:cNvPr id="24" name="Text 18"/>
          <p:cNvSpPr/>
          <p:nvPr/>
        </p:nvSpPr>
        <p:spPr>
          <a:xfrm>
            <a:off x="8716975" y="5504688"/>
            <a:ext cx="2743200" cy="822960"/>
          </a:xfrm>
          <a:prstGeom prst="rect">
            <a:avLst/>
          </a:prstGeom>
          <a:noFill/>
          <a:ln/>
        </p:spPr>
        <p:txBody>
          <a:bodyPr wrap="square" lIns="0" tIns="0" rIns="0" bIns="0" rtlCol="0" anchor="ctr"/>
          <a:lstStyle/>
          <a:p>
            <a:pPr rtl="1" algn="r" indent="0" marL="0">
              <a:buNone/>
            </a:pPr>
            <a:r>
              <a:rPr lang="ar-SA" altLang="en-US" sz="1200" b="1" dirty="0">
                <a:solidFill>
                  <a:srgbClr val="FFFFFF"/>
                </a:solidFill>
                <a:latin typeface="Tajawal" pitchFamily="34" charset="0"/>
                <a:ea typeface="Tajawal" pitchFamily="34" charset="-122"/>
                <a:cs typeface="Tajawal" pitchFamily="34" charset="-120"/>
              </a:rPr>
              <a:t>تصنيف البرامج قبل الإنفاق</a:t>
            </a:r>
            <a:endParaRPr lang="ar-SA" sz="1200" dirty="0"/>
          </a:p>
        </p:txBody>
      </p:sp>
      <p:sp>
        <p:nvSpPr>
          <p:cNvPr id="25" name="Text 19"/>
          <p:cNvSpPr/>
          <p:nvPr/>
        </p:nvSpPr>
        <p:spPr>
          <a:xfrm>
            <a:off x="1828800" y="5504688"/>
            <a:ext cx="6613855" cy="822960"/>
          </a:xfrm>
          <a:prstGeom prst="rect">
            <a:avLst/>
          </a:prstGeom>
          <a:noFill/>
          <a:ln/>
        </p:spPr>
        <p:txBody>
          <a:bodyPr wrap="square" lIns="0" tIns="0" rIns="0" bIns="0" rtlCol="0" anchor="ctr"/>
          <a:lstStyle/>
          <a:p>
            <a:pPr rtl="1" algn="r" indent="0" marL="0">
              <a:lnSpc>
                <a:spcPct val="116000"/>
              </a:lnSpc>
              <a:buNone/>
            </a:pPr>
            <a:r>
              <a:rPr lang="ar-SA" altLang="en-US" sz="920" dirty="0">
                <a:solidFill>
                  <a:srgbClr val="D2E4DD"/>
                </a:solidFill>
                <a:latin typeface="Tajawal" pitchFamily="34" charset="0"/>
                <a:ea typeface="Tajawal" pitchFamily="34" charset="-122"/>
                <a:cs typeface="Tajawal" pitchFamily="34" charset="-120"/>
              </a:rPr>
              <a:t>مع ١١٢ برنامجًا في عام دراسي واحد يصبح التصنيف ضرورة: أساسية تُنفَّذ حتمًا، تعزيزية عند توفر الموارد، اختيارية إن سمح الوقت. التصنيف يحمي جودة التنفيذ من التشتّت.</a:t>
            </a:r>
            <a:endParaRPr lang="ar-SA" sz="92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الرابع · أدوات تطوير الخطة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المخطط الزمني لبرامج الخطة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المخطط الزمني</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٥٨</a:t>
            </a:r>
            <a:endParaRPr lang="ar-SA" sz="900" dirty="0"/>
          </a:p>
        </p:txBody>
      </p:sp>
      <p:sp>
        <p:nvSpPr>
          <p:cNvPr id="8" name="Text 4"/>
          <p:cNvSpPr/>
          <p:nvPr/>
        </p:nvSpPr>
        <p:spPr>
          <a:xfrm>
            <a:off x="457200" y="1005840"/>
            <a:ext cx="11277295" cy="420624"/>
          </a:xfrm>
          <a:prstGeom prst="rect">
            <a:avLst/>
          </a:prstGeom>
          <a:noFill/>
          <a:ln/>
        </p:spPr>
        <p:txBody>
          <a:bodyPr wrap="square" lIns="0" tIns="0" rIns="0" bIns="0" rtlCol="0" anchor="t"/>
          <a:lstStyle/>
          <a:p>
            <a:pPr rtl="1" algn="r" indent="0" marL="0">
              <a:lnSpc>
                <a:spcPct val="120000"/>
              </a:lnSpc>
              <a:buNone/>
            </a:pPr>
            <a:r>
              <a:rPr lang="ar-SA" altLang="en-US" sz="1040" dirty="0">
                <a:solidFill>
                  <a:srgbClr val="34473F"/>
                </a:solidFill>
                <a:latin typeface="Tajawal" pitchFamily="34" charset="0"/>
                <a:ea typeface="Tajawal" pitchFamily="34" charset="-122"/>
                <a:cs typeface="Tajawal" pitchFamily="34" charset="-120"/>
              </a:rPr>
              <a:t>تحويل عبارات «دوري» و«مستمر» و«أسبوع ٣ إلى ٥» إلى مخطط زمني واحد يكشف الأسابيع المزدحمة قبل وقوعها، ويربط البرامج بجولات المتابعة الأربع.</a:t>
            </a:r>
            <a:endParaRPr lang="ar-SA" sz="1040" dirty="0"/>
          </a:p>
        </p:txBody>
      </p:sp>
      <p:sp>
        <p:nvSpPr>
          <p:cNvPr id="9" name="Shape 5"/>
          <p:cNvSpPr/>
          <p:nvPr/>
        </p:nvSpPr>
        <p:spPr>
          <a:xfrm>
            <a:off x="4312768" y="1664208"/>
            <a:ext cx="3855568" cy="274320"/>
          </a:xfrm>
          <a:prstGeom prst="rect">
            <a:avLst/>
          </a:prstGeom>
          <a:solidFill>
            <a:srgbClr val="F2F8F5"/>
          </a:solidFill>
          <a:ln/>
        </p:spPr>
      </p:sp>
      <p:sp>
        <p:nvSpPr>
          <p:cNvPr id="10" name="Shape 6"/>
          <p:cNvSpPr/>
          <p:nvPr/>
        </p:nvSpPr>
        <p:spPr>
          <a:xfrm>
            <a:off x="457200" y="1664208"/>
            <a:ext cx="3855568" cy="274320"/>
          </a:xfrm>
          <a:prstGeom prst="rect">
            <a:avLst/>
          </a:prstGeom>
          <a:solidFill>
            <a:srgbClr val="EAF5F8"/>
          </a:solidFill>
          <a:ln/>
        </p:spPr>
      </p:sp>
      <p:sp>
        <p:nvSpPr>
          <p:cNvPr id="11" name="Text 7"/>
          <p:cNvSpPr/>
          <p:nvPr/>
        </p:nvSpPr>
        <p:spPr>
          <a:xfrm>
            <a:off x="4312768" y="1655064"/>
            <a:ext cx="3855568" cy="274320"/>
          </a:xfrm>
          <a:prstGeom prst="rect">
            <a:avLst/>
          </a:prstGeom>
          <a:noFill/>
          <a:ln/>
        </p:spPr>
        <p:txBody>
          <a:bodyPr wrap="square" lIns="0" tIns="0" rIns="0" bIns="0" rtlCol="0" anchor="ctr"/>
          <a:lstStyle/>
          <a:p>
            <a:pPr rtl="1" algn="ctr" indent="0" marL="0">
              <a:buNone/>
            </a:pPr>
            <a:r>
              <a:rPr lang="ar-SA" altLang="en-US" sz="900" b="1" dirty="0">
                <a:solidFill>
                  <a:srgbClr val="095242"/>
                </a:solidFill>
                <a:latin typeface="Tajawal" pitchFamily="34" charset="0"/>
                <a:ea typeface="Tajawal" pitchFamily="34" charset="-122"/>
                <a:cs typeface="Tajawal" pitchFamily="34" charset="-120"/>
              </a:rPr>
              <a:t>الفصل الأول</a:t>
            </a:r>
            <a:endParaRPr lang="ar-SA" sz="900" dirty="0"/>
          </a:p>
        </p:txBody>
      </p:sp>
      <p:sp>
        <p:nvSpPr>
          <p:cNvPr id="12" name="Text 8"/>
          <p:cNvSpPr/>
          <p:nvPr/>
        </p:nvSpPr>
        <p:spPr>
          <a:xfrm>
            <a:off x="457200" y="1655064"/>
            <a:ext cx="3855568" cy="274320"/>
          </a:xfrm>
          <a:prstGeom prst="rect">
            <a:avLst/>
          </a:prstGeom>
          <a:noFill/>
          <a:ln/>
        </p:spPr>
        <p:txBody>
          <a:bodyPr wrap="square" lIns="0" tIns="0" rIns="0" bIns="0" rtlCol="0" anchor="ctr"/>
          <a:lstStyle/>
          <a:p>
            <a:pPr rtl="1" algn="ctr" indent="0" marL="0">
              <a:buNone/>
            </a:pPr>
            <a:r>
              <a:rPr lang="ar-SA" altLang="en-US" sz="900" b="1" dirty="0">
                <a:solidFill>
                  <a:srgbClr val="0B4A56"/>
                </a:solidFill>
                <a:latin typeface="Tajawal" pitchFamily="34" charset="0"/>
                <a:ea typeface="Tajawal" pitchFamily="34" charset="-122"/>
                <a:cs typeface="Tajawal" pitchFamily="34" charset="-120"/>
              </a:rPr>
              <a:t>الفصل الثاني</a:t>
            </a:r>
            <a:endParaRPr lang="ar-SA" sz="900" dirty="0"/>
          </a:p>
        </p:txBody>
      </p:sp>
      <p:sp>
        <p:nvSpPr>
          <p:cNvPr id="13" name="Shape 9"/>
          <p:cNvSpPr/>
          <p:nvPr/>
        </p:nvSpPr>
        <p:spPr>
          <a:xfrm>
            <a:off x="7954137" y="1975104"/>
            <a:ext cx="0" cy="3749040"/>
          </a:xfrm>
          <a:prstGeom prst="line">
            <a:avLst/>
          </a:prstGeom>
          <a:noFill/>
          <a:ln w="9525">
            <a:solidFill>
              <a:srgbClr val="E3EDE8"/>
            </a:solidFill>
            <a:prstDash val="solid"/>
          </a:ln>
        </p:spPr>
      </p:sp>
      <p:sp>
        <p:nvSpPr>
          <p:cNvPr id="14" name="Text 10"/>
          <p:cNvSpPr/>
          <p:nvPr/>
        </p:nvSpPr>
        <p:spPr>
          <a:xfrm>
            <a:off x="7679817" y="1773936"/>
            <a:ext cx="548640" cy="201168"/>
          </a:xfrm>
          <a:prstGeom prst="rect">
            <a:avLst/>
          </a:prstGeom>
          <a:noFill/>
          <a:ln/>
        </p:spPr>
        <p:txBody>
          <a:bodyPr wrap="square" lIns="0" tIns="0" rIns="0" bIns="0" rtlCol="0" anchor="t"/>
          <a:lstStyle/>
          <a:p>
            <a:pPr rtl="1" algn="ctr" indent="0" marL="0">
              <a:buNone/>
            </a:pPr>
            <a:r>
              <a:rPr lang="ar-SA" altLang="en-US" sz="760" dirty="0">
                <a:solidFill>
                  <a:srgbClr val="8A9A93"/>
                </a:solidFill>
                <a:latin typeface="Tajawal" pitchFamily="34" charset="0"/>
                <a:ea typeface="Tajawal" pitchFamily="34" charset="-122"/>
                <a:cs typeface="Tajawal" pitchFamily="34" charset="-120"/>
              </a:rPr>
              <a:t>١</a:t>
            </a:r>
            <a:endParaRPr lang="ar-SA" sz="760" dirty="0"/>
          </a:p>
        </p:txBody>
      </p:sp>
      <p:sp>
        <p:nvSpPr>
          <p:cNvPr id="15" name="Shape 11"/>
          <p:cNvSpPr/>
          <p:nvPr/>
        </p:nvSpPr>
        <p:spPr>
          <a:xfrm>
            <a:off x="6883146" y="1975104"/>
            <a:ext cx="0" cy="3749040"/>
          </a:xfrm>
          <a:prstGeom prst="line">
            <a:avLst/>
          </a:prstGeom>
          <a:noFill/>
          <a:ln w="9525">
            <a:solidFill>
              <a:srgbClr val="E3EDE8"/>
            </a:solidFill>
            <a:prstDash val="solid"/>
          </a:ln>
        </p:spPr>
      </p:sp>
      <p:sp>
        <p:nvSpPr>
          <p:cNvPr id="16" name="Text 12"/>
          <p:cNvSpPr/>
          <p:nvPr/>
        </p:nvSpPr>
        <p:spPr>
          <a:xfrm>
            <a:off x="6608826" y="1773936"/>
            <a:ext cx="548640" cy="201168"/>
          </a:xfrm>
          <a:prstGeom prst="rect">
            <a:avLst/>
          </a:prstGeom>
          <a:noFill/>
          <a:ln/>
        </p:spPr>
        <p:txBody>
          <a:bodyPr wrap="square" lIns="0" tIns="0" rIns="0" bIns="0" rtlCol="0" anchor="t"/>
          <a:lstStyle/>
          <a:p>
            <a:pPr rtl="1" algn="ctr" indent="0" marL="0">
              <a:buNone/>
            </a:pPr>
            <a:r>
              <a:rPr lang="ar-SA" altLang="en-US" sz="760" dirty="0">
                <a:solidFill>
                  <a:srgbClr val="8A9A93"/>
                </a:solidFill>
                <a:latin typeface="Tajawal" pitchFamily="34" charset="0"/>
                <a:ea typeface="Tajawal" pitchFamily="34" charset="-122"/>
                <a:cs typeface="Tajawal" pitchFamily="34" charset="-120"/>
              </a:rPr>
              <a:t>٦</a:t>
            </a:r>
            <a:endParaRPr lang="ar-SA" sz="760" dirty="0"/>
          </a:p>
        </p:txBody>
      </p:sp>
      <p:sp>
        <p:nvSpPr>
          <p:cNvPr id="17" name="Shape 13"/>
          <p:cNvSpPr/>
          <p:nvPr/>
        </p:nvSpPr>
        <p:spPr>
          <a:xfrm>
            <a:off x="5597957" y="1975104"/>
            <a:ext cx="0" cy="3749040"/>
          </a:xfrm>
          <a:prstGeom prst="line">
            <a:avLst/>
          </a:prstGeom>
          <a:noFill/>
          <a:ln w="9525">
            <a:solidFill>
              <a:srgbClr val="E3EDE8"/>
            </a:solidFill>
            <a:prstDash val="solid"/>
          </a:ln>
        </p:spPr>
      </p:sp>
      <p:sp>
        <p:nvSpPr>
          <p:cNvPr id="18" name="Text 14"/>
          <p:cNvSpPr/>
          <p:nvPr/>
        </p:nvSpPr>
        <p:spPr>
          <a:xfrm>
            <a:off x="5323637" y="1773936"/>
            <a:ext cx="548640" cy="201168"/>
          </a:xfrm>
          <a:prstGeom prst="rect">
            <a:avLst/>
          </a:prstGeom>
          <a:noFill/>
          <a:ln/>
        </p:spPr>
        <p:txBody>
          <a:bodyPr wrap="square" lIns="0" tIns="0" rIns="0" bIns="0" rtlCol="0" anchor="t"/>
          <a:lstStyle/>
          <a:p>
            <a:pPr rtl="1" algn="ctr" indent="0" marL="0">
              <a:buNone/>
            </a:pPr>
            <a:r>
              <a:rPr lang="ar-SA" altLang="en-US" sz="760" dirty="0">
                <a:solidFill>
                  <a:srgbClr val="8A9A93"/>
                </a:solidFill>
                <a:latin typeface="Tajawal" pitchFamily="34" charset="0"/>
                <a:ea typeface="Tajawal" pitchFamily="34" charset="-122"/>
                <a:cs typeface="Tajawal" pitchFamily="34" charset="-120"/>
              </a:rPr>
              <a:t>١٢</a:t>
            </a:r>
            <a:endParaRPr lang="ar-SA" sz="760" dirty="0"/>
          </a:p>
        </p:txBody>
      </p:sp>
      <p:sp>
        <p:nvSpPr>
          <p:cNvPr id="19" name="Shape 15"/>
          <p:cNvSpPr/>
          <p:nvPr/>
        </p:nvSpPr>
        <p:spPr>
          <a:xfrm>
            <a:off x="4312768" y="1975104"/>
            <a:ext cx="0" cy="3749040"/>
          </a:xfrm>
          <a:prstGeom prst="line">
            <a:avLst/>
          </a:prstGeom>
          <a:noFill/>
          <a:ln w="9525">
            <a:solidFill>
              <a:srgbClr val="E3EDE8"/>
            </a:solidFill>
            <a:prstDash val="solid"/>
          </a:ln>
        </p:spPr>
      </p:sp>
      <p:sp>
        <p:nvSpPr>
          <p:cNvPr id="20" name="Text 16"/>
          <p:cNvSpPr/>
          <p:nvPr/>
        </p:nvSpPr>
        <p:spPr>
          <a:xfrm>
            <a:off x="4038448" y="1773936"/>
            <a:ext cx="548640" cy="201168"/>
          </a:xfrm>
          <a:prstGeom prst="rect">
            <a:avLst/>
          </a:prstGeom>
          <a:noFill/>
          <a:ln/>
        </p:spPr>
        <p:txBody>
          <a:bodyPr wrap="square" lIns="0" tIns="0" rIns="0" bIns="0" rtlCol="0" anchor="t"/>
          <a:lstStyle/>
          <a:p>
            <a:pPr rtl="1" algn="ctr" indent="0" marL="0">
              <a:buNone/>
            </a:pPr>
            <a:r>
              <a:rPr lang="ar-SA" altLang="en-US" sz="760" dirty="0">
                <a:solidFill>
                  <a:srgbClr val="8A9A93"/>
                </a:solidFill>
                <a:latin typeface="Tajawal" pitchFamily="34" charset="0"/>
                <a:ea typeface="Tajawal" pitchFamily="34" charset="-122"/>
                <a:cs typeface="Tajawal" pitchFamily="34" charset="-120"/>
              </a:rPr>
              <a:t>١٨</a:t>
            </a:r>
            <a:endParaRPr lang="ar-SA" sz="760" dirty="0"/>
          </a:p>
        </p:txBody>
      </p:sp>
      <p:sp>
        <p:nvSpPr>
          <p:cNvPr id="21" name="Shape 17"/>
          <p:cNvSpPr/>
          <p:nvPr/>
        </p:nvSpPr>
        <p:spPr>
          <a:xfrm>
            <a:off x="3027578" y="1975104"/>
            <a:ext cx="0" cy="3749040"/>
          </a:xfrm>
          <a:prstGeom prst="line">
            <a:avLst/>
          </a:prstGeom>
          <a:noFill/>
          <a:ln w="9525">
            <a:solidFill>
              <a:srgbClr val="E3EDE8"/>
            </a:solidFill>
            <a:prstDash val="solid"/>
          </a:ln>
        </p:spPr>
      </p:sp>
      <p:sp>
        <p:nvSpPr>
          <p:cNvPr id="22" name="Text 18"/>
          <p:cNvSpPr/>
          <p:nvPr/>
        </p:nvSpPr>
        <p:spPr>
          <a:xfrm>
            <a:off x="2753258" y="1773936"/>
            <a:ext cx="548640" cy="201168"/>
          </a:xfrm>
          <a:prstGeom prst="rect">
            <a:avLst/>
          </a:prstGeom>
          <a:noFill/>
          <a:ln/>
        </p:spPr>
        <p:txBody>
          <a:bodyPr wrap="square" lIns="0" tIns="0" rIns="0" bIns="0" rtlCol="0" anchor="t"/>
          <a:lstStyle/>
          <a:p>
            <a:pPr rtl="1" algn="ctr" indent="0" marL="0">
              <a:buNone/>
            </a:pPr>
            <a:r>
              <a:rPr lang="ar-SA" altLang="en-US" sz="760" dirty="0">
                <a:solidFill>
                  <a:srgbClr val="8A9A93"/>
                </a:solidFill>
                <a:latin typeface="Tajawal" pitchFamily="34" charset="0"/>
                <a:ea typeface="Tajawal" pitchFamily="34" charset="-122"/>
                <a:cs typeface="Tajawal" pitchFamily="34" charset="-120"/>
              </a:rPr>
              <a:t>٢٤</a:t>
            </a:r>
            <a:endParaRPr lang="ar-SA" sz="760" dirty="0"/>
          </a:p>
        </p:txBody>
      </p:sp>
      <p:sp>
        <p:nvSpPr>
          <p:cNvPr id="23" name="Shape 19"/>
          <p:cNvSpPr/>
          <p:nvPr/>
        </p:nvSpPr>
        <p:spPr>
          <a:xfrm>
            <a:off x="1742389" y="1975104"/>
            <a:ext cx="0" cy="3749040"/>
          </a:xfrm>
          <a:prstGeom prst="line">
            <a:avLst/>
          </a:prstGeom>
          <a:noFill/>
          <a:ln w="9525">
            <a:solidFill>
              <a:srgbClr val="E3EDE8"/>
            </a:solidFill>
            <a:prstDash val="solid"/>
          </a:ln>
        </p:spPr>
      </p:sp>
      <p:sp>
        <p:nvSpPr>
          <p:cNvPr id="24" name="Text 20"/>
          <p:cNvSpPr/>
          <p:nvPr/>
        </p:nvSpPr>
        <p:spPr>
          <a:xfrm>
            <a:off x="1468069" y="1773936"/>
            <a:ext cx="548640" cy="201168"/>
          </a:xfrm>
          <a:prstGeom prst="rect">
            <a:avLst/>
          </a:prstGeom>
          <a:noFill/>
          <a:ln/>
        </p:spPr>
        <p:txBody>
          <a:bodyPr wrap="square" lIns="0" tIns="0" rIns="0" bIns="0" rtlCol="0" anchor="t"/>
          <a:lstStyle/>
          <a:p>
            <a:pPr rtl="1" algn="ctr" indent="0" marL="0">
              <a:buNone/>
            </a:pPr>
            <a:r>
              <a:rPr lang="ar-SA" altLang="en-US" sz="760" dirty="0">
                <a:solidFill>
                  <a:srgbClr val="8A9A93"/>
                </a:solidFill>
                <a:latin typeface="Tajawal" pitchFamily="34" charset="0"/>
                <a:ea typeface="Tajawal" pitchFamily="34" charset="-122"/>
                <a:cs typeface="Tajawal" pitchFamily="34" charset="-120"/>
              </a:rPr>
              <a:t>٣٠</a:t>
            </a:r>
            <a:endParaRPr lang="ar-SA" sz="760" dirty="0"/>
          </a:p>
        </p:txBody>
      </p:sp>
      <p:sp>
        <p:nvSpPr>
          <p:cNvPr id="25" name="Shape 21"/>
          <p:cNvSpPr/>
          <p:nvPr/>
        </p:nvSpPr>
        <p:spPr>
          <a:xfrm>
            <a:off x="457200" y="1975104"/>
            <a:ext cx="0" cy="3749040"/>
          </a:xfrm>
          <a:prstGeom prst="line">
            <a:avLst/>
          </a:prstGeom>
          <a:noFill/>
          <a:ln w="9525">
            <a:solidFill>
              <a:srgbClr val="E3EDE8"/>
            </a:solidFill>
            <a:prstDash val="solid"/>
          </a:ln>
        </p:spPr>
      </p:sp>
      <p:sp>
        <p:nvSpPr>
          <p:cNvPr id="26" name="Text 22"/>
          <p:cNvSpPr/>
          <p:nvPr/>
        </p:nvSpPr>
        <p:spPr>
          <a:xfrm>
            <a:off x="182880" y="1773936"/>
            <a:ext cx="548640" cy="201168"/>
          </a:xfrm>
          <a:prstGeom prst="rect">
            <a:avLst/>
          </a:prstGeom>
          <a:noFill/>
          <a:ln/>
        </p:spPr>
        <p:txBody>
          <a:bodyPr wrap="square" lIns="0" tIns="0" rIns="0" bIns="0" rtlCol="0" anchor="t"/>
          <a:lstStyle/>
          <a:p>
            <a:pPr rtl="1" algn="ctr" indent="0" marL="0">
              <a:buNone/>
            </a:pPr>
            <a:r>
              <a:rPr lang="ar-SA" altLang="en-US" sz="760" dirty="0">
                <a:solidFill>
                  <a:srgbClr val="8A9A93"/>
                </a:solidFill>
                <a:latin typeface="Tajawal" pitchFamily="34" charset="0"/>
                <a:ea typeface="Tajawal" pitchFamily="34" charset="-122"/>
                <a:cs typeface="Tajawal" pitchFamily="34" charset="-120"/>
              </a:rPr>
              <a:t>٣٦</a:t>
            </a:r>
            <a:endParaRPr lang="ar-SA" sz="760" dirty="0"/>
          </a:p>
        </p:txBody>
      </p:sp>
      <p:sp>
        <p:nvSpPr>
          <p:cNvPr id="27" name="Shape 23"/>
          <p:cNvSpPr/>
          <p:nvPr/>
        </p:nvSpPr>
        <p:spPr>
          <a:xfrm>
            <a:off x="7311542" y="1975104"/>
            <a:ext cx="0" cy="3749040"/>
          </a:xfrm>
          <a:prstGeom prst="line">
            <a:avLst/>
          </a:prstGeom>
          <a:noFill/>
          <a:ln w="15875">
            <a:solidFill>
              <a:srgbClr val="C9A45C"/>
            </a:solidFill>
            <a:prstDash val="dash"/>
          </a:ln>
        </p:spPr>
      </p:sp>
      <p:sp>
        <p:nvSpPr>
          <p:cNvPr id="28" name="Shape 24"/>
          <p:cNvSpPr/>
          <p:nvPr/>
        </p:nvSpPr>
        <p:spPr>
          <a:xfrm>
            <a:off x="7247534" y="5742432"/>
            <a:ext cx="128016" cy="128016"/>
          </a:xfrm>
          <a:prstGeom prst="diamond">
            <a:avLst/>
          </a:prstGeom>
          <a:solidFill>
            <a:srgbClr val="C9A45C"/>
          </a:solidFill>
          <a:ln/>
        </p:spPr>
      </p:sp>
      <p:sp>
        <p:nvSpPr>
          <p:cNvPr id="29" name="Text 25"/>
          <p:cNvSpPr/>
          <p:nvPr/>
        </p:nvSpPr>
        <p:spPr>
          <a:xfrm>
            <a:off x="6653174" y="5888736"/>
            <a:ext cx="1316736" cy="219456"/>
          </a:xfrm>
          <a:prstGeom prst="rect">
            <a:avLst/>
          </a:prstGeom>
          <a:noFill/>
          <a:ln/>
        </p:spPr>
        <p:txBody>
          <a:bodyPr wrap="square" lIns="0" tIns="0" rIns="0" bIns="0" rtlCol="0" anchor="t"/>
          <a:lstStyle/>
          <a:p>
            <a:pPr rtl="1" algn="ctr" indent="0" marL="0">
              <a:buNone/>
            </a:pPr>
            <a:r>
              <a:rPr lang="ar-SA" altLang="en-US" sz="740" b="1" dirty="0">
                <a:solidFill>
                  <a:srgbClr val="C9A45C"/>
                </a:solidFill>
                <a:latin typeface="Tajawal" pitchFamily="34" charset="0"/>
                <a:ea typeface="Tajawal" pitchFamily="34" charset="-122"/>
                <a:cs typeface="Tajawal" pitchFamily="34" charset="-120"/>
              </a:rPr>
              <a:t>المتابعة الأولى</a:t>
            </a:r>
            <a:endParaRPr lang="ar-SA" sz="740" dirty="0"/>
          </a:p>
        </p:txBody>
      </p:sp>
      <p:sp>
        <p:nvSpPr>
          <p:cNvPr id="30" name="Shape 26"/>
          <p:cNvSpPr/>
          <p:nvPr/>
        </p:nvSpPr>
        <p:spPr>
          <a:xfrm>
            <a:off x="4955362" y="1975104"/>
            <a:ext cx="0" cy="3749040"/>
          </a:xfrm>
          <a:prstGeom prst="line">
            <a:avLst/>
          </a:prstGeom>
          <a:noFill/>
          <a:ln w="15875">
            <a:solidFill>
              <a:srgbClr val="C9A45C"/>
            </a:solidFill>
            <a:prstDash val="dash"/>
          </a:ln>
        </p:spPr>
      </p:sp>
      <p:sp>
        <p:nvSpPr>
          <p:cNvPr id="31" name="Shape 27"/>
          <p:cNvSpPr/>
          <p:nvPr/>
        </p:nvSpPr>
        <p:spPr>
          <a:xfrm>
            <a:off x="4891354" y="5742432"/>
            <a:ext cx="128016" cy="128016"/>
          </a:xfrm>
          <a:prstGeom prst="diamond">
            <a:avLst/>
          </a:prstGeom>
          <a:solidFill>
            <a:srgbClr val="C9A45C"/>
          </a:solidFill>
          <a:ln/>
        </p:spPr>
      </p:sp>
      <p:sp>
        <p:nvSpPr>
          <p:cNvPr id="32" name="Text 28"/>
          <p:cNvSpPr/>
          <p:nvPr/>
        </p:nvSpPr>
        <p:spPr>
          <a:xfrm>
            <a:off x="4296994" y="5888736"/>
            <a:ext cx="1316736" cy="219456"/>
          </a:xfrm>
          <a:prstGeom prst="rect">
            <a:avLst/>
          </a:prstGeom>
          <a:noFill/>
          <a:ln/>
        </p:spPr>
        <p:txBody>
          <a:bodyPr wrap="square" lIns="0" tIns="0" rIns="0" bIns="0" rtlCol="0" anchor="t"/>
          <a:lstStyle/>
          <a:p>
            <a:pPr rtl="1" algn="ctr" indent="0" marL="0">
              <a:buNone/>
            </a:pPr>
            <a:r>
              <a:rPr lang="ar-SA" altLang="en-US" sz="740" b="1" dirty="0">
                <a:solidFill>
                  <a:srgbClr val="C9A45C"/>
                </a:solidFill>
                <a:latin typeface="Tajawal" pitchFamily="34" charset="0"/>
                <a:ea typeface="Tajawal" pitchFamily="34" charset="-122"/>
                <a:cs typeface="Tajawal" pitchFamily="34" charset="-120"/>
              </a:rPr>
              <a:t>المتابعة الثانية</a:t>
            </a:r>
            <a:endParaRPr lang="ar-SA" sz="740" dirty="0"/>
          </a:p>
        </p:txBody>
      </p:sp>
      <p:sp>
        <p:nvSpPr>
          <p:cNvPr id="33" name="Shape 29"/>
          <p:cNvSpPr/>
          <p:nvPr/>
        </p:nvSpPr>
        <p:spPr>
          <a:xfrm>
            <a:off x="2813380" y="1975104"/>
            <a:ext cx="0" cy="3749040"/>
          </a:xfrm>
          <a:prstGeom prst="line">
            <a:avLst/>
          </a:prstGeom>
          <a:noFill/>
          <a:ln w="15875">
            <a:solidFill>
              <a:srgbClr val="C9A45C"/>
            </a:solidFill>
            <a:prstDash val="dash"/>
          </a:ln>
        </p:spPr>
      </p:sp>
      <p:sp>
        <p:nvSpPr>
          <p:cNvPr id="34" name="Shape 30"/>
          <p:cNvSpPr/>
          <p:nvPr/>
        </p:nvSpPr>
        <p:spPr>
          <a:xfrm>
            <a:off x="2749372" y="5742432"/>
            <a:ext cx="128016" cy="128016"/>
          </a:xfrm>
          <a:prstGeom prst="diamond">
            <a:avLst/>
          </a:prstGeom>
          <a:solidFill>
            <a:srgbClr val="C9A45C"/>
          </a:solidFill>
          <a:ln/>
        </p:spPr>
      </p:sp>
      <p:sp>
        <p:nvSpPr>
          <p:cNvPr id="35" name="Text 31"/>
          <p:cNvSpPr/>
          <p:nvPr/>
        </p:nvSpPr>
        <p:spPr>
          <a:xfrm>
            <a:off x="2155012" y="5888736"/>
            <a:ext cx="1316736" cy="219456"/>
          </a:xfrm>
          <a:prstGeom prst="rect">
            <a:avLst/>
          </a:prstGeom>
          <a:noFill/>
          <a:ln/>
        </p:spPr>
        <p:txBody>
          <a:bodyPr wrap="square" lIns="0" tIns="0" rIns="0" bIns="0" rtlCol="0" anchor="t"/>
          <a:lstStyle/>
          <a:p>
            <a:pPr rtl="1" algn="ctr" indent="0" marL="0">
              <a:buNone/>
            </a:pPr>
            <a:r>
              <a:rPr lang="ar-SA" altLang="en-US" sz="740" b="1" dirty="0">
                <a:solidFill>
                  <a:srgbClr val="C9A45C"/>
                </a:solidFill>
                <a:latin typeface="Tajawal" pitchFamily="34" charset="0"/>
                <a:ea typeface="Tajawal" pitchFamily="34" charset="-122"/>
                <a:cs typeface="Tajawal" pitchFamily="34" charset="-120"/>
              </a:rPr>
              <a:t>المتابعة الثالثة</a:t>
            </a:r>
            <a:endParaRPr lang="ar-SA" sz="740" dirty="0"/>
          </a:p>
        </p:txBody>
      </p:sp>
      <p:sp>
        <p:nvSpPr>
          <p:cNvPr id="36" name="Shape 32"/>
          <p:cNvSpPr/>
          <p:nvPr/>
        </p:nvSpPr>
        <p:spPr>
          <a:xfrm>
            <a:off x="457200" y="1975104"/>
            <a:ext cx="0" cy="3749040"/>
          </a:xfrm>
          <a:prstGeom prst="line">
            <a:avLst/>
          </a:prstGeom>
          <a:noFill/>
          <a:ln w="15875">
            <a:solidFill>
              <a:srgbClr val="C9A45C"/>
            </a:solidFill>
            <a:prstDash val="dash"/>
          </a:ln>
        </p:spPr>
      </p:sp>
      <p:sp>
        <p:nvSpPr>
          <p:cNvPr id="37" name="Shape 33"/>
          <p:cNvSpPr/>
          <p:nvPr/>
        </p:nvSpPr>
        <p:spPr>
          <a:xfrm>
            <a:off x="393192" y="5742432"/>
            <a:ext cx="128016" cy="128016"/>
          </a:xfrm>
          <a:prstGeom prst="diamond">
            <a:avLst/>
          </a:prstGeom>
          <a:solidFill>
            <a:srgbClr val="C9A45C"/>
          </a:solidFill>
          <a:ln/>
        </p:spPr>
      </p:sp>
      <p:sp>
        <p:nvSpPr>
          <p:cNvPr id="38" name="Text 34"/>
          <p:cNvSpPr/>
          <p:nvPr/>
        </p:nvSpPr>
        <p:spPr>
          <a:xfrm>
            <a:off x="-201168" y="5888736"/>
            <a:ext cx="1316736" cy="219456"/>
          </a:xfrm>
          <a:prstGeom prst="rect">
            <a:avLst/>
          </a:prstGeom>
          <a:noFill/>
          <a:ln/>
        </p:spPr>
        <p:txBody>
          <a:bodyPr wrap="square" lIns="0" tIns="0" rIns="0" bIns="0" rtlCol="0" anchor="t"/>
          <a:lstStyle/>
          <a:p>
            <a:pPr rtl="1" algn="ctr" indent="0" marL="0">
              <a:buNone/>
            </a:pPr>
            <a:r>
              <a:rPr lang="ar-SA" altLang="en-US" sz="740" b="1" dirty="0">
                <a:solidFill>
                  <a:srgbClr val="C9A45C"/>
                </a:solidFill>
                <a:latin typeface="Tajawal" pitchFamily="34" charset="0"/>
                <a:ea typeface="Tajawal" pitchFamily="34" charset="-122"/>
                <a:cs typeface="Tajawal" pitchFamily="34" charset="-120"/>
              </a:rPr>
              <a:t>المتابعة الرابعة</a:t>
            </a:r>
            <a:endParaRPr lang="ar-SA" sz="740" dirty="0"/>
          </a:p>
        </p:txBody>
      </p:sp>
      <p:sp>
        <p:nvSpPr>
          <p:cNvPr id="39" name="Text 35"/>
          <p:cNvSpPr/>
          <p:nvPr/>
        </p:nvSpPr>
        <p:spPr>
          <a:xfrm>
            <a:off x="8278063" y="204825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١.  ضمان وصول التعليم للجميع</a:t>
            </a:r>
            <a:endParaRPr lang="ar-SA" sz="880" dirty="0"/>
          </a:p>
        </p:txBody>
      </p:sp>
      <p:sp>
        <p:nvSpPr>
          <p:cNvPr id="40" name="Shape 36"/>
          <p:cNvSpPr/>
          <p:nvPr/>
        </p:nvSpPr>
        <p:spPr>
          <a:xfrm>
            <a:off x="1742389" y="2130552"/>
            <a:ext cx="6211748" cy="201168"/>
          </a:xfrm>
          <a:prstGeom prst="roundRect">
            <a:avLst>
              <a:gd name="adj" fmla="val 22727"/>
            </a:avLst>
          </a:prstGeom>
          <a:solidFill>
            <a:srgbClr val="095242"/>
          </a:solidFill>
          <a:ln/>
        </p:spPr>
      </p:sp>
      <p:sp>
        <p:nvSpPr>
          <p:cNvPr id="41" name="Text 37"/>
          <p:cNvSpPr/>
          <p:nvPr/>
        </p:nvSpPr>
        <p:spPr>
          <a:xfrm>
            <a:off x="1742389" y="2121408"/>
            <a:ext cx="6211748"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١ إلى ٣٠</a:t>
            </a:r>
            <a:endParaRPr lang="ar-SA" sz="740" dirty="0"/>
          </a:p>
        </p:txBody>
      </p:sp>
      <p:sp>
        <p:nvSpPr>
          <p:cNvPr id="42" name="Shape 38"/>
          <p:cNvSpPr/>
          <p:nvPr/>
        </p:nvSpPr>
        <p:spPr>
          <a:xfrm>
            <a:off x="457200" y="2414016"/>
            <a:ext cx="11277295" cy="365760"/>
          </a:xfrm>
          <a:prstGeom prst="rect">
            <a:avLst/>
          </a:prstGeom>
          <a:solidFill>
            <a:srgbClr val="F2F8F5"/>
          </a:solidFill>
          <a:ln/>
        </p:spPr>
      </p:sp>
      <p:sp>
        <p:nvSpPr>
          <p:cNvPr id="43" name="Text 39"/>
          <p:cNvSpPr/>
          <p:nvPr/>
        </p:nvSpPr>
        <p:spPr>
          <a:xfrm>
            <a:off x="8278063" y="241401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٢.  تطوير بيئة مدرسية آمنة وابتكارية</a:t>
            </a:r>
            <a:endParaRPr lang="ar-SA" sz="880" dirty="0"/>
          </a:p>
        </p:txBody>
      </p:sp>
      <p:sp>
        <p:nvSpPr>
          <p:cNvPr id="44" name="Shape 40"/>
          <p:cNvSpPr/>
          <p:nvPr/>
        </p:nvSpPr>
        <p:spPr>
          <a:xfrm>
            <a:off x="457200" y="2496312"/>
            <a:ext cx="7496937" cy="201168"/>
          </a:xfrm>
          <a:prstGeom prst="roundRect">
            <a:avLst>
              <a:gd name="adj" fmla="val 22727"/>
            </a:avLst>
          </a:prstGeom>
          <a:solidFill>
            <a:srgbClr val="095242"/>
          </a:solidFill>
          <a:ln/>
        </p:spPr>
      </p:sp>
      <p:sp>
        <p:nvSpPr>
          <p:cNvPr id="45" name="Text 41"/>
          <p:cNvSpPr/>
          <p:nvPr/>
        </p:nvSpPr>
        <p:spPr>
          <a:xfrm>
            <a:off x="457200" y="2487168"/>
            <a:ext cx="7496937"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١ إلى ٣٦</a:t>
            </a:r>
            <a:endParaRPr lang="ar-SA" sz="740" dirty="0"/>
          </a:p>
        </p:txBody>
      </p:sp>
      <p:sp>
        <p:nvSpPr>
          <p:cNvPr id="46" name="Text 42"/>
          <p:cNvSpPr/>
          <p:nvPr/>
        </p:nvSpPr>
        <p:spPr>
          <a:xfrm>
            <a:off x="8278063" y="277977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٣.  تعزيز القيم والهوية الوطنية</a:t>
            </a:r>
            <a:endParaRPr lang="ar-SA" sz="880" dirty="0"/>
          </a:p>
        </p:txBody>
      </p:sp>
      <p:sp>
        <p:nvSpPr>
          <p:cNvPr id="47" name="Shape 43"/>
          <p:cNvSpPr/>
          <p:nvPr/>
        </p:nvSpPr>
        <p:spPr>
          <a:xfrm>
            <a:off x="457200" y="2862072"/>
            <a:ext cx="7496937" cy="201168"/>
          </a:xfrm>
          <a:prstGeom prst="roundRect">
            <a:avLst>
              <a:gd name="adj" fmla="val 22727"/>
            </a:avLst>
          </a:prstGeom>
          <a:solidFill>
            <a:srgbClr val="095242"/>
          </a:solidFill>
          <a:ln/>
        </p:spPr>
      </p:sp>
      <p:sp>
        <p:nvSpPr>
          <p:cNvPr id="48" name="Text 44"/>
          <p:cNvSpPr/>
          <p:nvPr/>
        </p:nvSpPr>
        <p:spPr>
          <a:xfrm>
            <a:off x="457200" y="2852928"/>
            <a:ext cx="7496937"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١ إلى ٣٦</a:t>
            </a:r>
            <a:endParaRPr lang="ar-SA" sz="740" dirty="0"/>
          </a:p>
        </p:txBody>
      </p:sp>
      <p:sp>
        <p:nvSpPr>
          <p:cNvPr id="49" name="Shape 45"/>
          <p:cNvSpPr/>
          <p:nvPr/>
        </p:nvSpPr>
        <p:spPr>
          <a:xfrm>
            <a:off x="457200" y="3145536"/>
            <a:ext cx="11277295" cy="365760"/>
          </a:xfrm>
          <a:prstGeom prst="rect">
            <a:avLst/>
          </a:prstGeom>
          <a:solidFill>
            <a:srgbClr val="F2F8F5"/>
          </a:solidFill>
          <a:ln/>
        </p:spPr>
      </p:sp>
      <p:sp>
        <p:nvSpPr>
          <p:cNvPr id="50" name="Text 46"/>
          <p:cNvSpPr/>
          <p:nvPr/>
        </p:nvSpPr>
        <p:spPr>
          <a:xfrm>
            <a:off x="8278063" y="314553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٤.  تحسين تجربة المستفيدين</a:t>
            </a:r>
            <a:endParaRPr lang="ar-SA" sz="880" dirty="0"/>
          </a:p>
        </p:txBody>
      </p:sp>
      <p:sp>
        <p:nvSpPr>
          <p:cNvPr id="51" name="Shape 47"/>
          <p:cNvSpPr/>
          <p:nvPr/>
        </p:nvSpPr>
        <p:spPr>
          <a:xfrm>
            <a:off x="885596" y="3227832"/>
            <a:ext cx="6854342" cy="201168"/>
          </a:xfrm>
          <a:prstGeom prst="roundRect">
            <a:avLst>
              <a:gd name="adj" fmla="val 22727"/>
            </a:avLst>
          </a:prstGeom>
          <a:solidFill>
            <a:srgbClr val="095242"/>
          </a:solidFill>
          <a:ln/>
        </p:spPr>
      </p:sp>
      <p:sp>
        <p:nvSpPr>
          <p:cNvPr id="52" name="Text 48"/>
          <p:cNvSpPr/>
          <p:nvPr/>
        </p:nvSpPr>
        <p:spPr>
          <a:xfrm>
            <a:off x="885596" y="3218688"/>
            <a:ext cx="6854342"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٢ إلى ٣٤</a:t>
            </a:r>
            <a:endParaRPr lang="ar-SA" sz="740" dirty="0"/>
          </a:p>
        </p:txBody>
      </p:sp>
      <p:sp>
        <p:nvSpPr>
          <p:cNvPr id="53" name="Text 49"/>
          <p:cNvSpPr/>
          <p:nvPr/>
        </p:nvSpPr>
        <p:spPr>
          <a:xfrm>
            <a:off x="8278063" y="351129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٥.  الاستثمار في الطلاب والمدارس الأولى بالرعاية</a:t>
            </a:r>
            <a:endParaRPr lang="ar-SA" sz="880" dirty="0"/>
          </a:p>
        </p:txBody>
      </p:sp>
      <p:sp>
        <p:nvSpPr>
          <p:cNvPr id="54" name="Shape 50"/>
          <p:cNvSpPr/>
          <p:nvPr/>
        </p:nvSpPr>
        <p:spPr>
          <a:xfrm>
            <a:off x="1313993" y="3593592"/>
            <a:ext cx="5997550" cy="201168"/>
          </a:xfrm>
          <a:prstGeom prst="roundRect">
            <a:avLst>
              <a:gd name="adj" fmla="val 22727"/>
            </a:avLst>
          </a:prstGeom>
          <a:solidFill>
            <a:srgbClr val="095242"/>
          </a:solidFill>
          <a:ln/>
        </p:spPr>
      </p:sp>
      <p:sp>
        <p:nvSpPr>
          <p:cNvPr id="55" name="Text 51"/>
          <p:cNvSpPr/>
          <p:nvPr/>
        </p:nvSpPr>
        <p:spPr>
          <a:xfrm>
            <a:off x="1313993" y="3584448"/>
            <a:ext cx="5997550"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٤ إلى ٣٢</a:t>
            </a:r>
            <a:endParaRPr lang="ar-SA" sz="740" dirty="0"/>
          </a:p>
        </p:txBody>
      </p:sp>
      <p:sp>
        <p:nvSpPr>
          <p:cNvPr id="56" name="Shape 52"/>
          <p:cNvSpPr/>
          <p:nvPr/>
        </p:nvSpPr>
        <p:spPr>
          <a:xfrm>
            <a:off x="457200" y="3877056"/>
            <a:ext cx="11277295" cy="365760"/>
          </a:xfrm>
          <a:prstGeom prst="rect">
            <a:avLst/>
          </a:prstGeom>
          <a:solidFill>
            <a:srgbClr val="F2F8F5"/>
          </a:solidFill>
          <a:ln/>
        </p:spPr>
      </p:sp>
      <p:sp>
        <p:nvSpPr>
          <p:cNvPr id="57" name="Text 53"/>
          <p:cNvSpPr/>
          <p:nvPr/>
        </p:nvSpPr>
        <p:spPr>
          <a:xfrm>
            <a:off x="8278063" y="387705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٦.  تحسين أداء المدارس وشراكتها مع المجتمع</a:t>
            </a:r>
            <a:endParaRPr lang="ar-SA" sz="880" dirty="0"/>
          </a:p>
        </p:txBody>
      </p:sp>
      <p:sp>
        <p:nvSpPr>
          <p:cNvPr id="58" name="Shape 54"/>
          <p:cNvSpPr/>
          <p:nvPr/>
        </p:nvSpPr>
        <p:spPr>
          <a:xfrm>
            <a:off x="885596" y="3959352"/>
            <a:ext cx="6640144" cy="201168"/>
          </a:xfrm>
          <a:prstGeom prst="roundRect">
            <a:avLst>
              <a:gd name="adj" fmla="val 22727"/>
            </a:avLst>
          </a:prstGeom>
          <a:solidFill>
            <a:srgbClr val="095242"/>
          </a:solidFill>
          <a:ln/>
        </p:spPr>
      </p:sp>
      <p:sp>
        <p:nvSpPr>
          <p:cNvPr id="59" name="Text 55"/>
          <p:cNvSpPr/>
          <p:nvPr/>
        </p:nvSpPr>
        <p:spPr>
          <a:xfrm>
            <a:off x="885596" y="3950208"/>
            <a:ext cx="6640144"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٣ إلى ٣٤</a:t>
            </a:r>
            <a:endParaRPr lang="ar-SA" sz="740" dirty="0"/>
          </a:p>
        </p:txBody>
      </p:sp>
      <p:sp>
        <p:nvSpPr>
          <p:cNvPr id="60" name="Text 56"/>
          <p:cNvSpPr/>
          <p:nvPr/>
        </p:nvSpPr>
        <p:spPr>
          <a:xfrm>
            <a:off x="8278063" y="424281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٧.  رفع كفاءة الإنفاق والاستدامة المالية</a:t>
            </a:r>
            <a:endParaRPr lang="ar-SA" sz="880" dirty="0"/>
          </a:p>
        </p:txBody>
      </p:sp>
      <p:sp>
        <p:nvSpPr>
          <p:cNvPr id="61" name="Shape 57"/>
          <p:cNvSpPr/>
          <p:nvPr/>
        </p:nvSpPr>
        <p:spPr>
          <a:xfrm>
            <a:off x="457200" y="4325112"/>
            <a:ext cx="7496937" cy="201168"/>
          </a:xfrm>
          <a:prstGeom prst="roundRect">
            <a:avLst>
              <a:gd name="adj" fmla="val 22727"/>
            </a:avLst>
          </a:prstGeom>
          <a:solidFill>
            <a:srgbClr val="095242"/>
          </a:solidFill>
          <a:ln/>
        </p:spPr>
      </p:sp>
      <p:sp>
        <p:nvSpPr>
          <p:cNvPr id="62" name="Text 58"/>
          <p:cNvSpPr/>
          <p:nvPr/>
        </p:nvSpPr>
        <p:spPr>
          <a:xfrm>
            <a:off x="457200" y="4315968"/>
            <a:ext cx="7496937"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١ إلى ٣٦</a:t>
            </a:r>
            <a:endParaRPr lang="ar-SA" sz="740" dirty="0"/>
          </a:p>
        </p:txBody>
      </p:sp>
      <p:sp>
        <p:nvSpPr>
          <p:cNvPr id="63" name="Shape 59"/>
          <p:cNvSpPr/>
          <p:nvPr/>
        </p:nvSpPr>
        <p:spPr>
          <a:xfrm>
            <a:off x="457200" y="4608576"/>
            <a:ext cx="11277295" cy="365760"/>
          </a:xfrm>
          <a:prstGeom prst="rect">
            <a:avLst/>
          </a:prstGeom>
          <a:solidFill>
            <a:srgbClr val="F2F8F5"/>
          </a:solidFill>
          <a:ln/>
        </p:spPr>
      </p:sp>
      <p:sp>
        <p:nvSpPr>
          <p:cNvPr id="64" name="Text 60"/>
          <p:cNvSpPr/>
          <p:nvPr/>
        </p:nvSpPr>
        <p:spPr>
          <a:xfrm>
            <a:off x="8278063" y="460857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٨.  تطوير كفاءات الموارد البشرية</a:t>
            </a:r>
            <a:endParaRPr lang="ar-SA" sz="880" dirty="0"/>
          </a:p>
        </p:txBody>
      </p:sp>
      <p:sp>
        <p:nvSpPr>
          <p:cNvPr id="65" name="Shape 61"/>
          <p:cNvSpPr/>
          <p:nvPr/>
        </p:nvSpPr>
        <p:spPr>
          <a:xfrm>
            <a:off x="1742389" y="4690872"/>
            <a:ext cx="5997550" cy="201168"/>
          </a:xfrm>
          <a:prstGeom prst="roundRect">
            <a:avLst>
              <a:gd name="adj" fmla="val 22727"/>
            </a:avLst>
          </a:prstGeom>
          <a:solidFill>
            <a:srgbClr val="095242"/>
          </a:solidFill>
          <a:ln/>
        </p:spPr>
      </p:sp>
      <p:sp>
        <p:nvSpPr>
          <p:cNvPr id="66" name="Text 62"/>
          <p:cNvSpPr/>
          <p:nvPr/>
        </p:nvSpPr>
        <p:spPr>
          <a:xfrm>
            <a:off x="1742389" y="4681728"/>
            <a:ext cx="5997550"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٢ إلى ٣٠</a:t>
            </a:r>
            <a:endParaRPr lang="ar-SA" sz="740" dirty="0"/>
          </a:p>
        </p:txBody>
      </p:sp>
      <p:sp>
        <p:nvSpPr>
          <p:cNvPr id="67" name="Text 63"/>
          <p:cNvSpPr/>
          <p:nvPr/>
        </p:nvSpPr>
        <p:spPr>
          <a:xfrm>
            <a:off x="8278063" y="497433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٩.  الارتقاء بمستوى التجربة الرقمية</a:t>
            </a:r>
            <a:endParaRPr lang="ar-SA" sz="880" dirty="0"/>
          </a:p>
        </p:txBody>
      </p:sp>
      <p:sp>
        <p:nvSpPr>
          <p:cNvPr id="68" name="Shape 64"/>
          <p:cNvSpPr/>
          <p:nvPr/>
        </p:nvSpPr>
        <p:spPr>
          <a:xfrm>
            <a:off x="457200" y="5056632"/>
            <a:ext cx="7496937" cy="201168"/>
          </a:xfrm>
          <a:prstGeom prst="roundRect">
            <a:avLst>
              <a:gd name="adj" fmla="val 22727"/>
            </a:avLst>
          </a:prstGeom>
          <a:solidFill>
            <a:srgbClr val="095242"/>
          </a:solidFill>
          <a:ln/>
        </p:spPr>
      </p:sp>
      <p:sp>
        <p:nvSpPr>
          <p:cNvPr id="69" name="Text 65"/>
          <p:cNvSpPr/>
          <p:nvPr/>
        </p:nvSpPr>
        <p:spPr>
          <a:xfrm>
            <a:off x="457200" y="5047488"/>
            <a:ext cx="7496937" cy="219456"/>
          </a:xfrm>
          <a:prstGeom prst="rect">
            <a:avLst/>
          </a:prstGeom>
          <a:noFill/>
          <a:ln/>
        </p:spPr>
        <p:txBody>
          <a:bodyPr wrap="square" lIns="0" tIns="0" rIns="0" bIns="0" rtlCol="0" anchor="ctr"/>
          <a:lstStyle/>
          <a:p>
            <a:pPr rtl="1" algn="ctr" indent="0" marL="0">
              <a:buNone/>
            </a:pPr>
            <a:r>
              <a:rPr lang="ar-SA" altLang="en-US" sz="740" dirty="0">
                <a:solidFill>
                  <a:srgbClr val="D8EAE4"/>
                </a:solidFill>
                <a:latin typeface="Tajawal" pitchFamily="34" charset="0"/>
                <a:ea typeface="Tajawal" pitchFamily="34" charset="-122"/>
                <a:cs typeface="Tajawal" pitchFamily="34" charset="-120"/>
              </a:rPr>
              <a:t>أسبوع ١ إلى ٣٦</a:t>
            </a:r>
            <a:endParaRPr lang="ar-SA" sz="740" dirty="0"/>
          </a:p>
        </p:txBody>
      </p:sp>
      <p:sp>
        <p:nvSpPr>
          <p:cNvPr id="70" name="Shape 66"/>
          <p:cNvSpPr/>
          <p:nvPr/>
        </p:nvSpPr>
        <p:spPr>
          <a:xfrm>
            <a:off x="457200" y="5340096"/>
            <a:ext cx="11277295" cy="365760"/>
          </a:xfrm>
          <a:prstGeom prst="rect">
            <a:avLst/>
          </a:prstGeom>
          <a:solidFill>
            <a:srgbClr val="F2F8F5"/>
          </a:solidFill>
          <a:ln/>
        </p:spPr>
      </p:sp>
      <p:sp>
        <p:nvSpPr>
          <p:cNvPr id="71" name="Text 67"/>
          <p:cNvSpPr/>
          <p:nvPr/>
        </p:nvSpPr>
        <p:spPr>
          <a:xfrm>
            <a:off x="8278063" y="5340096"/>
            <a:ext cx="3383280" cy="365760"/>
          </a:xfrm>
          <a:prstGeom prst="rect">
            <a:avLst/>
          </a:prstGeom>
          <a:noFill/>
          <a:ln/>
        </p:spPr>
        <p:txBody>
          <a:bodyPr wrap="square" lIns="0" tIns="0" rIns="0" bIns="0" rtlCol="0" anchor="ctr"/>
          <a:lstStyle/>
          <a:p>
            <a:pPr rtl="1" algn="r" indent="0" marL="0">
              <a:buNone/>
            </a:pPr>
            <a:r>
              <a:rPr lang="ar-SA" altLang="en-US" sz="880" b="1" dirty="0">
                <a:solidFill>
                  <a:srgbClr val="04352B"/>
                </a:solidFill>
                <a:latin typeface="Tajawal" pitchFamily="34" charset="0"/>
                <a:ea typeface="Tajawal" pitchFamily="34" charset="-122"/>
                <a:cs typeface="Tajawal" pitchFamily="34" charset="-120"/>
              </a:rPr>
              <a:t>١٠.  تعزيز الحوكمة والالتزام وإدارة المخاطر</a:t>
            </a:r>
            <a:endParaRPr lang="ar-SA" sz="880" dirty="0"/>
          </a:p>
        </p:txBody>
      </p:sp>
      <p:sp>
        <p:nvSpPr>
          <p:cNvPr id="72" name="Shape 68"/>
          <p:cNvSpPr/>
          <p:nvPr/>
        </p:nvSpPr>
        <p:spPr>
          <a:xfrm>
            <a:off x="457200" y="5422392"/>
            <a:ext cx="7496937" cy="201168"/>
          </a:xfrm>
          <a:prstGeom prst="roundRect">
            <a:avLst>
              <a:gd name="adj" fmla="val 22727"/>
            </a:avLst>
          </a:prstGeom>
          <a:solidFill>
            <a:srgbClr val="C9A45C"/>
          </a:solidFill>
          <a:ln/>
        </p:spPr>
      </p:sp>
      <p:sp>
        <p:nvSpPr>
          <p:cNvPr id="73" name="Text 69"/>
          <p:cNvSpPr/>
          <p:nvPr/>
        </p:nvSpPr>
        <p:spPr>
          <a:xfrm>
            <a:off x="457200" y="5413248"/>
            <a:ext cx="7496937" cy="219456"/>
          </a:xfrm>
          <a:prstGeom prst="rect">
            <a:avLst/>
          </a:prstGeom>
          <a:noFill/>
          <a:ln/>
        </p:spPr>
        <p:txBody>
          <a:bodyPr wrap="square" lIns="0" tIns="0" rIns="0" bIns="0" rtlCol="0" anchor="ctr"/>
          <a:lstStyle/>
          <a:p>
            <a:pPr rtl="1" algn="ctr" indent="0" marL="0">
              <a:buNone/>
            </a:pPr>
            <a:r>
              <a:rPr lang="ar-SA" altLang="en-US" sz="740" dirty="0">
                <a:solidFill>
                  <a:srgbClr val="3B2C0C"/>
                </a:solidFill>
                <a:latin typeface="Tajawal" pitchFamily="34" charset="0"/>
                <a:ea typeface="Tajawal" pitchFamily="34" charset="-122"/>
                <a:cs typeface="Tajawal" pitchFamily="34" charset="-120"/>
              </a:rPr>
              <a:t>أسبوع ١ إلى ٣٦</a:t>
            </a:r>
            <a:endParaRPr lang="ar-SA" sz="74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الرابع · أدوات تطوير الخطة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لوحة المتابعة الفصلية</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لوحة المتابعة</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٥٩</a:t>
            </a:r>
            <a:endParaRPr lang="ar-SA" sz="900" dirty="0"/>
          </a:p>
        </p:txBody>
      </p:sp>
      <p:sp>
        <p:nvSpPr>
          <p:cNvPr id="8" name="Text 4"/>
          <p:cNvSpPr/>
          <p:nvPr/>
        </p:nvSpPr>
        <p:spPr>
          <a:xfrm>
            <a:off x="457200" y="1005840"/>
            <a:ext cx="11277295" cy="420624"/>
          </a:xfrm>
          <a:prstGeom prst="rect">
            <a:avLst/>
          </a:prstGeom>
          <a:noFill/>
          <a:ln/>
        </p:spPr>
        <p:txBody>
          <a:bodyPr wrap="square" lIns="0" tIns="0" rIns="0" bIns="0" rtlCol="0" anchor="t"/>
          <a:lstStyle/>
          <a:p>
            <a:pPr rtl="1" algn="r" indent="0" marL="0">
              <a:lnSpc>
                <a:spcPct val="120000"/>
              </a:lnSpc>
              <a:buNone/>
            </a:pPr>
            <a:r>
              <a:rPr lang="ar-SA" altLang="en-US" sz="1040" dirty="0">
                <a:solidFill>
                  <a:srgbClr val="34473F"/>
                </a:solidFill>
                <a:latin typeface="Tajawal" pitchFamily="34" charset="0"/>
                <a:ea typeface="Tajawal" pitchFamily="34" charset="-122"/>
                <a:cs typeface="Tajawal" pitchFamily="34" charset="-120"/>
              </a:rPr>
              <a:t>لوحة واحدة تُحدَّث في كل جولة متابعة، تُظهر حالة كل هدف بترميز لوني، فتتحوّل المتابعة من تقارير نصية إلى صورة واحدة يقرأها القائد في ثوانٍ.</a:t>
            </a:r>
            <a:endParaRPr lang="ar-SA" sz="1040" dirty="0"/>
          </a:p>
        </p:txBody>
      </p:sp>
      <p:sp>
        <p:nvSpPr>
          <p:cNvPr id="9" name="Shape 5"/>
          <p:cNvSpPr/>
          <p:nvPr/>
        </p:nvSpPr>
        <p:spPr>
          <a:xfrm>
            <a:off x="9093479" y="1536192"/>
            <a:ext cx="2641016" cy="731520"/>
          </a:xfrm>
          <a:prstGeom prst="roundRect">
            <a:avLst>
              <a:gd name="adj" fmla="val 11250"/>
            </a:avLst>
          </a:prstGeom>
          <a:solidFill>
            <a:srgbClr val="095242"/>
          </a:solidFill>
          <a:ln/>
          <a:effectLst>
            <a:outerShdw sx="100000" sy="100000" kx="0" ky="0" algn="bl" rotWithShape="0" blurRad="127000" dist="31750" dir="5400000">
              <a:srgbClr val="062A21">
                <a:alpha val="18000"/>
              </a:srgbClr>
            </a:outerShdw>
          </a:effectLst>
        </p:spPr>
      </p:sp>
      <p:sp>
        <p:nvSpPr>
          <p:cNvPr id="10" name="Text 6"/>
          <p:cNvSpPr/>
          <p:nvPr/>
        </p:nvSpPr>
        <p:spPr>
          <a:xfrm>
            <a:off x="9258071" y="1536192"/>
            <a:ext cx="897945" cy="731520"/>
          </a:xfrm>
          <a:prstGeom prst="rect">
            <a:avLst/>
          </a:prstGeom>
          <a:noFill/>
          <a:ln/>
        </p:spPr>
        <p:txBody>
          <a:bodyPr wrap="square" lIns="0" tIns="0" rIns="0" bIns="0" rtlCol="0" anchor="ctr"/>
          <a:lstStyle/>
          <a:p>
            <a:pPr rtl="1" algn="ctr" indent="0" marL="0">
              <a:buNone/>
            </a:pPr>
            <a:r>
              <a:rPr lang="ar-SA" altLang="en-US" sz="2000" dirty="0">
                <a:solidFill>
                  <a:srgbClr val="FFFFFF"/>
                </a:solidFill>
                <a:latin typeface="Tajawal ExtraBold" pitchFamily="34" charset="0"/>
                <a:ea typeface="Tajawal ExtraBold" pitchFamily="34" charset="-122"/>
                <a:cs typeface="Tajawal ExtraBold" pitchFamily="34" charset="-120"/>
              </a:rPr>
              <a:t>٤</a:t>
            </a:r>
            <a:endParaRPr lang="ar-SA" sz="2000" dirty="0"/>
          </a:p>
        </p:txBody>
      </p:sp>
      <p:sp>
        <p:nvSpPr>
          <p:cNvPr id="11" name="Text 7"/>
          <p:cNvSpPr/>
          <p:nvPr/>
        </p:nvSpPr>
        <p:spPr>
          <a:xfrm>
            <a:off x="9991425" y="1536192"/>
            <a:ext cx="1596766" cy="731520"/>
          </a:xfrm>
          <a:prstGeom prst="rect">
            <a:avLst/>
          </a:prstGeom>
          <a:noFill/>
          <a:ln/>
        </p:spPr>
        <p:txBody>
          <a:bodyPr wrap="square" lIns="0" tIns="0" rIns="0" bIns="0" rtlCol="0" anchor="ctr"/>
          <a:lstStyle/>
          <a:p>
            <a:pPr rtl="1" algn="r" indent="0" marL="0">
              <a:lnSpc>
                <a:spcPct val="105000"/>
              </a:lnSpc>
              <a:buNone/>
            </a:pPr>
            <a:r>
              <a:rPr lang="ar-SA" altLang="en-US" sz="960" b="1" dirty="0">
                <a:solidFill>
                  <a:srgbClr val="CFE2DB"/>
                </a:solidFill>
                <a:latin typeface="Tajawal" pitchFamily="34" charset="0"/>
                <a:ea typeface="Tajawal" pitchFamily="34" charset="-122"/>
                <a:cs typeface="Tajawal" pitchFamily="34" charset="-120"/>
              </a:rPr>
              <a:t>جولات متابعة في العام</a:t>
            </a:r>
            <a:endParaRPr lang="ar-SA" sz="960" dirty="0"/>
          </a:p>
        </p:txBody>
      </p:sp>
      <p:sp>
        <p:nvSpPr>
          <p:cNvPr id="12" name="Shape 8"/>
          <p:cNvSpPr/>
          <p:nvPr/>
        </p:nvSpPr>
        <p:spPr>
          <a:xfrm>
            <a:off x="6214720" y="1536192"/>
            <a:ext cx="2641016" cy="731520"/>
          </a:xfrm>
          <a:prstGeom prst="roundRect">
            <a:avLst>
              <a:gd name="adj" fmla="val 11250"/>
            </a:avLst>
          </a:prstGeom>
          <a:solidFill>
            <a:srgbClr val="FFFFFF"/>
          </a:solidFill>
          <a:ln w="12700">
            <a:solidFill>
              <a:srgbClr val="095242"/>
            </a:solidFill>
            <a:prstDash val="solid"/>
          </a:ln>
        </p:spPr>
      </p:sp>
      <p:sp>
        <p:nvSpPr>
          <p:cNvPr id="13" name="Text 9"/>
          <p:cNvSpPr/>
          <p:nvPr/>
        </p:nvSpPr>
        <p:spPr>
          <a:xfrm>
            <a:off x="6379312" y="1536192"/>
            <a:ext cx="897945" cy="731520"/>
          </a:xfrm>
          <a:prstGeom prst="rect">
            <a:avLst/>
          </a:prstGeom>
          <a:noFill/>
          <a:ln/>
        </p:spPr>
        <p:txBody>
          <a:bodyPr wrap="square" lIns="0" tIns="0" rIns="0" bIns="0" rtlCol="0" anchor="ctr"/>
          <a:lstStyle/>
          <a:p>
            <a:pPr rtl="1" algn="ctr" indent="0" marL="0">
              <a:buNone/>
            </a:pPr>
            <a:r>
              <a:rPr lang="ar-SA" altLang="en-US" sz="2000" dirty="0">
                <a:solidFill>
                  <a:srgbClr val="095242"/>
                </a:solidFill>
                <a:latin typeface="Tajawal ExtraBold" pitchFamily="34" charset="0"/>
                <a:ea typeface="Tajawal ExtraBold" pitchFamily="34" charset="-122"/>
                <a:cs typeface="Tajawal ExtraBold" pitchFamily="34" charset="-120"/>
              </a:rPr>
              <a:t>١٠</a:t>
            </a:r>
            <a:endParaRPr lang="ar-SA" sz="2000" dirty="0"/>
          </a:p>
        </p:txBody>
      </p:sp>
      <p:sp>
        <p:nvSpPr>
          <p:cNvPr id="14" name="Text 10"/>
          <p:cNvSpPr/>
          <p:nvPr/>
        </p:nvSpPr>
        <p:spPr>
          <a:xfrm>
            <a:off x="7112665" y="1536192"/>
            <a:ext cx="1596766" cy="731520"/>
          </a:xfrm>
          <a:prstGeom prst="rect">
            <a:avLst/>
          </a:prstGeom>
          <a:noFill/>
          <a:ln/>
        </p:spPr>
        <p:txBody>
          <a:bodyPr wrap="square" lIns="0" tIns="0" rIns="0" bIns="0" rtlCol="0" anchor="ctr"/>
          <a:lstStyle/>
          <a:p>
            <a:pPr rtl="1" algn="r" indent="0" marL="0">
              <a:lnSpc>
                <a:spcPct val="105000"/>
              </a:lnSpc>
              <a:buNone/>
            </a:pPr>
            <a:r>
              <a:rPr lang="ar-SA" altLang="en-US" sz="960" b="1" dirty="0">
                <a:solidFill>
                  <a:srgbClr val="34473F"/>
                </a:solidFill>
                <a:latin typeface="Tajawal" pitchFamily="34" charset="0"/>
                <a:ea typeface="Tajawal" pitchFamily="34" charset="-122"/>
                <a:cs typeface="Tajawal" pitchFamily="34" charset="-120"/>
              </a:rPr>
              <a:t>أهداف تُرصد في كل جولة</a:t>
            </a:r>
            <a:endParaRPr lang="ar-SA" sz="960" dirty="0"/>
          </a:p>
        </p:txBody>
      </p:sp>
      <p:sp>
        <p:nvSpPr>
          <p:cNvPr id="15" name="Shape 11"/>
          <p:cNvSpPr/>
          <p:nvPr/>
        </p:nvSpPr>
        <p:spPr>
          <a:xfrm>
            <a:off x="3335960" y="1536192"/>
            <a:ext cx="2641016" cy="731520"/>
          </a:xfrm>
          <a:prstGeom prst="roundRect">
            <a:avLst>
              <a:gd name="adj" fmla="val 11250"/>
            </a:avLst>
          </a:prstGeom>
          <a:solidFill>
            <a:srgbClr val="095242"/>
          </a:solidFill>
          <a:ln/>
          <a:effectLst>
            <a:outerShdw sx="100000" sy="100000" kx="0" ky="0" algn="bl" rotWithShape="0" blurRad="127000" dist="31750" dir="5400000">
              <a:srgbClr val="062A21">
                <a:alpha val="18000"/>
              </a:srgbClr>
            </a:outerShdw>
          </a:effectLst>
        </p:spPr>
      </p:sp>
      <p:sp>
        <p:nvSpPr>
          <p:cNvPr id="16" name="Text 12"/>
          <p:cNvSpPr/>
          <p:nvPr/>
        </p:nvSpPr>
        <p:spPr>
          <a:xfrm>
            <a:off x="3500552" y="1536192"/>
            <a:ext cx="897945" cy="731520"/>
          </a:xfrm>
          <a:prstGeom prst="rect">
            <a:avLst/>
          </a:prstGeom>
          <a:noFill/>
          <a:ln/>
        </p:spPr>
        <p:txBody>
          <a:bodyPr wrap="square" lIns="0" tIns="0" rIns="0" bIns="0" rtlCol="0" anchor="ctr"/>
          <a:lstStyle/>
          <a:p>
            <a:pPr rtl="1" algn="ctr" indent="0" marL="0">
              <a:buNone/>
            </a:pPr>
            <a:r>
              <a:rPr lang="ar-SA" altLang="en-US" sz="2000" dirty="0">
                <a:solidFill>
                  <a:srgbClr val="FFFFFF"/>
                </a:solidFill>
                <a:latin typeface="Tajawal ExtraBold" pitchFamily="34" charset="0"/>
                <a:ea typeface="Tajawal ExtraBold" pitchFamily="34" charset="-122"/>
                <a:cs typeface="Tajawal ExtraBold" pitchFamily="34" charset="-120"/>
              </a:rPr>
              <a:t>٦٢</a:t>
            </a:r>
            <a:endParaRPr lang="ar-SA" sz="2000" dirty="0"/>
          </a:p>
        </p:txBody>
      </p:sp>
      <p:sp>
        <p:nvSpPr>
          <p:cNvPr id="17" name="Text 13"/>
          <p:cNvSpPr/>
          <p:nvPr/>
        </p:nvSpPr>
        <p:spPr>
          <a:xfrm>
            <a:off x="4233905" y="1536192"/>
            <a:ext cx="1596766" cy="731520"/>
          </a:xfrm>
          <a:prstGeom prst="rect">
            <a:avLst/>
          </a:prstGeom>
          <a:noFill/>
          <a:ln/>
        </p:spPr>
        <p:txBody>
          <a:bodyPr wrap="square" lIns="0" tIns="0" rIns="0" bIns="0" rtlCol="0" anchor="ctr"/>
          <a:lstStyle/>
          <a:p>
            <a:pPr rtl="1" algn="r" indent="0" marL="0">
              <a:lnSpc>
                <a:spcPct val="105000"/>
              </a:lnSpc>
              <a:buNone/>
            </a:pPr>
            <a:r>
              <a:rPr lang="ar-SA" altLang="en-US" sz="960" b="1" dirty="0">
                <a:solidFill>
                  <a:srgbClr val="CFE2DB"/>
                </a:solidFill>
                <a:latin typeface="Tajawal" pitchFamily="34" charset="0"/>
                <a:ea typeface="Tajawal" pitchFamily="34" charset="-122"/>
                <a:cs typeface="Tajawal" pitchFamily="34" charset="-120"/>
              </a:rPr>
              <a:t>مؤشر اعتماد مرتبط</a:t>
            </a:r>
            <a:endParaRPr lang="ar-SA" sz="960" dirty="0"/>
          </a:p>
        </p:txBody>
      </p:sp>
      <p:sp>
        <p:nvSpPr>
          <p:cNvPr id="18" name="Shape 14"/>
          <p:cNvSpPr/>
          <p:nvPr/>
        </p:nvSpPr>
        <p:spPr>
          <a:xfrm>
            <a:off x="457200" y="1536192"/>
            <a:ext cx="2641016" cy="731520"/>
          </a:xfrm>
          <a:prstGeom prst="roundRect">
            <a:avLst>
              <a:gd name="adj" fmla="val 11250"/>
            </a:avLst>
          </a:prstGeom>
          <a:solidFill>
            <a:srgbClr val="FFFFFF"/>
          </a:solidFill>
          <a:ln w="12700">
            <a:solidFill>
              <a:srgbClr val="095242"/>
            </a:solidFill>
            <a:prstDash val="solid"/>
          </a:ln>
        </p:spPr>
      </p:sp>
      <p:sp>
        <p:nvSpPr>
          <p:cNvPr id="19" name="Text 15"/>
          <p:cNvSpPr/>
          <p:nvPr/>
        </p:nvSpPr>
        <p:spPr>
          <a:xfrm>
            <a:off x="621792" y="1536192"/>
            <a:ext cx="897945" cy="731520"/>
          </a:xfrm>
          <a:prstGeom prst="rect">
            <a:avLst/>
          </a:prstGeom>
          <a:noFill/>
          <a:ln/>
        </p:spPr>
        <p:txBody>
          <a:bodyPr wrap="square" lIns="0" tIns="0" rIns="0" bIns="0" rtlCol="0" anchor="ctr"/>
          <a:lstStyle/>
          <a:p>
            <a:pPr rtl="1" algn="ctr" indent="0" marL="0">
              <a:buNone/>
            </a:pPr>
            <a:r>
              <a:rPr lang="ar-SA" altLang="en-US" sz="2000" dirty="0">
                <a:solidFill>
                  <a:srgbClr val="095242"/>
                </a:solidFill>
                <a:latin typeface="Tajawal ExtraBold" pitchFamily="34" charset="0"/>
                <a:ea typeface="Tajawal ExtraBold" pitchFamily="34" charset="-122"/>
                <a:cs typeface="Tajawal ExtraBold" pitchFamily="34" charset="-120"/>
              </a:rPr>
              <a:t>١١٢</a:t>
            </a:r>
            <a:endParaRPr lang="ar-SA" sz="2000" dirty="0"/>
          </a:p>
        </p:txBody>
      </p:sp>
      <p:sp>
        <p:nvSpPr>
          <p:cNvPr id="20" name="Text 16"/>
          <p:cNvSpPr/>
          <p:nvPr/>
        </p:nvSpPr>
        <p:spPr>
          <a:xfrm>
            <a:off x="1355145" y="1536192"/>
            <a:ext cx="1596766" cy="731520"/>
          </a:xfrm>
          <a:prstGeom prst="rect">
            <a:avLst/>
          </a:prstGeom>
          <a:noFill/>
          <a:ln/>
        </p:spPr>
        <p:txBody>
          <a:bodyPr wrap="square" lIns="0" tIns="0" rIns="0" bIns="0" rtlCol="0" anchor="ctr"/>
          <a:lstStyle/>
          <a:p>
            <a:pPr rtl="1" algn="r" indent="0" marL="0">
              <a:lnSpc>
                <a:spcPct val="105000"/>
              </a:lnSpc>
              <a:buNone/>
            </a:pPr>
            <a:r>
              <a:rPr lang="ar-SA" altLang="en-US" sz="960" b="1" dirty="0">
                <a:solidFill>
                  <a:srgbClr val="34473F"/>
                </a:solidFill>
                <a:latin typeface="Tajawal" pitchFamily="34" charset="0"/>
                <a:ea typeface="Tajawal" pitchFamily="34" charset="-122"/>
                <a:cs typeface="Tajawal" pitchFamily="34" charset="-120"/>
              </a:rPr>
              <a:t>برنامجًا تحت المتابعة</a:t>
            </a:r>
            <a:endParaRPr lang="ar-SA" sz="96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2450592"/>
          <a:ext cx="11277295" cy="914400"/>
        </p:xfrm>
        <a:graphic>
          <a:graphicData uri="http://schemas.openxmlformats.org/drawingml/2006/table">
            <a:tbl>
              <a:tblPr/>
              <a:tblGrid>
                <a:gridCol w="1767764"/>
                <a:gridCol w="1767764"/>
                <a:gridCol w="1767764"/>
                <a:gridCol w="1767764"/>
                <a:gridCol w="4206240"/>
              </a:tblGrid>
              <a:tr h="384048">
                <a:tc>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الجولة الرابعة (نهاية العام)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الجولة الثالثة (منتصف الفصل الثاني)</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الجولة الثانية (نهاية الفصل الأول)</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00" b="1" dirty="0">
                          <a:solidFill>
                            <a:srgbClr val="FFFFFF"/>
                          </a:solidFill>
                          <a:latin typeface="Tajawal" pitchFamily="34" charset="0"/>
                          <a:ea typeface="Tajawal" pitchFamily="34" charset="-122"/>
                          <a:cs typeface="Tajawal" pitchFamily="34" charset="-120"/>
                        </a:rPr>
                        <a:t>الجولة الأولى (أسبوع ٤)</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00" b="1" dirty="0">
                          <a:solidFill>
                            <a:srgbClr val="FFFFFF"/>
                          </a:solidFill>
                          <a:latin typeface="Tajawal" pitchFamily="34" charset="0"/>
                          <a:ea typeface="Tajawal" pitchFamily="34" charset="-122"/>
                          <a:cs typeface="Tajawal" pitchFamily="34" charset="-120"/>
                        </a:rPr>
                        <a:t>الهدف الاستراتيجي</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١.  ضمان وصول التعليم للجميع</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٢.  تطوير بيئة مدرسية آمنة وابتكارية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٣.  تعزيز القيم والهوية الوطنية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٤.  تحسين تجربة المستفيدين</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٥.  الاستثمار في الطلاب والمدارس الأولى بالرعاية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٦.  تحسين أداء المدارس وشراكتها مع المجتمع</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٧.  رفع كفاءة الإنفاق والاستدامة المالية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٨.  تطوير كفاءات الموارد البشرية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٩.  الارتقاء بمستوى التجربة الرقمية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01752">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1000" dirty="0">
                          <a:solidFill>
                            <a:srgbClr val="8A9A93"/>
                          </a:solidFill>
                          <a:latin typeface="Tajawal" pitchFamily="34" charset="0"/>
                          <a:ea typeface="Tajawal" pitchFamily="34" charset="-122"/>
                          <a:cs typeface="Tajawal" pitchFamily="34" charset="-120"/>
                        </a:rPr>
                        <a:t>☐  ☐  ☐</a:t>
                      </a:r>
                      <a:endParaRPr lang="ar-SA" sz="10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١٠.  تعزيز الحوكمة والالتزام وإدارة المخاطر</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22" name="Shape 17"/>
          <p:cNvSpPr/>
          <p:nvPr/>
        </p:nvSpPr>
        <p:spPr>
          <a:xfrm>
            <a:off x="8121701" y="5870448"/>
            <a:ext cx="3612794" cy="548640"/>
          </a:xfrm>
          <a:prstGeom prst="roundRect">
            <a:avLst>
              <a:gd name="adj" fmla="val 15000"/>
            </a:avLst>
          </a:prstGeom>
          <a:solidFill>
            <a:srgbClr val="F2F8F5"/>
          </a:solidFill>
          <a:ln w="9525">
            <a:solidFill>
              <a:srgbClr val="E3EDE8"/>
            </a:solidFill>
            <a:prstDash val="solid"/>
          </a:ln>
        </p:spPr>
      </p:sp>
      <p:sp>
        <p:nvSpPr>
          <p:cNvPr id="23" name="Shape 18"/>
          <p:cNvSpPr/>
          <p:nvPr/>
        </p:nvSpPr>
        <p:spPr>
          <a:xfrm>
            <a:off x="11313871" y="6016752"/>
            <a:ext cx="256032" cy="256032"/>
          </a:xfrm>
          <a:prstGeom prst="roundRect">
            <a:avLst>
              <a:gd name="adj" fmla="val 17857"/>
            </a:avLst>
          </a:prstGeom>
          <a:solidFill>
            <a:srgbClr val="1B7F5A"/>
          </a:solidFill>
          <a:ln/>
        </p:spPr>
      </p:sp>
      <p:sp>
        <p:nvSpPr>
          <p:cNvPr id="24" name="Text 19"/>
          <p:cNvSpPr/>
          <p:nvPr/>
        </p:nvSpPr>
        <p:spPr>
          <a:xfrm>
            <a:off x="8286293" y="5907024"/>
            <a:ext cx="2954426" cy="256032"/>
          </a:xfrm>
          <a:prstGeom prst="rect">
            <a:avLst/>
          </a:prstGeom>
          <a:noFill/>
          <a:ln/>
        </p:spPr>
        <p:txBody>
          <a:bodyPr wrap="square" lIns="0" tIns="0" rIns="0" bIns="0" rtlCol="0" anchor="ctr"/>
          <a:lstStyle/>
          <a:p>
            <a:pPr rtl="1" algn="r" indent="0" marL="0">
              <a:buNone/>
            </a:pPr>
            <a:r>
              <a:rPr lang="ar-SA" altLang="en-US" sz="1000" b="1" dirty="0">
                <a:solidFill>
                  <a:srgbClr val="04352B"/>
                </a:solidFill>
                <a:latin typeface="Tajawal" pitchFamily="34" charset="0"/>
                <a:ea typeface="Tajawal" pitchFamily="34" charset="-122"/>
                <a:cs typeface="Tajawal" pitchFamily="34" charset="-120"/>
              </a:rPr>
              <a:t>في المسار</a:t>
            </a:r>
            <a:endParaRPr lang="ar-SA" sz="1000" dirty="0"/>
          </a:p>
        </p:txBody>
      </p:sp>
      <p:sp>
        <p:nvSpPr>
          <p:cNvPr id="25" name="Text 20"/>
          <p:cNvSpPr/>
          <p:nvPr/>
        </p:nvSpPr>
        <p:spPr>
          <a:xfrm>
            <a:off x="8286293" y="6144768"/>
            <a:ext cx="2954426" cy="237744"/>
          </a:xfrm>
          <a:prstGeom prst="rect">
            <a:avLst/>
          </a:prstGeom>
          <a:noFill/>
          <a:ln/>
        </p:spPr>
        <p:txBody>
          <a:bodyPr wrap="square" lIns="0" tIns="0" rIns="0" bIns="0" rtlCol="0" anchor="ctr"/>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الإنجاز مطابق للجدول الزمني</a:t>
            </a:r>
            <a:endParaRPr lang="ar-SA" sz="800" dirty="0"/>
          </a:p>
        </p:txBody>
      </p:sp>
      <p:sp>
        <p:nvSpPr>
          <p:cNvPr id="26" name="Shape 21"/>
          <p:cNvSpPr/>
          <p:nvPr/>
        </p:nvSpPr>
        <p:spPr>
          <a:xfrm>
            <a:off x="4289450" y="5870448"/>
            <a:ext cx="3612794" cy="548640"/>
          </a:xfrm>
          <a:prstGeom prst="roundRect">
            <a:avLst>
              <a:gd name="adj" fmla="val 15000"/>
            </a:avLst>
          </a:prstGeom>
          <a:solidFill>
            <a:srgbClr val="F2F8F5"/>
          </a:solidFill>
          <a:ln w="9525">
            <a:solidFill>
              <a:srgbClr val="E3EDE8"/>
            </a:solidFill>
            <a:prstDash val="solid"/>
          </a:ln>
        </p:spPr>
      </p:sp>
      <p:sp>
        <p:nvSpPr>
          <p:cNvPr id="27" name="Shape 22"/>
          <p:cNvSpPr/>
          <p:nvPr/>
        </p:nvSpPr>
        <p:spPr>
          <a:xfrm>
            <a:off x="7481621" y="6016752"/>
            <a:ext cx="256032" cy="256032"/>
          </a:xfrm>
          <a:prstGeom prst="roundRect">
            <a:avLst>
              <a:gd name="adj" fmla="val 17857"/>
            </a:avLst>
          </a:prstGeom>
          <a:solidFill>
            <a:srgbClr val="C9A45C"/>
          </a:solidFill>
          <a:ln/>
        </p:spPr>
      </p:sp>
      <p:sp>
        <p:nvSpPr>
          <p:cNvPr id="28" name="Text 23"/>
          <p:cNvSpPr/>
          <p:nvPr/>
        </p:nvSpPr>
        <p:spPr>
          <a:xfrm>
            <a:off x="4454042" y="5907024"/>
            <a:ext cx="2954426" cy="256032"/>
          </a:xfrm>
          <a:prstGeom prst="rect">
            <a:avLst/>
          </a:prstGeom>
          <a:noFill/>
          <a:ln/>
        </p:spPr>
        <p:txBody>
          <a:bodyPr wrap="square" lIns="0" tIns="0" rIns="0" bIns="0" rtlCol="0" anchor="ctr"/>
          <a:lstStyle/>
          <a:p>
            <a:pPr rtl="1" algn="r" indent="0" marL="0">
              <a:buNone/>
            </a:pPr>
            <a:r>
              <a:rPr lang="ar-SA" altLang="en-US" sz="1000" b="1" dirty="0">
                <a:solidFill>
                  <a:srgbClr val="04352B"/>
                </a:solidFill>
                <a:latin typeface="Tajawal" pitchFamily="34" charset="0"/>
                <a:ea typeface="Tajawal" pitchFamily="34" charset="-122"/>
                <a:cs typeface="Tajawal" pitchFamily="34" charset="-120"/>
              </a:rPr>
              <a:t>متأخر</a:t>
            </a:r>
            <a:endParaRPr lang="ar-SA" sz="1000" dirty="0"/>
          </a:p>
        </p:txBody>
      </p:sp>
      <p:sp>
        <p:nvSpPr>
          <p:cNvPr id="29" name="Text 24"/>
          <p:cNvSpPr/>
          <p:nvPr/>
        </p:nvSpPr>
        <p:spPr>
          <a:xfrm>
            <a:off x="4454042" y="6144768"/>
            <a:ext cx="2954426" cy="237744"/>
          </a:xfrm>
          <a:prstGeom prst="rect">
            <a:avLst/>
          </a:prstGeom>
          <a:noFill/>
          <a:ln/>
        </p:spPr>
        <p:txBody>
          <a:bodyPr wrap="square" lIns="0" tIns="0" rIns="0" bIns="0" rtlCol="0" anchor="ctr"/>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يحتاج تسريعًا وإعادة جدولة</a:t>
            </a:r>
            <a:endParaRPr lang="ar-SA" sz="800" dirty="0"/>
          </a:p>
        </p:txBody>
      </p:sp>
      <p:sp>
        <p:nvSpPr>
          <p:cNvPr id="30" name="Shape 25"/>
          <p:cNvSpPr/>
          <p:nvPr/>
        </p:nvSpPr>
        <p:spPr>
          <a:xfrm>
            <a:off x="457200" y="5870448"/>
            <a:ext cx="3612794" cy="548640"/>
          </a:xfrm>
          <a:prstGeom prst="roundRect">
            <a:avLst>
              <a:gd name="adj" fmla="val 15000"/>
            </a:avLst>
          </a:prstGeom>
          <a:solidFill>
            <a:srgbClr val="F2F8F5"/>
          </a:solidFill>
          <a:ln w="9525">
            <a:solidFill>
              <a:srgbClr val="E3EDE8"/>
            </a:solidFill>
            <a:prstDash val="solid"/>
          </a:ln>
        </p:spPr>
      </p:sp>
      <p:sp>
        <p:nvSpPr>
          <p:cNvPr id="31" name="Shape 26"/>
          <p:cNvSpPr/>
          <p:nvPr/>
        </p:nvSpPr>
        <p:spPr>
          <a:xfrm>
            <a:off x="3649370" y="6016752"/>
            <a:ext cx="256032" cy="256032"/>
          </a:xfrm>
          <a:prstGeom prst="roundRect">
            <a:avLst>
              <a:gd name="adj" fmla="val 17857"/>
            </a:avLst>
          </a:prstGeom>
          <a:solidFill>
            <a:srgbClr val="B3261E"/>
          </a:solidFill>
          <a:ln/>
        </p:spPr>
      </p:sp>
      <p:sp>
        <p:nvSpPr>
          <p:cNvPr id="32" name="Text 27"/>
          <p:cNvSpPr/>
          <p:nvPr/>
        </p:nvSpPr>
        <p:spPr>
          <a:xfrm>
            <a:off x="621792" y="5907024"/>
            <a:ext cx="2954426" cy="256032"/>
          </a:xfrm>
          <a:prstGeom prst="rect">
            <a:avLst/>
          </a:prstGeom>
          <a:noFill/>
          <a:ln/>
        </p:spPr>
        <p:txBody>
          <a:bodyPr wrap="square" lIns="0" tIns="0" rIns="0" bIns="0" rtlCol="0" anchor="ctr"/>
          <a:lstStyle/>
          <a:p>
            <a:pPr rtl="1" algn="r" indent="0" marL="0">
              <a:buNone/>
            </a:pPr>
            <a:r>
              <a:rPr lang="ar-SA" altLang="en-US" sz="1000" b="1" dirty="0">
                <a:solidFill>
                  <a:srgbClr val="04352B"/>
                </a:solidFill>
                <a:latin typeface="Tajawal" pitchFamily="34" charset="0"/>
                <a:ea typeface="Tajawal" pitchFamily="34" charset="-122"/>
                <a:cs typeface="Tajawal" pitchFamily="34" charset="-120"/>
              </a:rPr>
              <a:t>متعثر</a:t>
            </a:r>
            <a:endParaRPr lang="ar-SA" sz="1000" dirty="0"/>
          </a:p>
        </p:txBody>
      </p:sp>
      <p:sp>
        <p:nvSpPr>
          <p:cNvPr id="33" name="Text 28"/>
          <p:cNvSpPr/>
          <p:nvPr/>
        </p:nvSpPr>
        <p:spPr>
          <a:xfrm>
            <a:off x="621792" y="6144768"/>
            <a:ext cx="2954426" cy="237744"/>
          </a:xfrm>
          <a:prstGeom prst="rect">
            <a:avLst/>
          </a:prstGeom>
          <a:noFill/>
          <a:ln/>
        </p:spPr>
        <p:txBody>
          <a:bodyPr wrap="square" lIns="0" tIns="0" rIns="0" bIns="0" rtlCol="0" anchor="ctr"/>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يستدعي تدخّلًا تصحيحيًا موثّقًا</a:t>
            </a:r>
            <a:endParaRPr lang="ar-SA"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الرابع · أدوات تطوير الخطة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مواءمة الخطة مع رؤية المملكة ٢٠٣٠</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مواءمة رؤية ٢٠٣٠</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٦٠</a:t>
            </a:r>
            <a:endParaRPr lang="ar-SA" sz="900" dirty="0"/>
          </a:p>
        </p:txBody>
      </p:sp>
      <p:sp>
        <p:nvSpPr>
          <p:cNvPr id="8" name="Text 4"/>
          <p:cNvSpPr/>
          <p:nvPr/>
        </p:nvSpPr>
        <p:spPr>
          <a:xfrm>
            <a:off x="457200" y="1005840"/>
            <a:ext cx="11277295" cy="457200"/>
          </a:xfrm>
          <a:prstGeom prst="rect">
            <a:avLst/>
          </a:prstGeom>
          <a:noFill/>
          <a:ln/>
        </p:spPr>
        <p:txBody>
          <a:bodyPr wrap="square" lIns="0" tIns="0" rIns="0" bIns="0" rtlCol="0" anchor="t"/>
          <a:lstStyle/>
          <a:p>
            <a:pPr rtl="1" algn="r" indent="0" marL="0">
              <a:lnSpc>
                <a:spcPct val="120000"/>
              </a:lnSpc>
              <a:buNone/>
            </a:pPr>
            <a:r>
              <a:rPr lang="ar-SA" altLang="en-US" sz="1040" dirty="0">
                <a:solidFill>
                  <a:srgbClr val="34473F"/>
                </a:solidFill>
                <a:latin typeface="Tajawal" pitchFamily="34" charset="0"/>
                <a:ea typeface="Tajawal" pitchFamily="34" charset="-122"/>
                <a:cs typeface="Tajawal" pitchFamily="34" charset="-120"/>
              </a:rPr>
              <a:t>الخطة الأصلية تربط برامجها بمؤشرات الاعتماد المدرسي فقط. هذا الجدول يضيف الطبقة الوطنية الأعلى، فتظهر مساهمة المدرسة في مستهدفات رؤية المملكة ٢٠٣٠ بوضوح أمام أي جهة إشرافية.</a:t>
            </a:r>
            <a:endParaRPr lang="ar-SA" sz="1040" dirty="0"/>
          </a:p>
        </p:txBody>
      </p:sp>
      <p:sp>
        <p:nvSpPr>
          <p:cNvPr id="9" name="Shape 5"/>
          <p:cNvSpPr/>
          <p:nvPr/>
        </p:nvSpPr>
        <p:spPr>
          <a:xfrm>
            <a:off x="8133893" y="1572768"/>
            <a:ext cx="3600602" cy="1060704"/>
          </a:xfrm>
          <a:prstGeom prst="roundRect">
            <a:avLst>
              <a:gd name="adj" fmla="val 7759"/>
            </a:avLst>
          </a:prstGeom>
          <a:solidFill>
            <a:srgbClr val="095242"/>
          </a:solidFill>
          <a:ln/>
          <a:effectLst>
            <a:outerShdw sx="100000" sy="100000" kx="0" ky="0" algn="bl" rotWithShape="0" blurRad="127000" dist="31750" dir="5400000">
              <a:srgbClr val="062A21">
                <a:alpha val="18000"/>
              </a:srgbClr>
            </a:outerShdw>
          </a:effectLst>
        </p:spPr>
      </p:sp>
      <p:sp>
        <p:nvSpPr>
          <p:cNvPr id="10" name="Shape 6"/>
          <p:cNvSpPr/>
          <p:nvPr/>
        </p:nvSpPr>
        <p:spPr>
          <a:xfrm>
            <a:off x="11021263" y="1737360"/>
            <a:ext cx="457200" cy="457200"/>
          </a:xfrm>
          <a:prstGeom prst="ellipse">
            <a:avLst/>
          </a:prstGeom>
          <a:solidFill>
            <a:srgbClr val="FFFFFF"/>
          </a:solidFill>
          <a:ln/>
        </p:spPr>
      </p:sp>
      <p:pic>
        <p:nvPicPr>
          <p:cNvPr id="11" name="Image 2" descr="/tmp/claude-0/-home-user-Mobile1/ab9bbf47-b054-5f6e-be59-70476e095ce8/scratchpad/assets/icons/heart_green.png">    </p:cNvPr>
          <p:cNvPicPr>
            <a:picLocks noChangeAspect="1"/>
          </p:cNvPicPr>
          <p:nvPr/>
        </p:nvPicPr>
        <p:blipFill>
          <a:blip r:embed="rId3"/>
          <a:stretch>
            <a:fillRect/>
          </a:stretch>
        </p:blipFill>
        <p:spPr>
          <a:xfrm>
            <a:off x="11140135" y="1856232"/>
            <a:ext cx="219456" cy="219456"/>
          </a:xfrm>
          <a:prstGeom prst="rect">
            <a:avLst/>
          </a:prstGeom>
        </p:spPr>
      </p:pic>
      <p:sp>
        <p:nvSpPr>
          <p:cNvPr id="12" name="Text 7"/>
          <p:cNvSpPr/>
          <p:nvPr/>
        </p:nvSpPr>
        <p:spPr>
          <a:xfrm>
            <a:off x="8335061" y="1737360"/>
            <a:ext cx="2613050" cy="329184"/>
          </a:xfrm>
          <a:prstGeom prst="rect">
            <a:avLst/>
          </a:prstGeom>
          <a:noFill/>
          <a:ln/>
        </p:spPr>
        <p:txBody>
          <a:bodyPr wrap="square" lIns="0" tIns="0" rIns="0" bIns="0" rtlCol="0" anchor="ctr"/>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مجتمع حيوي</a:t>
            </a:r>
            <a:endParaRPr lang="ar-SA" sz="1250" dirty="0"/>
          </a:p>
        </p:txBody>
      </p:sp>
      <p:sp>
        <p:nvSpPr>
          <p:cNvPr id="13" name="Text 8"/>
          <p:cNvSpPr/>
          <p:nvPr/>
        </p:nvSpPr>
        <p:spPr>
          <a:xfrm>
            <a:off x="8335061" y="2121408"/>
            <a:ext cx="3143402" cy="438912"/>
          </a:xfrm>
          <a:prstGeom prst="rect">
            <a:avLst/>
          </a:prstGeom>
          <a:noFill/>
          <a:ln/>
        </p:spPr>
        <p:txBody>
          <a:bodyPr wrap="square" lIns="0" tIns="0" rIns="0" bIns="0" rtlCol="0" anchor="t"/>
          <a:lstStyle/>
          <a:p>
            <a:pPr rtl="1" algn="r" indent="0" marL="0">
              <a:lnSpc>
                <a:spcPct val="114000"/>
              </a:lnSpc>
              <a:buNone/>
            </a:pPr>
            <a:r>
              <a:rPr lang="ar-SA" altLang="en-US" sz="880" dirty="0">
                <a:solidFill>
                  <a:srgbClr val="D2E4DD"/>
                </a:solidFill>
                <a:latin typeface="Tajawal" pitchFamily="34" charset="0"/>
                <a:ea typeface="Tajawal" pitchFamily="34" charset="-122"/>
                <a:cs typeface="Tajawal" pitchFamily="34" charset="-120"/>
              </a:rPr>
              <a:t>القيم والهوية والانتماء والسلوك الإيجابي</a:t>
            </a:r>
            <a:endParaRPr lang="ar-SA" sz="880" dirty="0"/>
          </a:p>
        </p:txBody>
      </p:sp>
      <p:sp>
        <p:nvSpPr>
          <p:cNvPr id="14" name="Shape 9"/>
          <p:cNvSpPr/>
          <p:nvPr/>
        </p:nvSpPr>
        <p:spPr>
          <a:xfrm>
            <a:off x="4295546" y="1572768"/>
            <a:ext cx="3600602" cy="1060704"/>
          </a:xfrm>
          <a:prstGeom prst="roundRect">
            <a:avLst>
              <a:gd name="adj" fmla="val 7759"/>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15" name="Shape 10"/>
          <p:cNvSpPr/>
          <p:nvPr/>
        </p:nvSpPr>
        <p:spPr>
          <a:xfrm>
            <a:off x="7182917" y="1737360"/>
            <a:ext cx="457200" cy="457200"/>
          </a:xfrm>
          <a:prstGeom prst="ellipse">
            <a:avLst/>
          </a:prstGeom>
          <a:solidFill>
            <a:srgbClr val="F2F8F5"/>
          </a:solidFill>
          <a:ln w="9525">
            <a:solidFill>
              <a:srgbClr val="E3EDE8"/>
            </a:solidFill>
            <a:prstDash val="solid"/>
          </a:ln>
        </p:spPr>
      </p:sp>
      <p:pic>
        <p:nvPicPr>
          <p:cNvPr id="16" name="Image 3" descr="/tmp/claude-0/-home-user-Mobile1/ab9bbf47-b054-5f6e-be59-70476e095ce8/scratchpad/assets/icons/rocket_green.png">    </p:cNvPr>
          <p:cNvPicPr>
            <a:picLocks noChangeAspect="1"/>
          </p:cNvPicPr>
          <p:nvPr/>
        </p:nvPicPr>
        <p:blipFill>
          <a:blip r:embed="rId4"/>
          <a:stretch>
            <a:fillRect/>
          </a:stretch>
        </p:blipFill>
        <p:spPr>
          <a:xfrm>
            <a:off x="7301789" y="1856232"/>
            <a:ext cx="219456" cy="219456"/>
          </a:xfrm>
          <a:prstGeom prst="rect">
            <a:avLst/>
          </a:prstGeom>
        </p:spPr>
      </p:pic>
      <p:sp>
        <p:nvSpPr>
          <p:cNvPr id="17" name="Text 11"/>
          <p:cNvSpPr/>
          <p:nvPr/>
        </p:nvSpPr>
        <p:spPr>
          <a:xfrm>
            <a:off x="4496714" y="1737360"/>
            <a:ext cx="2613050" cy="329184"/>
          </a:xfrm>
          <a:prstGeom prst="rect">
            <a:avLst/>
          </a:prstGeom>
          <a:noFill/>
          <a:ln/>
        </p:spPr>
        <p:txBody>
          <a:bodyPr wrap="square" lIns="0" tIns="0" rIns="0" bIns="0" rtlCol="0" anchor="ctr"/>
          <a:lstStyle/>
          <a:p>
            <a:pPr rtl="1" algn="r" indent="0" marL="0">
              <a:buNone/>
            </a:pPr>
            <a:r>
              <a:rPr lang="ar-SA" altLang="en-US" sz="1250" b="1" dirty="0">
                <a:solidFill>
                  <a:srgbClr val="04352B"/>
                </a:solidFill>
                <a:latin typeface="Tajawal" pitchFamily="34" charset="0"/>
                <a:ea typeface="Tajawal" pitchFamily="34" charset="-122"/>
                <a:cs typeface="Tajawal" pitchFamily="34" charset="-120"/>
              </a:rPr>
              <a:t>اقتصاد مزدهر</a:t>
            </a:r>
            <a:endParaRPr lang="ar-SA" sz="1250" dirty="0"/>
          </a:p>
        </p:txBody>
      </p:sp>
      <p:sp>
        <p:nvSpPr>
          <p:cNvPr id="18" name="Text 12"/>
          <p:cNvSpPr/>
          <p:nvPr/>
        </p:nvSpPr>
        <p:spPr>
          <a:xfrm>
            <a:off x="4496714" y="2121408"/>
            <a:ext cx="3143402" cy="438912"/>
          </a:xfrm>
          <a:prstGeom prst="rect">
            <a:avLst/>
          </a:prstGeom>
          <a:noFill/>
          <a:ln/>
        </p:spPr>
        <p:txBody>
          <a:bodyPr wrap="square" lIns="0" tIns="0" rIns="0" bIns="0" rtlCol="0" anchor="t"/>
          <a:lstStyle/>
          <a:p>
            <a:pPr rtl="1" algn="r" indent="0" marL="0">
              <a:lnSpc>
                <a:spcPct val="114000"/>
              </a:lnSpc>
              <a:buNone/>
            </a:pPr>
            <a:r>
              <a:rPr lang="ar-SA" altLang="en-US" sz="880" dirty="0">
                <a:solidFill>
                  <a:srgbClr val="8A9A93"/>
                </a:solidFill>
                <a:latin typeface="Tajawal" pitchFamily="34" charset="0"/>
                <a:ea typeface="Tajawal" pitchFamily="34" charset="-122"/>
                <a:cs typeface="Tajawal" pitchFamily="34" charset="-120"/>
              </a:rPr>
              <a:t>مهارات المستقبل والتحول الرقمي والابتكار</a:t>
            </a:r>
            <a:endParaRPr lang="ar-SA" sz="880" dirty="0"/>
          </a:p>
        </p:txBody>
      </p:sp>
      <p:sp>
        <p:nvSpPr>
          <p:cNvPr id="19" name="Shape 13"/>
          <p:cNvSpPr/>
          <p:nvPr/>
        </p:nvSpPr>
        <p:spPr>
          <a:xfrm>
            <a:off x="457200" y="1572768"/>
            <a:ext cx="3600602" cy="1060704"/>
          </a:xfrm>
          <a:prstGeom prst="roundRect">
            <a:avLst>
              <a:gd name="adj" fmla="val 7759"/>
            </a:avLst>
          </a:prstGeom>
          <a:solidFill>
            <a:srgbClr val="FFFFFF"/>
          </a:solidFill>
          <a:ln w="12700">
            <a:solidFill>
              <a:srgbClr val="095242"/>
            </a:solidFill>
            <a:prstDash val="solid"/>
          </a:ln>
          <a:effectLst>
            <a:outerShdw sx="100000" sy="100000" kx="0" ky="0" algn="bl" rotWithShape="0" blurRad="76200" dist="19050" dir="5400000">
              <a:srgbClr val="0C3A2E">
                <a:alpha val="5000"/>
              </a:srgbClr>
            </a:outerShdw>
          </a:effectLst>
        </p:spPr>
      </p:sp>
      <p:sp>
        <p:nvSpPr>
          <p:cNvPr id="20" name="Shape 14"/>
          <p:cNvSpPr/>
          <p:nvPr/>
        </p:nvSpPr>
        <p:spPr>
          <a:xfrm>
            <a:off x="3344570" y="1737360"/>
            <a:ext cx="457200" cy="457200"/>
          </a:xfrm>
          <a:prstGeom prst="ellipse">
            <a:avLst/>
          </a:prstGeom>
          <a:solidFill>
            <a:srgbClr val="F2F8F5"/>
          </a:solidFill>
          <a:ln w="9525">
            <a:solidFill>
              <a:srgbClr val="E3EDE8"/>
            </a:solidFill>
            <a:prstDash val="solid"/>
          </a:ln>
        </p:spPr>
      </p:sp>
      <p:pic>
        <p:nvPicPr>
          <p:cNvPr id="21" name="Image 4" descr="/tmp/claude-0/-home-user-Mobile1/ab9bbf47-b054-5f6e-be59-70476e095ce8/scratchpad/assets/icons/crown_green.png">    </p:cNvPr>
          <p:cNvPicPr>
            <a:picLocks noChangeAspect="1"/>
          </p:cNvPicPr>
          <p:nvPr/>
        </p:nvPicPr>
        <p:blipFill>
          <a:blip r:embed="rId5"/>
          <a:stretch>
            <a:fillRect/>
          </a:stretch>
        </p:blipFill>
        <p:spPr>
          <a:xfrm>
            <a:off x="3463442" y="1856232"/>
            <a:ext cx="219456" cy="219456"/>
          </a:xfrm>
          <a:prstGeom prst="rect">
            <a:avLst/>
          </a:prstGeom>
        </p:spPr>
      </p:pic>
      <p:sp>
        <p:nvSpPr>
          <p:cNvPr id="22" name="Text 15"/>
          <p:cNvSpPr/>
          <p:nvPr/>
        </p:nvSpPr>
        <p:spPr>
          <a:xfrm>
            <a:off x="658368" y="1737360"/>
            <a:ext cx="2613050" cy="329184"/>
          </a:xfrm>
          <a:prstGeom prst="rect">
            <a:avLst/>
          </a:prstGeom>
          <a:noFill/>
          <a:ln/>
        </p:spPr>
        <p:txBody>
          <a:bodyPr wrap="square" lIns="0" tIns="0" rIns="0" bIns="0" rtlCol="0" anchor="ctr"/>
          <a:lstStyle/>
          <a:p>
            <a:pPr rtl="1" algn="r" indent="0" marL="0">
              <a:buNone/>
            </a:pPr>
            <a:r>
              <a:rPr lang="ar-SA" altLang="en-US" sz="1250" b="1" dirty="0">
                <a:solidFill>
                  <a:srgbClr val="04352B"/>
                </a:solidFill>
                <a:latin typeface="Tajawal" pitchFamily="34" charset="0"/>
                <a:ea typeface="Tajawal" pitchFamily="34" charset="-122"/>
                <a:cs typeface="Tajawal" pitchFamily="34" charset="-120"/>
              </a:rPr>
              <a:t>وطن طموح</a:t>
            </a:r>
            <a:endParaRPr lang="ar-SA" sz="1250" dirty="0"/>
          </a:p>
        </p:txBody>
      </p:sp>
      <p:sp>
        <p:nvSpPr>
          <p:cNvPr id="23" name="Text 16"/>
          <p:cNvSpPr/>
          <p:nvPr/>
        </p:nvSpPr>
        <p:spPr>
          <a:xfrm>
            <a:off x="658368" y="2121408"/>
            <a:ext cx="3143402" cy="438912"/>
          </a:xfrm>
          <a:prstGeom prst="rect">
            <a:avLst/>
          </a:prstGeom>
          <a:noFill/>
          <a:ln/>
        </p:spPr>
        <p:txBody>
          <a:bodyPr wrap="square" lIns="0" tIns="0" rIns="0" bIns="0" rtlCol="0" anchor="t"/>
          <a:lstStyle/>
          <a:p>
            <a:pPr rtl="1" algn="r" indent="0" marL="0">
              <a:lnSpc>
                <a:spcPct val="114000"/>
              </a:lnSpc>
              <a:buNone/>
            </a:pPr>
            <a:r>
              <a:rPr lang="ar-SA" altLang="en-US" sz="880" dirty="0">
                <a:solidFill>
                  <a:srgbClr val="8A9A93"/>
                </a:solidFill>
                <a:latin typeface="Tajawal" pitchFamily="34" charset="0"/>
                <a:ea typeface="Tajawal" pitchFamily="34" charset="-122"/>
                <a:cs typeface="Tajawal" pitchFamily="34" charset="-120"/>
              </a:rPr>
              <a:t>الحوكمة وكفاءة الإنفاق والشفافية والمساءلة</a:t>
            </a:r>
            <a:endParaRPr lang="ar-SA" sz="88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2852928"/>
          <a:ext cx="11277295" cy="914400"/>
        </p:xfrm>
        <a:graphic>
          <a:graphicData uri="http://schemas.openxmlformats.org/drawingml/2006/table">
            <a:tbl>
              <a:tblPr/>
              <a:tblGrid>
                <a:gridCol w="1036015"/>
                <a:gridCol w="2468880"/>
                <a:gridCol w="3657600"/>
                <a:gridCol w="4114800"/>
              </a:tblGrid>
              <a:tr h="329184">
                <a:tc>
                  <a:txBody>
                    <a:bodyPr/>
                    <a:lstStyle/>
                    <a:p>
                      <a:pPr rtl="1" algn="ctr" indent="0" marL="0">
                        <a:buNone/>
                      </a:pPr>
                      <a:r>
                        <a:rPr lang="ar-SA" altLang="en-US" sz="920" b="1" dirty="0">
                          <a:solidFill>
                            <a:srgbClr val="FFFFFF"/>
                          </a:solidFill>
                          <a:latin typeface="Tajawal" pitchFamily="34" charset="0"/>
                          <a:ea typeface="Tajawal" pitchFamily="34" charset="-122"/>
                          <a:cs typeface="Tajawal" pitchFamily="34" charset="-120"/>
                        </a:rPr>
                        <a:t>مؤشر الاعتماد</a:t>
                      </a:r>
                      <a:endParaRPr lang="ar-SA" sz="9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20" b="1" dirty="0">
                          <a:solidFill>
                            <a:srgbClr val="FFFFFF"/>
                          </a:solidFill>
                          <a:latin typeface="Tajawal" pitchFamily="34" charset="0"/>
                          <a:ea typeface="Tajawal" pitchFamily="34" charset="-122"/>
                          <a:cs typeface="Tajawal" pitchFamily="34" charset="-120"/>
                        </a:rPr>
                        <a:t>مستهدف رؤية ٢٠٣٠</a:t>
                      </a:r>
                      <a:endParaRPr lang="ar-SA" sz="9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20" b="1" dirty="0">
                          <a:solidFill>
                            <a:srgbClr val="FFFFFF"/>
                          </a:solidFill>
                          <a:latin typeface="Tajawal" pitchFamily="34" charset="0"/>
                          <a:ea typeface="Tajawal" pitchFamily="34" charset="-122"/>
                          <a:cs typeface="Tajawal" pitchFamily="34" charset="-120"/>
                        </a:rPr>
                        <a:t>ارتباطه ببرنامج تنمية القدرات البشرية</a:t>
                      </a:r>
                      <a:endParaRPr lang="ar-SA" sz="9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920" b="1" dirty="0">
                          <a:solidFill>
                            <a:srgbClr val="FFFFFF"/>
                          </a:solidFill>
                          <a:latin typeface="Tajawal" pitchFamily="34" charset="0"/>
                          <a:ea typeface="Tajawal" pitchFamily="34" charset="-122"/>
                          <a:cs typeface="Tajawal" pitchFamily="34" charset="-120"/>
                        </a:rPr>
                        <a:t>الهدف الاستراتيجي للمدرسة</a:t>
                      </a:r>
                      <a:endParaRPr lang="ar-SA" sz="9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384048">
                <a:tc>
                  <a:txBody>
                    <a:bodyPr/>
                    <a:lstStyle/>
                    <a:p>
                      <a:pPr rtl="1" algn="ctr" indent="0" marL="0">
                        <a:buNone/>
                      </a:pPr>
                      <a:r>
                        <a:rPr lang="ar-SA" altLang="en-US" sz="820" dirty="0">
                          <a:solidFill>
                            <a:srgbClr val="8A9A93"/>
                          </a:solidFill>
                          <a:latin typeface="Tajawal" pitchFamily="34" charset="0"/>
                          <a:ea typeface="Tajawal" pitchFamily="34" charset="-122"/>
                          <a:cs typeface="Tajawal" pitchFamily="34" charset="-120"/>
                        </a:rPr>
                        <a:t>‎2-1-1-9‎</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0B4A56"/>
                          </a:solidFill>
                          <a:latin typeface="Tajawal" pitchFamily="34" charset="0"/>
                          <a:ea typeface="Tajawal" pitchFamily="34" charset="-122"/>
                          <a:cs typeface="Tajawal" pitchFamily="34" charset="-120"/>
                        </a:rPr>
                        <a:t>تكافؤ فرص التعليم لجميع الفئات</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ترسيخ القيم وتنمية المهارات الأساسية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ضمان وصول التعليم للجميع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84048">
                <a:tc>
                  <a:txBody>
                    <a:bodyPr/>
                    <a:lstStyle/>
                    <a:p>
                      <a:pPr rtl="1" algn="ctr" indent="0" marL="0">
                        <a:buNone/>
                      </a:pPr>
                      <a:r>
                        <a:rPr lang="ar-SA" altLang="en-US" sz="820" dirty="0">
                          <a:solidFill>
                            <a:srgbClr val="8A9A93"/>
                          </a:solidFill>
                          <a:latin typeface="Tajawal" pitchFamily="34" charset="0"/>
                          <a:ea typeface="Tajawal" pitchFamily="34" charset="-122"/>
                          <a:cs typeface="Tajawal" pitchFamily="34" charset="-120"/>
                        </a:rPr>
                        <a:t>‎4-1-1-2‎</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dirty="0">
                          <a:solidFill>
                            <a:srgbClr val="0B4A56"/>
                          </a:solidFill>
                          <a:latin typeface="Tajawal" pitchFamily="34" charset="0"/>
                          <a:ea typeface="Tajawal" pitchFamily="34" charset="-122"/>
                          <a:cs typeface="Tajawal" pitchFamily="34" charset="-120"/>
                        </a:rPr>
                        <a:t>رفع جودة البيئة التعليمية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تطوير بيئة تعليمية محفّزة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تطوير بيئة مدرسية آمنة وابتكارية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84048">
                <a:tc>
                  <a:txBody>
                    <a:bodyPr/>
                    <a:lstStyle/>
                    <a:p>
                      <a:pPr rtl="1" algn="ctr" indent="0" marL="0">
                        <a:buNone/>
                      </a:pPr>
                      <a:r>
                        <a:rPr lang="ar-SA" altLang="en-US" sz="820" dirty="0">
                          <a:solidFill>
                            <a:srgbClr val="8A9A93"/>
                          </a:solidFill>
                          <a:latin typeface="Tajawal" pitchFamily="34" charset="0"/>
                          <a:ea typeface="Tajawal" pitchFamily="34" charset="-122"/>
                          <a:cs typeface="Tajawal" pitchFamily="34" charset="-120"/>
                        </a:rPr>
                        <a:t>‎1-2-1-1‎</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0B4A56"/>
                          </a:solidFill>
                          <a:latin typeface="Tajawal" pitchFamily="34" charset="0"/>
                          <a:ea typeface="Tajawal" pitchFamily="34" charset="-122"/>
                          <a:cs typeface="Tajawal" pitchFamily="34" charset="-120"/>
                        </a:rPr>
                        <a:t>مجتمع حيوي وهوية وطنية راسخة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ترسيخ القيم الوطنية والإسلامية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تعزيز القيم والهوية الوطنية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84048">
                <a:tc>
                  <a:txBody>
                    <a:bodyPr/>
                    <a:lstStyle/>
                    <a:p>
                      <a:pPr rtl="1" algn="ctr" indent="0" marL="0">
                        <a:buNone/>
                      </a:pPr>
                      <a:r>
                        <a:rPr lang="ar-SA" altLang="en-US" sz="820" dirty="0">
                          <a:solidFill>
                            <a:srgbClr val="8A9A93"/>
                          </a:solidFill>
                          <a:latin typeface="Tajawal" pitchFamily="34" charset="0"/>
                          <a:ea typeface="Tajawal" pitchFamily="34" charset="-122"/>
                          <a:cs typeface="Tajawal" pitchFamily="34" charset="-120"/>
                        </a:rPr>
                        <a:t>‎2-1-1-5‎</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dirty="0">
                          <a:solidFill>
                            <a:srgbClr val="0B4A56"/>
                          </a:solidFill>
                          <a:latin typeface="Tajawal" pitchFamily="34" charset="0"/>
                          <a:ea typeface="Tajawal" pitchFamily="34" charset="-122"/>
                          <a:cs typeface="Tajawal" pitchFamily="34" charset="-120"/>
                        </a:rPr>
                        <a:t>رفع تنافسية الطلاب دوليًا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تنمية قدرات الموهوبين والمبدعين</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الاستثمار في الطلاب والمدارس الأولى بالرعاية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84048">
                <a:tc>
                  <a:txBody>
                    <a:bodyPr/>
                    <a:lstStyle/>
                    <a:p>
                      <a:pPr rtl="1" algn="ctr" indent="0" marL="0">
                        <a:buNone/>
                      </a:pPr>
                      <a:r>
                        <a:rPr lang="ar-SA" altLang="en-US" sz="820" dirty="0">
                          <a:solidFill>
                            <a:srgbClr val="8A9A93"/>
                          </a:solidFill>
                          <a:latin typeface="Tajawal" pitchFamily="34" charset="0"/>
                          <a:ea typeface="Tajawal" pitchFamily="34" charset="-122"/>
                          <a:cs typeface="Tajawal" pitchFamily="34" charset="-120"/>
                        </a:rPr>
                        <a:t>‎1-3-1-2‎</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0B4A56"/>
                          </a:solidFill>
                          <a:latin typeface="Tajawal" pitchFamily="34" charset="0"/>
                          <a:ea typeface="Tajawal" pitchFamily="34" charset="-122"/>
                          <a:cs typeface="Tajawal" pitchFamily="34" charset="-120"/>
                        </a:rPr>
                        <a:t>رفع مشاركة الأسرة في التعليم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تعزيز الشراكة الأسرية والمجتمعية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تحسين أداء المدارس وشراكتها مع المجتمع</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384048">
                <a:tc>
                  <a:txBody>
                    <a:bodyPr/>
                    <a:lstStyle/>
                    <a:p>
                      <a:pPr rtl="1" algn="ctr" indent="0" marL="0">
                        <a:buNone/>
                      </a:pPr>
                      <a:r>
                        <a:rPr lang="ar-SA" altLang="en-US" sz="820" dirty="0">
                          <a:solidFill>
                            <a:srgbClr val="8A9A93"/>
                          </a:solidFill>
                          <a:latin typeface="Tajawal" pitchFamily="34" charset="0"/>
                          <a:ea typeface="Tajawal" pitchFamily="34" charset="-122"/>
                          <a:cs typeface="Tajawal" pitchFamily="34" charset="-120"/>
                        </a:rPr>
                        <a:t>‎2-2-1-1‎</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dirty="0">
                          <a:solidFill>
                            <a:srgbClr val="0B4A56"/>
                          </a:solidFill>
                          <a:latin typeface="Tajawal" pitchFamily="34" charset="0"/>
                          <a:ea typeface="Tajawal" pitchFamily="34" charset="-122"/>
                          <a:cs typeface="Tajawal" pitchFamily="34" charset="-120"/>
                        </a:rPr>
                        <a:t>اقتصاد رقمي وتعليم متقدم تقنيًا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التحول الرقمي في التعليم</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الارتقاء بمستوى التجربة الرقمية</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384048">
                <a:tc>
                  <a:txBody>
                    <a:bodyPr/>
                    <a:lstStyle/>
                    <a:p>
                      <a:pPr rtl="1" algn="ctr" indent="0" marL="0">
                        <a:buNone/>
                      </a:pPr>
                      <a:r>
                        <a:rPr lang="ar-SA" altLang="en-US" sz="820" dirty="0">
                          <a:solidFill>
                            <a:srgbClr val="8A9A93"/>
                          </a:solidFill>
                          <a:latin typeface="Tajawal" pitchFamily="34" charset="0"/>
                          <a:ea typeface="Tajawal" pitchFamily="34" charset="-122"/>
                          <a:cs typeface="Tajawal" pitchFamily="34" charset="-120"/>
                        </a:rPr>
                        <a:t>‎1-1-1-1‎</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0B4A56"/>
                          </a:solidFill>
                          <a:latin typeface="Tajawal" pitchFamily="34" charset="0"/>
                          <a:ea typeface="Tajawal" pitchFamily="34" charset="-122"/>
                          <a:cs typeface="Tajawal" pitchFamily="34" charset="-120"/>
                        </a:rPr>
                        <a:t>حوكمة فاعلة وكفاءة إنفاق</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dirty="0">
                          <a:solidFill>
                            <a:srgbClr val="34473F"/>
                          </a:solidFill>
                          <a:latin typeface="Tajawal" pitchFamily="34" charset="0"/>
                          <a:ea typeface="Tajawal" pitchFamily="34" charset="-122"/>
                          <a:cs typeface="Tajawal" pitchFamily="34" charset="-120"/>
                        </a:rPr>
                        <a:t>رفع كفاءة الأداء المؤسسي</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900" b="1" dirty="0">
                          <a:solidFill>
                            <a:srgbClr val="04352B"/>
                          </a:solidFill>
                          <a:latin typeface="Tajawal" pitchFamily="34" charset="0"/>
                          <a:ea typeface="Tajawal" pitchFamily="34" charset="-122"/>
                          <a:cs typeface="Tajawal" pitchFamily="34" charset="-120"/>
                        </a:rPr>
                        <a:t>تعزيز الحوكمة والالتزام وإدارة المخاطر</a:t>
                      </a:r>
                      <a:endParaRPr lang="ar-SA" sz="9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bl>
          </a:graphicData>
        </a:graphic>
      </p:graphicFrame>
      <p:sp>
        <p:nvSpPr>
          <p:cNvPr id="25" name="Text 17"/>
          <p:cNvSpPr/>
          <p:nvPr/>
        </p:nvSpPr>
        <p:spPr>
          <a:xfrm>
            <a:off x="457200" y="6053328"/>
            <a:ext cx="11277295" cy="274320"/>
          </a:xfrm>
          <a:prstGeom prst="rect">
            <a:avLst/>
          </a:prstGeom>
          <a:noFill/>
          <a:ln/>
        </p:spPr>
        <p:txBody>
          <a:bodyPr wrap="square" lIns="0" tIns="0" rIns="0" bIns="0" rtlCol="0" anchor="t"/>
          <a:lstStyle/>
          <a:p>
            <a:pPr rtl="1" algn="r" indent="0" marL="0">
              <a:buNone/>
            </a:pPr>
            <a:r>
              <a:rPr lang="ar-SA" altLang="en-US" sz="900" dirty="0">
                <a:solidFill>
                  <a:srgbClr val="8A9A93"/>
                </a:solidFill>
                <a:latin typeface="Tajawal" pitchFamily="34" charset="0"/>
                <a:ea typeface="Tajawal" pitchFamily="34" charset="-122"/>
                <a:cs typeface="Tajawal" pitchFamily="34" charset="-120"/>
              </a:rPr>
              <a:t>ملاحظة: الجدول يعرض أبرز الارتباطات، ويُستكمل لبقية الأهداف عند اعتماد الخطة.</a:t>
            </a:r>
            <a:endParaRPr lang="ar-SA"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Image 0" descr="/tmp/claude-0/-home-user-Mobile1/ab9bbf47-b054-5f6e-be59-70476e095ce8/scratchpad/assets/bg_content.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green.png">    </p:cNvPr>
          <p:cNvPicPr>
            <a:picLocks noChangeAspect="1"/>
          </p:cNvPicPr>
          <p:nvPr/>
        </p:nvPicPr>
        <p:blipFill>
          <a:blip r:embed="rId2"/>
          <a:stretch>
            <a:fillRect/>
          </a:stretch>
        </p:blipFill>
        <p:spPr>
          <a:xfrm>
            <a:off x="457200" y="274320"/>
            <a:ext cx="804672" cy="621792"/>
          </a:xfrm>
          <a:prstGeom prst="rect">
            <a:avLst/>
          </a:prstGeom>
        </p:spPr>
      </p:pic>
      <p:sp>
        <p:nvSpPr>
          <p:cNvPr id="4" name="Text 0"/>
          <p:cNvSpPr/>
          <p:nvPr/>
        </p:nvSpPr>
        <p:spPr>
          <a:xfrm>
            <a:off x="4785055" y="310896"/>
            <a:ext cx="6949440" cy="237744"/>
          </a:xfrm>
          <a:prstGeom prst="rect">
            <a:avLst/>
          </a:prstGeom>
          <a:noFill/>
          <a:ln/>
        </p:spPr>
        <p:txBody>
          <a:bodyPr wrap="square" lIns="0" tIns="0" rIns="0" bIns="0" rtlCol="0" anchor="t"/>
          <a:lstStyle/>
          <a:p>
            <a:pPr rtl="1" algn="r" indent="0" marL="0">
              <a:buNone/>
            </a:pPr>
            <a:r>
              <a:rPr lang="ar-SA" altLang="en-US" sz="950" b="1" spc="100" kern="0" dirty="0">
                <a:solidFill>
                  <a:srgbClr val="0089A1"/>
                </a:solidFill>
                <a:latin typeface="Tajawal" pitchFamily="34" charset="0"/>
                <a:ea typeface="Tajawal" pitchFamily="34" charset="-122"/>
                <a:cs typeface="Tajawal" pitchFamily="34" charset="-120"/>
              </a:rPr>
              <a:t>الجزء الرابع · أدوات تطوير الخطة</a:t>
            </a:r>
            <a:endParaRPr lang="ar-SA" sz="950" dirty="0"/>
          </a:p>
        </p:txBody>
      </p:sp>
      <p:sp>
        <p:nvSpPr>
          <p:cNvPr id="5" name="Text 1"/>
          <p:cNvSpPr/>
          <p:nvPr/>
        </p:nvSpPr>
        <p:spPr>
          <a:xfrm>
            <a:off x="3139135" y="548640"/>
            <a:ext cx="8595360" cy="420624"/>
          </a:xfrm>
          <a:prstGeom prst="rect">
            <a:avLst/>
          </a:prstGeom>
          <a:noFill/>
          <a:ln/>
        </p:spPr>
        <p:txBody>
          <a:bodyPr wrap="square" lIns="0" tIns="0" rIns="0" bIns="0" rtlCol="0" anchor="t"/>
          <a:lstStyle/>
          <a:p>
            <a:pPr rtl="1" algn="r" indent="0" marL="0">
              <a:buNone/>
            </a:pPr>
            <a:r>
              <a:rPr lang="ar-SA" altLang="en-US" sz="2300" b="1" dirty="0">
                <a:solidFill>
                  <a:srgbClr val="0A1F19"/>
                </a:solidFill>
                <a:latin typeface="Tajawal ExtraBold" pitchFamily="34" charset="0"/>
                <a:ea typeface="Tajawal ExtraBold" pitchFamily="34" charset="-122"/>
                <a:cs typeface="Tajawal ExtraBold" pitchFamily="34" charset="-120"/>
              </a:rPr>
              <a:t>مصفوفة المسؤوليات وخطة التواصل</a:t>
            </a:r>
            <a:endParaRPr lang="ar-SA" sz="2300" dirty="0"/>
          </a:p>
        </p:txBody>
      </p:sp>
      <p:sp>
        <p:nvSpPr>
          <p:cNvPr id="6" name="Text 2"/>
          <p:cNvSpPr/>
          <p:nvPr/>
        </p:nvSpPr>
        <p:spPr>
          <a:xfrm>
            <a:off x="6979615" y="6483096"/>
            <a:ext cx="4754880" cy="274320"/>
          </a:xfrm>
          <a:prstGeom prst="rect">
            <a:avLst/>
          </a:prstGeom>
          <a:noFill/>
          <a:ln/>
        </p:spPr>
        <p:txBody>
          <a:bodyPr wrap="square" lIns="0" tIns="0" rIns="0" bIns="0" rtlCol="0" anchor="t"/>
          <a:lstStyle/>
          <a:p>
            <a:pPr rtl="1" algn="r" indent="0" marL="0">
              <a:buNone/>
            </a:pPr>
            <a:r>
              <a:rPr lang="ar-SA" altLang="en-US" sz="800" dirty="0">
                <a:solidFill>
                  <a:srgbClr val="8A9A93"/>
                </a:solidFill>
                <a:latin typeface="Tajawal" pitchFamily="34" charset="0"/>
                <a:ea typeface="Tajawal" pitchFamily="34" charset="-122"/>
                <a:cs typeface="Tajawal" pitchFamily="34" charset="-120"/>
              </a:rPr>
              <a:t>مصفوفة المسؤوليات</a:t>
            </a:r>
            <a:endParaRPr lang="ar-SA" sz="800" dirty="0"/>
          </a:p>
        </p:txBody>
      </p:sp>
      <p:sp>
        <p:nvSpPr>
          <p:cNvPr id="7" name="Text 3"/>
          <p:cNvSpPr/>
          <p:nvPr/>
        </p:nvSpPr>
        <p:spPr>
          <a:xfrm>
            <a:off x="457200" y="6483096"/>
            <a:ext cx="822960" cy="274320"/>
          </a:xfrm>
          <a:prstGeom prst="rect">
            <a:avLst/>
          </a:prstGeom>
          <a:noFill/>
          <a:ln/>
        </p:spPr>
        <p:txBody>
          <a:bodyPr wrap="square" lIns="0" tIns="0" rIns="0" bIns="0" rtlCol="0" anchor="t"/>
          <a:lstStyle/>
          <a:p>
            <a:pPr rtl="1" algn="l" indent="0" marL="0">
              <a:buNone/>
            </a:pPr>
            <a:r>
              <a:rPr lang="ar-SA" altLang="en-US" sz="900" b="1" dirty="0">
                <a:solidFill>
                  <a:srgbClr val="8A9A93"/>
                </a:solidFill>
                <a:latin typeface="Tajawal ExtraBold" pitchFamily="34" charset="0"/>
                <a:ea typeface="Tajawal ExtraBold" pitchFamily="34" charset="-122"/>
                <a:cs typeface="Tajawal ExtraBold" pitchFamily="34" charset="-120"/>
              </a:rPr>
              <a:t>٦١</a:t>
            </a:r>
            <a:endParaRPr lang="ar-SA" sz="900" dirty="0"/>
          </a:p>
        </p:txBody>
      </p:sp>
      <p:sp>
        <p:nvSpPr>
          <p:cNvPr id="8" name="Text 4"/>
          <p:cNvSpPr/>
          <p:nvPr/>
        </p:nvSpPr>
        <p:spPr>
          <a:xfrm>
            <a:off x="457200" y="987552"/>
            <a:ext cx="11277295" cy="384048"/>
          </a:xfrm>
          <a:prstGeom prst="rect">
            <a:avLst/>
          </a:prstGeom>
          <a:noFill/>
          <a:ln/>
        </p:spPr>
        <p:txBody>
          <a:bodyPr wrap="square" lIns="0" tIns="0" rIns="0" bIns="0" rtlCol="0" anchor="t"/>
          <a:lstStyle/>
          <a:p>
            <a:pPr rtl="1" algn="r" indent="0" marL="0">
              <a:lnSpc>
                <a:spcPct val="120000"/>
              </a:lnSpc>
              <a:buNone/>
            </a:pPr>
            <a:r>
              <a:rPr lang="ar-SA" altLang="en-US" sz="1040" dirty="0">
                <a:solidFill>
                  <a:srgbClr val="34473F"/>
                </a:solidFill>
                <a:latin typeface="Tajawal" pitchFamily="34" charset="0"/>
                <a:ea typeface="Tajawal" pitchFamily="34" charset="-122"/>
                <a:cs typeface="Tajawal" pitchFamily="34" charset="-120"/>
              </a:rPr>
              <a:t>إسناد عشرات البرامج إلى «الإدارة» يُفرغ المسؤولية من معناها. هذه المصفوفة تحدّد لكل نوع عمل: مَن ينفّذ، مَن يعتمد، مَن يساند، ومَن يُطلَع.</a:t>
            </a:r>
            <a:endParaRPr lang="ar-SA" sz="104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426464"/>
          <a:ext cx="11277295" cy="914400"/>
        </p:xfrm>
        <a:graphic>
          <a:graphicData uri="http://schemas.openxmlformats.org/drawingml/2006/table">
            <a:tbl>
              <a:tblPr/>
              <a:tblGrid>
                <a:gridCol w="1066762"/>
                <a:gridCol w="1066762"/>
                <a:gridCol w="1066762"/>
                <a:gridCol w="1066762"/>
                <a:gridCol w="1066762"/>
                <a:gridCol w="1066762"/>
                <a:gridCol w="1066762"/>
                <a:gridCol w="1066762"/>
                <a:gridCol w="2743200"/>
              </a:tblGrid>
              <a:tr h="420624">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ممثل الأولياء</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منسّق السلامة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قائد التحول الرقمي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قائد المهارات</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رائد النشاط</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المرشد الطلابي</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منسّق الجودة</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760" b="1" dirty="0">
                          <a:solidFill>
                            <a:srgbClr val="FFFFFF"/>
                          </a:solidFill>
                          <a:latin typeface="Tajawal" pitchFamily="34" charset="0"/>
                          <a:ea typeface="Tajawal" pitchFamily="34" charset="-122"/>
                          <a:cs typeface="Tajawal" pitchFamily="34" charset="-120"/>
                        </a:rPr>
                        <a:t>رئيس الفريق</a:t>
                      </a:r>
                      <a:endParaRPr lang="ar-SA" sz="7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80" b="1" dirty="0">
                          <a:solidFill>
                            <a:srgbClr val="FFFFFF"/>
                          </a:solidFill>
                          <a:latin typeface="Tajawal" pitchFamily="34" charset="0"/>
                          <a:ea typeface="Tajawal" pitchFamily="34" charset="-122"/>
                          <a:cs typeface="Tajawal" pitchFamily="34" charset="-120"/>
                        </a:rPr>
                        <a:t>نوع العمل</a:t>
                      </a:r>
                      <a:endParaRPr lang="ar-SA" sz="88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56032">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095242"/>
                          </a:solidFill>
                          <a:latin typeface="Arial" pitchFamily="34" charset="0"/>
                          <a:ea typeface="Arial" pitchFamily="34" charset="-122"/>
                          <a:cs typeface="Arial" pitchFamily="34" charset="-120"/>
                        </a:rPr>
                        <a:t>R</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0089A1"/>
                          </a:solidFill>
                          <a:latin typeface="Arial" pitchFamily="34" charset="0"/>
                          <a:ea typeface="Arial" pitchFamily="34" charset="-122"/>
                          <a:cs typeface="Arial" pitchFamily="34" charset="-120"/>
                        </a:rPr>
                        <a:t>A</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بناء الخطة واعتمادها</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56032">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095242"/>
                          </a:solidFill>
                          <a:latin typeface="Arial" pitchFamily="34" charset="0"/>
                          <a:ea typeface="Arial" pitchFamily="34" charset="-122"/>
                          <a:cs typeface="Arial" pitchFamily="34" charset="-120"/>
                        </a:rPr>
                        <a:t>R</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0089A1"/>
                          </a:solidFill>
                          <a:latin typeface="Arial" pitchFamily="34" charset="0"/>
                          <a:ea typeface="Arial" pitchFamily="34" charset="-122"/>
                          <a:cs typeface="Arial" pitchFamily="34" charset="-120"/>
                        </a:rPr>
                        <a:t>A</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برامج الدعم الأكاديمي</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56032">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095242"/>
                          </a:solidFill>
                          <a:latin typeface="Arial" pitchFamily="34" charset="0"/>
                          <a:ea typeface="Arial" pitchFamily="34" charset="-122"/>
                          <a:cs typeface="Arial" pitchFamily="34" charset="-120"/>
                        </a:rPr>
                        <a:t>R</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0089A1"/>
                          </a:solidFill>
                          <a:latin typeface="Arial" pitchFamily="34" charset="0"/>
                          <a:ea typeface="Arial" pitchFamily="34" charset="-122"/>
                          <a:cs typeface="Arial" pitchFamily="34" charset="-120"/>
                        </a:rPr>
                        <a:t>A</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برامج السلوك والانضباط</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56032">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095242"/>
                          </a:solidFill>
                          <a:latin typeface="Arial" pitchFamily="34" charset="0"/>
                          <a:ea typeface="Arial" pitchFamily="34" charset="-122"/>
                          <a:cs typeface="Arial" pitchFamily="34" charset="-120"/>
                        </a:rPr>
                        <a:t>R</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0089A1"/>
                          </a:solidFill>
                          <a:latin typeface="Arial" pitchFamily="34" charset="0"/>
                          <a:ea typeface="Arial" pitchFamily="34" charset="-122"/>
                          <a:cs typeface="Arial" pitchFamily="34" charset="-120"/>
                        </a:rPr>
                        <a:t>A</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الأنشطة والمبادرات الطلابية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56032">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095242"/>
                          </a:solidFill>
                          <a:latin typeface="Arial" pitchFamily="34" charset="0"/>
                          <a:ea typeface="Arial" pitchFamily="34" charset="-122"/>
                          <a:cs typeface="Arial" pitchFamily="34" charset="-120"/>
                        </a:rPr>
                        <a:t>R</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0089A1"/>
                          </a:solidFill>
                          <a:latin typeface="Arial" pitchFamily="34" charset="0"/>
                          <a:ea typeface="Arial" pitchFamily="34" charset="-122"/>
                          <a:cs typeface="Arial" pitchFamily="34" charset="-120"/>
                        </a:rPr>
                        <a:t>A</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التحول الرقمي والمنصات</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56032">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095242"/>
                          </a:solidFill>
                          <a:latin typeface="Arial" pitchFamily="34" charset="0"/>
                          <a:ea typeface="Arial" pitchFamily="34" charset="-122"/>
                          <a:cs typeface="Arial" pitchFamily="34" charset="-120"/>
                        </a:rPr>
                        <a:t>R</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0089A1"/>
                          </a:solidFill>
                          <a:latin typeface="Arial" pitchFamily="34" charset="0"/>
                          <a:ea typeface="Arial" pitchFamily="34" charset="-122"/>
                          <a:cs typeface="Arial" pitchFamily="34" charset="-120"/>
                        </a:rPr>
                        <a:t>A</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الأمن والسلامة والطوارئ</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56032">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095242"/>
                          </a:solidFill>
                          <a:latin typeface="Arial" pitchFamily="34" charset="0"/>
                          <a:ea typeface="Arial" pitchFamily="34" charset="-122"/>
                          <a:cs typeface="Arial" pitchFamily="34" charset="-120"/>
                        </a:rPr>
                        <a:t>R</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950" b="1" dirty="0">
                          <a:solidFill>
                            <a:srgbClr val="0089A1"/>
                          </a:solidFill>
                          <a:latin typeface="Arial" pitchFamily="34" charset="0"/>
                          <a:ea typeface="Arial" pitchFamily="34" charset="-122"/>
                          <a:cs typeface="Arial" pitchFamily="34" charset="-120"/>
                        </a:rPr>
                        <a:t>A</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قياس الأثر والتقارير</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56032">
                <a:tc>
                  <a:txBody>
                    <a:bodyPr/>
                    <a:lstStyle/>
                    <a:p>
                      <a:pPr rtl="1" algn="ctr" indent="0" marL="0">
                        <a:buNone/>
                      </a:pPr>
                      <a:r>
                        <a:rPr lang="ar-SA" altLang="en-US" sz="950" b="1" dirty="0">
                          <a:solidFill>
                            <a:srgbClr val="095242"/>
                          </a:solidFill>
                          <a:latin typeface="Arial" pitchFamily="34" charset="0"/>
                          <a:ea typeface="Arial" pitchFamily="34" charset="-122"/>
                          <a:cs typeface="Arial" pitchFamily="34" charset="-120"/>
                        </a:rPr>
                        <a:t>R</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C9A45C"/>
                          </a:solidFill>
                          <a:latin typeface="Arial" pitchFamily="34" charset="0"/>
                          <a:ea typeface="Arial" pitchFamily="34" charset="-122"/>
                          <a:cs typeface="Arial" pitchFamily="34" charset="-120"/>
                        </a:rPr>
                        <a:t>C</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8A9A93"/>
                          </a:solidFill>
                          <a:latin typeface="Arial" pitchFamily="34" charset="0"/>
                          <a:ea typeface="Arial" pitchFamily="34" charset="-122"/>
                          <a:cs typeface="Arial" pitchFamily="34" charset="-120"/>
                        </a:rPr>
                        <a:t>I</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950" b="1" dirty="0">
                          <a:solidFill>
                            <a:srgbClr val="0089A1"/>
                          </a:solidFill>
                          <a:latin typeface="Arial" pitchFamily="34" charset="0"/>
                          <a:ea typeface="Arial" pitchFamily="34" charset="-122"/>
                          <a:cs typeface="Arial" pitchFamily="34" charset="-120"/>
                        </a:rPr>
                        <a:t>A</a:t>
                      </a:r>
                      <a:endParaRPr lang="ar-SA" sz="950" dirty="0">
                        <a:latin typeface="Arial" charset="0"/>
                        <a:ea typeface="Arial" charset="0"/>
                        <a:cs typeface="Ari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60" b="1" dirty="0">
                          <a:solidFill>
                            <a:srgbClr val="04352B"/>
                          </a:solidFill>
                          <a:latin typeface="Tajawal" pitchFamily="34" charset="0"/>
                          <a:ea typeface="Tajawal" pitchFamily="34" charset="-122"/>
                          <a:cs typeface="Tajawal" pitchFamily="34" charset="-120"/>
                        </a:rPr>
                        <a:t>الشراكة الأسرية والمجتمعية</a:t>
                      </a:r>
                      <a:endParaRPr lang="ar-SA" sz="86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10" name="Shape 5"/>
          <p:cNvSpPr/>
          <p:nvPr/>
        </p:nvSpPr>
        <p:spPr>
          <a:xfrm>
            <a:off x="9052331" y="4023360"/>
            <a:ext cx="2682164" cy="566928"/>
          </a:xfrm>
          <a:prstGeom prst="roundRect">
            <a:avLst>
              <a:gd name="adj" fmla="val 14516"/>
            </a:avLst>
          </a:prstGeom>
          <a:solidFill>
            <a:srgbClr val="F2F8F5"/>
          </a:solidFill>
          <a:ln w="9525">
            <a:solidFill>
              <a:srgbClr val="E3EDE8"/>
            </a:solidFill>
            <a:prstDash val="solid"/>
          </a:ln>
        </p:spPr>
      </p:sp>
      <p:sp>
        <p:nvSpPr>
          <p:cNvPr id="11" name="Shape 6"/>
          <p:cNvSpPr/>
          <p:nvPr/>
        </p:nvSpPr>
        <p:spPr>
          <a:xfrm>
            <a:off x="11277295" y="4169664"/>
            <a:ext cx="292608" cy="292608"/>
          </a:xfrm>
          <a:prstGeom prst="roundRect">
            <a:avLst>
              <a:gd name="adj" fmla="val 18750"/>
            </a:avLst>
          </a:prstGeom>
          <a:solidFill>
            <a:srgbClr val="095242"/>
          </a:solidFill>
          <a:ln/>
        </p:spPr>
      </p:sp>
      <p:sp>
        <p:nvSpPr>
          <p:cNvPr id="12" name="Text 7"/>
          <p:cNvSpPr/>
          <p:nvPr/>
        </p:nvSpPr>
        <p:spPr>
          <a:xfrm>
            <a:off x="11277295" y="4160520"/>
            <a:ext cx="292608" cy="29260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R</a:t>
            </a:r>
            <a:endParaRPr lang="ar-SA" sz="950" dirty="0"/>
          </a:p>
        </p:txBody>
      </p:sp>
      <p:sp>
        <p:nvSpPr>
          <p:cNvPr id="13" name="Text 8"/>
          <p:cNvSpPr/>
          <p:nvPr/>
        </p:nvSpPr>
        <p:spPr>
          <a:xfrm>
            <a:off x="9216923" y="4059936"/>
            <a:ext cx="2005508" cy="256032"/>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منفّذ</a:t>
            </a:r>
            <a:endParaRPr lang="ar-SA" sz="980" dirty="0"/>
          </a:p>
        </p:txBody>
      </p:sp>
      <p:sp>
        <p:nvSpPr>
          <p:cNvPr id="14" name="Text 9"/>
          <p:cNvSpPr/>
          <p:nvPr/>
        </p:nvSpPr>
        <p:spPr>
          <a:xfrm>
            <a:off x="9216923" y="4297680"/>
            <a:ext cx="2005508" cy="256032"/>
          </a:xfrm>
          <a:prstGeom prst="rect">
            <a:avLst/>
          </a:prstGeom>
          <a:noFill/>
          <a:ln/>
        </p:spPr>
        <p:txBody>
          <a:bodyPr wrap="square" lIns="0" tIns="0" rIns="0" bIns="0" rtlCol="0" anchor="ctr"/>
          <a:lstStyle/>
          <a:p>
            <a:pPr rtl="1" algn="r" indent="0" marL="0">
              <a:buNone/>
            </a:pPr>
            <a:r>
              <a:rPr lang="ar-SA" altLang="en-US" sz="780" dirty="0">
                <a:solidFill>
                  <a:srgbClr val="8A9A93"/>
                </a:solidFill>
                <a:latin typeface="Tajawal" pitchFamily="34" charset="0"/>
                <a:ea typeface="Tajawal" pitchFamily="34" charset="-122"/>
                <a:cs typeface="Tajawal" pitchFamily="34" charset="-120"/>
              </a:rPr>
              <a:t>يقوم بالعمل فعليًا</a:t>
            </a:r>
            <a:endParaRPr lang="ar-SA" sz="780" dirty="0"/>
          </a:p>
        </p:txBody>
      </p:sp>
      <p:sp>
        <p:nvSpPr>
          <p:cNvPr id="15" name="Shape 10"/>
          <p:cNvSpPr/>
          <p:nvPr/>
        </p:nvSpPr>
        <p:spPr>
          <a:xfrm>
            <a:off x="6187288" y="4023360"/>
            <a:ext cx="2682164" cy="566928"/>
          </a:xfrm>
          <a:prstGeom prst="roundRect">
            <a:avLst>
              <a:gd name="adj" fmla="val 14516"/>
            </a:avLst>
          </a:prstGeom>
          <a:solidFill>
            <a:srgbClr val="F2F8F5"/>
          </a:solidFill>
          <a:ln w="9525">
            <a:solidFill>
              <a:srgbClr val="E3EDE8"/>
            </a:solidFill>
            <a:prstDash val="solid"/>
          </a:ln>
        </p:spPr>
      </p:sp>
      <p:sp>
        <p:nvSpPr>
          <p:cNvPr id="16" name="Shape 11"/>
          <p:cNvSpPr/>
          <p:nvPr/>
        </p:nvSpPr>
        <p:spPr>
          <a:xfrm>
            <a:off x="8412251" y="4169664"/>
            <a:ext cx="292608" cy="292608"/>
          </a:xfrm>
          <a:prstGeom prst="roundRect">
            <a:avLst>
              <a:gd name="adj" fmla="val 18750"/>
            </a:avLst>
          </a:prstGeom>
          <a:solidFill>
            <a:srgbClr val="0089A1"/>
          </a:solidFill>
          <a:ln/>
        </p:spPr>
      </p:sp>
      <p:sp>
        <p:nvSpPr>
          <p:cNvPr id="17" name="Text 12"/>
          <p:cNvSpPr/>
          <p:nvPr/>
        </p:nvSpPr>
        <p:spPr>
          <a:xfrm>
            <a:off x="8412251" y="4160520"/>
            <a:ext cx="292608" cy="29260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A</a:t>
            </a:r>
            <a:endParaRPr lang="ar-SA" sz="950" dirty="0"/>
          </a:p>
        </p:txBody>
      </p:sp>
      <p:sp>
        <p:nvSpPr>
          <p:cNvPr id="18" name="Text 13"/>
          <p:cNvSpPr/>
          <p:nvPr/>
        </p:nvSpPr>
        <p:spPr>
          <a:xfrm>
            <a:off x="6351880" y="4059936"/>
            <a:ext cx="2005508" cy="256032"/>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معتمِد</a:t>
            </a:r>
            <a:endParaRPr lang="ar-SA" sz="980" dirty="0"/>
          </a:p>
        </p:txBody>
      </p:sp>
      <p:sp>
        <p:nvSpPr>
          <p:cNvPr id="19" name="Text 14"/>
          <p:cNvSpPr/>
          <p:nvPr/>
        </p:nvSpPr>
        <p:spPr>
          <a:xfrm>
            <a:off x="6351880" y="4297680"/>
            <a:ext cx="2005508" cy="256032"/>
          </a:xfrm>
          <a:prstGeom prst="rect">
            <a:avLst/>
          </a:prstGeom>
          <a:noFill/>
          <a:ln/>
        </p:spPr>
        <p:txBody>
          <a:bodyPr wrap="square" lIns="0" tIns="0" rIns="0" bIns="0" rtlCol="0" anchor="ctr"/>
          <a:lstStyle/>
          <a:p>
            <a:pPr rtl="1" algn="r" indent="0" marL="0">
              <a:buNone/>
            </a:pPr>
            <a:r>
              <a:rPr lang="ar-SA" altLang="en-US" sz="780" dirty="0">
                <a:solidFill>
                  <a:srgbClr val="8A9A93"/>
                </a:solidFill>
                <a:latin typeface="Tajawal" pitchFamily="34" charset="0"/>
                <a:ea typeface="Tajawal" pitchFamily="34" charset="-122"/>
                <a:cs typeface="Tajawal" pitchFamily="34" charset="-120"/>
              </a:rPr>
              <a:t>يقرّ ويتحمّل المسؤولية النهائية</a:t>
            </a:r>
            <a:endParaRPr lang="ar-SA" sz="780" dirty="0"/>
          </a:p>
        </p:txBody>
      </p:sp>
      <p:sp>
        <p:nvSpPr>
          <p:cNvPr id="20" name="Shape 15"/>
          <p:cNvSpPr/>
          <p:nvPr/>
        </p:nvSpPr>
        <p:spPr>
          <a:xfrm>
            <a:off x="3322244" y="4023360"/>
            <a:ext cx="2682164" cy="566928"/>
          </a:xfrm>
          <a:prstGeom prst="roundRect">
            <a:avLst>
              <a:gd name="adj" fmla="val 14516"/>
            </a:avLst>
          </a:prstGeom>
          <a:solidFill>
            <a:srgbClr val="F2F8F5"/>
          </a:solidFill>
          <a:ln w="9525">
            <a:solidFill>
              <a:srgbClr val="E3EDE8"/>
            </a:solidFill>
            <a:prstDash val="solid"/>
          </a:ln>
        </p:spPr>
      </p:sp>
      <p:sp>
        <p:nvSpPr>
          <p:cNvPr id="21" name="Shape 16"/>
          <p:cNvSpPr/>
          <p:nvPr/>
        </p:nvSpPr>
        <p:spPr>
          <a:xfrm>
            <a:off x="5547208" y="4169664"/>
            <a:ext cx="292608" cy="292608"/>
          </a:xfrm>
          <a:prstGeom prst="roundRect">
            <a:avLst>
              <a:gd name="adj" fmla="val 18750"/>
            </a:avLst>
          </a:prstGeom>
          <a:solidFill>
            <a:srgbClr val="C9A45C"/>
          </a:solidFill>
          <a:ln/>
        </p:spPr>
      </p:sp>
      <p:sp>
        <p:nvSpPr>
          <p:cNvPr id="22" name="Text 17"/>
          <p:cNvSpPr/>
          <p:nvPr/>
        </p:nvSpPr>
        <p:spPr>
          <a:xfrm>
            <a:off x="5547208" y="4160520"/>
            <a:ext cx="292608" cy="29260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C</a:t>
            </a:r>
            <a:endParaRPr lang="ar-SA" sz="950" dirty="0"/>
          </a:p>
        </p:txBody>
      </p:sp>
      <p:sp>
        <p:nvSpPr>
          <p:cNvPr id="23" name="Text 18"/>
          <p:cNvSpPr/>
          <p:nvPr/>
        </p:nvSpPr>
        <p:spPr>
          <a:xfrm>
            <a:off x="3486836" y="4059936"/>
            <a:ext cx="2005508" cy="256032"/>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مستشار</a:t>
            </a:r>
            <a:endParaRPr lang="ar-SA" sz="980" dirty="0"/>
          </a:p>
        </p:txBody>
      </p:sp>
      <p:sp>
        <p:nvSpPr>
          <p:cNvPr id="24" name="Text 19"/>
          <p:cNvSpPr/>
          <p:nvPr/>
        </p:nvSpPr>
        <p:spPr>
          <a:xfrm>
            <a:off x="3486836" y="4297680"/>
            <a:ext cx="2005508" cy="256032"/>
          </a:xfrm>
          <a:prstGeom prst="rect">
            <a:avLst/>
          </a:prstGeom>
          <a:noFill/>
          <a:ln/>
        </p:spPr>
        <p:txBody>
          <a:bodyPr wrap="square" lIns="0" tIns="0" rIns="0" bIns="0" rtlCol="0" anchor="ctr"/>
          <a:lstStyle/>
          <a:p>
            <a:pPr rtl="1" algn="r" indent="0" marL="0">
              <a:buNone/>
            </a:pPr>
            <a:r>
              <a:rPr lang="ar-SA" altLang="en-US" sz="780" dirty="0">
                <a:solidFill>
                  <a:srgbClr val="8A9A93"/>
                </a:solidFill>
                <a:latin typeface="Tajawal" pitchFamily="34" charset="0"/>
                <a:ea typeface="Tajawal" pitchFamily="34" charset="-122"/>
                <a:cs typeface="Tajawal" pitchFamily="34" charset="-120"/>
              </a:rPr>
              <a:t>يُستشار قبل التنفيذ</a:t>
            </a:r>
            <a:endParaRPr lang="ar-SA" sz="780" dirty="0"/>
          </a:p>
        </p:txBody>
      </p:sp>
      <p:sp>
        <p:nvSpPr>
          <p:cNvPr id="25" name="Shape 20"/>
          <p:cNvSpPr/>
          <p:nvPr/>
        </p:nvSpPr>
        <p:spPr>
          <a:xfrm>
            <a:off x="457200" y="4023360"/>
            <a:ext cx="2682164" cy="566928"/>
          </a:xfrm>
          <a:prstGeom prst="roundRect">
            <a:avLst>
              <a:gd name="adj" fmla="val 14516"/>
            </a:avLst>
          </a:prstGeom>
          <a:solidFill>
            <a:srgbClr val="F2F8F5"/>
          </a:solidFill>
          <a:ln w="9525">
            <a:solidFill>
              <a:srgbClr val="E3EDE8"/>
            </a:solidFill>
            <a:prstDash val="solid"/>
          </a:ln>
        </p:spPr>
      </p:sp>
      <p:sp>
        <p:nvSpPr>
          <p:cNvPr id="26" name="Shape 21"/>
          <p:cNvSpPr/>
          <p:nvPr/>
        </p:nvSpPr>
        <p:spPr>
          <a:xfrm>
            <a:off x="2682164" y="4169664"/>
            <a:ext cx="292608" cy="292608"/>
          </a:xfrm>
          <a:prstGeom prst="roundRect">
            <a:avLst>
              <a:gd name="adj" fmla="val 18750"/>
            </a:avLst>
          </a:prstGeom>
          <a:solidFill>
            <a:srgbClr val="8A9A93"/>
          </a:solidFill>
          <a:ln/>
        </p:spPr>
      </p:sp>
      <p:sp>
        <p:nvSpPr>
          <p:cNvPr id="27" name="Text 22"/>
          <p:cNvSpPr/>
          <p:nvPr/>
        </p:nvSpPr>
        <p:spPr>
          <a:xfrm>
            <a:off x="2682164" y="4160520"/>
            <a:ext cx="292608" cy="292608"/>
          </a:xfrm>
          <a:prstGeom prst="rect">
            <a:avLst/>
          </a:prstGeom>
          <a:noFill/>
          <a:ln/>
        </p:spPr>
        <p:txBody>
          <a:bodyPr wrap="square" lIns="0" tIns="0" rIns="0" bIns="0" rtlCol="0" anchor="ctr"/>
          <a:lstStyle/>
          <a:p>
            <a:pPr rtl="1" algn="ctr" indent="0" marL="0">
              <a:buNone/>
            </a:pPr>
            <a:r>
              <a:rPr lang="ar-SA" altLang="en-US" sz="950" b="1" dirty="0">
                <a:solidFill>
                  <a:srgbClr val="FFFFFF"/>
                </a:solidFill>
                <a:latin typeface="Tajawal" pitchFamily="34" charset="0"/>
                <a:ea typeface="Tajawal" pitchFamily="34" charset="-122"/>
                <a:cs typeface="Tajawal" pitchFamily="34" charset="-120"/>
              </a:rPr>
              <a:t>I</a:t>
            </a:r>
            <a:endParaRPr lang="ar-SA" sz="950" dirty="0"/>
          </a:p>
        </p:txBody>
      </p:sp>
      <p:sp>
        <p:nvSpPr>
          <p:cNvPr id="28" name="Text 23"/>
          <p:cNvSpPr/>
          <p:nvPr/>
        </p:nvSpPr>
        <p:spPr>
          <a:xfrm>
            <a:off x="621792" y="4059936"/>
            <a:ext cx="2005508" cy="256032"/>
          </a:xfrm>
          <a:prstGeom prst="rect">
            <a:avLst/>
          </a:prstGeom>
          <a:noFill/>
          <a:ln/>
        </p:spPr>
        <p:txBody>
          <a:bodyPr wrap="square" lIns="0" tIns="0" rIns="0" bIns="0" rtlCol="0" anchor="ctr"/>
          <a:lstStyle/>
          <a:p>
            <a:pPr rtl="1" algn="r" indent="0" marL="0">
              <a:buNone/>
            </a:pPr>
            <a:r>
              <a:rPr lang="ar-SA" altLang="en-US" sz="980" b="1" dirty="0">
                <a:solidFill>
                  <a:srgbClr val="04352B"/>
                </a:solidFill>
                <a:latin typeface="Tajawal" pitchFamily="34" charset="0"/>
                <a:ea typeface="Tajawal" pitchFamily="34" charset="-122"/>
                <a:cs typeface="Tajawal" pitchFamily="34" charset="-120"/>
              </a:rPr>
              <a:t>مُطلَع</a:t>
            </a:r>
            <a:endParaRPr lang="ar-SA" sz="980" dirty="0"/>
          </a:p>
        </p:txBody>
      </p:sp>
      <p:sp>
        <p:nvSpPr>
          <p:cNvPr id="29" name="Text 24"/>
          <p:cNvSpPr/>
          <p:nvPr/>
        </p:nvSpPr>
        <p:spPr>
          <a:xfrm>
            <a:off x="621792" y="4297680"/>
            <a:ext cx="2005508" cy="256032"/>
          </a:xfrm>
          <a:prstGeom prst="rect">
            <a:avLst/>
          </a:prstGeom>
          <a:noFill/>
          <a:ln/>
        </p:spPr>
        <p:txBody>
          <a:bodyPr wrap="square" lIns="0" tIns="0" rIns="0" bIns="0" rtlCol="0" anchor="ctr"/>
          <a:lstStyle/>
          <a:p>
            <a:pPr rtl="1" algn="r" indent="0" marL="0">
              <a:buNone/>
            </a:pPr>
            <a:r>
              <a:rPr lang="ar-SA" altLang="en-US" sz="780" dirty="0">
                <a:solidFill>
                  <a:srgbClr val="8A9A93"/>
                </a:solidFill>
                <a:latin typeface="Tajawal" pitchFamily="34" charset="0"/>
                <a:ea typeface="Tajawal" pitchFamily="34" charset="-122"/>
                <a:cs typeface="Tajawal" pitchFamily="34" charset="-120"/>
              </a:rPr>
              <a:t>يُبلَّغ بالنتيجة</a:t>
            </a:r>
            <a:endParaRPr lang="ar-SA" sz="780" dirty="0"/>
          </a:p>
        </p:txBody>
      </p:sp>
      <p:sp>
        <p:nvSpPr>
          <p:cNvPr id="30" name="Shape 25"/>
          <p:cNvSpPr/>
          <p:nvPr/>
        </p:nvSpPr>
        <p:spPr>
          <a:xfrm>
            <a:off x="11652199" y="4809744"/>
            <a:ext cx="82296" cy="82296"/>
          </a:xfrm>
          <a:prstGeom prst="rect">
            <a:avLst/>
          </a:prstGeom>
          <a:solidFill>
            <a:srgbClr val="0089A1"/>
          </a:solidFill>
          <a:ln/>
        </p:spPr>
      </p:sp>
      <p:sp>
        <p:nvSpPr>
          <p:cNvPr id="31" name="Text 26"/>
          <p:cNvSpPr/>
          <p:nvPr/>
        </p:nvSpPr>
        <p:spPr>
          <a:xfrm>
            <a:off x="9357055" y="4718304"/>
            <a:ext cx="2194560" cy="274320"/>
          </a:xfrm>
          <a:prstGeom prst="rect">
            <a:avLst/>
          </a:prstGeom>
          <a:noFill/>
          <a:ln/>
        </p:spPr>
        <p:txBody>
          <a:bodyPr wrap="square" lIns="0" tIns="0" rIns="0" bIns="0" rtlCol="0" anchor="ctr"/>
          <a:lstStyle/>
          <a:p>
            <a:pPr rtl="1" algn="r" indent="0" marL="0">
              <a:buNone/>
            </a:pPr>
            <a:r>
              <a:rPr lang="ar-SA" altLang="en-US" sz="1250" b="1" dirty="0">
                <a:solidFill>
                  <a:srgbClr val="095242"/>
                </a:solidFill>
                <a:latin typeface="Tajawal" pitchFamily="34" charset="0"/>
                <a:ea typeface="Tajawal" pitchFamily="34" charset="-122"/>
                <a:cs typeface="Tajawal" pitchFamily="34" charset="-120"/>
              </a:rPr>
              <a:t>خطة التواصل</a:t>
            </a:r>
            <a:endParaRPr lang="ar-SA" sz="1250" dirty="0"/>
          </a:p>
        </p:txBody>
      </p:sp>
      <p:graphicFrame>
        <p:nvGraphicFramePr>
          <p:cNvPr id="131" name="Table 1"/>
          <p:cNvGraphicFramePr>
            <a:graphicFrameLocks noGrp="1"/>
          </p:cNvGraphicFramePr>
          <p:nvPr>
            <p:extLst>
              <p:ext uri="{D42A27DB-BD31-4B8C-83A1-F6EECF244321}">
                <p14:modId xmlns:p14="http://schemas.microsoft.com/office/powerpoint/2010/main" val="1579011935"/>
              </p:ext>
            </p:extLst>
          </p:nvPr>
        </p:nvGraphicFramePr>
        <p:xfrm>
          <a:off x="5059375" y="5029200"/>
          <a:ext cx="6675120" cy="914400"/>
        </p:xfrm>
        <a:graphic>
          <a:graphicData uri="http://schemas.openxmlformats.org/drawingml/2006/table">
            <a:tbl>
              <a:tblPr/>
              <a:tblGrid>
                <a:gridCol w="2103120"/>
                <a:gridCol w="822960"/>
                <a:gridCol w="2377440"/>
                <a:gridCol w="1371600"/>
              </a:tblGrid>
              <a:tr h="256032">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القناة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الدورية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ماذا يصلها</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c>
                  <a:txBody>
                    <a:bodyPr/>
                    <a:lstStyle/>
                    <a:p>
                      <a:pPr rtl="1" algn="ctr" indent="0" marL="0">
                        <a:buNone/>
                      </a:pPr>
                      <a:r>
                        <a:rPr lang="ar-SA" altLang="en-US" sz="840" b="1" dirty="0">
                          <a:solidFill>
                            <a:srgbClr val="FFFFFF"/>
                          </a:solidFill>
                          <a:latin typeface="Tajawal" pitchFamily="34" charset="0"/>
                          <a:ea typeface="Tajawal" pitchFamily="34" charset="-122"/>
                          <a:cs typeface="Tajawal" pitchFamily="34" charset="-120"/>
                        </a:rPr>
                        <a:t>الجهة</a:t>
                      </a:r>
                      <a:endParaRPr lang="ar-SA" sz="84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095242"/>
                    </a:solidFill>
                  </a:tcPr>
                </a:tc>
              </a:tr>
              <a:tr h="256032">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اجتماع الهيئة التعليمية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b="1" dirty="0">
                          <a:solidFill>
                            <a:srgbClr val="0089A1"/>
                          </a:solidFill>
                          <a:latin typeface="Tajawal" pitchFamily="34" charset="0"/>
                          <a:ea typeface="Tajawal" pitchFamily="34" charset="-122"/>
                          <a:cs typeface="Tajawal" pitchFamily="34" charset="-120"/>
                        </a:rPr>
                        <a:t>شهري</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00" dirty="0">
                          <a:solidFill>
                            <a:srgbClr val="34473F"/>
                          </a:solidFill>
                          <a:latin typeface="Tajawal" pitchFamily="34" charset="0"/>
                          <a:ea typeface="Tajawal" pitchFamily="34" charset="-122"/>
                          <a:cs typeface="Tajawal" pitchFamily="34" charset="-120"/>
                        </a:rPr>
                        <a:t>حالة البرامج ومؤشرات الأداء</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b="1" dirty="0">
                          <a:solidFill>
                            <a:srgbClr val="04352B"/>
                          </a:solidFill>
                          <a:latin typeface="Tajawal" pitchFamily="34" charset="0"/>
                          <a:ea typeface="Tajawal" pitchFamily="34" charset="-122"/>
                          <a:cs typeface="Tajawal" pitchFamily="34" charset="-120"/>
                        </a:rPr>
                        <a:t>الكادر التعليمي</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56032">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لقاء ونشرة رقمية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b="1" dirty="0">
                          <a:solidFill>
                            <a:srgbClr val="0089A1"/>
                          </a:solidFill>
                          <a:latin typeface="Tajawal" pitchFamily="34" charset="0"/>
                          <a:ea typeface="Tajawal" pitchFamily="34" charset="-122"/>
                          <a:cs typeface="Tajawal" pitchFamily="34" charset="-120"/>
                        </a:rPr>
                        <a:t>فصلي</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00" dirty="0">
                          <a:solidFill>
                            <a:srgbClr val="34473F"/>
                          </a:solidFill>
                          <a:latin typeface="Tajawal" pitchFamily="34" charset="0"/>
                          <a:ea typeface="Tajawal" pitchFamily="34" charset="-122"/>
                          <a:cs typeface="Tajawal" pitchFamily="34" charset="-120"/>
                        </a:rPr>
                        <a:t>إنجازات الفصل وبرامج الدعم</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b="1" dirty="0">
                          <a:solidFill>
                            <a:srgbClr val="04352B"/>
                          </a:solidFill>
                          <a:latin typeface="Tajawal" pitchFamily="34" charset="0"/>
                          <a:ea typeface="Tajawal" pitchFamily="34" charset="-122"/>
                          <a:cs typeface="Tajawal" pitchFamily="34" charset="-120"/>
                        </a:rPr>
                        <a:t>أولياء الأمور</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r h="256032">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الإذاعة والمنصة</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00" b="1" dirty="0">
                          <a:solidFill>
                            <a:srgbClr val="0089A1"/>
                          </a:solidFill>
                          <a:latin typeface="Tajawal" pitchFamily="34" charset="0"/>
                          <a:ea typeface="Tajawal" pitchFamily="34" charset="-122"/>
                          <a:cs typeface="Tajawal" pitchFamily="34" charset="-120"/>
                        </a:rPr>
                        <a:t>أسبوعي</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r" indent="0" marL="0">
                        <a:buNone/>
                      </a:pPr>
                      <a:r>
                        <a:rPr lang="ar-SA" altLang="en-US" sz="800" dirty="0">
                          <a:solidFill>
                            <a:srgbClr val="34473F"/>
                          </a:solidFill>
                          <a:latin typeface="Tajawal" pitchFamily="34" charset="0"/>
                          <a:ea typeface="Tajawal" pitchFamily="34" charset="-122"/>
                          <a:cs typeface="Tajawal" pitchFamily="34" charset="-120"/>
                        </a:rPr>
                        <a:t>الأنشطة والمبادرات وقنوات إبداء الرأي</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c>
                  <a:txBody>
                    <a:bodyPr/>
                    <a:lstStyle/>
                    <a:p>
                      <a:pPr rtl="1" algn="ctr" indent="0" marL="0">
                        <a:buNone/>
                      </a:pPr>
                      <a:r>
                        <a:rPr lang="ar-SA" altLang="en-US" sz="820" b="1" dirty="0">
                          <a:solidFill>
                            <a:srgbClr val="04352B"/>
                          </a:solidFill>
                          <a:latin typeface="Tajawal" pitchFamily="34" charset="0"/>
                          <a:ea typeface="Tajawal" pitchFamily="34" charset="-122"/>
                          <a:cs typeface="Tajawal" pitchFamily="34" charset="-120"/>
                        </a:rPr>
                        <a:t>الطلاب</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FFFFF"/>
                    </a:solidFill>
                  </a:tcPr>
                </a:tc>
              </a:tr>
              <a:tr h="256032">
                <a:tc>
                  <a:txBody>
                    <a:bodyPr/>
                    <a:lstStyle/>
                    <a:p>
                      <a:pPr rtl="1" algn="ctr" indent="0" marL="0">
                        <a:buNone/>
                      </a:pPr>
                      <a:r>
                        <a:rPr lang="ar-SA" altLang="en-US" sz="800" dirty="0">
                          <a:solidFill>
                            <a:srgbClr val="34473F"/>
                          </a:solidFill>
                          <a:latin typeface="Tajawal" pitchFamily="34" charset="0"/>
                          <a:ea typeface="Tajawal" pitchFamily="34" charset="-122"/>
                          <a:cs typeface="Tajawal" pitchFamily="34" charset="-120"/>
                        </a:rPr>
                        <a:t>تقرير رسمي معتمد</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00" b="1" dirty="0">
                          <a:solidFill>
                            <a:srgbClr val="0089A1"/>
                          </a:solidFill>
                          <a:latin typeface="Tajawal" pitchFamily="34" charset="0"/>
                          <a:ea typeface="Tajawal" pitchFamily="34" charset="-122"/>
                          <a:cs typeface="Tajawal" pitchFamily="34" charset="-120"/>
                        </a:rPr>
                        <a:t>ربعي</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r" indent="0" marL="0">
                        <a:buNone/>
                      </a:pPr>
                      <a:r>
                        <a:rPr lang="ar-SA" altLang="en-US" sz="800" dirty="0">
                          <a:solidFill>
                            <a:srgbClr val="34473F"/>
                          </a:solidFill>
                          <a:latin typeface="Tajawal" pitchFamily="34" charset="0"/>
                          <a:ea typeface="Tajawal" pitchFamily="34" charset="-122"/>
                          <a:cs typeface="Tajawal" pitchFamily="34" charset="-120"/>
                        </a:rPr>
                        <a:t>تقارير الإنجاز والتقويم الذاتي</a:t>
                      </a:r>
                      <a:endParaRPr lang="ar-SA" sz="80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c>
                  <a:txBody>
                    <a:bodyPr/>
                    <a:lstStyle/>
                    <a:p>
                      <a:pPr rtl="1" algn="ctr" indent="0" marL="0">
                        <a:buNone/>
                      </a:pPr>
                      <a:r>
                        <a:rPr lang="ar-SA" altLang="en-US" sz="820" b="1" dirty="0">
                          <a:solidFill>
                            <a:srgbClr val="04352B"/>
                          </a:solidFill>
                          <a:latin typeface="Tajawal" pitchFamily="34" charset="0"/>
                          <a:ea typeface="Tajawal" pitchFamily="34" charset="-122"/>
                          <a:cs typeface="Tajawal" pitchFamily="34" charset="-120"/>
                        </a:rPr>
                        <a:t>إدارة التعليم</a:t>
                      </a:r>
                      <a:endParaRPr lang="ar-SA" sz="820" dirty="0">
                        <a:latin typeface="Tajawal" charset="0"/>
                        <a:ea typeface="Tajawal" charset="0"/>
                        <a:cs typeface="Tajawal" charset="0"/>
                      </a:endParaRPr>
                    </a:p>
                  </a:txBody>
                  <a:tcPr marL="41148" marR="41148" marT="41148" marB="41148" anchor="ctr">
                    <a:lnL w="6350" cap="flat" cmpd="sng" algn="ctr">
                      <a:solidFill>
                        <a:srgbClr val="E3EDE8"/>
                      </a:solidFill>
                      <a:prstDash val="solid"/>
                      <a:round/>
                      <a:headEnd type="none" w="med" len="med"/>
                      <a:tailEnd type="none" w="med" len="med"/>
                    </a:lnL>
                    <a:lnR w="6350" cap="flat" cmpd="sng" algn="ctr">
                      <a:solidFill>
                        <a:srgbClr val="E3EDE8"/>
                      </a:solidFill>
                      <a:prstDash val="solid"/>
                      <a:round/>
                      <a:headEnd type="none" w="med" len="med"/>
                      <a:tailEnd type="none" w="med" len="med"/>
                    </a:lnR>
                    <a:lnT w="6350" cap="flat" cmpd="sng" algn="ctr">
                      <a:solidFill>
                        <a:srgbClr val="E3EDE8"/>
                      </a:solidFill>
                      <a:prstDash val="solid"/>
                      <a:round/>
                      <a:headEnd type="none" w="med" len="med"/>
                      <a:tailEnd type="none" w="med" len="med"/>
                    </a:lnT>
                    <a:lnB w="6350" cap="flat" cmpd="sng" algn="ctr">
                      <a:solidFill>
                        <a:srgbClr val="E3EDE8"/>
                      </a:solidFill>
                      <a:prstDash val="solid"/>
                      <a:round/>
                      <a:headEnd type="none" w="med" len="med"/>
                      <a:tailEnd type="none" w="med" len="med"/>
                    </a:lnB>
                    <a:solidFill>
                      <a:srgbClr val="F2F8F5"/>
                    </a:solidFill>
                  </a:tcPr>
                </a:tc>
              </a:tr>
            </a:tbl>
          </a:graphicData>
        </a:graphic>
      </p:graphicFrame>
      <p:sp>
        <p:nvSpPr>
          <p:cNvPr id="33" name="Shape 27"/>
          <p:cNvSpPr/>
          <p:nvPr/>
        </p:nvSpPr>
        <p:spPr>
          <a:xfrm>
            <a:off x="457200" y="4718304"/>
            <a:ext cx="4327855" cy="1591056"/>
          </a:xfrm>
          <a:prstGeom prst="roundRect">
            <a:avLst>
              <a:gd name="adj" fmla="val 5172"/>
            </a:avLst>
          </a:prstGeom>
          <a:solidFill>
            <a:srgbClr val="095242"/>
          </a:solidFill>
          <a:ln/>
          <a:effectLst>
            <a:outerShdw sx="100000" sy="100000" kx="0" ky="0" algn="bl" rotWithShape="0" blurRad="127000" dist="31750" dir="5400000">
              <a:srgbClr val="062A21">
                <a:alpha val="20000"/>
              </a:srgbClr>
            </a:outerShdw>
          </a:effectLst>
        </p:spPr>
      </p:sp>
      <p:pic>
        <p:nvPicPr>
          <p:cNvPr id="34" name="Image 2" descr="/tmp/claude-0/-home-user-Mobile1/ab9bbf47-b054-5f6e-be59-70476e095ce8/scratchpad/assets/arc_white.png">    </p:cNvPr>
          <p:cNvPicPr>
            <a:picLocks noChangeAspect="1"/>
          </p:cNvPicPr>
          <p:nvPr/>
        </p:nvPicPr>
        <p:blipFill>
          <a:blip r:embed="rId3">
            <a:alphaModFix amt="22000"/>
          </a:blip>
          <a:stretch>
            <a:fillRect/>
          </a:stretch>
        </p:blipFill>
        <p:spPr>
          <a:xfrm>
            <a:off x="3504895" y="4645152"/>
            <a:ext cx="1371600" cy="1371600"/>
          </a:xfrm>
          <a:prstGeom prst="rect">
            <a:avLst/>
          </a:prstGeom>
        </p:spPr>
      </p:pic>
      <p:sp>
        <p:nvSpPr>
          <p:cNvPr id="35" name="Text 28"/>
          <p:cNvSpPr/>
          <p:nvPr/>
        </p:nvSpPr>
        <p:spPr>
          <a:xfrm>
            <a:off x="713232" y="4846320"/>
            <a:ext cx="3504895" cy="310896"/>
          </a:xfrm>
          <a:prstGeom prst="rect">
            <a:avLst/>
          </a:prstGeom>
          <a:noFill/>
          <a:ln/>
        </p:spPr>
        <p:txBody>
          <a:bodyPr wrap="square" lIns="0" tIns="0" rIns="0" bIns="0" rtlCol="0" anchor="t"/>
          <a:lstStyle/>
          <a:p>
            <a:pPr rtl="1" algn="r" indent="0" marL="0">
              <a:buNone/>
            </a:pPr>
            <a:r>
              <a:rPr lang="ar-SA" altLang="en-US" sz="1250" b="1" dirty="0">
                <a:solidFill>
                  <a:srgbClr val="FFFFFF"/>
                </a:solidFill>
                <a:latin typeface="Tajawal" pitchFamily="34" charset="0"/>
                <a:ea typeface="Tajawal" pitchFamily="34" charset="-122"/>
                <a:cs typeface="Tajawal" pitchFamily="34" charset="-120"/>
              </a:rPr>
              <a:t>صوت الطالب</a:t>
            </a:r>
            <a:endParaRPr lang="ar-SA" sz="1250" dirty="0"/>
          </a:p>
        </p:txBody>
      </p:sp>
      <p:sp>
        <p:nvSpPr>
          <p:cNvPr id="36" name="Text 29"/>
          <p:cNvSpPr/>
          <p:nvPr/>
        </p:nvSpPr>
        <p:spPr>
          <a:xfrm>
            <a:off x="713232" y="5212080"/>
            <a:ext cx="3815791" cy="1042416"/>
          </a:xfrm>
          <a:prstGeom prst="rect">
            <a:avLst/>
          </a:prstGeom>
          <a:noFill/>
          <a:ln/>
        </p:spPr>
        <p:txBody>
          <a:bodyPr wrap="square" lIns="0" tIns="0" rIns="0" bIns="0" rtlCol="0" anchor="t"/>
          <a:lstStyle/>
          <a:p>
            <a:pPr rtl="1" algn="r" indent="0" marL="0">
              <a:lnSpc>
                <a:spcPct val="122000"/>
              </a:lnSpc>
              <a:buNone/>
            </a:pPr>
            <a:r>
              <a:rPr lang="ar-SA" altLang="en-US" sz="920" dirty="0">
                <a:solidFill>
                  <a:srgbClr val="D2E4DD"/>
                </a:solidFill>
                <a:latin typeface="Tajawal" pitchFamily="34" charset="0"/>
                <a:ea typeface="Tajawal" pitchFamily="34" charset="-122"/>
                <a:cs typeface="Tajawal" pitchFamily="34" charset="-120"/>
              </a:rPr>
              <a:t>الاستبانات في الخطة الأصلية موجّهة للأولياء والكادر. إضافة قناة قياس لرأي الطالب في الأنشطة وبيئة الصف تجعل التحسين مبنيًا على المستفيد الأول منه.</a:t>
            </a:r>
            <a:endParaRPr lang="ar-SA" sz="92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Image 0" descr="/tmp/claude-0/-home-user-Mobile1/ab9bbf47-b054-5f6e-be59-70476e095ce8/scratchpad/assets/bg_closing.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Mobile1/ab9bbf47-b054-5f6e-be59-70476e095ce8/scratchpad/assets/moe_white.png">    </p:cNvPr>
          <p:cNvPicPr>
            <a:picLocks noChangeAspect="1"/>
          </p:cNvPicPr>
          <p:nvPr/>
        </p:nvPicPr>
        <p:blipFill>
          <a:blip r:embed="rId2"/>
          <a:stretch>
            <a:fillRect/>
          </a:stretch>
        </p:blipFill>
        <p:spPr>
          <a:xfrm>
            <a:off x="5382616" y="1371600"/>
            <a:ext cx="1426464" cy="1102766"/>
          </a:xfrm>
          <a:prstGeom prst="rect">
            <a:avLst/>
          </a:prstGeom>
        </p:spPr>
      </p:pic>
      <p:sp>
        <p:nvSpPr>
          <p:cNvPr id="4" name="Shape 0"/>
          <p:cNvSpPr/>
          <p:nvPr/>
        </p:nvSpPr>
        <p:spPr>
          <a:xfrm>
            <a:off x="4815688" y="2889504"/>
            <a:ext cx="1051560" cy="0"/>
          </a:xfrm>
          <a:prstGeom prst="line">
            <a:avLst/>
          </a:prstGeom>
          <a:noFill/>
          <a:ln w="12700">
            <a:solidFill>
              <a:srgbClr val="C9A45C"/>
            </a:solidFill>
            <a:prstDash val="solid"/>
          </a:ln>
        </p:spPr>
      </p:sp>
      <p:sp>
        <p:nvSpPr>
          <p:cNvPr id="5" name="Shape 1"/>
          <p:cNvSpPr/>
          <p:nvPr/>
        </p:nvSpPr>
        <p:spPr>
          <a:xfrm>
            <a:off x="6324448" y="2889504"/>
            <a:ext cx="1051560" cy="0"/>
          </a:xfrm>
          <a:prstGeom prst="line">
            <a:avLst/>
          </a:prstGeom>
          <a:noFill/>
          <a:ln w="12700">
            <a:solidFill>
              <a:srgbClr val="C9A45C"/>
            </a:solidFill>
            <a:prstDash val="solid"/>
          </a:ln>
        </p:spPr>
      </p:sp>
      <p:sp>
        <p:nvSpPr>
          <p:cNvPr id="6" name="Shape 2"/>
          <p:cNvSpPr/>
          <p:nvPr/>
        </p:nvSpPr>
        <p:spPr>
          <a:xfrm>
            <a:off x="6040984" y="2834640"/>
            <a:ext cx="109728" cy="109728"/>
          </a:xfrm>
          <a:prstGeom prst="diamond">
            <a:avLst/>
          </a:prstGeom>
          <a:solidFill>
            <a:srgbClr val="C9A45C"/>
          </a:solidFill>
          <a:ln/>
        </p:spPr>
      </p:sp>
      <p:sp>
        <p:nvSpPr>
          <p:cNvPr id="7" name="Text 3"/>
          <p:cNvSpPr/>
          <p:nvPr/>
        </p:nvSpPr>
        <p:spPr>
          <a:xfrm>
            <a:off x="1097280" y="3145536"/>
            <a:ext cx="9997135" cy="731520"/>
          </a:xfrm>
          <a:prstGeom prst="rect">
            <a:avLst/>
          </a:prstGeom>
          <a:noFill/>
          <a:ln/>
        </p:spPr>
        <p:txBody>
          <a:bodyPr wrap="square" lIns="0" tIns="0" rIns="0" bIns="0" rtlCol="0" anchor="ctr"/>
          <a:lstStyle/>
          <a:p>
            <a:pPr rtl="1" algn="ctr" indent="0" marL="0">
              <a:buNone/>
            </a:pPr>
            <a:r>
              <a:rPr lang="ar-SA" altLang="en-US" sz="3600" dirty="0">
                <a:solidFill>
                  <a:srgbClr val="FFFFFF"/>
                </a:solidFill>
                <a:latin typeface="Tajawal ExtraBold" pitchFamily="34" charset="0"/>
                <a:ea typeface="Tajawal ExtraBold" pitchFamily="34" charset="-122"/>
                <a:cs typeface="Tajawal ExtraBold" pitchFamily="34" charset="-120"/>
              </a:rPr>
              <a:t>بالتخطيط نصنع التميّز</a:t>
            </a:r>
            <a:endParaRPr lang="ar-SA" sz="3600" dirty="0"/>
          </a:p>
        </p:txBody>
      </p:sp>
      <p:sp>
        <p:nvSpPr>
          <p:cNvPr id="8" name="Text 4"/>
          <p:cNvSpPr/>
          <p:nvPr/>
        </p:nvSpPr>
        <p:spPr>
          <a:xfrm>
            <a:off x="1097280" y="3931920"/>
            <a:ext cx="9997135" cy="457200"/>
          </a:xfrm>
          <a:prstGeom prst="rect">
            <a:avLst/>
          </a:prstGeom>
          <a:noFill/>
          <a:ln/>
        </p:spPr>
        <p:txBody>
          <a:bodyPr wrap="square" lIns="0" tIns="0" rIns="0" bIns="0" rtlCol="0" anchor="t"/>
          <a:lstStyle/>
          <a:p>
            <a:pPr rtl="1" algn="ctr" indent="0" marL="0">
              <a:buNone/>
            </a:pPr>
            <a:r>
              <a:rPr lang="ar-SA" altLang="en-US" sz="1700" b="1" dirty="0">
                <a:solidFill>
                  <a:srgbClr val="C9A45C"/>
                </a:solidFill>
                <a:latin typeface="Tajawal" pitchFamily="34" charset="0"/>
                <a:ea typeface="Tajawal" pitchFamily="34" charset="-122"/>
                <a:cs typeface="Tajawal" pitchFamily="34" charset="-120"/>
              </a:rPr>
              <a:t>وبالعمل المشترك نحقّق الأهداف</a:t>
            </a:r>
            <a:endParaRPr lang="ar-SA" sz="1700" dirty="0"/>
          </a:p>
        </p:txBody>
      </p:sp>
      <p:sp>
        <p:nvSpPr>
          <p:cNvPr id="9" name="Text 5"/>
          <p:cNvSpPr/>
          <p:nvPr/>
        </p:nvSpPr>
        <p:spPr>
          <a:xfrm>
            <a:off x="1097280" y="5029200"/>
            <a:ext cx="9997135" cy="329184"/>
          </a:xfrm>
          <a:prstGeom prst="rect">
            <a:avLst/>
          </a:prstGeom>
          <a:noFill/>
          <a:ln/>
        </p:spPr>
        <p:txBody>
          <a:bodyPr wrap="square" lIns="0" tIns="0" rIns="0" bIns="0" rtlCol="0" anchor="t"/>
          <a:lstStyle/>
          <a:p>
            <a:pPr rtl="1" algn="ctr" indent="0" marL="0">
              <a:buNone/>
            </a:pPr>
            <a:r>
              <a:rPr lang="ar-SA" altLang="en-US" sz="1200" dirty="0">
                <a:solidFill>
                  <a:srgbClr val="C7DCD5"/>
                </a:solidFill>
                <a:latin typeface="Tajawal" pitchFamily="34" charset="0"/>
                <a:ea typeface="Tajawal" pitchFamily="34" charset="-122"/>
                <a:cs typeface="Tajawal" pitchFamily="34" charset="-120"/>
              </a:rPr>
              <a:t>الخطة التشغيلية للعام الدراسي ١٤٤٨هـ</a:t>
            </a:r>
            <a:endParaRPr lang="ar-SA"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الخطة التشغيلية للعام الدراسي ١٤٤٨هـ</dc:title>
  <dc:subject>PptxGenJS Presentation</dc:subject>
  <dc:creator>وزارة التعليم</dc:creator>
  <cp:lastModifiedBy>وزارة التعليم</cp:lastModifiedBy>
  <cp:revision>1</cp:revision>
  <dcterms:created xsi:type="dcterms:W3CDTF">2026-08-02T10:27:06Z</dcterms:created>
  <dcterms:modified xsi:type="dcterms:W3CDTF">2026-08-02T10:27:06Z</dcterms:modified>
</cp:coreProperties>
</file>