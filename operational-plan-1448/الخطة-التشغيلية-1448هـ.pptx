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1695" cy="6858000"/>
  <p:notesSz cx="6858000" cy="12191695"/>
  <p:embeddedFontLst>
    <p:embeddedFont>
      <p:font typeface="Tajawal"/>
      <p:regular r:id="rId501"/>
      <p:bold r:id="rId502"/>
    </p:embeddedFont>
    <p:embeddedFont>
      <p:font typeface="Tajawal ExtraBold"/>
      <p:regular r:id="rId503"/>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501" Type="http://schemas.openxmlformats.org/officeDocument/2006/relationships/font" Target="fonts/font1.fntdata"/><Relationship Id="rId502" Type="http://schemas.openxmlformats.org/officeDocument/2006/relationships/font" Target="fonts/font2.fntdata"/><Relationship Id="rId503" Type="http://schemas.openxmlformats.org/officeDocument/2006/relationships/font" Target="fonts/font3.fntdata"/></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البرامج</c:v>
                </c:pt>
              </c:strCache>
            </c:strRef>
          </c:tx>
          <c:spPr>
            <a:solidFill>
              <a:srgbClr val="C9A45C"/>
            </a:solidFill>
            <a:effectLst/>
          </c:spPr>
          <c:invertIfNegative val="0"/>
          <c:dLbls>
            <c:numFmt formatCode="#,##0" sourceLinked="0"/>
            <c:txPr>
              <a:bodyPr/>
              <a:lstStyle/>
              <a:p>
                <a:pPr>
                  <a:defRPr b="0" i="0" strike="noStrike" sz="800" u="none">
                    <a:solidFill>
                      <a:srgbClr val="0F2A21"/>
                    </a:solidFill>
                    <a:latin typeface="Tajawal"/>
                  </a:defRPr>
                </a:pPr>
              </a:p>
            </c:txPr>
            <c:showLegendKey val="0"/>
            <c:showVal val="1"/>
            <c:showCatName val="0"/>
            <c:showSerName val="0"/>
            <c:showPercent val="0"/>
            <c:showBubbleSize val="0"/>
            <c:showLeaderLines val="0"/>
          </c:dLbls>
          <c:dPt>
            <c:idx val="0"/>
            <c:invertIfNegative val="0"/>
            <c:bubble3D val="0"/>
            <c:spPr>
              <a:solidFill>
                <a:srgbClr val="C9A45C"/>
              </a:solidFill>
              <a:effectLst/>
            </c:spPr>
          </c:dPt>
          <c:dPt>
            <c:idx val="1"/>
            <c:invertIfNegative val="0"/>
            <c:bubble3D val="0"/>
            <c:spPr>
              <a:solidFill>
                <a:srgbClr val="095242"/>
              </a:solidFill>
              <a:effectLst/>
            </c:spPr>
          </c:dPt>
          <c:dPt>
            <c:idx val="2"/>
            <c:invertIfNegative val="0"/>
            <c:bubble3D val="0"/>
            <c:spPr>
              <a:solidFill>
                <a:srgbClr val="095242"/>
              </a:solidFill>
              <a:effectLst/>
            </c:spPr>
          </c:dPt>
          <c:dPt>
            <c:idx val="3"/>
            <c:invertIfNegative val="0"/>
            <c:bubble3D val="0"/>
            <c:spPr>
              <a:solidFill>
                <a:srgbClr val="095242"/>
              </a:solidFill>
              <a:effectLst/>
            </c:spPr>
          </c:dPt>
          <c:dPt>
            <c:idx val="4"/>
            <c:invertIfNegative val="0"/>
            <c:bubble3D val="0"/>
            <c:spPr>
              <a:solidFill>
                <a:srgbClr val="095242"/>
              </a:solidFill>
              <a:effectLst/>
            </c:spPr>
          </c:dPt>
          <c:dPt>
            <c:idx val="5"/>
            <c:invertIfNegative val="0"/>
            <c:bubble3D val="0"/>
            <c:spPr>
              <a:solidFill>
                <a:srgbClr val="095242"/>
              </a:solidFill>
              <a:effectLst/>
            </c:spPr>
          </c:dPt>
          <c:dPt>
            <c:idx val="6"/>
            <c:invertIfNegative val="0"/>
            <c:bubble3D val="0"/>
            <c:spPr>
              <a:solidFill>
                <a:srgbClr val="095242"/>
              </a:solidFill>
              <a:effectLst/>
            </c:spPr>
          </c:dPt>
          <c:dPt>
            <c:idx val="7"/>
            <c:invertIfNegative val="0"/>
            <c:bubble3D val="0"/>
            <c:spPr>
              <a:solidFill>
                <a:srgbClr val="095242"/>
              </a:solidFill>
              <a:effectLst/>
            </c:spPr>
          </c:dPt>
          <c:dPt>
            <c:idx val="8"/>
            <c:invertIfNegative val="0"/>
            <c:bubble3D val="0"/>
            <c:spPr>
              <a:solidFill>
                <a:srgbClr val="095242"/>
              </a:solidFill>
              <a:effectLst/>
            </c:spPr>
          </c:dPt>
          <c:dPt>
            <c:idx val="9"/>
            <c:invertIfNegative val="0"/>
            <c:bubble3D val="0"/>
            <c:spPr>
              <a:solidFill>
                <a:srgbClr val="095242"/>
              </a:solidFill>
              <a:effectLst/>
            </c:spPr>
          </c:dPt>
          <c:cat>
            <c:multiLvlStrRef>
              <c:f>Sheet1!$A$2:$A$11</c:f>
              <c:multiLvlStrCache>
                <c:ptCount val="10"/>
                <c:lvl>
                  <c:pt idx="0">
                    <c:v>هـ١٠</c:v>
                  </c:pt>
                  <c:pt idx="1">
                    <c:v>هـ٩</c:v>
                  </c:pt>
                  <c:pt idx="2">
                    <c:v>هـ٨</c:v>
                  </c:pt>
                  <c:pt idx="3">
                    <c:v>هـ٧</c:v>
                  </c:pt>
                  <c:pt idx="4">
                    <c:v>هـ٦</c:v>
                  </c:pt>
                  <c:pt idx="5">
                    <c:v>هـ٥</c:v>
                  </c:pt>
                  <c:pt idx="6">
                    <c:v>هـ٤</c:v>
                  </c:pt>
                  <c:pt idx="7">
                    <c:v>هـ٣</c:v>
                  </c:pt>
                  <c:pt idx="8">
                    <c:v>هـ٢</c:v>
                  </c:pt>
                  <c:pt idx="9">
                    <c:v>هـ١</c:v>
                  </c:pt>
                </c:lvl>
              </c:multiLvlStrCache>
            </c:multiLvlStrRef>
          </c:cat>
          <c:val>
            <c:numRef>
              <c:f>Sheet1!$B$2:$B$11</c:f>
              <c:numCache>
                <c:formatCode>General</c:formatCode>
                <c:ptCount val="10"/>
                <c:pt idx="0">
                  <c:v>15</c:v>
                </c:pt>
                <c:pt idx="1">
                  <c:v>10</c:v>
                </c:pt>
                <c:pt idx="2">
                  <c:v>10</c:v>
                </c:pt>
                <c:pt idx="3">
                  <c:v>9</c:v>
                </c:pt>
                <c:pt idx="4">
                  <c:v>11</c:v>
                </c:pt>
                <c:pt idx="5">
                  <c:v>12</c:v>
                </c:pt>
                <c:pt idx="6">
                  <c:v>10</c:v>
                </c:pt>
                <c:pt idx="7">
                  <c:v>12</c:v>
                </c:pt>
                <c:pt idx="8">
                  <c:v>12</c:v>
                </c:pt>
                <c:pt idx="9">
                  <c:v>11</c:v>
                </c:pt>
              </c:numCache>
            </c:numRef>
          </c:val>
        </c:ser>
        <c:dLbls>
          <c:numFmt formatCode="#,##0" sourceLinked="0"/>
          <c:txPr>
            <a:bodyPr/>
            <a:lstStyle/>
            <a:p>
              <a:pPr>
                <a:defRPr b="0" i="0" strike="noStrike" sz="800" u="none">
                  <a:solidFill>
                    <a:srgbClr val="0F2A21"/>
                  </a:solidFill>
                  <a:latin typeface="Tajawal"/>
                </a:defRPr>
              </a:pPr>
            </a:p>
          </c:txPr>
          <c:showLegendKey val="0"/>
          <c:showVal val="1"/>
          <c:showCatName val="0"/>
          <c:showSerName val="0"/>
          <c:showPercent val="0"/>
          <c:showBubbleSize val="0"/>
          <c:showLeaderLines val="0"/>
        </c:dLbls>
        <c:gapWidth val="28"/>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7C8F87"/>
                </a:solidFill>
                <a:latin typeface="Tajawal"/>
              </a:defRPr>
            </a:pPr>
            <a:endParaRPr lang="en-US"/>
          </a:p>
        </c:txPr>
        <c:crossAx val="2094734552"/>
        <c:crosses val="autoZero"/>
        <c:auto val="1"/>
        <c:lblAlgn val="ctr"/>
        <c:noMultiLvlLbl val="1"/>
      </c:catAx>
      <c:valAx>
        <c:axId val="2094734552"/>
        <c:scaling>
          <c:orientation val="minMax"/>
          <c:max val="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slideLayout" Target="../slideLayouts/slideLayout1.xml"/><Relationship Id="rId1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3.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5" Type="http://schemas.openxmlformats.org/officeDocument/2006/relationships/image" Target="../media/image-14-4.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tmp/claude-0/-home-user-Mobile1/ab9bbf47-b054-5f6e-be59-70476e095ce8/scratchpad/assets/bg_cover.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white.png">    </p:cNvPr>
          <p:cNvPicPr>
            <a:picLocks noChangeAspect="1"/>
          </p:cNvPicPr>
          <p:nvPr/>
        </p:nvPicPr>
        <p:blipFill>
          <a:blip r:embed="rId2"/>
          <a:stretch>
            <a:fillRect/>
          </a:stretch>
        </p:blipFill>
        <p:spPr>
          <a:xfrm>
            <a:off x="5336896" y="566928"/>
            <a:ext cx="1517904" cy="1174090"/>
          </a:xfrm>
          <a:prstGeom prst="rect">
            <a:avLst/>
          </a:prstGeom>
        </p:spPr>
      </p:pic>
      <p:sp>
        <p:nvSpPr>
          <p:cNvPr id="4" name="Shape 0"/>
          <p:cNvSpPr/>
          <p:nvPr/>
        </p:nvSpPr>
        <p:spPr>
          <a:xfrm>
            <a:off x="4724248" y="1993392"/>
            <a:ext cx="1170432" cy="0"/>
          </a:xfrm>
          <a:prstGeom prst="line">
            <a:avLst/>
          </a:prstGeom>
          <a:noFill/>
          <a:ln w="12700">
            <a:solidFill>
              <a:srgbClr val="C9A45C"/>
            </a:solidFill>
            <a:prstDash val="solid"/>
          </a:ln>
        </p:spPr>
      </p:sp>
      <p:sp>
        <p:nvSpPr>
          <p:cNvPr id="5" name="Shape 1"/>
          <p:cNvSpPr/>
          <p:nvPr/>
        </p:nvSpPr>
        <p:spPr>
          <a:xfrm>
            <a:off x="6297016" y="1993392"/>
            <a:ext cx="1170432" cy="0"/>
          </a:xfrm>
          <a:prstGeom prst="line">
            <a:avLst/>
          </a:prstGeom>
          <a:noFill/>
          <a:ln w="12700">
            <a:solidFill>
              <a:srgbClr val="C9A45C"/>
            </a:solidFill>
            <a:prstDash val="solid"/>
          </a:ln>
        </p:spPr>
      </p:sp>
      <p:sp>
        <p:nvSpPr>
          <p:cNvPr id="6" name="Shape 2"/>
          <p:cNvSpPr/>
          <p:nvPr/>
        </p:nvSpPr>
        <p:spPr>
          <a:xfrm>
            <a:off x="6045556" y="1943100"/>
            <a:ext cx="100584" cy="100584"/>
          </a:xfrm>
          <a:prstGeom prst="diamond">
            <a:avLst/>
          </a:prstGeom>
          <a:solidFill>
            <a:srgbClr val="C9A45C"/>
          </a:solidFill>
          <a:ln/>
        </p:spPr>
      </p:sp>
      <p:sp>
        <p:nvSpPr>
          <p:cNvPr id="7" name="Text 3"/>
          <p:cNvSpPr/>
          <p:nvPr/>
        </p:nvSpPr>
        <p:spPr>
          <a:xfrm>
            <a:off x="1371600" y="2212848"/>
            <a:ext cx="9448495" cy="1051560"/>
          </a:xfrm>
          <a:prstGeom prst="rect">
            <a:avLst/>
          </a:prstGeom>
          <a:noFill/>
          <a:ln/>
        </p:spPr>
        <p:txBody>
          <a:bodyPr wrap="square" lIns="0" tIns="0" rIns="0" bIns="0" rtlCol="0" anchor="ctr"/>
          <a:lstStyle/>
          <a:p>
            <a:pPr rtl="1" algn="ctr" indent="0" marL="0">
              <a:buNone/>
            </a:pPr>
            <a:r>
              <a:rPr lang="ar-SA" altLang="en-US" sz="5400" dirty="0">
                <a:solidFill>
                  <a:srgbClr val="FFFFFF"/>
                </a:solidFill>
                <a:latin typeface="Tajawal ExtraBold" pitchFamily="34" charset="0"/>
                <a:ea typeface="Tajawal ExtraBold" pitchFamily="34" charset="-122"/>
                <a:cs typeface="Tajawal ExtraBold" pitchFamily="34" charset="-120"/>
              </a:rPr>
              <a:t>الخطة التشغيلية</a:t>
            </a:r>
            <a:endParaRPr lang="ar-SA" sz="5400" dirty="0"/>
          </a:p>
        </p:txBody>
      </p:sp>
      <p:sp>
        <p:nvSpPr>
          <p:cNvPr id="8" name="Text 4"/>
          <p:cNvSpPr/>
          <p:nvPr/>
        </p:nvSpPr>
        <p:spPr>
          <a:xfrm>
            <a:off x="1371600" y="3310128"/>
            <a:ext cx="9448495" cy="502920"/>
          </a:xfrm>
          <a:prstGeom prst="rect">
            <a:avLst/>
          </a:prstGeom>
          <a:noFill/>
          <a:ln/>
        </p:spPr>
        <p:txBody>
          <a:bodyPr wrap="square" lIns="0" tIns="0" rIns="0" bIns="0" rtlCol="0" anchor="ctr"/>
          <a:lstStyle/>
          <a:p>
            <a:pPr rtl="1" algn="ctr" indent="0" marL="0">
              <a:buNone/>
            </a:pPr>
            <a:r>
              <a:rPr lang="ar-SA" altLang="en-US" sz="2400" b="1" dirty="0">
                <a:solidFill>
                  <a:srgbClr val="C9A45C"/>
                </a:solidFill>
                <a:latin typeface="Tajawal" pitchFamily="34" charset="0"/>
                <a:ea typeface="Tajawal" pitchFamily="34" charset="-122"/>
                <a:cs typeface="Tajawal" pitchFamily="34" charset="-120"/>
              </a:rPr>
              <a:t>للعام الدراسي ١٤٤٨هـ</a:t>
            </a:r>
            <a:endParaRPr lang="ar-SA" sz="2400" dirty="0"/>
          </a:p>
        </p:txBody>
      </p:sp>
      <p:sp>
        <p:nvSpPr>
          <p:cNvPr id="9" name="Shape 5"/>
          <p:cNvSpPr/>
          <p:nvPr/>
        </p:nvSpPr>
        <p:spPr>
          <a:xfrm>
            <a:off x="5135728" y="4005072"/>
            <a:ext cx="1920240" cy="457200"/>
          </a:xfrm>
          <a:prstGeom prst="roundRect">
            <a:avLst>
              <a:gd name="adj" fmla="val 50000"/>
            </a:avLst>
          </a:prstGeom>
          <a:solidFill>
            <a:srgbClr val="FFFFFF">
              <a:alpha val="12000"/>
            </a:srgbClr>
          </a:solidFill>
          <a:ln w="12700">
            <a:solidFill>
              <a:srgbClr val="C9A45C"/>
            </a:solidFill>
            <a:prstDash val="solid"/>
          </a:ln>
        </p:spPr>
      </p:sp>
      <p:sp>
        <p:nvSpPr>
          <p:cNvPr id="10" name="Text 6"/>
          <p:cNvSpPr/>
          <p:nvPr/>
        </p:nvSpPr>
        <p:spPr>
          <a:xfrm>
            <a:off x="5135728" y="3986784"/>
            <a:ext cx="1920240" cy="457200"/>
          </a:xfrm>
          <a:prstGeom prst="rect">
            <a:avLst/>
          </a:prstGeom>
          <a:noFill/>
          <a:ln/>
        </p:spPr>
        <p:txBody>
          <a:bodyPr wrap="square" lIns="0" tIns="0" rIns="0" bIns="0" rtlCol="0" anchor="ctr"/>
          <a:lstStyle/>
          <a:p>
            <a:pPr rtl="1" algn="ctr" indent="0" marL="0">
              <a:buNone/>
            </a:pPr>
            <a:r>
              <a:rPr lang="ar-SA" altLang="en-US" sz="1500" b="1" dirty="0">
                <a:solidFill>
                  <a:srgbClr val="FFFFFF"/>
                </a:solidFill>
                <a:latin typeface="Tajawal" pitchFamily="34" charset="0"/>
                <a:ea typeface="Tajawal" pitchFamily="34" charset="-122"/>
                <a:cs typeface="Tajawal" pitchFamily="34" charset="-120"/>
              </a:rPr>
              <a:t>جميع المراحل</a:t>
            </a:r>
            <a:endParaRPr lang="ar-SA" sz="1500" dirty="0"/>
          </a:p>
        </p:txBody>
      </p:sp>
      <p:sp>
        <p:nvSpPr>
          <p:cNvPr id="11" name="Shape 7"/>
          <p:cNvSpPr/>
          <p:nvPr/>
        </p:nvSpPr>
        <p:spPr>
          <a:xfrm>
            <a:off x="2621128" y="4828032"/>
            <a:ext cx="6949440" cy="1024128"/>
          </a:xfrm>
          <a:prstGeom prst="roundRect">
            <a:avLst>
              <a:gd name="adj" fmla="val 8929"/>
            </a:avLst>
          </a:prstGeom>
          <a:solidFill>
            <a:srgbClr val="FFFFFF">
              <a:alpha val="10000"/>
            </a:srgbClr>
          </a:solidFill>
          <a:ln w="9525">
            <a:solidFill>
              <a:srgbClr val="FFFFFF">
                <a:alpha val="45000"/>
              </a:srgbClr>
            </a:solidFill>
            <a:prstDash val="solid"/>
          </a:ln>
        </p:spPr>
      </p:sp>
      <p:sp>
        <p:nvSpPr>
          <p:cNvPr id="12" name="Text 8"/>
          <p:cNvSpPr/>
          <p:nvPr/>
        </p:nvSpPr>
        <p:spPr>
          <a:xfrm>
            <a:off x="3032608" y="4937760"/>
            <a:ext cx="6126480" cy="402336"/>
          </a:xfrm>
          <a:prstGeom prst="rect">
            <a:avLst/>
          </a:prstGeom>
          <a:noFill/>
          <a:ln/>
        </p:spPr>
        <p:txBody>
          <a:bodyPr wrap="square" lIns="0" tIns="0" rIns="0" bIns="0" rtlCol="0" anchor="ctr"/>
          <a:lstStyle/>
          <a:p>
            <a:pPr algn="r" indent="0" marL="0">
              <a:buNone/>
            </a:pPr>
            <a:r>
              <a:rPr lang="ar-SA" altLang="en-US" sz="1400" b="1" dirty="0">
                <a:solidFill>
                  <a:srgbClr val="FFFFFF"/>
                </a:solidFill>
                <a:latin typeface="Tajawal" pitchFamily="34" charset="0"/>
                <a:ea typeface="Tajawal" pitchFamily="34" charset="-122"/>
                <a:cs typeface="Tajawal" pitchFamily="34" charset="-120"/>
              </a:rPr>
              <a:t>اسم المدرسة:  </a:t>
            </a:r>
            <a:pPr algn="r" indent="0" marL="0">
              <a:buNone/>
            </a:pPr>
            <a:r>
              <a:rPr lang="ar-SA" altLang="en-US" sz="1300" dirty="0">
                <a:solidFill>
                  <a:srgbClr val="D8E6E1"/>
                </a:solidFill>
                <a:latin typeface="Tajawal" pitchFamily="34" charset="0"/>
                <a:ea typeface="Tajawal" pitchFamily="34" charset="-122"/>
                <a:cs typeface="Tajawal" pitchFamily="34" charset="-120"/>
              </a:rPr>
              <a:t>……………………………………</a:t>
            </a:r>
            <a:endParaRPr lang="ar-SA" sz="1100" dirty="0"/>
          </a:p>
        </p:txBody>
      </p:sp>
      <p:sp>
        <p:nvSpPr>
          <p:cNvPr id="13" name="Text 9"/>
          <p:cNvSpPr/>
          <p:nvPr/>
        </p:nvSpPr>
        <p:spPr>
          <a:xfrm>
            <a:off x="3032608" y="5358384"/>
            <a:ext cx="6126480" cy="402336"/>
          </a:xfrm>
          <a:prstGeom prst="rect">
            <a:avLst/>
          </a:prstGeom>
          <a:noFill/>
          <a:ln/>
        </p:spPr>
        <p:txBody>
          <a:bodyPr wrap="square" lIns="0" tIns="0" rIns="0" bIns="0" rtlCol="0" anchor="ctr"/>
          <a:lstStyle/>
          <a:p>
            <a:pPr algn="r" indent="0" marL="0">
              <a:buNone/>
            </a:pPr>
            <a:r>
              <a:rPr lang="ar-SA" altLang="en-US" sz="1400" b="1" dirty="0">
                <a:solidFill>
                  <a:srgbClr val="FFFFFF"/>
                </a:solidFill>
                <a:latin typeface="Tajawal" pitchFamily="34" charset="0"/>
                <a:ea typeface="Tajawal" pitchFamily="34" charset="-122"/>
                <a:cs typeface="Tajawal" pitchFamily="34" charset="-120"/>
              </a:rPr>
              <a:t>اسم المديرة:  </a:t>
            </a:r>
            <a:pPr algn="r" indent="0" marL="0">
              <a:buNone/>
            </a:pPr>
            <a:r>
              <a:rPr lang="ar-SA" altLang="en-US" sz="1300" dirty="0">
                <a:solidFill>
                  <a:srgbClr val="D8E6E1"/>
                </a:solidFill>
                <a:latin typeface="Tajawal" pitchFamily="34" charset="0"/>
                <a:ea typeface="Tajawal" pitchFamily="34" charset="-122"/>
                <a:cs typeface="Tajawal" pitchFamily="34" charset="-120"/>
              </a:rPr>
              <a:t>……………………………………</a:t>
            </a:r>
            <a:endParaRPr lang="ar-SA" sz="1100" dirty="0"/>
          </a:p>
        </p:txBody>
      </p:sp>
      <p:sp>
        <p:nvSpPr>
          <p:cNvPr id="14" name="Text 10"/>
          <p:cNvSpPr/>
          <p:nvPr/>
        </p:nvSpPr>
        <p:spPr>
          <a:xfrm>
            <a:off x="1371600" y="6199632"/>
            <a:ext cx="9448495" cy="365760"/>
          </a:xfrm>
          <a:prstGeom prst="rect">
            <a:avLst/>
          </a:prstGeom>
          <a:noFill/>
          <a:ln/>
        </p:spPr>
        <p:txBody>
          <a:bodyPr wrap="square" lIns="0" tIns="0" rIns="0" bIns="0" rtlCol="0" anchor="t"/>
          <a:lstStyle/>
          <a:p>
            <a:pPr rtl="1" algn="ctr" indent="0" marL="0">
              <a:buNone/>
            </a:pPr>
            <a:r>
              <a:rPr lang="ar-SA" altLang="en-US" sz="1150" dirty="0">
                <a:solidFill>
                  <a:srgbClr val="BFD6CE"/>
                </a:solidFill>
                <a:latin typeface="Tajawal" pitchFamily="34" charset="0"/>
                <a:ea typeface="Tajawal" pitchFamily="34" charset="-122"/>
                <a:cs typeface="Tajawal" pitchFamily="34" charset="-120"/>
              </a:rPr>
              <a:t>الملف الإجرائي المدرسي ١٤٤٨هـ</a:t>
            </a:r>
            <a:endParaRPr lang="ar-SA"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tmp/claude-0/-home-user-Mobile1/ab9bbf47-b054-5f6e-be59-70476e095ce8/scratchpad/assets/bg_content.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11480" y="219456"/>
            <a:ext cx="786384" cy="608076"/>
          </a:xfrm>
          <a:prstGeom prst="rect">
            <a:avLst/>
          </a:prstGeom>
        </p:spPr>
      </p:pic>
      <p:sp>
        <p:nvSpPr>
          <p:cNvPr id="4" name="Shape 0"/>
          <p:cNvSpPr/>
          <p:nvPr/>
        </p:nvSpPr>
        <p:spPr>
          <a:xfrm>
            <a:off x="11268151" y="274320"/>
            <a:ext cx="512064" cy="512064"/>
          </a:xfrm>
          <a:prstGeom prst="roundRect">
            <a:avLst>
              <a:gd name="adj" fmla="val 21429"/>
            </a:avLst>
          </a:prstGeom>
          <a:solidFill>
            <a:srgbClr val="095242"/>
          </a:solidFill>
          <a:ln/>
        </p:spPr>
      </p:sp>
      <p:pic>
        <p:nvPicPr>
          <p:cNvPr id="5" name="Image 2" descr="/tmp/claude-0/-home-user-Mobile1/ab9bbf47-b054-5f6e-be59-70476e095ce8/scratchpad/assets/icons/listchecks_white.png">    </p:cNvPr>
          <p:cNvPicPr>
            <a:picLocks noChangeAspect="1"/>
          </p:cNvPicPr>
          <p:nvPr/>
        </p:nvPicPr>
        <p:blipFill>
          <a:blip r:embed="rId3"/>
          <a:stretch>
            <a:fillRect/>
          </a:stretch>
        </p:blipFill>
        <p:spPr>
          <a:xfrm>
            <a:off x="11387023" y="393192"/>
            <a:ext cx="274320" cy="274320"/>
          </a:xfrm>
          <a:prstGeom prst="rect">
            <a:avLst/>
          </a:prstGeom>
        </p:spPr>
      </p:pic>
      <p:sp>
        <p:nvSpPr>
          <p:cNvPr id="6" name="Text 1"/>
          <p:cNvSpPr/>
          <p:nvPr/>
        </p:nvSpPr>
        <p:spPr>
          <a:xfrm>
            <a:off x="2926080" y="274320"/>
            <a:ext cx="8177479" cy="512064"/>
          </a:xfrm>
          <a:prstGeom prst="rect">
            <a:avLst/>
          </a:prstGeom>
          <a:noFill/>
          <a:ln/>
        </p:spPr>
        <p:txBody>
          <a:bodyPr wrap="square" lIns="0" tIns="0" rIns="0" bIns="0" rtlCol="0" anchor="ctr"/>
          <a:lstStyle/>
          <a:p>
            <a:pPr rtl="1" algn="r" indent="0" marL="0">
              <a:buNone/>
            </a:pPr>
            <a:r>
              <a:rPr lang="ar-SA" altLang="en-US" sz="2000" b="1" dirty="0">
                <a:solidFill>
                  <a:srgbClr val="0F2A21"/>
                </a:solidFill>
                <a:latin typeface="Tajawal" pitchFamily="34" charset="0"/>
                <a:ea typeface="Tajawal" pitchFamily="34" charset="-122"/>
                <a:cs typeface="Tajawal" pitchFamily="34" charset="-120"/>
              </a:rPr>
              <a:t>فهرس المحتويات</a:t>
            </a:r>
            <a:endParaRPr lang="ar-SA" sz="2000" dirty="0"/>
          </a:p>
        </p:txBody>
      </p:sp>
      <p:sp>
        <p:nvSpPr>
          <p:cNvPr id="7" name="Text 2"/>
          <p:cNvSpPr/>
          <p:nvPr/>
        </p:nvSpPr>
        <p:spPr>
          <a:xfrm>
            <a:off x="7665415" y="6519672"/>
            <a:ext cx="4114800" cy="274320"/>
          </a:xfrm>
          <a:prstGeom prst="rect">
            <a:avLst/>
          </a:prstGeom>
          <a:noFill/>
          <a:ln/>
        </p:spPr>
        <p:txBody>
          <a:bodyPr wrap="square" lIns="0" tIns="0" rIns="0" bIns="0" rtlCol="0" anchor="t"/>
          <a:lstStyle/>
          <a:p>
            <a:pPr rtl="1" algn="r" indent="0" marL="0">
              <a:buNone/>
            </a:pPr>
            <a:r>
              <a:rPr lang="ar-SA" altLang="en-US" sz="800" dirty="0">
                <a:solidFill>
                  <a:srgbClr val="7C8F87"/>
                </a:solidFill>
                <a:latin typeface="Tajawal" pitchFamily="34" charset="0"/>
                <a:ea typeface="Tajawal" pitchFamily="34" charset="-122"/>
                <a:cs typeface="Tajawal" pitchFamily="34" charset="-120"/>
              </a:rPr>
              <a:t>الخطة التشغيلية للعام الدراسي ١٤٤٨هـ</a:t>
            </a:r>
            <a:endParaRPr lang="ar-SA" sz="800" dirty="0"/>
          </a:p>
        </p:txBody>
      </p:sp>
      <p:sp>
        <p:nvSpPr>
          <p:cNvPr id="8" name="Text 3"/>
          <p:cNvSpPr/>
          <p:nvPr/>
        </p:nvSpPr>
        <p:spPr>
          <a:xfrm>
            <a:off x="411480" y="6519672"/>
            <a:ext cx="914400" cy="274320"/>
          </a:xfrm>
          <a:prstGeom prst="rect">
            <a:avLst/>
          </a:prstGeom>
          <a:noFill/>
          <a:ln/>
        </p:spPr>
        <p:txBody>
          <a:bodyPr wrap="square" lIns="0" tIns="0" rIns="0" bIns="0" rtlCol="0" anchor="t"/>
          <a:lstStyle/>
          <a:p>
            <a:pPr rtl="1" algn="l" indent="0" marL="0">
              <a:buNone/>
            </a:pPr>
            <a:r>
              <a:rPr lang="ar-SA" altLang="en-US" sz="850" b="1" dirty="0">
                <a:solidFill>
                  <a:srgbClr val="7C8F87"/>
                </a:solidFill>
                <a:latin typeface="Tajawal" pitchFamily="34" charset="0"/>
                <a:ea typeface="Tajawal" pitchFamily="34" charset="-122"/>
                <a:cs typeface="Tajawal" pitchFamily="34" charset="-120"/>
              </a:rPr>
              <a:t>٠٢</a:t>
            </a:r>
            <a:endParaRPr lang="ar-SA" sz="850" dirty="0"/>
          </a:p>
        </p:txBody>
      </p:sp>
      <p:sp>
        <p:nvSpPr>
          <p:cNvPr id="9" name="Shape 4"/>
          <p:cNvSpPr/>
          <p:nvPr/>
        </p:nvSpPr>
        <p:spPr>
          <a:xfrm>
            <a:off x="8136941" y="1298448"/>
            <a:ext cx="3643274" cy="786384"/>
          </a:xfrm>
          <a:prstGeom prst="roundRect">
            <a:avLst>
              <a:gd name="adj" fmla="val 8721"/>
            </a:avLst>
          </a:prstGeom>
          <a:solidFill>
            <a:srgbClr val="FFFFFF"/>
          </a:solidFill>
          <a:ln w="9525">
            <a:solidFill>
              <a:srgbClr val="DCE8E2"/>
            </a:solidFill>
            <a:prstDash val="solid"/>
          </a:ln>
          <a:effectLst>
            <a:outerShdw sx="100000" sy="100000" kx="0" ky="0" algn="bl" rotWithShape="0" blurRad="63500" dist="12700" dir="5400000">
              <a:srgbClr val="0E3B30">
                <a:alpha val="7000"/>
              </a:srgbClr>
            </a:outerShdw>
          </a:effectLst>
        </p:spPr>
      </p:sp>
      <p:sp>
        <p:nvSpPr>
          <p:cNvPr id="10" name="Shape 5"/>
          <p:cNvSpPr/>
          <p:nvPr/>
        </p:nvSpPr>
        <p:spPr>
          <a:xfrm>
            <a:off x="11213287" y="1508760"/>
            <a:ext cx="365760" cy="365760"/>
          </a:xfrm>
          <a:prstGeom prst="roundRect">
            <a:avLst>
              <a:gd name="adj" fmla="val 22000"/>
            </a:avLst>
          </a:prstGeom>
          <a:solidFill>
            <a:srgbClr val="095242"/>
          </a:solidFill>
          <a:ln/>
        </p:spPr>
      </p:sp>
      <p:sp>
        <p:nvSpPr>
          <p:cNvPr id="11" name="Text 6"/>
          <p:cNvSpPr/>
          <p:nvPr/>
        </p:nvSpPr>
        <p:spPr>
          <a:xfrm>
            <a:off x="11213287" y="1495044"/>
            <a:ext cx="365760" cy="365760"/>
          </a:xfrm>
          <a:prstGeom prst="rect">
            <a:avLst/>
          </a:prstGeom>
          <a:noFill/>
          <a:ln/>
        </p:spPr>
        <p:txBody>
          <a:bodyPr wrap="square" lIns="0" tIns="0" rIns="0" bIns="0" rtlCol="0" anchor="ctr"/>
          <a:lstStyle/>
          <a:p>
            <a:pPr rtl="1" algn="ctr" indent="0" marL="0">
              <a:buNone/>
            </a:pPr>
            <a:r>
              <a:rPr lang="ar-SA" altLang="en-US" sz="1050" b="1" dirty="0">
                <a:solidFill>
                  <a:srgbClr val="FFFFFF"/>
                </a:solidFill>
                <a:latin typeface="Tajawal" pitchFamily="34" charset="0"/>
                <a:ea typeface="Tajawal" pitchFamily="34" charset="-122"/>
                <a:cs typeface="Tajawal" pitchFamily="34" charset="-120"/>
              </a:rPr>
              <a:t>٠١</a:t>
            </a:r>
            <a:endParaRPr lang="ar-SA" sz="1050" dirty="0"/>
          </a:p>
        </p:txBody>
      </p:sp>
      <p:sp>
        <p:nvSpPr>
          <p:cNvPr id="12" name="Text 7"/>
          <p:cNvSpPr/>
          <p:nvPr/>
        </p:nvSpPr>
        <p:spPr>
          <a:xfrm>
            <a:off x="8365541" y="1298448"/>
            <a:ext cx="2710586" cy="786384"/>
          </a:xfrm>
          <a:prstGeom prst="rect">
            <a:avLst/>
          </a:prstGeom>
          <a:noFill/>
          <a:ln/>
        </p:spPr>
        <p:txBody>
          <a:bodyPr wrap="square" lIns="0" tIns="0" rIns="0" bIns="0" rtlCol="0" anchor="ctr"/>
          <a:lstStyle/>
          <a:p>
            <a:pPr rtl="1" algn="r" indent="0" marL="0">
              <a:buNone/>
            </a:pPr>
            <a:r>
              <a:rPr lang="ar-SA" altLang="en-US" sz="1300" b="1" dirty="0">
                <a:solidFill>
                  <a:srgbClr val="0F2A21"/>
                </a:solidFill>
                <a:latin typeface="Tajawal" pitchFamily="34" charset="0"/>
                <a:ea typeface="Tajawal" pitchFamily="34" charset="-122"/>
                <a:cs typeface="Tajawal" pitchFamily="34" charset="-120"/>
              </a:rPr>
              <a:t>المقدمة</a:t>
            </a:r>
            <a:endParaRPr lang="ar-SA" sz="1300" dirty="0"/>
          </a:p>
        </p:txBody>
      </p:sp>
      <p:sp>
        <p:nvSpPr>
          <p:cNvPr id="13" name="Shape 8"/>
          <p:cNvSpPr/>
          <p:nvPr/>
        </p:nvSpPr>
        <p:spPr>
          <a:xfrm>
            <a:off x="4274210" y="1298448"/>
            <a:ext cx="3643274" cy="786384"/>
          </a:xfrm>
          <a:prstGeom prst="roundRect">
            <a:avLst>
              <a:gd name="adj" fmla="val 8721"/>
            </a:avLst>
          </a:prstGeom>
          <a:solidFill>
            <a:srgbClr val="FFFFFF"/>
          </a:solidFill>
          <a:ln w="9525">
            <a:solidFill>
              <a:srgbClr val="DCE8E2"/>
            </a:solidFill>
            <a:prstDash val="solid"/>
          </a:ln>
          <a:effectLst>
            <a:outerShdw sx="100000" sy="100000" kx="0" ky="0" algn="bl" rotWithShape="0" blurRad="63500" dist="12700" dir="5400000">
              <a:srgbClr val="0E3B30">
                <a:alpha val="7000"/>
              </a:srgbClr>
            </a:outerShdw>
          </a:effectLst>
        </p:spPr>
      </p:sp>
      <p:sp>
        <p:nvSpPr>
          <p:cNvPr id="14" name="Shape 9"/>
          <p:cNvSpPr/>
          <p:nvPr/>
        </p:nvSpPr>
        <p:spPr>
          <a:xfrm>
            <a:off x="7350557" y="1508760"/>
            <a:ext cx="365760" cy="365760"/>
          </a:xfrm>
          <a:prstGeom prst="roundRect">
            <a:avLst>
              <a:gd name="adj" fmla="val 22000"/>
            </a:avLst>
          </a:prstGeom>
          <a:solidFill>
            <a:srgbClr val="095242"/>
          </a:solidFill>
          <a:ln/>
        </p:spPr>
      </p:sp>
      <p:sp>
        <p:nvSpPr>
          <p:cNvPr id="15" name="Text 10"/>
          <p:cNvSpPr/>
          <p:nvPr/>
        </p:nvSpPr>
        <p:spPr>
          <a:xfrm>
            <a:off x="7350557" y="1495044"/>
            <a:ext cx="365760" cy="365760"/>
          </a:xfrm>
          <a:prstGeom prst="rect">
            <a:avLst/>
          </a:prstGeom>
          <a:noFill/>
          <a:ln/>
        </p:spPr>
        <p:txBody>
          <a:bodyPr wrap="square" lIns="0" tIns="0" rIns="0" bIns="0" rtlCol="0" anchor="ctr"/>
          <a:lstStyle/>
          <a:p>
            <a:pPr rtl="1" algn="ctr" indent="0" marL="0">
              <a:buNone/>
            </a:pPr>
            <a:r>
              <a:rPr lang="ar-SA" altLang="en-US" sz="1050" b="1" dirty="0">
                <a:solidFill>
                  <a:srgbClr val="FFFFFF"/>
                </a:solidFill>
                <a:latin typeface="Tajawal" pitchFamily="34" charset="0"/>
                <a:ea typeface="Tajawal" pitchFamily="34" charset="-122"/>
                <a:cs typeface="Tajawal" pitchFamily="34" charset="-120"/>
              </a:rPr>
              <a:t>٠٢</a:t>
            </a:r>
            <a:endParaRPr lang="ar-SA" sz="1050" dirty="0"/>
          </a:p>
        </p:txBody>
      </p:sp>
      <p:sp>
        <p:nvSpPr>
          <p:cNvPr id="16" name="Text 11"/>
          <p:cNvSpPr/>
          <p:nvPr/>
        </p:nvSpPr>
        <p:spPr>
          <a:xfrm>
            <a:off x="4502810" y="1298448"/>
            <a:ext cx="2710586" cy="786384"/>
          </a:xfrm>
          <a:prstGeom prst="rect">
            <a:avLst/>
          </a:prstGeom>
          <a:noFill/>
          <a:ln/>
        </p:spPr>
        <p:txBody>
          <a:bodyPr wrap="square" lIns="0" tIns="0" rIns="0" bIns="0" rtlCol="0" anchor="ctr"/>
          <a:lstStyle/>
          <a:p>
            <a:pPr rtl="1" algn="r" indent="0" marL="0">
              <a:buNone/>
            </a:pPr>
            <a:r>
              <a:rPr lang="ar-SA" altLang="en-US" sz="1300" b="1" dirty="0">
                <a:solidFill>
                  <a:srgbClr val="0F2A21"/>
                </a:solidFill>
                <a:latin typeface="Tajawal" pitchFamily="34" charset="0"/>
                <a:ea typeface="Tajawal" pitchFamily="34" charset="-122"/>
                <a:cs typeface="Tajawal" pitchFamily="34" charset="-120"/>
              </a:rPr>
              <a:t>فريق إعداد الخطة</a:t>
            </a:r>
            <a:endParaRPr lang="ar-SA" sz="1300" dirty="0"/>
          </a:p>
        </p:txBody>
      </p:sp>
      <p:sp>
        <p:nvSpPr>
          <p:cNvPr id="17" name="Shape 12"/>
          <p:cNvSpPr/>
          <p:nvPr/>
        </p:nvSpPr>
        <p:spPr>
          <a:xfrm>
            <a:off x="411480" y="1298448"/>
            <a:ext cx="3643274" cy="786384"/>
          </a:xfrm>
          <a:prstGeom prst="roundRect">
            <a:avLst>
              <a:gd name="adj" fmla="val 8721"/>
            </a:avLst>
          </a:prstGeom>
          <a:solidFill>
            <a:srgbClr val="FFFFFF"/>
          </a:solidFill>
          <a:ln w="9525">
            <a:solidFill>
              <a:srgbClr val="DCE8E2"/>
            </a:solidFill>
            <a:prstDash val="solid"/>
          </a:ln>
          <a:effectLst>
            <a:outerShdw sx="100000" sy="100000" kx="0" ky="0" algn="bl" rotWithShape="0" blurRad="63500" dist="12700" dir="5400000">
              <a:srgbClr val="0E3B30">
                <a:alpha val="7000"/>
              </a:srgbClr>
            </a:outerShdw>
          </a:effectLst>
        </p:spPr>
      </p:sp>
      <p:sp>
        <p:nvSpPr>
          <p:cNvPr id="18" name="Shape 13"/>
          <p:cNvSpPr/>
          <p:nvPr/>
        </p:nvSpPr>
        <p:spPr>
          <a:xfrm>
            <a:off x="3487826" y="1508760"/>
            <a:ext cx="365760" cy="365760"/>
          </a:xfrm>
          <a:prstGeom prst="roundRect">
            <a:avLst>
              <a:gd name="adj" fmla="val 22000"/>
            </a:avLst>
          </a:prstGeom>
          <a:solidFill>
            <a:srgbClr val="095242"/>
          </a:solidFill>
          <a:ln/>
        </p:spPr>
      </p:sp>
      <p:sp>
        <p:nvSpPr>
          <p:cNvPr id="19" name="Text 14"/>
          <p:cNvSpPr/>
          <p:nvPr/>
        </p:nvSpPr>
        <p:spPr>
          <a:xfrm>
            <a:off x="3487826" y="1495044"/>
            <a:ext cx="365760" cy="365760"/>
          </a:xfrm>
          <a:prstGeom prst="rect">
            <a:avLst/>
          </a:prstGeom>
          <a:noFill/>
          <a:ln/>
        </p:spPr>
        <p:txBody>
          <a:bodyPr wrap="square" lIns="0" tIns="0" rIns="0" bIns="0" rtlCol="0" anchor="ctr"/>
          <a:lstStyle/>
          <a:p>
            <a:pPr rtl="1" algn="ctr" indent="0" marL="0">
              <a:buNone/>
            </a:pPr>
            <a:r>
              <a:rPr lang="ar-SA" altLang="en-US" sz="1050" b="1" dirty="0">
                <a:solidFill>
                  <a:srgbClr val="FFFFFF"/>
                </a:solidFill>
                <a:latin typeface="Tajawal" pitchFamily="34" charset="0"/>
                <a:ea typeface="Tajawal" pitchFamily="34" charset="-122"/>
                <a:cs typeface="Tajawal" pitchFamily="34" charset="-120"/>
              </a:rPr>
              <a:t>٠٣</a:t>
            </a:r>
            <a:endParaRPr lang="ar-SA" sz="1050" dirty="0"/>
          </a:p>
        </p:txBody>
      </p:sp>
      <p:sp>
        <p:nvSpPr>
          <p:cNvPr id="20" name="Text 15"/>
          <p:cNvSpPr/>
          <p:nvPr/>
        </p:nvSpPr>
        <p:spPr>
          <a:xfrm>
            <a:off x="640080" y="1298448"/>
            <a:ext cx="2710586" cy="786384"/>
          </a:xfrm>
          <a:prstGeom prst="rect">
            <a:avLst/>
          </a:prstGeom>
          <a:noFill/>
          <a:ln/>
        </p:spPr>
        <p:txBody>
          <a:bodyPr wrap="square" lIns="0" tIns="0" rIns="0" bIns="0" rtlCol="0" anchor="ctr"/>
          <a:lstStyle/>
          <a:p>
            <a:pPr rtl="1" algn="r" indent="0" marL="0">
              <a:buNone/>
            </a:pPr>
            <a:r>
              <a:rPr lang="ar-SA" altLang="en-US" sz="1300" b="1" dirty="0">
                <a:solidFill>
                  <a:srgbClr val="0F2A21"/>
                </a:solidFill>
                <a:latin typeface="Tajawal" pitchFamily="34" charset="0"/>
                <a:ea typeface="Tajawal" pitchFamily="34" charset="-122"/>
                <a:cs typeface="Tajawal" pitchFamily="34" charset="-120"/>
              </a:rPr>
              <a:t>البيانات الإحصائية</a:t>
            </a:r>
            <a:endParaRPr lang="ar-SA" sz="1300" dirty="0"/>
          </a:p>
        </p:txBody>
      </p:sp>
      <p:sp>
        <p:nvSpPr>
          <p:cNvPr id="21" name="Shape 16"/>
          <p:cNvSpPr/>
          <p:nvPr/>
        </p:nvSpPr>
        <p:spPr>
          <a:xfrm>
            <a:off x="8136941" y="2286000"/>
            <a:ext cx="3643274" cy="786384"/>
          </a:xfrm>
          <a:prstGeom prst="roundRect">
            <a:avLst>
              <a:gd name="adj" fmla="val 8721"/>
            </a:avLst>
          </a:prstGeom>
          <a:solidFill>
            <a:srgbClr val="FFFFFF"/>
          </a:solidFill>
          <a:ln w="9525">
            <a:solidFill>
              <a:srgbClr val="DCE8E2"/>
            </a:solidFill>
            <a:prstDash val="solid"/>
          </a:ln>
          <a:effectLst>
            <a:outerShdw sx="100000" sy="100000" kx="0" ky="0" algn="bl" rotWithShape="0" blurRad="63500" dist="12700" dir="5400000">
              <a:srgbClr val="0E3B30">
                <a:alpha val="7000"/>
              </a:srgbClr>
            </a:outerShdw>
          </a:effectLst>
        </p:spPr>
      </p:sp>
      <p:sp>
        <p:nvSpPr>
          <p:cNvPr id="22" name="Shape 17"/>
          <p:cNvSpPr/>
          <p:nvPr/>
        </p:nvSpPr>
        <p:spPr>
          <a:xfrm>
            <a:off x="11213287" y="2496312"/>
            <a:ext cx="365760" cy="365760"/>
          </a:xfrm>
          <a:prstGeom prst="roundRect">
            <a:avLst>
              <a:gd name="adj" fmla="val 22000"/>
            </a:avLst>
          </a:prstGeom>
          <a:solidFill>
            <a:srgbClr val="095242"/>
          </a:solidFill>
          <a:ln/>
        </p:spPr>
      </p:sp>
      <p:sp>
        <p:nvSpPr>
          <p:cNvPr id="23" name="Text 18"/>
          <p:cNvSpPr/>
          <p:nvPr/>
        </p:nvSpPr>
        <p:spPr>
          <a:xfrm>
            <a:off x="11213287" y="2482596"/>
            <a:ext cx="365760" cy="365760"/>
          </a:xfrm>
          <a:prstGeom prst="rect">
            <a:avLst/>
          </a:prstGeom>
          <a:noFill/>
          <a:ln/>
        </p:spPr>
        <p:txBody>
          <a:bodyPr wrap="square" lIns="0" tIns="0" rIns="0" bIns="0" rtlCol="0" anchor="ctr"/>
          <a:lstStyle/>
          <a:p>
            <a:pPr rtl="1" algn="ctr" indent="0" marL="0">
              <a:buNone/>
            </a:pPr>
            <a:r>
              <a:rPr lang="ar-SA" altLang="en-US" sz="1050" b="1" dirty="0">
                <a:solidFill>
                  <a:srgbClr val="FFFFFF"/>
                </a:solidFill>
                <a:latin typeface="Tajawal" pitchFamily="34" charset="0"/>
                <a:ea typeface="Tajawal" pitchFamily="34" charset="-122"/>
                <a:cs typeface="Tajawal" pitchFamily="34" charset="-120"/>
              </a:rPr>
              <a:t>٠٤</a:t>
            </a:r>
            <a:endParaRPr lang="ar-SA" sz="1050" dirty="0"/>
          </a:p>
        </p:txBody>
      </p:sp>
      <p:sp>
        <p:nvSpPr>
          <p:cNvPr id="24" name="Text 19"/>
          <p:cNvSpPr/>
          <p:nvPr/>
        </p:nvSpPr>
        <p:spPr>
          <a:xfrm>
            <a:off x="8365541" y="2286000"/>
            <a:ext cx="2710586" cy="786384"/>
          </a:xfrm>
          <a:prstGeom prst="rect">
            <a:avLst/>
          </a:prstGeom>
          <a:noFill/>
          <a:ln/>
        </p:spPr>
        <p:txBody>
          <a:bodyPr wrap="square" lIns="0" tIns="0" rIns="0" bIns="0" rtlCol="0" anchor="ctr"/>
          <a:lstStyle/>
          <a:p>
            <a:pPr rtl="1" algn="r" indent="0" marL="0">
              <a:buNone/>
            </a:pPr>
            <a:r>
              <a:rPr lang="ar-SA" altLang="en-US" sz="1300" b="1" dirty="0">
                <a:solidFill>
                  <a:srgbClr val="0F2A21"/>
                </a:solidFill>
                <a:latin typeface="Tajawal" pitchFamily="34" charset="0"/>
                <a:ea typeface="Tajawal" pitchFamily="34" charset="-122"/>
                <a:cs typeface="Tajawal" pitchFamily="34" charset="-120"/>
              </a:rPr>
              <a:t>بيانات الطلاب والمعلمين</a:t>
            </a:r>
            <a:endParaRPr lang="ar-SA" sz="1300" dirty="0"/>
          </a:p>
        </p:txBody>
      </p:sp>
      <p:sp>
        <p:nvSpPr>
          <p:cNvPr id="25" name="Shape 20"/>
          <p:cNvSpPr/>
          <p:nvPr/>
        </p:nvSpPr>
        <p:spPr>
          <a:xfrm>
            <a:off x="4274210" y="2286000"/>
            <a:ext cx="3643274" cy="786384"/>
          </a:xfrm>
          <a:prstGeom prst="roundRect">
            <a:avLst>
              <a:gd name="adj" fmla="val 8721"/>
            </a:avLst>
          </a:prstGeom>
          <a:solidFill>
            <a:srgbClr val="FFFFFF"/>
          </a:solidFill>
          <a:ln w="9525">
            <a:solidFill>
              <a:srgbClr val="DCE8E2"/>
            </a:solidFill>
            <a:prstDash val="solid"/>
          </a:ln>
          <a:effectLst>
            <a:outerShdw sx="100000" sy="100000" kx="0" ky="0" algn="bl" rotWithShape="0" blurRad="63500" dist="12700" dir="5400000">
              <a:srgbClr val="0E3B30">
                <a:alpha val="7000"/>
              </a:srgbClr>
            </a:outerShdw>
          </a:effectLst>
        </p:spPr>
      </p:sp>
      <p:sp>
        <p:nvSpPr>
          <p:cNvPr id="26" name="Shape 21"/>
          <p:cNvSpPr/>
          <p:nvPr/>
        </p:nvSpPr>
        <p:spPr>
          <a:xfrm>
            <a:off x="7350557" y="2496312"/>
            <a:ext cx="365760" cy="365760"/>
          </a:xfrm>
          <a:prstGeom prst="roundRect">
            <a:avLst>
              <a:gd name="adj" fmla="val 22000"/>
            </a:avLst>
          </a:prstGeom>
          <a:solidFill>
            <a:srgbClr val="095242"/>
          </a:solidFill>
          <a:ln/>
        </p:spPr>
      </p:sp>
      <p:sp>
        <p:nvSpPr>
          <p:cNvPr id="27" name="Text 22"/>
          <p:cNvSpPr/>
          <p:nvPr/>
        </p:nvSpPr>
        <p:spPr>
          <a:xfrm>
            <a:off x="7350557" y="2482596"/>
            <a:ext cx="365760" cy="365760"/>
          </a:xfrm>
          <a:prstGeom prst="rect">
            <a:avLst/>
          </a:prstGeom>
          <a:noFill/>
          <a:ln/>
        </p:spPr>
        <p:txBody>
          <a:bodyPr wrap="square" lIns="0" tIns="0" rIns="0" bIns="0" rtlCol="0" anchor="ctr"/>
          <a:lstStyle/>
          <a:p>
            <a:pPr rtl="1" algn="ctr" indent="0" marL="0">
              <a:buNone/>
            </a:pPr>
            <a:r>
              <a:rPr lang="ar-SA" altLang="en-US" sz="1050" b="1" dirty="0">
                <a:solidFill>
                  <a:srgbClr val="FFFFFF"/>
                </a:solidFill>
                <a:latin typeface="Tajawal" pitchFamily="34" charset="0"/>
                <a:ea typeface="Tajawal" pitchFamily="34" charset="-122"/>
                <a:cs typeface="Tajawal" pitchFamily="34" charset="-120"/>
              </a:rPr>
              <a:t>٠٥</a:t>
            </a:r>
            <a:endParaRPr lang="ar-SA" sz="1050" dirty="0"/>
          </a:p>
        </p:txBody>
      </p:sp>
      <p:sp>
        <p:nvSpPr>
          <p:cNvPr id="28" name="Text 23"/>
          <p:cNvSpPr/>
          <p:nvPr/>
        </p:nvSpPr>
        <p:spPr>
          <a:xfrm>
            <a:off x="4502810" y="2286000"/>
            <a:ext cx="2710586" cy="786384"/>
          </a:xfrm>
          <a:prstGeom prst="rect">
            <a:avLst/>
          </a:prstGeom>
          <a:noFill/>
          <a:ln/>
        </p:spPr>
        <p:txBody>
          <a:bodyPr wrap="square" lIns="0" tIns="0" rIns="0" bIns="0" rtlCol="0" anchor="ctr"/>
          <a:lstStyle/>
          <a:p>
            <a:pPr rtl="1" algn="r" indent="0" marL="0">
              <a:buNone/>
            </a:pPr>
            <a:r>
              <a:rPr lang="ar-SA" altLang="en-US" sz="1300" b="1" dirty="0">
                <a:solidFill>
                  <a:srgbClr val="0F2A21"/>
                </a:solidFill>
                <a:latin typeface="Tajawal" pitchFamily="34" charset="0"/>
                <a:ea typeface="Tajawal" pitchFamily="34" charset="-122"/>
                <a:cs typeface="Tajawal" pitchFamily="34" charset="-120"/>
              </a:rPr>
              <a:t>الرؤية والرسالة والقيم</a:t>
            </a:r>
            <a:endParaRPr lang="ar-SA" sz="1300" dirty="0"/>
          </a:p>
        </p:txBody>
      </p:sp>
      <p:sp>
        <p:nvSpPr>
          <p:cNvPr id="29" name="Shape 24"/>
          <p:cNvSpPr/>
          <p:nvPr/>
        </p:nvSpPr>
        <p:spPr>
          <a:xfrm>
            <a:off x="411480" y="2286000"/>
            <a:ext cx="3643274" cy="786384"/>
          </a:xfrm>
          <a:prstGeom prst="roundRect">
            <a:avLst>
              <a:gd name="adj" fmla="val 8721"/>
            </a:avLst>
          </a:prstGeom>
          <a:solidFill>
            <a:srgbClr val="FFFFFF"/>
          </a:solidFill>
          <a:ln w="9525">
            <a:solidFill>
              <a:srgbClr val="DCE8E2"/>
            </a:solidFill>
            <a:prstDash val="solid"/>
          </a:ln>
          <a:effectLst>
            <a:outerShdw sx="100000" sy="100000" kx="0" ky="0" algn="bl" rotWithShape="0" blurRad="63500" dist="12700" dir="5400000">
              <a:srgbClr val="0E3B30">
                <a:alpha val="7000"/>
              </a:srgbClr>
            </a:outerShdw>
          </a:effectLst>
        </p:spPr>
      </p:sp>
      <p:sp>
        <p:nvSpPr>
          <p:cNvPr id="30" name="Shape 25"/>
          <p:cNvSpPr/>
          <p:nvPr/>
        </p:nvSpPr>
        <p:spPr>
          <a:xfrm>
            <a:off x="3487826" y="2496312"/>
            <a:ext cx="365760" cy="365760"/>
          </a:xfrm>
          <a:prstGeom prst="roundRect">
            <a:avLst>
              <a:gd name="adj" fmla="val 22000"/>
            </a:avLst>
          </a:prstGeom>
          <a:solidFill>
            <a:srgbClr val="095242"/>
          </a:solidFill>
          <a:ln/>
        </p:spPr>
      </p:sp>
      <p:sp>
        <p:nvSpPr>
          <p:cNvPr id="31" name="Text 26"/>
          <p:cNvSpPr/>
          <p:nvPr/>
        </p:nvSpPr>
        <p:spPr>
          <a:xfrm>
            <a:off x="3487826" y="2482596"/>
            <a:ext cx="365760" cy="365760"/>
          </a:xfrm>
          <a:prstGeom prst="rect">
            <a:avLst/>
          </a:prstGeom>
          <a:noFill/>
          <a:ln/>
        </p:spPr>
        <p:txBody>
          <a:bodyPr wrap="square" lIns="0" tIns="0" rIns="0" bIns="0" rtlCol="0" anchor="ctr"/>
          <a:lstStyle/>
          <a:p>
            <a:pPr rtl="1" algn="ctr" indent="0" marL="0">
              <a:buNone/>
            </a:pPr>
            <a:r>
              <a:rPr lang="ar-SA" altLang="en-US" sz="1050" b="1" dirty="0">
                <a:solidFill>
                  <a:srgbClr val="FFFFFF"/>
                </a:solidFill>
                <a:latin typeface="Tajawal" pitchFamily="34" charset="0"/>
                <a:ea typeface="Tajawal" pitchFamily="34" charset="-122"/>
                <a:cs typeface="Tajawal" pitchFamily="34" charset="-120"/>
              </a:rPr>
              <a:t>٠٦</a:t>
            </a:r>
            <a:endParaRPr lang="ar-SA" sz="1050" dirty="0"/>
          </a:p>
        </p:txBody>
      </p:sp>
      <p:sp>
        <p:nvSpPr>
          <p:cNvPr id="32" name="Text 27"/>
          <p:cNvSpPr/>
          <p:nvPr/>
        </p:nvSpPr>
        <p:spPr>
          <a:xfrm>
            <a:off x="640080" y="2286000"/>
            <a:ext cx="2710586" cy="786384"/>
          </a:xfrm>
          <a:prstGeom prst="rect">
            <a:avLst/>
          </a:prstGeom>
          <a:noFill/>
          <a:ln/>
        </p:spPr>
        <p:txBody>
          <a:bodyPr wrap="square" lIns="0" tIns="0" rIns="0" bIns="0" rtlCol="0" anchor="ctr"/>
          <a:lstStyle/>
          <a:p>
            <a:pPr rtl="1" algn="r" indent="0" marL="0">
              <a:buNone/>
            </a:pPr>
            <a:r>
              <a:rPr lang="ar-SA" altLang="en-US" sz="1300" b="1" dirty="0">
                <a:solidFill>
                  <a:srgbClr val="0F2A21"/>
                </a:solidFill>
                <a:latin typeface="Tajawal" pitchFamily="34" charset="0"/>
                <a:ea typeface="Tajawal" pitchFamily="34" charset="-122"/>
                <a:cs typeface="Tajawal" pitchFamily="34" charset="-120"/>
              </a:rPr>
              <a:t>مرتكزات ومصادر الخطة</a:t>
            </a:r>
            <a:endParaRPr lang="ar-SA" sz="1300" dirty="0"/>
          </a:p>
        </p:txBody>
      </p:sp>
      <p:sp>
        <p:nvSpPr>
          <p:cNvPr id="33" name="Shape 28"/>
          <p:cNvSpPr/>
          <p:nvPr/>
        </p:nvSpPr>
        <p:spPr>
          <a:xfrm>
            <a:off x="8136941" y="3273552"/>
            <a:ext cx="3643274" cy="786384"/>
          </a:xfrm>
          <a:prstGeom prst="roundRect">
            <a:avLst>
              <a:gd name="adj" fmla="val 8721"/>
            </a:avLst>
          </a:prstGeom>
          <a:solidFill>
            <a:srgbClr val="FFFFFF"/>
          </a:solidFill>
          <a:ln w="9525">
            <a:solidFill>
              <a:srgbClr val="DCE8E2"/>
            </a:solidFill>
            <a:prstDash val="solid"/>
          </a:ln>
          <a:effectLst>
            <a:outerShdw sx="100000" sy="100000" kx="0" ky="0" algn="bl" rotWithShape="0" blurRad="63500" dist="12700" dir="5400000">
              <a:srgbClr val="0E3B30">
                <a:alpha val="7000"/>
              </a:srgbClr>
            </a:outerShdw>
          </a:effectLst>
        </p:spPr>
      </p:sp>
      <p:sp>
        <p:nvSpPr>
          <p:cNvPr id="34" name="Shape 29"/>
          <p:cNvSpPr/>
          <p:nvPr/>
        </p:nvSpPr>
        <p:spPr>
          <a:xfrm>
            <a:off x="11213287" y="3483864"/>
            <a:ext cx="365760" cy="365760"/>
          </a:xfrm>
          <a:prstGeom prst="roundRect">
            <a:avLst>
              <a:gd name="adj" fmla="val 22000"/>
            </a:avLst>
          </a:prstGeom>
          <a:solidFill>
            <a:srgbClr val="095242"/>
          </a:solidFill>
          <a:ln/>
        </p:spPr>
      </p:sp>
      <p:sp>
        <p:nvSpPr>
          <p:cNvPr id="35" name="Text 30"/>
          <p:cNvSpPr/>
          <p:nvPr/>
        </p:nvSpPr>
        <p:spPr>
          <a:xfrm>
            <a:off x="11213287" y="3470148"/>
            <a:ext cx="365760" cy="365760"/>
          </a:xfrm>
          <a:prstGeom prst="rect">
            <a:avLst/>
          </a:prstGeom>
          <a:noFill/>
          <a:ln/>
        </p:spPr>
        <p:txBody>
          <a:bodyPr wrap="square" lIns="0" tIns="0" rIns="0" bIns="0" rtlCol="0" anchor="ctr"/>
          <a:lstStyle/>
          <a:p>
            <a:pPr rtl="1" algn="ctr" indent="0" marL="0">
              <a:buNone/>
            </a:pPr>
            <a:r>
              <a:rPr lang="ar-SA" altLang="en-US" sz="1050" b="1" dirty="0">
                <a:solidFill>
                  <a:srgbClr val="FFFFFF"/>
                </a:solidFill>
                <a:latin typeface="Tajawal" pitchFamily="34" charset="0"/>
                <a:ea typeface="Tajawal" pitchFamily="34" charset="-122"/>
                <a:cs typeface="Tajawal" pitchFamily="34" charset="-120"/>
              </a:rPr>
              <a:t>٠٧</a:t>
            </a:r>
            <a:endParaRPr lang="ar-SA" sz="1050" dirty="0"/>
          </a:p>
        </p:txBody>
      </p:sp>
      <p:sp>
        <p:nvSpPr>
          <p:cNvPr id="36" name="Text 31"/>
          <p:cNvSpPr/>
          <p:nvPr/>
        </p:nvSpPr>
        <p:spPr>
          <a:xfrm>
            <a:off x="8365541" y="3273552"/>
            <a:ext cx="2710586" cy="786384"/>
          </a:xfrm>
          <a:prstGeom prst="rect">
            <a:avLst/>
          </a:prstGeom>
          <a:noFill/>
          <a:ln/>
        </p:spPr>
        <p:txBody>
          <a:bodyPr wrap="square" lIns="0" tIns="0" rIns="0" bIns="0" rtlCol="0" anchor="ctr"/>
          <a:lstStyle/>
          <a:p>
            <a:pPr rtl="1" algn="r" indent="0" marL="0">
              <a:buNone/>
            </a:pPr>
            <a:r>
              <a:rPr lang="ar-SA" altLang="en-US" sz="1300" b="1" dirty="0">
                <a:solidFill>
                  <a:srgbClr val="0F2A21"/>
                </a:solidFill>
                <a:latin typeface="Tajawal" pitchFamily="34" charset="0"/>
                <a:ea typeface="Tajawal" pitchFamily="34" charset="-122"/>
                <a:cs typeface="Tajawal" pitchFamily="34" charset="-120"/>
              </a:rPr>
              <a:t>أولويات مجالات التقويم</a:t>
            </a:r>
            <a:endParaRPr lang="ar-SA" sz="1300" dirty="0"/>
          </a:p>
        </p:txBody>
      </p:sp>
      <p:sp>
        <p:nvSpPr>
          <p:cNvPr id="37" name="Shape 32"/>
          <p:cNvSpPr/>
          <p:nvPr/>
        </p:nvSpPr>
        <p:spPr>
          <a:xfrm>
            <a:off x="4274210" y="3273552"/>
            <a:ext cx="3643274" cy="786384"/>
          </a:xfrm>
          <a:prstGeom prst="roundRect">
            <a:avLst>
              <a:gd name="adj" fmla="val 8721"/>
            </a:avLst>
          </a:prstGeom>
          <a:solidFill>
            <a:srgbClr val="FFFFFF"/>
          </a:solidFill>
          <a:ln w="9525">
            <a:solidFill>
              <a:srgbClr val="DCE8E2"/>
            </a:solidFill>
            <a:prstDash val="solid"/>
          </a:ln>
          <a:effectLst>
            <a:outerShdw sx="100000" sy="100000" kx="0" ky="0" algn="bl" rotWithShape="0" blurRad="63500" dist="12700" dir="5400000">
              <a:srgbClr val="0E3B30">
                <a:alpha val="7000"/>
              </a:srgbClr>
            </a:outerShdw>
          </a:effectLst>
        </p:spPr>
      </p:sp>
      <p:sp>
        <p:nvSpPr>
          <p:cNvPr id="38" name="Shape 33"/>
          <p:cNvSpPr/>
          <p:nvPr/>
        </p:nvSpPr>
        <p:spPr>
          <a:xfrm>
            <a:off x="7350557" y="3483864"/>
            <a:ext cx="365760" cy="365760"/>
          </a:xfrm>
          <a:prstGeom prst="roundRect">
            <a:avLst>
              <a:gd name="adj" fmla="val 22000"/>
            </a:avLst>
          </a:prstGeom>
          <a:solidFill>
            <a:srgbClr val="095242"/>
          </a:solidFill>
          <a:ln/>
        </p:spPr>
      </p:sp>
      <p:sp>
        <p:nvSpPr>
          <p:cNvPr id="39" name="Text 34"/>
          <p:cNvSpPr/>
          <p:nvPr/>
        </p:nvSpPr>
        <p:spPr>
          <a:xfrm>
            <a:off x="7350557" y="3470148"/>
            <a:ext cx="365760" cy="365760"/>
          </a:xfrm>
          <a:prstGeom prst="rect">
            <a:avLst/>
          </a:prstGeom>
          <a:noFill/>
          <a:ln/>
        </p:spPr>
        <p:txBody>
          <a:bodyPr wrap="square" lIns="0" tIns="0" rIns="0" bIns="0" rtlCol="0" anchor="ctr"/>
          <a:lstStyle/>
          <a:p>
            <a:pPr rtl="1" algn="ctr" indent="0" marL="0">
              <a:buNone/>
            </a:pPr>
            <a:r>
              <a:rPr lang="ar-SA" altLang="en-US" sz="1050" b="1" dirty="0">
                <a:solidFill>
                  <a:srgbClr val="FFFFFF"/>
                </a:solidFill>
                <a:latin typeface="Tajawal" pitchFamily="34" charset="0"/>
                <a:ea typeface="Tajawal" pitchFamily="34" charset="-122"/>
                <a:cs typeface="Tajawal" pitchFamily="34" charset="-120"/>
              </a:rPr>
              <a:t>٠٨</a:t>
            </a:r>
            <a:endParaRPr lang="ar-SA" sz="1050" dirty="0"/>
          </a:p>
        </p:txBody>
      </p:sp>
      <p:sp>
        <p:nvSpPr>
          <p:cNvPr id="40" name="Text 35"/>
          <p:cNvSpPr/>
          <p:nvPr/>
        </p:nvSpPr>
        <p:spPr>
          <a:xfrm>
            <a:off x="4502810" y="3273552"/>
            <a:ext cx="2710586" cy="786384"/>
          </a:xfrm>
          <a:prstGeom prst="rect">
            <a:avLst/>
          </a:prstGeom>
          <a:noFill/>
          <a:ln/>
        </p:spPr>
        <p:txBody>
          <a:bodyPr wrap="square" lIns="0" tIns="0" rIns="0" bIns="0" rtlCol="0" anchor="ctr"/>
          <a:lstStyle/>
          <a:p>
            <a:pPr rtl="1" algn="r" indent="0" marL="0">
              <a:buNone/>
            </a:pPr>
            <a:r>
              <a:rPr lang="ar-SA" altLang="en-US" sz="1300" b="1" dirty="0">
                <a:solidFill>
                  <a:srgbClr val="0F2A21"/>
                </a:solidFill>
                <a:latin typeface="Tajawal" pitchFamily="34" charset="0"/>
                <a:ea typeface="Tajawal" pitchFamily="34" charset="-122"/>
                <a:cs typeface="Tajawal" pitchFamily="34" charset="-120"/>
              </a:rPr>
              <a:t>تحليل SWOT</a:t>
            </a:r>
            <a:endParaRPr lang="ar-SA" sz="1300" dirty="0"/>
          </a:p>
        </p:txBody>
      </p:sp>
      <p:sp>
        <p:nvSpPr>
          <p:cNvPr id="41" name="Shape 36"/>
          <p:cNvSpPr/>
          <p:nvPr/>
        </p:nvSpPr>
        <p:spPr>
          <a:xfrm>
            <a:off x="411480" y="3273552"/>
            <a:ext cx="3643274" cy="786384"/>
          </a:xfrm>
          <a:prstGeom prst="roundRect">
            <a:avLst>
              <a:gd name="adj" fmla="val 8721"/>
            </a:avLst>
          </a:prstGeom>
          <a:solidFill>
            <a:srgbClr val="FFFFFF"/>
          </a:solidFill>
          <a:ln w="9525">
            <a:solidFill>
              <a:srgbClr val="DCE8E2"/>
            </a:solidFill>
            <a:prstDash val="solid"/>
          </a:ln>
          <a:effectLst>
            <a:outerShdw sx="100000" sy="100000" kx="0" ky="0" algn="bl" rotWithShape="0" blurRad="63500" dist="12700" dir="5400000">
              <a:srgbClr val="0E3B30">
                <a:alpha val="7000"/>
              </a:srgbClr>
            </a:outerShdw>
          </a:effectLst>
        </p:spPr>
      </p:sp>
      <p:sp>
        <p:nvSpPr>
          <p:cNvPr id="42" name="Shape 37"/>
          <p:cNvSpPr/>
          <p:nvPr/>
        </p:nvSpPr>
        <p:spPr>
          <a:xfrm>
            <a:off x="3487826" y="3483864"/>
            <a:ext cx="365760" cy="365760"/>
          </a:xfrm>
          <a:prstGeom prst="roundRect">
            <a:avLst>
              <a:gd name="adj" fmla="val 22000"/>
            </a:avLst>
          </a:prstGeom>
          <a:solidFill>
            <a:srgbClr val="095242"/>
          </a:solidFill>
          <a:ln/>
        </p:spPr>
      </p:sp>
      <p:sp>
        <p:nvSpPr>
          <p:cNvPr id="43" name="Text 38"/>
          <p:cNvSpPr/>
          <p:nvPr/>
        </p:nvSpPr>
        <p:spPr>
          <a:xfrm>
            <a:off x="3487826" y="3470148"/>
            <a:ext cx="365760" cy="365760"/>
          </a:xfrm>
          <a:prstGeom prst="rect">
            <a:avLst/>
          </a:prstGeom>
          <a:noFill/>
          <a:ln/>
        </p:spPr>
        <p:txBody>
          <a:bodyPr wrap="square" lIns="0" tIns="0" rIns="0" bIns="0" rtlCol="0" anchor="ctr"/>
          <a:lstStyle/>
          <a:p>
            <a:pPr rtl="1" algn="ctr" indent="0" marL="0">
              <a:buNone/>
            </a:pPr>
            <a:r>
              <a:rPr lang="ar-SA" altLang="en-US" sz="1050" b="1" dirty="0">
                <a:solidFill>
                  <a:srgbClr val="FFFFFF"/>
                </a:solidFill>
                <a:latin typeface="Tajawal" pitchFamily="34" charset="0"/>
                <a:ea typeface="Tajawal" pitchFamily="34" charset="-122"/>
                <a:cs typeface="Tajawal" pitchFamily="34" charset="-120"/>
              </a:rPr>
              <a:t>٠٩</a:t>
            </a:r>
            <a:endParaRPr lang="ar-SA" sz="1050" dirty="0"/>
          </a:p>
        </p:txBody>
      </p:sp>
      <p:sp>
        <p:nvSpPr>
          <p:cNvPr id="44" name="Text 39"/>
          <p:cNvSpPr/>
          <p:nvPr/>
        </p:nvSpPr>
        <p:spPr>
          <a:xfrm>
            <a:off x="640080" y="3273552"/>
            <a:ext cx="2710586" cy="786384"/>
          </a:xfrm>
          <a:prstGeom prst="rect">
            <a:avLst/>
          </a:prstGeom>
          <a:noFill/>
          <a:ln/>
        </p:spPr>
        <p:txBody>
          <a:bodyPr wrap="square" lIns="0" tIns="0" rIns="0" bIns="0" rtlCol="0" anchor="ctr"/>
          <a:lstStyle/>
          <a:p>
            <a:pPr rtl="1" algn="r" indent="0" marL="0">
              <a:buNone/>
            </a:pPr>
            <a:r>
              <a:rPr lang="ar-SA" altLang="en-US" sz="1300" b="1" dirty="0">
                <a:solidFill>
                  <a:srgbClr val="0F2A21"/>
                </a:solidFill>
                <a:latin typeface="Tajawal" pitchFamily="34" charset="0"/>
                <a:ea typeface="Tajawal" pitchFamily="34" charset="-122"/>
                <a:cs typeface="Tajawal" pitchFamily="34" charset="-120"/>
              </a:rPr>
              <a:t>القضايا الملحة للمدرسة</a:t>
            </a:r>
            <a:endParaRPr lang="ar-SA" sz="1300" dirty="0"/>
          </a:p>
        </p:txBody>
      </p:sp>
      <p:sp>
        <p:nvSpPr>
          <p:cNvPr id="45" name="Shape 40"/>
          <p:cNvSpPr/>
          <p:nvPr/>
        </p:nvSpPr>
        <p:spPr>
          <a:xfrm>
            <a:off x="8136941" y="4261104"/>
            <a:ext cx="3643274" cy="786384"/>
          </a:xfrm>
          <a:prstGeom prst="roundRect">
            <a:avLst>
              <a:gd name="adj" fmla="val 8721"/>
            </a:avLst>
          </a:prstGeom>
          <a:solidFill>
            <a:srgbClr val="FFFFFF"/>
          </a:solidFill>
          <a:ln w="9525">
            <a:solidFill>
              <a:srgbClr val="DCE8E2"/>
            </a:solidFill>
            <a:prstDash val="solid"/>
          </a:ln>
          <a:effectLst>
            <a:outerShdw sx="100000" sy="100000" kx="0" ky="0" algn="bl" rotWithShape="0" blurRad="63500" dist="12700" dir="5400000">
              <a:srgbClr val="0E3B30">
                <a:alpha val="7000"/>
              </a:srgbClr>
            </a:outerShdw>
          </a:effectLst>
        </p:spPr>
      </p:sp>
      <p:sp>
        <p:nvSpPr>
          <p:cNvPr id="46" name="Shape 41"/>
          <p:cNvSpPr/>
          <p:nvPr/>
        </p:nvSpPr>
        <p:spPr>
          <a:xfrm>
            <a:off x="11213287" y="4471416"/>
            <a:ext cx="365760" cy="365760"/>
          </a:xfrm>
          <a:prstGeom prst="roundRect">
            <a:avLst>
              <a:gd name="adj" fmla="val 22000"/>
            </a:avLst>
          </a:prstGeom>
          <a:solidFill>
            <a:srgbClr val="095242"/>
          </a:solidFill>
          <a:ln/>
        </p:spPr>
      </p:sp>
      <p:sp>
        <p:nvSpPr>
          <p:cNvPr id="47" name="Text 42"/>
          <p:cNvSpPr/>
          <p:nvPr/>
        </p:nvSpPr>
        <p:spPr>
          <a:xfrm>
            <a:off x="11213287" y="4457700"/>
            <a:ext cx="365760" cy="365760"/>
          </a:xfrm>
          <a:prstGeom prst="rect">
            <a:avLst/>
          </a:prstGeom>
          <a:noFill/>
          <a:ln/>
        </p:spPr>
        <p:txBody>
          <a:bodyPr wrap="square" lIns="0" tIns="0" rIns="0" bIns="0" rtlCol="0" anchor="ctr"/>
          <a:lstStyle/>
          <a:p>
            <a:pPr rtl="1" algn="ctr" indent="0" marL="0">
              <a:buNone/>
            </a:pPr>
            <a:r>
              <a:rPr lang="ar-SA" altLang="en-US" sz="1050" b="1" dirty="0">
                <a:solidFill>
                  <a:srgbClr val="FFFFFF"/>
                </a:solidFill>
                <a:latin typeface="Tajawal" pitchFamily="34" charset="0"/>
                <a:ea typeface="Tajawal" pitchFamily="34" charset="-122"/>
                <a:cs typeface="Tajawal" pitchFamily="34" charset="-120"/>
              </a:rPr>
              <a:t>١٠</a:t>
            </a:r>
            <a:endParaRPr lang="ar-SA" sz="1050" dirty="0"/>
          </a:p>
        </p:txBody>
      </p:sp>
      <p:sp>
        <p:nvSpPr>
          <p:cNvPr id="48" name="Text 43"/>
          <p:cNvSpPr/>
          <p:nvPr/>
        </p:nvSpPr>
        <p:spPr>
          <a:xfrm>
            <a:off x="8365541" y="4261104"/>
            <a:ext cx="2710586" cy="786384"/>
          </a:xfrm>
          <a:prstGeom prst="rect">
            <a:avLst/>
          </a:prstGeom>
          <a:noFill/>
          <a:ln/>
        </p:spPr>
        <p:txBody>
          <a:bodyPr wrap="square" lIns="0" tIns="0" rIns="0" bIns="0" rtlCol="0" anchor="ctr"/>
          <a:lstStyle/>
          <a:p>
            <a:pPr rtl="1" algn="r" indent="0" marL="0">
              <a:buNone/>
            </a:pPr>
            <a:r>
              <a:rPr lang="ar-SA" altLang="en-US" sz="1300" b="1" dirty="0">
                <a:solidFill>
                  <a:srgbClr val="0F2A21"/>
                </a:solidFill>
                <a:latin typeface="Tajawal" pitchFamily="34" charset="0"/>
                <a:ea typeface="Tajawal" pitchFamily="34" charset="-122"/>
                <a:cs typeface="Tajawal" pitchFamily="34" charset="-120"/>
              </a:rPr>
              <a:t>الأهداف الاستراتيجية</a:t>
            </a:r>
            <a:endParaRPr lang="ar-SA" sz="1300" dirty="0"/>
          </a:p>
        </p:txBody>
      </p:sp>
      <p:sp>
        <p:nvSpPr>
          <p:cNvPr id="49" name="Shape 44"/>
          <p:cNvSpPr/>
          <p:nvPr/>
        </p:nvSpPr>
        <p:spPr>
          <a:xfrm>
            <a:off x="4274210" y="4261104"/>
            <a:ext cx="3643274" cy="786384"/>
          </a:xfrm>
          <a:prstGeom prst="roundRect">
            <a:avLst>
              <a:gd name="adj" fmla="val 8721"/>
            </a:avLst>
          </a:prstGeom>
          <a:solidFill>
            <a:srgbClr val="FFFFFF"/>
          </a:solidFill>
          <a:ln w="9525">
            <a:solidFill>
              <a:srgbClr val="DCE8E2"/>
            </a:solidFill>
            <a:prstDash val="solid"/>
          </a:ln>
          <a:effectLst>
            <a:outerShdw sx="100000" sy="100000" kx="0" ky="0" algn="bl" rotWithShape="0" blurRad="63500" dist="12700" dir="5400000">
              <a:srgbClr val="0E3B30">
                <a:alpha val="7000"/>
              </a:srgbClr>
            </a:outerShdw>
          </a:effectLst>
        </p:spPr>
      </p:sp>
      <p:sp>
        <p:nvSpPr>
          <p:cNvPr id="50" name="Shape 45"/>
          <p:cNvSpPr/>
          <p:nvPr/>
        </p:nvSpPr>
        <p:spPr>
          <a:xfrm>
            <a:off x="7350557" y="4471416"/>
            <a:ext cx="365760" cy="365760"/>
          </a:xfrm>
          <a:prstGeom prst="roundRect">
            <a:avLst>
              <a:gd name="adj" fmla="val 22000"/>
            </a:avLst>
          </a:prstGeom>
          <a:solidFill>
            <a:srgbClr val="095242"/>
          </a:solidFill>
          <a:ln/>
        </p:spPr>
      </p:sp>
      <p:sp>
        <p:nvSpPr>
          <p:cNvPr id="51" name="Text 46"/>
          <p:cNvSpPr/>
          <p:nvPr/>
        </p:nvSpPr>
        <p:spPr>
          <a:xfrm>
            <a:off x="7350557" y="4457700"/>
            <a:ext cx="365760" cy="365760"/>
          </a:xfrm>
          <a:prstGeom prst="rect">
            <a:avLst/>
          </a:prstGeom>
          <a:noFill/>
          <a:ln/>
        </p:spPr>
        <p:txBody>
          <a:bodyPr wrap="square" lIns="0" tIns="0" rIns="0" bIns="0" rtlCol="0" anchor="ctr"/>
          <a:lstStyle/>
          <a:p>
            <a:pPr rtl="1" algn="ctr" indent="0" marL="0">
              <a:buNone/>
            </a:pPr>
            <a:r>
              <a:rPr lang="ar-SA" altLang="en-US" sz="1050" b="1" dirty="0">
                <a:solidFill>
                  <a:srgbClr val="FFFFFF"/>
                </a:solidFill>
                <a:latin typeface="Tajawal" pitchFamily="34" charset="0"/>
                <a:ea typeface="Tajawal" pitchFamily="34" charset="-122"/>
                <a:cs typeface="Tajawal" pitchFamily="34" charset="-120"/>
              </a:rPr>
              <a:t>١١</a:t>
            </a:r>
            <a:endParaRPr lang="ar-SA" sz="1050" dirty="0"/>
          </a:p>
        </p:txBody>
      </p:sp>
      <p:sp>
        <p:nvSpPr>
          <p:cNvPr id="52" name="Text 47"/>
          <p:cNvSpPr/>
          <p:nvPr/>
        </p:nvSpPr>
        <p:spPr>
          <a:xfrm>
            <a:off x="4502810" y="4261104"/>
            <a:ext cx="2710586" cy="786384"/>
          </a:xfrm>
          <a:prstGeom prst="rect">
            <a:avLst/>
          </a:prstGeom>
          <a:noFill/>
          <a:ln/>
        </p:spPr>
        <p:txBody>
          <a:bodyPr wrap="square" lIns="0" tIns="0" rIns="0" bIns="0" rtlCol="0" anchor="ctr"/>
          <a:lstStyle/>
          <a:p>
            <a:pPr rtl="1" algn="r" indent="0" marL="0">
              <a:buNone/>
            </a:pPr>
            <a:r>
              <a:rPr lang="ar-SA" altLang="en-US" sz="1300" b="1" dirty="0">
                <a:solidFill>
                  <a:srgbClr val="0F2A21"/>
                </a:solidFill>
                <a:latin typeface="Tajawal" pitchFamily="34" charset="0"/>
                <a:ea typeface="Tajawal" pitchFamily="34" charset="-122"/>
                <a:cs typeface="Tajawal" pitchFamily="34" charset="-120"/>
              </a:rPr>
              <a:t>التوزيع الكمي للأهداف</a:t>
            </a:r>
            <a:endParaRPr lang="ar-SA" sz="1300" dirty="0"/>
          </a:p>
        </p:txBody>
      </p:sp>
      <p:sp>
        <p:nvSpPr>
          <p:cNvPr id="53" name="Shape 48"/>
          <p:cNvSpPr/>
          <p:nvPr/>
        </p:nvSpPr>
        <p:spPr>
          <a:xfrm>
            <a:off x="411480" y="4261104"/>
            <a:ext cx="3643274" cy="786384"/>
          </a:xfrm>
          <a:prstGeom prst="roundRect">
            <a:avLst>
              <a:gd name="adj" fmla="val 8721"/>
            </a:avLst>
          </a:prstGeom>
          <a:solidFill>
            <a:srgbClr val="FFFFFF"/>
          </a:solidFill>
          <a:ln w="9525">
            <a:solidFill>
              <a:srgbClr val="DCE8E2"/>
            </a:solidFill>
            <a:prstDash val="solid"/>
          </a:ln>
          <a:effectLst>
            <a:outerShdw sx="100000" sy="100000" kx="0" ky="0" algn="bl" rotWithShape="0" blurRad="63500" dist="12700" dir="5400000">
              <a:srgbClr val="0E3B30">
                <a:alpha val="7000"/>
              </a:srgbClr>
            </a:outerShdw>
          </a:effectLst>
        </p:spPr>
      </p:sp>
      <p:sp>
        <p:nvSpPr>
          <p:cNvPr id="54" name="Shape 49"/>
          <p:cNvSpPr/>
          <p:nvPr/>
        </p:nvSpPr>
        <p:spPr>
          <a:xfrm>
            <a:off x="3487826" y="4471416"/>
            <a:ext cx="365760" cy="365760"/>
          </a:xfrm>
          <a:prstGeom prst="roundRect">
            <a:avLst>
              <a:gd name="adj" fmla="val 22000"/>
            </a:avLst>
          </a:prstGeom>
          <a:solidFill>
            <a:srgbClr val="095242"/>
          </a:solidFill>
          <a:ln/>
        </p:spPr>
      </p:sp>
      <p:sp>
        <p:nvSpPr>
          <p:cNvPr id="55" name="Text 50"/>
          <p:cNvSpPr/>
          <p:nvPr/>
        </p:nvSpPr>
        <p:spPr>
          <a:xfrm>
            <a:off x="3487826" y="4457700"/>
            <a:ext cx="365760" cy="365760"/>
          </a:xfrm>
          <a:prstGeom prst="rect">
            <a:avLst/>
          </a:prstGeom>
          <a:noFill/>
          <a:ln/>
        </p:spPr>
        <p:txBody>
          <a:bodyPr wrap="square" lIns="0" tIns="0" rIns="0" bIns="0" rtlCol="0" anchor="ctr"/>
          <a:lstStyle/>
          <a:p>
            <a:pPr rtl="1" algn="ctr" indent="0" marL="0">
              <a:buNone/>
            </a:pPr>
            <a:r>
              <a:rPr lang="ar-SA" altLang="en-US" sz="1050" b="1" dirty="0">
                <a:solidFill>
                  <a:srgbClr val="FFFFFF"/>
                </a:solidFill>
                <a:latin typeface="Tajawal" pitchFamily="34" charset="0"/>
                <a:ea typeface="Tajawal" pitchFamily="34" charset="-122"/>
                <a:cs typeface="Tajawal" pitchFamily="34" charset="-120"/>
              </a:rPr>
              <a:t>١٢</a:t>
            </a:r>
            <a:endParaRPr lang="ar-SA" sz="1050" dirty="0"/>
          </a:p>
        </p:txBody>
      </p:sp>
      <p:sp>
        <p:nvSpPr>
          <p:cNvPr id="56" name="Text 51"/>
          <p:cNvSpPr/>
          <p:nvPr/>
        </p:nvSpPr>
        <p:spPr>
          <a:xfrm>
            <a:off x="640080" y="4261104"/>
            <a:ext cx="2710586" cy="786384"/>
          </a:xfrm>
          <a:prstGeom prst="rect">
            <a:avLst/>
          </a:prstGeom>
          <a:noFill/>
          <a:ln/>
        </p:spPr>
        <p:txBody>
          <a:bodyPr wrap="square" lIns="0" tIns="0" rIns="0" bIns="0" rtlCol="0" anchor="ctr"/>
          <a:lstStyle/>
          <a:p>
            <a:pPr rtl="1" algn="r" indent="0" marL="0">
              <a:buNone/>
            </a:pPr>
            <a:r>
              <a:rPr lang="ar-SA" altLang="en-US" sz="1300" b="1" dirty="0">
                <a:solidFill>
                  <a:srgbClr val="0F2A21"/>
                </a:solidFill>
                <a:latin typeface="Tajawal" pitchFamily="34" charset="0"/>
                <a:ea typeface="Tajawal" pitchFamily="34" charset="-122"/>
                <a:cs typeface="Tajawal" pitchFamily="34" charset="-120"/>
              </a:rPr>
              <a:t>برامج الأهداف العشرة</a:t>
            </a:r>
            <a:endParaRPr lang="ar-SA" sz="1300" dirty="0"/>
          </a:p>
        </p:txBody>
      </p:sp>
      <p:sp>
        <p:nvSpPr>
          <p:cNvPr id="57" name="Shape 52"/>
          <p:cNvSpPr/>
          <p:nvPr/>
        </p:nvSpPr>
        <p:spPr>
          <a:xfrm>
            <a:off x="8136941" y="5248656"/>
            <a:ext cx="3643274" cy="786384"/>
          </a:xfrm>
          <a:prstGeom prst="roundRect">
            <a:avLst>
              <a:gd name="adj" fmla="val 8721"/>
            </a:avLst>
          </a:prstGeom>
          <a:solidFill>
            <a:srgbClr val="FFFFFF"/>
          </a:solidFill>
          <a:ln w="9525">
            <a:solidFill>
              <a:srgbClr val="DCE8E2"/>
            </a:solidFill>
            <a:prstDash val="solid"/>
          </a:ln>
          <a:effectLst>
            <a:outerShdw sx="100000" sy="100000" kx="0" ky="0" algn="bl" rotWithShape="0" blurRad="63500" dist="12700" dir="5400000">
              <a:srgbClr val="0E3B30">
                <a:alpha val="7000"/>
              </a:srgbClr>
            </a:outerShdw>
          </a:effectLst>
        </p:spPr>
      </p:sp>
      <p:sp>
        <p:nvSpPr>
          <p:cNvPr id="58" name="Shape 53"/>
          <p:cNvSpPr/>
          <p:nvPr/>
        </p:nvSpPr>
        <p:spPr>
          <a:xfrm>
            <a:off x="11213287" y="5458968"/>
            <a:ext cx="365760" cy="365760"/>
          </a:xfrm>
          <a:prstGeom prst="roundRect">
            <a:avLst>
              <a:gd name="adj" fmla="val 22000"/>
            </a:avLst>
          </a:prstGeom>
          <a:solidFill>
            <a:srgbClr val="095242"/>
          </a:solidFill>
          <a:ln/>
        </p:spPr>
      </p:sp>
      <p:sp>
        <p:nvSpPr>
          <p:cNvPr id="59" name="Text 54"/>
          <p:cNvSpPr/>
          <p:nvPr/>
        </p:nvSpPr>
        <p:spPr>
          <a:xfrm>
            <a:off x="11213287" y="5445252"/>
            <a:ext cx="365760" cy="365760"/>
          </a:xfrm>
          <a:prstGeom prst="rect">
            <a:avLst/>
          </a:prstGeom>
          <a:noFill/>
          <a:ln/>
        </p:spPr>
        <p:txBody>
          <a:bodyPr wrap="square" lIns="0" tIns="0" rIns="0" bIns="0" rtlCol="0" anchor="ctr"/>
          <a:lstStyle/>
          <a:p>
            <a:pPr rtl="1" algn="ctr" indent="0" marL="0">
              <a:buNone/>
            </a:pPr>
            <a:r>
              <a:rPr lang="ar-SA" altLang="en-US" sz="1050" b="1" dirty="0">
                <a:solidFill>
                  <a:srgbClr val="FFFFFF"/>
                </a:solidFill>
                <a:latin typeface="Tajawal" pitchFamily="34" charset="0"/>
                <a:ea typeface="Tajawal" pitchFamily="34" charset="-122"/>
                <a:cs typeface="Tajawal" pitchFamily="34" charset="-120"/>
              </a:rPr>
              <a:t>١٣</a:t>
            </a:r>
            <a:endParaRPr lang="ar-SA" sz="1050" dirty="0"/>
          </a:p>
        </p:txBody>
      </p:sp>
      <p:sp>
        <p:nvSpPr>
          <p:cNvPr id="60" name="Text 55"/>
          <p:cNvSpPr/>
          <p:nvPr/>
        </p:nvSpPr>
        <p:spPr>
          <a:xfrm>
            <a:off x="8365541" y="5248656"/>
            <a:ext cx="2710586" cy="786384"/>
          </a:xfrm>
          <a:prstGeom prst="rect">
            <a:avLst/>
          </a:prstGeom>
          <a:noFill/>
          <a:ln/>
        </p:spPr>
        <p:txBody>
          <a:bodyPr wrap="square" lIns="0" tIns="0" rIns="0" bIns="0" rtlCol="0" anchor="ctr"/>
          <a:lstStyle/>
          <a:p>
            <a:pPr rtl="1" algn="r" indent="0" marL="0">
              <a:buNone/>
            </a:pPr>
            <a:r>
              <a:rPr lang="ar-SA" altLang="en-US" sz="1300" b="1" dirty="0">
                <a:solidFill>
                  <a:srgbClr val="0F2A21"/>
                </a:solidFill>
                <a:latin typeface="Tajawal" pitchFamily="34" charset="0"/>
                <a:ea typeface="Tajawal" pitchFamily="34" charset="-122"/>
                <a:cs typeface="Tajawal" pitchFamily="34" charset="-120"/>
              </a:rPr>
              <a:t>نظام المتابعة والمساءلة</a:t>
            </a:r>
            <a:endParaRPr lang="ar-SA" sz="1300" dirty="0"/>
          </a:p>
        </p:txBody>
      </p:sp>
      <p:sp>
        <p:nvSpPr>
          <p:cNvPr id="61" name="Shape 56"/>
          <p:cNvSpPr/>
          <p:nvPr/>
        </p:nvSpPr>
        <p:spPr>
          <a:xfrm>
            <a:off x="4274210" y="5248656"/>
            <a:ext cx="3643274" cy="786384"/>
          </a:xfrm>
          <a:prstGeom prst="roundRect">
            <a:avLst>
              <a:gd name="adj" fmla="val 8721"/>
            </a:avLst>
          </a:prstGeom>
          <a:solidFill>
            <a:srgbClr val="FFFFFF"/>
          </a:solidFill>
          <a:ln w="9525">
            <a:solidFill>
              <a:srgbClr val="DCE8E2"/>
            </a:solidFill>
            <a:prstDash val="solid"/>
          </a:ln>
          <a:effectLst>
            <a:outerShdw sx="100000" sy="100000" kx="0" ky="0" algn="bl" rotWithShape="0" blurRad="63500" dist="12700" dir="5400000">
              <a:srgbClr val="0E3B30">
                <a:alpha val="7000"/>
              </a:srgbClr>
            </a:outerShdw>
          </a:effectLst>
        </p:spPr>
      </p:sp>
      <p:sp>
        <p:nvSpPr>
          <p:cNvPr id="62" name="Shape 57"/>
          <p:cNvSpPr/>
          <p:nvPr/>
        </p:nvSpPr>
        <p:spPr>
          <a:xfrm>
            <a:off x="7350557" y="5458968"/>
            <a:ext cx="365760" cy="365760"/>
          </a:xfrm>
          <a:prstGeom prst="roundRect">
            <a:avLst>
              <a:gd name="adj" fmla="val 22000"/>
            </a:avLst>
          </a:prstGeom>
          <a:solidFill>
            <a:srgbClr val="095242"/>
          </a:solidFill>
          <a:ln/>
        </p:spPr>
      </p:sp>
      <p:sp>
        <p:nvSpPr>
          <p:cNvPr id="63" name="Text 58"/>
          <p:cNvSpPr/>
          <p:nvPr/>
        </p:nvSpPr>
        <p:spPr>
          <a:xfrm>
            <a:off x="7350557" y="5445252"/>
            <a:ext cx="365760" cy="365760"/>
          </a:xfrm>
          <a:prstGeom prst="rect">
            <a:avLst/>
          </a:prstGeom>
          <a:noFill/>
          <a:ln/>
        </p:spPr>
        <p:txBody>
          <a:bodyPr wrap="square" lIns="0" tIns="0" rIns="0" bIns="0" rtlCol="0" anchor="ctr"/>
          <a:lstStyle/>
          <a:p>
            <a:pPr rtl="1" algn="ctr" indent="0" marL="0">
              <a:buNone/>
            </a:pPr>
            <a:r>
              <a:rPr lang="ar-SA" altLang="en-US" sz="1050" b="1" dirty="0">
                <a:solidFill>
                  <a:srgbClr val="FFFFFF"/>
                </a:solidFill>
                <a:latin typeface="Tajawal" pitchFamily="34" charset="0"/>
                <a:ea typeface="Tajawal" pitchFamily="34" charset="-122"/>
                <a:cs typeface="Tajawal" pitchFamily="34" charset="-120"/>
              </a:rPr>
              <a:t>١٤</a:t>
            </a:r>
            <a:endParaRPr lang="ar-SA" sz="1050" dirty="0"/>
          </a:p>
        </p:txBody>
      </p:sp>
      <p:sp>
        <p:nvSpPr>
          <p:cNvPr id="64" name="Text 59"/>
          <p:cNvSpPr/>
          <p:nvPr/>
        </p:nvSpPr>
        <p:spPr>
          <a:xfrm>
            <a:off x="4502810" y="5248656"/>
            <a:ext cx="2710586" cy="786384"/>
          </a:xfrm>
          <a:prstGeom prst="rect">
            <a:avLst/>
          </a:prstGeom>
          <a:noFill/>
          <a:ln/>
        </p:spPr>
        <p:txBody>
          <a:bodyPr wrap="square" lIns="0" tIns="0" rIns="0" bIns="0" rtlCol="0" anchor="ctr"/>
          <a:lstStyle/>
          <a:p>
            <a:pPr rtl="1" algn="r" indent="0" marL="0">
              <a:buNone/>
            </a:pPr>
            <a:r>
              <a:rPr lang="ar-SA" altLang="en-US" sz="1300" b="1" dirty="0">
                <a:solidFill>
                  <a:srgbClr val="0F2A21"/>
                </a:solidFill>
                <a:latin typeface="Tajawal" pitchFamily="34" charset="0"/>
                <a:ea typeface="Tajawal" pitchFamily="34" charset="-122"/>
                <a:cs typeface="Tajawal" pitchFamily="34" charset="-120"/>
              </a:rPr>
              <a:t>نموذج المساءلة</a:t>
            </a:r>
            <a:endParaRPr lang="ar-SA" sz="1300" dirty="0"/>
          </a:p>
        </p:txBody>
      </p:sp>
      <p:sp>
        <p:nvSpPr>
          <p:cNvPr id="65" name="Shape 60"/>
          <p:cNvSpPr/>
          <p:nvPr/>
        </p:nvSpPr>
        <p:spPr>
          <a:xfrm>
            <a:off x="411480" y="5248656"/>
            <a:ext cx="3643274" cy="786384"/>
          </a:xfrm>
          <a:prstGeom prst="roundRect">
            <a:avLst>
              <a:gd name="adj" fmla="val 8721"/>
            </a:avLst>
          </a:prstGeom>
          <a:solidFill>
            <a:srgbClr val="FFFFFF"/>
          </a:solidFill>
          <a:ln w="9525">
            <a:solidFill>
              <a:srgbClr val="DCE8E2"/>
            </a:solidFill>
            <a:prstDash val="solid"/>
          </a:ln>
          <a:effectLst>
            <a:outerShdw sx="100000" sy="100000" kx="0" ky="0" algn="bl" rotWithShape="0" blurRad="63500" dist="12700" dir="5400000">
              <a:srgbClr val="0E3B30">
                <a:alpha val="7000"/>
              </a:srgbClr>
            </a:outerShdw>
          </a:effectLst>
        </p:spPr>
      </p:sp>
      <p:sp>
        <p:nvSpPr>
          <p:cNvPr id="66" name="Shape 61"/>
          <p:cNvSpPr/>
          <p:nvPr/>
        </p:nvSpPr>
        <p:spPr>
          <a:xfrm>
            <a:off x="3487826" y="5458968"/>
            <a:ext cx="365760" cy="365760"/>
          </a:xfrm>
          <a:prstGeom prst="roundRect">
            <a:avLst>
              <a:gd name="adj" fmla="val 22000"/>
            </a:avLst>
          </a:prstGeom>
          <a:solidFill>
            <a:srgbClr val="095242"/>
          </a:solidFill>
          <a:ln/>
        </p:spPr>
      </p:sp>
      <p:sp>
        <p:nvSpPr>
          <p:cNvPr id="67" name="Text 62"/>
          <p:cNvSpPr/>
          <p:nvPr/>
        </p:nvSpPr>
        <p:spPr>
          <a:xfrm>
            <a:off x="3487826" y="5445252"/>
            <a:ext cx="365760" cy="365760"/>
          </a:xfrm>
          <a:prstGeom prst="rect">
            <a:avLst/>
          </a:prstGeom>
          <a:noFill/>
          <a:ln/>
        </p:spPr>
        <p:txBody>
          <a:bodyPr wrap="square" lIns="0" tIns="0" rIns="0" bIns="0" rtlCol="0" anchor="ctr"/>
          <a:lstStyle/>
          <a:p>
            <a:pPr rtl="1" algn="ctr" indent="0" marL="0">
              <a:buNone/>
            </a:pPr>
            <a:r>
              <a:rPr lang="ar-SA" altLang="en-US" sz="1050" b="1" dirty="0">
                <a:solidFill>
                  <a:srgbClr val="FFFFFF"/>
                </a:solidFill>
                <a:latin typeface="Tajawal" pitchFamily="34" charset="0"/>
                <a:ea typeface="Tajawal" pitchFamily="34" charset="-122"/>
                <a:cs typeface="Tajawal" pitchFamily="34" charset="-120"/>
              </a:rPr>
              <a:t>١٥</a:t>
            </a:r>
            <a:endParaRPr lang="ar-SA" sz="1050" dirty="0"/>
          </a:p>
        </p:txBody>
      </p:sp>
      <p:sp>
        <p:nvSpPr>
          <p:cNvPr id="68" name="Text 63"/>
          <p:cNvSpPr/>
          <p:nvPr/>
        </p:nvSpPr>
        <p:spPr>
          <a:xfrm>
            <a:off x="640080" y="5248656"/>
            <a:ext cx="2710586" cy="786384"/>
          </a:xfrm>
          <a:prstGeom prst="rect">
            <a:avLst/>
          </a:prstGeom>
          <a:noFill/>
          <a:ln/>
        </p:spPr>
        <p:txBody>
          <a:bodyPr wrap="square" lIns="0" tIns="0" rIns="0" bIns="0" rtlCol="0" anchor="ctr"/>
          <a:lstStyle/>
          <a:p>
            <a:pPr rtl="1" algn="r" indent="0" marL="0">
              <a:buNone/>
            </a:pPr>
            <a:r>
              <a:rPr lang="ar-SA" altLang="en-US" sz="1300" b="1" dirty="0">
                <a:solidFill>
                  <a:srgbClr val="0F2A21"/>
                </a:solidFill>
                <a:latin typeface="Tajawal" pitchFamily="34" charset="0"/>
                <a:ea typeface="Tajawal" pitchFamily="34" charset="-122"/>
                <a:cs typeface="Tajawal" pitchFamily="34" charset="-120"/>
              </a:rPr>
              <a:t>اعتماد الخطة التشغيلية</a:t>
            </a:r>
            <a:endParaRPr lang="ar-SA"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tmp/claude-0/-home-user-Mobile1/ab9bbf47-b054-5f6e-be59-70476e095ce8/scratchpad/assets/bg_content.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11480" y="219456"/>
            <a:ext cx="786384" cy="608076"/>
          </a:xfrm>
          <a:prstGeom prst="rect">
            <a:avLst/>
          </a:prstGeom>
        </p:spPr>
      </p:pic>
      <p:sp>
        <p:nvSpPr>
          <p:cNvPr id="4" name="Shape 0"/>
          <p:cNvSpPr/>
          <p:nvPr/>
        </p:nvSpPr>
        <p:spPr>
          <a:xfrm>
            <a:off x="11268151" y="274320"/>
            <a:ext cx="512064" cy="512064"/>
          </a:xfrm>
          <a:prstGeom prst="roundRect">
            <a:avLst>
              <a:gd name="adj" fmla="val 21429"/>
            </a:avLst>
          </a:prstGeom>
          <a:solidFill>
            <a:srgbClr val="095242"/>
          </a:solidFill>
          <a:ln/>
        </p:spPr>
      </p:sp>
      <p:pic>
        <p:nvPicPr>
          <p:cNvPr id="5" name="Image 2" descr="/tmp/claude-0/-home-user-Mobile1/ab9bbf47-b054-5f6e-be59-70476e095ce8/scratchpad/assets/icons/compass_white.png">    </p:cNvPr>
          <p:cNvPicPr>
            <a:picLocks noChangeAspect="1"/>
          </p:cNvPicPr>
          <p:nvPr/>
        </p:nvPicPr>
        <p:blipFill>
          <a:blip r:embed="rId3"/>
          <a:stretch>
            <a:fillRect/>
          </a:stretch>
        </p:blipFill>
        <p:spPr>
          <a:xfrm>
            <a:off x="11387023" y="393192"/>
            <a:ext cx="274320" cy="274320"/>
          </a:xfrm>
          <a:prstGeom prst="rect">
            <a:avLst/>
          </a:prstGeom>
        </p:spPr>
      </p:pic>
      <p:sp>
        <p:nvSpPr>
          <p:cNvPr id="6" name="Text 1"/>
          <p:cNvSpPr/>
          <p:nvPr/>
        </p:nvSpPr>
        <p:spPr>
          <a:xfrm>
            <a:off x="2926080" y="274320"/>
            <a:ext cx="8177479" cy="512064"/>
          </a:xfrm>
          <a:prstGeom prst="rect">
            <a:avLst/>
          </a:prstGeom>
          <a:noFill/>
          <a:ln/>
        </p:spPr>
        <p:txBody>
          <a:bodyPr wrap="square" lIns="0" tIns="0" rIns="0" bIns="0" rtlCol="0" anchor="ctr"/>
          <a:lstStyle/>
          <a:p>
            <a:pPr rtl="1" algn="r" indent="0" marL="0">
              <a:buNone/>
            </a:pPr>
            <a:r>
              <a:rPr lang="ar-SA" altLang="en-US" sz="2000" b="1" dirty="0">
                <a:solidFill>
                  <a:srgbClr val="0F2A21"/>
                </a:solidFill>
                <a:latin typeface="Tajawal" pitchFamily="34" charset="0"/>
                <a:ea typeface="Tajawal" pitchFamily="34" charset="-122"/>
                <a:cs typeface="Tajawal" pitchFamily="34" charset="-120"/>
              </a:rPr>
              <a:t>المقدمة</a:t>
            </a:r>
            <a:endParaRPr lang="ar-SA" sz="2000" dirty="0"/>
          </a:p>
        </p:txBody>
      </p:sp>
      <p:sp>
        <p:nvSpPr>
          <p:cNvPr id="7" name="Text 2"/>
          <p:cNvSpPr/>
          <p:nvPr/>
        </p:nvSpPr>
        <p:spPr>
          <a:xfrm>
            <a:off x="7665415" y="6519672"/>
            <a:ext cx="4114800" cy="274320"/>
          </a:xfrm>
          <a:prstGeom prst="rect">
            <a:avLst/>
          </a:prstGeom>
          <a:noFill/>
          <a:ln/>
        </p:spPr>
        <p:txBody>
          <a:bodyPr wrap="square" lIns="0" tIns="0" rIns="0" bIns="0" rtlCol="0" anchor="t"/>
          <a:lstStyle/>
          <a:p>
            <a:pPr rtl="1" algn="r" indent="0" marL="0">
              <a:buNone/>
            </a:pPr>
            <a:r>
              <a:rPr lang="ar-SA" altLang="en-US" sz="800" dirty="0">
                <a:solidFill>
                  <a:srgbClr val="7C8F87"/>
                </a:solidFill>
                <a:latin typeface="Tajawal" pitchFamily="34" charset="0"/>
                <a:ea typeface="Tajawal" pitchFamily="34" charset="-122"/>
                <a:cs typeface="Tajawal" pitchFamily="34" charset="-120"/>
              </a:rPr>
              <a:t>الخطة التشغيلية للعام الدراسي ١٤٤٨هـ</a:t>
            </a:r>
            <a:endParaRPr lang="ar-SA" sz="800" dirty="0"/>
          </a:p>
        </p:txBody>
      </p:sp>
      <p:sp>
        <p:nvSpPr>
          <p:cNvPr id="8" name="Text 3"/>
          <p:cNvSpPr/>
          <p:nvPr/>
        </p:nvSpPr>
        <p:spPr>
          <a:xfrm>
            <a:off x="411480" y="6519672"/>
            <a:ext cx="914400" cy="274320"/>
          </a:xfrm>
          <a:prstGeom prst="rect">
            <a:avLst/>
          </a:prstGeom>
          <a:noFill/>
          <a:ln/>
        </p:spPr>
        <p:txBody>
          <a:bodyPr wrap="square" lIns="0" tIns="0" rIns="0" bIns="0" rtlCol="0" anchor="t"/>
          <a:lstStyle/>
          <a:p>
            <a:pPr rtl="1" algn="l" indent="0" marL="0">
              <a:buNone/>
            </a:pPr>
            <a:r>
              <a:rPr lang="ar-SA" altLang="en-US" sz="850" b="1" dirty="0">
                <a:solidFill>
                  <a:srgbClr val="7C8F87"/>
                </a:solidFill>
                <a:latin typeface="Tajawal" pitchFamily="34" charset="0"/>
                <a:ea typeface="Tajawal" pitchFamily="34" charset="-122"/>
                <a:cs typeface="Tajawal" pitchFamily="34" charset="-120"/>
              </a:rPr>
              <a:t>٠٣</a:t>
            </a:r>
            <a:endParaRPr lang="ar-SA" sz="850" dirty="0"/>
          </a:p>
        </p:txBody>
      </p:sp>
      <p:sp>
        <p:nvSpPr>
          <p:cNvPr id="9" name="Shape 4"/>
          <p:cNvSpPr/>
          <p:nvPr/>
        </p:nvSpPr>
        <p:spPr>
          <a:xfrm>
            <a:off x="4892040" y="1207008"/>
            <a:ext cx="6888175" cy="1170432"/>
          </a:xfrm>
          <a:prstGeom prst="roundRect">
            <a:avLst>
              <a:gd name="adj" fmla="val 5859"/>
            </a:avLst>
          </a:prstGeom>
          <a:solidFill>
            <a:srgbClr val="EBF6F8"/>
          </a:solidFill>
          <a:ln w="9525">
            <a:solidFill>
              <a:srgbClr val="CBE4EA"/>
            </a:solidFill>
            <a:prstDash val="solid"/>
          </a:ln>
        </p:spPr>
      </p:sp>
      <p:pic>
        <p:nvPicPr>
          <p:cNvPr id="10" name="Image 3" descr="/tmp/claude-0/-home-user-Mobile1/ab9bbf47-b054-5f6e-be59-70476e095ce8/scratchpad/assets/icons/quote_teal.png">    </p:cNvPr>
          <p:cNvPicPr>
            <a:picLocks noChangeAspect="1"/>
          </p:cNvPicPr>
          <p:nvPr/>
        </p:nvPicPr>
        <p:blipFill>
          <a:blip r:embed="rId4"/>
          <a:stretch>
            <a:fillRect/>
          </a:stretch>
        </p:blipFill>
        <p:spPr>
          <a:xfrm>
            <a:off x="11213287" y="1389888"/>
            <a:ext cx="310896" cy="310896"/>
          </a:xfrm>
          <a:prstGeom prst="rect">
            <a:avLst/>
          </a:prstGeom>
        </p:spPr>
      </p:pic>
      <p:sp>
        <p:nvSpPr>
          <p:cNvPr id="11" name="Text 5"/>
          <p:cNvSpPr/>
          <p:nvPr/>
        </p:nvSpPr>
        <p:spPr>
          <a:xfrm>
            <a:off x="5212080" y="1207008"/>
            <a:ext cx="5882335" cy="1170432"/>
          </a:xfrm>
          <a:prstGeom prst="rect">
            <a:avLst/>
          </a:prstGeom>
          <a:noFill/>
          <a:ln/>
        </p:spPr>
        <p:txBody>
          <a:bodyPr wrap="square" lIns="0" tIns="0" rIns="0" bIns="0" rtlCol="0" anchor="ctr"/>
          <a:lstStyle/>
          <a:p>
            <a:pPr rtl="1" algn="r" indent="0" marL="0">
              <a:lnSpc>
                <a:spcPct val="125000"/>
              </a:lnSpc>
              <a:buNone/>
            </a:pPr>
            <a:r>
              <a:rPr lang="ar-SA" altLang="en-US" sz="1250" b="1" dirty="0">
                <a:solidFill>
                  <a:srgbClr val="0B4A56"/>
                </a:solidFill>
                <a:latin typeface="Tajawal" pitchFamily="34" charset="0"/>
                <a:ea typeface="Tajawal" pitchFamily="34" charset="-122"/>
                <a:cs typeface="Tajawal" pitchFamily="34" charset="-120"/>
              </a:rPr>
              <a:t>التخطيط هو الجسر الذي يصل ما بين الواقع المدرسي وبين الطموح، ومن خلاله تتحوّل الرؤى إلى إنجازات تُقاس وتُراجَع وتُحسَّن باستمرار.</a:t>
            </a:r>
            <a:endParaRPr lang="ar-SA" sz="1250" dirty="0"/>
          </a:p>
        </p:txBody>
      </p:sp>
      <p:sp>
        <p:nvSpPr>
          <p:cNvPr id="12" name="Text 6"/>
          <p:cNvSpPr/>
          <p:nvPr/>
        </p:nvSpPr>
        <p:spPr>
          <a:xfrm>
            <a:off x="4892040" y="2606040"/>
            <a:ext cx="6888175" cy="3566160"/>
          </a:xfrm>
          <a:prstGeom prst="rect">
            <a:avLst/>
          </a:prstGeom>
          <a:noFill/>
          <a:ln/>
        </p:spPr>
        <p:txBody>
          <a:bodyPr wrap="square" lIns="0" tIns="0" rIns="0" bIns="0" rtlCol="0" anchor="t"/>
          <a:lstStyle/>
          <a:p>
            <a:pPr algn="r" indent="0" marL="0">
              <a:lnSpc>
                <a:spcPct val="132000"/>
              </a:lnSpc>
              <a:spcAft>
                <a:spcPts val="1200"/>
              </a:spcAft>
              <a:buNone/>
            </a:pPr>
            <a:r>
              <a:rPr lang="ar-SA" altLang="en-US" sz="1200" dirty="0">
                <a:solidFill>
                  <a:srgbClr val="33473F"/>
                </a:solidFill>
                <a:latin typeface="Tajawal" pitchFamily="34" charset="0"/>
                <a:ea typeface="Tajawal" pitchFamily="34" charset="-122"/>
                <a:cs typeface="Tajawal" pitchFamily="34" charset="-120"/>
              </a:rPr>
              <a:t>انطلاقًا من رؤية وزارة التعليم الرامية إلى تعزيز جودة العملية التعليمية والارتقاء بمستوى نواتج التعلّم، تأتي هذه الخطة التشغيلية للعام الدراسي ١٤٤٨هـ لتشكّل إطارًا منهجيًا مُوجِّهًا لعمل مدرسة ........ وبرامجها خلال هذا العام.</a:t>
            </a:r>
            <a:endParaRPr lang="ar-SA" sz="1200" dirty="0"/>
          </a:p>
          <a:p>
            <a:pPr algn="r" indent="0" marL="0">
              <a:lnSpc>
                <a:spcPct val="132000"/>
              </a:lnSpc>
              <a:spcAft>
                <a:spcPts val="1200"/>
              </a:spcAft>
              <a:buNone/>
            </a:pPr>
            <a:r>
              <a:rPr lang="ar-SA" altLang="en-US" sz="1200" dirty="0">
                <a:solidFill>
                  <a:srgbClr val="33473F"/>
                </a:solidFill>
                <a:latin typeface="Tajawal" pitchFamily="34" charset="0"/>
                <a:ea typeface="Tajawal" pitchFamily="34" charset="-122"/>
                <a:cs typeface="Tajawal" pitchFamily="34" charset="-120"/>
              </a:rPr>
              <a:t>وقد حرص فريق الإعداد على أن تكون الخطة ترجمةً واقعية للأهداف الاستراتيجية إلى مبادرات تنفيذية ومؤشرات أداء قابلة للقياس، مع جداول زمنية واضحة وأدوار محدّدة لكل عضو من أعضاء المجتمع المدرسي.</a:t>
            </a:r>
            <a:endParaRPr lang="ar-SA" sz="1200" dirty="0"/>
          </a:p>
          <a:p>
            <a:pPr algn="r" indent="0" marL="0">
              <a:lnSpc>
                <a:spcPct val="132000"/>
              </a:lnSpc>
              <a:spcAft>
                <a:spcPts val="1200"/>
              </a:spcAft>
              <a:buNone/>
            </a:pPr>
            <a:r>
              <a:rPr lang="ar-SA" altLang="en-US" sz="1200" dirty="0">
                <a:solidFill>
                  <a:srgbClr val="33473F"/>
                </a:solidFill>
                <a:latin typeface="Tajawal" pitchFamily="34" charset="0"/>
                <a:ea typeface="Tajawal" pitchFamily="34" charset="-122"/>
                <a:cs typeface="Tajawal" pitchFamily="34" charset="-120"/>
              </a:rPr>
              <a:t>وتستند الخطة في بنائها إلى قراءة دقيقة لواقع المدرسة، ونتائج التقويم الذاتي السابق، واحتياجات الطلاب والمعلمين والبيئة التعليمية، إيمانًا بأنّ التخطيط هو الطريق إلى جودة التعليم والتميّز المؤسسي.</a:t>
            </a:r>
            <a:endParaRPr lang="ar-SA" sz="1200" dirty="0"/>
          </a:p>
        </p:txBody>
      </p:sp>
      <p:sp>
        <p:nvSpPr>
          <p:cNvPr id="13" name="Shape 7"/>
          <p:cNvSpPr/>
          <p:nvPr/>
        </p:nvSpPr>
        <p:spPr>
          <a:xfrm>
            <a:off x="411480" y="1207008"/>
            <a:ext cx="4069080" cy="1481328"/>
          </a:xfrm>
          <a:prstGeom prst="roundRect">
            <a:avLst>
              <a:gd name="adj" fmla="val 4630"/>
            </a:avLst>
          </a:prstGeom>
          <a:solidFill>
            <a:srgbClr val="FFFFFF"/>
          </a:solidFill>
          <a:ln w="9525">
            <a:solidFill>
              <a:srgbClr val="DCE8E2"/>
            </a:solidFill>
            <a:prstDash val="solid"/>
          </a:ln>
          <a:effectLst>
            <a:outerShdw sx="100000" sy="100000" kx="0" ky="0" algn="bl" rotWithShape="0" blurRad="63500" dist="12700" dir="5400000">
              <a:srgbClr val="0E3B30">
                <a:alpha val="7000"/>
              </a:srgbClr>
            </a:outerShdw>
          </a:effectLst>
        </p:spPr>
      </p:sp>
      <p:sp>
        <p:nvSpPr>
          <p:cNvPr id="14" name="Text 8"/>
          <p:cNvSpPr/>
          <p:nvPr/>
        </p:nvSpPr>
        <p:spPr>
          <a:xfrm>
            <a:off x="3703320" y="1353312"/>
            <a:ext cx="548640" cy="457200"/>
          </a:xfrm>
          <a:prstGeom prst="rect">
            <a:avLst/>
          </a:prstGeom>
          <a:noFill/>
          <a:ln/>
        </p:spPr>
        <p:txBody>
          <a:bodyPr wrap="square" lIns="0" tIns="0" rIns="0" bIns="0" rtlCol="0" anchor="t"/>
          <a:lstStyle/>
          <a:p>
            <a:pPr rtl="1" algn="ctr" indent="0" marL="0">
              <a:buNone/>
            </a:pPr>
            <a:r>
              <a:rPr lang="ar-SA" altLang="en-US" sz="2000" dirty="0">
                <a:solidFill>
                  <a:srgbClr val="0089A1"/>
                </a:solidFill>
                <a:latin typeface="Tajawal ExtraBold" pitchFamily="34" charset="0"/>
                <a:ea typeface="Tajawal ExtraBold" pitchFamily="34" charset="-122"/>
                <a:cs typeface="Tajawal ExtraBold" pitchFamily="34" charset="-120"/>
              </a:rPr>
              <a:t>٠١</a:t>
            </a:r>
            <a:endParaRPr lang="ar-SA" sz="2000" dirty="0"/>
          </a:p>
        </p:txBody>
      </p:sp>
      <p:sp>
        <p:nvSpPr>
          <p:cNvPr id="15" name="Text 9"/>
          <p:cNvSpPr/>
          <p:nvPr/>
        </p:nvSpPr>
        <p:spPr>
          <a:xfrm>
            <a:off x="685800" y="1371600"/>
            <a:ext cx="2971800" cy="384048"/>
          </a:xfrm>
          <a:prstGeom prst="rect">
            <a:avLst/>
          </a:prstGeom>
          <a:noFill/>
          <a:ln/>
        </p:spPr>
        <p:txBody>
          <a:bodyPr wrap="square" lIns="0" tIns="0" rIns="0" bIns="0" rtlCol="0" anchor="ctr"/>
          <a:lstStyle/>
          <a:p>
            <a:pPr rtl="1" algn="r" indent="0" marL="0">
              <a:buNone/>
            </a:pPr>
            <a:r>
              <a:rPr lang="ar-SA" altLang="en-US" sz="1500" b="1" dirty="0">
                <a:solidFill>
                  <a:srgbClr val="0F2A21"/>
                </a:solidFill>
                <a:latin typeface="Tajawal" pitchFamily="34" charset="0"/>
                <a:ea typeface="Tajawal" pitchFamily="34" charset="-122"/>
                <a:cs typeface="Tajawal" pitchFamily="34" charset="-120"/>
              </a:rPr>
              <a:t>إطار منهجي</a:t>
            </a:r>
            <a:endParaRPr lang="ar-SA" sz="1500" dirty="0"/>
          </a:p>
        </p:txBody>
      </p:sp>
      <p:sp>
        <p:nvSpPr>
          <p:cNvPr id="16" name="Text 10"/>
          <p:cNvSpPr/>
          <p:nvPr/>
        </p:nvSpPr>
        <p:spPr>
          <a:xfrm>
            <a:off x="685800" y="1828800"/>
            <a:ext cx="3502152" cy="731520"/>
          </a:xfrm>
          <a:prstGeom prst="rect">
            <a:avLst/>
          </a:prstGeom>
          <a:noFill/>
          <a:ln/>
        </p:spPr>
        <p:txBody>
          <a:bodyPr wrap="square" lIns="0" tIns="0" rIns="0" bIns="0" rtlCol="0" anchor="t"/>
          <a:lstStyle/>
          <a:p>
            <a:pPr rtl="1" algn="r" indent="0" marL="0">
              <a:lnSpc>
                <a:spcPct val="120000"/>
              </a:lnSpc>
              <a:buNone/>
            </a:pPr>
            <a:r>
              <a:rPr lang="ar-SA" altLang="en-US" sz="1100" dirty="0">
                <a:solidFill>
                  <a:srgbClr val="33473F"/>
                </a:solidFill>
                <a:latin typeface="Tajawal" pitchFamily="34" charset="0"/>
                <a:ea typeface="Tajawal" pitchFamily="34" charset="-122"/>
                <a:cs typeface="Tajawal" pitchFamily="34" charset="-120"/>
              </a:rPr>
              <a:t>يوجّه عمل المدرسة وبرامجها وفق رؤية واضحة للأداء.</a:t>
            </a:r>
            <a:endParaRPr lang="ar-SA" sz="1100" dirty="0"/>
          </a:p>
        </p:txBody>
      </p:sp>
      <p:sp>
        <p:nvSpPr>
          <p:cNvPr id="17" name="Shape 11"/>
          <p:cNvSpPr/>
          <p:nvPr/>
        </p:nvSpPr>
        <p:spPr>
          <a:xfrm>
            <a:off x="411480" y="2898648"/>
            <a:ext cx="4069080" cy="1481328"/>
          </a:xfrm>
          <a:prstGeom prst="roundRect">
            <a:avLst>
              <a:gd name="adj" fmla="val 4630"/>
            </a:avLst>
          </a:prstGeom>
          <a:solidFill>
            <a:srgbClr val="FFFFFF"/>
          </a:solidFill>
          <a:ln w="9525">
            <a:solidFill>
              <a:srgbClr val="DCE8E2"/>
            </a:solidFill>
            <a:prstDash val="solid"/>
          </a:ln>
          <a:effectLst>
            <a:outerShdw sx="100000" sy="100000" kx="0" ky="0" algn="bl" rotWithShape="0" blurRad="63500" dist="12700" dir="5400000">
              <a:srgbClr val="0E3B30">
                <a:alpha val="7000"/>
              </a:srgbClr>
            </a:outerShdw>
          </a:effectLst>
        </p:spPr>
      </p:sp>
      <p:sp>
        <p:nvSpPr>
          <p:cNvPr id="18" name="Text 12"/>
          <p:cNvSpPr/>
          <p:nvPr/>
        </p:nvSpPr>
        <p:spPr>
          <a:xfrm>
            <a:off x="3703320" y="3044952"/>
            <a:ext cx="548640" cy="457200"/>
          </a:xfrm>
          <a:prstGeom prst="rect">
            <a:avLst/>
          </a:prstGeom>
          <a:noFill/>
          <a:ln/>
        </p:spPr>
        <p:txBody>
          <a:bodyPr wrap="square" lIns="0" tIns="0" rIns="0" bIns="0" rtlCol="0" anchor="t"/>
          <a:lstStyle/>
          <a:p>
            <a:pPr rtl="1" algn="ctr" indent="0" marL="0">
              <a:buNone/>
            </a:pPr>
            <a:r>
              <a:rPr lang="ar-SA" altLang="en-US" sz="2000" dirty="0">
                <a:solidFill>
                  <a:srgbClr val="0089A1"/>
                </a:solidFill>
                <a:latin typeface="Tajawal ExtraBold" pitchFamily="34" charset="0"/>
                <a:ea typeface="Tajawal ExtraBold" pitchFamily="34" charset="-122"/>
                <a:cs typeface="Tajawal ExtraBold" pitchFamily="34" charset="-120"/>
              </a:rPr>
              <a:t>٠٢</a:t>
            </a:r>
            <a:endParaRPr lang="ar-SA" sz="2000" dirty="0"/>
          </a:p>
        </p:txBody>
      </p:sp>
      <p:sp>
        <p:nvSpPr>
          <p:cNvPr id="19" name="Text 13"/>
          <p:cNvSpPr/>
          <p:nvPr/>
        </p:nvSpPr>
        <p:spPr>
          <a:xfrm>
            <a:off x="685800" y="3063240"/>
            <a:ext cx="2971800" cy="384048"/>
          </a:xfrm>
          <a:prstGeom prst="rect">
            <a:avLst/>
          </a:prstGeom>
          <a:noFill/>
          <a:ln/>
        </p:spPr>
        <p:txBody>
          <a:bodyPr wrap="square" lIns="0" tIns="0" rIns="0" bIns="0" rtlCol="0" anchor="ctr"/>
          <a:lstStyle/>
          <a:p>
            <a:pPr rtl="1" algn="r" indent="0" marL="0">
              <a:buNone/>
            </a:pPr>
            <a:r>
              <a:rPr lang="ar-SA" altLang="en-US" sz="1500" b="1" dirty="0">
                <a:solidFill>
                  <a:srgbClr val="0F2A21"/>
                </a:solidFill>
                <a:latin typeface="Tajawal" pitchFamily="34" charset="0"/>
                <a:ea typeface="Tajawal" pitchFamily="34" charset="-122"/>
                <a:cs typeface="Tajawal" pitchFamily="34" charset="-120"/>
              </a:rPr>
              <a:t>مؤشرات قابلة للقياس</a:t>
            </a:r>
            <a:endParaRPr lang="ar-SA" sz="1500" dirty="0"/>
          </a:p>
        </p:txBody>
      </p:sp>
      <p:sp>
        <p:nvSpPr>
          <p:cNvPr id="20" name="Text 14"/>
          <p:cNvSpPr/>
          <p:nvPr/>
        </p:nvSpPr>
        <p:spPr>
          <a:xfrm>
            <a:off x="685800" y="3520440"/>
            <a:ext cx="3502152" cy="731520"/>
          </a:xfrm>
          <a:prstGeom prst="rect">
            <a:avLst/>
          </a:prstGeom>
          <a:noFill/>
          <a:ln/>
        </p:spPr>
        <p:txBody>
          <a:bodyPr wrap="square" lIns="0" tIns="0" rIns="0" bIns="0" rtlCol="0" anchor="t"/>
          <a:lstStyle/>
          <a:p>
            <a:pPr rtl="1" algn="r" indent="0" marL="0">
              <a:lnSpc>
                <a:spcPct val="120000"/>
              </a:lnSpc>
              <a:buNone/>
            </a:pPr>
            <a:r>
              <a:rPr lang="ar-SA" altLang="en-US" sz="1100" dirty="0">
                <a:solidFill>
                  <a:srgbClr val="33473F"/>
                </a:solidFill>
                <a:latin typeface="Tajawal" pitchFamily="34" charset="0"/>
                <a:ea typeface="Tajawal" pitchFamily="34" charset="-122"/>
                <a:cs typeface="Tajawal" pitchFamily="34" charset="-120"/>
              </a:rPr>
              <a:t>لكل مبادرة هدف ومقياس وزمن واضح للتنفيذ.</a:t>
            </a:r>
            <a:endParaRPr lang="ar-SA" sz="1100" dirty="0"/>
          </a:p>
        </p:txBody>
      </p:sp>
      <p:sp>
        <p:nvSpPr>
          <p:cNvPr id="21" name="Shape 15"/>
          <p:cNvSpPr/>
          <p:nvPr/>
        </p:nvSpPr>
        <p:spPr>
          <a:xfrm>
            <a:off x="411480" y="4590288"/>
            <a:ext cx="4069080" cy="1481328"/>
          </a:xfrm>
          <a:prstGeom prst="roundRect">
            <a:avLst>
              <a:gd name="adj" fmla="val 4630"/>
            </a:avLst>
          </a:prstGeom>
          <a:solidFill>
            <a:srgbClr val="095242"/>
          </a:solidFill>
          <a:ln/>
          <a:effectLst>
            <a:outerShdw sx="100000" sy="100000" kx="0" ky="0" algn="bl" rotWithShape="0" blurRad="101600" dist="25400" dir="5400000">
              <a:srgbClr val="083528">
                <a:alpha val="28000"/>
              </a:srgbClr>
            </a:outerShdw>
          </a:effectLst>
        </p:spPr>
      </p:sp>
      <p:sp>
        <p:nvSpPr>
          <p:cNvPr id="22" name="Text 16"/>
          <p:cNvSpPr/>
          <p:nvPr/>
        </p:nvSpPr>
        <p:spPr>
          <a:xfrm>
            <a:off x="3703320" y="4736592"/>
            <a:ext cx="548640" cy="457200"/>
          </a:xfrm>
          <a:prstGeom prst="rect">
            <a:avLst/>
          </a:prstGeom>
          <a:noFill/>
          <a:ln/>
        </p:spPr>
        <p:txBody>
          <a:bodyPr wrap="square" lIns="0" tIns="0" rIns="0" bIns="0" rtlCol="0" anchor="t"/>
          <a:lstStyle/>
          <a:p>
            <a:pPr rtl="1" algn="ctr" indent="0" marL="0">
              <a:buNone/>
            </a:pPr>
            <a:r>
              <a:rPr lang="ar-SA" altLang="en-US" sz="2000" dirty="0">
                <a:solidFill>
                  <a:srgbClr val="C9A45C"/>
                </a:solidFill>
                <a:latin typeface="Tajawal ExtraBold" pitchFamily="34" charset="0"/>
                <a:ea typeface="Tajawal ExtraBold" pitchFamily="34" charset="-122"/>
                <a:cs typeface="Tajawal ExtraBold" pitchFamily="34" charset="-120"/>
              </a:rPr>
              <a:t>٠٣</a:t>
            </a:r>
            <a:endParaRPr lang="ar-SA" sz="2000" dirty="0"/>
          </a:p>
        </p:txBody>
      </p:sp>
      <p:sp>
        <p:nvSpPr>
          <p:cNvPr id="23" name="Text 17"/>
          <p:cNvSpPr/>
          <p:nvPr/>
        </p:nvSpPr>
        <p:spPr>
          <a:xfrm>
            <a:off x="685800" y="4754880"/>
            <a:ext cx="2971800" cy="384048"/>
          </a:xfrm>
          <a:prstGeom prst="rect">
            <a:avLst/>
          </a:prstGeom>
          <a:noFill/>
          <a:ln/>
        </p:spPr>
        <p:txBody>
          <a:bodyPr wrap="square" lIns="0" tIns="0" rIns="0" bIns="0" rtlCol="0" anchor="ctr"/>
          <a:lstStyle/>
          <a:p>
            <a:pPr rtl="1" algn="r" indent="0" marL="0">
              <a:buNone/>
            </a:pPr>
            <a:r>
              <a:rPr lang="ar-SA" altLang="en-US" sz="1500" b="1" dirty="0">
                <a:solidFill>
                  <a:srgbClr val="FFFFFF"/>
                </a:solidFill>
                <a:latin typeface="Tajawal" pitchFamily="34" charset="0"/>
                <a:ea typeface="Tajawal" pitchFamily="34" charset="-122"/>
                <a:cs typeface="Tajawal" pitchFamily="34" charset="-120"/>
              </a:rPr>
              <a:t>شراكة فاعلة</a:t>
            </a:r>
            <a:endParaRPr lang="ar-SA" sz="1500" dirty="0"/>
          </a:p>
        </p:txBody>
      </p:sp>
      <p:sp>
        <p:nvSpPr>
          <p:cNvPr id="24" name="Text 18"/>
          <p:cNvSpPr/>
          <p:nvPr/>
        </p:nvSpPr>
        <p:spPr>
          <a:xfrm>
            <a:off x="685800" y="5212080"/>
            <a:ext cx="3502152" cy="731520"/>
          </a:xfrm>
          <a:prstGeom prst="rect">
            <a:avLst/>
          </a:prstGeom>
          <a:noFill/>
          <a:ln/>
        </p:spPr>
        <p:txBody>
          <a:bodyPr wrap="square" lIns="0" tIns="0" rIns="0" bIns="0" rtlCol="0" anchor="t"/>
          <a:lstStyle/>
          <a:p>
            <a:pPr rtl="1" algn="r" indent="0" marL="0">
              <a:lnSpc>
                <a:spcPct val="120000"/>
              </a:lnSpc>
              <a:buNone/>
            </a:pPr>
            <a:r>
              <a:rPr lang="ar-SA" altLang="en-US" sz="1100" dirty="0">
                <a:solidFill>
                  <a:srgbClr val="D3E5DE"/>
                </a:solidFill>
                <a:latin typeface="Tajawal" pitchFamily="34" charset="0"/>
                <a:ea typeface="Tajawal" pitchFamily="34" charset="-122"/>
                <a:cs typeface="Tajawal" pitchFamily="34" charset="-120"/>
              </a:rPr>
              <a:t>تتكامل فيها الأسرة والمجتمع مع المنظومة المدرسية.</a:t>
            </a:r>
            <a:endParaRPr lang="ar-SA"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tmp/claude-0/-home-user-Mobile1/ab9bbf47-b054-5f6e-be59-70476e095ce8/scratchpad/assets/bg_content.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11480" y="219456"/>
            <a:ext cx="786384" cy="608076"/>
          </a:xfrm>
          <a:prstGeom prst="rect">
            <a:avLst/>
          </a:prstGeom>
        </p:spPr>
      </p:pic>
      <p:sp>
        <p:nvSpPr>
          <p:cNvPr id="4" name="Shape 0"/>
          <p:cNvSpPr/>
          <p:nvPr/>
        </p:nvSpPr>
        <p:spPr>
          <a:xfrm>
            <a:off x="11268151" y="274320"/>
            <a:ext cx="512064" cy="512064"/>
          </a:xfrm>
          <a:prstGeom prst="roundRect">
            <a:avLst>
              <a:gd name="adj" fmla="val 21429"/>
            </a:avLst>
          </a:prstGeom>
          <a:solidFill>
            <a:srgbClr val="095242"/>
          </a:solidFill>
          <a:ln/>
        </p:spPr>
      </p:sp>
      <p:pic>
        <p:nvPicPr>
          <p:cNvPr id="5" name="Image 2" descr="/tmp/claude-0/-home-user-Mobile1/ab9bbf47-b054-5f6e-be59-70476e095ce8/scratchpad/assets/icons/users_white.png">    </p:cNvPr>
          <p:cNvPicPr>
            <a:picLocks noChangeAspect="1"/>
          </p:cNvPicPr>
          <p:nvPr/>
        </p:nvPicPr>
        <p:blipFill>
          <a:blip r:embed="rId3"/>
          <a:stretch>
            <a:fillRect/>
          </a:stretch>
        </p:blipFill>
        <p:spPr>
          <a:xfrm>
            <a:off x="11387023" y="393192"/>
            <a:ext cx="274320" cy="274320"/>
          </a:xfrm>
          <a:prstGeom prst="rect">
            <a:avLst/>
          </a:prstGeom>
        </p:spPr>
      </p:pic>
      <p:sp>
        <p:nvSpPr>
          <p:cNvPr id="6" name="Text 1"/>
          <p:cNvSpPr/>
          <p:nvPr/>
        </p:nvSpPr>
        <p:spPr>
          <a:xfrm>
            <a:off x="2926080" y="274320"/>
            <a:ext cx="8177479" cy="512064"/>
          </a:xfrm>
          <a:prstGeom prst="rect">
            <a:avLst/>
          </a:prstGeom>
          <a:noFill/>
          <a:ln/>
        </p:spPr>
        <p:txBody>
          <a:bodyPr wrap="square" lIns="0" tIns="0" rIns="0" bIns="0" rtlCol="0" anchor="ctr"/>
          <a:lstStyle/>
          <a:p>
            <a:pPr rtl="1" algn="r" indent="0" marL="0">
              <a:buNone/>
            </a:pPr>
            <a:r>
              <a:rPr lang="ar-SA" altLang="en-US" sz="2000" b="1" dirty="0">
                <a:solidFill>
                  <a:srgbClr val="0F2A21"/>
                </a:solidFill>
                <a:latin typeface="Tajawal" pitchFamily="34" charset="0"/>
                <a:ea typeface="Tajawal" pitchFamily="34" charset="-122"/>
                <a:cs typeface="Tajawal" pitchFamily="34" charset="-120"/>
              </a:rPr>
              <a:t>فريق إعداد الخطة</a:t>
            </a:r>
            <a:endParaRPr lang="ar-SA" sz="2000" dirty="0"/>
          </a:p>
        </p:txBody>
      </p:sp>
      <p:sp>
        <p:nvSpPr>
          <p:cNvPr id="7" name="Text 2"/>
          <p:cNvSpPr/>
          <p:nvPr/>
        </p:nvSpPr>
        <p:spPr>
          <a:xfrm>
            <a:off x="7665415" y="6519672"/>
            <a:ext cx="4114800" cy="274320"/>
          </a:xfrm>
          <a:prstGeom prst="rect">
            <a:avLst/>
          </a:prstGeom>
          <a:noFill/>
          <a:ln/>
        </p:spPr>
        <p:txBody>
          <a:bodyPr wrap="square" lIns="0" tIns="0" rIns="0" bIns="0" rtlCol="0" anchor="t"/>
          <a:lstStyle/>
          <a:p>
            <a:pPr rtl="1" algn="r" indent="0" marL="0">
              <a:buNone/>
            </a:pPr>
            <a:r>
              <a:rPr lang="ar-SA" altLang="en-US" sz="800" dirty="0">
                <a:solidFill>
                  <a:srgbClr val="7C8F87"/>
                </a:solidFill>
                <a:latin typeface="Tajawal" pitchFamily="34" charset="0"/>
                <a:ea typeface="Tajawal" pitchFamily="34" charset="-122"/>
                <a:cs typeface="Tajawal" pitchFamily="34" charset="-120"/>
              </a:rPr>
              <a:t>الخطة التشغيلية للعام الدراسي ١٤٤٨هـ</a:t>
            </a:r>
            <a:endParaRPr lang="ar-SA" sz="800" dirty="0"/>
          </a:p>
        </p:txBody>
      </p:sp>
      <p:sp>
        <p:nvSpPr>
          <p:cNvPr id="8" name="Text 3"/>
          <p:cNvSpPr/>
          <p:nvPr/>
        </p:nvSpPr>
        <p:spPr>
          <a:xfrm>
            <a:off x="411480" y="6519672"/>
            <a:ext cx="914400" cy="274320"/>
          </a:xfrm>
          <a:prstGeom prst="rect">
            <a:avLst/>
          </a:prstGeom>
          <a:noFill/>
          <a:ln/>
        </p:spPr>
        <p:txBody>
          <a:bodyPr wrap="square" lIns="0" tIns="0" rIns="0" bIns="0" rtlCol="0" anchor="t"/>
          <a:lstStyle/>
          <a:p>
            <a:pPr rtl="1" algn="l" indent="0" marL="0">
              <a:buNone/>
            </a:pPr>
            <a:r>
              <a:rPr lang="ar-SA" altLang="en-US" sz="850" b="1" dirty="0">
                <a:solidFill>
                  <a:srgbClr val="7C8F87"/>
                </a:solidFill>
                <a:latin typeface="Tajawal" pitchFamily="34" charset="0"/>
                <a:ea typeface="Tajawal" pitchFamily="34" charset="-122"/>
                <a:cs typeface="Tajawal" pitchFamily="34" charset="-120"/>
              </a:rPr>
              <a:t>٠٤</a:t>
            </a:r>
            <a:endParaRPr lang="ar-SA" sz="850" dirty="0"/>
          </a:p>
        </p:txBody>
      </p:sp>
      <p:sp>
        <p:nvSpPr>
          <p:cNvPr id="9" name="Shape 4"/>
          <p:cNvSpPr/>
          <p:nvPr/>
        </p:nvSpPr>
        <p:spPr>
          <a:xfrm>
            <a:off x="1417320" y="338328"/>
            <a:ext cx="2377440" cy="384048"/>
          </a:xfrm>
          <a:prstGeom prst="roundRect">
            <a:avLst>
              <a:gd name="adj" fmla="val 50000"/>
            </a:avLst>
          </a:prstGeom>
          <a:solidFill>
            <a:srgbClr val="F1F7F4"/>
          </a:solidFill>
          <a:ln w="9525">
            <a:solidFill>
              <a:srgbClr val="DCE8E2"/>
            </a:solidFill>
            <a:prstDash val="solid"/>
          </a:ln>
        </p:spPr>
      </p:sp>
      <p:sp>
        <p:nvSpPr>
          <p:cNvPr id="10" name="Text 5"/>
          <p:cNvSpPr/>
          <p:nvPr/>
        </p:nvSpPr>
        <p:spPr>
          <a:xfrm>
            <a:off x="1417320" y="329184"/>
            <a:ext cx="2377440" cy="384048"/>
          </a:xfrm>
          <a:prstGeom prst="rect">
            <a:avLst/>
          </a:prstGeom>
          <a:noFill/>
          <a:ln/>
        </p:spPr>
        <p:txBody>
          <a:bodyPr wrap="square" lIns="0" tIns="0" rIns="0" bIns="0" rtlCol="0" anchor="ctr"/>
          <a:lstStyle/>
          <a:p>
            <a:pPr rtl="1" algn="ctr" indent="0" marL="0">
              <a:buNone/>
            </a:pPr>
            <a:r>
              <a:rPr lang="ar-SA" altLang="en-US" sz="950" b="1" dirty="0">
                <a:solidFill>
                  <a:srgbClr val="095242"/>
                </a:solidFill>
                <a:latin typeface="Tajawal" pitchFamily="34" charset="0"/>
                <a:ea typeface="Tajawal" pitchFamily="34" charset="-122"/>
                <a:cs typeface="Tajawal" pitchFamily="34" charset="-120"/>
              </a:rPr>
              <a:t>محضر اجتماع تشكيل الفريق</a:t>
            </a:r>
            <a:endParaRPr lang="ar-SA" sz="950" dirty="0"/>
          </a:p>
        </p:txBody>
      </p:sp>
      <p:sp>
        <p:nvSpPr>
          <p:cNvPr id="11" name="Text 6"/>
          <p:cNvSpPr/>
          <p:nvPr/>
        </p:nvSpPr>
        <p:spPr>
          <a:xfrm>
            <a:off x="3337560" y="987552"/>
            <a:ext cx="8442655" cy="566928"/>
          </a:xfrm>
          <a:prstGeom prst="rect">
            <a:avLst/>
          </a:prstGeom>
          <a:noFill/>
          <a:ln/>
        </p:spPr>
        <p:txBody>
          <a:bodyPr wrap="square" lIns="0" tIns="0" rIns="0" bIns="0" rtlCol="0" anchor="t"/>
          <a:lstStyle/>
          <a:p>
            <a:pPr rtl="1" algn="r" indent="0" marL="0">
              <a:lnSpc>
                <a:spcPct val="120000"/>
              </a:lnSpc>
              <a:buNone/>
            </a:pPr>
            <a:r>
              <a:rPr lang="ar-SA" altLang="en-US" sz="1050" dirty="0">
                <a:solidFill>
                  <a:srgbClr val="33473F"/>
                </a:solidFill>
                <a:latin typeface="Tajawal" pitchFamily="34" charset="0"/>
                <a:ea typeface="Tajawal" pitchFamily="34" charset="-122"/>
                <a:cs typeface="Tajawal" pitchFamily="34" charset="-120"/>
              </a:rPr>
              <a:t>شُكِّل فريق إعداد الخطة التشغيلية بقرار من إدارة المدرسة، ضامنًا تمثيلًا متوازنًا للمعلمين والمرشد الطلابي والمشرفين، ليضطلع بمسؤولية بناء الخطة ومتابعة تنفيذها وتقويم أثرها على نواتج التعلّم.</a:t>
            </a:r>
            <a:endParaRPr lang="ar-SA" sz="10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337560" y="1627632"/>
          <a:ext cx="8442655" cy="914400"/>
        </p:xfrm>
        <a:graphic>
          <a:graphicData uri="http://schemas.openxmlformats.org/drawingml/2006/table">
            <a:tbl>
              <a:tblPr/>
              <a:tblGrid>
                <a:gridCol w="6184087"/>
                <a:gridCol w="1874520"/>
                <a:gridCol w="384048"/>
              </a:tblGrid>
              <a:tr h="310896">
                <a:tc>
                  <a:txBody>
                    <a:bodyP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المهام والمسؤوليات</a:t>
                      </a:r>
                      <a:endParaRPr lang="ar-SA" sz="95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الدور</a:t>
                      </a:r>
                      <a:endParaRPr lang="ar-SA" sz="95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م</a:t>
                      </a:r>
                      <a:endParaRPr lang="ar-SA" sz="95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r>
              <a:tr h="512064">
                <a:tc>
                  <a:txBody>
                    <a:bodyPr/>
                    <a:lstStyle/>
                    <a:p>
                      <a:pPr rtl="1" algn="r" indent="0" marL="0">
                        <a:buNone/>
                      </a:pPr>
                      <a:r>
                        <a:rPr lang="ar-SA" altLang="en-US" sz="880" dirty="0">
                          <a:solidFill>
                            <a:srgbClr val="33473F"/>
                          </a:solidFill>
                          <a:latin typeface="Tajawal" pitchFamily="34" charset="0"/>
                          <a:ea typeface="Tajawal" pitchFamily="34" charset="-122"/>
                          <a:cs typeface="Tajawal" pitchFamily="34" charset="-120"/>
                        </a:rPr>
                        <a:t>الإشراف العام على إعداد الخطة التشغيلية، اعتماد المسارات والأهداف، متابعة التنفيذ، وإقرار التقارير النهائية.</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63E33"/>
                          </a:solidFill>
                          <a:latin typeface="Tajawal" pitchFamily="34" charset="0"/>
                          <a:ea typeface="Tajawal" pitchFamily="34" charset="-122"/>
                          <a:cs typeface="Tajawal" pitchFamily="34" charset="-120"/>
                        </a:rPr>
                        <a:t>رئيس فريق الإعداد</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900" dirty="0">
                          <a:solidFill>
                            <a:srgbClr val="33473F"/>
                          </a:solidFill>
                          <a:latin typeface="Tajawal" pitchFamily="34" charset="0"/>
                          <a:ea typeface="Tajawal" pitchFamily="34" charset="-122"/>
                          <a:cs typeface="Tajawal" pitchFamily="34" charset="-120"/>
                        </a:rPr>
                        <a:t>١</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512064">
                <a:tc>
                  <a:txBody>
                    <a:bodyPr/>
                    <a:lstStyle/>
                    <a:p>
                      <a:pPr rtl="1" algn="r" indent="0" marL="0">
                        <a:buNone/>
                      </a:pPr>
                      <a:r>
                        <a:rPr lang="ar-SA" altLang="en-US" sz="880" dirty="0">
                          <a:solidFill>
                            <a:srgbClr val="33473F"/>
                          </a:solidFill>
                          <a:latin typeface="Tajawal" pitchFamily="34" charset="0"/>
                          <a:ea typeface="Tajawal" pitchFamily="34" charset="-122"/>
                          <a:cs typeface="Tajawal" pitchFamily="34" charset="-120"/>
                        </a:rPr>
                        <a:t>متابعة مؤشرات الأداء، جمع وتحليل البيانات، إعداد التقارير الدورية، وقياس مستوى الإنجاز.</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900" b="1" dirty="0">
                          <a:solidFill>
                            <a:srgbClr val="063E33"/>
                          </a:solidFill>
                          <a:latin typeface="Tajawal" pitchFamily="34" charset="0"/>
                          <a:ea typeface="Tajawal" pitchFamily="34" charset="-122"/>
                          <a:cs typeface="Tajawal" pitchFamily="34" charset="-120"/>
                        </a:rPr>
                        <a:t>منسّق الجودة</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900" dirty="0">
                          <a:solidFill>
                            <a:srgbClr val="33473F"/>
                          </a:solidFill>
                          <a:latin typeface="Tajawal" pitchFamily="34" charset="0"/>
                          <a:ea typeface="Tajawal" pitchFamily="34" charset="-122"/>
                          <a:cs typeface="Tajawal" pitchFamily="34" charset="-120"/>
                        </a:rPr>
                        <a:t>٢</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566928">
                <a:tc>
                  <a:txBody>
                    <a:bodyPr/>
                    <a:lstStyle/>
                    <a:p>
                      <a:pPr rtl="1" algn="r" indent="0" marL="0">
                        <a:buNone/>
                      </a:pPr>
                      <a:r>
                        <a:rPr lang="ar-SA" altLang="en-US" sz="880" dirty="0">
                          <a:solidFill>
                            <a:srgbClr val="33473F"/>
                          </a:solidFill>
                          <a:latin typeface="Tajawal" pitchFamily="34" charset="0"/>
                          <a:ea typeface="Tajawal" pitchFamily="34" charset="-122"/>
                          <a:cs typeface="Tajawal" pitchFamily="34" charset="-120"/>
                        </a:rPr>
                        <a:t>تنفيذ برامج التوجيه والإرشاد، تعزيز السلوك الإيجابي، متابعة الحالات الطلابية، والمشاركة في معالجة التحديات السلوكية.</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63E33"/>
                          </a:solidFill>
                          <a:latin typeface="Tajawal" pitchFamily="34" charset="0"/>
                          <a:ea typeface="Tajawal" pitchFamily="34" charset="-122"/>
                          <a:cs typeface="Tajawal" pitchFamily="34" charset="-120"/>
                        </a:rPr>
                        <a:t>المرشد الطلابي</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900" dirty="0">
                          <a:solidFill>
                            <a:srgbClr val="33473F"/>
                          </a:solidFill>
                          <a:latin typeface="Tajawal" pitchFamily="34" charset="0"/>
                          <a:ea typeface="Tajawal" pitchFamily="34" charset="-122"/>
                          <a:cs typeface="Tajawal" pitchFamily="34" charset="-120"/>
                        </a:rPr>
                        <a:t>٣</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512064">
                <a:tc>
                  <a:txBody>
                    <a:bodyPr/>
                    <a:lstStyle/>
                    <a:p>
                      <a:pPr rtl="1" algn="r" indent="0" marL="0">
                        <a:buNone/>
                      </a:pPr>
                      <a:r>
                        <a:rPr lang="ar-SA" altLang="en-US" sz="880" dirty="0">
                          <a:solidFill>
                            <a:srgbClr val="33473F"/>
                          </a:solidFill>
                          <a:latin typeface="Tajawal" pitchFamily="34" charset="0"/>
                          <a:ea typeface="Tajawal" pitchFamily="34" charset="-122"/>
                          <a:cs typeface="Tajawal" pitchFamily="34" charset="-120"/>
                        </a:rPr>
                        <a:t>التخطيط للبرامج والأنشطة الطلابية، تنفيذ المبادرات الإثرائية، وتحفيز مشاركة الطلاب في المسابقات والفعاليات.</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900" b="1" dirty="0">
                          <a:solidFill>
                            <a:srgbClr val="063E33"/>
                          </a:solidFill>
                          <a:latin typeface="Tajawal" pitchFamily="34" charset="0"/>
                          <a:ea typeface="Tajawal" pitchFamily="34" charset="-122"/>
                          <a:cs typeface="Tajawal" pitchFamily="34" charset="-120"/>
                        </a:rPr>
                        <a:t>رائد النشاط</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900" dirty="0">
                          <a:solidFill>
                            <a:srgbClr val="33473F"/>
                          </a:solidFill>
                          <a:latin typeface="Tajawal" pitchFamily="34" charset="0"/>
                          <a:ea typeface="Tajawal" pitchFamily="34" charset="-122"/>
                          <a:cs typeface="Tajawal" pitchFamily="34" charset="-120"/>
                        </a:rPr>
                        <a:t>٤</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566928">
                <a:tc>
                  <a:txBody>
                    <a:bodyPr/>
                    <a:lstStyle/>
                    <a:p>
                      <a:pPr rtl="1" algn="r" indent="0" marL="0">
                        <a:buNone/>
                      </a:pPr>
                      <a:r>
                        <a:rPr lang="ar-SA" altLang="en-US" sz="880" dirty="0">
                          <a:solidFill>
                            <a:srgbClr val="33473F"/>
                          </a:solidFill>
                          <a:latin typeface="Tajawal" pitchFamily="34" charset="0"/>
                          <a:ea typeface="Tajawal" pitchFamily="34" charset="-122"/>
                          <a:cs typeface="Tajawal" pitchFamily="34" charset="-120"/>
                        </a:rPr>
                        <a:t>دعم تحسين نواتج التعلّم، متابعة التحصيل الدراسي، تنفيذ البرامج العلاجية والإثرائية، ونقل الخبرات التعليمية.</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63E33"/>
                          </a:solidFill>
                          <a:latin typeface="Tajawal" pitchFamily="34" charset="0"/>
                          <a:ea typeface="Tajawal" pitchFamily="34" charset="-122"/>
                          <a:cs typeface="Tajawal" pitchFamily="34" charset="-120"/>
                        </a:rPr>
                        <a:t>معلم متميّز (قائد تطوير المهارات الأكاديمية)</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900" dirty="0">
                          <a:solidFill>
                            <a:srgbClr val="33473F"/>
                          </a:solidFill>
                          <a:latin typeface="Tajawal" pitchFamily="34" charset="0"/>
                          <a:ea typeface="Tajawal" pitchFamily="34" charset="-122"/>
                          <a:cs typeface="Tajawal" pitchFamily="34" charset="-120"/>
                        </a:rPr>
                        <a:t>٥</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566928">
                <a:tc>
                  <a:txBody>
                    <a:bodyPr/>
                    <a:lstStyle/>
                    <a:p>
                      <a:pPr rtl="1" algn="r" indent="0" marL="0">
                        <a:buNone/>
                      </a:pPr>
                      <a:r>
                        <a:rPr lang="ar-SA" altLang="en-US" sz="880" dirty="0">
                          <a:solidFill>
                            <a:srgbClr val="33473F"/>
                          </a:solidFill>
                          <a:latin typeface="Tajawal" pitchFamily="34" charset="0"/>
                          <a:ea typeface="Tajawal" pitchFamily="34" charset="-122"/>
                          <a:cs typeface="Tajawal" pitchFamily="34" charset="-120"/>
                        </a:rPr>
                        <a:t>دعم توظيف التقنيات التعليمية، متابعة منصات التعليم الإلكتروني، تدريب المعلمين، وتعزيز التحوّل الرقمي بالمدرسة.</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900" b="1" dirty="0">
                          <a:solidFill>
                            <a:srgbClr val="063E33"/>
                          </a:solidFill>
                          <a:latin typeface="Tajawal" pitchFamily="34" charset="0"/>
                          <a:ea typeface="Tajawal" pitchFamily="34" charset="-122"/>
                          <a:cs typeface="Tajawal" pitchFamily="34" charset="-120"/>
                        </a:rPr>
                        <a:t>معلم متميّز (قائد التحوّل الرقمي والتعليم الإلكتروني)</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900" dirty="0">
                          <a:solidFill>
                            <a:srgbClr val="33473F"/>
                          </a:solidFill>
                          <a:latin typeface="Tajawal" pitchFamily="34" charset="0"/>
                          <a:ea typeface="Tajawal" pitchFamily="34" charset="-122"/>
                          <a:cs typeface="Tajawal" pitchFamily="34" charset="-120"/>
                        </a:rPr>
                        <a:t>٦</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566928">
                <a:tc>
                  <a:txBody>
                    <a:bodyPr/>
                    <a:lstStyle/>
                    <a:p>
                      <a:pPr rtl="1" algn="r" indent="0" marL="0">
                        <a:buNone/>
                      </a:pPr>
                      <a:r>
                        <a:rPr lang="ar-SA" altLang="en-US" sz="880" dirty="0">
                          <a:solidFill>
                            <a:srgbClr val="33473F"/>
                          </a:solidFill>
                          <a:latin typeface="Tajawal" pitchFamily="34" charset="0"/>
                          <a:ea typeface="Tajawal" pitchFamily="34" charset="-122"/>
                          <a:cs typeface="Tajawal" pitchFamily="34" charset="-120"/>
                        </a:rPr>
                        <a:t>تعزيز الشراكة بين المدرسة والأسرة، نقل المقترحات والملاحظات، دعم البرامج المدرسية، والمشاركة في المبادرات المجتمعية.</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63E33"/>
                          </a:solidFill>
                          <a:latin typeface="Tajawal" pitchFamily="34" charset="0"/>
                          <a:ea typeface="Tajawal" pitchFamily="34" charset="-122"/>
                          <a:cs typeface="Tajawal" pitchFamily="34" charset="-120"/>
                        </a:rPr>
                        <a:t>ممثل أولياء الأمور</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900" dirty="0">
                          <a:solidFill>
                            <a:srgbClr val="33473F"/>
                          </a:solidFill>
                          <a:latin typeface="Tajawal" pitchFamily="34" charset="0"/>
                          <a:ea typeface="Tajawal" pitchFamily="34" charset="-122"/>
                          <a:cs typeface="Tajawal" pitchFamily="34" charset="-120"/>
                        </a:rPr>
                        <a:t>٧</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566928">
                <a:tc>
                  <a:txBody>
                    <a:bodyPr/>
                    <a:lstStyle/>
                    <a:p>
                      <a:pPr rtl="1" algn="r" indent="0" marL="0">
                        <a:buNone/>
                      </a:pPr>
                      <a:r>
                        <a:rPr lang="ar-SA" altLang="en-US" sz="880" dirty="0">
                          <a:solidFill>
                            <a:srgbClr val="33473F"/>
                          </a:solidFill>
                          <a:latin typeface="Tajawal" pitchFamily="34" charset="0"/>
                          <a:ea typeface="Tajawal" pitchFamily="34" charset="-122"/>
                          <a:cs typeface="Tajawal" pitchFamily="34" charset="-120"/>
                        </a:rPr>
                        <a:t>متابعة تطبيق اشتراطات الأمن والسلامة، تنفيذ خطط الإخلاء والتدريب، رصد المخاطر، وتعزيز البيئة المدرسية الآمنة.</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900" b="1" dirty="0">
                          <a:solidFill>
                            <a:srgbClr val="063E33"/>
                          </a:solidFill>
                          <a:latin typeface="Tajawal" pitchFamily="34" charset="0"/>
                          <a:ea typeface="Tajawal" pitchFamily="34" charset="-122"/>
                          <a:cs typeface="Tajawal" pitchFamily="34" charset="-120"/>
                        </a:rPr>
                        <a:t>منسّق الأمن والسلامة</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900" dirty="0">
                          <a:solidFill>
                            <a:srgbClr val="33473F"/>
                          </a:solidFill>
                          <a:latin typeface="Tajawal" pitchFamily="34" charset="0"/>
                          <a:ea typeface="Tajawal" pitchFamily="34" charset="-122"/>
                          <a:cs typeface="Tajawal" pitchFamily="34" charset="-120"/>
                        </a:rPr>
                        <a:t>٨</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bl>
          </a:graphicData>
        </a:graphic>
      </p:graphicFrame>
      <p:sp>
        <p:nvSpPr>
          <p:cNvPr id="13" name="Shape 7"/>
          <p:cNvSpPr/>
          <p:nvPr/>
        </p:nvSpPr>
        <p:spPr>
          <a:xfrm>
            <a:off x="3058668" y="1033272"/>
            <a:ext cx="50292" cy="201168"/>
          </a:xfrm>
          <a:prstGeom prst="rect">
            <a:avLst/>
          </a:prstGeom>
          <a:solidFill>
            <a:srgbClr val="0089A1"/>
          </a:solidFill>
          <a:ln/>
        </p:spPr>
      </p:sp>
      <p:sp>
        <p:nvSpPr>
          <p:cNvPr id="14" name="Text 8"/>
          <p:cNvSpPr/>
          <p:nvPr/>
        </p:nvSpPr>
        <p:spPr>
          <a:xfrm>
            <a:off x="411480" y="987552"/>
            <a:ext cx="2569464" cy="292608"/>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مهام الفريق الرئيسية</a:t>
            </a:r>
            <a:endParaRPr lang="ar-SA" sz="1250" dirty="0"/>
          </a:p>
        </p:txBody>
      </p:sp>
      <p:sp>
        <p:nvSpPr>
          <p:cNvPr id="15" name="Shape 9"/>
          <p:cNvSpPr/>
          <p:nvPr/>
        </p:nvSpPr>
        <p:spPr>
          <a:xfrm>
            <a:off x="411480" y="1417320"/>
            <a:ext cx="2697480" cy="1097280"/>
          </a:xfrm>
          <a:prstGeom prst="roundRect">
            <a:avLst>
              <a:gd name="adj" fmla="val 6250"/>
            </a:avLst>
          </a:prstGeom>
          <a:solidFill>
            <a:srgbClr val="FFFFFF"/>
          </a:solidFill>
          <a:ln w="9525">
            <a:solidFill>
              <a:srgbClr val="DCE8E2"/>
            </a:solidFill>
            <a:prstDash val="solid"/>
          </a:ln>
          <a:effectLst>
            <a:outerShdw sx="100000" sy="100000" kx="0" ky="0" algn="bl" rotWithShape="0" blurRad="50800" dist="12700" dir="5400000">
              <a:srgbClr val="0E3B30">
                <a:alpha val="6000"/>
              </a:srgbClr>
            </a:outerShdw>
          </a:effectLst>
        </p:spPr>
      </p:sp>
      <p:pic>
        <p:nvPicPr>
          <p:cNvPr id="16" name="Image 3" descr="/tmp/claude-0/-home-user-Mobile1/ab9bbf47-b054-5f6e-be59-70476e095ce8/scratchpad/assets/icons/chart_green.png">    </p:cNvPr>
          <p:cNvPicPr>
            <a:picLocks noChangeAspect="1"/>
          </p:cNvPicPr>
          <p:nvPr/>
        </p:nvPicPr>
        <p:blipFill>
          <a:blip r:embed="rId4"/>
          <a:stretch>
            <a:fillRect/>
          </a:stretch>
        </p:blipFill>
        <p:spPr>
          <a:xfrm>
            <a:off x="2633472" y="1563624"/>
            <a:ext cx="274320" cy="274320"/>
          </a:xfrm>
          <a:prstGeom prst="rect">
            <a:avLst/>
          </a:prstGeom>
        </p:spPr>
      </p:pic>
      <p:sp>
        <p:nvSpPr>
          <p:cNvPr id="17" name="Text 10"/>
          <p:cNvSpPr/>
          <p:nvPr/>
        </p:nvSpPr>
        <p:spPr>
          <a:xfrm>
            <a:off x="594360" y="1527048"/>
            <a:ext cx="1984248" cy="329184"/>
          </a:xfrm>
          <a:prstGeom prst="rect">
            <a:avLst/>
          </a:prstGeom>
          <a:noFill/>
          <a:ln/>
        </p:spPr>
        <p:txBody>
          <a:bodyPr wrap="square" lIns="0" tIns="0" rIns="0" bIns="0" rtlCol="0" anchor="ctr"/>
          <a:lstStyle/>
          <a:p>
            <a:pPr rtl="1" algn="r" indent="0" marL="0">
              <a:buNone/>
            </a:pPr>
            <a:r>
              <a:rPr lang="ar-SA" altLang="en-US" sz="1050" b="1" dirty="0">
                <a:solidFill>
                  <a:srgbClr val="063E33"/>
                </a:solidFill>
                <a:latin typeface="Tajawal" pitchFamily="34" charset="0"/>
                <a:ea typeface="Tajawal" pitchFamily="34" charset="-122"/>
                <a:cs typeface="Tajawal" pitchFamily="34" charset="-120"/>
              </a:rPr>
              <a:t>تحليل واقع المدرسة</a:t>
            </a:r>
            <a:endParaRPr lang="ar-SA" sz="1050" dirty="0"/>
          </a:p>
        </p:txBody>
      </p:sp>
      <p:sp>
        <p:nvSpPr>
          <p:cNvPr id="18" name="Text 11"/>
          <p:cNvSpPr/>
          <p:nvPr/>
        </p:nvSpPr>
        <p:spPr>
          <a:xfrm>
            <a:off x="594360" y="1874520"/>
            <a:ext cx="2313432" cy="585216"/>
          </a:xfrm>
          <a:prstGeom prst="rect">
            <a:avLst/>
          </a:prstGeom>
          <a:noFill/>
          <a:ln/>
        </p:spPr>
        <p:txBody>
          <a:bodyPr wrap="square" lIns="0" tIns="0" rIns="0" bIns="0" rtlCol="0" anchor="t"/>
          <a:lstStyle/>
          <a:p>
            <a:pPr rtl="1" algn="r" indent="0" marL="0">
              <a:lnSpc>
                <a:spcPct val="112000"/>
              </a:lnSpc>
              <a:buNone/>
            </a:pPr>
            <a:r>
              <a:rPr lang="ar-SA" altLang="en-US" sz="860" dirty="0">
                <a:solidFill>
                  <a:srgbClr val="7C8F87"/>
                </a:solidFill>
                <a:latin typeface="Tajawal" pitchFamily="34" charset="0"/>
                <a:ea typeface="Tajawal" pitchFamily="34" charset="-122"/>
                <a:cs typeface="Tajawal" pitchFamily="34" charset="-120"/>
              </a:rPr>
              <a:t>جمع البيانات ودراسة نتائج التقويم الذاتي وتحليل SWOT</a:t>
            </a:r>
            <a:endParaRPr lang="ar-SA" sz="860" dirty="0"/>
          </a:p>
        </p:txBody>
      </p:sp>
      <p:sp>
        <p:nvSpPr>
          <p:cNvPr id="19" name="Shape 12"/>
          <p:cNvSpPr/>
          <p:nvPr/>
        </p:nvSpPr>
        <p:spPr>
          <a:xfrm>
            <a:off x="411480" y="2660904"/>
            <a:ext cx="2697480" cy="1097280"/>
          </a:xfrm>
          <a:prstGeom prst="roundRect">
            <a:avLst>
              <a:gd name="adj" fmla="val 6250"/>
            </a:avLst>
          </a:prstGeom>
          <a:solidFill>
            <a:srgbClr val="FFFFFF"/>
          </a:solidFill>
          <a:ln w="9525">
            <a:solidFill>
              <a:srgbClr val="DCE8E2"/>
            </a:solidFill>
            <a:prstDash val="solid"/>
          </a:ln>
          <a:effectLst>
            <a:outerShdw sx="100000" sy="100000" kx="0" ky="0" algn="bl" rotWithShape="0" blurRad="50800" dist="12700" dir="5400000">
              <a:srgbClr val="0E3B30">
                <a:alpha val="6000"/>
              </a:srgbClr>
            </a:outerShdw>
          </a:effectLst>
        </p:spPr>
      </p:sp>
      <p:pic>
        <p:nvPicPr>
          <p:cNvPr id="20" name="Image 4" descr="/tmp/claude-0/-home-user-Mobile1/ab9bbf47-b054-5f6e-be59-70476e095ce8/scratchpad/assets/icons/target_green.png">    </p:cNvPr>
          <p:cNvPicPr>
            <a:picLocks noChangeAspect="1"/>
          </p:cNvPicPr>
          <p:nvPr/>
        </p:nvPicPr>
        <p:blipFill>
          <a:blip r:embed="rId5"/>
          <a:stretch>
            <a:fillRect/>
          </a:stretch>
        </p:blipFill>
        <p:spPr>
          <a:xfrm>
            <a:off x="2633472" y="2807208"/>
            <a:ext cx="274320" cy="274320"/>
          </a:xfrm>
          <a:prstGeom prst="rect">
            <a:avLst/>
          </a:prstGeom>
        </p:spPr>
      </p:pic>
      <p:sp>
        <p:nvSpPr>
          <p:cNvPr id="21" name="Text 13"/>
          <p:cNvSpPr/>
          <p:nvPr/>
        </p:nvSpPr>
        <p:spPr>
          <a:xfrm>
            <a:off x="594360" y="2770632"/>
            <a:ext cx="1984248" cy="329184"/>
          </a:xfrm>
          <a:prstGeom prst="rect">
            <a:avLst/>
          </a:prstGeom>
          <a:noFill/>
          <a:ln/>
        </p:spPr>
        <p:txBody>
          <a:bodyPr wrap="square" lIns="0" tIns="0" rIns="0" bIns="0" rtlCol="0" anchor="ctr"/>
          <a:lstStyle/>
          <a:p>
            <a:pPr rtl="1" algn="r" indent="0" marL="0">
              <a:buNone/>
            </a:pPr>
            <a:r>
              <a:rPr lang="ar-SA" altLang="en-US" sz="1050" b="1" dirty="0">
                <a:solidFill>
                  <a:srgbClr val="063E33"/>
                </a:solidFill>
                <a:latin typeface="Tajawal" pitchFamily="34" charset="0"/>
                <a:ea typeface="Tajawal" pitchFamily="34" charset="-122"/>
                <a:cs typeface="Tajawal" pitchFamily="34" charset="-120"/>
              </a:rPr>
              <a:t>صياغة الأهداف والمؤشرات</a:t>
            </a:r>
            <a:endParaRPr lang="ar-SA" sz="1050" dirty="0"/>
          </a:p>
        </p:txBody>
      </p:sp>
      <p:sp>
        <p:nvSpPr>
          <p:cNvPr id="22" name="Text 14"/>
          <p:cNvSpPr/>
          <p:nvPr/>
        </p:nvSpPr>
        <p:spPr>
          <a:xfrm>
            <a:off x="594360" y="3118104"/>
            <a:ext cx="2313432" cy="585216"/>
          </a:xfrm>
          <a:prstGeom prst="rect">
            <a:avLst/>
          </a:prstGeom>
          <a:noFill/>
          <a:ln/>
        </p:spPr>
        <p:txBody>
          <a:bodyPr wrap="square" lIns="0" tIns="0" rIns="0" bIns="0" rtlCol="0" anchor="t"/>
          <a:lstStyle/>
          <a:p>
            <a:pPr rtl="1" algn="r" indent="0" marL="0">
              <a:lnSpc>
                <a:spcPct val="112000"/>
              </a:lnSpc>
              <a:buNone/>
            </a:pPr>
            <a:r>
              <a:rPr lang="ar-SA" altLang="en-US" sz="860" dirty="0">
                <a:solidFill>
                  <a:srgbClr val="7C8F87"/>
                </a:solidFill>
                <a:latin typeface="Tajawal" pitchFamily="34" charset="0"/>
                <a:ea typeface="Tajawal" pitchFamily="34" charset="-122"/>
                <a:cs typeface="Tajawal" pitchFamily="34" charset="-120"/>
              </a:rPr>
              <a:t>ربط البرامج بالأهداف الاستراتيجية للوزارة</a:t>
            </a:r>
            <a:endParaRPr lang="ar-SA" sz="860" dirty="0"/>
          </a:p>
        </p:txBody>
      </p:sp>
      <p:sp>
        <p:nvSpPr>
          <p:cNvPr id="23" name="Shape 15"/>
          <p:cNvSpPr/>
          <p:nvPr/>
        </p:nvSpPr>
        <p:spPr>
          <a:xfrm>
            <a:off x="411480" y="3904488"/>
            <a:ext cx="2697480" cy="1097280"/>
          </a:xfrm>
          <a:prstGeom prst="roundRect">
            <a:avLst>
              <a:gd name="adj" fmla="val 6250"/>
            </a:avLst>
          </a:prstGeom>
          <a:solidFill>
            <a:srgbClr val="FFFFFF"/>
          </a:solidFill>
          <a:ln w="9525">
            <a:solidFill>
              <a:srgbClr val="DCE8E2"/>
            </a:solidFill>
            <a:prstDash val="solid"/>
          </a:ln>
          <a:effectLst>
            <a:outerShdw sx="100000" sy="100000" kx="0" ky="0" algn="bl" rotWithShape="0" blurRad="50800" dist="12700" dir="5400000">
              <a:srgbClr val="0E3B30">
                <a:alpha val="6000"/>
              </a:srgbClr>
            </a:outerShdw>
          </a:effectLst>
        </p:spPr>
      </p:sp>
      <p:pic>
        <p:nvPicPr>
          <p:cNvPr id="24" name="Image 5" descr="/tmp/claude-0/-home-user-Mobile1/ab9bbf47-b054-5f6e-be59-70476e095ce8/scratchpad/assets/icons/users_green.png">    </p:cNvPr>
          <p:cNvPicPr>
            <a:picLocks noChangeAspect="1"/>
          </p:cNvPicPr>
          <p:nvPr/>
        </p:nvPicPr>
        <p:blipFill>
          <a:blip r:embed="rId6"/>
          <a:stretch>
            <a:fillRect/>
          </a:stretch>
        </p:blipFill>
        <p:spPr>
          <a:xfrm>
            <a:off x="2633472" y="4050792"/>
            <a:ext cx="274320" cy="274320"/>
          </a:xfrm>
          <a:prstGeom prst="rect">
            <a:avLst/>
          </a:prstGeom>
        </p:spPr>
      </p:pic>
      <p:sp>
        <p:nvSpPr>
          <p:cNvPr id="25" name="Text 16"/>
          <p:cNvSpPr/>
          <p:nvPr/>
        </p:nvSpPr>
        <p:spPr>
          <a:xfrm>
            <a:off x="594360" y="4014216"/>
            <a:ext cx="1984248" cy="329184"/>
          </a:xfrm>
          <a:prstGeom prst="rect">
            <a:avLst/>
          </a:prstGeom>
          <a:noFill/>
          <a:ln/>
        </p:spPr>
        <p:txBody>
          <a:bodyPr wrap="square" lIns="0" tIns="0" rIns="0" bIns="0" rtlCol="0" anchor="ctr"/>
          <a:lstStyle/>
          <a:p>
            <a:pPr rtl="1" algn="r" indent="0" marL="0">
              <a:buNone/>
            </a:pPr>
            <a:r>
              <a:rPr lang="ar-SA" altLang="en-US" sz="1050" b="1" dirty="0">
                <a:solidFill>
                  <a:srgbClr val="063E33"/>
                </a:solidFill>
                <a:latin typeface="Tajawal" pitchFamily="34" charset="0"/>
                <a:ea typeface="Tajawal" pitchFamily="34" charset="-122"/>
                <a:cs typeface="Tajawal" pitchFamily="34" charset="-120"/>
              </a:rPr>
              <a:t>توزيع الأدوار والمسؤوليات</a:t>
            </a:r>
            <a:endParaRPr lang="ar-SA" sz="1050" dirty="0"/>
          </a:p>
        </p:txBody>
      </p:sp>
      <p:sp>
        <p:nvSpPr>
          <p:cNvPr id="26" name="Text 17"/>
          <p:cNvSpPr/>
          <p:nvPr/>
        </p:nvSpPr>
        <p:spPr>
          <a:xfrm>
            <a:off x="594360" y="4361688"/>
            <a:ext cx="2313432" cy="585216"/>
          </a:xfrm>
          <a:prstGeom prst="rect">
            <a:avLst/>
          </a:prstGeom>
          <a:noFill/>
          <a:ln/>
        </p:spPr>
        <p:txBody>
          <a:bodyPr wrap="square" lIns="0" tIns="0" rIns="0" bIns="0" rtlCol="0" anchor="t"/>
          <a:lstStyle/>
          <a:p>
            <a:pPr rtl="1" algn="r" indent="0" marL="0">
              <a:lnSpc>
                <a:spcPct val="112000"/>
              </a:lnSpc>
              <a:buNone/>
            </a:pPr>
            <a:r>
              <a:rPr lang="ar-SA" altLang="en-US" sz="860" dirty="0">
                <a:solidFill>
                  <a:srgbClr val="7C8F87"/>
                </a:solidFill>
                <a:latin typeface="Tajawal" pitchFamily="34" charset="0"/>
                <a:ea typeface="Tajawal" pitchFamily="34" charset="-122"/>
                <a:cs typeface="Tajawal" pitchFamily="34" charset="-120"/>
              </a:rPr>
              <a:t>تحديد مسؤول رئيسي ومساعد لكل برنامج</a:t>
            </a:r>
            <a:endParaRPr lang="ar-SA" sz="860" dirty="0"/>
          </a:p>
        </p:txBody>
      </p:sp>
      <p:sp>
        <p:nvSpPr>
          <p:cNvPr id="27" name="Shape 18"/>
          <p:cNvSpPr/>
          <p:nvPr/>
        </p:nvSpPr>
        <p:spPr>
          <a:xfrm>
            <a:off x="411480" y="5148072"/>
            <a:ext cx="2697480" cy="1097280"/>
          </a:xfrm>
          <a:prstGeom prst="roundRect">
            <a:avLst>
              <a:gd name="adj" fmla="val 6250"/>
            </a:avLst>
          </a:prstGeom>
          <a:solidFill>
            <a:srgbClr val="FFFFFF"/>
          </a:solidFill>
          <a:ln w="9525">
            <a:solidFill>
              <a:srgbClr val="DCE8E2"/>
            </a:solidFill>
            <a:prstDash val="solid"/>
          </a:ln>
          <a:effectLst>
            <a:outerShdw sx="100000" sy="100000" kx="0" ky="0" algn="bl" rotWithShape="0" blurRad="50800" dist="12700" dir="5400000">
              <a:srgbClr val="0E3B30">
                <a:alpha val="6000"/>
              </a:srgbClr>
            </a:outerShdw>
          </a:effectLst>
        </p:spPr>
      </p:sp>
      <p:pic>
        <p:nvPicPr>
          <p:cNvPr id="28" name="Image 6" descr="/tmp/claude-0/-home-user-Mobile1/ab9bbf47-b054-5f6e-be59-70476e095ce8/scratchpad/assets/icons/refresh_green.png">    </p:cNvPr>
          <p:cNvPicPr>
            <a:picLocks noChangeAspect="1"/>
          </p:cNvPicPr>
          <p:nvPr/>
        </p:nvPicPr>
        <p:blipFill>
          <a:blip r:embed="rId7"/>
          <a:stretch>
            <a:fillRect/>
          </a:stretch>
        </p:blipFill>
        <p:spPr>
          <a:xfrm>
            <a:off x="2633472" y="5294376"/>
            <a:ext cx="274320" cy="274320"/>
          </a:xfrm>
          <a:prstGeom prst="rect">
            <a:avLst/>
          </a:prstGeom>
        </p:spPr>
      </p:pic>
      <p:sp>
        <p:nvSpPr>
          <p:cNvPr id="29" name="Text 19"/>
          <p:cNvSpPr/>
          <p:nvPr/>
        </p:nvSpPr>
        <p:spPr>
          <a:xfrm>
            <a:off x="594360" y="5257800"/>
            <a:ext cx="1984248" cy="329184"/>
          </a:xfrm>
          <a:prstGeom prst="rect">
            <a:avLst/>
          </a:prstGeom>
          <a:noFill/>
          <a:ln/>
        </p:spPr>
        <p:txBody>
          <a:bodyPr wrap="square" lIns="0" tIns="0" rIns="0" bIns="0" rtlCol="0" anchor="ctr"/>
          <a:lstStyle/>
          <a:p>
            <a:pPr rtl="1" algn="r" indent="0" marL="0">
              <a:buNone/>
            </a:pPr>
            <a:r>
              <a:rPr lang="ar-SA" altLang="en-US" sz="1050" b="1" dirty="0">
                <a:solidFill>
                  <a:srgbClr val="063E33"/>
                </a:solidFill>
                <a:latin typeface="Tajawal" pitchFamily="34" charset="0"/>
                <a:ea typeface="Tajawal" pitchFamily="34" charset="-122"/>
                <a:cs typeface="Tajawal" pitchFamily="34" charset="-120"/>
              </a:rPr>
              <a:t>المتابعة والتقويم</a:t>
            </a:r>
            <a:endParaRPr lang="ar-SA" sz="1050" dirty="0"/>
          </a:p>
        </p:txBody>
      </p:sp>
      <p:sp>
        <p:nvSpPr>
          <p:cNvPr id="30" name="Text 20"/>
          <p:cNvSpPr/>
          <p:nvPr/>
        </p:nvSpPr>
        <p:spPr>
          <a:xfrm>
            <a:off x="594360" y="5605272"/>
            <a:ext cx="2313432" cy="585216"/>
          </a:xfrm>
          <a:prstGeom prst="rect">
            <a:avLst/>
          </a:prstGeom>
          <a:noFill/>
          <a:ln/>
        </p:spPr>
        <p:txBody>
          <a:bodyPr wrap="square" lIns="0" tIns="0" rIns="0" bIns="0" rtlCol="0" anchor="t"/>
          <a:lstStyle/>
          <a:p>
            <a:pPr rtl="1" algn="r" indent="0" marL="0">
              <a:lnSpc>
                <a:spcPct val="112000"/>
              </a:lnSpc>
              <a:buNone/>
            </a:pPr>
            <a:r>
              <a:rPr lang="ar-SA" altLang="en-US" sz="860" dirty="0">
                <a:solidFill>
                  <a:srgbClr val="7C8F87"/>
                </a:solidFill>
                <a:latin typeface="Tajawal" pitchFamily="34" charset="0"/>
                <a:ea typeface="Tajawal" pitchFamily="34" charset="-122"/>
                <a:cs typeface="Tajawal" pitchFamily="34" charset="-120"/>
              </a:rPr>
              <a:t>رصد التنفيذ وإعداد التقارير الفصلية والسنوية</a:t>
            </a:r>
            <a:endParaRPr lang="ar-SA" sz="86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tmp/claude-0/-home-user-Mobile1/ab9bbf47-b054-5f6e-be59-70476e095ce8/scratchpad/assets/bg_content.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11480" y="219456"/>
            <a:ext cx="786384" cy="608076"/>
          </a:xfrm>
          <a:prstGeom prst="rect">
            <a:avLst/>
          </a:prstGeom>
        </p:spPr>
      </p:pic>
      <p:sp>
        <p:nvSpPr>
          <p:cNvPr id="4" name="Shape 0"/>
          <p:cNvSpPr/>
          <p:nvPr/>
        </p:nvSpPr>
        <p:spPr>
          <a:xfrm>
            <a:off x="11268151" y="274320"/>
            <a:ext cx="512064" cy="512064"/>
          </a:xfrm>
          <a:prstGeom prst="roundRect">
            <a:avLst>
              <a:gd name="adj" fmla="val 21429"/>
            </a:avLst>
          </a:prstGeom>
          <a:solidFill>
            <a:srgbClr val="095242"/>
          </a:solidFill>
          <a:ln/>
        </p:spPr>
      </p:sp>
      <p:pic>
        <p:nvPicPr>
          <p:cNvPr id="5" name="Image 2" descr="/tmp/claude-0/-home-user-Mobile1/ab9bbf47-b054-5f6e-be59-70476e095ce8/scratchpad/assets/icons/penline_white.png">    </p:cNvPr>
          <p:cNvPicPr>
            <a:picLocks noChangeAspect="1"/>
          </p:cNvPicPr>
          <p:nvPr/>
        </p:nvPicPr>
        <p:blipFill>
          <a:blip r:embed="rId3"/>
          <a:stretch>
            <a:fillRect/>
          </a:stretch>
        </p:blipFill>
        <p:spPr>
          <a:xfrm>
            <a:off x="11387023" y="393192"/>
            <a:ext cx="274320" cy="274320"/>
          </a:xfrm>
          <a:prstGeom prst="rect">
            <a:avLst/>
          </a:prstGeom>
        </p:spPr>
      </p:pic>
      <p:sp>
        <p:nvSpPr>
          <p:cNvPr id="6" name="Text 1"/>
          <p:cNvSpPr/>
          <p:nvPr/>
        </p:nvSpPr>
        <p:spPr>
          <a:xfrm>
            <a:off x="2926080" y="274320"/>
            <a:ext cx="8177479" cy="512064"/>
          </a:xfrm>
          <a:prstGeom prst="rect">
            <a:avLst/>
          </a:prstGeom>
          <a:noFill/>
          <a:ln/>
        </p:spPr>
        <p:txBody>
          <a:bodyPr wrap="square" lIns="0" tIns="0" rIns="0" bIns="0" rtlCol="0" anchor="ctr"/>
          <a:lstStyle/>
          <a:p>
            <a:pPr rtl="1" algn="r" indent="0" marL="0">
              <a:buNone/>
            </a:pPr>
            <a:r>
              <a:rPr lang="ar-SA" altLang="en-US" sz="2000" b="1" dirty="0">
                <a:solidFill>
                  <a:srgbClr val="0F2A21"/>
                </a:solidFill>
                <a:latin typeface="Tajawal" pitchFamily="34" charset="0"/>
                <a:ea typeface="Tajawal" pitchFamily="34" charset="-122"/>
                <a:cs typeface="Tajawal" pitchFamily="34" charset="-120"/>
              </a:rPr>
              <a:t>مشاركة الكادر في إعداد الخطة</a:t>
            </a:r>
            <a:endParaRPr lang="ar-SA" sz="2000" dirty="0"/>
          </a:p>
        </p:txBody>
      </p:sp>
      <p:sp>
        <p:nvSpPr>
          <p:cNvPr id="7" name="Text 2"/>
          <p:cNvSpPr/>
          <p:nvPr/>
        </p:nvSpPr>
        <p:spPr>
          <a:xfrm>
            <a:off x="7665415" y="6519672"/>
            <a:ext cx="4114800" cy="274320"/>
          </a:xfrm>
          <a:prstGeom prst="rect">
            <a:avLst/>
          </a:prstGeom>
          <a:noFill/>
          <a:ln/>
        </p:spPr>
        <p:txBody>
          <a:bodyPr wrap="square" lIns="0" tIns="0" rIns="0" bIns="0" rtlCol="0" anchor="t"/>
          <a:lstStyle/>
          <a:p>
            <a:pPr rtl="1" algn="r" indent="0" marL="0">
              <a:buNone/>
            </a:pPr>
            <a:r>
              <a:rPr lang="ar-SA" altLang="en-US" sz="800" dirty="0">
                <a:solidFill>
                  <a:srgbClr val="7C8F87"/>
                </a:solidFill>
                <a:latin typeface="Tajawal" pitchFamily="34" charset="0"/>
                <a:ea typeface="Tajawal" pitchFamily="34" charset="-122"/>
                <a:cs typeface="Tajawal" pitchFamily="34" charset="-120"/>
              </a:rPr>
              <a:t>الخطة التشغيلية للعام الدراسي ١٤٤٨هـ</a:t>
            </a:r>
            <a:endParaRPr lang="ar-SA" sz="800" dirty="0"/>
          </a:p>
        </p:txBody>
      </p:sp>
      <p:sp>
        <p:nvSpPr>
          <p:cNvPr id="8" name="Text 3"/>
          <p:cNvSpPr/>
          <p:nvPr/>
        </p:nvSpPr>
        <p:spPr>
          <a:xfrm>
            <a:off x="411480" y="6519672"/>
            <a:ext cx="914400" cy="274320"/>
          </a:xfrm>
          <a:prstGeom prst="rect">
            <a:avLst/>
          </a:prstGeom>
          <a:noFill/>
          <a:ln/>
        </p:spPr>
        <p:txBody>
          <a:bodyPr wrap="square" lIns="0" tIns="0" rIns="0" bIns="0" rtlCol="0" anchor="t"/>
          <a:lstStyle/>
          <a:p>
            <a:pPr rtl="1" algn="l" indent="0" marL="0">
              <a:buNone/>
            </a:pPr>
            <a:r>
              <a:rPr lang="ar-SA" altLang="en-US" sz="850" b="1" dirty="0">
                <a:solidFill>
                  <a:srgbClr val="7C8F87"/>
                </a:solidFill>
                <a:latin typeface="Tajawal" pitchFamily="34" charset="0"/>
                <a:ea typeface="Tajawal" pitchFamily="34" charset="-122"/>
                <a:cs typeface="Tajawal" pitchFamily="34" charset="-120"/>
              </a:rPr>
              <a:t>٠٥</a:t>
            </a:r>
            <a:endParaRPr lang="ar-SA" sz="850" dirty="0"/>
          </a:p>
        </p:txBody>
      </p:sp>
      <p:sp>
        <p:nvSpPr>
          <p:cNvPr id="9" name="Shape 4"/>
          <p:cNvSpPr/>
          <p:nvPr/>
        </p:nvSpPr>
        <p:spPr>
          <a:xfrm>
            <a:off x="411480" y="1060704"/>
            <a:ext cx="11368735" cy="713232"/>
          </a:xfrm>
          <a:prstGeom prst="roundRect">
            <a:avLst>
              <a:gd name="adj" fmla="val 9615"/>
            </a:avLst>
          </a:prstGeom>
          <a:solidFill>
            <a:srgbClr val="EBF6F8"/>
          </a:solidFill>
          <a:ln w="9525">
            <a:solidFill>
              <a:srgbClr val="CBE4EA"/>
            </a:solidFill>
            <a:prstDash val="solid"/>
          </a:ln>
        </p:spPr>
      </p:sp>
      <p:pic>
        <p:nvPicPr>
          <p:cNvPr id="10" name="Image 3" descr="/tmp/claude-0/-home-user-Mobile1/ab9bbf47-b054-5f6e-be59-70476e095ce8/scratchpad/assets/icons/info_teal.png">    </p:cNvPr>
          <p:cNvPicPr>
            <a:picLocks noChangeAspect="1"/>
          </p:cNvPicPr>
          <p:nvPr/>
        </p:nvPicPr>
        <p:blipFill>
          <a:blip r:embed="rId4"/>
          <a:stretch>
            <a:fillRect/>
          </a:stretch>
        </p:blipFill>
        <p:spPr>
          <a:xfrm>
            <a:off x="11277295" y="1280160"/>
            <a:ext cx="274320" cy="274320"/>
          </a:xfrm>
          <a:prstGeom prst="rect">
            <a:avLst/>
          </a:prstGeom>
        </p:spPr>
      </p:pic>
      <p:sp>
        <p:nvSpPr>
          <p:cNvPr id="11" name="Text 5"/>
          <p:cNvSpPr/>
          <p:nvPr/>
        </p:nvSpPr>
        <p:spPr>
          <a:xfrm>
            <a:off x="640080" y="1060704"/>
            <a:ext cx="10454335" cy="713232"/>
          </a:xfrm>
          <a:prstGeom prst="rect">
            <a:avLst/>
          </a:prstGeom>
          <a:noFill/>
          <a:ln/>
        </p:spPr>
        <p:txBody>
          <a:bodyPr wrap="square" lIns="0" tIns="0" rIns="0" bIns="0" rtlCol="0" anchor="ctr"/>
          <a:lstStyle/>
          <a:p>
            <a:pPr rtl="1" algn="r" indent="0" marL="0">
              <a:lnSpc>
                <a:spcPct val="118000"/>
              </a:lnSpc>
              <a:buNone/>
            </a:pPr>
            <a:r>
              <a:rPr lang="ar-SA" altLang="en-US" sz="980" dirty="0">
                <a:solidFill>
                  <a:srgbClr val="0B4A56"/>
                </a:solidFill>
                <a:latin typeface="Tajawal" pitchFamily="34" charset="0"/>
                <a:ea typeface="Tajawal" pitchFamily="34" charset="-122"/>
                <a:cs typeface="Tajawal" pitchFamily="34" charset="-120"/>
              </a:rPr>
              <a:t>يشترط مشاركة ما لا يقل عن (٩٠٪) من الكادر التعليمي في إعداد الخطة التشغيلية من خلال المساهمة في تحليل الواقع المدرسي، وتحديد الاحتياجات، واقتراح البرامج والمبادرات، وتزويد فريق الخطة بالبيانات والمعلومات اللازمة.</a:t>
            </a:r>
            <a:endParaRPr lang="ar-SA" sz="98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233008" y="1956816"/>
          <a:ext cx="5547208" cy="914400"/>
        </p:xfrm>
        <a:graphic>
          <a:graphicData uri="http://schemas.openxmlformats.org/drawingml/2006/table">
            <a:tbl>
              <a:tblPr/>
              <a:tblGrid>
                <a:gridCol w="777240"/>
                <a:gridCol w="960120"/>
                <a:gridCol w="3480664"/>
                <a:gridCol w="329184"/>
              </a:tblGrid>
              <a:tr h="274320">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التوقيع</a:t>
                      </a:r>
                      <a:endParaRPr lang="ar-SA" sz="8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اسم المعلم</a:t>
                      </a:r>
                      <a:endParaRPr lang="ar-SA" sz="8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المهمة في الخطة التشغيلية</a:t>
                      </a:r>
                      <a:endParaRPr lang="ar-SA" sz="8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م</a:t>
                      </a:r>
                      <a:endParaRPr lang="ar-SA" sz="8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r>
              <a:tr h="402336">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90" dirty="0">
                          <a:solidFill>
                            <a:srgbClr val="33473F"/>
                          </a:solidFill>
                          <a:latin typeface="Tajawal" pitchFamily="34" charset="0"/>
                          <a:ea typeface="Tajawal" pitchFamily="34" charset="-122"/>
                          <a:cs typeface="Tajawal" pitchFamily="34" charset="-120"/>
                        </a:rPr>
                        <a:t>تحليل نتائج الطلاب وتحديد الاحتياجات التعليمية واقتراح البرامج العلاجية والإثرائية.</a:t>
                      </a:r>
                      <a:endParaRPr lang="ar-SA" sz="79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33473F"/>
                          </a:solidFill>
                          <a:latin typeface="Tajawal" pitchFamily="34" charset="0"/>
                          <a:ea typeface="Tajawal" pitchFamily="34" charset="-122"/>
                          <a:cs typeface="Tajawal" pitchFamily="34" charset="-120"/>
                        </a:rPr>
                        <a:t>١</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90" dirty="0">
                          <a:solidFill>
                            <a:srgbClr val="33473F"/>
                          </a:solidFill>
                          <a:latin typeface="Tajawal" pitchFamily="34" charset="0"/>
                          <a:ea typeface="Tajawal" pitchFamily="34" charset="-122"/>
                          <a:cs typeface="Tajawal" pitchFamily="34" charset="-120"/>
                        </a:rPr>
                        <a:t>إعداد برامج تحسين نواتج التعلم ومتابعة مؤشرات الأداء الخاصة بها.</a:t>
                      </a:r>
                      <a:endParaRPr lang="ar-SA" sz="79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00" dirty="0">
                          <a:solidFill>
                            <a:srgbClr val="33473F"/>
                          </a:solidFill>
                          <a:latin typeface="Tajawal" pitchFamily="34" charset="0"/>
                          <a:ea typeface="Tajawal" pitchFamily="34" charset="-122"/>
                          <a:cs typeface="Tajawal" pitchFamily="34" charset="-120"/>
                        </a:rPr>
                        <a:t>٢</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402336">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90" dirty="0">
                          <a:solidFill>
                            <a:srgbClr val="33473F"/>
                          </a:solidFill>
                          <a:latin typeface="Tajawal" pitchFamily="34" charset="0"/>
                          <a:ea typeface="Tajawal" pitchFamily="34" charset="-122"/>
                          <a:cs typeface="Tajawal" pitchFamily="34" charset="-120"/>
                        </a:rPr>
                        <a:t>المساهمة في إعداد برامج تنمية المهارات القرائية والكتابية.</a:t>
                      </a:r>
                      <a:endParaRPr lang="ar-SA" sz="79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33473F"/>
                          </a:solidFill>
                          <a:latin typeface="Tajawal" pitchFamily="34" charset="0"/>
                          <a:ea typeface="Tajawal" pitchFamily="34" charset="-122"/>
                          <a:cs typeface="Tajawal" pitchFamily="34" charset="-120"/>
                        </a:rPr>
                        <a:t>٣</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90" dirty="0">
                          <a:solidFill>
                            <a:srgbClr val="33473F"/>
                          </a:solidFill>
                          <a:latin typeface="Tajawal" pitchFamily="34" charset="0"/>
                          <a:ea typeface="Tajawal" pitchFamily="34" charset="-122"/>
                          <a:cs typeface="Tajawal" pitchFamily="34" charset="-120"/>
                        </a:rPr>
                        <a:t>المساهمة في إعداد برامج تنمية التفكير والابتكار والبحث العلمي.</a:t>
                      </a:r>
                      <a:endParaRPr lang="ar-SA" sz="79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00" dirty="0">
                          <a:solidFill>
                            <a:srgbClr val="33473F"/>
                          </a:solidFill>
                          <a:latin typeface="Tajawal" pitchFamily="34" charset="0"/>
                          <a:ea typeface="Tajawal" pitchFamily="34" charset="-122"/>
                          <a:cs typeface="Tajawal" pitchFamily="34" charset="-120"/>
                        </a:rPr>
                        <a:t>٤</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402336">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90" dirty="0">
                          <a:solidFill>
                            <a:srgbClr val="33473F"/>
                          </a:solidFill>
                          <a:latin typeface="Tajawal" pitchFamily="34" charset="0"/>
                          <a:ea typeface="Tajawal" pitchFamily="34" charset="-122"/>
                          <a:cs typeface="Tajawal" pitchFamily="34" charset="-120"/>
                        </a:rPr>
                        <a:t>إعداد وتنفيذ برامج رعاية الموهوبين والمسابقات العلمية.</a:t>
                      </a:r>
                      <a:endParaRPr lang="ar-SA" sz="79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33473F"/>
                          </a:solidFill>
                          <a:latin typeface="Tajawal" pitchFamily="34" charset="0"/>
                          <a:ea typeface="Tajawal" pitchFamily="34" charset="-122"/>
                          <a:cs typeface="Tajawal" pitchFamily="34" charset="-120"/>
                        </a:rPr>
                        <a:t>٥</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90" dirty="0">
                          <a:solidFill>
                            <a:srgbClr val="33473F"/>
                          </a:solidFill>
                          <a:latin typeface="Tajawal" pitchFamily="34" charset="0"/>
                          <a:ea typeface="Tajawal" pitchFamily="34" charset="-122"/>
                          <a:cs typeface="Tajawal" pitchFamily="34" charset="-120"/>
                        </a:rPr>
                        <a:t>إعداد برامج التحول الرقمي وتوظيف التقنية والذكاء الاصطناعي في التعليم.</a:t>
                      </a:r>
                      <a:endParaRPr lang="ar-SA" sz="79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00" dirty="0">
                          <a:solidFill>
                            <a:srgbClr val="33473F"/>
                          </a:solidFill>
                          <a:latin typeface="Tajawal" pitchFamily="34" charset="0"/>
                          <a:ea typeface="Tajawal" pitchFamily="34" charset="-122"/>
                          <a:cs typeface="Tajawal" pitchFamily="34" charset="-120"/>
                        </a:rPr>
                        <a:t>٦</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402336">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90" dirty="0">
                          <a:solidFill>
                            <a:srgbClr val="33473F"/>
                          </a:solidFill>
                          <a:latin typeface="Tajawal" pitchFamily="34" charset="0"/>
                          <a:ea typeface="Tajawal" pitchFamily="34" charset="-122"/>
                          <a:cs typeface="Tajawal" pitchFamily="34" charset="-120"/>
                        </a:rPr>
                        <a:t>جمع وتحليل بيانات التحصيل الدراسي وتزويد فريق الخطة بالتقارير اللازمة.</a:t>
                      </a:r>
                      <a:endParaRPr lang="ar-SA" sz="79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33473F"/>
                          </a:solidFill>
                          <a:latin typeface="Tajawal" pitchFamily="34" charset="0"/>
                          <a:ea typeface="Tajawal" pitchFamily="34" charset="-122"/>
                          <a:cs typeface="Tajawal" pitchFamily="34" charset="-120"/>
                        </a:rPr>
                        <a:t>٧</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90" dirty="0">
                          <a:solidFill>
                            <a:srgbClr val="33473F"/>
                          </a:solidFill>
                          <a:latin typeface="Tajawal" pitchFamily="34" charset="0"/>
                          <a:ea typeface="Tajawal" pitchFamily="34" charset="-122"/>
                          <a:cs typeface="Tajawal" pitchFamily="34" charset="-120"/>
                        </a:rPr>
                        <a:t>إعداد وتنفيذ برامج القيم والهوية الوطنية والمواطنة الرقمية.</a:t>
                      </a:r>
                      <a:endParaRPr lang="ar-SA" sz="79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00" dirty="0">
                          <a:solidFill>
                            <a:srgbClr val="33473F"/>
                          </a:solidFill>
                          <a:latin typeface="Tajawal" pitchFamily="34" charset="0"/>
                          <a:ea typeface="Tajawal" pitchFamily="34" charset="-122"/>
                          <a:cs typeface="Tajawal" pitchFamily="34" charset="-120"/>
                        </a:rPr>
                        <a:t>٨</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402336">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90" dirty="0">
                          <a:solidFill>
                            <a:srgbClr val="33473F"/>
                          </a:solidFill>
                          <a:latin typeface="Tajawal" pitchFamily="34" charset="0"/>
                          <a:ea typeface="Tajawal" pitchFamily="34" charset="-122"/>
                          <a:cs typeface="Tajawal" pitchFamily="34" charset="-120"/>
                        </a:rPr>
                        <a:t>إعداد وتنفيذ برامج الانضباط المدرسي والسلوك الإيجابي.</a:t>
                      </a:r>
                      <a:endParaRPr lang="ar-SA" sz="79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33473F"/>
                          </a:solidFill>
                          <a:latin typeface="Tajawal" pitchFamily="34" charset="0"/>
                          <a:ea typeface="Tajawal" pitchFamily="34" charset="-122"/>
                          <a:cs typeface="Tajawal" pitchFamily="34" charset="-120"/>
                        </a:rPr>
                        <a:t>٩</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90" dirty="0">
                          <a:solidFill>
                            <a:srgbClr val="33473F"/>
                          </a:solidFill>
                          <a:latin typeface="Tajawal" pitchFamily="34" charset="0"/>
                          <a:ea typeface="Tajawal" pitchFamily="34" charset="-122"/>
                          <a:cs typeface="Tajawal" pitchFamily="34" charset="-120"/>
                        </a:rPr>
                        <a:t>إعداد برامج النشاط الطلابي والمبادرات التطوعية والمجتمعية.</a:t>
                      </a:r>
                      <a:endParaRPr lang="ar-SA" sz="79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00" dirty="0">
                          <a:solidFill>
                            <a:srgbClr val="33473F"/>
                          </a:solidFill>
                          <a:latin typeface="Tajawal" pitchFamily="34" charset="0"/>
                          <a:ea typeface="Tajawal" pitchFamily="34" charset="-122"/>
                          <a:cs typeface="Tajawal" pitchFamily="34" charset="-120"/>
                        </a:rPr>
                        <a:t>١٠</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bl>
          </a:graphicData>
        </a:graphic>
      </p:graphicFrame>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411480" y="1956816"/>
          <a:ext cx="5547208" cy="914400"/>
        </p:xfrm>
        <a:graphic>
          <a:graphicData uri="http://schemas.openxmlformats.org/drawingml/2006/table">
            <a:tbl>
              <a:tblPr/>
              <a:tblGrid>
                <a:gridCol w="777240"/>
                <a:gridCol w="960120"/>
                <a:gridCol w="3480664"/>
                <a:gridCol w="329184"/>
              </a:tblGrid>
              <a:tr h="274320">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التوقيع</a:t>
                      </a:r>
                      <a:endParaRPr lang="ar-SA" sz="8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اسم المعلم</a:t>
                      </a:r>
                      <a:endParaRPr lang="ar-SA" sz="8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المهمة في الخطة التشغيلية</a:t>
                      </a:r>
                      <a:endParaRPr lang="ar-SA" sz="8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م</a:t>
                      </a:r>
                      <a:endParaRPr lang="ar-SA" sz="8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r>
              <a:tr h="402336">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90" dirty="0">
                          <a:solidFill>
                            <a:srgbClr val="33473F"/>
                          </a:solidFill>
                          <a:latin typeface="Tajawal" pitchFamily="34" charset="0"/>
                          <a:ea typeface="Tajawal" pitchFamily="34" charset="-122"/>
                          <a:cs typeface="Tajawal" pitchFamily="34" charset="-120"/>
                        </a:rPr>
                        <a:t>المساهمة في إعداد برامج الأمن والسلامة وخطط الطوارئ والإخلاء.</a:t>
                      </a:r>
                      <a:endParaRPr lang="ar-SA" sz="79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33473F"/>
                          </a:solidFill>
                          <a:latin typeface="Tajawal" pitchFamily="34" charset="0"/>
                          <a:ea typeface="Tajawal" pitchFamily="34" charset="-122"/>
                          <a:cs typeface="Tajawal" pitchFamily="34" charset="-120"/>
                        </a:rPr>
                        <a:t>١١</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90" dirty="0">
                          <a:solidFill>
                            <a:srgbClr val="33473F"/>
                          </a:solidFill>
                          <a:latin typeface="Tajawal" pitchFamily="34" charset="0"/>
                          <a:ea typeface="Tajawal" pitchFamily="34" charset="-122"/>
                          <a:cs typeface="Tajawal" pitchFamily="34" charset="-120"/>
                        </a:rPr>
                        <a:t>المشاركة في تحسين البيئة المدرسية ورصد الاحتياجات والمقترحات التطويرية.</a:t>
                      </a:r>
                      <a:endParaRPr lang="ar-SA" sz="79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00" dirty="0">
                          <a:solidFill>
                            <a:srgbClr val="33473F"/>
                          </a:solidFill>
                          <a:latin typeface="Tajawal" pitchFamily="34" charset="0"/>
                          <a:ea typeface="Tajawal" pitchFamily="34" charset="-122"/>
                          <a:cs typeface="Tajawal" pitchFamily="34" charset="-120"/>
                        </a:rPr>
                        <a:t>١٢</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402336">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90" dirty="0">
                          <a:solidFill>
                            <a:srgbClr val="33473F"/>
                          </a:solidFill>
                          <a:latin typeface="Tajawal" pitchFamily="34" charset="0"/>
                          <a:ea typeface="Tajawal" pitchFamily="34" charset="-122"/>
                          <a:cs typeface="Tajawal" pitchFamily="34" charset="-120"/>
                        </a:rPr>
                        <a:t>إعداد أدوات القياس والتقويم وتحليل النتائج وقياس الأثر.</a:t>
                      </a:r>
                      <a:endParaRPr lang="ar-SA" sz="79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33473F"/>
                          </a:solidFill>
                          <a:latin typeface="Tajawal" pitchFamily="34" charset="0"/>
                          <a:ea typeface="Tajawal" pitchFamily="34" charset="-122"/>
                          <a:cs typeface="Tajawal" pitchFamily="34" charset="-120"/>
                        </a:rPr>
                        <a:t>١٣</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90" dirty="0">
                          <a:solidFill>
                            <a:srgbClr val="33473F"/>
                          </a:solidFill>
                          <a:latin typeface="Tajawal" pitchFamily="34" charset="0"/>
                          <a:ea typeface="Tajawal" pitchFamily="34" charset="-122"/>
                          <a:cs typeface="Tajawal" pitchFamily="34" charset="-120"/>
                        </a:rPr>
                        <a:t>المساهمة في إعداد برامج الشراكة المجتمعية والتواصل مع أولياء الأمور.</a:t>
                      </a:r>
                      <a:endParaRPr lang="ar-SA" sz="79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00" dirty="0">
                          <a:solidFill>
                            <a:srgbClr val="33473F"/>
                          </a:solidFill>
                          <a:latin typeface="Tajawal" pitchFamily="34" charset="0"/>
                          <a:ea typeface="Tajawal" pitchFamily="34" charset="-122"/>
                          <a:cs typeface="Tajawal" pitchFamily="34" charset="-120"/>
                        </a:rPr>
                        <a:t>١٤</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402336">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90" dirty="0">
                          <a:solidFill>
                            <a:srgbClr val="33473F"/>
                          </a:solidFill>
                          <a:latin typeface="Tajawal" pitchFamily="34" charset="0"/>
                          <a:ea typeface="Tajawal" pitchFamily="34" charset="-122"/>
                          <a:cs typeface="Tajawal" pitchFamily="34" charset="-120"/>
                        </a:rPr>
                        <a:t>توثيق البرامج والمبادرات وجمع الشواهد والأدلة الداعمة للخطة التشغيلية.</a:t>
                      </a:r>
                      <a:endParaRPr lang="ar-SA" sz="79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33473F"/>
                          </a:solidFill>
                          <a:latin typeface="Tajawal" pitchFamily="34" charset="0"/>
                          <a:ea typeface="Tajawal" pitchFamily="34" charset="-122"/>
                          <a:cs typeface="Tajawal" pitchFamily="34" charset="-120"/>
                        </a:rPr>
                        <a:t>١٥</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90" dirty="0">
                          <a:solidFill>
                            <a:srgbClr val="33473F"/>
                          </a:solidFill>
                          <a:latin typeface="Tajawal" pitchFamily="34" charset="0"/>
                          <a:ea typeface="Tajawal" pitchFamily="34" charset="-122"/>
                          <a:cs typeface="Tajawal" pitchFamily="34" charset="-120"/>
                        </a:rPr>
                        <a:t>متابعة تنفيذ البرامج المسندة إليه ورفع تقارير الإنجاز الدورية.</a:t>
                      </a:r>
                      <a:endParaRPr lang="ar-SA" sz="79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00" dirty="0">
                          <a:solidFill>
                            <a:srgbClr val="33473F"/>
                          </a:solidFill>
                          <a:latin typeface="Tajawal" pitchFamily="34" charset="0"/>
                          <a:ea typeface="Tajawal" pitchFamily="34" charset="-122"/>
                          <a:cs typeface="Tajawal" pitchFamily="34" charset="-120"/>
                        </a:rPr>
                        <a:t>١٦</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402336">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90" dirty="0">
                          <a:solidFill>
                            <a:srgbClr val="33473F"/>
                          </a:solidFill>
                          <a:latin typeface="Tajawal" pitchFamily="34" charset="0"/>
                          <a:ea typeface="Tajawal" pitchFamily="34" charset="-122"/>
                          <a:cs typeface="Tajawal" pitchFamily="34" charset="-120"/>
                        </a:rPr>
                        <a:t>المساهمة في إعداد برامج التطوير المهني ونقل الخبرات التعليمية.</a:t>
                      </a:r>
                      <a:endParaRPr lang="ar-SA" sz="79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33473F"/>
                          </a:solidFill>
                          <a:latin typeface="Tajawal" pitchFamily="34" charset="0"/>
                          <a:ea typeface="Tajawal" pitchFamily="34" charset="-122"/>
                          <a:cs typeface="Tajawal" pitchFamily="34" charset="-120"/>
                        </a:rPr>
                        <a:t>١٧</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90" dirty="0">
                          <a:solidFill>
                            <a:srgbClr val="33473F"/>
                          </a:solidFill>
                          <a:latin typeface="Tajawal" pitchFamily="34" charset="0"/>
                          <a:ea typeface="Tajawal" pitchFamily="34" charset="-122"/>
                          <a:cs typeface="Tajawal" pitchFamily="34" charset="-120"/>
                        </a:rPr>
                        <a:t>إعداد مبادرات تحسين الخدمات المساندة ورفع رضا المستفيدين.</a:t>
                      </a:r>
                      <a:endParaRPr lang="ar-SA" sz="79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00" dirty="0">
                          <a:solidFill>
                            <a:srgbClr val="33473F"/>
                          </a:solidFill>
                          <a:latin typeface="Tajawal" pitchFamily="34" charset="0"/>
                          <a:ea typeface="Tajawal" pitchFamily="34" charset="-122"/>
                          <a:cs typeface="Tajawal" pitchFamily="34" charset="-120"/>
                        </a:rPr>
                        <a:t>١٨</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402336">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90" dirty="0">
                          <a:solidFill>
                            <a:srgbClr val="33473F"/>
                          </a:solidFill>
                          <a:latin typeface="Tajawal" pitchFamily="34" charset="0"/>
                          <a:ea typeface="Tajawal" pitchFamily="34" charset="-122"/>
                          <a:cs typeface="Tajawal" pitchFamily="34" charset="-120"/>
                        </a:rPr>
                        <a:t>رصد المخاطر المحتملة واقتراح الإجراءات الوقائية والعلاجية.</a:t>
                      </a:r>
                      <a:endParaRPr lang="ar-SA" sz="79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33473F"/>
                          </a:solidFill>
                          <a:latin typeface="Tajawal" pitchFamily="34" charset="0"/>
                          <a:ea typeface="Tajawal" pitchFamily="34" charset="-122"/>
                          <a:cs typeface="Tajawal" pitchFamily="34" charset="-120"/>
                        </a:rPr>
                        <a:t>١٩</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90" dirty="0">
                          <a:solidFill>
                            <a:srgbClr val="33473F"/>
                          </a:solidFill>
                          <a:latin typeface="Tajawal" pitchFamily="34" charset="0"/>
                          <a:ea typeface="Tajawal" pitchFamily="34" charset="-122"/>
                          <a:cs typeface="Tajawal" pitchFamily="34" charset="-120"/>
                        </a:rPr>
                        <a:t>المشاركة في مراجعة الخطة التشغيلية وتحديثها واقتراح فرص التحسين المستمر.</a:t>
                      </a:r>
                      <a:endParaRPr lang="ar-SA" sz="79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00" dirty="0">
                          <a:solidFill>
                            <a:srgbClr val="33473F"/>
                          </a:solidFill>
                          <a:latin typeface="Tajawal" pitchFamily="34" charset="0"/>
                          <a:ea typeface="Tajawal" pitchFamily="34" charset="-122"/>
                          <a:cs typeface="Tajawal" pitchFamily="34" charset="-120"/>
                        </a:rPr>
                        <a:t>٢٠</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tmp/claude-0/-home-user-Mobile1/ab9bbf47-b054-5f6e-be59-70476e095ce8/scratchpad/assets/bg_content.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11480" y="219456"/>
            <a:ext cx="786384" cy="608076"/>
          </a:xfrm>
          <a:prstGeom prst="rect">
            <a:avLst/>
          </a:prstGeom>
        </p:spPr>
      </p:pic>
      <p:sp>
        <p:nvSpPr>
          <p:cNvPr id="4" name="Shape 0"/>
          <p:cNvSpPr/>
          <p:nvPr/>
        </p:nvSpPr>
        <p:spPr>
          <a:xfrm>
            <a:off x="11268151" y="274320"/>
            <a:ext cx="512064" cy="512064"/>
          </a:xfrm>
          <a:prstGeom prst="roundRect">
            <a:avLst>
              <a:gd name="adj" fmla="val 21429"/>
            </a:avLst>
          </a:prstGeom>
          <a:solidFill>
            <a:srgbClr val="095242"/>
          </a:solidFill>
          <a:ln/>
        </p:spPr>
      </p:sp>
      <p:pic>
        <p:nvPicPr>
          <p:cNvPr id="5" name="Image 2" descr="/tmp/claude-0/-home-user-Mobile1/ab9bbf47-b054-5f6e-be59-70476e095ce8/scratchpad/assets/icons/database_white.png">    </p:cNvPr>
          <p:cNvPicPr>
            <a:picLocks noChangeAspect="1"/>
          </p:cNvPicPr>
          <p:nvPr/>
        </p:nvPicPr>
        <p:blipFill>
          <a:blip r:embed="rId3"/>
          <a:stretch>
            <a:fillRect/>
          </a:stretch>
        </p:blipFill>
        <p:spPr>
          <a:xfrm>
            <a:off x="11387023" y="393192"/>
            <a:ext cx="274320" cy="274320"/>
          </a:xfrm>
          <a:prstGeom prst="rect">
            <a:avLst/>
          </a:prstGeom>
        </p:spPr>
      </p:pic>
      <p:sp>
        <p:nvSpPr>
          <p:cNvPr id="6" name="Text 1"/>
          <p:cNvSpPr/>
          <p:nvPr/>
        </p:nvSpPr>
        <p:spPr>
          <a:xfrm>
            <a:off x="2926080" y="274320"/>
            <a:ext cx="8177479" cy="512064"/>
          </a:xfrm>
          <a:prstGeom prst="rect">
            <a:avLst/>
          </a:prstGeom>
          <a:noFill/>
          <a:ln/>
        </p:spPr>
        <p:txBody>
          <a:bodyPr wrap="square" lIns="0" tIns="0" rIns="0" bIns="0" rtlCol="0" anchor="ctr"/>
          <a:lstStyle/>
          <a:p>
            <a:pPr rtl="1" algn="r" indent="0" marL="0">
              <a:buNone/>
            </a:pPr>
            <a:r>
              <a:rPr lang="ar-SA" altLang="en-US" sz="2000" b="1" dirty="0">
                <a:solidFill>
                  <a:srgbClr val="0F2A21"/>
                </a:solidFill>
                <a:latin typeface="Tajawal" pitchFamily="34" charset="0"/>
                <a:ea typeface="Tajawal" pitchFamily="34" charset="-122"/>
                <a:cs typeface="Tajawal" pitchFamily="34" charset="-120"/>
              </a:rPr>
              <a:t>البيانات الإحصائية</a:t>
            </a:r>
            <a:endParaRPr lang="ar-SA" sz="2000" dirty="0"/>
          </a:p>
        </p:txBody>
      </p:sp>
      <p:sp>
        <p:nvSpPr>
          <p:cNvPr id="7" name="Text 2"/>
          <p:cNvSpPr/>
          <p:nvPr/>
        </p:nvSpPr>
        <p:spPr>
          <a:xfrm>
            <a:off x="7665415" y="6519672"/>
            <a:ext cx="4114800" cy="274320"/>
          </a:xfrm>
          <a:prstGeom prst="rect">
            <a:avLst/>
          </a:prstGeom>
          <a:noFill/>
          <a:ln/>
        </p:spPr>
        <p:txBody>
          <a:bodyPr wrap="square" lIns="0" tIns="0" rIns="0" bIns="0" rtlCol="0" anchor="t"/>
          <a:lstStyle/>
          <a:p>
            <a:pPr rtl="1" algn="r" indent="0" marL="0">
              <a:buNone/>
            </a:pPr>
            <a:r>
              <a:rPr lang="ar-SA" altLang="en-US" sz="800" dirty="0">
                <a:solidFill>
                  <a:srgbClr val="7C8F87"/>
                </a:solidFill>
                <a:latin typeface="Tajawal" pitchFamily="34" charset="0"/>
                <a:ea typeface="Tajawal" pitchFamily="34" charset="-122"/>
                <a:cs typeface="Tajawal" pitchFamily="34" charset="-120"/>
              </a:rPr>
              <a:t>الخطة التشغيلية للعام الدراسي ١٤٤٨هـ</a:t>
            </a:r>
            <a:endParaRPr lang="ar-SA" sz="800" dirty="0"/>
          </a:p>
        </p:txBody>
      </p:sp>
      <p:sp>
        <p:nvSpPr>
          <p:cNvPr id="8" name="Text 3"/>
          <p:cNvSpPr/>
          <p:nvPr/>
        </p:nvSpPr>
        <p:spPr>
          <a:xfrm>
            <a:off x="411480" y="6519672"/>
            <a:ext cx="914400" cy="274320"/>
          </a:xfrm>
          <a:prstGeom prst="rect">
            <a:avLst/>
          </a:prstGeom>
          <a:noFill/>
          <a:ln/>
        </p:spPr>
        <p:txBody>
          <a:bodyPr wrap="square" lIns="0" tIns="0" rIns="0" bIns="0" rtlCol="0" anchor="t"/>
          <a:lstStyle/>
          <a:p>
            <a:pPr rtl="1" algn="l" indent="0" marL="0">
              <a:buNone/>
            </a:pPr>
            <a:r>
              <a:rPr lang="ar-SA" altLang="en-US" sz="850" b="1" dirty="0">
                <a:solidFill>
                  <a:srgbClr val="7C8F87"/>
                </a:solidFill>
                <a:latin typeface="Tajawal" pitchFamily="34" charset="0"/>
                <a:ea typeface="Tajawal" pitchFamily="34" charset="-122"/>
                <a:cs typeface="Tajawal" pitchFamily="34" charset="-120"/>
              </a:rPr>
              <a:t>٠٦</a:t>
            </a:r>
            <a:endParaRPr lang="ar-SA" sz="850" dirty="0"/>
          </a:p>
        </p:txBody>
      </p:sp>
      <p:sp>
        <p:nvSpPr>
          <p:cNvPr id="9" name="Shape 4"/>
          <p:cNvSpPr/>
          <p:nvPr/>
        </p:nvSpPr>
        <p:spPr>
          <a:xfrm>
            <a:off x="11729923" y="1051560"/>
            <a:ext cx="50292" cy="201168"/>
          </a:xfrm>
          <a:prstGeom prst="rect">
            <a:avLst/>
          </a:prstGeom>
          <a:solidFill>
            <a:srgbClr val="0089A1"/>
          </a:solidFill>
          <a:ln/>
        </p:spPr>
      </p:sp>
      <p:sp>
        <p:nvSpPr>
          <p:cNvPr id="10" name="Text 5"/>
          <p:cNvSpPr/>
          <p:nvPr/>
        </p:nvSpPr>
        <p:spPr>
          <a:xfrm>
            <a:off x="8854135" y="1005840"/>
            <a:ext cx="2798064" cy="292608"/>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البيانات الأساسية للمدرسة</a:t>
            </a:r>
            <a:endParaRPr lang="ar-SA" sz="12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11480" y="1371600"/>
          <a:ext cx="11368735" cy="914400"/>
        </p:xfrm>
        <a:graphic>
          <a:graphicData uri="http://schemas.openxmlformats.org/drawingml/2006/table">
            <a:tbl>
              <a:tblPr/>
              <a:tblGrid>
                <a:gridCol w="1263193"/>
                <a:gridCol w="1263193"/>
                <a:gridCol w="1263193"/>
                <a:gridCol w="1263193"/>
                <a:gridCol w="1263193"/>
                <a:gridCol w="1263193"/>
                <a:gridCol w="1263193"/>
                <a:gridCol w="1263193"/>
                <a:gridCol w="1263193"/>
              </a:tblGrid>
              <a:tr h="310896">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برنامج الدمج</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الجوال</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رقم الهاتف</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الحالة</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عدد الشُّعَب</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نوع المبنى</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تاريخ التأسيس</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المرحلة</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اسم المدرسة</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r>
              <a:tr h="457200">
                <a:tc>
                  <a:txBody>
                    <a:bodyPr/>
                    <a:lstStyle/>
                    <a:p>
                      <a:pPr rtl="1" algn="ctr" indent="0" marL="0">
                        <a:buNone/>
                      </a:pPr>
                      <a:r>
                        <a:rPr lang="ar-SA" altLang="en-US" sz="900" dirty="0">
                          <a:solidFill>
                            <a:srgbClr val="7C8F87"/>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r>
                        <a:rPr lang="ar-SA" altLang="en-US" sz="900" dirty="0">
                          <a:solidFill>
                            <a:srgbClr val="7C8F87"/>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r>
                        <a:rPr lang="ar-SA" altLang="en-US" sz="900" dirty="0">
                          <a:solidFill>
                            <a:srgbClr val="7C8F87"/>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r>
                        <a:rPr lang="ar-SA" altLang="en-US" sz="900" dirty="0">
                          <a:solidFill>
                            <a:srgbClr val="7C8F87"/>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r>
                        <a:rPr lang="ar-SA" altLang="en-US" sz="900" dirty="0">
                          <a:solidFill>
                            <a:srgbClr val="7C8F87"/>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r>
                        <a:rPr lang="ar-SA" altLang="en-US" sz="900" dirty="0">
                          <a:solidFill>
                            <a:srgbClr val="7C8F87"/>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r>
                        <a:rPr lang="ar-SA" altLang="en-US" sz="900" dirty="0">
                          <a:solidFill>
                            <a:srgbClr val="7C8F87"/>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r>
                        <a:rPr lang="ar-SA" altLang="en-US" sz="900" dirty="0">
                          <a:solidFill>
                            <a:srgbClr val="7C8F87"/>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r>
                        <a:rPr lang="ar-SA" altLang="en-US" sz="900" dirty="0">
                          <a:solidFill>
                            <a:srgbClr val="7C8F87"/>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r>
            </a:tbl>
          </a:graphicData>
        </a:graphic>
      </p:graphicFrame>
      <p:sp>
        <p:nvSpPr>
          <p:cNvPr id="12" name="Shape 6"/>
          <p:cNvSpPr/>
          <p:nvPr/>
        </p:nvSpPr>
        <p:spPr>
          <a:xfrm>
            <a:off x="11729923" y="2441448"/>
            <a:ext cx="50292" cy="201168"/>
          </a:xfrm>
          <a:prstGeom prst="rect">
            <a:avLst/>
          </a:prstGeom>
          <a:solidFill>
            <a:srgbClr val="0089A1"/>
          </a:solidFill>
          <a:ln/>
        </p:spPr>
      </p:sp>
      <p:sp>
        <p:nvSpPr>
          <p:cNvPr id="13" name="Text 7"/>
          <p:cNvSpPr/>
          <p:nvPr/>
        </p:nvSpPr>
        <p:spPr>
          <a:xfrm>
            <a:off x="8854135" y="2395728"/>
            <a:ext cx="2798064" cy="292608"/>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الهيئة الإدارية</a:t>
            </a:r>
            <a:endParaRPr lang="ar-SA" sz="125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411480" y="2761488"/>
          <a:ext cx="11368735" cy="914400"/>
        </p:xfrm>
        <a:graphic>
          <a:graphicData uri="http://schemas.openxmlformats.org/drawingml/2006/table">
            <a:tbl>
              <a:tblPr/>
              <a:tblGrid>
                <a:gridCol w="1996135"/>
                <a:gridCol w="2011680"/>
                <a:gridCol w="1920240"/>
                <a:gridCol w="2011680"/>
                <a:gridCol w="2377440"/>
                <a:gridCol w="1051560"/>
              </a:tblGrid>
              <a:tr h="457200">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تاريخ الحصول على دورة مديري المدارس</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تاريخ المباشرة بالمدرسة</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عدد سنوات الخدمة</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آخر مؤهل وتاريخه</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الاسم (رباعيًا)</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طبيعة العمل</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r>
              <a:tr h="38404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63E33"/>
                          </a:solidFill>
                          <a:latin typeface="Tajawal" pitchFamily="34" charset="0"/>
                          <a:ea typeface="Tajawal" pitchFamily="34" charset="-122"/>
                          <a:cs typeface="Tajawal" pitchFamily="34" charset="-120"/>
                        </a:rPr>
                        <a:t>مدير</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8404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900" b="1" dirty="0">
                          <a:solidFill>
                            <a:srgbClr val="063E33"/>
                          </a:solidFill>
                          <a:latin typeface="Tajawal" pitchFamily="34" charset="0"/>
                          <a:ea typeface="Tajawal" pitchFamily="34" charset="-122"/>
                          <a:cs typeface="Tajawal" pitchFamily="34" charset="-120"/>
                        </a:rPr>
                        <a:t>وكيل</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8404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63E33"/>
                          </a:solidFill>
                          <a:latin typeface="Tajawal" pitchFamily="34" charset="0"/>
                          <a:ea typeface="Tajawal" pitchFamily="34" charset="-122"/>
                          <a:cs typeface="Tajawal" pitchFamily="34" charset="-120"/>
                        </a:rPr>
                        <a:t>وكيل</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bl>
          </a:graphicData>
        </a:graphic>
      </p:graphicFrame>
      <p:sp>
        <p:nvSpPr>
          <p:cNvPr id="15" name="Shape 8"/>
          <p:cNvSpPr/>
          <p:nvPr/>
        </p:nvSpPr>
        <p:spPr>
          <a:xfrm>
            <a:off x="9143771" y="4709160"/>
            <a:ext cx="2636444" cy="1371600"/>
          </a:xfrm>
          <a:prstGeom prst="roundRect">
            <a:avLst>
              <a:gd name="adj" fmla="val 5000"/>
            </a:avLst>
          </a:prstGeom>
          <a:solidFill>
            <a:srgbClr val="095242"/>
          </a:solidFill>
          <a:ln/>
          <a:effectLst>
            <a:outerShdw sx="100000" sy="100000" kx="0" ky="0" algn="bl" rotWithShape="0" blurRad="101600" dist="25400" dir="5400000">
              <a:srgbClr val="083528">
                <a:alpha val="25000"/>
              </a:srgbClr>
            </a:outerShdw>
          </a:effectLst>
        </p:spPr>
      </p:sp>
      <p:sp>
        <p:nvSpPr>
          <p:cNvPr id="16" name="Text 9"/>
          <p:cNvSpPr/>
          <p:nvPr/>
        </p:nvSpPr>
        <p:spPr>
          <a:xfrm>
            <a:off x="9143771" y="4965192"/>
            <a:ext cx="2636444" cy="457200"/>
          </a:xfrm>
          <a:prstGeom prst="rect">
            <a:avLst/>
          </a:prstGeom>
          <a:noFill/>
          <a:ln/>
        </p:spPr>
        <p:txBody>
          <a:bodyPr wrap="square" lIns="0" tIns="0" rIns="0" bIns="0" rtlCol="0" anchor="t"/>
          <a:lstStyle/>
          <a:p>
            <a:pPr rtl="1" algn="ctr" indent="0" marL="0">
              <a:buNone/>
            </a:pPr>
            <a:r>
              <a:rPr lang="ar-SA" altLang="en-US" sz="1600" b="1" dirty="0">
                <a:solidFill>
                  <a:srgbClr val="FFFFFF"/>
                </a:solidFill>
                <a:latin typeface="Tajawal" pitchFamily="34" charset="0"/>
                <a:ea typeface="Tajawal" pitchFamily="34" charset="-122"/>
                <a:cs typeface="Tajawal" pitchFamily="34" charset="-120"/>
              </a:rPr>
              <a:t>…………</a:t>
            </a:r>
            <a:endParaRPr lang="ar-SA" sz="1600" dirty="0"/>
          </a:p>
        </p:txBody>
      </p:sp>
      <p:sp>
        <p:nvSpPr>
          <p:cNvPr id="17" name="Text 10"/>
          <p:cNvSpPr/>
          <p:nvPr/>
        </p:nvSpPr>
        <p:spPr>
          <a:xfrm>
            <a:off x="9143771" y="5513832"/>
            <a:ext cx="2636444" cy="365760"/>
          </a:xfrm>
          <a:prstGeom prst="rect">
            <a:avLst/>
          </a:prstGeom>
          <a:noFill/>
          <a:ln/>
        </p:spPr>
        <p:txBody>
          <a:bodyPr wrap="square" lIns="0" tIns="0" rIns="0" bIns="0" rtlCol="0" anchor="t"/>
          <a:lstStyle/>
          <a:p>
            <a:pPr rtl="1" algn="ctr" indent="0" marL="0">
              <a:buNone/>
            </a:pPr>
            <a:r>
              <a:rPr lang="ar-SA" altLang="en-US" sz="1250" b="1" dirty="0">
                <a:solidFill>
                  <a:srgbClr val="CFE2DB"/>
                </a:solidFill>
                <a:latin typeface="Tajawal" pitchFamily="34" charset="0"/>
                <a:ea typeface="Tajawal" pitchFamily="34" charset="-122"/>
                <a:cs typeface="Tajawal" pitchFamily="34" charset="-120"/>
              </a:rPr>
              <a:t>إجمالي الطلاب</a:t>
            </a:r>
            <a:endParaRPr lang="ar-SA" sz="1250" dirty="0"/>
          </a:p>
        </p:txBody>
      </p:sp>
      <p:sp>
        <p:nvSpPr>
          <p:cNvPr id="18" name="Shape 11"/>
          <p:cNvSpPr/>
          <p:nvPr/>
        </p:nvSpPr>
        <p:spPr>
          <a:xfrm>
            <a:off x="6233008" y="4709160"/>
            <a:ext cx="2636444" cy="1371600"/>
          </a:xfrm>
          <a:prstGeom prst="roundRect">
            <a:avLst>
              <a:gd name="adj" fmla="val 5000"/>
            </a:avLst>
          </a:prstGeom>
          <a:solidFill>
            <a:srgbClr val="FFFFFF"/>
          </a:solidFill>
          <a:ln w="12700">
            <a:solidFill>
              <a:srgbClr val="095242"/>
            </a:solidFill>
            <a:prstDash val="solid"/>
          </a:ln>
          <a:effectLst>
            <a:outerShdw sx="100000" sy="100000" kx="0" ky="0" algn="bl" rotWithShape="0" blurRad="63500" dist="12700" dir="5400000">
              <a:srgbClr val="0E3B30">
                <a:alpha val="6000"/>
              </a:srgbClr>
            </a:outerShdw>
          </a:effectLst>
        </p:spPr>
      </p:sp>
      <p:sp>
        <p:nvSpPr>
          <p:cNvPr id="19" name="Text 12"/>
          <p:cNvSpPr/>
          <p:nvPr/>
        </p:nvSpPr>
        <p:spPr>
          <a:xfrm>
            <a:off x="6233008" y="4965192"/>
            <a:ext cx="2636444" cy="457200"/>
          </a:xfrm>
          <a:prstGeom prst="rect">
            <a:avLst/>
          </a:prstGeom>
          <a:noFill/>
          <a:ln/>
        </p:spPr>
        <p:txBody>
          <a:bodyPr wrap="square" lIns="0" tIns="0" rIns="0" bIns="0" rtlCol="0" anchor="t"/>
          <a:lstStyle/>
          <a:p>
            <a:pPr rtl="1" algn="ctr" indent="0" marL="0">
              <a:buNone/>
            </a:pPr>
            <a:r>
              <a:rPr lang="ar-SA" altLang="en-US" sz="1600" b="1" dirty="0">
                <a:solidFill>
                  <a:srgbClr val="095242"/>
                </a:solidFill>
                <a:latin typeface="Tajawal" pitchFamily="34" charset="0"/>
                <a:ea typeface="Tajawal" pitchFamily="34" charset="-122"/>
                <a:cs typeface="Tajawal" pitchFamily="34" charset="-120"/>
              </a:rPr>
              <a:t>…………</a:t>
            </a:r>
            <a:endParaRPr lang="ar-SA" sz="1600" dirty="0"/>
          </a:p>
        </p:txBody>
      </p:sp>
      <p:sp>
        <p:nvSpPr>
          <p:cNvPr id="20" name="Text 13"/>
          <p:cNvSpPr/>
          <p:nvPr/>
        </p:nvSpPr>
        <p:spPr>
          <a:xfrm>
            <a:off x="6233008" y="5513832"/>
            <a:ext cx="2636444" cy="365760"/>
          </a:xfrm>
          <a:prstGeom prst="rect">
            <a:avLst/>
          </a:prstGeom>
          <a:noFill/>
          <a:ln/>
        </p:spPr>
        <p:txBody>
          <a:bodyPr wrap="square" lIns="0" tIns="0" rIns="0" bIns="0" rtlCol="0" anchor="t"/>
          <a:lstStyle/>
          <a:p>
            <a:pPr rtl="1" algn="ctr" indent="0" marL="0">
              <a:buNone/>
            </a:pPr>
            <a:r>
              <a:rPr lang="ar-SA" altLang="en-US" sz="1250" b="1" dirty="0">
                <a:solidFill>
                  <a:srgbClr val="33473F"/>
                </a:solidFill>
                <a:latin typeface="Tajawal" pitchFamily="34" charset="0"/>
                <a:ea typeface="Tajawal" pitchFamily="34" charset="-122"/>
                <a:cs typeface="Tajawal" pitchFamily="34" charset="-120"/>
              </a:rPr>
              <a:t>عدد الفصول</a:t>
            </a:r>
            <a:endParaRPr lang="ar-SA" sz="1250" dirty="0"/>
          </a:p>
        </p:txBody>
      </p:sp>
      <p:sp>
        <p:nvSpPr>
          <p:cNvPr id="21" name="Shape 14"/>
          <p:cNvSpPr/>
          <p:nvPr/>
        </p:nvSpPr>
        <p:spPr>
          <a:xfrm>
            <a:off x="3322244" y="4709160"/>
            <a:ext cx="2636444" cy="1371600"/>
          </a:xfrm>
          <a:prstGeom prst="roundRect">
            <a:avLst>
              <a:gd name="adj" fmla="val 5000"/>
            </a:avLst>
          </a:prstGeom>
          <a:solidFill>
            <a:srgbClr val="095242"/>
          </a:solidFill>
          <a:ln/>
          <a:effectLst>
            <a:outerShdw sx="100000" sy="100000" kx="0" ky="0" algn="bl" rotWithShape="0" blurRad="101600" dist="25400" dir="5400000">
              <a:srgbClr val="083528">
                <a:alpha val="25000"/>
              </a:srgbClr>
            </a:outerShdw>
          </a:effectLst>
        </p:spPr>
      </p:sp>
      <p:sp>
        <p:nvSpPr>
          <p:cNvPr id="22" name="Text 15"/>
          <p:cNvSpPr/>
          <p:nvPr/>
        </p:nvSpPr>
        <p:spPr>
          <a:xfrm>
            <a:off x="3322244" y="4965192"/>
            <a:ext cx="2636444" cy="457200"/>
          </a:xfrm>
          <a:prstGeom prst="rect">
            <a:avLst/>
          </a:prstGeom>
          <a:noFill/>
          <a:ln/>
        </p:spPr>
        <p:txBody>
          <a:bodyPr wrap="square" lIns="0" tIns="0" rIns="0" bIns="0" rtlCol="0" anchor="t"/>
          <a:lstStyle/>
          <a:p>
            <a:pPr rtl="1" algn="ctr" indent="0" marL="0">
              <a:buNone/>
            </a:pPr>
            <a:r>
              <a:rPr lang="ar-SA" altLang="en-US" sz="1600" b="1" dirty="0">
                <a:solidFill>
                  <a:srgbClr val="FFFFFF"/>
                </a:solidFill>
                <a:latin typeface="Tajawal" pitchFamily="34" charset="0"/>
                <a:ea typeface="Tajawal" pitchFamily="34" charset="-122"/>
                <a:cs typeface="Tajawal" pitchFamily="34" charset="-120"/>
              </a:rPr>
              <a:t>…………</a:t>
            </a:r>
            <a:endParaRPr lang="ar-SA" sz="1600" dirty="0"/>
          </a:p>
        </p:txBody>
      </p:sp>
      <p:sp>
        <p:nvSpPr>
          <p:cNvPr id="23" name="Text 16"/>
          <p:cNvSpPr/>
          <p:nvPr/>
        </p:nvSpPr>
        <p:spPr>
          <a:xfrm>
            <a:off x="3322244" y="5513832"/>
            <a:ext cx="2636444" cy="365760"/>
          </a:xfrm>
          <a:prstGeom prst="rect">
            <a:avLst/>
          </a:prstGeom>
          <a:noFill/>
          <a:ln/>
        </p:spPr>
        <p:txBody>
          <a:bodyPr wrap="square" lIns="0" tIns="0" rIns="0" bIns="0" rtlCol="0" anchor="t"/>
          <a:lstStyle/>
          <a:p>
            <a:pPr rtl="1" algn="ctr" indent="0" marL="0">
              <a:buNone/>
            </a:pPr>
            <a:r>
              <a:rPr lang="ar-SA" altLang="en-US" sz="1250" b="1" dirty="0">
                <a:solidFill>
                  <a:srgbClr val="CFE2DB"/>
                </a:solidFill>
                <a:latin typeface="Tajawal" pitchFamily="34" charset="0"/>
                <a:ea typeface="Tajawal" pitchFamily="34" charset="-122"/>
                <a:cs typeface="Tajawal" pitchFamily="34" charset="-120"/>
              </a:rPr>
              <a:t>عدد المعلمين</a:t>
            </a:r>
            <a:endParaRPr lang="ar-SA" sz="1250" dirty="0"/>
          </a:p>
        </p:txBody>
      </p:sp>
      <p:sp>
        <p:nvSpPr>
          <p:cNvPr id="24" name="Shape 17"/>
          <p:cNvSpPr/>
          <p:nvPr/>
        </p:nvSpPr>
        <p:spPr>
          <a:xfrm>
            <a:off x="411480" y="4709160"/>
            <a:ext cx="2636444" cy="1371600"/>
          </a:xfrm>
          <a:prstGeom prst="roundRect">
            <a:avLst>
              <a:gd name="adj" fmla="val 5000"/>
            </a:avLst>
          </a:prstGeom>
          <a:solidFill>
            <a:srgbClr val="FFFFFF"/>
          </a:solidFill>
          <a:ln w="12700">
            <a:solidFill>
              <a:srgbClr val="095242"/>
            </a:solidFill>
            <a:prstDash val="solid"/>
          </a:ln>
          <a:effectLst>
            <a:outerShdw sx="100000" sy="100000" kx="0" ky="0" algn="bl" rotWithShape="0" blurRad="63500" dist="12700" dir="5400000">
              <a:srgbClr val="0E3B30">
                <a:alpha val="6000"/>
              </a:srgbClr>
            </a:outerShdw>
          </a:effectLst>
        </p:spPr>
      </p:sp>
      <p:sp>
        <p:nvSpPr>
          <p:cNvPr id="25" name="Text 18"/>
          <p:cNvSpPr/>
          <p:nvPr/>
        </p:nvSpPr>
        <p:spPr>
          <a:xfrm>
            <a:off x="411480" y="4965192"/>
            <a:ext cx="2636444" cy="457200"/>
          </a:xfrm>
          <a:prstGeom prst="rect">
            <a:avLst/>
          </a:prstGeom>
          <a:noFill/>
          <a:ln/>
        </p:spPr>
        <p:txBody>
          <a:bodyPr wrap="square" lIns="0" tIns="0" rIns="0" bIns="0" rtlCol="0" anchor="t"/>
          <a:lstStyle/>
          <a:p>
            <a:pPr rtl="1" algn="ctr" indent="0" marL="0">
              <a:buNone/>
            </a:pPr>
            <a:r>
              <a:rPr lang="ar-SA" altLang="en-US" sz="1600" b="1" dirty="0">
                <a:solidFill>
                  <a:srgbClr val="095242"/>
                </a:solidFill>
                <a:latin typeface="Tajawal" pitchFamily="34" charset="0"/>
                <a:ea typeface="Tajawal" pitchFamily="34" charset="-122"/>
                <a:cs typeface="Tajawal" pitchFamily="34" charset="-120"/>
              </a:rPr>
              <a:t>…………</a:t>
            </a:r>
            <a:endParaRPr lang="ar-SA" sz="1600" dirty="0"/>
          </a:p>
        </p:txBody>
      </p:sp>
      <p:sp>
        <p:nvSpPr>
          <p:cNvPr id="26" name="Text 19"/>
          <p:cNvSpPr/>
          <p:nvPr/>
        </p:nvSpPr>
        <p:spPr>
          <a:xfrm>
            <a:off x="411480" y="5513832"/>
            <a:ext cx="2636444" cy="365760"/>
          </a:xfrm>
          <a:prstGeom prst="rect">
            <a:avLst/>
          </a:prstGeom>
          <a:noFill/>
          <a:ln/>
        </p:spPr>
        <p:txBody>
          <a:bodyPr wrap="square" lIns="0" tIns="0" rIns="0" bIns="0" rtlCol="0" anchor="t"/>
          <a:lstStyle/>
          <a:p>
            <a:pPr rtl="1" algn="ctr" indent="0" marL="0">
              <a:buNone/>
            </a:pPr>
            <a:r>
              <a:rPr lang="ar-SA" altLang="en-US" sz="1250" b="1" dirty="0">
                <a:solidFill>
                  <a:srgbClr val="33473F"/>
                </a:solidFill>
                <a:latin typeface="Tajawal" pitchFamily="34" charset="0"/>
                <a:ea typeface="Tajawal" pitchFamily="34" charset="-122"/>
                <a:cs typeface="Tajawal" pitchFamily="34" charset="-120"/>
              </a:rPr>
              <a:t>شاغلو الوظائف</a:t>
            </a:r>
            <a:endParaRPr lang="ar-SA"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tmp/claude-0/-home-user-Mobile1/ab9bbf47-b054-5f6e-be59-70476e095ce8/scratchpad/assets/bg_content.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11480" y="219456"/>
            <a:ext cx="786384" cy="608076"/>
          </a:xfrm>
          <a:prstGeom prst="rect">
            <a:avLst/>
          </a:prstGeom>
        </p:spPr>
      </p:pic>
      <p:sp>
        <p:nvSpPr>
          <p:cNvPr id="4" name="Shape 0"/>
          <p:cNvSpPr/>
          <p:nvPr/>
        </p:nvSpPr>
        <p:spPr>
          <a:xfrm>
            <a:off x="11268151" y="274320"/>
            <a:ext cx="512064" cy="512064"/>
          </a:xfrm>
          <a:prstGeom prst="roundRect">
            <a:avLst>
              <a:gd name="adj" fmla="val 21429"/>
            </a:avLst>
          </a:prstGeom>
          <a:solidFill>
            <a:srgbClr val="095242"/>
          </a:solidFill>
          <a:ln/>
        </p:spPr>
      </p:sp>
      <p:pic>
        <p:nvPicPr>
          <p:cNvPr id="5" name="Image 2" descr="/tmp/claude-0/-home-user-Mobile1/ab9bbf47-b054-5f6e-be59-70476e095ce8/scratchpad/assets/icons/gradcap_white.png">    </p:cNvPr>
          <p:cNvPicPr>
            <a:picLocks noChangeAspect="1"/>
          </p:cNvPicPr>
          <p:nvPr/>
        </p:nvPicPr>
        <p:blipFill>
          <a:blip r:embed="rId3"/>
          <a:stretch>
            <a:fillRect/>
          </a:stretch>
        </p:blipFill>
        <p:spPr>
          <a:xfrm>
            <a:off x="11387023" y="393192"/>
            <a:ext cx="274320" cy="274320"/>
          </a:xfrm>
          <a:prstGeom prst="rect">
            <a:avLst/>
          </a:prstGeom>
        </p:spPr>
      </p:pic>
      <p:sp>
        <p:nvSpPr>
          <p:cNvPr id="6" name="Text 1"/>
          <p:cNvSpPr/>
          <p:nvPr/>
        </p:nvSpPr>
        <p:spPr>
          <a:xfrm>
            <a:off x="2926080" y="274320"/>
            <a:ext cx="8177479" cy="512064"/>
          </a:xfrm>
          <a:prstGeom prst="rect">
            <a:avLst/>
          </a:prstGeom>
          <a:noFill/>
          <a:ln/>
        </p:spPr>
        <p:txBody>
          <a:bodyPr wrap="square" lIns="0" tIns="0" rIns="0" bIns="0" rtlCol="0" anchor="ctr"/>
          <a:lstStyle/>
          <a:p>
            <a:pPr rtl="1" algn="r" indent="0" marL="0">
              <a:buNone/>
            </a:pPr>
            <a:r>
              <a:rPr lang="ar-SA" altLang="en-US" sz="2000" b="1" dirty="0">
                <a:solidFill>
                  <a:srgbClr val="0F2A21"/>
                </a:solidFill>
                <a:latin typeface="Tajawal" pitchFamily="34" charset="0"/>
                <a:ea typeface="Tajawal" pitchFamily="34" charset="-122"/>
                <a:cs typeface="Tajawal" pitchFamily="34" charset="-120"/>
              </a:rPr>
              <a:t>بيانات الطلاب والمعلمين</a:t>
            </a:r>
            <a:endParaRPr lang="ar-SA" sz="2000" dirty="0"/>
          </a:p>
        </p:txBody>
      </p:sp>
      <p:sp>
        <p:nvSpPr>
          <p:cNvPr id="7" name="Text 2"/>
          <p:cNvSpPr/>
          <p:nvPr/>
        </p:nvSpPr>
        <p:spPr>
          <a:xfrm>
            <a:off x="7665415" y="6519672"/>
            <a:ext cx="4114800" cy="274320"/>
          </a:xfrm>
          <a:prstGeom prst="rect">
            <a:avLst/>
          </a:prstGeom>
          <a:noFill/>
          <a:ln/>
        </p:spPr>
        <p:txBody>
          <a:bodyPr wrap="square" lIns="0" tIns="0" rIns="0" bIns="0" rtlCol="0" anchor="t"/>
          <a:lstStyle/>
          <a:p>
            <a:pPr rtl="1" algn="r" indent="0" marL="0">
              <a:buNone/>
            </a:pPr>
            <a:r>
              <a:rPr lang="ar-SA" altLang="en-US" sz="800" dirty="0">
                <a:solidFill>
                  <a:srgbClr val="7C8F87"/>
                </a:solidFill>
                <a:latin typeface="Tajawal" pitchFamily="34" charset="0"/>
                <a:ea typeface="Tajawal" pitchFamily="34" charset="-122"/>
                <a:cs typeface="Tajawal" pitchFamily="34" charset="-120"/>
              </a:rPr>
              <a:t>الخطة التشغيلية للعام الدراسي ١٤٤٨هـ</a:t>
            </a:r>
            <a:endParaRPr lang="ar-SA" sz="800" dirty="0"/>
          </a:p>
        </p:txBody>
      </p:sp>
      <p:sp>
        <p:nvSpPr>
          <p:cNvPr id="8" name="Text 3"/>
          <p:cNvSpPr/>
          <p:nvPr/>
        </p:nvSpPr>
        <p:spPr>
          <a:xfrm>
            <a:off x="411480" y="6519672"/>
            <a:ext cx="914400" cy="274320"/>
          </a:xfrm>
          <a:prstGeom prst="rect">
            <a:avLst/>
          </a:prstGeom>
          <a:noFill/>
          <a:ln/>
        </p:spPr>
        <p:txBody>
          <a:bodyPr wrap="square" lIns="0" tIns="0" rIns="0" bIns="0" rtlCol="0" anchor="t"/>
          <a:lstStyle/>
          <a:p>
            <a:pPr rtl="1" algn="l" indent="0" marL="0">
              <a:buNone/>
            </a:pPr>
            <a:r>
              <a:rPr lang="ar-SA" altLang="en-US" sz="850" b="1" dirty="0">
                <a:solidFill>
                  <a:srgbClr val="7C8F87"/>
                </a:solidFill>
                <a:latin typeface="Tajawal" pitchFamily="34" charset="0"/>
                <a:ea typeface="Tajawal" pitchFamily="34" charset="-122"/>
                <a:cs typeface="Tajawal" pitchFamily="34" charset="-120"/>
              </a:rPr>
              <a:t>٠٧</a:t>
            </a:r>
            <a:endParaRPr lang="ar-SA" sz="850" dirty="0"/>
          </a:p>
        </p:txBody>
      </p:sp>
      <p:sp>
        <p:nvSpPr>
          <p:cNvPr id="9" name="Shape 4"/>
          <p:cNvSpPr/>
          <p:nvPr/>
        </p:nvSpPr>
        <p:spPr>
          <a:xfrm>
            <a:off x="11729923" y="1014984"/>
            <a:ext cx="50292" cy="201168"/>
          </a:xfrm>
          <a:prstGeom prst="rect">
            <a:avLst/>
          </a:prstGeom>
          <a:solidFill>
            <a:srgbClr val="0089A1"/>
          </a:solidFill>
          <a:ln/>
        </p:spPr>
      </p:sp>
      <p:sp>
        <p:nvSpPr>
          <p:cNvPr id="10" name="Text 5"/>
          <p:cNvSpPr/>
          <p:nvPr/>
        </p:nvSpPr>
        <p:spPr>
          <a:xfrm>
            <a:off x="8671255" y="969264"/>
            <a:ext cx="2980944" cy="292608"/>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بيانات أعداد الطلاب حسب الصف</a:t>
            </a:r>
            <a:endParaRPr lang="ar-SA" sz="12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11480" y="1316736"/>
          <a:ext cx="11368735" cy="914400"/>
        </p:xfrm>
        <a:graphic>
          <a:graphicData uri="http://schemas.openxmlformats.org/drawingml/2006/table">
            <a:tbl>
              <a:tblPr/>
              <a:tblGrid>
                <a:gridCol w="1234440"/>
                <a:gridCol w="1445209"/>
                <a:gridCol w="1445209"/>
                <a:gridCol w="1445209"/>
                <a:gridCol w="1445209"/>
                <a:gridCol w="1445209"/>
                <a:gridCol w="1445209"/>
                <a:gridCol w="1463040"/>
              </a:tblGrid>
              <a:tr h="292608">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المجموع</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سادس</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خامس</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رابع</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ثالث</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ثاني</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أول</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البيان</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r>
              <a:tr h="347472">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63E33"/>
                          </a:solidFill>
                          <a:latin typeface="Tajawal" pitchFamily="34" charset="0"/>
                          <a:ea typeface="Tajawal" pitchFamily="34" charset="-122"/>
                          <a:cs typeface="Tajawal" pitchFamily="34" charset="-120"/>
                        </a:rPr>
                        <a:t>عدد الفصول</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47472">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900" b="1" dirty="0">
                          <a:solidFill>
                            <a:srgbClr val="063E33"/>
                          </a:solidFill>
                          <a:latin typeface="Tajawal" pitchFamily="34" charset="0"/>
                          <a:ea typeface="Tajawal" pitchFamily="34" charset="-122"/>
                          <a:cs typeface="Tajawal" pitchFamily="34" charset="-120"/>
                        </a:rPr>
                        <a:t>عدد الطلاب</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bl>
          </a:graphicData>
        </a:graphic>
      </p:graphicFrame>
      <p:sp>
        <p:nvSpPr>
          <p:cNvPr id="12" name="Shape 6"/>
          <p:cNvSpPr/>
          <p:nvPr/>
        </p:nvSpPr>
        <p:spPr>
          <a:xfrm>
            <a:off x="11729923" y="2532888"/>
            <a:ext cx="50292" cy="201168"/>
          </a:xfrm>
          <a:prstGeom prst="rect">
            <a:avLst/>
          </a:prstGeom>
          <a:solidFill>
            <a:srgbClr val="0089A1"/>
          </a:solidFill>
          <a:ln/>
        </p:spPr>
      </p:sp>
      <p:sp>
        <p:nvSpPr>
          <p:cNvPr id="13" name="Text 7"/>
          <p:cNvSpPr/>
          <p:nvPr/>
        </p:nvSpPr>
        <p:spPr>
          <a:xfrm>
            <a:off x="8671255" y="2487168"/>
            <a:ext cx="2980944" cy="292608"/>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معلمو المدرسة حسب التخصص</a:t>
            </a:r>
            <a:endParaRPr lang="ar-SA" sz="125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411480" y="2834640"/>
          <a:ext cx="11368735" cy="914400"/>
        </p:xfrm>
        <a:graphic>
          <a:graphicData uri="http://schemas.openxmlformats.org/drawingml/2006/table">
            <a:tbl>
              <a:tblPr/>
              <a:tblGrid>
                <a:gridCol w="1051560"/>
                <a:gridCol w="1118197"/>
                <a:gridCol w="1118197"/>
                <a:gridCol w="1118197"/>
                <a:gridCol w="1118197"/>
                <a:gridCol w="1118197"/>
                <a:gridCol w="1118197"/>
                <a:gridCol w="1118197"/>
                <a:gridCol w="1118197"/>
                <a:gridCol w="1371600"/>
              </a:tblGrid>
              <a:tr h="329184">
                <a:tc>
                  <a:txBody>
                    <a:bodyPr/>
                    <a:lstStyle/>
                    <a:p>
                      <a:pPr rtl="1" algn="ctr" indent="0" marL="0">
                        <a:buNone/>
                      </a:pPr>
                      <a:r>
                        <a:rPr lang="ar-SA" altLang="en-US" sz="820" b="1" dirty="0">
                          <a:solidFill>
                            <a:srgbClr val="FFFFFF"/>
                          </a:solidFill>
                          <a:latin typeface="Tajawal" pitchFamily="34" charset="0"/>
                          <a:ea typeface="Tajawal" pitchFamily="34" charset="-122"/>
                          <a:cs typeface="Tajawal" pitchFamily="34" charset="-120"/>
                        </a:rPr>
                        <a:t>المجموع</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20" b="1" dirty="0">
                          <a:solidFill>
                            <a:srgbClr val="FFFFFF"/>
                          </a:solidFill>
                          <a:latin typeface="Tajawal" pitchFamily="34" charset="0"/>
                          <a:ea typeface="Tajawal" pitchFamily="34" charset="-122"/>
                          <a:cs typeface="Tajawal" pitchFamily="34" charset="-120"/>
                        </a:rPr>
                        <a:t>حاسب آلي</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20" b="1" dirty="0">
                          <a:solidFill>
                            <a:srgbClr val="FFFFFF"/>
                          </a:solidFill>
                          <a:latin typeface="Tajawal" pitchFamily="34" charset="0"/>
                          <a:ea typeface="Tajawal" pitchFamily="34" charset="-122"/>
                          <a:cs typeface="Tajawal" pitchFamily="34" charset="-120"/>
                        </a:rPr>
                        <a:t>تربية فنية</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20" b="1" dirty="0">
                          <a:solidFill>
                            <a:srgbClr val="FFFFFF"/>
                          </a:solidFill>
                          <a:latin typeface="Tajawal" pitchFamily="34" charset="0"/>
                          <a:ea typeface="Tajawal" pitchFamily="34" charset="-122"/>
                          <a:cs typeface="Tajawal" pitchFamily="34" charset="-120"/>
                        </a:rPr>
                        <a:t>علوم</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20" b="1" dirty="0">
                          <a:solidFill>
                            <a:srgbClr val="FFFFFF"/>
                          </a:solidFill>
                          <a:latin typeface="Tajawal" pitchFamily="34" charset="0"/>
                          <a:ea typeface="Tajawal" pitchFamily="34" charset="-122"/>
                          <a:cs typeface="Tajawal" pitchFamily="34" charset="-120"/>
                        </a:rPr>
                        <a:t>رياضيات</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20" b="1" dirty="0">
                          <a:solidFill>
                            <a:srgbClr val="FFFFFF"/>
                          </a:solidFill>
                          <a:latin typeface="Tajawal" pitchFamily="34" charset="0"/>
                          <a:ea typeface="Tajawal" pitchFamily="34" charset="-122"/>
                          <a:cs typeface="Tajawal" pitchFamily="34" charset="-120"/>
                        </a:rPr>
                        <a:t>لغة إنجليزية</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20" b="1" dirty="0">
                          <a:solidFill>
                            <a:srgbClr val="FFFFFF"/>
                          </a:solidFill>
                          <a:latin typeface="Tajawal" pitchFamily="34" charset="0"/>
                          <a:ea typeface="Tajawal" pitchFamily="34" charset="-122"/>
                          <a:cs typeface="Tajawal" pitchFamily="34" charset="-120"/>
                        </a:rPr>
                        <a:t>دراسات اجتماعية</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20" b="1" dirty="0">
                          <a:solidFill>
                            <a:srgbClr val="FFFFFF"/>
                          </a:solidFill>
                          <a:latin typeface="Tajawal" pitchFamily="34" charset="0"/>
                          <a:ea typeface="Tajawal" pitchFamily="34" charset="-122"/>
                          <a:cs typeface="Tajawal" pitchFamily="34" charset="-120"/>
                        </a:rPr>
                        <a:t>لغة عربية</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20" b="1" dirty="0">
                          <a:solidFill>
                            <a:srgbClr val="FFFFFF"/>
                          </a:solidFill>
                          <a:latin typeface="Tajawal" pitchFamily="34" charset="0"/>
                          <a:ea typeface="Tajawal" pitchFamily="34" charset="-122"/>
                          <a:cs typeface="Tajawal" pitchFamily="34" charset="-120"/>
                        </a:rPr>
                        <a:t>تربية إسلامية</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20" b="1" dirty="0">
                          <a:solidFill>
                            <a:srgbClr val="FFFFFF"/>
                          </a:solidFill>
                          <a:latin typeface="Tajawal" pitchFamily="34" charset="0"/>
                          <a:ea typeface="Tajawal" pitchFamily="34" charset="-122"/>
                          <a:cs typeface="Tajawal" pitchFamily="34" charset="-120"/>
                        </a:rPr>
                        <a:t>التخصص</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r>
              <a:tr h="347472">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63E33"/>
                          </a:solidFill>
                          <a:latin typeface="Tajawal" pitchFamily="34" charset="0"/>
                          <a:ea typeface="Tajawal" pitchFamily="34" charset="-122"/>
                          <a:cs typeface="Tajawal" pitchFamily="34" charset="-120"/>
                        </a:rPr>
                        <a:t>عدد المعلمين</a:t>
                      </a:r>
                      <a:endParaRPr lang="ar-SA" sz="8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47472">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40" b="1" dirty="0">
                          <a:solidFill>
                            <a:srgbClr val="063E33"/>
                          </a:solidFill>
                          <a:latin typeface="Tajawal" pitchFamily="34" charset="0"/>
                          <a:ea typeface="Tajawal" pitchFamily="34" charset="-122"/>
                          <a:cs typeface="Tajawal" pitchFamily="34" charset="-120"/>
                        </a:rPr>
                        <a:t>عدد الطلاب</a:t>
                      </a:r>
                      <a:endParaRPr lang="ar-SA" sz="8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bl>
          </a:graphicData>
        </a:graphic>
      </p:graphicFrame>
      <p:sp>
        <p:nvSpPr>
          <p:cNvPr id="15" name="Shape 8"/>
          <p:cNvSpPr/>
          <p:nvPr/>
        </p:nvSpPr>
        <p:spPr>
          <a:xfrm>
            <a:off x="11729923" y="4087368"/>
            <a:ext cx="50292" cy="201168"/>
          </a:xfrm>
          <a:prstGeom prst="rect">
            <a:avLst/>
          </a:prstGeom>
          <a:solidFill>
            <a:srgbClr val="0089A1"/>
          </a:solidFill>
          <a:ln/>
        </p:spPr>
      </p:sp>
      <p:sp>
        <p:nvSpPr>
          <p:cNvPr id="16" name="Text 9"/>
          <p:cNvSpPr/>
          <p:nvPr/>
        </p:nvSpPr>
        <p:spPr>
          <a:xfrm>
            <a:off x="8671255" y="4041648"/>
            <a:ext cx="2980944" cy="292608"/>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شاغلو الوظائف الفنية والإدارية</a:t>
            </a:r>
            <a:endParaRPr lang="ar-SA" sz="1250" dirty="0"/>
          </a:p>
        </p:txBody>
      </p:sp>
      <p:graphicFrame>
        <p:nvGraphicFramePr>
          <p:cNvPr id="22" name="Table 2"/>
          <p:cNvGraphicFramePr>
            <a:graphicFrameLocks noGrp="1"/>
          </p:cNvGraphicFramePr>
          <p:nvPr>
            <p:extLst>
              <p:ext uri="{D42A27DB-BD31-4B8C-83A1-F6EECF244321}">
                <p14:modId xmlns:p14="http://schemas.microsoft.com/office/powerpoint/2010/main" val="1579011935"/>
              </p:ext>
            </p:extLst>
          </p:nvPr>
        </p:nvGraphicFramePr>
        <p:xfrm>
          <a:off x="411480" y="4389120"/>
          <a:ext cx="11368735" cy="914400"/>
        </p:xfrm>
        <a:graphic>
          <a:graphicData uri="http://schemas.openxmlformats.org/drawingml/2006/table">
            <a:tbl>
              <a:tblPr/>
              <a:tblGrid>
                <a:gridCol w="914400"/>
                <a:gridCol w="846485"/>
                <a:gridCol w="846485"/>
                <a:gridCol w="846485"/>
                <a:gridCol w="846485"/>
                <a:gridCol w="846485"/>
                <a:gridCol w="846485"/>
                <a:gridCol w="846485"/>
                <a:gridCol w="846485"/>
                <a:gridCol w="846485"/>
                <a:gridCol w="846485"/>
                <a:gridCol w="846485"/>
                <a:gridCol w="1143000"/>
              </a:tblGrid>
              <a:tr h="457200">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المجموع</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كاتب</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مساعد إداري</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سكرتير</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محضر مختبر</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مدخل بيانات</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رائد نشاط</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أمين مصادر تعلم</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مرشد طلابي</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معلم تعليم عام</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وكيل</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مدير</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الفئة الوظيفية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r>
              <a:tr h="347472">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r>
                        <a:rPr lang="ar-SA" altLang="en-US" sz="840" b="1" dirty="0">
                          <a:solidFill>
                            <a:srgbClr val="063E33"/>
                          </a:solidFill>
                          <a:latin typeface="Tajawal" pitchFamily="34" charset="0"/>
                          <a:ea typeface="Tajawal" pitchFamily="34" charset="-122"/>
                          <a:cs typeface="Tajawal" pitchFamily="34" charset="-120"/>
                        </a:rPr>
                        <a:t>العدد</a:t>
                      </a:r>
                      <a:endParaRPr lang="ar-SA" sz="8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r>
            </a:tbl>
          </a:graphicData>
        </a:graphic>
      </p:graphicFrame>
      <p:sp>
        <p:nvSpPr>
          <p:cNvPr id="18" name="Shape 10"/>
          <p:cNvSpPr/>
          <p:nvPr/>
        </p:nvSpPr>
        <p:spPr>
          <a:xfrm>
            <a:off x="6233008" y="5440680"/>
            <a:ext cx="5547208" cy="896112"/>
          </a:xfrm>
          <a:prstGeom prst="roundRect">
            <a:avLst>
              <a:gd name="adj" fmla="val 7653"/>
            </a:avLst>
          </a:prstGeom>
          <a:solidFill>
            <a:srgbClr val="095242"/>
          </a:solidFill>
          <a:ln/>
        </p:spPr>
      </p:sp>
      <p:pic>
        <p:nvPicPr>
          <p:cNvPr id="19" name="Image 3" descr="/tmp/claude-0/-home-user-Mobile1/ab9bbf47-b054-5f6e-be59-70476e095ce8/scratchpad/assets/icons/check_white.png">    </p:cNvPr>
          <p:cNvPicPr>
            <a:picLocks noChangeAspect="1"/>
          </p:cNvPicPr>
          <p:nvPr/>
        </p:nvPicPr>
        <p:blipFill>
          <a:blip r:embed="rId4"/>
          <a:stretch>
            <a:fillRect/>
          </a:stretch>
        </p:blipFill>
        <p:spPr>
          <a:xfrm>
            <a:off x="11213287" y="5596128"/>
            <a:ext cx="274320" cy="274320"/>
          </a:xfrm>
          <a:prstGeom prst="rect">
            <a:avLst/>
          </a:prstGeom>
        </p:spPr>
      </p:pic>
      <p:sp>
        <p:nvSpPr>
          <p:cNvPr id="20" name="Text 11"/>
          <p:cNvSpPr/>
          <p:nvPr/>
        </p:nvSpPr>
        <p:spPr>
          <a:xfrm>
            <a:off x="6461608" y="5504688"/>
            <a:ext cx="4678528" cy="292608"/>
          </a:xfrm>
          <a:prstGeom prst="rect">
            <a:avLst/>
          </a:prstGeom>
          <a:noFill/>
          <a:ln/>
        </p:spPr>
        <p:txBody>
          <a:bodyPr wrap="square" lIns="0" tIns="0" rIns="0" bIns="0" rtlCol="0" anchor="t"/>
          <a:lstStyle/>
          <a:p>
            <a:pPr rtl="1" algn="r" indent="0" marL="0">
              <a:buNone/>
            </a:pPr>
            <a:r>
              <a:rPr lang="ar-SA" altLang="en-US" sz="1100" b="1" dirty="0">
                <a:solidFill>
                  <a:srgbClr val="FFFFFF"/>
                </a:solidFill>
                <a:latin typeface="Tajawal" pitchFamily="34" charset="0"/>
                <a:ea typeface="Tajawal" pitchFamily="34" charset="-122"/>
                <a:cs typeface="Tajawal" pitchFamily="34" charset="-120"/>
              </a:rPr>
              <a:t>تنوّع التخصصات</a:t>
            </a:r>
            <a:endParaRPr lang="ar-SA" sz="1100" dirty="0"/>
          </a:p>
        </p:txBody>
      </p:sp>
      <p:sp>
        <p:nvSpPr>
          <p:cNvPr id="21" name="Text 12"/>
          <p:cNvSpPr/>
          <p:nvPr/>
        </p:nvSpPr>
        <p:spPr>
          <a:xfrm>
            <a:off x="6461608" y="5797296"/>
            <a:ext cx="4678528" cy="502920"/>
          </a:xfrm>
          <a:prstGeom prst="rect">
            <a:avLst/>
          </a:prstGeom>
          <a:noFill/>
          <a:ln/>
        </p:spPr>
        <p:txBody>
          <a:bodyPr wrap="square" lIns="0" tIns="0" rIns="0" bIns="0" rtlCol="0" anchor="t"/>
          <a:lstStyle/>
          <a:p>
            <a:pPr rtl="1" algn="r" indent="0" marL="0">
              <a:lnSpc>
                <a:spcPct val="110000"/>
              </a:lnSpc>
              <a:buNone/>
            </a:pPr>
            <a:r>
              <a:rPr lang="ar-SA" altLang="en-US" sz="860" dirty="0">
                <a:solidFill>
                  <a:srgbClr val="CFE2DB"/>
                </a:solidFill>
                <a:latin typeface="Tajawal" pitchFamily="34" charset="0"/>
                <a:ea typeface="Tajawal" pitchFamily="34" charset="-122"/>
                <a:cs typeface="Tajawal" pitchFamily="34" charset="-120"/>
              </a:rPr>
              <a:t>تغطية شاملة للتخصصات الأساسية مع المساندة الفنية والإدارية، مما يُمكّن الفريق من تنفيذ برامج الخطة بكفاءة عالية.</a:t>
            </a:r>
            <a:endParaRPr lang="ar-SA" sz="860" dirty="0"/>
          </a:p>
        </p:txBody>
      </p:sp>
      <p:sp>
        <p:nvSpPr>
          <p:cNvPr id="22" name="Shape 13"/>
          <p:cNvSpPr/>
          <p:nvPr/>
        </p:nvSpPr>
        <p:spPr>
          <a:xfrm>
            <a:off x="411480" y="5440680"/>
            <a:ext cx="5547208" cy="896112"/>
          </a:xfrm>
          <a:prstGeom prst="roundRect">
            <a:avLst>
              <a:gd name="adj" fmla="val 7653"/>
            </a:avLst>
          </a:prstGeom>
          <a:solidFill>
            <a:srgbClr val="FFFFFF"/>
          </a:solidFill>
          <a:ln w="9525">
            <a:solidFill>
              <a:srgbClr val="DCE8E2"/>
            </a:solidFill>
            <a:prstDash val="solid"/>
          </a:ln>
        </p:spPr>
      </p:sp>
      <p:pic>
        <p:nvPicPr>
          <p:cNvPr id="23" name="Image 4" descr="/tmp/claude-0/-home-user-Mobile1/ab9bbf47-b054-5f6e-be59-70476e095ce8/scratchpad/assets/icons/info_green.png">    </p:cNvPr>
          <p:cNvPicPr>
            <a:picLocks noChangeAspect="1"/>
          </p:cNvPicPr>
          <p:nvPr/>
        </p:nvPicPr>
        <p:blipFill>
          <a:blip r:embed="rId5"/>
          <a:stretch>
            <a:fillRect/>
          </a:stretch>
        </p:blipFill>
        <p:spPr>
          <a:xfrm>
            <a:off x="5391760" y="5596128"/>
            <a:ext cx="274320" cy="274320"/>
          </a:xfrm>
          <a:prstGeom prst="rect">
            <a:avLst/>
          </a:prstGeom>
        </p:spPr>
      </p:pic>
      <p:sp>
        <p:nvSpPr>
          <p:cNvPr id="24" name="Text 14"/>
          <p:cNvSpPr/>
          <p:nvPr/>
        </p:nvSpPr>
        <p:spPr>
          <a:xfrm>
            <a:off x="640080" y="5504688"/>
            <a:ext cx="4678528" cy="292608"/>
          </a:xfrm>
          <a:prstGeom prst="rect">
            <a:avLst/>
          </a:prstGeom>
          <a:noFill/>
          <a:ln/>
        </p:spPr>
        <p:txBody>
          <a:bodyPr wrap="square" lIns="0" tIns="0" rIns="0" bIns="0" rtlCol="0" anchor="t"/>
          <a:lstStyle/>
          <a:p>
            <a:pPr rtl="1" algn="r" indent="0" marL="0">
              <a:buNone/>
            </a:pPr>
            <a:r>
              <a:rPr lang="ar-SA" altLang="en-US" sz="1100" b="1" dirty="0">
                <a:solidFill>
                  <a:srgbClr val="063E33"/>
                </a:solidFill>
                <a:latin typeface="Tajawal" pitchFamily="34" charset="0"/>
                <a:ea typeface="Tajawal" pitchFamily="34" charset="-122"/>
                <a:cs typeface="Tajawal" pitchFamily="34" charset="-120"/>
              </a:rPr>
              <a:t>توازن الأعداد</a:t>
            </a:r>
            <a:endParaRPr lang="ar-SA" sz="1100" dirty="0"/>
          </a:p>
        </p:txBody>
      </p:sp>
      <p:sp>
        <p:nvSpPr>
          <p:cNvPr id="25" name="Text 15"/>
          <p:cNvSpPr/>
          <p:nvPr/>
        </p:nvSpPr>
        <p:spPr>
          <a:xfrm>
            <a:off x="640080" y="5797296"/>
            <a:ext cx="4678528" cy="502920"/>
          </a:xfrm>
          <a:prstGeom prst="rect">
            <a:avLst/>
          </a:prstGeom>
          <a:noFill/>
          <a:ln/>
        </p:spPr>
        <p:txBody>
          <a:bodyPr wrap="square" lIns="0" tIns="0" rIns="0" bIns="0" rtlCol="0" anchor="t"/>
          <a:lstStyle/>
          <a:p>
            <a:pPr rtl="1" algn="r" indent="0" marL="0">
              <a:lnSpc>
                <a:spcPct val="110000"/>
              </a:lnSpc>
              <a:buNone/>
            </a:pPr>
            <a:r>
              <a:rPr lang="ar-SA" altLang="en-US" sz="860" dirty="0">
                <a:solidFill>
                  <a:srgbClr val="7C8F87"/>
                </a:solidFill>
                <a:latin typeface="Tajawal" pitchFamily="34" charset="0"/>
                <a:ea typeface="Tajawal" pitchFamily="34" charset="-122"/>
                <a:cs typeface="Tajawal" pitchFamily="34" charset="-120"/>
              </a:rPr>
              <a:t>توزيع متوازن بين الصفوف، مع شُعَب تربية خاصة لخدمة سياسة الدمج التعليمي ودعم الفئات الأُولى بالرعاية.</a:t>
            </a:r>
            <a:endParaRPr lang="ar-SA" sz="86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tmp/claude-0/-home-user-Mobile1/ab9bbf47-b054-5f6e-be59-70476e095ce8/scratchpad/assets/bg_content.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11480" y="219456"/>
            <a:ext cx="786384" cy="608076"/>
          </a:xfrm>
          <a:prstGeom prst="rect">
            <a:avLst/>
          </a:prstGeom>
        </p:spPr>
      </p:pic>
      <p:sp>
        <p:nvSpPr>
          <p:cNvPr id="4" name="Shape 0"/>
          <p:cNvSpPr/>
          <p:nvPr/>
        </p:nvSpPr>
        <p:spPr>
          <a:xfrm>
            <a:off x="11268151" y="274320"/>
            <a:ext cx="512064" cy="512064"/>
          </a:xfrm>
          <a:prstGeom prst="roundRect">
            <a:avLst>
              <a:gd name="adj" fmla="val 21429"/>
            </a:avLst>
          </a:prstGeom>
          <a:solidFill>
            <a:srgbClr val="095242"/>
          </a:solidFill>
          <a:ln/>
        </p:spPr>
      </p:sp>
      <p:pic>
        <p:nvPicPr>
          <p:cNvPr id="5" name="Image 2" descr="/tmp/claude-0/-home-user-Mobile1/ab9bbf47-b054-5f6e-be59-70476e095ce8/scratchpad/assets/icons/eye_white.png">    </p:cNvPr>
          <p:cNvPicPr>
            <a:picLocks noChangeAspect="1"/>
          </p:cNvPicPr>
          <p:nvPr/>
        </p:nvPicPr>
        <p:blipFill>
          <a:blip r:embed="rId3"/>
          <a:stretch>
            <a:fillRect/>
          </a:stretch>
        </p:blipFill>
        <p:spPr>
          <a:xfrm>
            <a:off x="11387023" y="393192"/>
            <a:ext cx="274320" cy="274320"/>
          </a:xfrm>
          <a:prstGeom prst="rect">
            <a:avLst/>
          </a:prstGeom>
        </p:spPr>
      </p:pic>
      <p:sp>
        <p:nvSpPr>
          <p:cNvPr id="6" name="Text 1"/>
          <p:cNvSpPr/>
          <p:nvPr/>
        </p:nvSpPr>
        <p:spPr>
          <a:xfrm>
            <a:off x="2926080" y="274320"/>
            <a:ext cx="8177479" cy="512064"/>
          </a:xfrm>
          <a:prstGeom prst="rect">
            <a:avLst/>
          </a:prstGeom>
          <a:noFill/>
          <a:ln/>
        </p:spPr>
        <p:txBody>
          <a:bodyPr wrap="square" lIns="0" tIns="0" rIns="0" bIns="0" rtlCol="0" anchor="ctr"/>
          <a:lstStyle/>
          <a:p>
            <a:pPr rtl="1" algn="r" indent="0" marL="0">
              <a:buNone/>
            </a:pPr>
            <a:r>
              <a:rPr lang="ar-SA" altLang="en-US" sz="2000" b="1" dirty="0">
                <a:solidFill>
                  <a:srgbClr val="0F2A21"/>
                </a:solidFill>
                <a:latin typeface="Tajawal" pitchFamily="34" charset="0"/>
                <a:ea typeface="Tajawal" pitchFamily="34" charset="-122"/>
                <a:cs typeface="Tajawal" pitchFamily="34" charset="-120"/>
              </a:rPr>
              <a:t>الرؤية والرسالة والقيم</a:t>
            </a:r>
            <a:endParaRPr lang="ar-SA" sz="2000" dirty="0"/>
          </a:p>
        </p:txBody>
      </p:sp>
      <p:sp>
        <p:nvSpPr>
          <p:cNvPr id="7" name="Text 2"/>
          <p:cNvSpPr/>
          <p:nvPr/>
        </p:nvSpPr>
        <p:spPr>
          <a:xfrm>
            <a:off x="7665415" y="6519672"/>
            <a:ext cx="4114800" cy="274320"/>
          </a:xfrm>
          <a:prstGeom prst="rect">
            <a:avLst/>
          </a:prstGeom>
          <a:noFill/>
          <a:ln/>
        </p:spPr>
        <p:txBody>
          <a:bodyPr wrap="square" lIns="0" tIns="0" rIns="0" bIns="0" rtlCol="0" anchor="t"/>
          <a:lstStyle/>
          <a:p>
            <a:pPr rtl="1" algn="r" indent="0" marL="0">
              <a:buNone/>
            </a:pPr>
            <a:r>
              <a:rPr lang="ar-SA" altLang="en-US" sz="800" dirty="0">
                <a:solidFill>
                  <a:srgbClr val="7C8F87"/>
                </a:solidFill>
                <a:latin typeface="Tajawal" pitchFamily="34" charset="0"/>
                <a:ea typeface="Tajawal" pitchFamily="34" charset="-122"/>
                <a:cs typeface="Tajawal" pitchFamily="34" charset="-120"/>
              </a:rPr>
              <a:t>الخطة التشغيلية للعام الدراسي ١٤٤٨هـ</a:t>
            </a:r>
            <a:endParaRPr lang="ar-SA" sz="800" dirty="0"/>
          </a:p>
        </p:txBody>
      </p:sp>
      <p:sp>
        <p:nvSpPr>
          <p:cNvPr id="8" name="Text 3"/>
          <p:cNvSpPr/>
          <p:nvPr/>
        </p:nvSpPr>
        <p:spPr>
          <a:xfrm>
            <a:off x="411480" y="6519672"/>
            <a:ext cx="914400" cy="274320"/>
          </a:xfrm>
          <a:prstGeom prst="rect">
            <a:avLst/>
          </a:prstGeom>
          <a:noFill/>
          <a:ln/>
        </p:spPr>
        <p:txBody>
          <a:bodyPr wrap="square" lIns="0" tIns="0" rIns="0" bIns="0" rtlCol="0" anchor="t"/>
          <a:lstStyle/>
          <a:p>
            <a:pPr rtl="1" algn="l" indent="0" marL="0">
              <a:buNone/>
            </a:pPr>
            <a:r>
              <a:rPr lang="ar-SA" altLang="en-US" sz="850" b="1" dirty="0">
                <a:solidFill>
                  <a:srgbClr val="7C8F87"/>
                </a:solidFill>
                <a:latin typeface="Tajawal" pitchFamily="34" charset="0"/>
                <a:ea typeface="Tajawal" pitchFamily="34" charset="-122"/>
                <a:cs typeface="Tajawal" pitchFamily="34" charset="-120"/>
              </a:rPr>
              <a:t>٠٨</a:t>
            </a:r>
            <a:endParaRPr lang="ar-SA" sz="850" dirty="0"/>
          </a:p>
        </p:txBody>
      </p:sp>
      <p:sp>
        <p:nvSpPr>
          <p:cNvPr id="9" name="Shape 4"/>
          <p:cNvSpPr/>
          <p:nvPr/>
        </p:nvSpPr>
        <p:spPr>
          <a:xfrm>
            <a:off x="6255868" y="1188720"/>
            <a:ext cx="5524348" cy="2240280"/>
          </a:xfrm>
          <a:prstGeom prst="roundRect">
            <a:avLst>
              <a:gd name="adj" fmla="val 3061"/>
            </a:avLst>
          </a:prstGeom>
          <a:solidFill>
            <a:srgbClr val="095242"/>
          </a:solidFill>
          <a:ln/>
          <a:effectLst>
            <a:outerShdw sx="100000" sy="100000" kx="0" ky="0" algn="bl" rotWithShape="0" blurRad="114300" dist="25400" dir="5400000">
              <a:srgbClr val="083528">
                <a:alpha val="28000"/>
              </a:srgbClr>
            </a:outerShdw>
          </a:effectLst>
        </p:spPr>
      </p:sp>
      <p:pic>
        <p:nvPicPr>
          <p:cNvPr id="10" name="Image 3" descr="/tmp/claude-0/-home-user-Mobile1/ab9bbf47-b054-5f6e-be59-70476e095ce8/scratchpad/assets/dots_white.png">    </p:cNvPr>
          <p:cNvPicPr>
            <a:picLocks noChangeAspect="1"/>
          </p:cNvPicPr>
          <p:nvPr/>
        </p:nvPicPr>
        <p:blipFill>
          <a:blip r:embed="rId4">
            <a:alphaModFix amt="45000"/>
          </a:blip>
          <a:stretch>
            <a:fillRect/>
          </a:stretch>
        </p:blipFill>
        <p:spPr>
          <a:xfrm>
            <a:off x="6393028" y="2240280"/>
            <a:ext cx="1737360" cy="1143000"/>
          </a:xfrm>
          <a:prstGeom prst="rect">
            <a:avLst/>
          </a:prstGeom>
        </p:spPr>
      </p:pic>
      <p:sp>
        <p:nvSpPr>
          <p:cNvPr id="11" name="Shape 5"/>
          <p:cNvSpPr/>
          <p:nvPr/>
        </p:nvSpPr>
        <p:spPr>
          <a:xfrm>
            <a:off x="10911535" y="1463040"/>
            <a:ext cx="566928" cy="566928"/>
          </a:xfrm>
          <a:prstGeom prst="ellipse">
            <a:avLst/>
          </a:prstGeom>
          <a:solidFill>
            <a:srgbClr val="FFFFFF"/>
          </a:solidFill>
          <a:ln/>
        </p:spPr>
      </p:sp>
      <p:pic>
        <p:nvPicPr>
          <p:cNvPr id="12" name="Image 4" descr="/tmp/claude-0/-home-user-Mobile1/ab9bbf47-b054-5f6e-be59-70476e095ce8/scratchpad/assets/icons/eye_green.png">    </p:cNvPr>
          <p:cNvPicPr>
            <a:picLocks noChangeAspect="1"/>
          </p:cNvPicPr>
          <p:nvPr/>
        </p:nvPicPr>
        <p:blipFill>
          <a:blip r:embed="rId5"/>
          <a:stretch>
            <a:fillRect/>
          </a:stretch>
        </p:blipFill>
        <p:spPr>
          <a:xfrm>
            <a:off x="11053267" y="1604772"/>
            <a:ext cx="283464" cy="283464"/>
          </a:xfrm>
          <a:prstGeom prst="rect">
            <a:avLst/>
          </a:prstGeom>
        </p:spPr>
      </p:pic>
      <p:sp>
        <p:nvSpPr>
          <p:cNvPr id="13" name="Text 6"/>
          <p:cNvSpPr/>
          <p:nvPr/>
        </p:nvSpPr>
        <p:spPr>
          <a:xfrm>
            <a:off x="6621628" y="1481328"/>
            <a:ext cx="4061308" cy="502920"/>
          </a:xfrm>
          <a:prstGeom prst="rect">
            <a:avLst/>
          </a:prstGeom>
          <a:noFill/>
          <a:ln/>
        </p:spPr>
        <p:txBody>
          <a:bodyPr wrap="square" lIns="0" tIns="0" rIns="0" bIns="0" rtlCol="0" anchor="ctr"/>
          <a:lstStyle/>
          <a:p>
            <a:pPr rtl="1" algn="r" indent="0" marL="0">
              <a:buNone/>
            </a:pPr>
            <a:r>
              <a:rPr lang="ar-SA" altLang="en-US" sz="2100" b="1" dirty="0">
                <a:solidFill>
                  <a:srgbClr val="FFFFFF"/>
                </a:solidFill>
                <a:latin typeface="Tajawal" pitchFamily="34" charset="0"/>
                <a:ea typeface="Tajawal" pitchFamily="34" charset="-122"/>
                <a:cs typeface="Tajawal" pitchFamily="34" charset="-120"/>
              </a:rPr>
              <a:t>الرؤية</a:t>
            </a:r>
            <a:endParaRPr lang="ar-SA" sz="2100" dirty="0"/>
          </a:p>
        </p:txBody>
      </p:sp>
      <p:sp>
        <p:nvSpPr>
          <p:cNvPr id="14" name="Text 7"/>
          <p:cNvSpPr/>
          <p:nvPr/>
        </p:nvSpPr>
        <p:spPr>
          <a:xfrm>
            <a:off x="6667348" y="2148840"/>
            <a:ext cx="4655668" cy="1051560"/>
          </a:xfrm>
          <a:prstGeom prst="rect">
            <a:avLst/>
          </a:prstGeom>
          <a:noFill/>
          <a:ln/>
        </p:spPr>
        <p:txBody>
          <a:bodyPr wrap="square" lIns="0" tIns="0" rIns="0" bIns="0" rtlCol="0" anchor="t"/>
          <a:lstStyle/>
          <a:p>
            <a:pPr rtl="1" algn="r" indent="0" marL="0">
              <a:lnSpc>
                <a:spcPct val="135000"/>
              </a:lnSpc>
              <a:buNone/>
            </a:pPr>
            <a:r>
              <a:rPr lang="ar-SA" altLang="en-US" sz="1350" dirty="0">
                <a:solidFill>
                  <a:srgbClr val="E6F1ED"/>
                </a:solidFill>
                <a:latin typeface="Tajawal" pitchFamily="34" charset="0"/>
                <a:ea typeface="Tajawal" pitchFamily="34" charset="-122"/>
                <a:cs typeface="Tajawal" pitchFamily="34" charset="-120"/>
              </a:rPr>
              <a:t>«مدرسةٌ رائدة في بناء جيل من المتعلّمين الواعين والمواطنين المسؤولين، يمتلكون مهارات المستقبل ويُسهمون بفاعلية في تنمية مجتمعهم ووطنهم.»</a:t>
            </a:r>
            <a:endParaRPr lang="ar-SA" sz="1350" dirty="0"/>
          </a:p>
        </p:txBody>
      </p:sp>
      <p:sp>
        <p:nvSpPr>
          <p:cNvPr id="15" name="Shape 8"/>
          <p:cNvSpPr/>
          <p:nvPr/>
        </p:nvSpPr>
        <p:spPr>
          <a:xfrm>
            <a:off x="411480" y="1188720"/>
            <a:ext cx="5524348" cy="2240280"/>
          </a:xfrm>
          <a:prstGeom prst="roundRect">
            <a:avLst>
              <a:gd name="adj" fmla="val 3061"/>
            </a:avLst>
          </a:prstGeom>
          <a:solidFill>
            <a:srgbClr val="FFFFFF"/>
          </a:solidFill>
          <a:ln w="12700">
            <a:solidFill>
              <a:srgbClr val="095242"/>
            </a:solidFill>
            <a:prstDash val="solid"/>
          </a:ln>
          <a:effectLst>
            <a:outerShdw sx="100000" sy="100000" kx="0" ky="0" algn="bl" rotWithShape="0" blurRad="76200" dist="12700" dir="5400000">
              <a:srgbClr val="0E3B30">
                <a:alpha val="7000"/>
              </a:srgbClr>
            </a:outerShdw>
          </a:effectLst>
        </p:spPr>
      </p:sp>
      <p:sp>
        <p:nvSpPr>
          <p:cNvPr id="16" name="Shape 9"/>
          <p:cNvSpPr/>
          <p:nvPr/>
        </p:nvSpPr>
        <p:spPr>
          <a:xfrm>
            <a:off x="5067148" y="1463040"/>
            <a:ext cx="566928" cy="566928"/>
          </a:xfrm>
          <a:prstGeom prst="ellipse">
            <a:avLst/>
          </a:prstGeom>
          <a:solidFill>
            <a:srgbClr val="F1F7F4"/>
          </a:solidFill>
          <a:ln w="9525">
            <a:solidFill>
              <a:srgbClr val="DCE8E2"/>
            </a:solidFill>
            <a:prstDash val="solid"/>
          </a:ln>
        </p:spPr>
      </p:sp>
      <p:pic>
        <p:nvPicPr>
          <p:cNvPr id="17" name="Image 5" descr="/tmp/claude-0/-home-user-Mobile1/ab9bbf47-b054-5f6e-be59-70476e095ce8/scratchpad/assets/icons/target_green.png">    </p:cNvPr>
          <p:cNvPicPr>
            <a:picLocks noChangeAspect="1"/>
          </p:cNvPicPr>
          <p:nvPr/>
        </p:nvPicPr>
        <p:blipFill>
          <a:blip r:embed="rId6"/>
          <a:stretch>
            <a:fillRect/>
          </a:stretch>
        </p:blipFill>
        <p:spPr>
          <a:xfrm>
            <a:off x="5208880" y="1604772"/>
            <a:ext cx="283464" cy="283464"/>
          </a:xfrm>
          <a:prstGeom prst="rect">
            <a:avLst/>
          </a:prstGeom>
        </p:spPr>
      </p:pic>
      <p:sp>
        <p:nvSpPr>
          <p:cNvPr id="18" name="Text 10"/>
          <p:cNvSpPr/>
          <p:nvPr/>
        </p:nvSpPr>
        <p:spPr>
          <a:xfrm>
            <a:off x="777240" y="1481328"/>
            <a:ext cx="4061308" cy="502920"/>
          </a:xfrm>
          <a:prstGeom prst="rect">
            <a:avLst/>
          </a:prstGeom>
          <a:noFill/>
          <a:ln/>
        </p:spPr>
        <p:txBody>
          <a:bodyPr wrap="square" lIns="0" tIns="0" rIns="0" bIns="0" rtlCol="0" anchor="ctr"/>
          <a:lstStyle/>
          <a:p>
            <a:pPr rtl="1" algn="r" indent="0" marL="0">
              <a:buNone/>
            </a:pPr>
            <a:r>
              <a:rPr lang="ar-SA" altLang="en-US" sz="2100" b="1" dirty="0">
                <a:solidFill>
                  <a:srgbClr val="063E33"/>
                </a:solidFill>
                <a:latin typeface="Tajawal" pitchFamily="34" charset="0"/>
                <a:ea typeface="Tajawal" pitchFamily="34" charset="-122"/>
                <a:cs typeface="Tajawal" pitchFamily="34" charset="-120"/>
              </a:rPr>
              <a:t>الرسالة</a:t>
            </a:r>
            <a:endParaRPr lang="ar-SA" sz="2100" dirty="0"/>
          </a:p>
        </p:txBody>
      </p:sp>
      <p:sp>
        <p:nvSpPr>
          <p:cNvPr id="19" name="Text 11"/>
          <p:cNvSpPr/>
          <p:nvPr/>
        </p:nvSpPr>
        <p:spPr>
          <a:xfrm>
            <a:off x="822960" y="2148840"/>
            <a:ext cx="4655668" cy="1051560"/>
          </a:xfrm>
          <a:prstGeom prst="rect">
            <a:avLst/>
          </a:prstGeom>
          <a:noFill/>
          <a:ln/>
        </p:spPr>
        <p:txBody>
          <a:bodyPr wrap="square" lIns="0" tIns="0" rIns="0" bIns="0" rtlCol="0" anchor="t"/>
          <a:lstStyle/>
          <a:p>
            <a:pPr rtl="1" algn="r" indent="0" marL="0">
              <a:lnSpc>
                <a:spcPct val="132000"/>
              </a:lnSpc>
              <a:buNone/>
            </a:pPr>
            <a:r>
              <a:rPr lang="ar-SA" altLang="en-US" sz="1300" dirty="0">
                <a:solidFill>
                  <a:srgbClr val="33473F"/>
                </a:solidFill>
                <a:latin typeface="Tajawal" pitchFamily="34" charset="0"/>
                <a:ea typeface="Tajawal" pitchFamily="34" charset="-122"/>
                <a:cs typeface="Tajawal" pitchFamily="34" charset="-120"/>
              </a:rPr>
              <a:t>«تهيئة بيئة تعليمية آمنة وداعمة تُنمّي مهارات الطلبة الأكاديمية والاجتماعية والرقمية، من خلال تعلّم فاعل وشراكة مجتمعية حقيقية وتوظيف للتقنيات الحديثة بما يحقّق التميّز التربوي.»</a:t>
            </a:r>
            <a:endParaRPr lang="ar-SA" sz="1300" dirty="0"/>
          </a:p>
        </p:txBody>
      </p:sp>
      <p:sp>
        <p:nvSpPr>
          <p:cNvPr id="20" name="Shape 12"/>
          <p:cNvSpPr/>
          <p:nvPr/>
        </p:nvSpPr>
        <p:spPr>
          <a:xfrm>
            <a:off x="11729923" y="3813048"/>
            <a:ext cx="50292" cy="201168"/>
          </a:xfrm>
          <a:prstGeom prst="rect">
            <a:avLst/>
          </a:prstGeom>
          <a:solidFill>
            <a:srgbClr val="0089A1"/>
          </a:solidFill>
          <a:ln/>
        </p:spPr>
      </p:sp>
      <p:sp>
        <p:nvSpPr>
          <p:cNvPr id="21" name="Text 13"/>
          <p:cNvSpPr/>
          <p:nvPr/>
        </p:nvSpPr>
        <p:spPr>
          <a:xfrm>
            <a:off x="9951415" y="3767328"/>
            <a:ext cx="1700784" cy="292608"/>
          </a:xfrm>
          <a:prstGeom prst="rect">
            <a:avLst/>
          </a:prstGeom>
          <a:noFill/>
          <a:ln/>
        </p:spPr>
        <p:txBody>
          <a:bodyPr wrap="square" lIns="0" tIns="0" rIns="0" bIns="0" rtlCol="0" anchor="ctr"/>
          <a:lstStyle/>
          <a:p>
            <a:pPr rtl="1" algn="r" indent="0" marL="0">
              <a:buNone/>
            </a:pPr>
            <a:r>
              <a:rPr lang="ar-SA" altLang="en-US" sz="1400" b="1" dirty="0">
                <a:solidFill>
                  <a:srgbClr val="095242"/>
                </a:solidFill>
                <a:latin typeface="Tajawal" pitchFamily="34" charset="0"/>
                <a:ea typeface="Tajawal" pitchFamily="34" charset="-122"/>
                <a:cs typeface="Tajawal" pitchFamily="34" charset="-120"/>
              </a:rPr>
              <a:t>القيم</a:t>
            </a:r>
            <a:endParaRPr lang="ar-SA" sz="1400" dirty="0"/>
          </a:p>
        </p:txBody>
      </p:sp>
      <p:sp>
        <p:nvSpPr>
          <p:cNvPr id="22" name="Shape 14"/>
          <p:cNvSpPr/>
          <p:nvPr/>
        </p:nvSpPr>
        <p:spPr>
          <a:xfrm>
            <a:off x="10075926" y="4224528"/>
            <a:ext cx="1704289" cy="1691640"/>
          </a:xfrm>
          <a:prstGeom prst="roundRect">
            <a:avLst>
              <a:gd name="adj" fmla="val 4054"/>
            </a:avLst>
          </a:prstGeom>
          <a:solidFill>
            <a:srgbClr val="FFFFFF"/>
          </a:solidFill>
          <a:ln w="9525">
            <a:solidFill>
              <a:srgbClr val="DCE8E2"/>
            </a:solidFill>
            <a:prstDash val="solid"/>
          </a:ln>
          <a:effectLst>
            <a:outerShdw sx="100000" sy="100000" kx="0" ky="0" algn="bl" rotWithShape="0" blurRad="63500" dist="12700" dir="5400000">
              <a:srgbClr val="0E3B30">
                <a:alpha val="7000"/>
              </a:srgbClr>
            </a:outerShdw>
          </a:effectLst>
        </p:spPr>
      </p:sp>
      <p:sp>
        <p:nvSpPr>
          <p:cNvPr id="23" name="Shape 15"/>
          <p:cNvSpPr/>
          <p:nvPr/>
        </p:nvSpPr>
        <p:spPr>
          <a:xfrm>
            <a:off x="10644607" y="4480560"/>
            <a:ext cx="566928" cy="566928"/>
          </a:xfrm>
          <a:prstGeom prst="ellipse">
            <a:avLst/>
          </a:prstGeom>
          <a:solidFill>
            <a:srgbClr val="F1F7F4"/>
          </a:solidFill>
          <a:ln w="9525">
            <a:solidFill>
              <a:srgbClr val="DCE8E2"/>
            </a:solidFill>
            <a:prstDash val="solid"/>
          </a:ln>
        </p:spPr>
      </p:sp>
      <p:pic>
        <p:nvPicPr>
          <p:cNvPr id="24" name="Image 6" descr="/tmp/claude-0/-home-user-Mobile1/ab9bbf47-b054-5f6e-be59-70476e095ce8/scratchpad/assets/icons/heart_green.png">    </p:cNvPr>
          <p:cNvPicPr>
            <a:picLocks noChangeAspect="1"/>
          </p:cNvPicPr>
          <p:nvPr/>
        </p:nvPicPr>
        <p:blipFill>
          <a:blip r:embed="rId7"/>
          <a:stretch>
            <a:fillRect/>
          </a:stretch>
        </p:blipFill>
        <p:spPr>
          <a:xfrm>
            <a:off x="10786339" y="4622292"/>
            <a:ext cx="283464" cy="283464"/>
          </a:xfrm>
          <a:prstGeom prst="rect">
            <a:avLst/>
          </a:prstGeom>
        </p:spPr>
      </p:pic>
      <p:sp>
        <p:nvSpPr>
          <p:cNvPr id="25" name="Text 16"/>
          <p:cNvSpPr/>
          <p:nvPr/>
        </p:nvSpPr>
        <p:spPr>
          <a:xfrm>
            <a:off x="10121646" y="5212080"/>
            <a:ext cx="1612849" cy="502920"/>
          </a:xfrm>
          <a:prstGeom prst="rect">
            <a:avLst/>
          </a:prstGeom>
          <a:noFill/>
          <a:ln/>
        </p:spPr>
        <p:txBody>
          <a:bodyPr wrap="square" lIns="0" tIns="0" rIns="0" bIns="0" rtlCol="0" anchor="ctr"/>
          <a:lstStyle/>
          <a:p>
            <a:pPr rtl="1" algn="ctr" indent="0" marL="0">
              <a:buNone/>
            </a:pPr>
            <a:r>
              <a:rPr lang="ar-SA" altLang="en-US" sz="1300" b="1" dirty="0">
                <a:solidFill>
                  <a:srgbClr val="0F2A21"/>
                </a:solidFill>
                <a:latin typeface="Tajawal" pitchFamily="34" charset="0"/>
                <a:ea typeface="Tajawal" pitchFamily="34" charset="-122"/>
                <a:cs typeface="Tajawal" pitchFamily="34" charset="-120"/>
              </a:rPr>
              <a:t>المسؤولية</a:t>
            </a:r>
            <a:endParaRPr lang="ar-SA" sz="1300" dirty="0"/>
          </a:p>
        </p:txBody>
      </p:sp>
      <p:sp>
        <p:nvSpPr>
          <p:cNvPr id="26" name="Shape 17"/>
          <p:cNvSpPr/>
          <p:nvPr/>
        </p:nvSpPr>
        <p:spPr>
          <a:xfrm>
            <a:off x="8143037" y="4224528"/>
            <a:ext cx="1704289" cy="1691640"/>
          </a:xfrm>
          <a:prstGeom prst="roundRect">
            <a:avLst>
              <a:gd name="adj" fmla="val 4054"/>
            </a:avLst>
          </a:prstGeom>
          <a:solidFill>
            <a:srgbClr val="FFFFFF"/>
          </a:solidFill>
          <a:ln w="9525">
            <a:solidFill>
              <a:srgbClr val="DCE8E2"/>
            </a:solidFill>
            <a:prstDash val="solid"/>
          </a:ln>
          <a:effectLst>
            <a:outerShdw sx="100000" sy="100000" kx="0" ky="0" algn="bl" rotWithShape="0" blurRad="63500" dist="12700" dir="5400000">
              <a:srgbClr val="0E3B30">
                <a:alpha val="7000"/>
              </a:srgbClr>
            </a:outerShdw>
          </a:effectLst>
        </p:spPr>
      </p:sp>
      <p:sp>
        <p:nvSpPr>
          <p:cNvPr id="27" name="Shape 18"/>
          <p:cNvSpPr/>
          <p:nvPr/>
        </p:nvSpPr>
        <p:spPr>
          <a:xfrm>
            <a:off x="8711717" y="4480560"/>
            <a:ext cx="566928" cy="566928"/>
          </a:xfrm>
          <a:prstGeom prst="ellipse">
            <a:avLst/>
          </a:prstGeom>
          <a:solidFill>
            <a:srgbClr val="F1F7F4"/>
          </a:solidFill>
          <a:ln w="9525">
            <a:solidFill>
              <a:srgbClr val="DCE8E2"/>
            </a:solidFill>
            <a:prstDash val="solid"/>
          </a:ln>
        </p:spPr>
      </p:sp>
      <p:pic>
        <p:nvPicPr>
          <p:cNvPr id="28" name="Image 7" descr="/tmp/claude-0/-home-user-Mobile1/ab9bbf47-b054-5f6e-be59-70476e095ce8/scratchpad/assets/icons/handshake_green.png">    </p:cNvPr>
          <p:cNvPicPr>
            <a:picLocks noChangeAspect="1"/>
          </p:cNvPicPr>
          <p:nvPr/>
        </p:nvPicPr>
        <p:blipFill>
          <a:blip r:embed="rId8"/>
          <a:stretch>
            <a:fillRect/>
          </a:stretch>
        </p:blipFill>
        <p:spPr>
          <a:xfrm>
            <a:off x="8853449" y="4622292"/>
            <a:ext cx="283464" cy="283464"/>
          </a:xfrm>
          <a:prstGeom prst="rect">
            <a:avLst/>
          </a:prstGeom>
        </p:spPr>
      </p:pic>
      <p:sp>
        <p:nvSpPr>
          <p:cNvPr id="29" name="Text 19"/>
          <p:cNvSpPr/>
          <p:nvPr/>
        </p:nvSpPr>
        <p:spPr>
          <a:xfrm>
            <a:off x="8188757" y="5212080"/>
            <a:ext cx="1612849" cy="502920"/>
          </a:xfrm>
          <a:prstGeom prst="rect">
            <a:avLst/>
          </a:prstGeom>
          <a:noFill/>
          <a:ln/>
        </p:spPr>
        <p:txBody>
          <a:bodyPr wrap="square" lIns="0" tIns="0" rIns="0" bIns="0" rtlCol="0" anchor="ctr"/>
          <a:lstStyle/>
          <a:p>
            <a:pPr rtl="1" algn="ctr" indent="0" marL="0">
              <a:buNone/>
            </a:pPr>
            <a:r>
              <a:rPr lang="ar-SA" altLang="en-US" sz="1300" b="1" dirty="0">
                <a:solidFill>
                  <a:srgbClr val="0F2A21"/>
                </a:solidFill>
                <a:latin typeface="Tajawal" pitchFamily="34" charset="0"/>
                <a:ea typeface="Tajawal" pitchFamily="34" charset="-122"/>
                <a:cs typeface="Tajawal" pitchFamily="34" charset="-120"/>
              </a:rPr>
              <a:t>التعاون</a:t>
            </a:r>
            <a:endParaRPr lang="ar-SA" sz="1300" dirty="0"/>
          </a:p>
        </p:txBody>
      </p:sp>
      <p:sp>
        <p:nvSpPr>
          <p:cNvPr id="30" name="Shape 20"/>
          <p:cNvSpPr/>
          <p:nvPr/>
        </p:nvSpPr>
        <p:spPr>
          <a:xfrm>
            <a:off x="6210148" y="4224528"/>
            <a:ext cx="1704289" cy="1691640"/>
          </a:xfrm>
          <a:prstGeom prst="roundRect">
            <a:avLst>
              <a:gd name="adj" fmla="val 4054"/>
            </a:avLst>
          </a:prstGeom>
          <a:solidFill>
            <a:srgbClr val="FFFFFF"/>
          </a:solidFill>
          <a:ln w="9525">
            <a:solidFill>
              <a:srgbClr val="DCE8E2"/>
            </a:solidFill>
            <a:prstDash val="solid"/>
          </a:ln>
          <a:effectLst>
            <a:outerShdw sx="100000" sy="100000" kx="0" ky="0" algn="bl" rotWithShape="0" blurRad="63500" dist="12700" dir="5400000">
              <a:srgbClr val="0E3B30">
                <a:alpha val="7000"/>
              </a:srgbClr>
            </a:outerShdw>
          </a:effectLst>
        </p:spPr>
      </p:sp>
      <p:sp>
        <p:nvSpPr>
          <p:cNvPr id="31" name="Shape 21"/>
          <p:cNvSpPr/>
          <p:nvPr/>
        </p:nvSpPr>
        <p:spPr>
          <a:xfrm>
            <a:off x="6778828" y="4480560"/>
            <a:ext cx="566928" cy="566928"/>
          </a:xfrm>
          <a:prstGeom prst="ellipse">
            <a:avLst/>
          </a:prstGeom>
          <a:solidFill>
            <a:srgbClr val="F1F7F4"/>
          </a:solidFill>
          <a:ln w="9525">
            <a:solidFill>
              <a:srgbClr val="DCE8E2"/>
            </a:solidFill>
            <a:prstDash val="solid"/>
          </a:ln>
        </p:spPr>
      </p:sp>
      <p:pic>
        <p:nvPicPr>
          <p:cNvPr id="32" name="Image 8" descr="/tmp/claude-0/-home-user-Mobile1/ab9bbf47-b054-5f6e-be59-70476e095ce8/scratchpad/assets/icons/flag_green.png">    </p:cNvPr>
          <p:cNvPicPr>
            <a:picLocks noChangeAspect="1"/>
          </p:cNvPicPr>
          <p:nvPr/>
        </p:nvPicPr>
        <p:blipFill>
          <a:blip r:embed="rId9"/>
          <a:stretch>
            <a:fillRect/>
          </a:stretch>
        </p:blipFill>
        <p:spPr>
          <a:xfrm>
            <a:off x="6920560" y="4622292"/>
            <a:ext cx="283464" cy="283464"/>
          </a:xfrm>
          <a:prstGeom prst="rect">
            <a:avLst/>
          </a:prstGeom>
        </p:spPr>
      </p:pic>
      <p:sp>
        <p:nvSpPr>
          <p:cNvPr id="33" name="Text 22"/>
          <p:cNvSpPr/>
          <p:nvPr/>
        </p:nvSpPr>
        <p:spPr>
          <a:xfrm>
            <a:off x="6255868" y="5212080"/>
            <a:ext cx="1612849" cy="502920"/>
          </a:xfrm>
          <a:prstGeom prst="rect">
            <a:avLst/>
          </a:prstGeom>
          <a:noFill/>
          <a:ln/>
        </p:spPr>
        <p:txBody>
          <a:bodyPr wrap="square" lIns="0" tIns="0" rIns="0" bIns="0" rtlCol="0" anchor="ctr"/>
          <a:lstStyle/>
          <a:p>
            <a:pPr rtl="1" algn="ctr" indent="0" marL="0">
              <a:buNone/>
            </a:pPr>
            <a:r>
              <a:rPr lang="ar-SA" altLang="en-US" sz="1300" b="1" dirty="0">
                <a:solidFill>
                  <a:srgbClr val="0F2A21"/>
                </a:solidFill>
                <a:latin typeface="Tajawal" pitchFamily="34" charset="0"/>
                <a:ea typeface="Tajawal" pitchFamily="34" charset="-122"/>
                <a:cs typeface="Tajawal" pitchFamily="34" charset="-120"/>
              </a:rPr>
              <a:t>الانتماء</a:t>
            </a:r>
            <a:endParaRPr lang="ar-SA" sz="1300" dirty="0"/>
          </a:p>
        </p:txBody>
      </p:sp>
      <p:sp>
        <p:nvSpPr>
          <p:cNvPr id="34" name="Shape 23"/>
          <p:cNvSpPr/>
          <p:nvPr/>
        </p:nvSpPr>
        <p:spPr>
          <a:xfrm>
            <a:off x="4277258" y="4224528"/>
            <a:ext cx="1704289" cy="1691640"/>
          </a:xfrm>
          <a:prstGeom prst="roundRect">
            <a:avLst>
              <a:gd name="adj" fmla="val 4054"/>
            </a:avLst>
          </a:prstGeom>
          <a:solidFill>
            <a:srgbClr val="FFFFFF"/>
          </a:solidFill>
          <a:ln w="9525">
            <a:solidFill>
              <a:srgbClr val="DCE8E2"/>
            </a:solidFill>
            <a:prstDash val="solid"/>
          </a:ln>
          <a:effectLst>
            <a:outerShdw sx="100000" sy="100000" kx="0" ky="0" algn="bl" rotWithShape="0" blurRad="63500" dist="12700" dir="5400000">
              <a:srgbClr val="0E3B30">
                <a:alpha val="7000"/>
              </a:srgbClr>
            </a:outerShdw>
          </a:effectLst>
        </p:spPr>
      </p:sp>
      <p:sp>
        <p:nvSpPr>
          <p:cNvPr id="35" name="Shape 24"/>
          <p:cNvSpPr/>
          <p:nvPr/>
        </p:nvSpPr>
        <p:spPr>
          <a:xfrm>
            <a:off x="4845939" y="4480560"/>
            <a:ext cx="566928" cy="566928"/>
          </a:xfrm>
          <a:prstGeom prst="ellipse">
            <a:avLst/>
          </a:prstGeom>
          <a:solidFill>
            <a:srgbClr val="F1F7F4"/>
          </a:solidFill>
          <a:ln w="9525">
            <a:solidFill>
              <a:srgbClr val="DCE8E2"/>
            </a:solidFill>
            <a:prstDash val="solid"/>
          </a:ln>
        </p:spPr>
      </p:sp>
      <p:pic>
        <p:nvPicPr>
          <p:cNvPr id="36" name="Image 9" descr="/tmp/claude-0/-home-user-Mobile1/ab9bbf47-b054-5f6e-be59-70476e095ce8/scratchpad/assets/icons/lightbulb_green.png">    </p:cNvPr>
          <p:cNvPicPr>
            <a:picLocks noChangeAspect="1"/>
          </p:cNvPicPr>
          <p:nvPr/>
        </p:nvPicPr>
        <p:blipFill>
          <a:blip r:embed="rId10"/>
          <a:stretch>
            <a:fillRect/>
          </a:stretch>
        </p:blipFill>
        <p:spPr>
          <a:xfrm>
            <a:off x="4987671" y="4622292"/>
            <a:ext cx="283464" cy="283464"/>
          </a:xfrm>
          <a:prstGeom prst="rect">
            <a:avLst/>
          </a:prstGeom>
        </p:spPr>
      </p:pic>
      <p:sp>
        <p:nvSpPr>
          <p:cNvPr id="37" name="Text 25"/>
          <p:cNvSpPr/>
          <p:nvPr/>
        </p:nvSpPr>
        <p:spPr>
          <a:xfrm>
            <a:off x="4322978" y="5212080"/>
            <a:ext cx="1612849" cy="502920"/>
          </a:xfrm>
          <a:prstGeom prst="rect">
            <a:avLst/>
          </a:prstGeom>
          <a:noFill/>
          <a:ln/>
        </p:spPr>
        <p:txBody>
          <a:bodyPr wrap="square" lIns="0" tIns="0" rIns="0" bIns="0" rtlCol="0" anchor="ctr"/>
          <a:lstStyle/>
          <a:p>
            <a:pPr rtl="1" algn="ctr" indent="0" marL="0">
              <a:buNone/>
            </a:pPr>
            <a:r>
              <a:rPr lang="ar-SA" altLang="en-US" sz="1300" b="1" dirty="0">
                <a:solidFill>
                  <a:srgbClr val="0F2A21"/>
                </a:solidFill>
                <a:latin typeface="Tajawal" pitchFamily="34" charset="0"/>
                <a:ea typeface="Tajawal" pitchFamily="34" charset="-122"/>
                <a:cs typeface="Tajawal" pitchFamily="34" charset="-120"/>
              </a:rPr>
              <a:t>الإبداع</a:t>
            </a:r>
            <a:endParaRPr lang="ar-SA" sz="1300" dirty="0"/>
          </a:p>
        </p:txBody>
      </p:sp>
      <p:sp>
        <p:nvSpPr>
          <p:cNvPr id="38" name="Shape 26"/>
          <p:cNvSpPr/>
          <p:nvPr/>
        </p:nvSpPr>
        <p:spPr>
          <a:xfrm>
            <a:off x="2344369" y="4224528"/>
            <a:ext cx="1704289" cy="1691640"/>
          </a:xfrm>
          <a:prstGeom prst="roundRect">
            <a:avLst>
              <a:gd name="adj" fmla="val 4054"/>
            </a:avLst>
          </a:prstGeom>
          <a:solidFill>
            <a:srgbClr val="FFFFFF"/>
          </a:solidFill>
          <a:ln w="9525">
            <a:solidFill>
              <a:srgbClr val="DCE8E2"/>
            </a:solidFill>
            <a:prstDash val="solid"/>
          </a:ln>
          <a:effectLst>
            <a:outerShdw sx="100000" sy="100000" kx="0" ky="0" algn="bl" rotWithShape="0" blurRad="63500" dist="12700" dir="5400000">
              <a:srgbClr val="0E3B30">
                <a:alpha val="7000"/>
              </a:srgbClr>
            </a:outerShdw>
          </a:effectLst>
        </p:spPr>
      </p:sp>
      <p:sp>
        <p:nvSpPr>
          <p:cNvPr id="39" name="Shape 27"/>
          <p:cNvSpPr/>
          <p:nvPr/>
        </p:nvSpPr>
        <p:spPr>
          <a:xfrm>
            <a:off x="2913050" y="4480560"/>
            <a:ext cx="566928" cy="566928"/>
          </a:xfrm>
          <a:prstGeom prst="ellipse">
            <a:avLst/>
          </a:prstGeom>
          <a:solidFill>
            <a:srgbClr val="F1F7F4"/>
          </a:solidFill>
          <a:ln w="9525">
            <a:solidFill>
              <a:srgbClr val="DCE8E2"/>
            </a:solidFill>
            <a:prstDash val="solid"/>
          </a:ln>
        </p:spPr>
      </p:sp>
      <p:pic>
        <p:nvPicPr>
          <p:cNvPr id="40" name="Image 10" descr="/tmp/claude-0/-home-user-Mobile1/ab9bbf47-b054-5f6e-be59-70476e095ce8/scratchpad/assets/icons/users_green.png">    </p:cNvPr>
          <p:cNvPicPr>
            <a:picLocks noChangeAspect="1"/>
          </p:cNvPicPr>
          <p:nvPr/>
        </p:nvPicPr>
        <p:blipFill>
          <a:blip r:embed="rId11"/>
          <a:stretch>
            <a:fillRect/>
          </a:stretch>
        </p:blipFill>
        <p:spPr>
          <a:xfrm>
            <a:off x="3054782" y="4622292"/>
            <a:ext cx="283464" cy="283464"/>
          </a:xfrm>
          <a:prstGeom prst="rect">
            <a:avLst/>
          </a:prstGeom>
        </p:spPr>
      </p:pic>
      <p:sp>
        <p:nvSpPr>
          <p:cNvPr id="41" name="Text 28"/>
          <p:cNvSpPr/>
          <p:nvPr/>
        </p:nvSpPr>
        <p:spPr>
          <a:xfrm>
            <a:off x="2390089" y="5212080"/>
            <a:ext cx="1612849" cy="502920"/>
          </a:xfrm>
          <a:prstGeom prst="rect">
            <a:avLst/>
          </a:prstGeom>
          <a:noFill/>
          <a:ln/>
        </p:spPr>
        <p:txBody>
          <a:bodyPr wrap="square" lIns="0" tIns="0" rIns="0" bIns="0" rtlCol="0" anchor="ctr"/>
          <a:lstStyle/>
          <a:p>
            <a:pPr rtl="1" algn="ctr" indent="0" marL="0">
              <a:buNone/>
            </a:pPr>
            <a:r>
              <a:rPr lang="ar-SA" altLang="en-US" sz="1300" b="1" dirty="0">
                <a:solidFill>
                  <a:srgbClr val="0F2A21"/>
                </a:solidFill>
                <a:latin typeface="Tajawal" pitchFamily="34" charset="0"/>
                <a:ea typeface="Tajawal" pitchFamily="34" charset="-122"/>
                <a:cs typeface="Tajawal" pitchFamily="34" charset="-120"/>
              </a:rPr>
              <a:t>روح الفريق</a:t>
            </a:r>
            <a:endParaRPr lang="ar-SA" sz="1300" dirty="0"/>
          </a:p>
        </p:txBody>
      </p:sp>
      <p:sp>
        <p:nvSpPr>
          <p:cNvPr id="42" name="Shape 29"/>
          <p:cNvSpPr/>
          <p:nvPr/>
        </p:nvSpPr>
        <p:spPr>
          <a:xfrm>
            <a:off x="411480" y="4224528"/>
            <a:ext cx="1704289" cy="1691640"/>
          </a:xfrm>
          <a:prstGeom prst="roundRect">
            <a:avLst>
              <a:gd name="adj" fmla="val 4054"/>
            </a:avLst>
          </a:prstGeom>
          <a:solidFill>
            <a:srgbClr val="FFFFFF"/>
          </a:solidFill>
          <a:ln w="9525">
            <a:solidFill>
              <a:srgbClr val="DCE8E2"/>
            </a:solidFill>
            <a:prstDash val="solid"/>
          </a:ln>
          <a:effectLst>
            <a:outerShdw sx="100000" sy="100000" kx="0" ky="0" algn="bl" rotWithShape="0" blurRad="63500" dist="12700" dir="5400000">
              <a:srgbClr val="0E3B30">
                <a:alpha val="7000"/>
              </a:srgbClr>
            </a:outerShdw>
          </a:effectLst>
        </p:spPr>
      </p:sp>
      <p:sp>
        <p:nvSpPr>
          <p:cNvPr id="43" name="Shape 30"/>
          <p:cNvSpPr/>
          <p:nvPr/>
        </p:nvSpPr>
        <p:spPr>
          <a:xfrm>
            <a:off x="980161" y="4480560"/>
            <a:ext cx="566928" cy="566928"/>
          </a:xfrm>
          <a:prstGeom prst="ellipse">
            <a:avLst/>
          </a:prstGeom>
          <a:solidFill>
            <a:srgbClr val="F1F7F4"/>
          </a:solidFill>
          <a:ln w="9525">
            <a:solidFill>
              <a:srgbClr val="DCE8E2"/>
            </a:solidFill>
            <a:prstDash val="solid"/>
          </a:ln>
        </p:spPr>
      </p:sp>
      <p:pic>
        <p:nvPicPr>
          <p:cNvPr id="44" name="Image 11" descr="/tmp/claude-0/-home-user-Mobile1/ab9bbf47-b054-5f6e-be59-70476e095ce8/scratchpad/assets/icons/star_green.png">    </p:cNvPr>
          <p:cNvPicPr>
            <a:picLocks noChangeAspect="1"/>
          </p:cNvPicPr>
          <p:nvPr/>
        </p:nvPicPr>
        <p:blipFill>
          <a:blip r:embed="rId12"/>
          <a:stretch>
            <a:fillRect/>
          </a:stretch>
        </p:blipFill>
        <p:spPr>
          <a:xfrm>
            <a:off x="1121893" y="4622292"/>
            <a:ext cx="283464" cy="283464"/>
          </a:xfrm>
          <a:prstGeom prst="rect">
            <a:avLst/>
          </a:prstGeom>
        </p:spPr>
      </p:pic>
      <p:sp>
        <p:nvSpPr>
          <p:cNvPr id="45" name="Text 31"/>
          <p:cNvSpPr/>
          <p:nvPr/>
        </p:nvSpPr>
        <p:spPr>
          <a:xfrm>
            <a:off x="457200" y="5212080"/>
            <a:ext cx="1612849" cy="502920"/>
          </a:xfrm>
          <a:prstGeom prst="rect">
            <a:avLst/>
          </a:prstGeom>
          <a:noFill/>
          <a:ln/>
        </p:spPr>
        <p:txBody>
          <a:bodyPr wrap="square" lIns="0" tIns="0" rIns="0" bIns="0" rtlCol="0" anchor="ctr"/>
          <a:lstStyle/>
          <a:p>
            <a:pPr rtl="1" algn="ctr" indent="0" marL="0">
              <a:buNone/>
            </a:pPr>
            <a:r>
              <a:rPr lang="ar-SA" altLang="en-US" sz="1300" b="1" dirty="0">
                <a:solidFill>
                  <a:srgbClr val="0F2A21"/>
                </a:solidFill>
                <a:latin typeface="Tajawal" pitchFamily="34" charset="0"/>
                <a:ea typeface="Tajawal" pitchFamily="34" charset="-122"/>
                <a:cs typeface="Tajawal" pitchFamily="34" charset="-120"/>
              </a:rPr>
              <a:t>المواطنة</a:t>
            </a:r>
            <a:endParaRPr lang="ar-SA"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tmp/claude-0/-home-user-Mobile1/ab9bbf47-b054-5f6e-be59-70476e095ce8/scratchpad/assets/bg_content.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11480" y="219456"/>
            <a:ext cx="786384" cy="608076"/>
          </a:xfrm>
          <a:prstGeom prst="rect">
            <a:avLst/>
          </a:prstGeom>
        </p:spPr>
      </p:pic>
      <p:sp>
        <p:nvSpPr>
          <p:cNvPr id="4" name="Shape 0"/>
          <p:cNvSpPr/>
          <p:nvPr/>
        </p:nvSpPr>
        <p:spPr>
          <a:xfrm>
            <a:off x="11268151" y="274320"/>
            <a:ext cx="512064" cy="512064"/>
          </a:xfrm>
          <a:prstGeom prst="roundRect">
            <a:avLst>
              <a:gd name="adj" fmla="val 21429"/>
            </a:avLst>
          </a:prstGeom>
          <a:solidFill>
            <a:srgbClr val="095242"/>
          </a:solidFill>
          <a:ln/>
        </p:spPr>
      </p:sp>
      <p:pic>
        <p:nvPicPr>
          <p:cNvPr id="5" name="Image 2" descr="/tmp/claude-0/-home-user-Mobile1/ab9bbf47-b054-5f6e-be59-70476e095ce8/scratchpad/assets/icons/layers_white.png">    </p:cNvPr>
          <p:cNvPicPr>
            <a:picLocks noChangeAspect="1"/>
          </p:cNvPicPr>
          <p:nvPr/>
        </p:nvPicPr>
        <p:blipFill>
          <a:blip r:embed="rId3"/>
          <a:stretch>
            <a:fillRect/>
          </a:stretch>
        </p:blipFill>
        <p:spPr>
          <a:xfrm>
            <a:off x="11387023" y="393192"/>
            <a:ext cx="274320" cy="274320"/>
          </a:xfrm>
          <a:prstGeom prst="rect">
            <a:avLst/>
          </a:prstGeom>
        </p:spPr>
      </p:pic>
      <p:sp>
        <p:nvSpPr>
          <p:cNvPr id="6" name="Text 1"/>
          <p:cNvSpPr/>
          <p:nvPr/>
        </p:nvSpPr>
        <p:spPr>
          <a:xfrm>
            <a:off x="2926080" y="274320"/>
            <a:ext cx="8177479" cy="512064"/>
          </a:xfrm>
          <a:prstGeom prst="rect">
            <a:avLst/>
          </a:prstGeom>
          <a:noFill/>
          <a:ln/>
        </p:spPr>
        <p:txBody>
          <a:bodyPr wrap="square" lIns="0" tIns="0" rIns="0" bIns="0" rtlCol="0" anchor="ctr"/>
          <a:lstStyle/>
          <a:p>
            <a:pPr rtl="1" algn="r" indent="0" marL="0">
              <a:buNone/>
            </a:pPr>
            <a:r>
              <a:rPr lang="ar-SA" altLang="en-US" sz="2000" b="1" dirty="0">
                <a:solidFill>
                  <a:srgbClr val="0F2A21"/>
                </a:solidFill>
                <a:latin typeface="Tajawal" pitchFamily="34" charset="0"/>
                <a:ea typeface="Tajawal" pitchFamily="34" charset="-122"/>
                <a:cs typeface="Tajawal" pitchFamily="34" charset="-120"/>
              </a:rPr>
              <a:t>مرتكزات ومصادر بناء الخطة</a:t>
            </a:r>
            <a:endParaRPr lang="ar-SA" sz="2000" dirty="0"/>
          </a:p>
        </p:txBody>
      </p:sp>
      <p:sp>
        <p:nvSpPr>
          <p:cNvPr id="7" name="Text 2"/>
          <p:cNvSpPr/>
          <p:nvPr/>
        </p:nvSpPr>
        <p:spPr>
          <a:xfrm>
            <a:off x="7665415" y="6519672"/>
            <a:ext cx="4114800" cy="274320"/>
          </a:xfrm>
          <a:prstGeom prst="rect">
            <a:avLst/>
          </a:prstGeom>
          <a:noFill/>
          <a:ln/>
        </p:spPr>
        <p:txBody>
          <a:bodyPr wrap="square" lIns="0" tIns="0" rIns="0" bIns="0" rtlCol="0" anchor="t"/>
          <a:lstStyle/>
          <a:p>
            <a:pPr rtl="1" algn="r" indent="0" marL="0">
              <a:buNone/>
            </a:pPr>
            <a:r>
              <a:rPr lang="ar-SA" altLang="en-US" sz="800" dirty="0">
                <a:solidFill>
                  <a:srgbClr val="7C8F87"/>
                </a:solidFill>
                <a:latin typeface="Tajawal" pitchFamily="34" charset="0"/>
                <a:ea typeface="Tajawal" pitchFamily="34" charset="-122"/>
                <a:cs typeface="Tajawal" pitchFamily="34" charset="-120"/>
              </a:rPr>
              <a:t>الخطة التشغيلية للعام الدراسي ١٤٤٨هـ</a:t>
            </a:r>
            <a:endParaRPr lang="ar-SA" sz="800" dirty="0"/>
          </a:p>
        </p:txBody>
      </p:sp>
      <p:sp>
        <p:nvSpPr>
          <p:cNvPr id="8" name="Text 3"/>
          <p:cNvSpPr/>
          <p:nvPr/>
        </p:nvSpPr>
        <p:spPr>
          <a:xfrm>
            <a:off x="411480" y="6519672"/>
            <a:ext cx="914400" cy="274320"/>
          </a:xfrm>
          <a:prstGeom prst="rect">
            <a:avLst/>
          </a:prstGeom>
          <a:noFill/>
          <a:ln/>
        </p:spPr>
        <p:txBody>
          <a:bodyPr wrap="square" lIns="0" tIns="0" rIns="0" bIns="0" rtlCol="0" anchor="t"/>
          <a:lstStyle/>
          <a:p>
            <a:pPr rtl="1" algn="l" indent="0" marL="0">
              <a:buNone/>
            </a:pPr>
            <a:r>
              <a:rPr lang="ar-SA" altLang="en-US" sz="850" b="1" dirty="0">
                <a:solidFill>
                  <a:srgbClr val="7C8F87"/>
                </a:solidFill>
                <a:latin typeface="Tajawal" pitchFamily="34" charset="0"/>
                <a:ea typeface="Tajawal" pitchFamily="34" charset="-122"/>
                <a:cs typeface="Tajawal" pitchFamily="34" charset="-120"/>
              </a:rPr>
              <a:t>٠٩</a:t>
            </a:r>
            <a:endParaRPr lang="ar-SA" sz="850" dirty="0"/>
          </a:p>
        </p:txBody>
      </p:sp>
      <p:sp>
        <p:nvSpPr>
          <p:cNvPr id="9" name="Shape 4"/>
          <p:cNvSpPr/>
          <p:nvPr/>
        </p:nvSpPr>
        <p:spPr>
          <a:xfrm>
            <a:off x="11729923" y="1014984"/>
            <a:ext cx="50292" cy="201168"/>
          </a:xfrm>
          <a:prstGeom prst="rect">
            <a:avLst/>
          </a:prstGeom>
          <a:solidFill>
            <a:srgbClr val="0089A1"/>
          </a:solidFill>
          <a:ln/>
        </p:spPr>
      </p:sp>
      <p:sp>
        <p:nvSpPr>
          <p:cNvPr id="10" name="Text 5"/>
          <p:cNvSpPr/>
          <p:nvPr/>
        </p:nvSpPr>
        <p:spPr>
          <a:xfrm>
            <a:off x="9037015" y="969264"/>
            <a:ext cx="2615184" cy="292608"/>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مرتكزات بناء الخطة</a:t>
            </a:r>
            <a:endParaRPr lang="ar-SA" sz="1250" dirty="0"/>
          </a:p>
        </p:txBody>
      </p:sp>
      <p:sp>
        <p:nvSpPr>
          <p:cNvPr id="11" name="Text 6"/>
          <p:cNvSpPr/>
          <p:nvPr/>
        </p:nvSpPr>
        <p:spPr>
          <a:xfrm>
            <a:off x="5120640" y="1298448"/>
            <a:ext cx="6659575" cy="310896"/>
          </a:xfrm>
          <a:prstGeom prst="rect">
            <a:avLst/>
          </a:prstGeom>
          <a:noFill/>
          <a:ln/>
        </p:spPr>
        <p:txBody>
          <a:bodyPr wrap="square" lIns="0" tIns="0" rIns="0" bIns="0" rtlCol="0" anchor="t"/>
          <a:lstStyle/>
          <a:p>
            <a:pPr rtl="1" algn="r" indent="0" marL="0">
              <a:buNone/>
            </a:pPr>
            <a:r>
              <a:rPr lang="ar-SA" altLang="en-US" sz="960" dirty="0">
                <a:solidFill>
                  <a:srgbClr val="7C8F87"/>
                </a:solidFill>
                <a:latin typeface="Tajawal" pitchFamily="34" charset="0"/>
                <a:ea typeface="Tajawal" pitchFamily="34" charset="-122"/>
                <a:cs typeface="Tajawal" pitchFamily="34" charset="-120"/>
              </a:rPr>
              <a:t>الأسس التي ارتكزنا عليها في صياغة الخطة وضمان توافقها مع التوجهات الوطنية:</a:t>
            </a:r>
            <a:endParaRPr lang="ar-SA" sz="960" dirty="0"/>
          </a:p>
        </p:txBody>
      </p:sp>
      <p:sp>
        <p:nvSpPr>
          <p:cNvPr id="12" name="Shape 7"/>
          <p:cNvSpPr/>
          <p:nvPr/>
        </p:nvSpPr>
        <p:spPr>
          <a:xfrm>
            <a:off x="8560156" y="1700784"/>
            <a:ext cx="3220060" cy="1024128"/>
          </a:xfrm>
          <a:prstGeom prst="roundRect">
            <a:avLst>
              <a:gd name="adj" fmla="val 6696"/>
            </a:avLst>
          </a:prstGeom>
          <a:solidFill>
            <a:srgbClr val="FFFFFF"/>
          </a:solidFill>
          <a:ln w="9525">
            <a:solidFill>
              <a:srgbClr val="DCE8E2"/>
            </a:solidFill>
            <a:prstDash val="solid"/>
          </a:ln>
          <a:effectLst>
            <a:outerShdw sx="100000" sy="100000" kx="0" ky="0" algn="bl" rotWithShape="0" blurRad="50800" dist="12700" dir="5400000">
              <a:srgbClr val="0E3B30">
                <a:alpha val="6000"/>
              </a:srgbClr>
            </a:outerShdw>
          </a:effectLst>
        </p:spPr>
      </p:sp>
      <p:sp>
        <p:nvSpPr>
          <p:cNvPr id="13" name="Shape 8"/>
          <p:cNvSpPr/>
          <p:nvPr/>
        </p:nvSpPr>
        <p:spPr>
          <a:xfrm>
            <a:off x="11268151" y="1865376"/>
            <a:ext cx="329184" cy="329184"/>
          </a:xfrm>
          <a:prstGeom prst="roundRect">
            <a:avLst>
              <a:gd name="adj" fmla="val 22000"/>
            </a:avLst>
          </a:prstGeom>
          <a:solidFill>
            <a:srgbClr val="095242"/>
          </a:solidFill>
          <a:ln/>
        </p:spPr>
      </p:sp>
      <p:sp>
        <p:nvSpPr>
          <p:cNvPr id="14" name="Text 9"/>
          <p:cNvSpPr/>
          <p:nvPr/>
        </p:nvSpPr>
        <p:spPr>
          <a:xfrm>
            <a:off x="11268151" y="1851660"/>
            <a:ext cx="329184" cy="329184"/>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٠١</a:t>
            </a:r>
            <a:endParaRPr lang="ar-SA" sz="950" dirty="0"/>
          </a:p>
        </p:txBody>
      </p:sp>
      <p:sp>
        <p:nvSpPr>
          <p:cNvPr id="15" name="Text 10"/>
          <p:cNvSpPr/>
          <p:nvPr/>
        </p:nvSpPr>
        <p:spPr>
          <a:xfrm>
            <a:off x="8743036" y="1828800"/>
            <a:ext cx="2442820" cy="384048"/>
          </a:xfrm>
          <a:prstGeom prst="rect">
            <a:avLst/>
          </a:prstGeom>
          <a:noFill/>
          <a:ln/>
        </p:spPr>
        <p:txBody>
          <a:bodyPr wrap="square" lIns="0" tIns="0" rIns="0" bIns="0" rtlCol="0" anchor="ctr"/>
          <a:lstStyle/>
          <a:p>
            <a:pPr rtl="1" algn="r" indent="0" marL="0">
              <a:buNone/>
            </a:pPr>
            <a:r>
              <a:rPr lang="ar-SA" altLang="en-US" sz="1060" b="1" dirty="0">
                <a:solidFill>
                  <a:srgbClr val="063E33"/>
                </a:solidFill>
                <a:latin typeface="Tajawal" pitchFamily="34" charset="0"/>
                <a:ea typeface="Tajawal" pitchFamily="34" charset="-122"/>
                <a:cs typeface="Tajawal" pitchFamily="34" charset="-120"/>
              </a:rPr>
              <a:t>الرؤية والرسالة والأهداف</a:t>
            </a:r>
            <a:endParaRPr lang="ar-SA" sz="1060" dirty="0"/>
          </a:p>
        </p:txBody>
      </p:sp>
      <p:sp>
        <p:nvSpPr>
          <p:cNvPr id="16" name="Text 11"/>
          <p:cNvSpPr/>
          <p:nvPr/>
        </p:nvSpPr>
        <p:spPr>
          <a:xfrm>
            <a:off x="8743036" y="2249424"/>
            <a:ext cx="2808580" cy="402336"/>
          </a:xfrm>
          <a:prstGeom prst="rect">
            <a:avLst/>
          </a:prstGeom>
          <a:noFill/>
          <a:ln/>
        </p:spPr>
        <p:txBody>
          <a:bodyPr wrap="square" lIns="0" tIns="0" rIns="0" bIns="0" rtlCol="0" anchor="t"/>
          <a:lstStyle/>
          <a:p>
            <a:pPr rtl="1" algn="r" indent="0" marL="0">
              <a:buNone/>
            </a:pPr>
            <a:r>
              <a:rPr lang="ar-SA" altLang="en-US" sz="880" dirty="0">
                <a:solidFill>
                  <a:srgbClr val="7C8F87"/>
                </a:solidFill>
                <a:latin typeface="Tajawal" pitchFamily="34" charset="0"/>
                <a:ea typeface="Tajawal" pitchFamily="34" charset="-122"/>
                <a:cs typeface="Tajawal" pitchFamily="34" charset="-120"/>
              </a:rPr>
              <a:t>الاستراتيجية للمدرسة</a:t>
            </a:r>
            <a:endParaRPr lang="ar-SA" sz="880" dirty="0"/>
          </a:p>
        </p:txBody>
      </p:sp>
      <p:sp>
        <p:nvSpPr>
          <p:cNvPr id="17" name="Shape 12"/>
          <p:cNvSpPr/>
          <p:nvPr/>
        </p:nvSpPr>
        <p:spPr>
          <a:xfrm>
            <a:off x="5120640" y="1700784"/>
            <a:ext cx="3220060" cy="1024128"/>
          </a:xfrm>
          <a:prstGeom prst="roundRect">
            <a:avLst>
              <a:gd name="adj" fmla="val 6696"/>
            </a:avLst>
          </a:prstGeom>
          <a:solidFill>
            <a:srgbClr val="FFFFFF"/>
          </a:solidFill>
          <a:ln w="9525">
            <a:solidFill>
              <a:srgbClr val="DCE8E2"/>
            </a:solidFill>
            <a:prstDash val="solid"/>
          </a:ln>
          <a:effectLst>
            <a:outerShdw sx="100000" sy="100000" kx="0" ky="0" algn="bl" rotWithShape="0" blurRad="50800" dist="12700" dir="5400000">
              <a:srgbClr val="0E3B30">
                <a:alpha val="6000"/>
              </a:srgbClr>
            </a:outerShdw>
          </a:effectLst>
        </p:spPr>
      </p:sp>
      <p:sp>
        <p:nvSpPr>
          <p:cNvPr id="18" name="Shape 13"/>
          <p:cNvSpPr/>
          <p:nvPr/>
        </p:nvSpPr>
        <p:spPr>
          <a:xfrm>
            <a:off x="7828636" y="1865376"/>
            <a:ext cx="329184" cy="329184"/>
          </a:xfrm>
          <a:prstGeom prst="roundRect">
            <a:avLst>
              <a:gd name="adj" fmla="val 22000"/>
            </a:avLst>
          </a:prstGeom>
          <a:solidFill>
            <a:srgbClr val="095242"/>
          </a:solidFill>
          <a:ln/>
        </p:spPr>
      </p:sp>
      <p:sp>
        <p:nvSpPr>
          <p:cNvPr id="19" name="Text 14"/>
          <p:cNvSpPr/>
          <p:nvPr/>
        </p:nvSpPr>
        <p:spPr>
          <a:xfrm>
            <a:off x="7828636" y="1851660"/>
            <a:ext cx="329184" cy="329184"/>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٠٢</a:t>
            </a:r>
            <a:endParaRPr lang="ar-SA" sz="950" dirty="0"/>
          </a:p>
        </p:txBody>
      </p:sp>
      <p:sp>
        <p:nvSpPr>
          <p:cNvPr id="20" name="Text 15"/>
          <p:cNvSpPr/>
          <p:nvPr/>
        </p:nvSpPr>
        <p:spPr>
          <a:xfrm>
            <a:off x="5303520" y="1828800"/>
            <a:ext cx="2442820" cy="384048"/>
          </a:xfrm>
          <a:prstGeom prst="rect">
            <a:avLst/>
          </a:prstGeom>
          <a:noFill/>
          <a:ln/>
        </p:spPr>
        <p:txBody>
          <a:bodyPr wrap="square" lIns="0" tIns="0" rIns="0" bIns="0" rtlCol="0" anchor="ctr"/>
          <a:lstStyle/>
          <a:p>
            <a:pPr rtl="1" algn="r" indent="0" marL="0">
              <a:buNone/>
            </a:pPr>
            <a:r>
              <a:rPr lang="ar-SA" altLang="en-US" sz="1060" b="1" dirty="0">
                <a:solidFill>
                  <a:srgbClr val="063E33"/>
                </a:solidFill>
                <a:latin typeface="Tajawal" pitchFamily="34" charset="0"/>
                <a:ea typeface="Tajawal" pitchFamily="34" charset="-122"/>
                <a:cs typeface="Tajawal" pitchFamily="34" charset="-120"/>
              </a:rPr>
              <a:t>سياسات وزارة التعليم</a:t>
            </a:r>
            <a:endParaRPr lang="ar-SA" sz="1060" dirty="0"/>
          </a:p>
        </p:txBody>
      </p:sp>
      <p:sp>
        <p:nvSpPr>
          <p:cNvPr id="21" name="Text 16"/>
          <p:cNvSpPr/>
          <p:nvPr/>
        </p:nvSpPr>
        <p:spPr>
          <a:xfrm>
            <a:off x="5303520" y="2249424"/>
            <a:ext cx="2808580" cy="402336"/>
          </a:xfrm>
          <a:prstGeom prst="rect">
            <a:avLst/>
          </a:prstGeom>
          <a:noFill/>
          <a:ln/>
        </p:spPr>
        <p:txBody>
          <a:bodyPr wrap="square" lIns="0" tIns="0" rIns="0" bIns="0" rtlCol="0" anchor="t"/>
          <a:lstStyle/>
          <a:p>
            <a:pPr rtl="1" algn="r" indent="0" marL="0">
              <a:buNone/>
            </a:pPr>
            <a:r>
              <a:rPr lang="ar-SA" altLang="en-US" sz="880" dirty="0">
                <a:solidFill>
                  <a:srgbClr val="7C8F87"/>
                </a:solidFill>
                <a:latin typeface="Tajawal" pitchFamily="34" charset="0"/>
                <a:ea typeface="Tajawal" pitchFamily="34" charset="-122"/>
                <a:cs typeface="Tajawal" pitchFamily="34" charset="-120"/>
              </a:rPr>
              <a:t>وأولوياتها الاستراتيجية العشرة</a:t>
            </a:r>
            <a:endParaRPr lang="ar-SA" sz="880" dirty="0"/>
          </a:p>
        </p:txBody>
      </p:sp>
      <p:sp>
        <p:nvSpPr>
          <p:cNvPr id="22" name="Shape 17"/>
          <p:cNvSpPr/>
          <p:nvPr/>
        </p:nvSpPr>
        <p:spPr>
          <a:xfrm>
            <a:off x="8560156" y="2907792"/>
            <a:ext cx="3220060" cy="1024128"/>
          </a:xfrm>
          <a:prstGeom prst="roundRect">
            <a:avLst>
              <a:gd name="adj" fmla="val 6696"/>
            </a:avLst>
          </a:prstGeom>
          <a:solidFill>
            <a:srgbClr val="FFFFFF"/>
          </a:solidFill>
          <a:ln w="9525">
            <a:solidFill>
              <a:srgbClr val="DCE8E2"/>
            </a:solidFill>
            <a:prstDash val="solid"/>
          </a:ln>
          <a:effectLst>
            <a:outerShdw sx="100000" sy="100000" kx="0" ky="0" algn="bl" rotWithShape="0" blurRad="50800" dist="12700" dir="5400000">
              <a:srgbClr val="0E3B30">
                <a:alpha val="6000"/>
              </a:srgbClr>
            </a:outerShdw>
          </a:effectLst>
        </p:spPr>
      </p:sp>
      <p:sp>
        <p:nvSpPr>
          <p:cNvPr id="23" name="Shape 18"/>
          <p:cNvSpPr/>
          <p:nvPr/>
        </p:nvSpPr>
        <p:spPr>
          <a:xfrm>
            <a:off x="11268151" y="3072384"/>
            <a:ext cx="329184" cy="329184"/>
          </a:xfrm>
          <a:prstGeom prst="roundRect">
            <a:avLst>
              <a:gd name="adj" fmla="val 22000"/>
            </a:avLst>
          </a:prstGeom>
          <a:solidFill>
            <a:srgbClr val="095242"/>
          </a:solidFill>
          <a:ln/>
        </p:spPr>
      </p:sp>
      <p:sp>
        <p:nvSpPr>
          <p:cNvPr id="24" name="Text 19"/>
          <p:cNvSpPr/>
          <p:nvPr/>
        </p:nvSpPr>
        <p:spPr>
          <a:xfrm>
            <a:off x="11268151" y="3058668"/>
            <a:ext cx="329184" cy="329184"/>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٠٣</a:t>
            </a:r>
            <a:endParaRPr lang="ar-SA" sz="950" dirty="0"/>
          </a:p>
        </p:txBody>
      </p:sp>
      <p:sp>
        <p:nvSpPr>
          <p:cNvPr id="25" name="Text 20"/>
          <p:cNvSpPr/>
          <p:nvPr/>
        </p:nvSpPr>
        <p:spPr>
          <a:xfrm>
            <a:off x="8743036" y="3035808"/>
            <a:ext cx="2442820" cy="384048"/>
          </a:xfrm>
          <a:prstGeom prst="rect">
            <a:avLst/>
          </a:prstGeom>
          <a:noFill/>
          <a:ln/>
        </p:spPr>
        <p:txBody>
          <a:bodyPr wrap="square" lIns="0" tIns="0" rIns="0" bIns="0" rtlCol="0" anchor="ctr"/>
          <a:lstStyle/>
          <a:p>
            <a:pPr rtl="1" algn="r" indent="0" marL="0">
              <a:buNone/>
            </a:pPr>
            <a:r>
              <a:rPr lang="ar-SA" altLang="en-US" sz="1060" b="1" dirty="0">
                <a:solidFill>
                  <a:srgbClr val="063E33"/>
                </a:solidFill>
                <a:latin typeface="Tajawal" pitchFamily="34" charset="0"/>
                <a:ea typeface="Tajawal" pitchFamily="34" charset="-122"/>
                <a:cs typeface="Tajawal" pitchFamily="34" charset="-120"/>
              </a:rPr>
              <a:t>معايير الجودة والاعتماد</a:t>
            </a:r>
            <a:endParaRPr lang="ar-SA" sz="1060" dirty="0"/>
          </a:p>
        </p:txBody>
      </p:sp>
      <p:sp>
        <p:nvSpPr>
          <p:cNvPr id="26" name="Text 21"/>
          <p:cNvSpPr/>
          <p:nvPr/>
        </p:nvSpPr>
        <p:spPr>
          <a:xfrm>
            <a:off x="8743036" y="3456432"/>
            <a:ext cx="2808580" cy="402336"/>
          </a:xfrm>
          <a:prstGeom prst="rect">
            <a:avLst/>
          </a:prstGeom>
          <a:noFill/>
          <a:ln/>
        </p:spPr>
        <p:txBody>
          <a:bodyPr wrap="square" lIns="0" tIns="0" rIns="0" bIns="0" rtlCol="0" anchor="t"/>
          <a:lstStyle/>
          <a:p>
            <a:pPr rtl="1" algn="r" indent="0" marL="0">
              <a:buNone/>
            </a:pPr>
            <a:r>
              <a:rPr lang="ar-SA" altLang="en-US" sz="880" dirty="0">
                <a:solidFill>
                  <a:srgbClr val="7C8F87"/>
                </a:solidFill>
                <a:latin typeface="Tajawal" pitchFamily="34" charset="0"/>
                <a:ea typeface="Tajawal" pitchFamily="34" charset="-122"/>
                <a:cs typeface="Tajawal" pitchFamily="34" charset="-120"/>
              </a:rPr>
              <a:t>ومؤشراتها التفصيلية</a:t>
            </a:r>
            <a:endParaRPr lang="ar-SA" sz="880" dirty="0"/>
          </a:p>
        </p:txBody>
      </p:sp>
      <p:sp>
        <p:nvSpPr>
          <p:cNvPr id="27" name="Shape 22"/>
          <p:cNvSpPr/>
          <p:nvPr/>
        </p:nvSpPr>
        <p:spPr>
          <a:xfrm>
            <a:off x="5120640" y="2907792"/>
            <a:ext cx="3220060" cy="1024128"/>
          </a:xfrm>
          <a:prstGeom prst="roundRect">
            <a:avLst>
              <a:gd name="adj" fmla="val 6696"/>
            </a:avLst>
          </a:prstGeom>
          <a:solidFill>
            <a:srgbClr val="FFFFFF"/>
          </a:solidFill>
          <a:ln w="9525">
            <a:solidFill>
              <a:srgbClr val="DCE8E2"/>
            </a:solidFill>
            <a:prstDash val="solid"/>
          </a:ln>
          <a:effectLst>
            <a:outerShdw sx="100000" sy="100000" kx="0" ky="0" algn="bl" rotWithShape="0" blurRad="50800" dist="12700" dir="5400000">
              <a:srgbClr val="0E3B30">
                <a:alpha val="6000"/>
              </a:srgbClr>
            </a:outerShdw>
          </a:effectLst>
        </p:spPr>
      </p:sp>
      <p:sp>
        <p:nvSpPr>
          <p:cNvPr id="28" name="Shape 23"/>
          <p:cNvSpPr/>
          <p:nvPr/>
        </p:nvSpPr>
        <p:spPr>
          <a:xfrm>
            <a:off x="7828636" y="3072384"/>
            <a:ext cx="329184" cy="329184"/>
          </a:xfrm>
          <a:prstGeom prst="roundRect">
            <a:avLst>
              <a:gd name="adj" fmla="val 22000"/>
            </a:avLst>
          </a:prstGeom>
          <a:solidFill>
            <a:srgbClr val="095242"/>
          </a:solidFill>
          <a:ln/>
        </p:spPr>
      </p:sp>
      <p:sp>
        <p:nvSpPr>
          <p:cNvPr id="29" name="Text 24"/>
          <p:cNvSpPr/>
          <p:nvPr/>
        </p:nvSpPr>
        <p:spPr>
          <a:xfrm>
            <a:off x="7828636" y="3058668"/>
            <a:ext cx="329184" cy="329184"/>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٠٤</a:t>
            </a:r>
            <a:endParaRPr lang="ar-SA" sz="950" dirty="0"/>
          </a:p>
        </p:txBody>
      </p:sp>
      <p:sp>
        <p:nvSpPr>
          <p:cNvPr id="30" name="Text 25"/>
          <p:cNvSpPr/>
          <p:nvPr/>
        </p:nvSpPr>
        <p:spPr>
          <a:xfrm>
            <a:off x="5303520" y="3035808"/>
            <a:ext cx="2442820" cy="384048"/>
          </a:xfrm>
          <a:prstGeom prst="rect">
            <a:avLst/>
          </a:prstGeom>
          <a:noFill/>
          <a:ln/>
        </p:spPr>
        <p:txBody>
          <a:bodyPr wrap="square" lIns="0" tIns="0" rIns="0" bIns="0" rtlCol="0" anchor="ctr"/>
          <a:lstStyle/>
          <a:p>
            <a:pPr rtl="1" algn="r" indent="0" marL="0">
              <a:buNone/>
            </a:pPr>
            <a:r>
              <a:rPr lang="ar-SA" altLang="en-US" sz="1060" b="1" dirty="0">
                <a:solidFill>
                  <a:srgbClr val="063E33"/>
                </a:solidFill>
                <a:latin typeface="Tajawal" pitchFamily="34" charset="0"/>
                <a:ea typeface="Tajawal" pitchFamily="34" charset="-122"/>
                <a:cs typeface="Tajawal" pitchFamily="34" charset="-120"/>
              </a:rPr>
              <a:t>نتائج التقويم الذاتي</a:t>
            </a:r>
            <a:endParaRPr lang="ar-SA" sz="1060" dirty="0"/>
          </a:p>
        </p:txBody>
      </p:sp>
      <p:sp>
        <p:nvSpPr>
          <p:cNvPr id="31" name="Text 26"/>
          <p:cNvSpPr/>
          <p:nvPr/>
        </p:nvSpPr>
        <p:spPr>
          <a:xfrm>
            <a:off x="5303520" y="3456432"/>
            <a:ext cx="2808580" cy="402336"/>
          </a:xfrm>
          <a:prstGeom prst="rect">
            <a:avLst/>
          </a:prstGeom>
          <a:noFill/>
          <a:ln/>
        </p:spPr>
        <p:txBody>
          <a:bodyPr wrap="square" lIns="0" tIns="0" rIns="0" bIns="0" rtlCol="0" anchor="t"/>
          <a:lstStyle/>
          <a:p>
            <a:pPr rtl="1" algn="r" indent="0" marL="0">
              <a:buNone/>
            </a:pPr>
            <a:r>
              <a:rPr lang="ar-SA" altLang="en-US" sz="880" dirty="0">
                <a:solidFill>
                  <a:srgbClr val="7C8F87"/>
                </a:solidFill>
                <a:latin typeface="Tajawal" pitchFamily="34" charset="0"/>
                <a:ea typeface="Tajawal" pitchFamily="34" charset="-122"/>
                <a:cs typeface="Tajawal" pitchFamily="34" charset="-120"/>
              </a:rPr>
              <a:t>ومجالات التحسين المستهدفة</a:t>
            </a:r>
            <a:endParaRPr lang="ar-SA" sz="880" dirty="0"/>
          </a:p>
        </p:txBody>
      </p:sp>
      <p:sp>
        <p:nvSpPr>
          <p:cNvPr id="32" name="Shape 27"/>
          <p:cNvSpPr/>
          <p:nvPr/>
        </p:nvSpPr>
        <p:spPr>
          <a:xfrm>
            <a:off x="8560156" y="4114800"/>
            <a:ext cx="3220060" cy="1024128"/>
          </a:xfrm>
          <a:prstGeom prst="roundRect">
            <a:avLst>
              <a:gd name="adj" fmla="val 6696"/>
            </a:avLst>
          </a:prstGeom>
          <a:solidFill>
            <a:srgbClr val="FFFFFF"/>
          </a:solidFill>
          <a:ln w="9525">
            <a:solidFill>
              <a:srgbClr val="DCE8E2"/>
            </a:solidFill>
            <a:prstDash val="solid"/>
          </a:ln>
          <a:effectLst>
            <a:outerShdw sx="100000" sy="100000" kx="0" ky="0" algn="bl" rotWithShape="0" blurRad="50800" dist="12700" dir="5400000">
              <a:srgbClr val="0E3B30">
                <a:alpha val="6000"/>
              </a:srgbClr>
            </a:outerShdw>
          </a:effectLst>
        </p:spPr>
      </p:sp>
      <p:sp>
        <p:nvSpPr>
          <p:cNvPr id="33" name="Shape 28"/>
          <p:cNvSpPr/>
          <p:nvPr/>
        </p:nvSpPr>
        <p:spPr>
          <a:xfrm>
            <a:off x="11268151" y="4279392"/>
            <a:ext cx="329184" cy="329184"/>
          </a:xfrm>
          <a:prstGeom prst="roundRect">
            <a:avLst>
              <a:gd name="adj" fmla="val 22000"/>
            </a:avLst>
          </a:prstGeom>
          <a:solidFill>
            <a:srgbClr val="095242"/>
          </a:solidFill>
          <a:ln/>
        </p:spPr>
      </p:sp>
      <p:sp>
        <p:nvSpPr>
          <p:cNvPr id="34" name="Text 29"/>
          <p:cNvSpPr/>
          <p:nvPr/>
        </p:nvSpPr>
        <p:spPr>
          <a:xfrm>
            <a:off x="11268151" y="4265676"/>
            <a:ext cx="329184" cy="329184"/>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٠٥</a:t>
            </a:r>
            <a:endParaRPr lang="ar-SA" sz="950" dirty="0"/>
          </a:p>
        </p:txBody>
      </p:sp>
      <p:sp>
        <p:nvSpPr>
          <p:cNvPr id="35" name="Text 30"/>
          <p:cNvSpPr/>
          <p:nvPr/>
        </p:nvSpPr>
        <p:spPr>
          <a:xfrm>
            <a:off x="8743036" y="4242816"/>
            <a:ext cx="2442820" cy="384048"/>
          </a:xfrm>
          <a:prstGeom prst="rect">
            <a:avLst/>
          </a:prstGeom>
          <a:noFill/>
          <a:ln/>
        </p:spPr>
        <p:txBody>
          <a:bodyPr wrap="square" lIns="0" tIns="0" rIns="0" bIns="0" rtlCol="0" anchor="ctr"/>
          <a:lstStyle/>
          <a:p>
            <a:pPr rtl="1" algn="r" indent="0" marL="0">
              <a:buNone/>
            </a:pPr>
            <a:r>
              <a:rPr lang="ar-SA" altLang="en-US" sz="1060" b="1" dirty="0">
                <a:solidFill>
                  <a:srgbClr val="063E33"/>
                </a:solidFill>
                <a:latin typeface="Tajawal" pitchFamily="34" charset="0"/>
                <a:ea typeface="Tajawal" pitchFamily="34" charset="-122"/>
                <a:cs typeface="Tajawal" pitchFamily="34" charset="-120"/>
              </a:rPr>
              <a:t>احتياجات المتعلّمين</a:t>
            </a:r>
            <a:endParaRPr lang="ar-SA" sz="1060" dirty="0"/>
          </a:p>
        </p:txBody>
      </p:sp>
      <p:sp>
        <p:nvSpPr>
          <p:cNvPr id="36" name="Text 31"/>
          <p:cNvSpPr/>
          <p:nvPr/>
        </p:nvSpPr>
        <p:spPr>
          <a:xfrm>
            <a:off x="8743036" y="4663440"/>
            <a:ext cx="2808580" cy="402336"/>
          </a:xfrm>
          <a:prstGeom prst="rect">
            <a:avLst/>
          </a:prstGeom>
          <a:noFill/>
          <a:ln/>
        </p:spPr>
        <p:txBody>
          <a:bodyPr wrap="square" lIns="0" tIns="0" rIns="0" bIns="0" rtlCol="0" anchor="t"/>
          <a:lstStyle/>
          <a:p>
            <a:pPr rtl="1" algn="r" indent="0" marL="0">
              <a:buNone/>
            </a:pPr>
            <a:r>
              <a:rPr lang="ar-SA" altLang="en-US" sz="880" dirty="0">
                <a:solidFill>
                  <a:srgbClr val="7C8F87"/>
                </a:solidFill>
                <a:latin typeface="Tajawal" pitchFamily="34" charset="0"/>
                <a:ea typeface="Tajawal" pitchFamily="34" charset="-122"/>
                <a:cs typeface="Tajawal" pitchFamily="34" charset="-120"/>
              </a:rPr>
              <a:t>وتحسين نواتج التعلم</a:t>
            </a:r>
            <a:endParaRPr lang="ar-SA" sz="880" dirty="0"/>
          </a:p>
        </p:txBody>
      </p:sp>
      <p:sp>
        <p:nvSpPr>
          <p:cNvPr id="37" name="Shape 32"/>
          <p:cNvSpPr/>
          <p:nvPr/>
        </p:nvSpPr>
        <p:spPr>
          <a:xfrm>
            <a:off x="5120640" y="4114800"/>
            <a:ext cx="3220060" cy="1024128"/>
          </a:xfrm>
          <a:prstGeom prst="roundRect">
            <a:avLst>
              <a:gd name="adj" fmla="val 6696"/>
            </a:avLst>
          </a:prstGeom>
          <a:solidFill>
            <a:srgbClr val="FFFFFF"/>
          </a:solidFill>
          <a:ln w="9525">
            <a:solidFill>
              <a:srgbClr val="DCE8E2"/>
            </a:solidFill>
            <a:prstDash val="solid"/>
          </a:ln>
          <a:effectLst>
            <a:outerShdw sx="100000" sy="100000" kx="0" ky="0" algn="bl" rotWithShape="0" blurRad="50800" dist="12700" dir="5400000">
              <a:srgbClr val="0E3B30">
                <a:alpha val="6000"/>
              </a:srgbClr>
            </a:outerShdw>
          </a:effectLst>
        </p:spPr>
      </p:sp>
      <p:sp>
        <p:nvSpPr>
          <p:cNvPr id="38" name="Shape 33"/>
          <p:cNvSpPr/>
          <p:nvPr/>
        </p:nvSpPr>
        <p:spPr>
          <a:xfrm>
            <a:off x="7828636" y="4279392"/>
            <a:ext cx="329184" cy="329184"/>
          </a:xfrm>
          <a:prstGeom prst="roundRect">
            <a:avLst>
              <a:gd name="adj" fmla="val 22000"/>
            </a:avLst>
          </a:prstGeom>
          <a:solidFill>
            <a:srgbClr val="095242"/>
          </a:solidFill>
          <a:ln/>
        </p:spPr>
      </p:sp>
      <p:sp>
        <p:nvSpPr>
          <p:cNvPr id="39" name="Text 34"/>
          <p:cNvSpPr/>
          <p:nvPr/>
        </p:nvSpPr>
        <p:spPr>
          <a:xfrm>
            <a:off x="7828636" y="4265676"/>
            <a:ext cx="329184" cy="329184"/>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٠٦</a:t>
            </a:r>
            <a:endParaRPr lang="ar-SA" sz="950" dirty="0"/>
          </a:p>
        </p:txBody>
      </p:sp>
      <p:sp>
        <p:nvSpPr>
          <p:cNvPr id="40" name="Text 35"/>
          <p:cNvSpPr/>
          <p:nvPr/>
        </p:nvSpPr>
        <p:spPr>
          <a:xfrm>
            <a:off x="5303520" y="4242816"/>
            <a:ext cx="2442820" cy="384048"/>
          </a:xfrm>
          <a:prstGeom prst="rect">
            <a:avLst/>
          </a:prstGeom>
          <a:noFill/>
          <a:ln/>
        </p:spPr>
        <p:txBody>
          <a:bodyPr wrap="square" lIns="0" tIns="0" rIns="0" bIns="0" rtlCol="0" anchor="ctr"/>
          <a:lstStyle/>
          <a:p>
            <a:pPr rtl="1" algn="r" indent="0" marL="0">
              <a:buNone/>
            </a:pPr>
            <a:r>
              <a:rPr lang="ar-SA" altLang="en-US" sz="1060" b="1" dirty="0">
                <a:solidFill>
                  <a:srgbClr val="063E33"/>
                </a:solidFill>
                <a:latin typeface="Tajawal" pitchFamily="34" charset="0"/>
                <a:ea typeface="Tajawal" pitchFamily="34" charset="-122"/>
                <a:cs typeface="Tajawal" pitchFamily="34" charset="-120"/>
              </a:rPr>
              <a:t>احتياجات المعلمين المهنية</a:t>
            </a:r>
            <a:endParaRPr lang="ar-SA" sz="1060" dirty="0"/>
          </a:p>
        </p:txBody>
      </p:sp>
      <p:sp>
        <p:nvSpPr>
          <p:cNvPr id="41" name="Text 36"/>
          <p:cNvSpPr/>
          <p:nvPr/>
        </p:nvSpPr>
        <p:spPr>
          <a:xfrm>
            <a:off x="5303520" y="4663440"/>
            <a:ext cx="2808580" cy="402336"/>
          </a:xfrm>
          <a:prstGeom prst="rect">
            <a:avLst/>
          </a:prstGeom>
          <a:noFill/>
          <a:ln/>
        </p:spPr>
        <p:txBody>
          <a:bodyPr wrap="square" lIns="0" tIns="0" rIns="0" bIns="0" rtlCol="0" anchor="t"/>
          <a:lstStyle/>
          <a:p>
            <a:pPr rtl="1" algn="r" indent="0" marL="0">
              <a:buNone/>
            </a:pPr>
            <a:r>
              <a:rPr lang="ar-SA" altLang="en-US" sz="880" dirty="0">
                <a:solidFill>
                  <a:srgbClr val="7C8F87"/>
                </a:solidFill>
                <a:latin typeface="Tajawal" pitchFamily="34" charset="0"/>
                <a:ea typeface="Tajawal" pitchFamily="34" charset="-122"/>
                <a:cs typeface="Tajawal" pitchFamily="34" charset="-120"/>
              </a:rPr>
              <a:t>والتطوير المستمر للكوادر</a:t>
            </a:r>
            <a:endParaRPr lang="ar-SA" sz="880" dirty="0"/>
          </a:p>
        </p:txBody>
      </p:sp>
      <p:sp>
        <p:nvSpPr>
          <p:cNvPr id="42" name="Shape 37"/>
          <p:cNvSpPr/>
          <p:nvPr/>
        </p:nvSpPr>
        <p:spPr>
          <a:xfrm>
            <a:off x="8560156" y="5321808"/>
            <a:ext cx="3220060" cy="1024128"/>
          </a:xfrm>
          <a:prstGeom prst="roundRect">
            <a:avLst>
              <a:gd name="adj" fmla="val 6696"/>
            </a:avLst>
          </a:prstGeom>
          <a:solidFill>
            <a:srgbClr val="FFFFFF"/>
          </a:solidFill>
          <a:ln w="9525">
            <a:solidFill>
              <a:srgbClr val="DCE8E2"/>
            </a:solidFill>
            <a:prstDash val="solid"/>
          </a:ln>
          <a:effectLst>
            <a:outerShdw sx="100000" sy="100000" kx="0" ky="0" algn="bl" rotWithShape="0" blurRad="50800" dist="12700" dir="5400000">
              <a:srgbClr val="0E3B30">
                <a:alpha val="6000"/>
              </a:srgbClr>
            </a:outerShdw>
          </a:effectLst>
        </p:spPr>
      </p:sp>
      <p:sp>
        <p:nvSpPr>
          <p:cNvPr id="43" name="Shape 38"/>
          <p:cNvSpPr/>
          <p:nvPr/>
        </p:nvSpPr>
        <p:spPr>
          <a:xfrm>
            <a:off x="11268151" y="5486400"/>
            <a:ext cx="329184" cy="329184"/>
          </a:xfrm>
          <a:prstGeom prst="roundRect">
            <a:avLst>
              <a:gd name="adj" fmla="val 22000"/>
            </a:avLst>
          </a:prstGeom>
          <a:solidFill>
            <a:srgbClr val="095242"/>
          </a:solidFill>
          <a:ln/>
        </p:spPr>
      </p:sp>
      <p:sp>
        <p:nvSpPr>
          <p:cNvPr id="44" name="Text 39"/>
          <p:cNvSpPr/>
          <p:nvPr/>
        </p:nvSpPr>
        <p:spPr>
          <a:xfrm>
            <a:off x="11268151" y="5472684"/>
            <a:ext cx="329184" cy="329184"/>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٠٧</a:t>
            </a:r>
            <a:endParaRPr lang="ar-SA" sz="950" dirty="0"/>
          </a:p>
        </p:txBody>
      </p:sp>
      <p:sp>
        <p:nvSpPr>
          <p:cNvPr id="45" name="Text 40"/>
          <p:cNvSpPr/>
          <p:nvPr/>
        </p:nvSpPr>
        <p:spPr>
          <a:xfrm>
            <a:off x="8743036" y="5449824"/>
            <a:ext cx="2442820" cy="384048"/>
          </a:xfrm>
          <a:prstGeom prst="rect">
            <a:avLst/>
          </a:prstGeom>
          <a:noFill/>
          <a:ln/>
        </p:spPr>
        <p:txBody>
          <a:bodyPr wrap="square" lIns="0" tIns="0" rIns="0" bIns="0" rtlCol="0" anchor="ctr"/>
          <a:lstStyle/>
          <a:p>
            <a:pPr rtl="1" algn="r" indent="0" marL="0">
              <a:buNone/>
            </a:pPr>
            <a:r>
              <a:rPr lang="ar-SA" altLang="en-US" sz="1060" b="1" dirty="0">
                <a:solidFill>
                  <a:srgbClr val="063E33"/>
                </a:solidFill>
                <a:latin typeface="Tajawal" pitchFamily="34" charset="0"/>
                <a:ea typeface="Tajawal" pitchFamily="34" charset="-122"/>
                <a:cs typeface="Tajawal" pitchFamily="34" charset="-120"/>
              </a:rPr>
              <a:t>الشراكة الأسرية</a:t>
            </a:r>
            <a:endParaRPr lang="ar-SA" sz="1060" dirty="0"/>
          </a:p>
        </p:txBody>
      </p:sp>
      <p:sp>
        <p:nvSpPr>
          <p:cNvPr id="46" name="Text 41"/>
          <p:cNvSpPr/>
          <p:nvPr/>
        </p:nvSpPr>
        <p:spPr>
          <a:xfrm>
            <a:off x="8743036" y="5870448"/>
            <a:ext cx="2808580" cy="402336"/>
          </a:xfrm>
          <a:prstGeom prst="rect">
            <a:avLst/>
          </a:prstGeom>
          <a:noFill/>
          <a:ln/>
        </p:spPr>
        <p:txBody>
          <a:bodyPr wrap="square" lIns="0" tIns="0" rIns="0" bIns="0" rtlCol="0" anchor="t"/>
          <a:lstStyle/>
          <a:p>
            <a:pPr rtl="1" algn="r" indent="0" marL="0">
              <a:buNone/>
            </a:pPr>
            <a:r>
              <a:rPr lang="ar-SA" altLang="en-US" sz="880" dirty="0">
                <a:solidFill>
                  <a:srgbClr val="7C8F87"/>
                </a:solidFill>
                <a:latin typeface="Tajawal" pitchFamily="34" charset="0"/>
                <a:ea typeface="Tajawal" pitchFamily="34" charset="-122"/>
                <a:cs typeface="Tajawal" pitchFamily="34" charset="-120"/>
              </a:rPr>
              <a:t>والمجتمعية الفاعلة</a:t>
            </a:r>
            <a:endParaRPr lang="ar-SA" sz="880" dirty="0"/>
          </a:p>
        </p:txBody>
      </p:sp>
      <p:sp>
        <p:nvSpPr>
          <p:cNvPr id="47" name="Shape 42"/>
          <p:cNvSpPr/>
          <p:nvPr/>
        </p:nvSpPr>
        <p:spPr>
          <a:xfrm>
            <a:off x="5120640" y="5321808"/>
            <a:ext cx="3220060" cy="1024128"/>
          </a:xfrm>
          <a:prstGeom prst="roundRect">
            <a:avLst>
              <a:gd name="adj" fmla="val 6696"/>
            </a:avLst>
          </a:prstGeom>
          <a:solidFill>
            <a:srgbClr val="FFFFFF"/>
          </a:solidFill>
          <a:ln w="9525">
            <a:solidFill>
              <a:srgbClr val="DCE8E2"/>
            </a:solidFill>
            <a:prstDash val="solid"/>
          </a:ln>
          <a:effectLst>
            <a:outerShdw sx="100000" sy="100000" kx="0" ky="0" algn="bl" rotWithShape="0" blurRad="50800" dist="12700" dir="5400000">
              <a:srgbClr val="0E3B30">
                <a:alpha val="6000"/>
              </a:srgbClr>
            </a:outerShdw>
          </a:effectLst>
        </p:spPr>
      </p:sp>
      <p:sp>
        <p:nvSpPr>
          <p:cNvPr id="48" name="Shape 43"/>
          <p:cNvSpPr/>
          <p:nvPr/>
        </p:nvSpPr>
        <p:spPr>
          <a:xfrm>
            <a:off x="7828636" y="5486400"/>
            <a:ext cx="329184" cy="329184"/>
          </a:xfrm>
          <a:prstGeom prst="roundRect">
            <a:avLst>
              <a:gd name="adj" fmla="val 22000"/>
            </a:avLst>
          </a:prstGeom>
          <a:solidFill>
            <a:srgbClr val="095242"/>
          </a:solidFill>
          <a:ln/>
        </p:spPr>
      </p:sp>
      <p:sp>
        <p:nvSpPr>
          <p:cNvPr id="49" name="Text 44"/>
          <p:cNvSpPr/>
          <p:nvPr/>
        </p:nvSpPr>
        <p:spPr>
          <a:xfrm>
            <a:off x="7828636" y="5472684"/>
            <a:ext cx="329184" cy="329184"/>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٠٨</a:t>
            </a:r>
            <a:endParaRPr lang="ar-SA" sz="950" dirty="0"/>
          </a:p>
        </p:txBody>
      </p:sp>
      <p:sp>
        <p:nvSpPr>
          <p:cNvPr id="50" name="Text 45"/>
          <p:cNvSpPr/>
          <p:nvPr/>
        </p:nvSpPr>
        <p:spPr>
          <a:xfrm>
            <a:off x="5303520" y="5449824"/>
            <a:ext cx="2442820" cy="384048"/>
          </a:xfrm>
          <a:prstGeom prst="rect">
            <a:avLst/>
          </a:prstGeom>
          <a:noFill/>
          <a:ln/>
        </p:spPr>
        <p:txBody>
          <a:bodyPr wrap="square" lIns="0" tIns="0" rIns="0" bIns="0" rtlCol="0" anchor="ctr"/>
          <a:lstStyle/>
          <a:p>
            <a:pPr rtl="1" algn="r" indent="0" marL="0">
              <a:buNone/>
            </a:pPr>
            <a:r>
              <a:rPr lang="ar-SA" altLang="en-US" sz="1060" b="1" dirty="0">
                <a:solidFill>
                  <a:srgbClr val="063E33"/>
                </a:solidFill>
                <a:latin typeface="Tajawal" pitchFamily="34" charset="0"/>
                <a:ea typeface="Tajawal" pitchFamily="34" charset="-122"/>
                <a:cs typeface="Tajawal" pitchFamily="34" charset="-120"/>
              </a:rPr>
              <a:t>التحول الرقمي والابتكار</a:t>
            </a:r>
            <a:endParaRPr lang="ar-SA" sz="1060" dirty="0"/>
          </a:p>
        </p:txBody>
      </p:sp>
      <p:sp>
        <p:nvSpPr>
          <p:cNvPr id="51" name="Text 46"/>
          <p:cNvSpPr/>
          <p:nvPr/>
        </p:nvSpPr>
        <p:spPr>
          <a:xfrm>
            <a:off x="5303520" y="5870448"/>
            <a:ext cx="2808580" cy="402336"/>
          </a:xfrm>
          <a:prstGeom prst="rect">
            <a:avLst/>
          </a:prstGeom>
          <a:noFill/>
          <a:ln/>
        </p:spPr>
        <p:txBody>
          <a:bodyPr wrap="square" lIns="0" tIns="0" rIns="0" bIns="0" rtlCol="0" anchor="t"/>
          <a:lstStyle/>
          <a:p>
            <a:pPr rtl="1" algn="r" indent="0" marL="0">
              <a:buNone/>
            </a:pPr>
            <a:r>
              <a:rPr lang="ar-SA" altLang="en-US" sz="880" dirty="0">
                <a:solidFill>
                  <a:srgbClr val="7C8F87"/>
                </a:solidFill>
                <a:latin typeface="Tajawal" pitchFamily="34" charset="0"/>
                <a:ea typeface="Tajawal" pitchFamily="34" charset="-122"/>
                <a:cs typeface="Tajawal" pitchFamily="34" charset="-120"/>
              </a:rPr>
              <a:t>وتوظيف التقنيات الحديثة</a:t>
            </a:r>
            <a:endParaRPr lang="ar-SA" sz="880" dirty="0"/>
          </a:p>
        </p:txBody>
      </p:sp>
      <p:sp>
        <p:nvSpPr>
          <p:cNvPr id="52" name="Shape 47"/>
          <p:cNvSpPr/>
          <p:nvPr/>
        </p:nvSpPr>
        <p:spPr>
          <a:xfrm>
            <a:off x="4658868" y="1014984"/>
            <a:ext cx="50292" cy="201168"/>
          </a:xfrm>
          <a:prstGeom prst="rect">
            <a:avLst/>
          </a:prstGeom>
          <a:solidFill>
            <a:srgbClr val="0089A1"/>
          </a:solidFill>
          <a:ln/>
        </p:spPr>
      </p:sp>
      <p:sp>
        <p:nvSpPr>
          <p:cNvPr id="53" name="Text 48"/>
          <p:cNvSpPr/>
          <p:nvPr/>
        </p:nvSpPr>
        <p:spPr>
          <a:xfrm>
            <a:off x="1965960" y="969264"/>
            <a:ext cx="2615184" cy="292608"/>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مصادر بناء الخطة</a:t>
            </a:r>
            <a:endParaRPr lang="ar-SA" sz="1250" dirty="0"/>
          </a:p>
        </p:txBody>
      </p:sp>
      <p:sp>
        <p:nvSpPr>
          <p:cNvPr id="54" name="Text 49"/>
          <p:cNvSpPr/>
          <p:nvPr/>
        </p:nvSpPr>
        <p:spPr>
          <a:xfrm>
            <a:off x="411480" y="1298448"/>
            <a:ext cx="4297680" cy="310896"/>
          </a:xfrm>
          <a:prstGeom prst="rect">
            <a:avLst/>
          </a:prstGeom>
          <a:noFill/>
          <a:ln/>
        </p:spPr>
        <p:txBody>
          <a:bodyPr wrap="square" lIns="0" tIns="0" rIns="0" bIns="0" rtlCol="0" anchor="t"/>
          <a:lstStyle/>
          <a:p>
            <a:pPr rtl="1" algn="r" indent="0" marL="0">
              <a:buNone/>
            </a:pPr>
            <a:r>
              <a:rPr lang="ar-SA" altLang="en-US" sz="960" dirty="0">
                <a:solidFill>
                  <a:srgbClr val="7C8F87"/>
                </a:solidFill>
                <a:latin typeface="Tajawal" pitchFamily="34" charset="0"/>
                <a:ea typeface="Tajawal" pitchFamily="34" charset="-122"/>
                <a:cs typeface="Tajawal" pitchFamily="34" charset="-120"/>
              </a:rPr>
              <a:t>البيانات والمراجع التي استند إليها فريق الإعداد لتشخيص واقع المدرسة:</a:t>
            </a:r>
            <a:endParaRPr lang="ar-SA" sz="96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700784"/>
          <a:ext cx="4297680" cy="914400"/>
        </p:xfrm>
        <a:graphic>
          <a:graphicData uri="http://schemas.openxmlformats.org/drawingml/2006/table">
            <a:tbl>
              <a:tblPr/>
              <a:tblGrid>
                <a:gridCol w="3913632"/>
                <a:gridCol w="384048"/>
              </a:tblGrid>
              <a:tr h="292608">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المصدر</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م</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r>
              <a:tr h="512064">
                <a:tc>
                  <a:txBody>
                    <a:bodyPr/>
                    <a:lstStyle/>
                    <a:p>
                      <a:pPr rtl="1" algn="r" indent="0" marL="0">
                        <a:buNone/>
                      </a:pPr>
                      <a:r>
                        <a:rPr lang="ar-SA" altLang="en-US" sz="880" dirty="0">
                          <a:solidFill>
                            <a:srgbClr val="33473F"/>
                          </a:solidFill>
                          <a:latin typeface="Tajawal" pitchFamily="34" charset="0"/>
                          <a:ea typeface="Tajawal" pitchFamily="34" charset="-122"/>
                          <a:cs typeface="Tajawal" pitchFamily="34" charset="-120"/>
                        </a:rPr>
                        <a:t>نتائج الاختبارات التحصيلية واختبارات الفاقد التعليمي</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60" dirty="0">
                          <a:solidFill>
                            <a:srgbClr val="33473F"/>
                          </a:solidFill>
                          <a:latin typeface="Tajawal" pitchFamily="34" charset="0"/>
                          <a:ea typeface="Tajawal" pitchFamily="34" charset="-122"/>
                          <a:cs typeface="Tajawal" pitchFamily="34" charset="-120"/>
                        </a:rPr>
                        <a:t>١</a:t>
                      </a:r>
                      <a:endParaRPr lang="ar-SA" sz="8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512064">
                <a:tc>
                  <a:txBody>
                    <a:bodyPr/>
                    <a:lstStyle/>
                    <a:p>
                      <a:pPr rtl="1" algn="r" indent="0" marL="0">
                        <a:buNone/>
                      </a:pPr>
                      <a:r>
                        <a:rPr lang="ar-SA" altLang="en-US" sz="880" dirty="0">
                          <a:solidFill>
                            <a:srgbClr val="33473F"/>
                          </a:solidFill>
                          <a:latin typeface="Tajawal" pitchFamily="34" charset="0"/>
                          <a:ea typeface="Tajawal" pitchFamily="34" charset="-122"/>
                          <a:cs typeface="Tajawal" pitchFamily="34" charset="-120"/>
                        </a:rPr>
                        <a:t>سجلات الحضور والانضباط وتقارير التأخر والتسرب</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60" dirty="0">
                          <a:solidFill>
                            <a:srgbClr val="33473F"/>
                          </a:solidFill>
                          <a:latin typeface="Tajawal" pitchFamily="34" charset="0"/>
                          <a:ea typeface="Tajawal" pitchFamily="34" charset="-122"/>
                          <a:cs typeface="Tajawal" pitchFamily="34" charset="-120"/>
                        </a:rPr>
                        <a:t>٢</a:t>
                      </a:r>
                      <a:endParaRPr lang="ar-SA" sz="8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512064">
                <a:tc>
                  <a:txBody>
                    <a:bodyPr/>
                    <a:lstStyle/>
                    <a:p>
                      <a:pPr rtl="1" algn="r" indent="0" marL="0">
                        <a:buNone/>
                      </a:pPr>
                      <a:r>
                        <a:rPr lang="ar-SA" altLang="en-US" sz="880" dirty="0">
                          <a:solidFill>
                            <a:srgbClr val="33473F"/>
                          </a:solidFill>
                          <a:latin typeface="Tajawal" pitchFamily="34" charset="0"/>
                          <a:ea typeface="Tajawal" pitchFamily="34" charset="-122"/>
                          <a:cs typeface="Tajawal" pitchFamily="34" charset="-120"/>
                        </a:rPr>
                        <a:t>التغذية الراجعة من المعلمين والطلاب وأولياء الأمور</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60" dirty="0">
                          <a:solidFill>
                            <a:srgbClr val="33473F"/>
                          </a:solidFill>
                          <a:latin typeface="Tajawal" pitchFamily="34" charset="0"/>
                          <a:ea typeface="Tajawal" pitchFamily="34" charset="-122"/>
                          <a:cs typeface="Tajawal" pitchFamily="34" charset="-120"/>
                        </a:rPr>
                        <a:t>٣</a:t>
                      </a:r>
                      <a:endParaRPr lang="ar-SA" sz="8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512064">
                <a:tc>
                  <a:txBody>
                    <a:bodyPr/>
                    <a:lstStyle/>
                    <a:p>
                      <a:pPr rtl="1" algn="r" indent="0" marL="0">
                        <a:buNone/>
                      </a:pPr>
                      <a:r>
                        <a:rPr lang="ar-SA" altLang="en-US" sz="880" dirty="0">
                          <a:solidFill>
                            <a:srgbClr val="33473F"/>
                          </a:solidFill>
                          <a:latin typeface="Tajawal" pitchFamily="34" charset="0"/>
                          <a:ea typeface="Tajawal" pitchFamily="34" charset="-122"/>
                          <a:cs typeface="Tajawal" pitchFamily="34" charset="-120"/>
                        </a:rPr>
                        <a:t>تقارير مقدمي خدمات الدعم والتقويم الخارجي</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60" dirty="0">
                          <a:solidFill>
                            <a:srgbClr val="33473F"/>
                          </a:solidFill>
                          <a:latin typeface="Tajawal" pitchFamily="34" charset="0"/>
                          <a:ea typeface="Tajawal" pitchFamily="34" charset="-122"/>
                          <a:cs typeface="Tajawal" pitchFamily="34" charset="-120"/>
                        </a:rPr>
                        <a:t>٤</a:t>
                      </a:r>
                      <a:endParaRPr lang="ar-SA" sz="8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512064">
                <a:tc>
                  <a:txBody>
                    <a:bodyPr/>
                    <a:lstStyle/>
                    <a:p>
                      <a:pPr rtl="1" algn="r" indent="0" marL="0">
                        <a:buNone/>
                      </a:pPr>
                      <a:r>
                        <a:rPr lang="ar-SA" altLang="en-US" sz="880" dirty="0">
                          <a:solidFill>
                            <a:srgbClr val="33473F"/>
                          </a:solidFill>
                          <a:latin typeface="Tajawal" pitchFamily="34" charset="0"/>
                          <a:ea typeface="Tajawal" pitchFamily="34" charset="-122"/>
                          <a:cs typeface="Tajawal" pitchFamily="34" charset="-120"/>
                        </a:rPr>
                        <a:t>احتياجات المتعلمين وخطط تحسين نواتج التعلم</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60" dirty="0">
                          <a:solidFill>
                            <a:srgbClr val="33473F"/>
                          </a:solidFill>
                          <a:latin typeface="Tajawal" pitchFamily="34" charset="0"/>
                          <a:ea typeface="Tajawal" pitchFamily="34" charset="-122"/>
                          <a:cs typeface="Tajawal" pitchFamily="34" charset="-120"/>
                        </a:rPr>
                        <a:t>٥</a:t>
                      </a:r>
                      <a:endParaRPr lang="ar-SA" sz="8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512064">
                <a:tc>
                  <a:txBody>
                    <a:bodyPr/>
                    <a:lstStyle/>
                    <a:p>
                      <a:pPr rtl="1" algn="r" indent="0" marL="0">
                        <a:buNone/>
                      </a:pPr>
                      <a:r>
                        <a:rPr lang="ar-SA" altLang="en-US" sz="880" dirty="0">
                          <a:solidFill>
                            <a:srgbClr val="33473F"/>
                          </a:solidFill>
                          <a:latin typeface="Tajawal" pitchFamily="34" charset="0"/>
                          <a:ea typeface="Tajawal" pitchFamily="34" charset="-122"/>
                          <a:cs typeface="Tajawal" pitchFamily="34" charset="-120"/>
                        </a:rPr>
                        <a:t>نتائج تحليل SWOT والتحليل الرباعي لأداء المدرسة</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60" dirty="0">
                          <a:solidFill>
                            <a:srgbClr val="33473F"/>
                          </a:solidFill>
                          <a:latin typeface="Tajawal" pitchFamily="34" charset="0"/>
                          <a:ea typeface="Tajawal" pitchFamily="34" charset="-122"/>
                          <a:cs typeface="Tajawal" pitchFamily="34" charset="-120"/>
                        </a:rPr>
                        <a:t>٦</a:t>
                      </a:r>
                      <a:endParaRPr lang="ar-SA" sz="8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512064">
                <a:tc>
                  <a:txBody>
                    <a:bodyPr/>
                    <a:lstStyle/>
                    <a:p>
                      <a:pPr rtl="1" algn="r" indent="0" marL="0">
                        <a:buNone/>
                      </a:pPr>
                      <a:r>
                        <a:rPr lang="ar-SA" altLang="en-US" sz="880" dirty="0">
                          <a:solidFill>
                            <a:srgbClr val="33473F"/>
                          </a:solidFill>
                          <a:latin typeface="Tajawal" pitchFamily="34" charset="0"/>
                          <a:ea typeface="Tajawal" pitchFamily="34" charset="-122"/>
                          <a:cs typeface="Tajawal" pitchFamily="34" charset="-120"/>
                        </a:rPr>
                        <a:t>السجلات الفنية والإدارية وسجل النمو المهني بالمدرسة</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60" dirty="0">
                          <a:solidFill>
                            <a:srgbClr val="33473F"/>
                          </a:solidFill>
                          <a:latin typeface="Tajawal" pitchFamily="34" charset="0"/>
                          <a:ea typeface="Tajawal" pitchFamily="34" charset="-122"/>
                          <a:cs typeface="Tajawal" pitchFamily="34" charset="-120"/>
                        </a:rPr>
                        <a:t>٧</a:t>
                      </a:r>
                      <a:endParaRPr lang="ar-SA" sz="8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512064">
                <a:tc>
                  <a:txBody>
                    <a:bodyPr/>
                    <a:lstStyle/>
                    <a:p>
                      <a:pPr rtl="1" algn="r" indent="0" marL="0">
                        <a:buNone/>
                      </a:pPr>
                      <a:r>
                        <a:rPr lang="ar-SA" altLang="en-US" sz="880" dirty="0">
                          <a:solidFill>
                            <a:srgbClr val="33473F"/>
                          </a:solidFill>
                          <a:latin typeface="Tajawal" pitchFamily="34" charset="0"/>
                          <a:ea typeface="Tajawal" pitchFamily="34" charset="-122"/>
                          <a:cs typeface="Tajawal" pitchFamily="34" charset="-120"/>
                        </a:rPr>
                        <a:t>أولياء الأمور: نتائج التحصيل الدراسي واللائحة السلوكية</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60" dirty="0">
                          <a:solidFill>
                            <a:srgbClr val="33473F"/>
                          </a:solidFill>
                          <a:latin typeface="Tajawal" pitchFamily="34" charset="0"/>
                          <a:ea typeface="Tajawal" pitchFamily="34" charset="-122"/>
                          <a:cs typeface="Tajawal" pitchFamily="34" charset="-120"/>
                        </a:rPr>
                        <a:t>٨</a:t>
                      </a:r>
                      <a:endParaRPr lang="ar-SA" sz="8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tmp/claude-0/-home-user-Mobile1/ab9bbf47-b054-5f6e-be59-70476e095ce8/scratchpad/assets/bg_content.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11480" y="219456"/>
            <a:ext cx="786384" cy="608076"/>
          </a:xfrm>
          <a:prstGeom prst="rect">
            <a:avLst/>
          </a:prstGeom>
        </p:spPr>
      </p:pic>
      <p:sp>
        <p:nvSpPr>
          <p:cNvPr id="4" name="Shape 0"/>
          <p:cNvSpPr/>
          <p:nvPr/>
        </p:nvSpPr>
        <p:spPr>
          <a:xfrm>
            <a:off x="11268151" y="274320"/>
            <a:ext cx="512064" cy="512064"/>
          </a:xfrm>
          <a:prstGeom prst="roundRect">
            <a:avLst>
              <a:gd name="adj" fmla="val 21429"/>
            </a:avLst>
          </a:prstGeom>
          <a:solidFill>
            <a:srgbClr val="095242"/>
          </a:solidFill>
          <a:ln/>
        </p:spPr>
      </p:sp>
      <p:pic>
        <p:nvPicPr>
          <p:cNvPr id="5" name="Image 2" descr="/tmp/claude-0/-home-user-Mobile1/ab9bbf47-b054-5f6e-be59-70476e095ce8/scratchpad/assets/icons/listchecks_white.png">    </p:cNvPr>
          <p:cNvPicPr>
            <a:picLocks noChangeAspect="1"/>
          </p:cNvPicPr>
          <p:nvPr/>
        </p:nvPicPr>
        <p:blipFill>
          <a:blip r:embed="rId3"/>
          <a:stretch>
            <a:fillRect/>
          </a:stretch>
        </p:blipFill>
        <p:spPr>
          <a:xfrm>
            <a:off x="11387023" y="393192"/>
            <a:ext cx="274320" cy="274320"/>
          </a:xfrm>
          <a:prstGeom prst="rect">
            <a:avLst/>
          </a:prstGeom>
        </p:spPr>
      </p:pic>
      <p:sp>
        <p:nvSpPr>
          <p:cNvPr id="6" name="Text 1"/>
          <p:cNvSpPr/>
          <p:nvPr/>
        </p:nvSpPr>
        <p:spPr>
          <a:xfrm>
            <a:off x="2926080" y="274320"/>
            <a:ext cx="8177479" cy="512064"/>
          </a:xfrm>
          <a:prstGeom prst="rect">
            <a:avLst/>
          </a:prstGeom>
          <a:noFill/>
          <a:ln/>
        </p:spPr>
        <p:txBody>
          <a:bodyPr wrap="square" lIns="0" tIns="0" rIns="0" bIns="0" rtlCol="0" anchor="ctr"/>
          <a:lstStyle/>
          <a:p>
            <a:pPr rtl="1" algn="r" indent="0" marL="0">
              <a:buNone/>
            </a:pPr>
            <a:r>
              <a:rPr lang="ar-SA" altLang="en-US" sz="2000" b="1" dirty="0">
                <a:solidFill>
                  <a:srgbClr val="0F2A21"/>
                </a:solidFill>
                <a:latin typeface="Tajawal" pitchFamily="34" charset="0"/>
                <a:ea typeface="Tajawal" pitchFamily="34" charset="-122"/>
                <a:cs typeface="Tajawal" pitchFamily="34" charset="-120"/>
              </a:rPr>
              <a:t>ترتيب أولويات الخطة حسب مجالات التقويم</a:t>
            </a:r>
            <a:endParaRPr lang="ar-SA" sz="2000" dirty="0"/>
          </a:p>
        </p:txBody>
      </p:sp>
      <p:sp>
        <p:nvSpPr>
          <p:cNvPr id="7" name="Text 2"/>
          <p:cNvSpPr/>
          <p:nvPr/>
        </p:nvSpPr>
        <p:spPr>
          <a:xfrm>
            <a:off x="7665415" y="6519672"/>
            <a:ext cx="4114800" cy="274320"/>
          </a:xfrm>
          <a:prstGeom prst="rect">
            <a:avLst/>
          </a:prstGeom>
          <a:noFill/>
          <a:ln/>
        </p:spPr>
        <p:txBody>
          <a:bodyPr wrap="square" lIns="0" tIns="0" rIns="0" bIns="0" rtlCol="0" anchor="t"/>
          <a:lstStyle/>
          <a:p>
            <a:pPr rtl="1" algn="r" indent="0" marL="0">
              <a:buNone/>
            </a:pPr>
            <a:r>
              <a:rPr lang="ar-SA" altLang="en-US" sz="800" dirty="0">
                <a:solidFill>
                  <a:srgbClr val="7C8F87"/>
                </a:solidFill>
                <a:latin typeface="Tajawal" pitchFamily="34" charset="0"/>
                <a:ea typeface="Tajawal" pitchFamily="34" charset="-122"/>
                <a:cs typeface="Tajawal" pitchFamily="34" charset="-120"/>
              </a:rPr>
              <a:t>الخطة التشغيلية للعام الدراسي ١٤٤٨هـ</a:t>
            </a:r>
            <a:endParaRPr lang="ar-SA" sz="800" dirty="0"/>
          </a:p>
        </p:txBody>
      </p:sp>
      <p:sp>
        <p:nvSpPr>
          <p:cNvPr id="8" name="Text 3"/>
          <p:cNvSpPr/>
          <p:nvPr/>
        </p:nvSpPr>
        <p:spPr>
          <a:xfrm>
            <a:off x="411480" y="6519672"/>
            <a:ext cx="914400" cy="274320"/>
          </a:xfrm>
          <a:prstGeom prst="rect">
            <a:avLst/>
          </a:prstGeom>
          <a:noFill/>
          <a:ln/>
        </p:spPr>
        <p:txBody>
          <a:bodyPr wrap="square" lIns="0" tIns="0" rIns="0" bIns="0" rtlCol="0" anchor="t"/>
          <a:lstStyle/>
          <a:p>
            <a:pPr rtl="1" algn="l" indent="0" marL="0">
              <a:buNone/>
            </a:pPr>
            <a:r>
              <a:rPr lang="ar-SA" altLang="en-US" sz="850" b="1" dirty="0">
                <a:solidFill>
                  <a:srgbClr val="7C8F87"/>
                </a:solidFill>
                <a:latin typeface="Tajawal" pitchFamily="34" charset="0"/>
                <a:ea typeface="Tajawal" pitchFamily="34" charset="-122"/>
                <a:cs typeface="Tajawal" pitchFamily="34" charset="-120"/>
              </a:rPr>
              <a:t>١٠</a:t>
            </a:r>
            <a:endParaRPr lang="ar-SA" sz="850" dirty="0"/>
          </a:p>
        </p:txBody>
      </p:sp>
      <p:sp>
        <p:nvSpPr>
          <p:cNvPr id="9" name="Shape 4"/>
          <p:cNvSpPr/>
          <p:nvPr/>
        </p:nvSpPr>
        <p:spPr>
          <a:xfrm>
            <a:off x="6233008" y="1078992"/>
            <a:ext cx="5547208" cy="1627632"/>
          </a:xfrm>
          <a:prstGeom prst="roundRect">
            <a:avLst>
              <a:gd name="adj" fmla="val 4213"/>
            </a:avLst>
          </a:prstGeom>
          <a:solidFill>
            <a:srgbClr val="FFFFFF"/>
          </a:solidFill>
          <a:ln w="9525">
            <a:solidFill>
              <a:srgbClr val="DCE8E2"/>
            </a:solidFill>
            <a:prstDash val="solid"/>
          </a:ln>
          <a:effectLst>
            <a:outerShdw sx="100000" sy="100000" kx="0" ky="0" algn="bl" rotWithShape="0" blurRad="63500" dist="12700" dir="5400000">
              <a:srgbClr val="0E3B30">
                <a:alpha val="6000"/>
              </a:srgbClr>
            </a:outerShdw>
          </a:effectLst>
        </p:spPr>
      </p:sp>
      <p:sp>
        <p:nvSpPr>
          <p:cNvPr id="10" name="Shape 5"/>
          <p:cNvSpPr/>
          <p:nvPr/>
        </p:nvSpPr>
        <p:spPr>
          <a:xfrm>
            <a:off x="6361024" y="1188720"/>
            <a:ext cx="5291176" cy="365760"/>
          </a:xfrm>
          <a:prstGeom prst="roundRect">
            <a:avLst>
              <a:gd name="adj" fmla="val 17500"/>
            </a:avLst>
          </a:prstGeom>
          <a:solidFill>
            <a:srgbClr val="095242"/>
          </a:solidFill>
          <a:ln/>
        </p:spPr>
      </p:sp>
      <p:sp>
        <p:nvSpPr>
          <p:cNvPr id="11" name="Shape 6"/>
          <p:cNvSpPr/>
          <p:nvPr/>
        </p:nvSpPr>
        <p:spPr>
          <a:xfrm>
            <a:off x="11323015" y="1234440"/>
            <a:ext cx="274320" cy="274320"/>
          </a:xfrm>
          <a:prstGeom prst="ellipse">
            <a:avLst/>
          </a:prstGeom>
          <a:solidFill>
            <a:srgbClr val="FFFFFF"/>
          </a:solidFill>
          <a:ln/>
        </p:spPr>
      </p:sp>
      <p:sp>
        <p:nvSpPr>
          <p:cNvPr id="12" name="Text 7"/>
          <p:cNvSpPr/>
          <p:nvPr/>
        </p:nvSpPr>
        <p:spPr>
          <a:xfrm>
            <a:off x="11323015" y="1220724"/>
            <a:ext cx="274320" cy="274320"/>
          </a:xfrm>
          <a:prstGeom prst="rect">
            <a:avLst/>
          </a:prstGeom>
          <a:noFill/>
          <a:ln/>
        </p:spPr>
        <p:txBody>
          <a:bodyPr wrap="square" lIns="0" tIns="0" rIns="0" bIns="0" rtlCol="0" anchor="ctr"/>
          <a:lstStyle/>
          <a:p>
            <a:pPr rtl="1" algn="ctr" indent="0" marL="0">
              <a:buNone/>
            </a:pPr>
            <a:r>
              <a:rPr lang="ar-SA" altLang="en-US" sz="1100" b="1" dirty="0">
                <a:solidFill>
                  <a:srgbClr val="095242"/>
                </a:solidFill>
                <a:latin typeface="Tajawal" pitchFamily="34" charset="0"/>
                <a:ea typeface="Tajawal" pitchFamily="34" charset="-122"/>
                <a:cs typeface="Tajawal" pitchFamily="34" charset="-120"/>
              </a:rPr>
              <a:t>١</a:t>
            </a:r>
            <a:endParaRPr lang="ar-SA" sz="1100" dirty="0"/>
          </a:p>
        </p:txBody>
      </p:sp>
      <p:sp>
        <p:nvSpPr>
          <p:cNvPr id="13" name="Text 8"/>
          <p:cNvSpPr/>
          <p:nvPr/>
        </p:nvSpPr>
        <p:spPr>
          <a:xfrm>
            <a:off x="6507328" y="1188720"/>
            <a:ext cx="4769968" cy="365760"/>
          </a:xfrm>
          <a:prstGeom prst="rect">
            <a:avLst/>
          </a:prstGeom>
          <a:noFill/>
          <a:ln/>
        </p:spPr>
        <p:txBody>
          <a:bodyPr wrap="square" lIns="0" tIns="0" rIns="0" bIns="0" rtlCol="0" anchor="ctr"/>
          <a:lstStyle/>
          <a:p>
            <a:pPr rtl="1" algn="r" indent="0" marL="0">
              <a:buNone/>
            </a:pPr>
            <a:r>
              <a:rPr lang="ar-SA" altLang="en-US" sz="1200" b="1" dirty="0">
                <a:solidFill>
                  <a:srgbClr val="FFFFFF"/>
                </a:solidFill>
                <a:latin typeface="Tajawal" pitchFamily="34" charset="0"/>
                <a:ea typeface="Tajawal" pitchFamily="34" charset="-122"/>
                <a:cs typeface="Tajawal" pitchFamily="34" charset="-120"/>
              </a:rPr>
              <a:t>مجال التدريس</a:t>
            </a:r>
            <a:endParaRPr lang="ar-SA" sz="1200" dirty="0"/>
          </a:p>
        </p:txBody>
      </p:sp>
      <p:sp>
        <p:nvSpPr>
          <p:cNvPr id="14" name="Text 9"/>
          <p:cNvSpPr/>
          <p:nvPr/>
        </p:nvSpPr>
        <p:spPr>
          <a:xfrm>
            <a:off x="7805776" y="1645920"/>
            <a:ext cx="3764128" cy="365760"/>
          </a:xfrm>
          <a:prstGeom prst="rect">
            <a:avLst/>
          </a:prstGeom>
          <a:noFill/>
          <a:ln/>
        </p:spPr>
        <p:txBody>
          <a:bodyPr wrap="square" lIns="0" tIns="0" rIns="0" bIns="0" rtlCol="0" anchor="ctr"/>
          <a:lstStyle/>
          <a:p>
            <a:pPr rtl="1" algn="r" indent="0" marL="0">
              <a:lnSpc>
                <a:spcPct val="102000"/>
              </a:lnSpc>
              <a:buNone/>
            </a:pPr>
            <a:r>
              <a:rPr lang="ar-SA" altLang="en-US" sz="820" dirty="0">
                <a:solidFill>
                  <a:srgbClr val="33473F"/>
                </a:solidFill>
                <a:latin typeface="Tajawal" pitchFamily="34" charset="0"/>
                <a:ea typeface="Tajawal" pitchFamily="34" charset="-122"/>
                <a:cs typeface="Tajawal" pitchFamily="34" charset="-120"/>
              </a:rPr>
              <a:t>توفر المدرسة فرصًا متكافئة للتعلم تلبّي احتياجات المتعلّمين بمن فيهم ذوو الإعاقة</a:t>
            </a:r>
            <a:endParaRPr lang="ar-SA" sz="820" dirty="0"/>
          </a:p>
        </p:txBody>
      </p:sp>
      <p:sp>
        <p:nvSpPr>
          <p:cNvPr id="15" name="Shape 10"/>
          <p:cNvSpPr/>
          <p:nvPr/>
        </p:nvSpPr>
        <p:spPr>
          <a:xfrm>
            <a:off x="7019392" y="1696212"/>
            <a:ext cx="713232" cy="265176"/>
          </a:xfrm>
          <a:prstGeom prst="roundRect">
            <a:avLst>
              <a:gd name="adj" fmla="val 20690"/>
            </a:avLst>
          </a:prstGeom>
          <a:solidFill>
            <a:srgbClr val="F1F7F4"/>
          </a:solidFill>
          <a:ln w="6350">
            <a:solidFill>
              <a:srgbClr val="DCE8E2"/>
            </a:solidFill>
            <a:prstDash val="solid"/>
          </a:ln>
        </p:spPr>
      </p:sp>
      <p:sp>
        <p:nvSpPr>
          <p:cNvPr id="16" name="Text 11"/>
          <p:cNvSpPr/>
          <p:nvPr/>
        </p:nvSpPr>
        <p:spPr>
          <a:xfrm>
            <a:off x="7019392" y="1691640"/>
            <a:ext cx="713232" cy="265176"/>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‎2-1-1-9‎</a:t>
            </a:r>
            <a:endParaRPr lang="ar-SA" sz="800" dirty="0"/>
          </a:p>
        </p:txBody>
      </p:sp>
      <p:sp>
        <p:nvSpPr>
          <p:cNvPr id="17" name="Text 12"/>
          <p:cNvSpPr/>
          <p:nvPr/>
        </p:nvSpPr>
        <p:spPr>
          <a:xfrm>
            <a:off x="6361024" y="1691640"/>
            <a:ext cx="603504" cy="265176"/>
          </a:xfrm>
          <a:prstGeom prst="rect">
            <a:avLst/>
          </a:prstGeom>
          <a:noFill/>
          <a:ln/>
        </p:spPr>
        <p:txBody>
          <a:bodyPr wrap="square" lIns="0" tIns="0" rIns="0" bIns="0" rtlCol="0" anchor="ctr"/>
          <a:lstStyle/>
          <a:p>
            <a:pPr rtl="1" algn="ctr" indent="0" marL="0">
              <a:buNone/>
            </a:pPr>
            <a:r>
              <a:rPr lang="ar-SA" altLang="en-US" sz="900" b="1" dirty="0">
                <a:solidFill>
                  <a:srgbClr val="0089A1"/>
                </a:solidFill>
                <a:latin typeface="Tajawal" pitchFamily="34" charset="0"/>
                <a:ea typeface="Tajawal" pitchFamily="34" charset="-122"/>
                <a:cs typeface="Tajawal" pitchFamily="34" charset="-120"/>
              </a:rPr>
              <a:t>٧٢٫٧٥٪</a:t>
            </a:r>
            <a:endParaRPr lang="ar-SA" sz="900" dirty="0"/>
          </a:p>
        </p:txBody>
      </p:sp>
      <p:sp>
        <p:nvSpPr>
          <p:cNvPr id="18" name="Text 13"/>
          <p:cNvSpPr/>
          <p:nvPr/>
        </p:nvSpPr>
        <p:spPr>
          <a:xfrm>
            <a:off x="7805776" y="2011680"/>
            <a:ext cx="3764128" cy="365760"/>
          </a:xfrm>
          <a:prstGeom prst="rect">
            <a:avLst/>
          </a:prstGeom>
          <a:noFill/>
          <a:ln/>
        </p:spPr>
        <p:txBody>
          <a:bodyPr wrap="square" lIns="0" tIns="0" rIns="0" bIns="0" rtlCol="0" anchor="ctr"/>
          <a:lstStyle/>
          <a:p>
            <a:pPr rtl="1" algn="r" indent="0" marL="0">
              <a:lnSpc>
                <a:spcPct val="102000"/>
              </a:lnSpc>
              <a:buNone/>
            </a:pPr>
            <a:r>
              <a:rPr lang="ar-SA" altLang="en-US" sz="820" dirty="0">
                <a:solidFill>
                  <a:srgbClr val="33473F"/>
                </a:solidFill>
                <a:latin typeface="Tajawal" pitchFamily="34" charset="0"/>
                <a:ea typeface="Tajawal" pitchFamily="34" charset="-122"/>
                <a:cs typeface="Tajawal" pitchFamily="34" charset="-120"/>
              </a:rPr>
              <a:t>تفعّل المدرسة التعلم الإلكتروني لتلبية احتياجات المتعلّمين ودعم تعلمهم</a:t>
            </a:r>
            <a:endParaRPr lang="ar-SA" sz="820" dirty="0"/>
          </a:p>
        </p:txBody>
      </p:sp>
      <p:sp>
        <p:nvSpPr>
          <p:cNvPr id="19" name="Shape 14"/>
          <p:cNvSpPr/>
          <p:nvPr/>
        </p:nvSpPr>
        <p:spPr>
          <a:xfrm>
            <a:off x="7019392" y="2061972"/>
            <a:ext cx="713232" cy="265176"/>
          </a:xfrm>
          <a:prstGeom prst="roundRect">
            <a:avLst>
              <a:gd name="adj" fmla="val 20690"/>
            </a:avLst>
          </a:prstGeom>
          <a:solidFill>
            <a:srgbClr val="F1F7F4"/>
          </a:solidFill>
          <a:ln w="6350">
            <a:solidFill>
              <a:srgbClr val="DCE8E2"/>
            </a:solidFill>
            <a:prstDash val="solid"/>
          </a:ln>
        </p:spPr>
      </p:sp>
      <p:sp>
        <p:nvSpPr>
          <p:cNvPr id="20" name="Text 15"/>
          <p:cNvSpPr/>
          <p:nvPr/>
        </p:nvSpPr>
        <p:spPr>
          <a:xfrm>
            <a:off x="7019392" y="2057400"/>
            <a:ext cx="713232" cy="265176"/>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‎2-1-1-4‎</a:t>
            </a:r>
            <a:endParaRPr lang="ar-SA" sz="800" dirty="0"/>
          </a:p>
        </p:txBody>
      </p:sp>
      <p:sp>
        <p:nvSpPr>
          <p:cNvPr id="21" name="Text 16"/>
          <p:cNvSpPr/>
          <p:nvPr/>
        </p:nvSpPr>
        <p:spPr>
          <a:xfrm>
            <a:off x="6361024" y="2057400"/>
            <a:ext cx="603504" cy="265176"/>
          </a:xfrm>
          <a:prstGeom prst="rect">
            <a:avLst/>
          </a:prstGeom>
          <a:noFill/>
          <a:ln/>
        </p:spPr>
        <p:txBody>
          <a:bodyPr wrap="square" lIns="0" tIns="0" rIns="0" bIns="0" rtlCol="0" anchor="ctr"/>
          <a:lstStyle/>
          <a:p>
            <a:pPr rtl="1" algn="ctr" indent="0" marL="0">
              <a:buNone/>
            </a:pPr>
            <a:r>
              <a:rPr lang="ar-SA" altLang="en-US" sz="900" b="1" dirty="0">
                <a:solidFill>
                  <a:srgbClr val="7C8F87"/>
                </a:solidFill>
                <a:latin typeface="Tajawal" pitchFamily="34" charset="0"/>
                <a:ea typeface="Tajawal" pitchFamily="34" charset="-122"/>
                <a:cs typeface="Tajawal" pitchFamily="34" charset="-120"/>
              </a:rPr>
              <a:t>……</a:t>
            </a:r>
            <a:endParaRPr lang="ar-SA" sz="900" dirty="0"/>
          </a:p>
        </p:txBody>
      </p:sp>
      <p:sp>
        <p:nvSpPr>
          <p:cNvPr id="22" name="Text 17"/>
          <p:cNvSpPr/>
          <p:nvPr/>
        </p:nvSpPr>
        <p:spPr>
          <a:xfrm>
            <a:off x="7805776" y="2377440"/>
            <a:ext cx="3764128" cy="365760"/>
          </a:xfrm>
          <a:prstGeom prst="rect">
            <a:avLst/>
          </a:prstGeom>
          <a:noFill/>
          <a:ln/>
        </p:spPr>
        <p:txBody>
          <a:bodyPr wrap="square" lIns="0" tIns="0" rIns="0" bIns="0" rtlCol="0" anchor="ctr"/>
          <a:lstStyle/>
          <a:p>
            <a:pPr rtl="1" algn="r" indent="0" marL="0">
              <a:lnSpc>
                <a:spcPct val="102000"/>
              </a:lnSpc>
              <a:buNone/>
            </a:pPr>
            <a:r>
              <a:rPr lang="ar-SA" altLang="en-US" sz="820" dirty="0">
                <a:solidFill>
                  <a:srgbClr val="33473F"/>
                </a:solidFill>
                <a:latin typeface="Tajawal" pitchFamily="34" charset="0"/>
                <a:ea typeface="Tajawal" pitchFamily="34" charset="-122"/>
                <a:cs typeface="Tajawal" pitchFamily="34" charset="-120"/>
              </a:rPr>
              <a:t>تنمّي المدرسة المهارات الرقمية لدى المتعلّمين</a:t>
            </a:r>
            <a:endParaRPr lang="ar-SA" sz="820" dirty="0"/>
          </a:p>
        </p:txBody>
      </p:sp>
      <p:sp>
        <p:nvSpPr>
          <p:cNvPr id="23" name="Shape 18"/>
          <p:cNvSpPr/>
          <p:nvPr/>
        </p:nvSpPr>
        <p:spPr>
          <a:xfrm>
            <a:off x="7019392" y="2427732"/>
            <a:ext cx="713232" cy="265176"/>
          </a:xfrm>
          <a:prstGeom prst="roundRect">
            <a:avLst>
              <a:gd name="adj" fmla="val 20690"/>
            </a:avLst>
          </a:prstGeom>
          <a:solidFill>
            <a:srgbClr val="F1F7F4"/>
          </a:solidFill>
          <a:ln w="6350">
            <a:solidFill>
              <a:srgbClr val="DCE8E2"/>
            </a:solidFill>
            <a:prstDash val="solid"/>
          </a:ln>
        </p:spPr>
      </p:sp>
      <p:sp>
        <p:nvSpPr>
          <p:cNvPr id="24" name="Text 19"/>
          <p:cNvSpPr/>
          <p:nvPr/>
        </p:nvSpPr>
        <p:spPr>
          <a:xfrm>
            <a:off x="7019392" y="2423160"/>
            <a:ext cx="713232" cy="265176"/>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‎2-1-1-10‎</a:t>
            </a:r>
            <a:endParaRPr lang="ar-SA" sz="800" dirty="0"/>
          </a:p>
        </p:txBody>
      </p:sp>
      <p:sp>
        <p:nvSpPr>
          <p:cNvPr id="25" name="Text 20"/>
          <p:cNvSpPr/>
          <p:nvPr/>
        </p:nvSpPr>
        <p:spPr>
          <a:xfrm>
            <a:off x="6361024" y="2423160"/>
            <a:ext cx="603504" cy="265176"/>
          </a:xfrm>
          <a:prstGeom prst="rect">
            <a:avLst/>
          </a:prstGeom>
          <a:noFill/>
          <a:ln/>
        </p:spPr>
        <p:txBody>
          <a:bodyPr wrap="square" lIns="0" tIns="0" rIns="0" bIns="0" rtlCol="0" anchor="ctr"/>
          <a:lstStyle/>
          <a:p>
            <a:pPr rtl="1" algn="ctr" indent="0" marL="0">
              <a:buNone/>
            </a:pPr>
            <a:r>
              <a:rPr lang="ar-SA" altLang="en-US" sz="900" b="1" dirty="0">
                <a:solidFill>
                  <a:srgbClr val="7C8F87"/>
                </a:solidFill>
                <a:latin typeface="Tajawal" pitchFamily="34" charset="0"/>
                <a:ea typeface="Tajawal" pitchFamily="34" charset="-122"/>
                <a:cs typeface="Tajawal" pitchFamily="34" charset="-120"/>
              </a:rPr>
              <a:t>……</a:t>
            </a:r>
            <a:endParaRPr lang="ar-SA" sz="900" dirty="0"/>
          </a:p>
        </p:txBody>
      </p:sp>
      <p:sp>
        <p:nvSpPr>
          <p:cNvPr id="26" name="Shape 21"/>
          <p:cNvSpPr/>
          <p:nvPr/>
        </p:nvSpPr>
        <p:spPr>
          <a:xfrm>
            <a:off x="411480" y="1078992"/>
            <a:ext cx="5547208" cy="1627632"/>
          </a:xfrm>
          <a:prstGeom prst="roundRect">
            <a:avLst>
              <a:gd name="adj" fmla="val 4213"/>
            </a:avLst>
          </a:prstGeom>
          <a:solidFill>
            <a:srgbClr val="FFFFFF"/>
          </a:solidFill>
          <a:ln w="9525">
            <a:solidFill>
              <a:srgbClr val="DCE8E2"/>
            </a:solidFill>
            <a:prstDash val="solid"/>
          </a:ln>
          <a:effectLst>
            <a:outerShdw sx="100000" sy="100000" kx="0" ky="0" algn="bl" rotWithShape="0" blurRad="63500" dist="12700" dir="5400000">
              <a:srgbClr val="0E3B30">
                <a:alpha val="6000"/>
              </a:srgbClr>
            </a:outerShdw>
          </a:effectLst>
        </p:spPr>
      </p:sp>
      <p:sp>
        <p:nvSpPr>
          <p:cNvPr id="27" name="Shape 22"/>
          <p:cNvSpPr/>
          <p:nvPr/>
        </p:nvSpPr>
        <p:spPr>
          <a:xfrm>
            <a:off x="539496" y="1188720"/>
            <a:ext cx="5291176" cy="365760"/>
          </a:xfrm>
          <a:prstGeom prst="roundRect">
            <a:avLst>
              <a:gd name="adj" fmla="val 17500"/>
            </a:avLst>
          </a:prstGeom>
          <a:solidFill>
            <a:srgbClr val="095242"/>
          </a:solidFill>
          <a:ln/>
        </p:spPr>
      </p:sp>
      <p:sp>
        <p:nvSpPr>
          <p:cNvPr id="28" name="Shape 23"/>
          <p:cNvSpPr/>
          <p:nvPr/>
        </p:nvSpPr>
        <p:spPr>
          <a:xfrm>
            <a:off x="5501488" y="1234440"/>
            <a:ext cx="274320" cy="274320"/>
          </a:xfrm>
          <a:prstGeom prst="ellipse">
            <a:avLst/>
          </a:prstGeom>
          <a:solidFill>
            <a:srgbClr val="FFFFFF"/>
          </a:solidFill>
          <a:ln/>
        </p:spPr>
      </p:sp>
      <p:sp>
        <p:nvSpPr>
          <p:cNvPr id="29" name="Text 24"/>
          <p:cNvSpPr/>
          <p:nvPr/>
        </p:nvSpPr>
        <p:spPr>
          <a:xfrm>
            <a:off x="5501488" y="1220724"/>
            <a:ext cx="274320" cy="274320"/>
          </a:xfrm>
          <a:prstGeom prst="rect">
            <a:avLst/>
          </a:prstGeom>
          <a:noFill/>
          <a:ln/>
        </p:spPr>
        <p:txBody>
          <a:bodyPr wrap="square" lIns="0" tIns="0" rIns="0" bIns="0" rtlCol="0" anchor="ctr"/>
          <a:lstStyle/>
          <a:p>
            <a:pPr rtl="1" algn="ctr" indent="0" marL="0">
              <a:buNone/>
            </a:pPr>
            <a:r>
              <a:rPr lang="ar-SA" altLang="en-US" sz="1100" b="1" dirty="0">
                <a:solidFill>
                  <a:srgbClr val="095242"/>
                </a:solidFill>
                <a:latin typeface="Tajawal" pitchFamily="34" charset="0"/>
                <a:ea typeface="Tajawal" pitchFamily="34" charset="-122"/>
                <a:cs typeface="Tajawal" pitchFamily="34" charset="-120"/>
              </a:rPr>
              <a:t>٢</a:t>
            </a:r>
            <a:endParaRPr lang="ar-SA" sz="1100" dirty="0"/>
          </a:p>
        </p:txBody>
      </p:sp>
      <p:sp>
        <p:nvSpPr>
          <p:cNvPr id="30" name="Text 25"/>
          <p:cNvSpPr/>
          <p:nvPr/>
        </p:nvSpPr>
        <p:spPr>
          <a:xfrm>
            <a:off x="685800" y="1188720"/>
            <a:ext cx="4769968" cy="365760"/>
          </a:xfrm>
          <a:prstGeom prst="rect">
            <a:avLst/>
          </a:prstGeom>
          <a:noFill/>
          <a:ln/>
        </p:spPr>
        <p:txBody>
          <a:bodyPr wrap="square" lIns="0" tIns="0" rIns="0" bIns="0" rtlCol="0" anchor="ctr"/>
          <a:lstStyle/>
          <a:p>
            <a:pPr rtl="1" algn="r" indent="0" marL="0">
              <a:buNone/>
            </a:pPr>
            <a:r>
              <a:rPr lang="ar-SA" altLang="en-US" sz="1200" b="1" dirty="0">
                <a:solidFill>
                  <a:srgbClr val="FFFFFF"/>
                </a:solidFill>
                <a:latin typeface="Tajawal" pitchFamily="34" charset="0"/>
                <a:ea typeface="Tajawal" pitchFamily="34" charset="-122"/>
                <a:cs typeface="Tajawal" pitchFamily="34" charset="-120"/>
              </a:rPr>
              <a:t>مجال نواتج التعلم</a:t>
            </a:r>
            <a:endParaRPr lang="ar-SA" sz="1200" dirty="0"/>
          </a:p>
        </p:txBody>
      </p:sp>
      <p:sp>
        <p:nvSpPr>
          <p:cNvPr id="31" name="Text 26"/>
          <p:cNvSpPr/>
          <p:nvPr/>
        </p:nvSpPr>
        <p:spPr>
          <a:xfrm>
            <a:off x="1984248" y="1645920"/>
            <a:ext cx="3764128" cy="365760"/>
          </a:xfrm>
          <a:prstGeom prst="rect">
            <a:avLst/>
          </a:prstGeom>
          <a:noFill/>
          <a:ln/>
        </p:spPr>
        <p:txBody>
          <a:bodyPr wrap="square" lIns="0" tIns="0" rIns="0" bIns="0" rtlCol="0" anchor="ctr"/>
          <a:lstStyle/>
          <a:p>
            <a:pPr rtl="1" algn="r" indent="0" marL="0">
              <a:lnSpc>
                <a:spcPct val="102000"/>
              </a:lnSpc>
              <a:buNone/>
            </a:pPr>
            <a:r>
              <a:rPr lang="ar-SA" altLang="en-US" sz="820" dirty="0">
                <a:solidFill>
                  <a:srgbClr val="33473F"/>
                </a:solidFill>
                <a:latin typeface="Tajawal" pitchFamily="34" charset="0"/>
                <a:ea typeface="Tajawal" pitchFamily="34" charset="-122"/>
                <a:cs typeface="Tajawal" pitchFamily="34" charset="-120"/>
              </a:rPr>
              <a:t>يحقّق المتعلمون نتائج متقدمة في الاختبارات التحصيلية للمرحلة الثانوية</a:t>
            </a:r>
            <a:endParaRPr lang="ar-SA" sz="820" dirty="0"/>
          </a:p>
        </p:txBody>
      </p:sp>
      <p:sp>
        <p:nvSpPr>
          <p:cNvPr id="32" name="Shape 27"/>
          <p:cNvSpPr/>
          <p:nvPr/>
        </p:nvSpPr>
        <p:spPr>
          <a:xfrm>
            <a:off x="1197864" y="1696212"/>
            <a:ext cx="713232" cy="265176"/>
          </a:xfrm>
          <a:prstGeom prst="roundRect">
            <a:avLst>
              <a:gd name="adj" fmla="val 20690"/>
            </a:avLst>
          </a:prstGeom>
          <a:solidFill>
            <a:srgbClr val="F1F7F4"/>
          </a:solidFill>
          <a:ln w="6350">
            <a:solidFill>
              <a:srgbClr val="DCE8E2"/>
            </a:solidFill>
            <a:prstDash val="solid"/>
          </a:ln>
        </p:spPr>
      </p:sp>
      <p:sp>
        <p:nvSpPr>
          <p:cNvPr id="33" name="Text 28"/>
          <p:cNvSpPr/>
          <p:nvPr/>
        </p:nvSpPr>
        <p:spPr>
          <a:xfrm>
            <a:off x="1197864" y="1691640"/>
            <a:ext cx="713232" cy="265176"/>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‎3-1-1-10‎</a:t>
            </a:r>
            <a:endParaRPr lang="ar-SA" sz="800" dirty="0"/>
          </a:p>
        </p:txBody>
      </p:sp>
      <p:sp>
        <p:nvSpPr>
          <p:cNvPr id="34" name="Text 29"/>
          <p:cNvSpPr/>
          <p:nvPr/>
        </p:nvSpPr>
        <p:spPr>
          <a:xfrm>
            <a:off x="539496" y="1691640"/>
            <a:ext cx="603504" cy="265176"/>
          </a:xfrm>
          <a:prstGeom prst="rect">
            <a:avLst/>
          </a:prstGeom>
          <a:noFill/>
          <a:ln/>
        </p:spPr>
        <p:txBody>
          <a:bodyPr wrap="square" lIns="0" tIns="0" rIns="0" bIns="0" rtlCol="0" anchor="ctr"/>
          <a:lstStyle/>
          <a:p>
            <a:pPr rtl="1" algn="ctr" indent="0" marL="0">
              <a:buNone/>
            </a:pPr>
            <a:r>
              <a:rPr lang="ar-SA" altLang="en-US" sz="900" b="1" dirty="0">
                <a:solidFill>
                  <a:srgbClr val="7C8F87"/>
                </a:solidFill>
                <a:latin typeface="Tajawal" pitchFamily="34" charset="0"/>
                <a:ea typeface="Tajawal" pitchFamily="34" charset="-122"/>
                <a:cs typeface="Tajawal" pitchFamily="34" charset="-120"/>
              </a:rPr>
              <a:t>……</a:t>
            </a:r>
            <a:endParaRPr lang="ar-SA" sz="900" dirty="0"/>
          </a:p>
        </p:txBody>
      </p:sp>
      <p:sp>
        <p:nvSpPr>
          <p:cNvPr id="35" name="Text 30"/>
          <p:cNvSpPr/>
          <p:nvPr/>
        </p:nvSpPr>
        <p:spPr>
          <a:xfrm>
            <a:off x="1984248" y="2011680"/>
            <a:ext cx="3764128" cy="365760"/>
          </a:xfrm>
          <a:prstGeom prst="rect">
            <a:avLst/>
          </a:prstGeom>
          <a:noFill/>
          <a:ln/>
        </p:spPr>
        <p:txBody>
          <a:bodyPr wrap="square" lIns="0" tIns="0" rIns="0" bIns="0" rtlCol="0" anchor="ctr"/>
          <a:lstStyle/>
          <a:p>
            <a:pPr rtl="1" algn="r" indent="0" marL="0">
              <a:lnSpc>
                <a:spcPct val="102000"/>
              </a:lnSpc>
              <a:buNone/>
            </a:pPr>
            <a:r>
              <a:rPr lang="ar-SA" altLang="en-US" sz="820" dirty="0">
                <a:solidFill>
                  <a:srgbClr val="33473F"/>
                </a:solidFill>
                <a:latin typeface="Tajawal" pitchFamily="34" charset="0"/>
                <a:ea typeface="Tajawal" pitchFamily="34" charset="-122"/>
                <a:cs typeface="Tajawal" pitchFamily="34" charset="-120"/>
              </a:rPr>
              <a:t>يحقّق المتعلمون نتائج متقدمة في اختبارات القدرات العامة للمرحلة الثانوية</a:t>
            </a:r>
            <a:endParaRPr lang="ar-SA" sz="820" dirty="0"/>
          </a:p>
        </p:txBody>
      </p:sp>
      <p:sp>
        <p:nvSpPr>
          <p:cNvPr id="36" name="Shape 31"/>
          <p:cNvSpPr/>
          <p:nvPr/>
        </p:nvSpPr>
        <p:spPr>
          <a:xfrm>
            <a:off x="1197864" y="2061972"/>
            <a:ext cx="713232" cy="265176"/>
          </a:xfrm>
          <a:prstGeom prst="roundRect">
            <a:avLst>
              <a:gd name="adj" fmla="val 20690"/>
            </a:avLst>
          </a:prstGeom>
          <a:solidFill>
            <a:srgbClr val="F1F7F4"/>
          </a:solidFill>
          <a:ln w="6350">
            <a:solidFill>
              <a:srgbClr val="DCE8E2"/>
            </a:solidFill>
            <a:prstDash val="solid"/>
          </a:ln>
        </p:spPr>
      </p:sp>
      <p:sp>
        <p:nvSpPr>
          <p:cNvPr id="37" name="Text 32"/>
          <p:cNvSpPr/>
          <p:nvPr/>
        </p:nvSpPr>
        <p:spPr>
          <a:xfrm>
            <a:off x="1197864" y="2057400"/>
            <a:ext cx="713232" cy="265176"/>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‎3-1-1-11‎</a:t>
            </a:r>
            <a:endParaRPr lang="ar-SA" sz="800" dirty="0"/>
          </a:p>
        </p:txBody>
      </p:sp>
      <p:sp>
        <p:nvSpPr>
          <p:cNvPr id="38" name="Text 33"/>
          <p:cNvSpPr/>
          <p:nvPr/>
        </p:nvSpPr>
        <p:spPr>
          <a:xfrm>
            <a:off x="539496" y="2057400"/>
            <a:ext cx="603504" cy="265176"/>
          </a:xfrm>
          <a:prstGeom prst="rect">
            <a:avLst/>
          </a:prstGeom>
          <a:noFill/>
          <a:ln/>
        </p:spPr>
        <p:txBody>
          <a:bodyPr wrap="square" lIns="0" tIns="0" rIns="0" bIns="0" rtlCol="0" anchor="ctr"/>
          <a:lstStyle/>
          <a:p>
            <a:pPr rtl="1" algn="ctr" indent="0" marL="0">
              <a:buNone/>
            </a:pPr>
            <a:r>
              <a:rPr lang="ar-SA" altLang="en-US" sz="900" b="1" dirty="0">
                <a:solidFill>
                  <a:srgbClr val="7C8F87"/>
                </a:solidFill>
                <a:latin typeface="Tajawal" pitchFamily="34" charset="0"/>
                <a:ea typeface="Tajawal" pitchFamily="34" charset="-122"/>
                <a:cs typeface="Tajawal" pitchFamily="34" charset="-120"/>
              </a:rPr>
              <a:t>……</a:t>
            </a:r>
            <a:endParaRPr lang="ar-SA" sz="900" dirty="0"/>
          </a:p>
        </p:txBody>
      </p:sp>
      <p:sp>
        <p:nvSpPr>
          <p:cNvPr id="39" name="Shape 34"/>
          <p:cNvSpPr/>
          <p:nvPr/>
        </p:nvSpPr>
        <p:spPr>
          <a:xfrm>
            <a:off x="6233008" y="2871216"/>
            <a:ext cx="5547208" cy="1335024"/>
          </a:xfrm>
          <a:prstGeom prst="roundRect">
            <a:avLst>
              <a:gd name="adj" fmla="val 5137"/>
            </a:avLst>
          </a:prstGeom>
          <a:solidFill>
            <a:srgbClr val="FFFFFF"/>
          </a:solidFill>
          <a:ln w="9525">
            <a:solidFill>
              <a:srgbClr val="DCE8E2"/>
            </a:solidFill>
            <a:prstDash val="solid"/>
          </a:ln>
          <a:effectLst>
            <a:outerShdw sx="100000" sy="100000" kx="0" ky="0" algn="bl" rotWithShape="0" blurRad="63500" dist="12700" dir="5400000">
              <a:srgbClr val="0E3B30">
                <a:alpha val="6000"/>
              </a:srgbClr>
            </a:outerShdw>
          </a:effectLst>
        </p:spPr>
      </p:sp>
      <p:sp>
        <p:nvSpPr>
          <p:cNvPr id="40" name="Shape 35"/>
          <p:cNvSpPr/>
          <p:nvPr/>
        </p:nvSpPr>
        <p:spPr>
          <a:xfrm>
            <a:off x="6361024" y="2980944"/>
            <a:ext cx="5291176" cy="365760"/>
          </a:xfrm>
          <a:prstGeom prst="roundRect">
            <a:avLst>
              <a:gd name="adj" fmla="val 17500"/>
            </a:avLst>
          </a:prstGeom>
          <a:solidFill>
            <a:srgbClr val="095242"/>
          </a:solidFill>
          <a:ln/>
        </p:spPr>
      </p:sp>
      <p:sp>
        <p:nvSpPr>
          <p:cNvPr id="41" name="Shape 36"/>
          <p:cNvSpPr/>
          <p:nvPr/>
        </p:nvSpPr>
        <p:spPr>
          <a:xfrm>
            <a:off x="11323015" y="3026664"/>
            <a:ext cx="274320" cy="274320"/>
          </a:xfrm>
          <a:prstGeom prst="ellipse">
            <a:avLst/>
          </a:prstGeom>
          <a:solidFill>
            <a:srgbClr val="FFFFFF"/>
          </a:solidFill>
          <a:ln/>
        </p:spPr>
      </p:sp>
      <p:sp>
        <p:nvSpPr>
          <p:cNvPr id="42" name="Text 37"/>
          <p:cNvSpPr/>
          <p:nvPr/>
        </p:nvSpPr>
        <p:spPr>
          <a:xfrm>
            <a:off x="11323015" y="3012948"/>
            <a:ext cx="274320" cy="274320"/>
          </a:xfrm>
          <a:prstGeom prst="rect">
            <a:avLst/>
          </a:prstGeom>
          <a:noFill/>
          <a:ln/>
        </p:spPr>
        <p:txBody>
          <a:bodyPr wrap="square" lIns="0" tIns="0" rIns="0" bIns="0" rtlCol="0" anchor="ctr"/>
          <a:lstStyle/>
          <a:p>
            <a:pPr rtl="1" algn="ctr" indent="0" marL="0">
              <a:buNone/>
            </a:pPr>
            <a:r>
              <a:rPr lang="ar-SA" altLang="en-US" sz="1100" b="1" dirty="0">
                <a:solidFill>
                  <a:srgbClr val="095242"/>
                </a:solidFill>
                <a:latin typeface="Tajawal" pitchFamily="34" charset="0"/>
                <a:ea typeface="Tajawal" pitchFamily="34" charset="-122"/>
                <a:cs typeface="Tajawal" pitchFamily="34" charset="-120"/>
              </a:rPr>
              <a:t>٣</a:t>
            </a:r>
            <a:endParaRPr lang="ar-SA" sz="1100" dirty="0"/>
          </a:p>
        </p:txBody>
      </p:sp>
      <p:sp>
        <p:nvSpPr>
          <p:cNvPr id="43" name="Text 38"/>
          <p:cNvSpPr/>
          <p:nvPr/>
        </p:nvSpPr>
        <p:spPr>
          <a:xfrm>
            <a:off x="6507328" y="2980944"/>
            <a:ext cx="4769968" cy="365760"/>
          </a:xfrm>
          <a:prstGeom prst="rect">
            <a:avLst/>
          </a:prstGeom>
          <a:noFill/>
          <a:ln/>
        </p:spPr>
        <p:txBody>
          <a:bodyPr wrap="square" lIns="0" tIns="0" rIns="0" bIns="0" rtlCol="0" anchor="ctr"/>
          <a:lstStyle/>
          <a:p>
            <a:pPr rtl="1" algn="r" indent="0" marL="0">
              <a:buNone/>
            </a:pPr>
            <a:r>
              <a:rPr lang="ar-SA" altLang="en-US" sz="1200" b="1" dirty="0">
                <a:solidFill>
                  <a:srgbClr val="FFFFFF"/>
                </a:solidFill>
                <a:latin typeface="Tajawal" pitchFamily="34" charset="0"/>
                <a:ea typeface="Tajawal" pitchFamily="34" charset="-122"/>
                <a:cs typeface="Tajawal" pitchFamily="34" charset="-120"/>
              </a:rPr>
              <a:t>مجال التوجيه الطلابي</a:t>
            </a:r>
            <a:endParaRPr lang="ar-SA" sz="1200" dirty="0"/>
          </a:p>
        </p:txBody>
      </p:sp>
      <p:sp>
        <p:nvSpPr>
          <p:cNvPr id="44" name="Text 39"/>
          <p:cNvSpPr/>
          <p:nvPr/>
        </p:nvSpPr>
        <p:spPr>
          <a:xfrm>
            <a:off x="7805776" y="3438144"/>
            <a:ext cx="3764128" cy="365760"/>
          </a:xfrm>
          <a:prstGeom prst="rect">
            <a:avLst/>
          </a:prstGeom>
          <a:noFill/>
          <a:ln/>
        </p:spPr>
        <p:txBody>
          <a:bodyPr wrap="square" lIns="0" tIns="0" rIns="0" bIns="0" rtlCol="0" anchor="ctr"/>
          <a:lstStyle/>
          <a:p>
            <a:pPr rtl="1" algn="r" indent="0" marL="0">
              <a:lnSpc>
                <a:spcPct val="102000"/>
              </a:lnSpc>
              <a:buNone/>
            </a:pPr>
            <a:r>
              <a:rPr lang="ar-SA" altLang="en-US" sz="820" dirty="0">
                <a:solidFill>
                  <a:srgbClr val="33473F"/>
                </a:solidFill>
                <a:latin typeface="Tajawal" pitchFamily="34" charset="0"/>
                <a:ea typeface="Tajawal" pitchFamily="34" charset="-122"/>
                <a:cs typeface="Tajawal" pitchFamily="34" charset="-120"/>
              </a:rPr>
              <a:t>تنشر المدرسة قواعد السلوك والمواظبة، وتُتابع تطبيقها</a:t>
            </a:r>
            <a:endParaRPr lang="ar-SA" sz="820" dirty="0"/>
          </a:p>
        </p:txBody>
      </p:sp>
      <p:sp>
        <p:nvSpPr>
          <p:cNvPr id="45" name="Shape 40"/>
          <p:cNvSpPr/>
          <p:nvPr/>
        </p:nvSpPr>
        <p:spPr>
          <a:xfrm>
            <a:off x="7019392" y="3488436"/>
            <a:ext cx="713232" cy="265176"/>
          </a:xfrm>
          <a:prstGeom prst="roundRect">
            <a:avLst>
              <a:gd name="adj" fmla="val 20690"/>
            </a:avLst>
          </a:prstGeom>
          <a:solidFill>
            <a:srgbClr val="F1F7F4"/>
          </a:solidFill>
          <a:ln w="6350">
            <a:solidFill>
              <a:srgbClr val="DCE8E2"/>
            </a:solidFill>
            <a:prstDash val="solid"/>
          </a:ln>
        </p:spPr>
      </p:sp>
      <p:sp>
        <p:nvSpPr>
          <p:cNvPr id="46" name="Text 41"/>
          <p:cNvSpPr/>
          <p:nvPr/>
        </p:nvSpPr>
        <p:spPr>
          <a:xfrm>
            <a:off x="7019392" y="3483864"/>
            <a:ext cx="713232" cy="265176"/>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‎1-2-1-2‎</a:t>
            </a:r>
            <a:endParaRPr lang="ar-SA" sz="800" dirty="0"/>
          </a:p>
        </p:txBody>
      </p:sp>
      <p:sp>
        <p:nvSpPr>
          <p:cNvPr id="47" name="Text 42"/>
          <p:cNvSpPr/>
          <p:nvPr/>
        </p:nvSpPr>
        <p:spPr>
          <a:xfrm>
            <a:off x="6361024" y="3483864"/>
            <a:ext cx="603504" cy="265176"/>
          </a:xfrm>
          <a:prstGeom prst="rect">
            <a:avLst/>
          </a:prstGeom>
          <a:noFill/>
          <a:ln/>
        </p:spPr>
        <p:txBody>
          <a:bodyPr wrap="square" lIns="0" tIns="0" rIns="0" bIns="0" rtlCol="0" anchor="ctr"/>
          <a:lstStyle/>
          <a:p>
            <a:pPr rtl="1" algn="ctr" indent="0" marL="0">
              <a:buNone/>
            </a:pPr>
            <a:r>
              <a:rPr lang="ar-SA" altLang="en-US" sz="900" b="1" dirty="0">
                <a:solidFill>
                  <a:srgbClr val="7C8F87"/>
                </a:solidFill>
                <a:latin typeface="Tajawal" pitchFamily="34" charset="0"/>
                <a:ea typeface="Tajawal" pitchFamily="34" charset="-122"/>
                <a:cs typeface="Tajawal" pitchFamily="34" charset="-120"/>
              </a:rPr>
              <a:t>……</a:t>
            </a:r>
            <a:endParaRPr lang="ar-SA" sz="900" dirty="0"/>
          </a:p>
        </p:txBody>
      </p:sp>
      <p:sp>
        <p:nvSpPr>
          <p:cNvPr id="48" name="Text 43"/>
          <p:cNvSpPr/>
          <p:nvPr/>
        </p:nvSpPr>
        <p:spPr>
          <a:xfrm>
            <a:off x="7805776" y="3803904"/>
            <a:ext cx="3764128" cy="365760"/>
          </a:xfrm>
          <a:prstGeom prst="rect">
            <a:avLst/>
          </a:prstGeom>
          <a:noFill/>
          <a:ln/>
        </p:spPr>
        <p:txBody>
          <a:bodyPr wrap="square" lIns="0" tIns="0" rIns="0" bIns="0" rtlCol="0" anchor="ctr"/>
          <a:lstStyle/>
          <a:p>
            <a:pPr rtl="1" algn="r" indent="0" marL="0">
              <a:lnSpc>
                <a:spcPct val="102000"/>
              </a:lnSpc>
              <a:buNone/>
            </a:pPr>
            <a:r>
              <a:rPr lang="ar-SA" altLang="en-US" sz="820" dirty="0">
                <a:solidFill>
                  <a:srgbClr val="33473F"/>
                </a:solidFill>
                <a:latin typeface="Tajawal" pitchFamily="34" charset="0"/>
                <a:ea typeface="Tajawal" pitchFamily="34" charset="-122"/>
                <a:cs typeface="Tajawal" pitchFamily="34" charset="-120"/>
              </a:rPr>
              <a:t>يُظهر المتعلمون اتجاهات إيجابية نحو ذواتهم</a:t>
            </a:r>
            <a:endParaRPr lang="ar-SA" sz="820" dirty="0"/>
          </a:p>
        </p:txBody>
      </p:sp>
      <p:sp>
        <p:nvSpPr>
          <p:cNvPr id="49" name="Shape 44"/>
          <p:cNvSpPr/>
          <p:nvPr/>
        </p:nvSpPr>
        <p:spPr>
          <a:xfrm>
            <a:off x="7019392" y="3854196"/>
            <a:ext cx="713232" cy="265176"/>
          </a:xfrm>
          <a:prstGeom prst="roundRect">
            <a:avLst>
              <a:gd name="adj" fmla="val 20690"/>
            </a:avLst>
          </a:prstGeom>
          <a:solidFill>
            <a:srgbClr val="F1F7F4"/>
          </a:solidFill>
          <a:ln w="6350">
            <a:solidFill>
              <a:srgbClr val="DCE8E2"/>
            </a:solidFill>
            <a:prstDash val="solid"/>
          </a:ln>
        </p:spPr>
      </p:sp>
      <p:sp>
        <p:nvSpPr>
          <p:cNvPr id="50" name="Text 45"/>
          <p:cNvSpPr/>
          <p:nvPr/>
        </p:nvSpPr>
        <p:spPr>
          <a:xfrm>
            <a:off x="7019392" y="3849624"/>
            <a:ext cx="713232" cy="265176"/>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‎3-2-1-2‎</a:t>
            </a:r>
            <a:endParaRPr lang="ar-SA" sz="800" dirty="0"/>
          </a:p>
        </p:txBody>
      </p:sp>
      <p:sp>
        <p:nvSpPr>
          <p:cNvPr id="51" name="Text 46"/>
          <p:cNvSpPr/>
          <p:nvPr/>
        </p:nvSpPr>
        <p:spPr>
          <a:xfrm>
            <a:off x="6361024" y="3849624"/>
            <a:ext cx="603504" cy="265176"/>
          </a:xfrm>
          <a:prstGeom prst="rect">
            <a:avLst/>
          </a:prstGeom>
          <a:noFill/>
          <a:ln/>
        </p:spPr>
        <p:txBody>
          <a:bodyPr wrap="square" lIns="0" tIns="0" rIns="0" bIns="0" rtlCol="0" anchor="ctr"/>
          <a:lstStyle/>
          <a:p>
            <a:pPr rtl="1" algn="ctr" indent="0" marL="0">
              <a:buNone/>
            </a:pPr>
            <a:r>
              <a:rPr lang="ar-SA" altLang="en-US" sz="900" b="1" dirty="0">
                <a:solidFill>
                  <a:srgbClr val="7C8F87"/>
                </a:solidFill>
                <a:latin typeface="Tajawal" pitchFamily="34" charset="0"/>
                <a:ea typeface="Tajawal" pitchFamily="34" charset="-122"/>
                <a:cs typeface="Tajawal" pitchFamily="34" charset="-120"/>
              </a:rPr>
              <a:t>……</a:t>
            </a:r>
            <a:endParaRPr lang="ar-SA" sz="900" dirty="0"/>
          </a:p>
        </p:txBody>
      </p:sp>
      <p:sp>
        <p:nvSpPr>
          <p:cNvPr id="52" name="Shape 47"/>
          <p:cNvSpPr/>
          <p:nvPr/>
        </p:nvSpPr>
        <p:spPr>
          <a:xfrm>
            <a:off x="411480" y="2871216"/>
            <a:ext cx="5547208" cy="1335024"/>
          </a:xfrm>
          <a:prstGeom prst="roundRect">
            <a:avLst>
              <a:gd name="adj" fmla="val 5137"/>
            </a:avLst>
          </a:prstGeom>
          <a:solidFill>
            <a:srgbClr val="FFFFFF"/>
          </a:solidFill>
          <a:ln w="9525">
            <a:solidFill>
              <a:srgbClr val="DCE8E2"/>
            </a:solidFill>
            <a:prstDash val="solid"/>
          </a:ln>
          <a:effectLst>
            <a:outerShdw sx="100000" sy="100000" kx="0" ky="0" algn="bl" rotWithShape="0" blurRad="63500" dist="12700" dir="5400000">
              <a:srgbClr val="0E3B30">
                <a:alpha val="6000"/>
              </a:srgbClr>
            </a:outerShdw>
          </a:effectLst>
        </p:spPr>
      </p:sp>
      <p:sp>
        <p:nvSpPr>
          <p:cNvPr id="53" name="Shape 48"/>
          <p:cNvSpPr/>
          <p:nvPr/>
        </p:nvSpPr>
        <p:spPr>
          <a:xfrm>
            <a:off x="539496" y="2980944"/>
            <a:ext cx="5291176" cy="365760"/>
          </a:xfrm>
          <a:prstGeom prst="roundRect">
            <a:avLst>
              <a:gd name="adj" fmla="val 17500"/>
            </a:avLst>
          </a:prstGeom>
          <a:solidFill>
            <a:srgbClr val="095242"/>
          </a:solidFill>
          <a:ln/>
        </p:spPr>
      </p:sp>
      <p:sp>
        <p:nvSpPr>
          <p:cNvPr id="54" name="Shape 49"/>
          <p:cNvSpPr/>
          <p:nvPr/>
        </p:nvSpPr>
        <p:spPr>
          <a:xfrm>
            <a:off x="5501488" y="3026664"/>
            <a:ext cx="274320" cy="274320"/>
          </a:xfrm>
          <a:prstGeom prst="ellipse">
            <a:avLst/>
          </a:prstGeom>
          <a:solidFill>
            <a:srgbClr val="FFFFFF"/>
          </a:solidFill>
          <a:ln/>
        </p:spPr>
      </p:sp>
      <p:sp>
        <p:nvSpPr>
          <p:cNvPr id="55" name="Text 50"/>
          <p:cNvSpPr/>
          <p:nvPr/>
        </p:nvSpPr>
        <p:spPr>
          <a:xfrm>
            <a:off x="5501488" y="3012948"/>
            <a:ext cx="274320" cy="274320"/>
          </a:xfrm>
          <a:prstGeom prst="rect">
            <a:avLst/>
          </a:prstGeom>
          <a:noFill/>
          <a:ln/>
        </p:spPr>
        <p:txBody>
          <a:bodyPr wrap="square" lIns="0" tIns="0" rIns="0" bIns="0" rtlCol="0" anchor="ctr"/>
          <a:lstStyle/>
          <a:p>
            <a:pPr rtl="1" algn="ctr" indent="0" marL="0">
              <a:buNone/>
            </a:pPr>
            <a:r>
              <a:rPr lang="ar-SA" altLang="en-US" sz="1100" b="1" dirty="0">
                <a:solidFill>
                  <a:srgbClr val="095242"/>
                </a:solidFill>
                <a:latin typeface="Tajawal" pitchFamily="34" charset="0"/>
                <a:ea typeface="Tajawal" pitchFamily="34" charset="-122"/>
                <a:cs typeface="Tajawal" pitchFamily="34" charset="-120"/>
              </a:rPr>
              <a:t>٤</a:t>
            </a:r>
            <a:endParaRPr lang="ar-SA" sz="1100" dirty="0"/>
          </a:p>
        </p:txBody>
      </p:sp>
      <p:sp>
        <p:nvSpPr>
          <p:cNvPr id="56" name="Text 51"/>
          <p:cNvSpPr/>
          <p:nvPr/>
        </p:nvSpPr>
        <p:spPr>
          <a:xfrm>
            <a:off x="685800" y="2980944"/>
            <a:ext cx="4769968" cy="365760"/>
          </a:xfrm>
          <a:prstGeom prst="rect">
            <a:avLst/>
          </a:prstGeom>
          <a:noFill/>
          <a:ln/>
        </p:spPr>
        <p:txBody>
          <a:bodyPr wrap="square" lIns="0" tIns="0" rIns="0" bIns="0" rtlCol="0" anchor="ctr"/>
          <a:lstStyle/>
          <a:p>
            <a:pPr rtl="1" algn="r" indent="0" marL="0">
              <a:buNone/>
            </a:pPr>
            <a:r>
              <a:rPr lang="ar-SA" altLang="en-US" sz="1200" b="1" dirty="0">
                <a:solidFill>
                  <a:srgbClr val="FFFFFF"/>
                </a:solidFill>
                <a:latin typeface="Tajawal" pitchFamily="34" charset="0"/>
                <a:ea typeface="Tajawal" pitchFamily="34" charset="-122"/>
                <a:cs typeface="Tajawal" pitchFamily="34" charset="-120"/>
              </a:rPr>
              <a:t>مجال الأنشطة المدرسية</a:t>
            </a:r>
            <a:endParaRPr lang="ar-SA" sz="1200" dirty="0"/>
          </a:p>
        </p:txBody>
      </p:sp>
      <p:sp>
        <p:nvSpPr>
          <p:cNvPr id="57" name="Text 52"/>
          <p:cNvSpPr/>
          <p:nvPr/>
        </p:nvSpPr>
        <p:spPr>
          <a:xfrm>
            <a:off x="1984248" y="3438144"/>
            <a:ext cx="3764128" cy="365760"/>
          </a:xfrm>
          <a:prstGeom prst="rect">
            <a:avLst/>
          </a:prstGeom>
          <a:noFill/>
          <a:ln/>
        </p:spPr>
        <p:txBody>
          <a:bodyPr wrap="square" lIns="0" tIns="0" rIns="0" bIns="0" rtlCol="0" anchor="ctr"/>
          <a:lstStyle/>
          <a:p>
            <a:pPr rtl="1" algn="r" indent="0" marL="0">
              <a:lnSpc>
                <a:spcPct val="102000"/>
              </a:lnSpc>
              <a:buNone/>
            </a:pPr>
            <a:r>
              <a:rPr lang="ar-SA" altLang="en-US" sz="820" dirty="0">
                <a:solidFill>
                  <a:srgbClr val="33473F"/>
                </a:solidFill>
                <a:latin typeface="Tajawal" pitchFamily="34" charset="0"/>
                <a:ea typeface="Tajawal" pitchFamily="34" charset="-122"/>
                <a:cs typeface="Tajawal" pitchFamily="34" charset="-120"/>
              </a:rPr>
              <a:t>تعزز المدرسة مشاركة الأسرة في تعلّم أبنائها</a:t>
            </a:r>
            <a:endParaRPr lang="ar-SA" sz="820" dirty="0"/>
          </a:p>
        </p:txBody>
      </p:sp>
      <p:sp>
        <p:nvSpPr>
          <p:cNvPr id="58" name="Shape 53"/>
          <p:cNvSpPr/>
          <p:nvPr/>
        </p:nvSpPr>
        <p:spPr>
          <a:xfrm>
            <a:off x="1197864" y="3488436"/>
            <a:ext cx="713232" cy="265176"/>
          </a:xfrm>
          <a:prstGeom prst="roundRect">
            <a:avLst>
              <a:gd name="adj" fmla="val 20690"/>
            </a:avLst>
          </a:prstGeom>
          <a:solidFill>
            <a:srgbClr val="F1F7F4"/>
          </a:solidFill>
          <a:ln w="6350">
            <a:solidFill>
              <a:srgbClr val="DCE8E2"/>
            </a:solidFill>
            <a:prstDash val="solid"/>
          </a:ln>
        </p:spPr>
      </p:sp>
      <p:sp>
        <p:nvSpPr>
          <p:cNvPr id="59" name="Text 54"/>
          <p:cNvSpPr/>
          <p:nvPr/>
        </p:nvSpPr>
        <p:spPr>
          <a:xfrm>
            <a:off x="1197864" y="3483864"/>
            <a:ext cx="713232" cy="265176"/>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‎1-3-1-2‎</a:t>
            </a:r>
            <a:endParaRPr lang="ar-SA" sz="800" dirty="0"/>
          </a:p>
        </p:txBody>
      </p:sp>
      <p:sp>
        <p:nvSpPr>
          <p:cNvPr id="60" name="Text 55"/>
          <p:cNvSpPr/>
          <p:nvPr/>
        </p:nvSpPr>
        <p:spPr>
          <a:xfrm>
            <a:off x="539496" y="3483864"/>
            <a:ext cx="603504" cy="265176"/>
          </a:xfrm>
          <a:prstGeom prst="rect">
            <a:avLst/>
          </a:prstGeom>
          <a:noFill/>
          <a:ln/>
        </p:spPr>
        <p:txBody>
          <a:bodyPr wrap="square" lIns="0" tIns="0" rIns="0" bIns="0" rtlCol="0" anchor="ctr"/>
          <a:lstStyle/>
          <a:p>
            <a:pPr rtl="1" algn="ctr" indent="0" marL="0">
              <a:buNone/>
            </a:pPr>
            <a:r>
              <a:rPr lang="ar-SA" altLang="en-US" sz="900" b="1" dirty="0">
                <a:solidFill>
                  <a:srgbClr val="7C8F87"/>
                </a:solidFill>
                <a:latin typeface="Tajawal" pitchFamily="34" charset="0"/>
                <a:ea typeface="Tajawal" pitchFamily="34" charset="-122"/>
                <a:cs typeface="Tajawal" pitchFamily="34" charset="-120"/>
              </a:rPr>
              <a:t>……</a:t>
            </a:r>
            <a:endParaRPr lang="ar-SA" sz="900" dirty="0"/>
          </a:p>
        </p:txBody>
      </p:sp>
      <p:sp>
        <p:nvSpPr>
          <p:cNvPr id="61" name="Text 56"/>
          <p:cNvSpPr/>
          <p:nvPr/>
        </p:nvSpPr>
        <p:spPr>
          <a:xfrm>
            <a:off x="1984248" y="3803904"/>
            <a:ext cx="3764128" cy="365760"/>
          </a:xfrm>
          <a:prstGeom prst="rect">
            <a:avLst/>
          </a:prstGeom>
          <a:noFill/>
          <a:ln/>
        </p:spPr>
        <p:txBody>
          <a:bodyPr wrap="square" lIns="0" tIns="0" rIns="0" bIns="0" rtlCol="0" anchor="ctr"/>
          <a:lstStyle/>
          <a:p>
            <a:pPr rtl="1" algn="r" indent="0" marL="0">
              <a:lnSpc>
                <a:spcPct val="102000"/>
              </a:lnSpc>
              <a:buNone/>
            </a:pPr>
            <a:r>
              <a:rPr lang="ar-SA" altLang="en-US" sz="820" dirty="0">
                <a:solidFill>
                  <a:srgbClr val="33473F"/>
                </a:solidFill>
                <a:latin typeface="Tajawal" pitchFamily="34" charset="0"/>
                <a:ea typeface="Tajawal" pitchFamily="34" charset="-122"/>
                <a:cs typeface="Tajawal" pitchFamily="34" charset="-120"/>
              </a:rPr>
              <a:t>توفّر المدرسة برامج وأنشطة تربوية داعمة للسلوك الإيجابي</a:t>
            </a:r>
            <a:endParaRPr lang="ar-SA" sz="820" dirty="0"/>
          </a:p>
        </p:txBody>
      </p:sp>
      <p:sp>
        <p:nvSpPr>
          <p:cNvPr id="62" name="Shape 57"/>
          <p:cNvSpPr/>
          <p:nvPr/>
        </p:nvSpPr>
        <p:spPr>
          <a:xfrm>
            <a:off x="1197864" y="3854196"/>
            <a:ext cx="713232" cy="265176"/>
          </a:xfrm>
          <a:prstGeom prst="roundRect">
            <a:avLst>
              <a:gd name="adj" fmla="val 20690"/>
            </a:avLst>
          </a:prstGeom>
          <a:solidFill>
            <a:srgbClr val="F1F7F4"/>
          </a:solidFill>
          <a:ln w="6350">
            <a:solidFill>
              <a:srgbClr val="DCE8E2"/>
            </a:solidFill>
            <a:prstDash val="solid"/>
          </a:ln>
        </p:spPr>
      </p:sp>
      <p:sp>
        <p:nvSpPr>
          <p:cNvPr id="63" name="Text 58"/>
          <p:cNvSpPr/>
          <p:nvPr/>
        </p:nvSpPr>
        <p:spPr>
          <a:xfrm>
            <a:off x="1197864" y="3849624"/>
            <a:ext cx="713232" cy="265176"/>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‎1-2-1-5‎</a:t>
            </a:r>
            <a:endParaRPr lang="ar-SA" sz="800" dirty="0"/>
          </a:p>
        </p:txBody>
      </p:sp>
      <p:sp>
        <p:nvSpPr>
          <p:cNvPr id="64" name="Text 59"/>
          <p:cNvSpPr/>
          <p:nvPr/>
        </p:nvSpPr>
        <p:spPr>
          <a:xfrm>
            <a:off x="539496" y="3849624"/>
            <a:ext cx="603504" cy="265176"/>
          </a:xfrm>
          <a:prstGeom prst="rect">
            <a:avLst/>
          </a:prstGeom>
          <a:noFill/>
          <a:ln/>
        </p:spPr>
        <p:txBody>
          <a:bodyPr wrap="square" lIns="0" tIns="0" rIns="0" bIns="0" rtlCol="0" anchor="ctr"/>
          <a:lstStyle/>
          <a:p>
            <a:pPr rtl="1" algn="ctr" indent="0" marL="0">
              <a:buNone/>
            </a:pPr>
            <a:r>
              <a:rPr lang="ar-SA" altLang="en-US" sz="900" b="1" dirty="0">
                <a:solidFill>
                  <a:srgbClr val="7C8F87"/>
                </a:solidFill>
                <a:latin typeface="Tajawal" pitchFamily="34" charset="0"/>
                <a:ea typeface="Tajawal" pitchFamily="34" charset="-122"/>
                <a:cs typeface="Tajawal" pitchFamily="34" charset="-120"/>
              </a:rPr>
              <a:t>……</a:t>
            </a:r>
            <a:endParaRPr lang="ar-SA" sz="900" dirty="0"/>
          </a:p>
        </p:txBody>
      </p:sp>
      <p:sp>
        <p:nvSpPr>
          <p:cNvPr id="65" name="Shape 60"/>
          <p:cNvSpPr/>
          <p:nvPr/>
        </p:nvSpPr>
        <p:spPr>
          <a:xfrm>
            <a:off x="6233008" y="4407408"/>
            <a:ext cx="5547208" cy="1874520"/>
          </a:xfrm>
          <a:prstGeom prst="roundRect">
            <a:avLst>
              <a:gd name="adj" fmla="val 3659"/>
            </a:avLst>
          </a:prstGeom>
          <a:solidFill>
            <a:srgbClr val="095242"/>
          </a:solidFill>
          <a:ln/>
        </p:spPr>
      </p:sp>
      <p:pic>
        <p:nvPicPr>
          <p:cNvPr id="66" name="Image 3" descr="/tmp/claude-0/-home-user-Mobile1/ab9bbf47-b054-5f6e-be59-70476e095ce8/scratchpad/assets/icons/listchecks_white.png">    </p:cNvPr>
          <p:cNvPicPr>
            <a:picLocks noChangeAspect="1"/>
          </p:cNvPicPr>
          <p:nvPr/>
        </p:nvPicPr>
        <p:blipFill>
          <a:blip r:embed="rId4"/>
          <a:stretch>
            <a:fillRect/>
          </a:stretch>
        </p:blipFill>
        <p:spPr>
          <a:xfrm>
            <a:off x="11231575" y="4590288"/>
            <a:ext cx="274320" cy="274320"/>
          </a:xfrm>
          <a:prstGeom prst="rect">
            <a:avLst/>
          </a:prstGeom>
        </p:spPr>
      </p:pic>
      <p:sp>
        <p:nvSpPr>
          <p:cNvPr id="67" name="Text 61"/>
          <p:cNvSpPr/>
          <p:nvPr/>
        </p:nvSpPr>
        <p:spPr>
          <a:xfrm>
            <a:off x="6507328" y="4553712"/>
            <a:ext cx="4632808" cy="365760"/>
          </a:xfrm>
          <a:prstGeom prst="rect">
            <a:avLst/>
          </a:prstGeom>
          <a:noFill/>
          <a:ln/>
        </p:spPr>
        <p:txBody>
          <a:bodyPr wrap="square" lIns="0" tIns="0" rIns="0" bIns="0" rtlCol="0" anchor="ctr"/>
          <a:lstStyle/>
          <a:p>
            <a:pPr rtl="1" algn="r" indent="0" marL="0">
              <a:buNone/>
            </a:pPr>
            <a:r>
              <a:rPr lang="ar-SA" altLang="en-US" sz="1250" b="1" dirty="0">
                <a:solidFill>
                  <a:srgbClr val="FFFFFF"/>
                </a:solidFill>
                <a:latin typeface="Tajawal" pitchFamily="34" charset="0"/>
                <a:ea typeface="Tajawal" pitchFamily="34" charset="-122"/>
                <a:cs typeface="Tajawal" pitchFamily="34" charset="-120"/>
              </a:rPr>
              <a:t>منهجية ترتيب الأولويات</a:t>
            </a:r>
            <a:endParaRPr lang="ar-SA" sz="1250" dirty="0"/>
          </a:p>
        </p:txBody>
      </p:sp>
      <p:sp>
        <p:nvSpPr>
          <p:cNvPr id="68" name="Text 62"/>
          <p:cNvSpPr/>
          <p:nvPr/>
        </p:nvSpPr>
        <p:spPr>
          <a:xfrm>
            <a:off x="6507328" y="4974336"/>
            <a:ext cx="4980280" cy="1188720"/>
          </a:xfrm>
          <a:prstGeom prst="rect">
            <a:avLst/>
          </a:prstGeom>
          <a:noFill/>
          <a:ln/>
        </p:spPr>
        <p:txBody>
          <a:bodyPr wrap="square" lIns="0" tIns="0" rIns="0" bIns="0" rtlCol="0" anchor="t"/>
          <a:lstStyle/>
          <a:p>
            <a:pPr rtl="1" algn="r" indent="0" marL="0">
              <a:lnSpc>
                <a:spcPct val="125000"/>
              </a:lnSpc>
              <a:buNone/>
            </a:pPr>
            <a:r>
              <a:rPr lang="ar-SA" altLang="en-US" sz="980" dirty="0">
                <a:solidFill>
                  <a:srgbClr val="D3E5DE"/>
                </a:solidFill>
                <a:latin typeface="Tajawal" pitchFamily="34" charset="0"/>
                <a:ea typeface="Tajawal" pitchFamily="34" charset="-122"/>
                <a:cs typeface="Tajawal" pitchFamily="34" charset="-120"/>
              </a:rPr>
              <a:t>اعتمد فريق الإعداد على تحليل نتائج التقويم الذاتي وفقًا للنسب المسجّلة في كل مؤشر، ثم رتّب الأولويات تصاعديًا من المؤشرات الأدنى نسبةً نحو الأعلى، مع تخصيص برامج علاجية مرتبطة بمعايير الاعتماد المدرسي.</a:t>
            </a:r>
            <a:endParaRPr lang="ar-SA" sz="980" dirty="0"/>
          </a:p>
        </p:txBody>
      </p:sp>
      <p:sp>
        <p:nvSpPr>
          <p:cNvPr id="69" name="Shape 63"/>
          <p:cNvSpPr/>
          <p:nvPr/>
        </p:nvSpPr>
        <p:spPr>
          <a:xfrm>
            <a:off x="5908396" y="4434840"/>
            <a:ext cx="50292" cy="201168"/>
          </a:xfrm>
          <a:prstGeom prst="rect">
            <a:avLst/>
          </a:prstGeom>
          <a:solidFill>
            <a:srgbClr val="0089A1"/>
          </a:solidFill>
          <a:ln/>
        </p:spPr>
      </p:sp>
      <p:sp>
        <p:nvSpPr>
          <p:cNvPr id="70" name="Text 64"/>
          <p:cNvSpPr/>
          <p:nvPr/>
        </p:nvSpPr>
        <p:spPr>
          <a:xfrm>
            <a:off x="3947008" y="4389120"/>
            <a:ext cx="1883664" cy="292608"/>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منحنى الأولويات</a:t>
            </a:r>
            <a:endParaRPr lang="ar-SA" sz="1250" dirty="0"/>
          </a:p>
        </p:txBody>
      </p:sp>
      <p:sp>
        <p:nvSpPr>
          <p:cNvPr id="71" name="Shape 65"/>
          <p:cNvSpPr/>
          <p:nvPr/>
        </p:nvSpPr>
        <p:spPr>
          <a:xfrm>
            <a:off x="4695330" y="5394960"/>
            <a:ext cx="1263358" cy="502920"/>
          </a:xfrm>
          <a:prstGeom prst="roundRect">
            <a:avLst>
              <a:gd name="adj" fmla="val 9091"/>
            </a:avLst>
          </a:prstGeom>
          <a:solidFill>
            <a:srgbClr val="0089A1"/>
          </a:solidFill>
          <a:ln/>
        </p:spPr>
      </p:sp>
      <p:sp>
        <p:nvSpPr>
          <p:cNvPr id="72" name="Text 66"/>
          <p:cNvSpPr/>
          <p:nvPr/>
        </p:nvSpPr>
        <p:spPr>
          <a:xfrm>
            <a:off x="4695330" y="5422392"/>
            <a:ext cx="1263358" cy="292608"/>
          </a:xfrm>
          <a:prstGeom prst="rect">
            <a:avLst/>
          </a:prstGeom>
          <a:noFill/>
          <a:ln/>
        </p:spPr>
        <p:txBody>
          <a:bodyPr wrap="square" lIns="0" tIns="0" rIns="0" bIns="0" rtlCol="0" anchor="t"/>
          <a:lstStyle/>
          <a:p>
            <a:pPr rtl="1" algn="ctr" indent="0" marL="0">
              <a:buNone/>
            </a:pPr>
            <a:r>
              <a:rPr lang="ar-SA" altLang="en-US" sz="1200" b="1" dirty="0">
                <a:solidFill>
                  <a:srgbClr val="FFFFFF"/>
                </a:solidFill>
                <a:latin typeface="Tajawal" pitchFamily="34" charset="0"/>
                <a:ea typeface="Tajawal" pitchFamily="34" charset="-122"/>
                <a:cs typeface="Tajawal" pitchFamily="34" charset="-120"/>
              </a:rPr>
              <a:t>١</a:t>
            </a:r>
            <a:endParaRPr lang="ar-SA" sz="1200" dirty="0"/>
          </a:p>
        </p:txBody>
      </p:sp>
      <p:sp>
        <p:nvSpPr>
          <p:cNvPr id="73" name="Text 67"/>
          <p:cNvSpPr/>
          <p:nvPr/>
        </p:nvSpPr>
        <p:spPr>
          <a:xfrm>
            <a:off x="4613034" y="5934456"/>
            <a:ext cx="1427950" cy="347472"/>
          </a:xfrm>
          <a:prstGeom prst="rect">
            <a:avLst/>
          </a:prstGeom>
          <a:noFill/>
          <a:ln/>
        </p:spPr>
        <p:txBody>
          <a:bodyPr wrap="square" lIns="0" tIns="0" rIns="0" bIns="0" rtlCol="0" anchor="t"/>
          <a:lstStyle/>
          <a:p>
            <a:pPr rtl="1" algn="ctr" indent="0" marL="0">
              <a:buNone/>
            </a:pPr>
            <a:r>
              <a:rPr lang="ar-SA" altLang="en-US" sz="860" b="1" dirty="0">
                <a:solidFill>
                  <a:srgbClr val="33473F"/>
                </a:solidFill>
                <a:latin typeface="Tajawal" pitchFamily="34" charset="0"/>
                <a:ea typeface="Tajawal" pitchFamily="34" charset="-122"/>
                <a:cs typeface="Tajawal" pitchFamily="34" charset="-120"/>
              </a:rPr>
              <a:t>التدريس</a:t>
            </a:r>
            <a:endParaRPr lang="ar-SA" sz="860" dirty="0"/>
          </a:p>
        </p:txBody>
      </p:sp>
      <p:sp>
        <p:nvSpPr>
          <p:cNvPr id="74" name="Shape 68"/>
          <p:cNvSpPr/>
          <p:nvPr/>
        </p:nvSpPr>
        <p:spPr>
          <a:xfrm>
            <a:off x="3267380" y="5102352"/>
            <a:ext cx="1263358" cy="795528"/>
          </a:xfrm>
          <a:prstGeom prst="roundRect">
            <a:avLst>
              <a:gd name="adj" fmla="val 5747"/>
            </a:avLst>
          </a:prstGeom>
          <a:solidFill>
            <a:srgbClr val="095242"/>
          </a:solidFill>
          <a:ln/>
        </p:spPr>
      </p:sp>
      <p:sp>
        <p:nvSpPr>
          <p:cNvPr id="75" name="Text 69"/>
          <p:cNvSpPr/>
          <p:nvPr/>
        </p:nvSpPr>
        <p:spPr>
          <a:xfrm>
            <a:off x="3267380" y="5129784"/>
            <a:ext cx="1263358" cy="292608"/>
          </a:xfrm>
          <a:prstGeom prst="rect">
            <a:avLst/>
          </a:prstGeom>
          <a:noFill/>
          <a:ln/>
        </p:spPr>
        <p:txBody>
          <a:bodyPr wrap="square" lIns="0" tIns="0" rIns="0" bIns="0" rtlCol="0" anchor="t"/>
          <a:lstStyle/>
          <a:p>
            <a:pPr rtl="1" algn="ctr" indent="0" marL="0">
              <a:buNone/>
            </a:pPr>
            <a:r>
              <a:rPr lang="ar-SA" altLang="en-US" sz="1200" b="1" dirty="0">
                <a:solidFill>
                  <a:srgbClr val="FFFFFF"/>
                </a:solidFill>
                <a:latin typeface="Tajawal" pitchFamily="34" charset="0"/>
                <a:ea typeface="Tajawal" pitchFamily="34" charset="-122"/>
                <a:cs typeface="Tajawal" pitchFamily="34" charset="-120"/>
              </a:rPr>
              <a:t>٢</a:t>
            </a:r>
            <a:endParaRPr lang="ar-SA" sz="1200" dirty="0"/>
          </a:p>
        </p:txBody>
      </p:sp>
      <p:sp>
        <p:nvSpPr>
          <p:cNvPr id="76" name="Text 70"/>
          <p:cNvSpPr/>
          <p:nvPr/>
        </p:nvSpPr>
        <p:spPr>
          <a:xfrm>
            <a:off x="3185084" y="5934456"/>
            <a:ext cx="1427950" cy="347472"/>
          </a:xfrm>
          <a:prstGeom prst="rect">
            <a:avLst/>
          </a:prstGeom>
          <a:noFill/>
          <a:ln/>
        </p:spPr>
        <p:txBody>
          <a:bodyPr wrap="square" lIns="0" tIns="0" rIns="0" bIns="0" rtlCol="0" anchor="t"/>
          <a:lstStyle/>
          <a:p>
            <a:pPr rtl="1" algn="ctr" indent="0" marL="0">
              <a:buNone/>
            </a:pPr>
            <a:r>
              <a:rPr lang="ar-SA" altLang="en-US" sz="860" b="1" dirty="0">
                <a:solidFill>
                  <a:srgbClr val="33473F"/>
                </a:solidFill>
                <a:latin typeface="Tajawal" pitchFamily="34" charset="0"/>
                <a:ea typeface="Tajawal" pitchFamily="34" charset="-122"/>
                <a:cs typeface="Tajawal" pitchFamily="34" charset="-120"/>
              </a:rPr>
              <a:t>نواتج التعلم</a:t>
            </a:r>
            <a:endParaRPr lang="ar-SA" sz="860" dirty="0"/>
          </a:p>
        </p:txBody>
      </p:sp>
      <p:sp>
        <p:nvSpPr>
          <p:cNvPr id="77" name="Shape 71"/>
          <p:cNvSpPr/>
          <p:nvPr/>
        </p:nvSpPr>
        <p:spPr>
          <a:xfrm>
            <a:off x="1839430" y="4809744"/>
            <a:ext cx="1263358" cy="1088136"/>
          </a:xfrm>
          <a:prstGeom prst="roundRect">
            <a:avLst>
              <a:gd name="adj" fmla="val 4202"/>
            </a:avLst>
          </a:prstGeom>
          <a:solidFill>
            <a:srgbClr val="095242"/>
          </a:solidFill>
          <a:ln/>
        </p:spPr>
      </p:sp>
      <p:sp>
        <p:nvSpPr>
          <p:cNvPr id="78" name="Text 72"/>
          <p:cNvSpPr/>
          <p:nvPr/>
        </p:nvSpPr>
        <p:spPr>
          <a:xfrm>
            <a:off x="1839430" y="4837176"/>
            <a:ext cx="1263358" cy="292608"/>
          </a:xfrm>
          <a:prstGeom prst="rect">
            <a:avLst/>
          </a:prstGeom>
          <a:noFill/>
          <a:ln/>
        </p:spPr>
        <p:txBody>
          <a:bodyPr wrap="square" lIns="0" tIns="0" rIns="0" bIns="0" rtlCol="0" anchor="t"/>
          <a:lstStyle/>
          <a:p>
            <a:pPr rtl="1" algn="ctr" indent="0" marL="0">
              <a:buNone/>
            </a:pPr>
            <a:r>
              <a:rPr lang="ar-SA" altLang="en-US" sz="1200" b="1" dirty="0">
                <a:solidFill>
                  <a:srgbClr val="FFFFFF"/>
                </a:solidFill>
                <a:latin typeface="Tajawal" pitchFamily="34" charset="0"/>
                <a:ea typeface="Tajawal" pitchFamily="34" charset="-122"/>
                <a:cs typeface="Tajawal" pitchFamily="34" charset="-120"/>
              </a:rPr>
              <a:t>٣</a:t>
            </a:r>
            <a:endParaRPr lang="ar-SA" sz="1200" dirty="0"/>
          </a:p>
        </p:txBody>
      </p:sp>
      <p:sp>
        <p:nvSpPr>
          <p:cNvPr id="79" name="Text 73"/>
          <p:cNvSpPr/>
          <p:nvPr/>
        </p:nvSpPr>
        <p:spPr>
          <a:xfrm>
            <a:off x="1757134" y="5934456"/>
            <a:ext cx="1427950" cy="347472"/>
          </a:xfrm>
          <a:prstGeom prst="rect">
            <a:avLst/>
          </a:prstGeom>
          <a:noFill/>
          <a:ln/>
        </p:spPr>
        <p:txBody>
          <a:bodyPr wrap="square" lIns="0" tIns="0" rIns="0" bIns="0" rtlCol="0" anchor="t"/>
          <a:lstStyle/>
          <a:p>
            <a:pPr rtl="1" algn="ctr" indent="0" marL="0">
              <a:buNone/>
            </a:pPr>
            <a:r>
              <a:rPr lang="ar-SA" altLang="en-US" sz="860" b="1" dirty="0">
                <a:solidFill>
                  <a:srgbClr val="33473F"/>
                </a:solidFill>
                <a:latin typeface="Tajawal" pitchFamily="34" charset="0"/>
                <a:ea typeface="Tajawal" pitchFamily="34" charset="-122"/>
                <a:cs typeface="Tajawal" pitchFamily="34" charset="-120"/>
              </a:rPr>
              <a:t>التوجيه الطلابي</a:t>
            </a:r>
            <a:endParaRPr lang="ar-SA" sz="860" dirty="0"/>
          </a:p>
        </p:txBody>
      </p:sp>
      <p:sp>
        <p:nvSpPr>
          <p:cNvPr id="80" name="Shape 74"/>
          <p:cNvSpPr/>
          <p:nvPr/>
        </p:nvSpPr>
        <p:spPr>
          <a:xfrm>
            <a:off x="411480" y="4517136"/>
            <a:ext cx="1263358" cy="1380744"/>
          </a:xfrm>
          <a:prstGeom prst="roundRect">
            <a:avLst>
              <a:gd name="adj" fmla="val 3619"/>
            </a:avLst>
          </a:prstGeom>
          <a:solidFill>
            <a:srgbClr val="095242"/>
          </a:solidFill>
          <a:ln/>
        </p:spPr>
      </p:sp>
      <p:sp>
        <p:nvSpPr>
          <p:cNvPr id="81" name="Text 75"/>
          <p:cNvSpPr/>
          <p:nvPr/>
        </p:nvSpPr>
        <p:spPr>
          <a:xfrm>
            <a:off x="411480" y="4544568"/>
            <a:ext cx="1263358" cy="292608"/>
          </a:xfrm>
          <a:prstGeom prst="rect">
            <a:avLst/>
          </a:prstGeom>
          <a:noFill/>
          <a:ln/>
        </p:spPr>
        <p:txBody>
          <a:bodyPr wrap="square" lIns="0" tIns="0" rIns="0" bIns="0" rtlCol="0" anchor="t"/>
          <a:lstStyle/>
          <a:p>
            <a:pPr rtl="1" algn="ctr" indent="0" marL="0">
              <a:buNone/>
            </a:pPr>
            <a:r>
              <a:rPr lang="ar-SA" altLang="en-US" sz="1200" b="1" dirty="0">
                <a:solidFill>
                  <a:srgbClr val="FFFFFF"/>
                </a:solidFill>
                <a:latin typeface="Tajawal" pitchFamily="34" charset="0"/>
                <a:ea typeface="Tajawal" pitchFamily="34" charset="-122"/>
                <a:cs typeface="Tajawal" pitchFamily="34" charset="-120"/>
              </a:rPr>
              <a:t>٤</a:t>
            </a:r>
            <a:endParaRPr lang="ar-SA" sz="1200" dirty="0"/>
          </a:p>
        </p:txBody>
      </p:sp>
      <p:sp>
        <p:nvSpPr>
          <p:cNvPr id="82" name="Text 76"/>
          <p:cNvSpPr/>
          <p:nvPr/>
        </p:nvSpPr>
        <p:spPr>
          <a:xfrm>
            <a:off x="329184" y="5934456"/>
            <a:ext cx="1427950" cy="347472"/>
          </a:xfrm>
          <a:prstGeom prst="rect">
            <a:avLst/>
          </a:prstGeom>
          <a:noFill/>
          <a:ln/>
        </p:spPr>
        <p:txBody>
          <a:bodyPr wrap="square" lIns="0" tIns="0" rIns="0" bIns="0" rtlCol="0" anchor="t"/>
          <a:lstStyle/>
          <a:p>
            <a:pPr rtl="1" algn="ctr" indent="0" marL="0">
              <a:buNone/>
            </a:pPr>
            <a:r>
              <a:rPr lang="ar-SA" altLang="en-US" sz="860" b="1" dirty="0">
                <a:solidFill>
                  <a:srgbClr val="33473F"/>
                </a:solidFill>
                <a:latin typeface="Tajawal" pitchFamily="34" charset="0"/>
                <a:ea typeface="Tajawal" pitchFamily="34" charset="-122"/>
                <a:cs typeface="Tajawal" pitchFamily="34" charset="-120"/>
              </a:rPr>
              <a:t>الأنشطة المدرسية</a:t>
            </a:r>
            <a:endParaRPr lang="ar-SA" sz="8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tmp/claude-0/-home-user-Mobile1/ab9bbf47-b054-5f6e-be59-70476e095ce8/scratchpad/assets/bg_content.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11480" y="219456"/>
            <a:ext cx="786384" cy="608076"/>
          </a:xfrm>
          <a:prstGeom prst="rect">
            <a:avLst/>
          </a:prstGeom>
        </p:spPr>
      </p:pic>
      <p:sp>
        <p:nvSpPr>
          <p:cNvPr id="4" name="Shape 0"/>
          <p:cNvSpPr/>
          <p:nvPr/>
        </p:nvSpPr>
        <p:spPr>
          <a:xfrm>
            <a:off x="11268151" y="274320"/>
            <a:ext cx="512064" cy="512064"/>
          </a:xfrm>
          <a:prstGeom prst="roundRect">
            <a:avLst>
              <a:gd name="adj" fmla="val 21429"/>
            </a:avLst>
          </a:prstGeom>
          <a:solidFill>
            <a:srgbClr val="095242"/>
          </a:solidFill>
          <a:ln/>
        </p:spPr>
      </p:sp>
      <p:pic>
        <p:nvPicPr>
          <p:cNvPr id="5" name="Image 2" descr="/tmp/claude-0/-home-user-Mobile1/ab9bbf47-b054-5f6e-be59-70476e095ce8/scratchpad/assets/icons/grid_white.png">    </p:cNvPr>
          <p:cNvPicPr>
            <a:picLocks noChangeAspect="1"/>
          </p:cNvPicPr>
          <p:nvPr/>
        </p:nvPicPr>
        <p:blipFill>
          <a:blip r:embed="rId3"/>
          <a:stretch>
            <a:fillRect/>
          </a:stretch>
        </p:blipFill>
        <p:spPr>
          <a:xfrm>
            <a:off x="11387023" y="393192"/>
            <a:ext cx="274320" cy="274320"/>
          </a:xfrm>
          <a:prstGeom prst="rect">
            <a:avLst/>
          </a:prstGeom>
        </p:spPr>
      </p:pic>
      <p:sp>
        <p:nvSpPr>
          <p:cNvPr id="6" name="Text 1"/>
          <p:cNvSpPr/>
          <p:nvPr/>
        </p:nvSpPr>
        <p:spPr>
          <a:xfrm>
            <a:off x="2926080" y="274320"/>
            <a:ext cx="8177479" cy="512064"/>
          </a:xfrm>
          <a:prstGeom prst="rect">
            <a:avLst/>
          </a:prstGeom>
          <a:noFill/>
          <a:ln/>
        </p:spPr>
        <p:txBody>
          <a:bodyPr wrap="square" lIns="0" tIns="0" rIns="0" bIns="0" rtlCol="0" anchor="ctr"/>
          <a:lstStyle/>
          <a:p>
            <a:pPr rtl="1" algn="r" indent="0" marL="0">
              <a:buNone/>
            </a:pPr>
            <a:r>
              <a:rPr lang="ar-SA" altLang="en-US" sz="2000" b="1" dirty="0">
                <a:solidFill>
                  <a:srgbClr val="0F2A21"/>
                </a:solidFill>
                <a:latin typeface="Tajawal" pitchFamily="34" charset="0"/>
                <a:ea typeface="Tajawal" pitchFamily="34" charset="-122"/>
                <a:cs typeface="Tajawal" pitchFamily="34" charset="-120"/>
              </a:rPr>
              <a:t>تحليل واقع المدرسة (SWOT)</a:t>
            </a:r>
            <a:endParaRPr lang="ar-SA" sz="2000" dirty="0"/>
          </a:p>
        </p:txBody>
      </p:sp>
      <p:sp>
        <p:nvSpPr>
          <p:cNvPr id="7" name="Text 2"/>
          <p:cNvSpPr/>
          <p:nvPr/>
        </p:nvSpPr>
        <p:spPr>
          <a:xfrm>
            <a:off x="7665415" y="6519672"/>
            <a:ext cx="4114800" cy="274320"/>
          </a:xfrm>
          <a:prstGeom prst="rect">
            <a:avLst/>
          </a:prstGeom>
          <a:noFill/>
          <a:ln/>
        </p:spPr>
        <p:txBody>
          <a:bodyPr wrap="square" lIns="0" tIns="0" rIns="0" bIns="0" rtlCol="0" anchor="t"/>
          <a:lstStyle/>
          <a:p>
            <a:pPr rtl="1" algn="r" indent="0" marL="0">
              <a:buNone/>
            </a:pPr>
            <a:r>
              <a:rPr lang="ar-SA" altLang="en-US" sz="800" dirty="0">
                <a:solidFill>
                  <a:srgbClr val="7C8F87"/>
                </a:solidFill>
                <a:latin typeface="Tajawal" pitchFamily="34" charset="0"/>
                <a:ea typeface="Tajawal" pitchFamily="34" charset="-122"/>
                <a:cs typeface="Tajawal" pitchFamily="34" charset="-120"/>
              </a:rPr>
              <a:t>الخطة التشغيلية للعام الدراسي ١٤٤٨هـ</a:t>
            </a:r>
            <a:endParaRPr lang="ar-SA" sz="800" dirty="0"/>
          </a:p>
        </p:txBody>
      </p:sp>
      <p:sp>
        <p:nvSpPr>
          <p:cNvPr id="8" name="Text 3"/>
          <p:cNvSpPr/>
          <p:nvPr/>
        </p:nvSpPr>
        <p:spPr>
          <a:xfrm>
            <a:off x="411480" y="6519672"/>
            <a:ext cx="914400" cy="274320"/>
          </a:xfrm>
          <a:prstGeom prst="rect">
            <a:avLst/>
          </a:prstGeom>
          <a:noFill/>
          <a:ln/>
        </p:spPr>
        <p:txBody>
          <a:bodyPr wrap="square" lIns="0" tIns="0" rIns="0" bIns="0" rtlCol="0" anchor="t"/>
          <a:lstStyle/>
          <a:p>
            <a:pPr rtl="1" algn="l" indent="0" marL="0">
              <a:buNone/>
            </a:pPr>
            <a:r>
              <a:rPr lang="ar-SA" altLang="en-US" sz="850" b="1" dirty="0">
                <a:solidFill>
                  <a:srgbClr val="7C8F87"/>
                </a:solidFill>
                <a:latin typeface="Tajawal" pitchFamily="34" charset="0"/>
                <a:ea typeface="Tajawal" pitchFamily="34" charset="-122"/>
                <a:cs typeface="Tajawal" pitchFamily="34" charset="-120"/>
              </a:rPr>
              <a:t>١١</a:t>
            </a:r>
            <a:endParaRPr lang="ar-SA" sz="850" dirty="0"/>
          </a:p>
        </p:txBody>
      </p:sp>
      <p:sp>
        <p:nvSpPr>
          <p:cNvPr id="9" name="Text 4"/>
          <p:cNvSpPr/>
          <p:nvPr/>
        </p:nvSpPr>
        <p:spPr>
          <a:xfrm>
            <a:off x="6233008" y="786384"/>
            <a:ext cx="5547208" cy="237744"/>
          </a:xfrm>
          <a:prstGeom prst="rect">
            <a:avLst/>
          </a:prstGeom>
          <a:noFill/>
          <a:ln/>
        </p:spPr>
        <p:txBody>
          <a:bodyPr wrap="square" lIns="0" tIns="0" rIns="0" bIns="0" rtlCol="0" anchor="t"/>
          <a:lstStyle/>
          <a:p>
            <a:pPr rtl="1" algn="ctr" indent="0" marL="0">
              <a:buNone/>
            </a:pPr>
            <a:r>
              <a:rPr lang="ar-SA" altLang="en-US" sz="1000" b="1" dirty="0">
                <a:solidFill>
                  <a:srgbClr val="095242"/>
                </a:solidFill>
                <a:latin typeface="Tajawal" pitchFamily="34" charset="0"/>
                <a:ea typeface="Tajawal" pitchFamily="34" charset="-122"/>
                <a:cs typeface="Tajawal" pitchFamily="34" charset="-120"/>
              </a:rPr>
              <a:t>عوامل داخلية</a:t>
            </a:r>
            <a:endParaRPr lang="ar-SA" sz="1000" dirty="0"/>
          </a:p>
        </p:txBody>
      </p:sp>
      <p:sp>
        <p:nvSpPr>
          <p:cNvPr id="10" name="Text 5"/>
          <p:cNvSpPr/>
          <p:nvPr/>
        </p:nvSpPr>
        <p:spPr>
          <a:xfrm>
            <a:off x="411480" y="786384"/>
            <a:ext cx="5547208" cy="237744"/>
          </a:xfrm>
          <a:prstGeom prst="rect">
            <a:avLst/>
          </a:prstGeom>
          <a:noFill/>
          <a:ln/>
        </p:spPr>
        <p:txBody>
          <a:bodyPr wrap="square" lIns="0" tIns="0" rIns="0" bIns="0" rtlCol="0" anchor="t"/>
          <a:lstStyle/>
          <a:p>
            <a:pPr rtl="1" algn="ctr" indent="0" marL="0">
              <a:buNone/>
            </a:pPr>
            <a:r>
              <a:rPr lang="ar-SA" altLang="en-US" sz="1000" b="1" dirty="0">
                <a:solidFill>
                  <a:srgbClr val="46551F"/>
                </a:solidFill>
                <a:latin typeface="Tajawal" pitchFamily="34" charset="0"/>
                <a:ea typeface="Tajawal" pitchFamily="34" charset="-122"/>
                <a:cs typeface="Tajawal" pitchFamily="34" charset="-120"/>
              </a:rPr>
              <a:t>عوامل خارجية</a:t>
            </a:r>
            <a:endParaRPr lang="ar-SA" sz="1000" dirty="0"/>
          </a:p>
        </p:txBody>
      </p:sp>
      <p:sp>
        <p:nvSpPr>
          <p:cNvPr id="11" name="Shape 6"/>
          <p:cNvSpPr/>
          <p:nvPr/>
        </p:nvSpPr>
        <p:spPr>
          <a:xfrm>
            <a:off x="6233008" y="1042416"/>
            <a:ext cx="5547208" cy="1938528"/>
          </a:xfrm>
          <a:prstGeom prst="roundRect">
            <a:avLst>
              <a:gd name="adj" fmla="val 3538"/>
            </a:avLst>
          </a:prstGeom>
          <a:solidFill>
            <a:srgbClr val="FFFFFF"/>
          </a:solidFill>
          <a:ln w="9525">
            <a:solidFill>
              <a:srgbClr val="DCE8E2"/>
            </a:solidFill>
            <a:prstDash val="solid"/>
          </a:ln>
          <a:effectLst>
            <a:outerShdw sx="100000" sy="100000" kx="0" ky="0" algn="bl" rotWithShape="0" blurRad="63500" dist="12700" dir="5400000">
              <a:srgbClr val="0E3B30">
                <a:alpha val="6000"/>
              </a:srgbClr>
            </a:outerShdw>
          </a:effectLst>
        </p:spPr>
      </p:sp>
      <p:sp>
        <p:nvSpPr>
          <p:cNvPr id="12" name="Shape 7"/>
          <p:cNvSpPr/>
          <p:nvPr/>
        </p:nvSpPr>
        <p:spPr>
          <a:xfrm>
            <a:off x="6361024" y="1152144"/>
            <a:ext cx="5291176" cy="384048"/>
          </a:xfrm>
          <a:prstGeom prst="roundRect">
            <a:avLst>
              <a:gd name="adj" fmla="val 16667"/>
            </a:avLst>
          </a:prstGeom>
          <a:solidFill>
            <a:srgbClr val="095242"/>
          </a:solidFill>
          <a:ln/>
        </p:spPr>
      </p:sp>
      <p:sp>
        <p:nvSpPr>
          <p:cNvPr id="13" name="Shape 8"/>
          <p:cNvSpPr/>
          <p:nvPr/>
        </p:nvSpPr>
        <p:spPr>
          <a:xfrm>
            <a:off x="11304727" y="1207008"/>
            <a:ext cx="274320" cy="274320"/>
          </a:xfrm>
          <a:prstGeom prst="ellipse">
            <a:avLst/>
          </a:prstGeom>
          <a:solidFill>
            <a:srgbClr val="FFFFFF"/>
          </a:solidFill>
          <a:ln/>
        </p:spPr>
      </p:sp>
      <p:sp>
        <p:nvSpPr>
          <p:cNvPr id="14" name="Text 9"/>
          <p:cNvSpPr/>
          <p:nvPr/>
        </p:nvSpPr>
        <p:spPr>
          <a:xfrm>
            <a:off x="11304727" y="1193292"/>
            <a:ext cx="274320" cy="274320"/>
          </a:xfrm>
          <a:prstGeom prst="rect">
            <a:avLst/>
          </a:prstGeom>
          <a:noFill/>
          <a:ln/>
        </p:spPr>
        <p:txBody>
          <a:bodyPr wrap="square" lIns="0" tIns="0" rIns="0" bIns="0" rtlCol="0" anchor="ctr"/>
          <a:lstStyle/>
          <a:p>
            <a:pPr rtl="1" algn="ctr" indent="0" marL="0">
              <a:buNone/>
            </a:pPr>
            <a:r>
              <a:rPr lang="ar-SA" altLang="en-US" sz="1100" b="1" dirty="0">
                <a:solidFill>
                  <a:srgbClr val="095242"/>
                </a:solidFill>
                <a:latin typeface="Arial" pitchFamily="34" charset="0"/>
                <a:ea typeface="Arial" pitchFamily="34" charset="-122"/>
                <a:cs typeface="Arial" pitchFamily="34" charset="-120"/>
              </a:rPr>
              <a:t>S</a:t>
            </a:r>
            <a:endParaRPr lang="ar-SA" sz="1100" dirty="0"/>
          </a:p>
        </p:txBody>
      </p:sp>
      <p:sp>
        <p:nvSpPr>
          <p:cNvPr id="15" name="Text 10"/>
          <p:cNvSpPr/>
          <p:nvPr/>
        </p:nvSpPr>
        <p:spPr>
          <a:xfrm>
            <a:off x="6507328" y="1152144"/>
            <a:ext cx="4724248" cy="384048"/>
          </a:xfrm>
          <a:prstGeom prst="rect">
            <a:avLst/>
          </a:prstGeom>
          <a:noFill/>
          <a:ln/>
        </p:spPr>
        <p:txBody>
          <a:bodyPr wrap="square" lIns="0" tIns="0" rIns="0" bIns="0" rtlCol="0" anchor="ctr"/>
          <a:lstStyle/>
          <a:p>
            <a:pPr rtl="1" algn="r" indent="0" marL="0">
              <a:buNone/>
            </a:pPr>
            <a:r>
              <a:rPr lang="ar-SA" altLang="en-US" sz="1250" b="1" dirty="0">
                <a:solidFill>
                  <a:srgbClr val="FFFFFF"/>
                </a:solidFill>
                <a:latin typeface="Tajawal" pitchFamily="34" charset="0"/>
                <a:ea typeface="Tajawal" pitchFamily="34" charset="-122"/>
                <a:cs typeface="Tajawal" pitchFamily="34" charset="-120"/>
              </a:rPr>
              <a:t>نقاط القوة</a:t>
            </a:r>
            <a:endParaRPr lang="ar-SA" sz="1250" dirty="0"/>
          </a:p>
        </p:txBody>
      </p:sp>
      <p:sp>
        <p:nvSpPr>
          <p:cNvPr id="16" name="Text 11"/>
          <p:cNvSpPr/>
          <p:nvPr/>
        </p:nvSpPr>
        <p:spPr>
          <a:xfrm>
            <a:off x="6507328" y="1645920"/>
            <a:ext cx="4998568" cy="1207008"/>
          </a:xfrm>
          <a:prstGeom prst="rect">
            <a:avLst/>
          </a:prstGeom>
          <a:noFill/>
          <a:ln/>
        </p:spPr>
        <p:txBody>
          <a:bodyPr wrap="square" lIns="0" tIns="0" rIns="0" bIns="0" rtlCol="0" anchor="t"/>
          <a:lstStyle/>
          <a:p>
            <a:pPr algn="r" marL="127000" indent="-127000">
              <a:lnSpc>
                <a:spcPct val="110000"/>
              </a:lnSpc>
              <a:spcAft>
                <a:spcPts val="500"/>
              </a:spcAft>
              <a:buSzPct val="100000"/>
              <a:buChar char="▪"/>
            </a:pPr>
            <a:r>
              <a:rPr lang="ar-SA" altLang="en-US" sz="930" dirty="0">
                <a:solidFill>
                  <a:srgbClr val="33473F"/>
                </a:solidFill>
                <a:latin typeface="Tajawal" pitchFamily="34" charset="0"/>
                <a:ea typeface="Tajawal" pitchFamily="34" charset="-122"/>
                <a:cs typeface="Tajawal" pitchFamily="34" charset="-120"/>
              </a:rPr>
              <a:t>توفّر كادر تعليمي مؤهّل ومُتمكِّن.</a:t>
            </a:r>
            <a:endParaRPr lang="ar-SA" sz="930" dirty="0"/>
          </a:p>
          <a:p>
            <a:pPr algn="r" marL="127000" indent="-127000">
              <a:lnSpc>
                <a:spcPct val="110000"/>
              </a:lnSpc>
              <a:spcAft>
                <a:spcPts val="500"/>
              </a:spcAft>
              <a:buSzPct val="100000"/>
              <a:buChar char="▪"/>
            </a:pPr>
            <a:r>
              <a:rPr lang="ar-SA" altLang="en-US" sz="930" dirty="0">
                <a:solidFill>
                  <a:srgbClr val="33473F"/>
                </a:solidFill>
                <a:latin typeface="Tajawal" pitchFamily="34" charset="0"/>
                <a:ea typeface="Tajawal" pitchFamily="34" charset="-122"/>
                <a:cs typeface="Tajawal" pitchFamily="34" charset="-120"/>
              </a:rPr>
              <a:t>وجود برامج إثرائية وأنشطة طلابية متنوّعة ومنظّمة.</a:t>
            </a:r>
            <a:endParaRPr lang="ar-SA" sz="930" dirty="0"/>
          </a:p>
          <a:p>
            <a:pPr algn="r" marL="127000" indent="-127000">
              <a:lnSpc>
                <a:spcPct val="110000"/>
              </a:lnSpc>
              <a:spcAft>
                <a:spcPts val="500"/>
              </a:spcAft>
              <a:buSzPct val="100000"/>
              <a:buChar char="▪"/>
            </a:pPr>
            <a:r>
              <a:rPr lang="ar-SA" altLang="en-US" sz="930" dirty="0">
                <a:solidFill>
                  <a:srgbClr val="33473F"/>
                </a:solidFill>
                <a:latin typeface="Tajawal" pitchFamily="34" charset="0"/>
                <a:ea typeface="Tajawal" pitchFamily="34" charset="-122"/>
                <a:cs typeface="Tajawal" pitchFamily="34" charset="-120"/>
              </a:rPr>
              <a:t>توفّر بيئة مدرسية آمنة ومنظّمة.</a:t>
            </a:r>
            <a:endParaRPr lang="ar-SA" sz="930" dirty="0"/>
          </a:p>
          <a:p>
            <a:pPr algn="r" marL="127000" indent="-127000">
              <a:lnSpc>
                <a:spcPct val="110000"/>
              </a:lnSpc>
              <a:spcAft>
                <a:spcPts val="500"/>
              </a:spcAft>
              <a:buSzPct val="100000"/>
              <a:buChar char="▪"/>
            </a:pPr>
            <a:r>
              <a:rPr lang="ar-SA" altLang="en-US" sz="930" dirty="0">
                <a:solidFill>
                  <a:srgbClr val="33473F"/>
                </a:solidFill>
                <a:latin typeface="Tajawal" pitchFamily="34" charset="0"/>
                <a:ea typeface="Tajawal" pitchFamily="34" charset="-122"/>
                <a:cs typeface="Tajawal" pitchFamily="34" charset="-120"/>
              </a:rPr>
              <a:t>تفاعل جيّد بين المدرسة وأولياء الأمور.</a:t>
            </a:r>
            <a:endParaRPr lang="ar-SA" sz="930" dirty="0"/>
          </a:p>
        </p:txBody>
      </p:sp>
      <p:sp>
        <p:nvSpPr>
          <p:cNvPr id="17" name="Shape 12"/>
          <p:cNvSpPr/>
          <p:nvPr/>
        </p:nvSpPr>
        <p:spPr>
          <a:xfrm>
            <a:off x="411480" y="1042416"/>
            <a:ext cx="5547208" cy="1938528"/>
          </a:xfrm>
          <a:prstGeom prst="roundRect">
            <a:avLst>
              <a:gd name="adj" fmla="val 3538"/>
            </a:avLst>
          </a:prstGeom>
          <a:solidFill>
            <a:srgbClr val="FFFFFF"/>
          </a:solidFill>
          <a:ln w="9525">
            <a:solidFill>
              <a:srgbClr val="DCE8E2"/>
            </a:solidFill>
            <a:prstDash val="solid"/>
          </a:ln>
          <a:effectLst>
            <a:outerShdw sx="100000" sy="100000" kx="0" ky="0" algn="bl" rotWithShape="0" blurRad="63500" dist="12700" dir="5400000">
              <a:srgbClr val="0E3B30">
                <a:alpha val="6000"/>
              </a:srgbClr>
            </a:outerShdw>
          </a:effectLst>
        </p:spPr>
      </p:sp>
      <p:sp>
        <p:nvSpPr>
          <p:cNvPr id="18" name="Shape 13"/>
          <p:cNvSpPr/>
          <p:nvPr/>
        </p:nvSpPr>
        <p:spPr>
          <a:xfrm>
            <a:off x="539496" y="1152144"/>
            <a:ext cx="5291176" cy="384048"/>
          </a:xfrm>
          <a:prstGeom prst="roundRect">
            <a:avLst>
              <a:gd name="adj" fmla="val 16667"/>
            </a:avLst>
          </a:prstGeom>
          <a:solidFill>
            <a:srgbClr val="D7E4BD"/>
          </a:solidFill>
          <a:ln/>
        </p:spPr>
      </p:sp>
      <p:sp>
        <p:nvSpPr>
          <p:cNvPr id="19" name="Shape 14"/>
          <p:cNvSpPr/>
          <p:nvPr/>
        </p:nvSpPr>
        <p:spPr>
          <a:xfrm>
            <a:off x="5483200" y="1207008"/>
            <a:ext cx="274320" cy="274320"/>
          </a:xfrm>
          <a:prstGeom prst="ellipse">
            <a:avLst/>
          </a:prstGeom>
          <a:solidFill>
            <a:srgbClr val="FFFFFF"/>
          </a:solidFill>
          <a:ln/>
        </p:spPr>
      </p:sp>
      <p:sp>
        <p:nvSpPr>
          <p:cNvPr id="20" name="Text 15"/>
          <p:cNvSpPr/>
          <p:nvPr/>
        </p:nvSpPr>
        <p:spPr>
          <a:xfrm>
            <a:off x="5483200" y="1193292"/>
            <a:ext cx="274320" cy="274320"/>
          </a:xfrm>
          <a:prstGeom prst="rect">
            <a:avLst/>
          </a:prstGeom>
          <a:noFill/>
          <a:ln/>
        </p:spPr>
        <p:txBody>
          <a:bodyPr wrap="square" lIns="0" tIns="0" rIns="0" bIns="0" rtlCol="0" anchor="ctr"/>
          <a:lstStyle/>
          <a:p>
            <a:pPr rtl="1" algn="ctr" indent="0" marL="0">
              <a:buNone/>
            </a:pPr>
            <a:r>
              <a:rPr lang="ar-SA" altLang="en-US" sz="1100" b="1" dirty="0">
                <a:solidFill>
                  <a:srgbClr val="46551F"/>
                </a:solidFill>
                <a:latin typeface="Arial" pitchFamily="34" charset="0"/>
                <a:ea typeface="Arial" pitchFamily="34" charset="-122"/>
                <a:cs typeface="Arial" pitchFamily="34" charset="-120"/>
              </a:rPr>
              <a:t>O</a:t>
            </a:r>
            <a:endParaRPr lang="ar-SA" sz="1100" dirty="0"/>
          </a:p>
        </p:txBody>
      </p:sp>
      <p:sp>
        <p:nvSpPr>
          <p:cNvPr id="21" name="Text 16"/>
          <p:cNvSpPr/>
          <p:nvPr/>
        </p:nvSpPr>
        <p:spPr>
          <a:xfrm>
            <a:off x="685800" y="1152144"/>
            <a:ext cx="4724248" cy="384048"/>
          </a:xfrm>
          <a:prstGeom prst="rect">
            <a:avLst/>
          </a:prstGeom>
          <a:noFill/>
          <a:ln/>
        </p:spPr>
        <p:txBody>
          <a:bodyPr wrap="square" lIns="0" tIns="0" rIns="0" bIns="0" rtlCol="0" anchor="ctr"/>
          <a:lstStyle/>
          <a:p>
            <a:pPr rtl="1" algn="r" indent="0" marL="0">
              <a:buNone/>
            </a:pPr>
            <a:r>
              <a:rPr lang="ar-SA" altLang="en-US" sz="1250" b="1" dirty="0">
                <a:solidFill>
                  <a:srgbClr val="46551F"/>
                </a:solidFill>
                <a:latin typeface="Tajawal" pitchFamily="34" charset="0"/>
                <a:ea typeface="Tajawal" pitchFamily="34" charset="-122"/>
                <a:cs typeface="Tajawal" pitchFamily="34" charset="-120"/>
              </a:rPr>
              <a:t>الفرص</a:t>
            </a:r>
            <a:endParaRPr lang="ar-SA" sz="1250" dirty="0"/>
          </a:p>
        </p:txBody>
      </p:sp>
      <p:sp>
        <p:nvSpPr>
          <p:cNvPr id="22" name="Text 17"/>
          <p:cNvSpPr/>
          <p:nvPr/>
        </p:nvSpPr>
        <p:spPr>
          <a:xfrm>
            <a:off x="685800" y="1645920"/>
            <a:ext cx="4998568" cy="1207008"/>
          </a:xfrm>
          <a:prstGeom prst="rect">
            <a:avLst/>
          </a:prstGeom>
          <a:noFill/>
          <a:ln/>
        </p:spPr>
        <p:txBody>
          <a:bodyPr wrap="square" lIns="0" tIns="0" rIns="0" bIns="0" rtlCol="0" anchor="t"/>
          <a:lstStyle/>
          <a:p>
            <a:pPr algn="r" marL="127000" indent="-127000">
              <a:lnSpc>
                <a:spcPct val="110000"/>
              </a:lnSpc>
              <a:spcAft>
                <a:spcPts val="500"/>
              </a:spcAft>
              <a:buSzPct val="100000"/>
              <a:buChar char="▪"/>
            </a:pPr>
            <a:r>
              <a:rPr lang="ar-SA" altLang="en-US" sz="930" dirty="0">
                <a:solidFill>
                  <a:srgbClr val="33473F"/>
                </a:solidFill>
                <a:latin typeface="Tajawal" pitchFamily="34" charset="0"/>
                <a:ea typeface="Tajawal" pitchFamily="34" charset="-122"/>
                <a:cs typeface="Tajawal" pitchFamily="34" charset="-120"/>
              </a:rPr>
              <a:t>دعم الوزارة للتحوّل الرقمي في التعليم.</a:t>
            </a:r>
            <a:endParaRPr lang="ar-SA" sz="930" dirty="0"/>
          </a:p>
          <a:p>
            <a:pPr algn="r" marL="127000" indent="-127000">
              <a:lnSpc>
                <a:spcPct val="110000"/>
              </a:lnSpc>
              <a:spcAft>
                <a:spcPts val="500"/>
              </a:spcAft>
              <a:buSzPct val="100000"/>
              <a:buChar char="▪"/>
            </a:pPr>
            <a:r>
              <a:rPr lang="ar-SA" altLang="en-US" sz="930" dirty="0">
                <a:solidFill>
                  <a:srgbClr val="33473F"/>
                </a:solidFill>
                <a:latin typeface="Tajawal" pitchFamily="34" charset="0"/>
                <a:ea typeface="Tajawal" pitchFamily="34" charset="-122"/>
                <a:cs typeface="Tajawal" pitchFamily="34" charset="-120"/>
              </a:rPr>
              <a:t>توفّر برامج تدريبية للمعلمين عبر منصّات رسمية.</a:t>
            </a:r>
            <a:endParaRPr lang="ar-SA" sz="930" dirty="0"/>
          </a:p>
          <a:p>
            <a:pPr algn="r" marL="127000" indent="-127000">
              <a:lnSpc>
                <a:spcPct val="110000"/>
              </a:lnSpc>
              <a:spcAft>
                <a:spcPts val="500"/>
              </a:spcAft>
              <a:buSzPct val="100000"/>
              <a:buChar char="▪"/>
            </a:pPr>
            <a:r>
              <a:rPr lang="ar-SA" altLang="en-US" sz="930" dirty="0">
                <a:solidFill>
                  <a:srgbClr val="33473F"/>
                </a:solidFill>
                <a:latin typeface="Tajawal" pitchFamily="34" charset="0"/>
                <a:ea typeface="Tajawal" pitchFamily="34" charset="-122"/>
                <a:cs typeface="Tajawal" pitchFamily="34" charset="-120"/>
              </a:rPr>
              <a:t>إمكانية تفعيل شراكات مع المجتمع المحلّي.</a:t>
            </a:r>
            <a:endParaRPr lang="ar-SA" sz="930" dirty="0"/>
          </a:p>
          <a:p>
            <a:pPr algn="r" marL="127000" indent="-127000">
              <a:lnSpc>
                <a:spcPct val="110000"/>
              </a:lnSpc>
              <a:spcAft>
                <a:spcPts val="500"/>
              </a:spcAft>
              <a:buSzPct val="100000"/>
              <a:buChar char="▪"/>
            </a:pPr>
            <a:r>
              <a:rPr lang="ar-SA" altLang="en-US" sz="930" dirty="0">
                <a:solidFill>
                  <a:srgbClr val="33473F"/>
                </a:solidFill>
                <a:latin typeface="Tajawal" pitchFamily="34" charset="0"/>
                <a:ea typeface="Tajawal" pitchFamily="34" charset="-122"/>
                <a:cs typeface="Tajawal" pitchFamily="34" charset="-120"/>
              </a:rPr>
              <a:t>مشاركة المدارس في مبادرات تحسين نواتج التعلم.</a:t>
            </a:r>
            <a:endParaRPr lang="ar-SA" sz="930" dirty="0"/>
          </a:p>
        </p:txBody>
      </p:sp>
      <p:sp>
        <p:nvSpPr>
          <p:cNvPr id="23" name="Shape 18"/>
          <p:cNvSpPr/>
          <p:nvPr/>
        </p:nvSpPr>
        <p:spPr>
          <a:xfrm>
            <a:off x="6233008" y="3127248"/>
            <a:ext cx="5547208" cy="1938528"/>
          </a:xfrm>
          <a:prstGeom prst="roundRect">
            <a:avLst>
              <a:gd name="adj" fmla="val 3538"/>
            </a:avLst>
          </a:prstGeom>
          <a:solidFill>
            <a:srgbClr val="FFFFFF"/>
          </a:solidFill>
          <a:ln w="9525">
            <a:solidFill>
              <a:srgbClr val="DCE8E2"/>
            </a:solidFill>
            <a:prstDash val="solid"/>
          </a:ln>
          <a:effectLst>
            <a:outerShdw sx="100000" sy="100000" kx="0" ky="0" algn="bl" rotWithShape="0" blurRad="63500" dist="12700" dir="5400000">
              <a:srgbClr val="0E3B30">
                <a:alpha val="6000"/>
              </a:srgbClr>
            </a:outerShdw>
          </a:effectLst>
        </p:spPr>
      </p:sp>
      <p:sp>
        <p:nvSpPr>
          <p:cNvPr id="24" name="Shape 19"/>
          <p:cNvSpPr/>
          <p:nvPr/>
        </p:nvSpPr>
        <p:spPr>
          <a:xfrm>
            <a:off x="6361024" y="3236976"/>
            <a:ext cx="5291176" cy="384048"/>
          </a:xfrm>
          <a:prstGeom prst="roundRect">
            <a:avLst>
              <a:gd name="adj" fmla="val 16667"/>
            </a:avLst>
          </a:prstGeom>
          <a:solidFill>
            <a:srgbClr val="095242"/>
          </a:solidFill>
          <a:ln/>
        </p:spPr>
      </p:sp>
      <p:sp>
        <p:nvSpPr>
          <p:cNvPr id="25" name="Shape 20"/>
          <p:cNvSpPr/>
          <p:nvPr/>
        </p:nvSpPr>
        <p:spPr>
          <a:xfrm>
            <a:off x="11304727" y="3291840"/>
            <a:ext cx="274320" cy="274320"/>
          </a:xfrm>
          <a:prstGeom prst="ellipse">
            <a:avLst/>
          </a:prstGeom>
          <a:solidFill>
            <a:srgbClr val="FFFFFF"/>
          </a:solidFill>
          <a:ln/>
        </p:spPr>
      </p:sp>
      <p:sp>
        <p:nvSpPr>
          <p:cNvPr id="26" name="Text 21"/>
          <p:cNvSpPr/>
          <p:nvPr/>
        </p:nvSpPr>
        <p:spPr>
          <a:xfrm>
            <a:off x="11304727" y="3278124"/>
            <a:ext cx="274320" cy="274320"/>
          </a:xfrm>
          <a:prstGeom prst="rect">
            <a:avLst/>
          </a:prstGeom>
          <a:noFill/>
          <a:ln/>
        </p:spPr>
        <p:txBody>
          <a:bodyPr wrap="square" lIns="0" tIns="0" rIns="0" bIns="0" rtlCol="0" anchor="ctr"/>
          <a:lstStyle/>
          <a:p>
            <a:pPr rtl="1" algn="ctr" indent="0" marL="0">
              <a:buNone/>
            </a:pPr>
            <a:r>
              <a:rPr lang="ar-SA" altLang="en-US" sz="1100" b="1" dirty="0">
                <a:solidFill>
                  <a:srgbClr val="095242"/>
                </a:solidFill>
                <a:latin typeface="Arial" pitchFamily="34" charset="0"/>
                <a:ea typeface="Arial" pitchFamily="34" charset="-122"/>
                <a:cs typeface="Arial" pitchFamily="34" charset="-120"/>
              </a:rPr>
              <a:t>W</a:t>
            </a:r>
            <a:endParaRPr lang="ar-SA" sz="1100" dirty="0"/>
          </a:p>
        </p:txBody>
      </p:sp>
      <p:sp>
        <p:nvSpPr>
          <p:cNvPr id="27" name="Text 22"/>
          <p:cNvSpPr/>
          <p:nvPr/>
        </p:nvSpPr>
        <p:spPr>
          <a:xfrm>
            <a:off x="6507328" y="3236976"/>
            <a:ext cx="4724248" cy="384048"/>
          </a:xfrm>
          <a:prstGeom prst="rect">
            <a:avLst/>
          </a:prstGeom>
          <a:noFill/>
          <a:ln/>
        </p:spPr>
        <p:txBody>
          <a:bodyPr wrap="square" lIns="0" tIns="0" rIns="0" bIns="0" rtlCol="0" anchor="ctr"/>
          <a:lstStyle/>
          <a:p>
            <a:pPr rtl="1" algn="r" indent="0" marL="0">
              <a:buNone/>
            </a:pPr>
            <a:r>
              <a:rPr lang="ar-SA" altLang="en-US" sz="1250" b="1" dirty="0">
                <a:solidFill>
                  <a:srgbClr val="FFFFFF"/>
                </a:solidFill>
                <a:latin typeface="Tajawal" pitchFamily="34" charset="0"/>
                <a:ea typeface="Tajawal" pitchFamily="34" charset="-122"/>
                <a:cs typeface="Tajawal" pitchFamily="34" charset="-120"/>
              </a:rPr>
              <a:t>نقاط الضعف</a:t>
            </a:r>
            <a:endParaRPr lang="ar-SA" sz="1250" dirty="0"/>
          </a:p>
        </p:txBody>
      </p:sp>
      <p:sp>
        <p:nvSpPr>
          <p:cNvPr id="28" name="Text 23"/>
          <p:cNvSpPr/>
          <p:nvPr/>
        </p:nvSpPr>
        <p:spPr>
          <a:xfrm>
            <a:off x="6507328" y="3730752"/>
            <a:ext cx="4998568" cy="1207008"/>
          </a:xfrm>
          <a:prstGeom prst="rect">
            <a:avLst/>
          </a:prstGeom>
          <a:noFill/>
          <a:ln/>
        </p:spPr>
        <p:txBody>
          <a:bodyPr wrap="square" lIns="0" tIns="0" rIns="0" bIns="0" rtlCol="0" anchor="t"/>
          <a:lstStyle/>
          <a:p>
            <a:pPr algn="r" marL="127000" indent="-127000">
              <a:lnSpc>
                <a:spcPct val="110000"/>
              </a:lnSpc>
              <a:spcAft>
                <a:spcPts val="500"/>
              </a:spcAft>
              <a:buSzPct val="100000"/>
              <a:buChar char="▪"/>
            </a:pPr>
            <a:r>
              <a:rPr lang="ar-SA" altLang="en-US" sz="930" dirty="0">
                <a:solidFill>
                  <a:srgbClr val="33473F"/>
                </a:solidFill>
                <a:latin typeface="Tajawal" pitchFamily="34" charset="0"/>
                <a:ea typeface="Tajawal" pitchFamily="34" charset="-122"/>
                <a:cs typeface="Tajawal" pitchFamily="34" charset="-120"/>
              </a:rPr>
              <a:t>انخفاض مستوى بعض الطلاب في مهارات القراءة والكتابة والرياضيات.</a:t>
            </a:r>
            <a:endParaRPr lang="ar-SA" sz="930" dirty="0"/>
          </a:p>
          <a:p>
            <a:pPr algn="r" marL="127000" indent="-127000">
              <a:lnSpc>
                <a:spcPct val="110000"/>
              </a:lnSpc>
              <a:spcAft>
                <a:spcPts val="500"/>
              </a:spcAft>
              <a:buSzPct val="100000"/>
              <a:buChar char="▪"/>
            </a:pPr>
            <a:r>
              <a:rPr lang="ar-SA" altLang="en-US" sz="930" dirty="0">
                <a:solidFill>
                  <a:srgbClr val="33473F"/>
                </a:solidFill>
                <a:latin typeface="Tajawal" pitchFamily="34" charset="0"/>
                <a:ea typeface="Tajawal" pitchFamily="34" charset="-122"/>
                <a:cs typeface="Tajawal" pitchFamily="34" charset="-120"/>
              </a:rPr>
              <a:t>نقص في استخدام التقنيات التعليمية داخل الفصول.</a:t>
            </a:r>
            <a:endParaRPr lang="ar-SA" sz="930" dirty="0"/>
          </a:p>
          <a:p>
            <a:pPr algn="r" marL="127000" indent="-127000">
              <a:lnSpc>
                <a:spcPct val="110000"/>
              </a:lnSpc>
              <a:spcAft>
                <a:spcPts val="500"/>
              </a:spcAft>
              <a:buSzPct val="100000"/>
              <a:buChar char="▪"/>
            </a:pPr>
            <a:r>
              <a:rPr lang="ar-SA" altLang="en-US" sz="930" dirty="0">
                <a:solidFill>
                  <a:srgbClr val="33473F"/>
                </a:solidFill>
                <a:latin typeface="Tajawal" pitchFamily="34" charset="0"/>
                <a:ea typeface="Tajawal" pitchFamily="34" charset="-122"/>
                <a:cs typeface="Tajawal" pitchFamily="34" charset="-120"/>
              </a:rPr>
              <a:t>ضعف في متابعة تنفيذ المبادرات حسب الجداول الزمنية.</a:t>
            </a:r>
            <a:endParaRPr lang="ar-SA" sz="930" dirty="0"/>
          </a:p>
          <a:p>
            <a:pPr algn="r" marL="127000" indent="-127000">
              <a:lnSpc>
                <a:spcPct val="110000"/>
              </a:lnSpc>
              <a:spcAft>
                <a:spcPts val="500"/>
              </a:spcAft>
              <a:buSzPct val="100000"/>
              <a:buChar char="▪"/>
            </a:pPr>
            <a:r>
              <a:rPr lang="ar-SA" altLang="en-US" sz="930" dirty="0">
                <a:solidFill>
                  <a:srgbClr val="33473F"/>
                </a:solidFill>
                <a:latin typeface="Tajawal" pitchFamily="34" charset="0"/>
                <a:ea typeface="Tajawal" pitchFamily="34" charset="-122"/>
                <a:cs typeface="Tajawal" pitchFamily="34" charset="-120"/>
              </a:rPr>
              <a:t>الحاجة إلى تطوير ممارسات التقييم النوعي للطلاب.</a:t>
            </a:r>
            <a:endParaRPr lang="ar-SA" sz="930" dirty="0"/>
          </a:p>
        </p:txBody>
      </p:sp>
      <p:sp>
        <p:nvSpPr>
          <p:cNvPr id="29" name="Shape 24"/>
          <p:cNvSpPr/>
          <p:nvPr/>
        </p:nvSpPr>
        <p:spPr>
          <a:xfrm>
            <a:off x="411480" y="3127248"/>
            <a:ext cx="5547208" cy="1938528"/>
          </a:xfrm>
          <a:prstGeom prst="roundRect">
            <a:avLst>
              <a:gd name="adj" fmla="val 3538"/>
            </a:avLst>
          </a:prstGeom>
          <a:solidFill>
            <a:srgbClr val="FFFFFF"/>
          </a:solidFill>
          <a:ln w="9525">
            <a:solidFill>
              <a:srgbClr val="DCE8E2"/>
            </a:solidFill>
            <a:prstDash val="solid"/>
          </a:ln>
          <a:effectLst>
            <a:outerShdw sx="100000" sy="100000" kx="0" ky="0" algn="bl" rotWithShape="0" blurRad="63500" dist="12700" dir="5400000">
              <a:srgbClr val="0E3B30">
                <a:alpha val="6000"/>
              </a:srgbClr>
            </a:outerShdw>
          </a:effectLst>
        </p:spPr>
      </p:sp>
      <p:sp>
        <p:nvSpPr>
          <p:cNvPr id="30" name="Shape 25"/>
          <p:cNvSpPr/>
          <p:nvPr/>
        </p:nvSpPr>
        <p:spPr>
          <a:xfrm>
            <a:off x="539496" y="3236976"/>
            <a:ext cx="5291176" cy="384048"/>
          </a:xfrm>
          <a:prstGeom prst="roundRect">
            <a:avLst>
              <a:gd name="adj" fmla="val 16667"/>
            </a:avLst>
          </a:prstGeom>
          <a:solidFill>
            <a:srgbClr val="D7E4BD"/>
          </a:solidFill>
          <a:ln/>
        </p:spPr>
      </p:sp>
      <p:sp>
        <p:nvSpPr>
          <p:cNvPr id="31" name="Shape 26"/>
          <p:cNvSpPr/>
          <p:nvPr/>
        </p:nvSpPr>
        <p:spPr>
          <a:xfrm>
            <a:off x="5483200" y="3291840"/>
            <a:ext cx="274320" cy="274320"/>
          </a:xfrm>
          <a:prstGeom prst="ellipse">
            <a:avLst/>
          </a:prstGeom>
          <a:solidFill>
            <a:srgbClr val="FFFFFF"/>
          </a:solidFill>
          <a:ln/>
        </p:spPr>
      </p:sp>
      <p:sp>
        <p:nvSpPr>
          <p:cNvPr id="32" name="Text 27"/>
          <p:cNvSpPr/>
          <p:nvPr/>
        </p:nvSpPr>
        <p:spPr>
          <a:xfrm>
            <a:off x="5483200" y="3278124"/>
            <a:ext cx="274320" cy="274320"/>
          </a:xfrm>
          <a:prstGeom prst="rect">
            <a:avLst/>
          </a:prstGeom>
          <a:noFill/>
          <a:ln/>
        </p:spPr>
        <p:txBody>
          <a:bodyPr wrap="square" lIns="0" tIns="0" rIns="0" bIns="0" rtlCol="0" anchor="ctr"/>
          <a:lstStyle/>
          <a:p>
            <a:pPr rtl="1" algn="ctr" indent="0" marL="0">
              <a:buNone/>
            </a:pPr>
            <a:r>
              <a:rPr lang="ar-SA" altLang="en-US" sz="1100" b="1" dirty="0">
                <a:solidFill>
                  <a:srgbClr val="46551F"/>
                </a:solidFill>
                <a:latin typeface="Arial" pitchFamily="34" charset="0"/>
                <a:ea typeface="Arial" pitchFamily="34" charset="-122"/>
                <a:cs typeface="Arial" pitchFamily="34" charset="-120"/>
              </a:rPr>
              <a:t>T</a:t>
            </a:r>
            <a:endParaRPr lang="ar-SA" sz="1100" dirty="0"/>
          </a:p>
        </p:txBody>
      </p:sp>
      <p:sp>
        <p:nvSpPr>
          <p:cNvPr id="33" name="Text 28"/>
          <p:cNvSpPr/>
          <p:nvPr/>
        </p:nvSpPr>
        <p:spPr>
          <a:xfrm>
            <a:off x="685800" y="3236976"/>
            <a:ext cx="4724248" cy="384048"/>
          </a:xfrm>
          <a:prstGeom prst="rect">
            <a:avLst/>
          </a:prstGeom>
          <a:noFill/>
          <a:ln/>
        </p:spPr>
        <p:txBody>
          <a:bodyPr wrap="square" lIns="0" tIns="0" rIns="0" bIns="0" rtlCol="0" anchor="ctr"/>
          <a:lstStyle/>
          <a:p>
            <a:pPr rtl="1" algn="r" indent="0" marL="0">
              <a:buNone/>
            </a:pPr>
            <a:r>
              <a:rPr lang="ar-SA" altLang="en-US" sz="1250" b="1" dirty="0">
                <a:solidFill>
                  <a:srgbClr val="46551F"/>
                </a:solidFill>
                <a:latin typeface="Tajawal" pitchFamily="34" charset="0"/>
                <a:ea typeface="Tajawal" pitchFamily="34" charset="-122"/>
                <a:cs typeface="Tajawal" pitchFamily="34" charset="-120"/>
              </a:rPr>
              <a:t>التهديدات</a:t>
            </a:r>
            <a:endParaRPr lang="ar-SA" sz="1250" dirty="0"/>
          </a:p>
        </p:txBody>
      </p:sp>
      <p:sp>
        <p:nvSpPr>
          <p:cNvPr id="34" name="Text 29"/>
          <p:cNvSpPr/>
          <p:nvPr/>
        </p:nvSpPr>
        <p:spPr>
          <a:xfrm>
            <a:off x="685800" y="3730752"/>
            <a:ext cx="4998568" cy="1207008"/>
          </a:xfrm>
          <a:prstGeom prst="rect">
            <a:avLst/>
          </a:prstGeom>
          <a:noFill/>
          <a:ln/>
        </p:spPr>
        <p:txBody>
          <a:bodyPr wrap="square" lIns="0" tIns="0" rIns="0" bIns="0" rtlCol="0" anchor="t"/>
          <a:lstStyle/>
          <a:p>
            <a:pPr algn="r" marL="127000" indent="-127000">
              <a:lnSpc>
                <a:spcPct val="110000"/>
              </a:lnSpc>
              <a:spcAft>
                <a:spcPts val="500"/>
              </a:spcAft>
              <a:buSzPct val="100000"/>
              <a:buChar char="▪"/>
            </a:pPr>
            <a:r>
              <a:rPr lang="ar-SA" altLang="en-US" sz="930" dirty="0">
                <a:solidFill>
                  <a:srgbClr val="33473F"/>
                </a:solidFill>
                <a:latin typeface="Tajawal" pitchFamily="34" charset="0"/>
                <a:ea typeface="Tajawal" pitchFamily="34" charset="-122"/>
                <a:cs typeface="Tajawal" pitchFamily="34" charset="-120"/>
              </a:rPr>
              <a:t>غياب بعض الطلاب وضعف الانتظام المدرسي في مجموعة من الفصول.</a:t>
            </a:r>
            <a:endParaRPr lang="ar-SA" sz="930" dirty="0"/>
          </a:p>
          <a:p>
            <a:pPr algn="r" marL="127000" indent="-127000">
              <a:lnSpc>
                <a:spcPct val="110000"/>
              </a:lnSpc>
              <a:spcAft>
                <a:spcPts val="500"/>
              </a:spcAft>
              <a:buSzPct val="100000"/>
              <a:buChar char="▪"/>
            </a:pPr>
            <a:r>
              <a:rPr lang="ar-SA" altLang="en-US" sz="930" dirty="0">
                <a:solidFill>
                  <a:srgbClr val="33473F"/>
                </a:solidFill>
                <a:latin typeface="Tajawal" pitchFamily="34" charset="0"/>
                <a:ea typeface="Tajawal" pitchFamily="34" charset="-122"/>
                <a:cs typeface="Tajawal" pitchFamily="34" charset="-120"/>
              </a:rPr>
              <a:t>ضعف الدعم المالي المُقدَّم للمدرسة لتنفيذ البرامج.</a:t>
            </a:r>
            <a:endParaRPr lang="ar-SA" sz="930" dirty="0"/>
          </a:p>
          <a:p>
            <a:pPr algn="r" marL="127000" indent="-127000">
              <a:lnSpc>
                <a:spcPct val="110000"/>
              </a:lnSpc>
              <a:spcAft>
                <a:spcPts val="500"/>
              </a:spcAft>
              <a:buSzPct val="100000"/>
              <a:buChar char="▪"/>
            </a:pPr>
            <a:r>
              <a:rPr lang="ar-SA" altLang="en-US" sz="930" dirty="0">
                <a:solidFill>
                  <a:srgbClr val="33473F"/>
                </a:solidFill>
                <a:latin typeface="Tajawal" pitchFamily="34" charset="0"/>
                <a:ea typeface="Tajawal" pitchFamily="34" charset="-122"/>
                <a:cs typeface="Tajawal" pitchFamily="34" charset="-120"/>
              </a:rPr>
              <a:t>ضعف الالتزام الأسري بمتابعة الأبناء أكاديميًا.</a:t>
            </a:r>
            <a:endParaRPr lang="ar-SA" sz="930" dirty="0"/>
          </a:p>
          <a:p>
            <a:pPr algn="r" marL="127000" indent="-127000">
              <a:lnSpc>
                <a:spcPct val="110000"/>
              </a:lnSpc>
              <a:spcAft>
                <a:spcPts val="500"/>
              </a:spcAft>
              <a:buSzPct val="100000"/>
              <a:buChar char="▪"/>
            </a:pPr>
            <a:r>
              <a:rPr lang="ar-SA" altLang="en-US" sz="930" dirty="0">
                <a:solidFill>
                  <a:srgbClr val="33473F"/>
                </a:solidFill>
                <a:latin typeface="Tajawal" pitchFamily="34" charset="0"/>
                <a:ea typeface="Tajawal" pitchFamily="34" charset="-122"/>
                <a:cs typeface="Tajawal" pitchFamily="34" charset="-120"/>
              </a:rPr>
              <a:t>محدودية المؤثرات الاجتماعية على الأداء.</a:t>
            </a:r>
            <a:endParaRPr lang="ar-SA" sz="930" dirty="0"/>
          </a:p>
        </p:txBody>
      </p:sp>
      <p:sp>
        <p:nvSpPr>
          <p:cNvPr id="35" name="Text 30"/>
          <p:cNvSpPr/>
          <p:nvPr/>
        </p:nvSpPr>
        <p:spPr>
          <a:xfrm>
            <a:off x="6293815" y="5248656"/>
            <a:ext cx="5486400" cy="274320"/>
          </a:xfrm>
          <a:prstGeom prst="rect">
            <a:avLst/>
          </a:prstGeom>
          <a:noFill/>
          <a:ln/>
        </p:spPr>
        <p:txBody>
          <a:bodyPr wrap="square" lIns="0" tIns="0" rIns="0" bIns="0" rtlCol="0" anchor="t"/>
          <a:lstStyle/>
          <a:p>
            <a:pPr rtl="1" algn="r" indent="0" marL="0">
              <a:buNone/>
            </a:pPr>
            <a:r>
              <a:rPr lang="ar-SA" altLang="en-US" sz="1100" b="1" dirty="0">
                <a:solidFill>
                  <a:srgbClr val="0F2A21"/>
                </a:solidFill>
                <a:latin typeface="Tajawal" pitchFamily="34" charset="0"/>
                <a:ea typeface="Tajawal" pitchFamily="34" charset="-122"/>
                <a:cs typeface="Tajawal" pitchFamily="34" charset="-120"/>
              </a:rPr>
              <a:t>الاستراتيجيات المُستنبَطة (SO، WO، ST، WT)</a:t>
            </a:r>
            <a:endParaRPr lang="ar-SA" sz="1100" dirty="0"/>
          </a:p>
        </p:txBody>
      </p:sp>
      <p:sp>
        <p:nvSpPr>
          <p:cNvPr id="36" name="Shape 31"/>
          <p:cNvSpPr/>
          <p:nvPr/>
        </p:nvSpPr>
        <p:spPr>
          <a:xfrm>
            <a:off x="9102623" y="5596128"/>
            <a:ext cx="2677592" cy="731520"/>
          </a:xfrm>
          <a:prstGeom prst="roundRect">
            <a:avLst>
              <a:gd name="adj" fmla="val 9375"/>
            </a:avLst>
          </a:prstGeom>
          <a:solidFill>
            <a:srgbClr val="F1F7F4"/>
          </a:solidFill>
          <a:ln w="9525">
            <a:solidFill>
              <a:srgbClr val="DCE8E2"/>
            </a:solidFill>
            <a:prstDash val="solid"/>
          </a:ln>
        </p:spPr>
      </p:sp>
      <p:sp>
        <p:nvSpPr>
          <p:cNvPr id="37" name="Shape 32"/>
          <p:cNvSpPr/>
          <p:nvPr/>
        </p:nvSpPr>
        <p:spPr>
          <a:xfrm>
            <a:off x="11213287" y="5769864"/>
            <a:ext cx="438912" cy="274320"/>
          </a:xfrm>
          <a:prstGeom prst="roundRect">
            <a:avLst>
              <a:gd name="adj" fmla="val 20000"/>
            </a:avLst>
          </a:prstGeom>
          <a:solidFill>
            <a:srgbClr val="095242"/>
          </a:solidFill>
          <a:ln/>
        </p:spPr>
      </p:sp>
      <p:sp>
        <p:nvSpPr>
          <p:cNvPr id="38" name="Text 33"/>
          <p:cNvSpPr/>
          <p:nvPr/>
        </p:nvSpPr>
        <p:spPr>
          <a:xfrm>
            <a:off x="11213287" y="5760720"/>
            <a:ext cx="438912" cy="274320"/>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Arial" pitchFamily="34" charset="0"/>
                <a:ea typeface="Arial" pitchFamily="34" charset="-122"/>
                <a:cs typeface="Arial" pitchFamily="34" charset="-120"/>
              </a:rPr>
              <a:t>SO</a:t>
            </a:r>
            <a:endParaRPr lang="ar-SA" sz="950" dirty="0"/>
          </a:p>
        </p:txBody>
      </p:sp>
      <p:sp>
        <p:nvSpPr>
          <p:cNvPr id="39" name="Text 34"/>
          <p:cNvSpPr/>
          <p:nvPr/>
        </p:nvSpPr>
        <p:spPr>
          <a:xfrm>
            <a:off x="9230639" y="5687568"/>
            <a:ext cx="1927784" cy="274320"/>
          </a:xfrm>
          <a:prstGeom prst="rect">
            <a:avLst/>
          </a:prstGeom>
          <a:noFill/>
          <a:ln/>
        </p:spPr>
        <p:txBody>
          <a:bodyPr wrap="square" lIns="0" tIns="0" rIns="0" bIns="0" rtlCol="0" anchor="ctr"/>
          <a:lstStyle/>
          <a:p>
            <a:pPr rtl="1" algn="r" indent="0" marL="0">
              <a:buNone/>
            </a:pPr>
            <a:r>
              <a:rPr lang="ar-SA" altLang="en-US" sz="960" b="1" dirty="0">
                <a:solidFill>
                  <a:srgbClr val="063E33"/>
                </a:solidFill>
                <a:latin typeface="Tajawal" pitchFamily="34" charset="0"/>
                <a:ea typeface="Tajawal" pitchFamily="34" charset="-122"/>
                <a:cs typeface="Tajawal" pitchFamily="34" charset="-120"/>
              </a:rPr>
              <a:t>استثمار القوة</a:t>
            </a:r>
            <a:endParaRPr lang="ar-SA" sz="960" dirty="0"/>
          </a:p>
        </p:txBody>
      </p:sp>
      <p:sp>
        <p:nvSpPr>
          <p:cNvPr id="40" name="Text 35"/>
          <p:cNvSpPr/>
          <p:nvPr/>
        </p:nvSpPr>
        <p:spPr>
          <a:xfrm>
            <a:off x="9230639" y="5980176"/>
            <a:ext cx="1927784" cy="292608"/>
          </a:xfrm>
          <a:prstGeom prst="rect">
            <a:avLst/>
          </a:prstGeom>
          <a:noFill/>
          <a:ln/>
        </p:spPr>
        <p:txBody>
          <a:bodyPr wrap="square" lIns="0" tIns="0" rIns="0" bIns="0" rtlCol="0" anchor="ctr"/>
          <a:lstStyle/>
          <a:p>
            <a:pPr rtl="1" algn="r" indent="0" marL="0">
              <a:lnSpc>
                <a:spcPct val="100000"/>
              </a:lnSpc>
              <a:buNone/>
            </a:pPr>
            <a:r>
              <a:rPr lang="ar-SA" altLang="en-US" sz="780" dirty="0">
                <a:solidFill>
                  <a:srgbClr val="7C8F87"/>
                </a:solidFill>
                <a:latin typeface="Tajawal" pitchFamily="34" charset="0"/>
                <a:ea typeface="Tajawal" pitchFamily="34" charset="-122"/>
                <a:cs typeface="Tajawal" pitchFamily="34" charset="-120"/>
              </a:rPr>
              <a:t>تفعيل الكادر والشراكات لرفع نواتج التعلم.</a:t>
            </a:r>
            <a:endParaRPr lang="ar-SA" sz="780" dirty="0"/>
          </a:p>
        </p:txBody>
      </p:sp>
      <p:sp>
        <p:nvSpPr>
          <p:cNvPr id="41" name="Shape 36"/>
          <p:cNvSpPr/>
          <p:nvPr/>
        </p:nvSpPr>
        <p:spPr>
          <a:xfrm>
            <a:off x="6205576" y="5596128"/>
            <a:ext cx="2677592" cy="731520"/>
          </a:xfrm>
          <a:prstGeom prst="roundRect">
            <a:avLst>
              <a:gd name="adj" fmla="val 9375"/>
            </a:avLst>
          </a:prstGeom>
          <a:solidFill>
            <a:srgbClr val="F1F7F4"/>
          </a:solidFill>
          <a:ln w="9525">
            <a:solidFill>
              <a:srgbClr val="DCE8E2"/>
            </a:solidFill>
            <a:prstDash val="solid"/>
          </a:ln>
        </p:spPr>
      </p:sp>
      <p:sp>
        <p:nvSpPr>
          <p:cNvPr id="42" name="Shape 37"/>
          <p:cNvSpPr/>
          <p:nvPr/>
        </p:nvSpPr>
        <p:spPr>
          <a:xfrm>
            <a:off x="8316239" y="5769864"/>
            <a:ext cx="438912" cy="274320"/>
          </a:xfrm>
          <a:prstGeom prst="roundRect">
            <a:avLst>
              <a:gd name="adj" fmla="val 20000"/>
            </a:avLst>
          </a:prstGeom>
          <a:solidFill>
            <a:srgbClr val="095242"/>
          </a:solidFill>
          <a:ln/>
        </p:spPr>
      </p:sp>
      <p:sp>
        <p:nvSpPr>
          <p:cNvPr id="43" name="Text 38"/>
          <p:cNvSpPr/>
          <p:nvPr/>
        </p:nvSpPr>
        <p:spPr>
          <a:xfrm>
            <a:off x="8316239" y="5760720"/>
            <a:ext cx="438912" cy="274320"/>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Arial" pitchFamily="34" charset="0"/>
                <a:ea typeface="Arial" pitchFamily="34" charset="-122"/>
                <a:cs typeface="Arial" pitchFamily="34" charset="-120"/>
              </a:rPr>
              <a:t>WO</a:t>
            </a:r>
            <a:endParaRPr lang="ar-SA" sz="950" dirty="0"/>
          </a:p>
        </p:txBody>
      </p:sp>
      <p:sp>
        <p:nvSpPr>
          <p:cNvPr id="44" name="Text 39"/>
          <p:cNvSpPr/>
          <p:nvPr/>
        </p:nvSpPr>
        <p:spPr>
          <a:xfrm>
            <a:off x="6333592" y="5687568"/>
            <a:ext cx="1927784" cy="274320"/>
          </a:xfrm>
          <a:prstGeom prst="rect">
            <a:avLst/>
          </a:prstGeom>
          <a:noFill/>
          <a:ln/>
        </p:spPr>
        <p:txBody>
          <a:bodyPr wrap="square" lIns="0" tIns="0" rIns="0" bIns="0" rtlCol="0" anchor="ctr"/>
          <a:lstStyle/>
          <a:p>
            <a:pPr rtl="1" algn="r" indent="0" marL="0">
              <a:buNone/>
            </a:pPr>
            <a:r>
              <a:rPr lang="ar-SA" altLang="en-US" sz="960" b="1" dirty="0">
                <a:solidFill>
                  <a:srgbClr val="063E33"/>
                </a:solidFill>
                <a:latin typeface="Tajawal" pitchFamily="34" charset="0"/>
                <a:ea typeface="Tajawal" pitchFamily="34" charset="-122"/>
                <a:cs typeface="Tajawal" pitchFamily="34" charset="-120"/>
              </a:rPr>
              <a:t>معالجة الضعف</a:t>
            </a:r>
            <a:endParaRPr lang="ar-SA" sz="960" dirty="0"/>
          </a:p>
        </p:txBody>
      </p:sp>
      <p:sp>
        <p:nvSpPr>
          <p:cNvPr id="45" name="Text 40"/>
          <p:cNvSpPr/>
          <p:nvPr/>
        </p:nvSpPr>
        <p:spPr>
          <a:xfrm>
            <a:off x="6333592" y="5980176"/>
            <a:ext cx="1927784" cy="292608"/>
          </a:xfrm>
          <a:prstGeom prst="rect">
            <a:avLst/>
          </a:prstGeom>
          <a:noFill/>
          <a:ln/>
        </p:spPr>
        <p:txBody>
          <a:bodyPr wrap="square" lIns="0" tIns="0" rIns="0" bIns="0" rtlCol="0" anchor="ctr"/>
          <a:lstStyle/>
          <a:p>
            <a:pPr rtl="1" algn="r" indent="0" marL="0">
              <a:lnSpc>
                <a:spcPct val="100000"/>
              </a:lnSpc>
              <a:buNone/>
            </a:pPr>
            <a:r>
              <a:rPr lang="ar-SA" altLang="en-US" sz="780" dirty="0">
                <a:solidFill>
                  <a:srgbClr val="7C8F87"/>
                </a:solidFill>
                <a:latin typeface="Tajawal" pitchFamily="34" charset="0"/>
                <a:ea typeface="Tajawal" pitchFamily="34" charset="-122"/>
                <a:cs typeface="Tajawal" pitchFamily="34" charset="-120"/>
              </a:rPr>
              <a:t>تدريب المعلمين على التقنية لسدّ الفجوة.</a:t>
            </a:r>
            <a:endParaRPr lang="ar-SA" sz="780" dirty="0"/>
          </a:p>
        </p:txBody>
      </p:sp>
      <p:sp>
        <p:nvSpPr>
          <p:cNvPr id="46" name="Shape 41"/>
          <p:cNvSpPr/>
          <p:nvPr/>
        </p:nvSpPr>
        <p:spPr>
          <a:xfrm>
            <a:off x="3308528" y="5596128"/>
            <a:ext cx="2677592" cy="731520"/>
          </a:xfrm>
          <a:prstGeom prst="roundRect">
            <a:avLst>
              <a:gd name="adj" fmla="val 9375"/>
            </a:avLst>
          </a:prstGeom>
          <a:solidFill>
            <a:srgbClr val="F1F7F4"/>
          </a:solidFill>
          <a:ln w="9525">
            <a:solidFill>
              <a:srgbClr val="DCE8E2"/>
            </a:solidFill>
            <a:prstDash val="solid"/>
          </a:ln>
        </p:spPr>
      </p:sp>
      <p:sp>
        <p:nvSpPr>
          <p:cNvPr id="47" name="Shape 42"/>
          <p:cNvSpPr/>
          <p:nvPr/>
        </p:nvSpPr>
        <p:spPr>
          <a:xfrm>
            <a:off x="5419192" y="5769864"/>
            <a:ext cx="438912" cy="274320"/>
          </a:xfrm>
          <a:prstGeom prst="roundRect">
            <a:avLst>
              <a:gd name="adj" fmla="val 20000"/>
            </a:avLst>
          </a:prstGeom>
          <a:solidFill>
            <a:srgbClr val="0089A1"/>
          </a:solidFill>
          <a:ln/>
        </p:spPr>
      </p:sp>
      <p:sp>
        <p:nvSpPr>
          <p:cNvPr id="48" name="Text 43"/>
          <p:cNvSpPr/>
          <p:nvPr/>
        </p:nvSpPr>
        <p:spPr>
          <a:xfrm>
            <a:off x="5419192" y="5760720"/>
            <a:ext cx="438912" cy="274320"/>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Arial" pitchFamily="34" charset="0"/>
                <a:ea typeface="Arial" pitchFamily="34" charset="-122"/>
                <a:cs typeface="Arial" pitchFamily="34" charset="-120"/>
              </a:rPr>
              <a:t>ST</a:t>
            </a:r>
            <a:endParaRPr lang="ar-SA" sz="950" dirty="0"/>
          </a:p>
        </p:txBody>
      </p:sp>
      <p:sp>
        <p:nvSpPr>
          <p:cNvPr id="49" name="Text 44"/>
          <p:cNvSpPr/>
          <p:nvPr/>
        </p:nvSpPr>
        <p:spPr>
          <a:xfrm>
            <a:off x="3436544" y="5687568"/>
            <a:ext cx="1927784" cy="274320"/>
          </a:xfrm>
          <a:prstGeom prst="rect">
            <a:avLst/>
          </a:prstGeom>
          <a:noFill/>
          <a:ln/>
        </p:spPr>
        <p:txBody>
          <a:bodyPr wrap="square" lIns="0" tIns="0" rIns="0" bIns="0" rtlCol="0" anchor="ctr"/>
          <a:lstStyle/>
          <a:p>
            <a:pPr rtl="1" algn="r" indent="0" marL="0">
              <a:buNone/>
            </a:pPr>
            <a:r>
              <a:rPr lang="ar-SA" altLang="en-US" sz="960" b="1" dirty="0">
                <a:solidFill>
                  <a:srgbClr val="063E33"/>
                </a:solidFill>
                <a:latin typeface="Tajawal" pitchFamily="34" charset="0"/>
                <a:ea typeface="Tajawal" pitchFamily="34" charset="-122"/>
                <a:cs typeface="Tajawal" pitchFamily="34" charset="-120"/>
              </a:rPr>
              <a:t>مواجهة التهديدات</a:t>
            </a:r>
            <a:endParaRPr lang="ar-SA" sz="960" dirty="0"/>
          </a:p>
        </p:txBody>
      </p:sp>
      <p:sp>
        <p:nvSpPr>
          <p:cNvPr id="50" name="Text 45"/>
          <p:cNvSpPr/>
          <p:nvPr/>
        </p:nvSpPr>
        <p:spPr>
          <a:xfrm>
            <a:off x="3436544" y="5980176"/>
            <a:ext cx="1927784" cy="292608"/>
          </a:xfrm>
          <a:prstGeom prst="rect">
            <a:avLst/>
          </a:prstGeom>
          <a:noFill/>
          <a:ln/>
        </p:spPr>
        <p:txBody>
          <a:bodyPr wrap="square" lIns="0" tIns="0" rIns="0" bIns="0" rtlCol="0" anchor="ctr"/>
          <a:lstStyle/>
          <a:p>
            <a:pPr rtl="1" algn="r" indent="0" marL="0">
              <a:lnSpc>
                <a:spcPct val="100000"/>
              </a:lnSpc>
              <a:buNone/>
            </a:pPr>
            <a:r>
              <a:rPr lang="ar-SA" altLang="en-US" sz="780" dirty="0">
                <a:solidFill>
                  <a:srgbClr val="7C8F87"/>
                </a:solidFill>
                <a:latin typeface="Tajawal" pitchFamily="34" charset="0"/>
                <a:ea typeface="Tajawal" pitchFamily="34" charset="-122"/>
                <a:cs typeface="Tajawal" pitchFamily="34" charset="-120"/>
              </a:rPr>
              <a:t>تفعيل برامج الانضباط والتواصل الأسري.</a:t>
            </a:r>
            <a:endParaRPr lang="ar-SA" sz="780" dirty="0"/>
          </a:p>
        </p:txBody>
      </p:sp>
      <p:sp>
        <p:nvSpPr>
          <p:cNvPr id="51" name="Shape 46"/>
          <p:cNvSpPr/>
          <p:nvPr/>
        </p:nvSpPr>
        <p:spPr>
          <a:xfrm>
            <a:off x="411480" y="5596128"/>
            <a:ext cx="2677592" cy="731520"/>
          </a:xfrm>
          <a:prstGeom prst="roundRect">
            <a:avLst>
              <a:gd name="adj" fmla="val 9375"/>
            </a:avLst>
          </a:prstGeom>
          <a:solidFill>
            <a:srgbClr val="F1F7F4"/>
          </a:solidFill>
          <a:ln w="9525">
            <a:solidFill>
              <a:srgbClr val="DCE8E2"/>
            </a:solidFill>
            <a:prstDash val="solid"/>
          </a:ln>
        </p:spPr>
      </p:sp>
      <p:sp>
        <p:nvSpPr>
          <p:cNvPr id="52" name="Shape 47"/>
          <p:cNvSpPr/>
          <p:nvPr/>
        </p:nvSpPr>
        <p:spPr>
          <a:xfrm>
            <a:off x="2522144" y="5769864"/>
            <a:ext cx="438912" cy="274320"/>
          </a:xfrm>
          <a:prstGeom prst="roundRect">
            <a:avLst>
              <a:gd name="adj" fmla="val 20000"/>
            </a:avLst>
          </a:prstGeom>
          <a:solidFill>
            <a:srgbClr val="0089A1"/>
          </a:solidFill>
          <a:ln/>
        </p:spPr>
      </p:sp>
      <p:sp>
        <p:nvSpPr>
          <p:cNvPr id="53" name="Text 48"/>
          <p:cNvSpPr/>
          <p:nvPr/>
        </p:nvSpPr>
        <p:spPr>
          <a:xfrm>
            <a:off x="2522144" y="5760720"/>
            <a:ext cx="438912" cy="274320"/>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Arial" pitchFamily="34" charset="0"/>
                <a:ea typeface="Arial" pitchFamily="34" charset="-122"/>
                <a:cs typeface="Arial" pitchFamily="34" charset="-120"/>
              </a:rPr>
              <a:t>WT</a:t>
            </a:r>
            <a:endParaRPr lang="ar-SA" sz="950" dirty="0"/>
          </a:p>
        </p:txBody>
      </p:sp>
      <p:sp>
        <p:nvSpPr>
          <p:cNvPr id="54" name="Text 49"/>
          <p:cNvSpPr/>
          <p:nvPr/>
        </p:nvSpPr>
        <p:spPr>
          <a:xfrm>
            <a:off x="539496" y="5687568"/>
            <a:ext cx="1927784" cy="274320"/>
          </a:xfrm>
          <a:prstGeom prst="rect">
            <a:avLst/>
          </a:prstGeom>
          <a:noFill/>
          <a:ln/>
        </p:spPr>
        <p:txBody>
          <a:bodyPr wrap="square" lIns="0" tIns="0" rIns="0" bIns="0" rtlCol="0" anchor="ctr"/>
          <a:lstStyle/>
          <a:p>
            <a:pPr rtl="1" algn="r" indent="0" marL="0">
              <a:buNone/>
            </a:pPr>
            <a:r>
              <a:rPr lang="ar-SA" altLang="en-US" sz="960" b="1" dirty="0">
                <a:solidFill>
                  <a:srgbClr val="063E33"/>
                </a:solidFill>
                <a:latin typeface="Tajawal" pitchFamily="34" charset="0"/>
                <a:ea typeface="Tajawal" pitchFamily="34" charset="-122"/>
                <a:cs typeface="Tajawal" pitchFamily="34" charset="-120"/>
              </a:rPr>
              <a:t>تقليل المخاطر</a:t>
            </a:r>
            <a:endParaRPr lang="ar-SA" sz="960" dirty="0"/>
          </a:p>
        </p:txBody>
      </p:sp>
      <p:sp>
        <p:nvSpPr>
          <p:cNvPr id="55" name="Text 50"/>
          <p:cNvSpPr/>
          <p:nvPr/>
        </p:nvSpPr>
        <p:spPr>
          <a:xfrm>
            <a:off x="539496" y="5980176"/>
            <a:ext cx="1927784" cy="292608"/>
          </a:xfrm>
          <a:prstGeom prst="rect">
            <a:avLst/>
          </a:prstGeom>
          <a:noFill/>
          <a:ln/>
        </p:spPr>
        <p:txBody>
          <a:bodyPr wrap="square" lIns="0" tIns="0" rIns="0" bIns="0" rtlCol="0" anchor="ctr"/>
          <a:lstStyle/>
          <a:p>
            <a:pPr rtl="1" algn="r" indent="0" marL="0">
              <a:lnSpc>
                <a:spcPct val="100000"/>
              </a:lnSpc>
              <a:buNone/>
            </a:pPr>
            <a:r>
              <a:rPr lang="ar-SA" altLang="en-US" sz="780" dirty="0">
                <a:solidFill>
                  <a:srgbClr val="7C8F87"/>
                </a:solidFill>
                <a:latin typeface="Tajawal" pitchFamily="34" charset="0"/>
                <a:ea typeface="Tajawal" pitchFamily="34" charset="-122"/>
                <a:cs typeface="Tajawal" pitchFamily="34" charset="-120"/>
              </a:rPr>
              <a:t>إعادة هندسة المتابعة وتحفيز الالتزام.</a:t>
            </a:r>
            <a:endParaRPr lang="ar-SA"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tmp/claude-0/-home-user-Mobile1/ab9bbf47-b054-5f6e-be59-70476e095ce8/scratchpad/assets/bg_content.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11480" y="219456"/>
            <a:ext cx="786384" cy="608076"/>
          </a:xfrm>
          <a:prstGeom prst="rect">
            <a:avLst/>
          </a:prstGeom>
        </p:spPr>
      </p:pic>
      <p:sp>
        <p:nvSpPr>
          <p:cNvPr id="4" name="Shape 0"/>
          <p:cNvSpPr/>
          <p:nvPr/>
        </p:nvSpPr>
        <p:spPr>
          <a:xfrm>
            <a:off x="11268151" y="274320"/>
            <a:ext cx="512064" cy="512064"/>
          </a:xfrm>
          <a:prstGeom prst="roundRect">
            <a:avLst>
              <a:gd name="adj" fmla="val 21429"/>
            </a:avLst>
          </a:prstGeom>
          <a:solidFill>
            <a:srgbClr val="095242"/>
          </a:solidFill>
          <a:ln/>
        </p:spPr>
      </p:sp>
      <p:pic>
        <p:nvPicPr>
          <p:cNvPr id="5" name="Image 2" descr="/tmp/claude-0/-home-user-Mobile1/ab9bbf47-b054-5f6e-be59-70476e095ce8/scratchpad/assets/icons/alert_white.png">    </p:cNvPr>
          <p:cNvPicPr>
            <a:picLocks noChangeAspect="1"/>
          </p:cNvPicPr>
          <p:nvPr/>
        </p:nvPicPr>
        <p:blipFill>
          <a:blip r:embed="rId3"/>
          <a:stretch>
            <a:fillRect/>
          </a:stretch>
        </p:blipFill>
        <p:spPr>
          <a:xfrm>
            <a:off x="11387023" y="393192"/>
            <a:ext cx="274320" cy="274320"/>
          </a:xfrm>
          <a:prstGeom prst="rect">
            <a:avLst/>
          </a:prstGeom>
        </p:spPr>
      </p:pic>
      <p:sp>
        <p:nvSpPr>
          <p:cNvPr id="6" name="Text 1"/>
          <p:cNvSpPr/>
          <p:nvPr/>
        </p:nvSpPr>
        <p:spPr>
          <a:xfrm>
            <a:off x="2926080" y="274320"/>
            <a:ext cx="8177479" cy="512064"/>
          </a:xfrm>
          <a:prstGeom prst="rect">
            <a:avLst/>
          </a:prstGeom>
          <a:noFill/>
          <a:ln/>
        </p:spPr>
        <p:txBody>
          <a:bodyPr wrap="square" lIns="0" tIns="0" rIns="0" bIns="0" rtlCol="0" anchor="ctr"/>
          <a:lstStyle/>
          <a:p>
            <a:pPr rtl="1" algn="r" indent="0" marL="0">
              <a:buNone/>
            </a:pPr>
            <a:r>
              <a:rPr lang="ar-SA" altLang="en-US" sz="2000" b="1" dirty="0">
                <a:solidFill>
                  <a:srgbClr val="0F2A21"/>
                </a:solidFill>
                <a:latin typeface="Tajawal" pitchFamily="34" charset="0"/>
                <a:ea typeface="Tajawal" pitchFamily="34" charset="-122"/>
                <a:cs typeface="Tajawal" pitchFamily="34" charset="-120"/>
              </a:rPr>
              <a:t>القضايا الملحة للمدرسة وفق تحليل SWOT</a:t>
            </a:r>
            <a:endParaRPr lang="ar-SA" sz="2000" dirty="0"/>
          </a:p>
        </p:txBody>
      </p:sp>
      <p:sp>
        <p:nvSpPr>
          <p:cNvPr id="7" name="Text 2"/>
          <p:cNvSpPr/>
          <p:nvPr/>
        </p:nvSpPr>
        <p:spPr>
          <a:xfrm>
            <a:off x="7665415" y="6519672"/>
            <a:ext cx="4114800" cy="274320"/>
          </a:xfrm>
          <a:prstGeom prst="rect">
            <a:avLst/>
          </a:prstGeom>
          <a:noFill/>
          <a:ln/>
        </p:spPr>
        <p:txBody>
          <a:bodyPr wrap="square" lIns="0" tIns="0" rIns="0" bIns="0" rtlCol="0" anchor="t"/>
          <a:lstStyle/>
          <a:p>
            <a:pPr rtl="1" algn="r" indent="0" marL="0">
              <a:buNone/>
            </a:pPr>
            <a:r>
              <a:rPr lang="ar-SA" altLang="en-US" sz="800" dirty="0">
                <a:solidFill>
                  <a:srgbClr val="7C8F87"/>
                </a:solidFill>
                <a:latin typeface="Tajawal" pitchFamily="34" charset="0"/>
                <a:ea typeface="Tajawal" pitchFamily="34" charset="-122"/>
                <a:cs typeface="Tajawal" pitchFamily="34" charset="-120"/>
              </a:rPr>
              <a:t>الخطة التشغيلية للعام الدراسي ١٤٤٨هـ</a:t>
            </a:r>
            <a:endParaRPr lang="ar-SA" sz="800" dirty="0"/>
          </a:p>
        </p:txBody>
      </p:sp>
      <p:sp>
        <p:nvSpPr>
          <p:cNvPr id="8" name="Text 3"/>
          <p:cNvSpPr/>
          <p:nvPr/>
        </p:nvSpPr>
        <p:spPr>
          <a:xfrm>
            <a:off x="411480" y="6519672"/>
            <a:ext cx="914400" cy="274320"/>
          </a:xfrm>
          <a:prstGeom prst="rect">
            <a:avLst/>
          </a:prstGeom>
          <a:noFill/>
          <a:ln/>
        </p:spPr>
        <p:txBody>
          <a:bodyPr wrap="square" lIns="0" tIns="0" rIns="0" bIns="0" rtlCol="0" anchor="t"/>
          <a:lstStyle/>
          <a:p>
            <a:pPr rtl="1" algn="l" indent="0" marL="0">
              <a:buNone/>
            </a:pPr>
            <a:r>
              <a:rPr lang="ar-SA" altLang="en-US" sz="850" b="1" dirty="0">
                <a:solidFill>
                  <a:srgbClr val="7C8F87"/>
                </a:solidFill>
                <a:latin typeface="Tajawal" pitchFamily="34" charset="0"/>
                <a:ea typeface="Tajawal" pitchFamily="34" charset="-122"/>
                <a:cs typeface="Tajawal" pitchFamily="34" charset="-120"/>
              </a:rPr>
              <a:t>١٢</a:t>
            </a:r>
            <a:endParaRPr lang="ar-SA" sz="850" dirty="0"/>
          </a:p>
        </p:txBody>
      </p:sp>
      <p:sp>
        <p:nvSpPr>
          <p:cNvPr id="9" name="Text 4"/>
          <p:cNvSpPr/>
          <p:nvPr/>
        </p:nvSpPr>
        <p:spPr>
          <a:xfrm>
            <a:off x="411480" y="969264"/>
            <a:ext cx="11368735" cy="347472"/>
          </a:xfrm>
          <a:prstGeom prst="rect">
            <a:avLst/>
          </a:prstGeom>
          <a:noFill/>
          <a:ln/>
        </p:spPr>
        <p:txBody>
          <a:bodyPr wrap="square" lIns="0" tIns="0" rIns="0" bIns="0" rtlCol="0" anchor="t"/>
          <a:lstStyle/>
          <a:p>
            <a:pPr rtl="1" algn="r" indent="0" marL="0">
              <a:buNone/>
            </a:pPr>
            <a:r>
              <a:rPr lang="ar-SA" altLang="en-US" sz="1050" dirty="0">
                <a:solidFill>
                  <a:srgbClr val="33473F"/>
                </a:solidFill>
                <a:latin typeface="Tajawal" pitchFamily="34" charset="0"/>
                <a:ea typeface="Tajawal" pitchFamily="34" charset="-122"/>
                <a:cs typeface="Tajawal" pitchFamily="34" charset="-120"/>
              </a:rPr>
              <a:t>بناءً على تحليل SWOT ومراجعة نتائج التقويم الذاتي، حُدِّدت القضايا الملحة التي تستدعي تدخُّلًا عاجلًا وتوجيهًا مباشرًا في برامج الخطة:</a:t>
            </a:r>
            <a:endParaRPr lang="ar-SA" sz="1050" dirty="0"/>
          </a:p>
        </p:txBody>
      </p:sp>
      <p:sp>
        <p:nvSpPr>
          <p:cNvPr id="10" name="Shape 5"/>
          <p:cNvSpPr/>
          <p:nvPr/>
        </p:nvSpPr>
        <p:spPr>
          <a:xfrm>
            <a:off x="6233008" y="1371600"/>
            <a:ext cx="5547208" cy="1188720"/>
          </a:xfrm>
          <a:prstGeom prst="roundRect">
            <a:avLst>
              <a:gd name="adj" fmla="val 5769"/>
            </a:avLst>
          </a:prstGeom>
          <a:solidFill>
            <a:srgbClr val="FFFFFF"/>
          </a:solidFill>
          <a:ln w="9525">
            <a:solidFill>
              <a:srgbClr val="DCE8E2"/>
            </a:solidFill>
            <a:prstDash val="solid"/>
          </a:ln>
          <a:effectLst>
            <a:outerShdw sx="100000" sy="100000" kx="0" ky="0" algn="bl" rotWithShape="0" blurRad="63500" dist="12700" dir="5400000">
              <a:srgbClr val="0E3B30">
                <a:alpha val="6000"/>
              </a:srgbClr>
            </a:outerShdw>
          </a:effectLst>
        </p:spPr>
      </p:sp>
      <p:sp>
        <p:nvSpPr>
          <p:cNvPr id="11" name="Shape 6"/>
          <p:cNvSpPr/>
          <p:nvPr/>
        </p:nvSpPr>
        <p:spPr>
          <a:xfrm>
            <a:off x="11213287" y="1554480"/>
            <a:ext cx="365760" cy="365760"/>
          </a:xfrm>
          <a:prstGeom prst="roundRect">
            <a:avLst>
              <a:gd name="adj" fmla="val 22000"/>
            </a:avLst>
          </a:prstGeom>
          <a:solidFill>
            <a:srgbClr val="095242"/>
          </a:solidFill>
          <a:ln/>
        </p:spPr>
      </p:sp>
      <p:sp>
        <p:nvSpPr>
          <p:cNvPr id="12" name="Text 7"/>
          <p:cNvSpPr/>
          <p:nvPr/>
        </p:nvSpPr>
        <p:spPr>
          <a:xfrm>
            <a:off x="11213287" y="1540764"/>
            <a:ext cx="365760" cy="365760"/>
          </a:xfrm>
          <a:prstGeom prst="rect">
            <a:avLst/>
          </a:prstGeom>
          <a:noFill/>
          <a:ln/>
        </p:spPr>
        <p:txBody>
          <a:bodyPr wrap="square" lIns="0" tIns="0" rIns="0" bIns="0" rtlCol="0" anchor="ctr"/>
          <a:lstStyle/>
          <a:p>
            <a:pPr rtl="1" algn="ctr" indent="0" marL="0">
              <a:buNone/>
            </a:pPr>
            <a:r>
              <a:rPr lang="ar-SA" altLang="en-US" sz="1200" b="1" dirty="0">
                <a:solidFill>
                  <a:srgbClr val="FFFFFF"/>
                </a:solidFill>
                <a:latin typeface="Tajawal" pitchFamily="34" charset="0"/>
                <a:ea typeface="Tajawal" pitchFamily="34" charset="-122"/>
                <a:cs typeface="Tajawal" pitchFamily="34" charset="-120"/>
              </a:rPr>
              <a:t>١</a:t>
            </a:r>
            <a:endParaRPr lang="ar-SA" sz="1200" dirty="0"/>
          </a:p>
        </p:txBody>
      </p:sp>
      <p:sp>
        <p:nvSpPr>
          <p:cNvPr id="13" name="Text 8"/>
          <p:cNvSpPr/>
          <p:nvPr/>
        </p:nvSpPr>
        <p:spPr>
          <a:xfrm>
            <a:off x="6461608" y="1499616"/>
            <a:ext cx="4587088" cy="530352"/>
          </a:xfrm>
          <a:prstGeom prst="rect">
            <a:avLst/>
          </a:prstGeom>
          <a:noFill/>
          <a:ln/>
        </p:spPr>
        <p:txBody>
          <a:bodyPr wrap="square" lIns="0" tIns="0" rIns="0" bIns="0" rtlCol="0" anchor="ctr"/>
          <a:lstStyle/>
          <a:p>
            <a:pPr rtl="1" algn="r" indent="0" marL="0">
              <a:lnSpc>
                <a:spcPct val="105000"/>
              </a:lnSpc>
              <a:buNone/>
            </a:pPr>
            <a:r>
              <a:rPr lang="ar-SA" altLang="en-US" sz="1100" b="1" dirty="0">
                <a:solidFill>
                  <a:srgbClr val="063E33"/>
                </a:solidFill>
                <a:latin typeface="Tajawal" pitchFamily="34" charset="0"/>
                <a:ea typeface="Tajawal" pitchFamily="34" charset="-122"/>
                <a:cs typeface="Tajawal" pitchFamily="34" charset="-120"/>
              </a:rPr>
              <a:t>تدنّي مستوى الطلاب في التحصيل الدراسي</a:t>
            </a:r>
            <a:endParaRPr lang="ar-SA" sz="1100" dirty="0"/>
          </a:p>
        </p:txBody>
      </p:sp>
      <p:sp>
        <p:nvSpPr>
          <p:cNvPr id="14" name="Text 9"/>
          <p:cNvSpPr/>
          <p:nvPr/>
        </p:nvSpPr>
        <p:spPr>
          <a:xfrm>
            <a:off x="6461608" y="2066544"/>
            <a:ext cx="4587088" cy="457200"/>
          </a:xfrm>
          <a:prstGeom prst="rect">
            <a:avLst/>
          </a:prstGeom>
          <a:noFill/>
          <a:ln/>
        </p:spPr>
        <p:txBody>
          <a:bodyPr wrap="square" lIns="0" tIns="0" rIns="0" bIns="0" rtlCol="0" anchor="t"/>
          <a:lstStyle/>
          <a:p>
            <a:pPr rtl="1" algn="r" indent="0" marL="0">
              <a:lnSpc>
                <a:spcPct val="110000"/>
              </a:lnSpc>
              <a:buNone/>
            </a:pPr>
            <a:r>
              <a:rPr lang="ar-SA" altLang="en-US" sz="880" dirty="0">
                <a:solidFill>
                  <a:srgbClr val="7C8F87"/>
                </a:solidFill>
                <a:latin typeface="Tajawal" pitchFamily="34" charset="0"/>
                <a:ea typeface="Tajawal" pitchFamily="34" charset="-122"/>
                <a:cs typeface="Tajawal" pitchFamily="34" charset="-120"/>
              </a:rPr>
              <a:t>(الاختبارات التحصيلية والقدرات): تكثيف برامج الدعم الأكاديمي وتقوية المهارات الأساسية.</a:t>
            </a:r>
            <a:endParaRPr lang="ar-SA" sz="880" dirty="0"/>
          </a:p>
        </p:txBody>
      </p:sp>
      <p:sp>
        <p:nvSpPr>
          <p:cNvPr id="15" name="Shape 10"/>
          <p:cNvSpPr/>
          <p:nvPr/>
        </p:nvSpPr>
        <p:spPr>
          <a:xfrm>
            <a:off x="411480" y="1371600"/>
            <a:ext cx="5547208" cy="1188720"/>
          </a:xfrm>
          <a:prstGeom prst="roundRect">
            <a:avLst>
              <a:gd name="adj" fmla="val 5769"/>
            </a:avLst>
          </a:prstGeom>
          <a:solidFill>
            <a:srgbClr val="FFFFFF"/>
          </a:solidFill>
          <a:ln w="9525">
            <a:solidFill>
              <a:srgbClr val="DCE8E2"/>
            </a:solidFill>
            <a:prstDash val="solid"/>
          </a:ln>
          <a:effectLst>
            <a:outerShdw sx="100000" sy="100000" kx="0" ky="0" algn="bl" rotWithShape="0" blurRad="63500" dist="12700" dir="5400000">
              <a:srgbClr val="0E3B30">
                <a:alpha val="6000"/>
              </a:srgbClr>
            </a:outerShdw>
          </a:effectLst>
        </p:spPr>
      </p:sp>
      <p:sp>
        <p:nvSpPr>
          <p:cNvPr id="16" name="Shape 11"/>
          <p:cNvSpPr/>
          <p:nvPr/>
        </p:nvSpPr>
        <p:spPr>
          <a:xfrm>
            <a:off x="5391760" y="1554480"/>
            <a:ext cx="365760" cy="365760"/>
          </a:xfrm>
          <a:prstGeom prst="roundRect">
            <a:avLst>
              <a:gd name="adj" fmla="val 22000"/>
            </a:avLst>
          </a:prstGeom>
          <a:solidFill>
            <a:srgbClr val="095242"/>
          </a:solidFill>
          <a:ln/>
        </p:spPr>
      </p:sp>
      <p:sp>
        <p:nvSpPr>
          <p:cNvPr id="17" name="Text 12"/>
          <p:cNvSpPr/>
          <p:nvPr/>
        </p:nvSpPr>
        <p:spPr>
          <a:xfrm>
            <a:off x="5391760" y="1540764"/>
            <a:ext cx="365760" cy="365760"/>
          </a:xfrm>
          <a:prstGeom prst="rect">
            <a:avLst/>
          </a:prstGeom>
          <a:noFill/>
          <a:ln/>
        </p:spPr>
        <p:txBody>
          <a:bodyPr wrap="square" lIns="0" tIns="0" rIns="0" bIns="0" rtlCol="0" anchor="ctr"/>
          <a:lstStyle/>
          <a:p>
            <a:pPr rtl="1" algn="ctr" indent="0" marL="0">
              <a:buNone/>
            </a:pPr>
            <a:r>
              <a:rPr lang="ar-SA" altLang="en-US" sz="1200" b="1" dirty="0">
                <a:solidFill>
                  <a:srgbClr val="FFFFFF"/>
                </a:solidFill>
                <a:latin typeface="Tajawal" pitchFamily="34" charset="0"/>
                <a:ea typeface="Tajawal" pitchFamily="34" charset="-122"/>
                <a:cs typeface="Tajawal" pitchFamily="34" charset="-120"/>
              </a:rPr>
              <a:t>٢</a:t>
            </a:r>
            <a:endParaRPr lang="ar-SA" sz="1200" dirty="0"/>
          </a:p>
        </p:txBody>
      </p:sp>
      <p:sp>
        <p:nvSpPr>
          <p:cNvPr id="18" name="Text 13"/>
          <p:cNvSpPr/>
          <p:nvPr/>
        </p:nvSpPr>
        <p:spPr>
          <a:xfrm>
            <a:off x="640080" y="1499616"/>
            <a:ext cx="4587088" cy="530352"/>
          </a:xfrm>
          <a:prstGeom prst="rect">
            <a:avLst/>
          </a:prstGeom>
          <a:noFill/>
          <a:ln/>
        </p:spPr>
        <p:txBody>
          <a:bodyPr wrap="square" lIns="0" tIns="0" rIns="0" bIns="0" rtlCol="0" anchor="ctr"/>
          <a:lstStyle/>
          <a:p>
            <a:pPr rtl="1" algn="r" indent="0" marL="0">
              <a:lnSpc>
                <a:spcPct val="105000"/>
              </a:lnSpc>
              <a:buNone/>
            </a:pPr>
            <a:r>
              <a:rPr lang="ar-SA" altLang="en-US" sz="1100" b="1" dirty="0">
                <a:solidFill>
                  <a:srgbClr val="063E33"/>
                </a:solidFill>
                <a:latin typeface="Tajawal" pitchFamily="34" charset="0"/>
                <a:ea typeface="Tajawal" pitchFamily="34" charset="-122"/>
                <a:cs typeface="Tajawal" pitchFamily="34" charset="-120"/>
              </a:rPr>
              <a:t>ضعف في مستوى الانضباط المدرسي وأثره على العملية التعليمية</a:t>
            </a:r>
            <a:endParaRPr lang="ar-SA" sz="1100" dirty="0"/>
          </a:p>
        </p:txBody>
      </p:sp>
      <p:sp>
        <p:nvSpPr>
          <p:cNvPr id="19" name="Text 14"/>
          <p:cNvSpPr/>
          <p:nvPr/>
        </p:nvSpPr>
        <p:spPr>
          <a:xfrm>
            <a:off x="640080" y="2066544"/>
            <a:ext cx="4587088" cy="457200"/>
          </a:xfrm>
          <a:prstGeom prst="rect">
            <a:avLst/>
          </a:prstGeom>
          <a:noFill/>
          <a:ln/>
        </p:spPr>
        <p:txBody>
          <a:bodyPr wrap="square" lIns="0" tIns="0" rIns="0" bIns="0" rtlCol="0" anchor="t"/>
          <a:lstStyle/>
          <a:p>
            <a:pPr rtl="1" algn="r" indent="0" marL="0">
              <a:lnSpc>
                <a:spcPct val="110000"/>
              </a:lnSpc>
              <a:buNone/>
            </a:pPr>
            <a:r>
              <a:rPr lang="ar-SA" altLang="en-US" sz="880" dirty="0">
                <a:solidFill>
                  <a:srgbClr val="7C8F87"/>
                </a:solidFill>
                <a:latin typeface="Tajawal" pitchFamily="34" charset="0"/>
                <a:ea typeface="Tajawal" pitchFamily="34" charset="-122"/>
                <a:cs typeface="Tajawal" pitchFamily="34" charset="-120"/>
              </a:rPr>
              <a:t>تفعيل لائحة السلوك ومتابعة دقيقة للحالات الفردية مع تعزيز السلوك الإيجابي.</a:t>
            </a:r>
            <a:endParaRPr lang="ar-SA" sz="880" dirty="0"/>
          </a:p>
        </p:txBody>
      </p:sp>
      <p:sp>
        <p:nvSpPr>
          <p:cNvPr id="20" name="Shape 15"/>
          <p:cNvSpPr/>
          <p:nvPr/>
        </p:nvSpPr>
        <p:spPr>
          <a:xfrm>
            <a:off x="6233008" y="2724912"/>
            <a:ext cx="5547208" cy="1188720"/>
          </a:xfrm>
          <a:prstGeom prst="roundRect">
            <a:avLst>
              <a:gd name="adj" fmla="val 5769"/>
            </a:avLst>
          </a:prstGeom>
          <a:solidFill>
            <a:srgbClr val="FFFFFF"/>
          </a:solidFill>
          <a:ln w="9525">
            <a:solidFill>
              <a:srgbClr val="DCE8E2"/>
            </a:solidFill>
            <a:prstDash val="solid"/>
          </a:ln>
          <a:effectLst>
            <a:outerShdw sx="100000" sy="100000" kx="0" ky="0" algn="bl" rotWithShape="0" blurRad="63500" dist="12700" dir="5400000">
              <a:srgbClr val="0E3B30">
                <a:alpha val="6000"/>
              </a:srgbClr>
            </a:outerShdw>
          </a:effectLst>
        </p:spPr>
      </p:sp>
      <p:sp>
        <p:nvSpPr>
          <p:cNvPr id="21" name="Shape 16"/>
          <p:cNvSpPr/>
          <p:nvPr/>
        </p:nvSpPr>
        <p:spPr>
          <a:xfrm>
            <a:off x="11213287" y="2907792"/>
            <a:ext cx="365760" cy="365760"/>
          </a:xfrm>
          <a:prstGeom prst="roundRect">
            <a:avLst>
              <a:gd name="adj" fmla="val 22000"/>
            </a:avLst>
          </a:prstGeom>
          <a:solidFill>
            <a:srgbClr val="095242"/>
          </a:solidFill>
          <a:ln/>
        </p:spPr>
      </p:sp>
      <p:sp>
        <p:nvSpPr>
          <p:cNvPr id="22" name="Text 17"/>
          <p:cNvSpPr/>
          <p:nvPr/>
        </p:nvSpPr>
        <p:spPr>
          <a:xfrm>
            <a:off x="11213287" y="2894076"/>
            <a:ext cx="365760" cy="365760"/>
          </a:xfrm>
          <a:prstGeom prst="rect">
            <a:avLst/>
          </a:prstGeom>
          <a:noFill/>
          <a:ln/>
        </p:spPr>
        <p:txBody>
          <a:bodyPr wrap="square" lIns="0" tIns="0" rIns="0" bIns="0" rtlCol="0" anchor="ctr"/>
          <a:lstStyle/>
          <a:p>
            <a:pPr rtl="1" algn="ctr" indent="0" marL="0">
              <a:buNone/>
            </a:pPr>
            <a:r>
              <a:rPr lang="ar-SA" altLang="en-US" sz="1200" b="1" dirty="0">
                <a:solidFill>
                  <a:srgbClr val="FFFFFF"/>
                </a:solidFill>
                <a:latin typeface="Tajawal" pitchFamily="34" charset="0"/>
                <a:ea typeface="Tajawal" pitchFamily="34" charset="-122"/>
                <a:cs typeface="Tajawal" pitchFamily="34" charset="-120"/>
              </a:rPr>
              <a:t>٣</a:t>
            </a:r>
            <a:endParaRPr lang="ar-SA" sz="1200" dirty="0"/>
          </a:p>
        </p:txBody>
      </p:sp>
      <p:sp>
        <p:nvSpPr>
          <p:cNvPr id="23" name="Text 18"/>
          <p:cNvSpPr/>
          <p:nvPr/>
        </p:nvSpPr>
        <p:spPr>
          <a:xfrm>
            <a:off x="6461608" y="2852928"/>
            <a:ext cx="4587088" cy="530352"/>
          </a:xfrm>
          <a:prstGeom prst="rect">
            <a:avLst/>
          </a:prstGeom>
          <a:noFill/>
          <a:ln/>
        </p:spPr>
        <p:txBody>
          <a:bodyPr wrap="square" lIns="0" tIns="0" rIns="0" bIns="0" rtlCol="0" anchor="ctr"/>
          <a:lstStyle/>
          <a:p>
            <a:pPr rtl="1" algn="r" indent="0" marL="0">
              <a:lnSpc>
                <a:spcPct val="105000"/>
              </a:lnSpc>
              <a:buNone/>
            </a:pPr>
            <a:r>
              <a:rPr lang="ar-SA" altLang="en-US" sz="1100" b="1" dirty="0">
                <a:solidFill>
                  <a:srgbClr val="063E33"/>
                </a:solidFill>
                <a:latin typeface="Tajawal" pitchFamily="34" charset="0"/>
                <a:ea typeface="Tajawal" pitchFamily="34" charset="-122"/>
                <a:cs typeface="Tajawal" pitchFamily="34" charset="-120"/>
              </a:rPr>
              <a:t>ضعف التواصل بين المدرسة والأسرة والمجتمع</a:t>
            </a:r>
            <a:endParaRPr lang="ar-SA" sz="1100" dirty="0"/>
          </a:p>
        </p:txBody>
      </p:sp>
      <p:sp>
        <p:nvSpPr>
          <p:cNvPr id="24" name="Text 19"/>
          <p:cNvSpPr/>
          <p:nvPr/>
        </p:nvSpPr>
        <p:spPr>
          <a:xfrm>
            <a:off x="6461608" y="3419856"/>
            <a:ext cx="4587088" cy="457200"/>
          </a:xfrm>
          <a:prstGeom prst="rect">
            <a:avLst/>
          </a:prstGeom>
          <a:noFill/>
          <a:ln/>
        </p:spPr>
        <p:txBody>
          <a:bodyPr wrap="square" lIns="0" tIns="0" rIns="0" bIns="0" rtlCol="0" anchor="t"/>
          <a:lstStyle/>
          <a:p>
            <a:pPr rtl="1" algn="r" indent="0" marL="0">
              <a:lnSpc>
                <a:spcPct val="110000"/>
              </a:lnSpc>
              <a:buNone/>
            </a:pPr>
            <a:r>
              <a:rPr lang="ar-SA" altLang="en-US" sz="880" dirty="0">
                <a:solidFill>
                  <a:srgbClr val="7C8F87"/>
                </a:solidFill>
                <a:latin typeface="Tajawal" pitchFamily="34" charset="0"/>
                <a:ea typeface="Tajawal" pitchFamily="34" charset="-122"/>
                <a:cs typeface="Tajawal" pitchFamily="34" charset="-120"/>
              </a:rPr>
              <a:t>تفعيل قنوات التواصل الفعّالة وتنظيم لقاءات دورية مع أولياء الأمور والشركاء.</a:t>
            </a:r>
            <a:endParaRPr lang="ar-SA" sz="880" dirty="0"/>
          </a:p>
        </p:txBody>
      </p:sp>
      <p:sp>
        <p:nvSpPr>
          <p:cNvPr id="25" name="Shape 20"/>
          <p:cNvSpPr/>
          <p:nvPr/>
        </p:nvSpPr>
        <p:spPr>
          <a:xfrm>
            <a:off x="411480" y="2724912"/>
            <a:ext cx="5547208" cy="1188720"/>
          </a:xfrm>
          <a:prstGeom prst="roundRect">
            <a:avLst>
              <a:gd name="adj" fmla="val 5769"/>
            </a:avLst>
          </a:prstGeom>
          <a:solidFill>
            <a:srgbClr val="FFFFFF"/>
          </a:solidFill>
          <a:ln w="9525">
            <a:solidFill>
              <a:srgbClr val="DCE8E2"/>
            </a:solidFill>
            <a:prstDash val="solid"/>
          </a:ln>
          <a:effectLst>
            <a:outerShdw sx="100000" sy="100000" kx="0" ky="0" algn="bl" rotWithShape="0" blurRad="63500" dist="12700" dir="5400000">
              <a:srgbClr val="0E3B30">
                <a:alpha val="6000"/>
              </a:srgbClr>
            </a:outerShdw>
          </a:effectLst>
        </p:spPr>
      </p:sp>
      <p:sp>
        <p:nvSpPr>
          <p:cNvPr id="26" name="Shape 21"/>
          <p:cNvSpPr/>
          <p:nvPr/>
        </p:nvSpPr>
        <p:spPr>
          <a:xfrm>
            <a:off x="5391760" y="2907792"/>
            <a:ext cx="365760" cy="365760"/>
          </a:xfrm>
          <a:prstGeom prst="roundRect">
            <a:avLst>
              <a:gd name="adj" fmla="val 22000"/>
            </a:avLst>
          </a:prstGeom>
          <a:solidFill>
            <a:srgbClr val="095242"/>
          </a:solidFill>
          <a:ln/>
        </p:spPr>
      </p:sp>
      <p:sp>
        <p:nvSpPr>
          <p:cNvPr id="27" name="Text 22"/>
          <p:cNvSpPr/>
          <p:nvPr/>
        </p:nvSpPr>
        <p:spPr>
          <a:xfrm>
            <a:off x="5391760" y="2894076"/>
            <a:ext cx="365760" cy="365760"/>
          </a:xfrm>
          <a:prstGeom prst="rect">
            <a:avLst/>
          </a:prstGeom>
          <a:noFill/>
          <a:ln/>
        </p:spPr>
        <p:txBody>
          <a:bodyPr wrap="square" lIns="0" tIns="0" rIns="0" bIns="0" rtlCol="0" anchor="ctr"/>
          <a:lstStyle/>
          <a:p>
            <a:pPr rtl="1" algn="ctr" indent="0" marL="0">
              <a:buNone/>
            </a:pPr>
            <a:r>
              <a:rPr lang="ar-SA" altLang="en-US" sz="1200" b="1" dirty="0">
                <a:solidFill>
                  <a:srgbClr val="FFFFFF"/>
                </a:solidFill>
                <a:latin typeface="Tajawal" pitchFamily="34" charset="0"/>
                <a:ea typeface="Tajawal" pitchFamily="34" charset="-122"/>
                <a:cs typeface="Tajawal" pitchFamily="34" charset="-120"/>
              </a:rPr>
              <a:t>٤</a:t>
            </a:r>
            <a:endParaRPr lang="ar-SA" sz="1200" dirty="0"/>
          </a:p>
        </p:txBody>
      </p:sp>
      <p:sp>
        <p:nvSpPr>
          <p:cNvPr id="28" name="Text 23"/>
          <p:cNvSpPr/>
          <p:nvPr/>
        </p:nvSpPr>
        <p:spPr>
          <a:xfrm>
            <a:off x="640080" y="2852928"/>
            <a:ext cx="4587088" cy="530352"/>
          </a:xfrm>
          <a:prstGeom prst="rect">
            <a:avLst/>
          </a:prstGeom>
          <a:noFill/>
          <a:ln/>
        </p:spPr>
        <p:txBody>
          <a:bodyPr wrap="square" lIns="0" tIns="0" rIns="0" bIns="0" rtlCol="0" anchor="ctr"/>
          <a:lstStyle/>
          <a:p>
            <a:pPr rtl="1" algn="r" indent="0" marL="0">
              <a:lnSpc>
                <a:spcPct val="105000"/>
              </a:lnSpc>
              <a:buNone/>
            </a:pPr>
            <a:r>
              <a:rPr lang="ar-SA" altLang="en-US" sz="1100" b="1" dirty="0">
                <a:solidFill>
                  <a:srgbClr val="063E33"/>
                </a:solidFill>
                <a:latin typeface="Tajawal" pitchFamily="34" charset="0"/>
                <a:ea typeface="Tajawal" pitchFamily="34" charset="-122"/>
                <a:cs typeface="Tajawal" pitchFamily="34" charset="-120"/>
              </a:rPr>
              <a:t>عدم توفّر الأنشطة التي تستهدف جميع الطلاب</a:t>
            </a:r>
            <a:endParaRPr lang="ar-SA" sz="1100" dirty="0"/>
          </a:p>
        </p:txBody>
      </p:sp>
      <p:sp>
        <p:nvSpPr>
          <p:cNvPr id="29" name="Text 24"/>
          <p:cNvSpPr/>
          <p:nvPr/>
        </p:nvSpPr>
        <p:spPr>
          <a:xfrm>
            <a:off x="640080" y="3419856"/>
            <a:ext cx="4587088" cy="457200"/>
          </a:xfrm>
          <a:prstGeom prst="rect">
            <a:avLst/>
          </a:prstGeom>
          <a:noFill/>
          <a:ln/>
        </p:spPr>
        <p:txBody>
          <a:bodyPr wrap="square" lIns="0" tIns="0" rIns="0" bIns="0" rtlCol="0" anchor="t"/>
          <a:lstStyle/>
          <a:p>
            <a:pPr rtl="1" algn="r" indent="0" marL="0">
              <a:lnSpc>
                <a:spcPct val="110000"/>
              </a:lnSpc>
              <a:buNone/>
            </a:pPr>
            <a:r>
              <a:rPr lang="ar-SA" altLang="en-US" sz="880" dirty="0">
                <a:solidFill>
                  <a:srgbClr val="7C8F87"/>
                </a:solidFill>
                <a:latin typeface="Tajawal" pitchFamily="34" charset="0"/>
                <a:ea typeface="Tajawal" pitchFamily="34" charset="-122"/>
                <a:cs typeface="Tajawal" pitchFamily="34" charset="-120"/>
              </a:rPr>
              <a:t>توسيع نطاق البرامج الإثرائية للموهوبين والمتعثرين وذوي الاحتياجات الخاصة.</a:t>
            </a:r>
            <a:endParaRPr lang="ar-SA" sz="880" dirty="0"/>
          </a:p>
        </p:txBody>
      </p:sp>
      <p:sp>
        <p:nvSpPr>
          <p:cNvPr id="30" name="Shape 25"/>
          <p:cNvSpPr/>
          <p:nvPr/>
        </p:nvSpPr>
        <p:spPr>
          <a:xfrm>
            <a:off x="6233008" y="4078224"/>
            <a:ext cx="5547208" cy="1188720"/>
          </a:xfrm>
          <a:prstGeom prst="roundRect">
            <a:avLst>
              <a:gd name="adj" fmla="val 5769"/>
            </a:avLst>
          </a:prstGeom>
          <a:solidFill>
            <a:srgbClr val="FFFFFF"/>
          </a:solidFill>
          <a:ln w="9525">
            <a:solidFill>
              <a:srgbClr val="DCE8E2"/>
            </a:solidFill>
            <a:prstDash val="solid"/>
          </a:ln>
          <a:effectLst>
            <a:outerShdw sx="100000" sy="100000" kx="0" ky="0" algn="bl" rotWithShape="0" blurRad="63500" dist="12700" dir="5400000">
              <a:srgbClr val="0E3B30">
                <a:alpha val="6000"/>
              </a:srgbClr>
            </a:outerShdw>
          </a:effectLst>
        </p:spPr>
      </p:sp>
      <p:sp>
        <p:nvSpPr>
          <p:cNvPr id="31" name="Shape 26"/>
          <p:cNvSpPr/>
          <p:nvPr/>
        </p:nvSpPr>
        <p:spPr>
          <a:xfrm>
            <a:off x="11213287" y="4261104"/>
            <a:ext cx="365760" cy="365760"/>
          </a:xfrm>
          <a:prstGeom prst="roundRect">
            <a:avLst>
              <a:gd name="adj" fmla="val 22000"/>
            </a:avLst>
          </a:prstGeom>
          <a:solidFill>
            <a:srgbClr val="095242"/>
          </a:solidFill>
          <a:ln/>
        </p:spPr>
      </p:sp>
      <p:sp>
        <p:nvSpPr>
          <p:cNvPr id="32" name="Text 27"/>
          <p:cNvSpPr/>
          <p:nvPr/>
        </p:nvSpPr>
        <p:spPr>
          <a:xfrm>
            <a:off x="11213287" y="4247388"/>
            <a:ext cx="365760" cy="365760"/>
          </a:xfrm>
          <a:prstGeom prst="rect">
            <a:avLst/>
          </a:prstGeom>
          <a:noFill/>
          <a:ln/>
        </p:spPr>
        <p:txBody>
          <a:bodyPr wrap="square" lIns="0" tIns="0" rIns="0" bIns="0" rtlCol="0" anchor="ctr"/>
          <a:lstStyle/>
          <a:p>
            <a:pPr rtl="1" algn="ctr" indent="0" marL="0">
              <a:buNone/>
            </a:pPr>
            <a:r>
              <a:rPr lang="ar-SA" altLang="en-US" sz="1200" b="1" dirty="0">
                <a:solidFill>
                  <a:srgbClr val="FFFFFF"/>
                </a:solidFill>
                <a:latin typeface="Tajawal" pitchFamily="34" charset="0"/>
                <a:ea typeface="Tajawal" pitchFamily="34" charset="-122"/>
                <a:cs typeface="Tajawal" pitchFamily="34" charset="-120"/>
              </a:rPr>
              <a:t>٥</a:t>
            </a:r>
            <a:endParaRPr lang="ar-SA" sz="1200" dirty="0"/>
          </a:p>
        </p:txBody>
      </p:sp>
      <p:sp>
        <p:nvSpPr>
          <p:cNvPr id="33" name="Text 28"/>
          <p:cNvSpPr/>
          <p:nvPr/>
        </p:nvSpPr>
        <p:spPr>
          <a:xfrm>
            <a:off x="6461608" y="4206240"/>
            <a:ext cx="4587088" cy="530352"/>
          </a:xfrm>
          <a:prstGeom prst="rect">
            <a:avLst/>
          </a:prstGeom>
          <a:noFill/>
          <a:ln/>
        </p:spPr>
        <p:txBody>
          <a:bodyPr wrap="square" lIns="0" tIns="0" rIns="0" bIns="0" rtlCol="0" anchor="ctr"/>
          <a:lstStyle/>
          <a:p>
            <a:pPr rtl="1" algn="r" indent="0" marL="0">
              <a:lnSpc>
                <a:spcPct val="105000"/>
              </a:lnSpc>
              <a:buNone/>
            </a:pPr>
            <a:r>
              <a:rPr lang="ar-SA" altLang="en-US" sz="1100" b="1" dirty="0">
                <a:solidFill>
                  <a:srgbClr val="063E33"/>
                </a:solidFill>
                <a:latin typeface="Tajawal" pitchFamily="34" charset="0"/>
                <a:ea typeface="Tajawal" pitchFamily="34" charset="-122"/>
                <a:cs typeface="Tajawal" pitchFamily="34" charset="-120"/>
              </a:rPr>
              <a:t>رفع كفاءة منسوبي المدرسة وتعزيز النمو المهني</a:t>
            </a:r>
            <a:endParaRPr lang="ar-SA" sz="1100" dirty="0"/>
          </a:p>
        </p:txBody>
      </p:sp>
      <p:sp>
        <p:nvSpPr>
          <p:cNvPr id="34" name="Text 29"/>
          <p:cNvSpPr/>
          <p:nvPr/>
        </p:nvSpPr>
        <p:spPr>
          <a:xfrm>
            <a:off x="6461608" y="4773168"/>
            <a:ext cx="4587088" cy="457200"/>
          </a:xfrm>
          <a:prstGeom prst="rect">
            <a:avLst/>
          </a:prstGeom>
          <a:noFill/>
          <a:ln/>
        </p:spPr>
        <p:txBody>
          <a:bodyPr wrap="square" lIns="0" tIns="0" rIns="0" bIns="0" rtlCol="0" anchor="t"/>
          <a:lstStyle/>
          <a:p>
            <a:pPr rtl="1" algn="r" indent="0" marL="0">
              <a:lnSpc>
                <a:spcPct val="110000"/>
              </a:lnSpc>
              <a:buNone/>
            </a:pPr>
            <a:r>
              <a:rPr lang="ar-SA" altLang="en-US" sz="880" dirty="0">
                <a:solidFill>
                  <a:srgbClr val="7C8F87"/>
                </a:solidFill>
                <a:latin typeface="Tajawal" pitchFamily="34" charset="0"/>
                <a:ea typeface="Tajawal" pitchFamily="34" charset="-122"/>
                <a:cs typeface="Tajawal" pitchFamily="34" charset="-120"/>
              </a:rPr>
              <a:t>تنفيذ خطة تطوير مهني فصلية مرتبطة بالاحتياجات الفعلية للمعلمين.</a:t>
            </a:r>
            <a:endParaRPr lang="ar-SA" sz="880" dirty="0"/>
          </a:p>
        </p:txBody>
      </p:sp>
      <p:sp>
        <p:nvSpPr>
          <p:cNvPr id="35" name="Shape 30"/>
          <p:cNvSpPr/>
          <p:nvPr/>
        </p:nvSpPr>
        <p:spPr>
          <a:xfrm>
            <a:off x="411480" y="4078224"/>
            <a:ext cx="5547208" cy="1188720"/>
          </a:xfrm>
          <a:prstGeom prst="roundRect">
            <a:avLst>
              <a:gd name="adj" fmla="val 5769"/>
            </a:avLst>
          </a:prstGeom>
          <a:solidFill>
            <a:srgbClr val="FFFFFF"/>
          </a:solidFill>
          <a:ln w="9525">
            <a:solidFill>
              <a:srgbClr val="DCE8E2"/>
            </a:solidFill>
            <a:prstDash val="solid"/>
          </a:ln>
          <a:effectLst>
            <a:outerShdw sx="100000" sy="100000" kx="0" ky="0" algn="bl" rotWithShape="0" blurRad="63500" dist="12700" dir="5400000">
              <a:srgbClr val="0E3B30">
                <a:alpha val="6000"/>
              </a:srgbClr>
            </a:outerShdw>
          </a:effectLst>
        </p:spPr>
      </p:sp>
      <p:sp>
        <p:nvSpPr>
          <p:cNvPr id="36" name="Shape 31"/>
          <p:cNvSpPr/>
          <p:nvPr/>
        </p:nvSpPr>
        <p:spPr>
          <a:xfrm>
            <a:off x="5391760" y="4261104"/>
            <a:ext cx="365760" cy="365760"/>
          </a:xfrm>
          <a:prstGeom prst="roundRect">
            <a:avLst>
              <a:gd name="adj" fmla="val 22000"/>
            </a:avLst>
          </a:prstGeom>
          <a:solidFill>
            <a:srgbClr val="095242"/>
          </a:solidFill>
          <a:ln/>
        </p:spPr>
      </p:sp>
      <p:sp>
        <p:nvSpPr>
          <p:cNvPr id="37" name="Text 32"/>
          <p:cNvSpPr/>
          <p:nvPr/>
        </p:nvSpPr>
        <p:spPr>
          <a:xfrm>
            <a:off x="5391760" y="4247388"/>
            <a:ext cx="365760" cy="365760"/>
          </a:xfrm>
          <a:prstGeom prst="rect">
            <a:avLst/>
          </a:prstGeom>
          <a:noFill/>
          <a:ln/>
        </p:spPr>
        <p:txBody>
          <a:bodyPr wrap="square" lIns="0" tIns="0" rIns="0" bIns="0" rtlCol="0" anchor="ctr"/>
          <a:lstStyle/>
          <a:p>
            <a:pPr rtl="1" algn="ctr" indent="0" marL="0">
              <a:buNone/>
            </a:pPr>
            <a:r>
              <a:rPr lang="ar-SA" altLang="en-US" sz="1200" b="1" dirty="0">
                <a:solidFill>
                  <a:srgbClr val="FFFFFF"/>
                </a:solidFill>
                <a:latin typeface="Tajawal" pitchFamily="34" charset="0"/>
                <a:ea typeface="Tajawal" pitchFamily="34" charset="-122"/>
                <a:cs typeface="Tajawal" pitchFamily="34" charset="-120"/>
              </a:rPr>
              <a:t>٦</a:t>
            </a:r>
            <a:endParaRPr lang="ar-SA" sz="1200" dirty="0"/>
          </a:p>
        </p:txBody>
      </p:sp>
      <p:sp>
        <p:nvSpPr>
          <p:cNvPr id="38" name="Text 33"/>
          <p:cNvSpPr/>
          <p:nvPr/>
        </p:nvSpPr>
        <p:spPr>
          <a:xfrm>
            <a:off x="640080" y="4206240"/>
            <a:ext cx="4587088" cy="530352"/>
          </a:xfrm>
          <a:prstGeom prst="rect">
            <a:avLst/>
          </a:prstGeom>
          <a:noFill/>
          <a:ln/>
        </p:spPr>
        <p:txBody>
          <a:bodyPr wrap="square" lIns="0" tIns="0" rIns="0" bIns="0" rtlCol="0" anchor="ctr"/>
          <a:lstStyle/>
          <a:p>
            <a:pPr rtl="1" algn="r" indent="0" marL="0">
              <a:lnSpc>
                <a:spcPct val="105000"/>
              </a:lnSpc>
              <a:buNone/>
            </a:pPr>
            <a:r>
              <a:rPr lang="ar-SA" altLang="en-US" sz="1100" b="1" dirty="0">
                <a:solidFill>
                  <a:srgbClr val="063E33"/>
                </a:solidFill>
                <a:latin typeface="Tajawal" pitchFamily="34" charset="0"/>
                <a:ea typeface="Tajawal" pitchFamily="34" charset="-122"/>
                <a:cs typeface="Tajawal" pitchFamily="34" charset="-120"/>
              </a:rPr>
              <a:t>تعزيز التوظيف الفاعل للتقنيات الرقمية في التعليم</a:t>
            </a:r>
            <a:endParaRPr lang="ar-SA" sz="1100" dirty="0"/>
          </a:p>
        </p:txBody>
      </p:sp>
      <p:sp>
        <p:nvSpPr>
          <p:cNvPr id="39" name="Text 34"/>
          <p:cNvSpPr/>
          <p:nvPr/>
        </p:nvSpPr>
        <p:spPr>
          <a:xfrm>
            <a:off x="640080" y="4773168"/>
            <a:ext cx="4587088" cy="457200"/>
          </a:xfrm>
          <a:prstGeom prst="rect">
            <a:avLst/>
          </a:prstGeom>
          <a:noFill/>
          <a:ln/>
        </p:spPr>
        <p:txBody>
          <a:bodyPr wrap="square" lIns="0" tIns="0" rIns="0" bIns="0" rtlCol="0" anchor="t"/>
          <a:lstStyle/>
          <a:p>
            <a:pPr rtl="1" algn="r" indent="0" marL="0">
              <a:lnSpc>
                <a:spcPct val="110000"/>
              </a:lnSpc>
              <a:buNone/>
            </a:pPr>
            <a:r>
              <a:rPr lang="ar-SA" altLang="en-US" sz="880" dirty="0">
                <a:solidFill>
                  <a:srgbClr val="7C8F87"/>
                </a:solidFill>
                <a:latin typeface="Tajawal" pitchFamily="34" charset="0"/>
                <a:ea typeface="Tajawal" pitchFamily="34" charset="-122"/>
                <a:cs typeface="Tajawal" pitchFamily="34" charset="-120"/>
              </a:rPr>
              <a:t>تدريب المعلمين على المنصّات وتنويع استخدام الأدوات الرقمية داخل الفصل.</a:t>
            </a:r>
            <a:endParaRPr lang="ar-SA" sz="880" dirty="0"/>
          </a:p>
        </p:txBody>
      </p:sp>
      <p:sp>
        <p:nvSpPr>
          <p:cNvPr id="40" name="Shape 35"/>
          <p:cNvSpPr/>
          <p:nvPr/>
        </p:nvSpPr>
        <p:spPr>
          <a:xfrm>
            <a:off x="411480" y="5449824"/>
            <a:ext cx="11368735" cy="868680"/>
          </a:xfrm>
          <a:prstGeom prst="roundRect">
            <a:avLst>
              <a:gd name="adj" fmla="val 7895"/>
            </a:avLst>
          </a:prstGeom>
          <a:solidFill>
            <a:srgbClr val="095242"/>
          </a:solidFill>
          <a:ln/>
          <a:effectLst>
            <a:outerShdw sx="100000" sy="100000" kx="0" ky="0" algn="bl" rotWithShape="0" blurRad="101600" dist="25400" dir="5400000">
              <a:srgbClr val="083528">
                <a:alpha val="25000"/>
              </a:srgbClr>
            </a:outerShdw>
          </a:effectLst>
        </p:spPr>
      </p:sp>
      <p:sp>
        <p:nvSpPr>
          <p:cNvPr id="41" name="Shape 36"/>
          <p:cNvSpPr/>
          <p:nvPr/>
        </p:nvSpPr>
        <p:spPr>
          <a:xfrm>
            <a:off x="11176711" y="5701284"/>
            <a:ext cx="365760" cy="365760"/>
          </a:xfrm>
          <a:prstGeom prst="ellipse">
            <a:avLst/>
          </a:prstGeom>
          <a:solidFill>
            <a:srgbClr val="FFFFFF"/>
          </a:solidFill>
          <a:ln/>
        </p:spPr>
      </p:sp>
      <p:sp>
        <p:nvSpPr>
          <p:cNvPr id="42" name="Text 37"/>
          <p:cNvSpPr/>
          <p:nvPr/>
        </p:nvSpPr>
        <p:spPr>
          <a:xfrm>
            <a:off x="11176711" y="5687568"/>
            <a:ext cx="365760" cy="365760"/>
          </a:xfrm>
          <a:prstGeom prst="rect">
            <a:avLst/>
          </a:prstGeom>
          <a:noFill/>
          <a:ln/>
        </p:spPr>
        <p:txBody>
          <a:bodyPr wrap="square" lIns="0" tIns="0" rIns="0" bIns="0" rtlCol="0" anchor="ctr"/>
          <a:lstStyle/>
          <a:p>
            <a:pPr rtl="1" algn="ctr" indent="0" marL="0">
              <a:buNone/>
            </a:pPr>
            <a:r>
              <a:rPr lang="ar-SA" altLang="en-US" sz="1300" b="1" dirty="0">
                <a:solidFill>
                  <a:srgbClr val="095242"/>
                </a:solidFill>
                <a:latin typeface="Tajawal" pitchFamily="34" charset="0"/>
                <a:ea typeface="Tajawal" pitchFamily="34" charset="-122"/>
                <a:cs typeface="Tajawal" pitchFamily="34" charset="-120"/>
              </a:rPr>
              <a:t>٧</a:t>
            </a:r>
            <a:endParaRPr lang="ar-SA" sz="1300" dirty="0"/>
          </a:p>
        </p:txBody>
      </p:sp>
      <p:sp>
        <p:nvSpPr>
          <p:cNvPr id="43" name="Text 38"/>
          <p:cNvSpPr/>
          <p:nvPr/>
        </p:nvSpPr>
        <p:spPr>
          <a:xfrm>
            <a:off x="731520" y="5577840"/>
            <a:ext cx="10225735" cy="365760"/>
          </a:xfrm>
          <a:prstGeom prst="rect">
            <a:avLst/>
          </a:prstGeom>
          <a:noFill/>
          <a:ln/>
        </p:spPr>
        <p:txBody>
          <a:bodyPr wrap="square" lIns="0" tIns="0" rIns="0" bIns="0" rtlCol="0" anchor="ctr"/>
          <a:lstStyle/>
          <a:p>
            <a:pPr rtl="1" algn="r" indent="0" marL="0">
              <a:buNone/>
            </a:pPr>
            <a:r>
              <a:rPr lang="ar-SA" altLang="en-US" sz="1250" b="1" dirty="0">
                <a:solidFill>
                  <a:srgbClr val="FFFFFF"/>
                </a:solidFill>
                <a:latin typeface="Tajawal" pitchFamily="34" charset="0"/>
                <a:ea typeface="Tajawal" pitchFamily="34" charset="-122"/>
                <a:cs typeface="Tajawal" pitchFamily="34" charset="-120"/>
              </a:rPr>
              <a:t>تحسين بيئة التعلم الصفية والمرافق المدرسية المساندة</a:t>
            </a:r>
            <a:endParaRPr lang="ar-SA" sz="1250" dirty="0"/>
          </a:p>
        </p:txBody>
      </p:sp>
      <p:sp>
        <p:nvSpPr>
          <p:cNvPr id="44" name="Text 39"/>
          <p:cNvSpPr/>
          <p:nvPr/>
        </p:nvSpPr>
        <p:spPr>
          <a:xfrm>
            <a:off x="731520" y="5952744"/>
            <a:ext cx="10225735" cy="320040"/>
          </a:xfrm>
          <a:prstGeom prst="rect">
            <a:avLst/>
          </a:prstGeom>
          <a:noFill/>
          <a:ln/>
        </p:spPr>
        <p:txBody>
          <a:bodyPr wrap="square" lIns="0" tIns="0" rIns="0" bIns="0" rtlCol="0" anchor="t"/>
          <a:lstStyle/>
          <a:p>
            <a:pPr rtl="1" algn="r" indent="0" marL="0">
              <a:buNone/>
            </a:pPr>
            <a:r>
              <a:rPr lang="ar-SA" altLang="en-US" sz="950" dirty="0">
                <a:solidFill>
                  <a:srgbClr val="CFE2DB"/>
                </a:solidFill>
                <a:latin typeface="Tajawal" pitchFamily="34" charset="0"/>
                <a:ea typeface="Tajawal" pitchFamily="34" charset="-122"/>
                <a:cs typeface="Tajawal" pitchFamily="34" charset="-120"/>
              </a:rPr>
              <a:t>صيانة دورية وتحسين التهوية والإضاءة، ورفع جودة الخدمات المساندة.</a:t>
            </a:r>
            <a:endParaRPr lang="ar-SA"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tmp/claude-0/-home-user-Mobile1/ab9bbf47-b054-5f6e-be59-70476e095ce8/scratchpad/assets/bg_content.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11480" y="219456"/>
            <a:ext cx="786384" cy="608076"/>
          </a:xfrm>
          <a:prstGeom prst="rect">
            <a:avLst/>
          </a:prstGeom>
        </p:spPr>
      </p:pic>
      <p:sp>
        <p:nvSpPr>
          <p:cNvPr id="4" name="Shape 0"/>
          <p:cNvSpPr/>
          <p:nvPr/>
        </p:nvSpPr>
        <p:spPr>
          <a:xfrm>
            <a:off x="11268151" y="274320"/>
            <a:ext cx="512064" cy="512064"/>
          </a:xfrm>
          <a:prstGeom prst="roundRect">
            <a:avLst>
              <a:gd name="adj" fmla="val 21429"/>
            </a:avLst>
          </a:prstGeom>
          <a:solidFill>
            <a:srgbClr val="095242"/>
          </a:solidFill>
          <a:ln/>
        </p:spPr>
      </p:sp>
      <p:pic>
        <p:nvPicPr>
          <p:cNvPr id="5" name="Image 2" descr="/tmp/claude-0/-home-user-Mobile1/ab9bbf47-b054-5f6e-be59-70476e095ce8/scratchpad/assets/icons/target_white.png">    </p:cNvPr>
          <p:cNvPicPr>
            <a:picLocks noChangeAspect="1"/>
          </p:cNvPicPr>
          <p:nvPr/>
        </p:nvPicPr>
        <p:blipFill>
          <a:blip r:embed="rId3"/>
          <a:stretch>
            <a:fillRect/>
          </a:stretch>
        </p:blipFill>
        <p:spPr>
          <a:xfrm>
            <a:off x="11387023" y="393192"/>
            <a:ext cx="274320" cy="274320"/>
          </a:xfrm>
          <a:prstGeom prst="rect">
            <a:avLst/>
          </a:prstGeom>
        </p:spPr>
      </p:pic>
      <p:sp>
        <p:nvSpPr>
          <p:cNvPr id="6" name="Text 1"/>
          <p:cNvSpPr/>
          <p:nvPr/>
        </p:nvSpPr>
        <p:spPr>
          <a:xfrm>
            <a:off x="2926080" y="274320"/>
            <a:ext cx="8177479" cy="512064"/>
          </a:xfrm>
          <a:prstGeom prst="rect">
            <a:avLst/>
          </a:prstGeom>
          <a:noFill/>
          <a:ln/>
        </p:spPr>
        <p:txBody>
          <a:bodyPr wrap="square" lIns="0" tIns="0" rIns="0" bIns="0" rtlCol="0" anchor="ctr"/>
          <a:lstStyle/>
          <a:p>
            <a:pPr rtl="1" algn="r" indent="0" marL="0">
              <a:buNone/>
            </a:pPr>
            <a:r>
              <a:rPr lang="ar-SA" altLang="en-US" sz="2000" b="1" dirty="0">
                <a:solidFill>
                  <a:srgbClr val="0F2A21"/>
                </a:solidFill>
                <a:latin typeface="Tajawal" pitchFamily="34" charset="0"/>
                <a:ea typeface="Tajawal" pitchFamily="34" charset="-122"/>
                <a:cs typeface="Tajawal" pitchFamily="34" charset="-120"/>
              </a:rPr>
              <a:t>الأهداف الاستراتيجية لوزارة التعليم</a:t>
            </a:r>
            <a:endParaRPr lang="ar-SA" sz="2000" dirty="0"/>
          </a:p>
        </p:txBody>
      </p:sp>
      <p:sp>
        <p:nvSpPr>
          <p:cNvPr id="7" name="Text 2"/>
          <p:cNvSpPr/>
          <p:nvPr/>
        </p:nvSpPr>
        <p:spPr>
          <a:xfrm>
            <a:off x="7665415" y="6519672"/>
            <a:ext cx="4114800" cy="274320"/>
          </a:xfrm>
          <a:prstGeom prst="rect">
            <a:avLst/>
          </a:prstGeom>
          <a:noFill/>
          <a:ln/>
        </p:spPr>
        <p:txBody>
          <a:bodyPr wrap="square" lIns="0" tIns="0" rIns="0" bIns="0" rtlCol="0" anchor="t"/>
          <a:lstStyle/>
          <a:p>
            <a:pPr rtl="1" algn="r" indent="0" marL="0">
              <a:buNone/>
            </a:pPr>
            <a:r>
              <a:rPr lang="ar-SA" altLang="en-US" sz="800" dirty="0">
                <a:solidFill>
                  <a:srgbClr val="7C8F87"/>
                </a:solidFill>
                <a:latin typeface="Tajawal" pitchFamily="34" charset="0"/>
                <a:ea typeface="Tajawal" pitchFamily="34" charset="-122"/>
                <a:cs typeface="Tajawal" pitchFamily="34" charset="-120"/>
              </a:rPr>
              <a:t>الخطة التشغيلية للعام الدراسي ١٤٤٨هـ</a:t>
            </a:r>
            <a:endParaRPr lang="ar-SA" sz="800" dirty="0"/>
          </a:p>
        </p:txBody>
      </p:sp>
      <p:sp>
        <p:nvSpPr>
          <p:cNvPr id="8" name="Text 3"/>
          <p:cNvSpPr/>
          <p:nvPr/>
        </p:nvSpPr>
        <p:spPr>
          <a:xfrm>
            <a:off x="411480" y="6519672"/>
            <a:ext cx="914400" cy="274320"/>
          </a:xfrm>
          <a:prstGeom prst="rect">
            <a:avLst/>
          </a:prstGeom>
          <a:noFill/>
          <a:ln/>
        </p:spPr>
        <p:txBody>
          <a:bodyPr wrap="square" lIns="0" tIns="0" rIns="0" bIns="0" rtlCol="0" anchor="t"/>
          <a:lstStyle/>
          <a:p>
            <a:pPr rtl="1" algn="l" indent="0" marL="0">
              <a:buNone/>
            </a:pPr>
            <a:r>
              <a:rPr lang="ar-SA" altLang="en-US" sz="850" b="1" dirty="0">
                <a:solidFill>
                  <a:srgbClr val="7C8F87"/>
                </a:solidFill>
                <a:latin typeface="Tajawal" pitchFamily="34" charset="0"/>
                <a:ea typeface="Tajawal" pitchFamily="34" charset="-122"/>
                <a:cs typeface="Tajawal" pitchFamily="34" charset="-120"/>
              </a:rPr>
              <a:t>١٣</a:t>
            </a:r>
            <a:endParaRPr lang="ar-SA" sz="850" dirty="0"/>
          </a:p>
        </p:txBody>
      </p:sp>
      <p:sp>
        <p:nvSpPr>
          <p:cNvPr id="9" name="Text 4"/>
          <p:cNvSpPr/>
          <p:nvPr/>
        </p:nvSpPr>
        <p:spPr>
          <a:xfrm>
            <a:off x="411480" y="1005840"/>
            <a:ext cx="11368735" cy="384048"/>
          </a:xfrm>
          <a:prstGeom prst="rect">
            <a:avLst/>
          </a:prstGeom>
          <a:noFill/>
          <a:ln/>
        </p:spPr>
        <p:txBody>
          <a:bodyPr wrap="square" lIns="0" tIns="0" rIns="0" bIns="0" rtlCol="0" anchor="t"/>
          <a:lstStyle/>
          <a:p>
            <a:pPr rtl="1" algn="r" indent="0" marL="0">
              <a:buNone/>
            </a:pPr>
            <a:r>
              <a:rPr lang="ar-SA" altLang="en-US" sz="1080" dirty="0">
                <a:solidFill>
                  <a:srgbClr val="33473F"/>
                </a:solidFill>
                <a:latin typeface="Tajawal" pitchFamily="34" charset="0"/>
                <a:ea typeface="Tajawal" pitchFamily="34" charset="-122"/>
                <a:cs typeface="Tajawal" pitchFamily="34" charset="-120"/>
              </a:rPr>
              <a:t>تتوافق الأهداف العامة لخطة المدرسة مع الأهداف الاستراتيجية العشرة لوزارة التعليم، وتتفرّع منها البرامج التشغيلية المرتبطة بمؤشرات الاعتماد المدرسي.</a:t>
            </a:r>
            <a:endParaRPr lang="ar-SA" sz="1080" dirty="0"/>
          </a:p>
        </p:txBody>
      </p:sp>
      <p:sp>
        <p:nvSpPr>
          <p:cNvPr id="10" name="Shape 5"/>
          <p:cNvSpPr/>
          <p:nvPr/>
        </p:nvSpPr>
        <p:spPr>
          <a:xfrm>
            <a:off x="9667403" y="1536192"/>
            <a:ext cx="2112813" cy="1371600"/>
          </a:xfrm>
          <a:prstGeom prst="roundRect">
            <a:avLst>
              <a:gd name="adj" fmla="val 5000"/>
            </a:avLst>
          </a:prstGeom>
          <a:solidFill>
            <a:srgbClr val="FFFFFF"/>
          </a:solidFill>
          <a:ln w="9525">
            <a:solidFill>
              <a:srgbClr val="DCE8E2"/>
            </a:solidFill>
            <a:prstDash val="solid"/>
          </a:ln>
          <a:effectLst>
            <a:outerShdw sx="100000" sy="100000" kx="0" ky="0" algn="bl" rotWithShape="0" blurRad="63500" dist="12700" dir="5400000">
              <a:srgbClr val="0E3B30">
                <a:alpha val="6000"/>
              </a:srgbClr>
            </a:outerShdw>
          </a:effectLst>
        </p:spPr>
      </p:sp>
      <p:sp>
        <p:nvSpPr>
          <p:cNvPr id="11" name="Shape 6"/>
          <p:cNvSpPr/>
          <p:nvPr/>
        </p:nvSpPr>
        <p:spPr>
          <a:xfrm>
            <a:off x="10550073" y="1682496"/>
            <a:ext cx="347472" cy="347472"/>
          </a:xfrm>
          <a:prstGeom prst="roundRect">
            <a:avLst>
              <a:gd name="adj" fmla="val 22000"/>
            </a:avLst>
          </a:prstGeom>
          <a:solidFill>
            <a:srgbClr val="095242"/>
          </a:solidFill>
          <a:ln/>
        </p:spPr>
      </p:sp>
      <p:sp>
        <p:nvSpPr>
          <p:cNvPr id="12" name="Text 7"/>
          <p:cNvSpPr/>
          <p:nvPr/>
        </p:nvSpPr>
        <p:spPr>
          <a:xfrm>
            <a:off x="10550073" y="1668780"/>
            <a:ext cx="347472" cy="347472"/>
          </a:xfrm>
          <a:prstGeom prst="rect">
            <a:avLst/>
          </a:prstGeom>
          <a:noFill/>
          <a:ln/>
        </p:spPr>
        <p:txBody>
          <a:bodyPr wrap="square" lIns="0" tIns="0" rIns="0" bIns="0" rtlCol="0" anchor="ctr"/>
          <a:lstStyle/>
          <a:p>
            <a:pPr rtl="1" algn="ctr" indent="0" marL="0">
              <a:buNone/>
            </a:pPr>
            <a:r>
              <a:rPr lang="ar-SA" altLang="en-US" sz="1150" b="1" dirty="0">
                <a:solidFill>
                  <a:srgbClr val="FFFFFF"/>
                </a:solidFill>
                <a:latin typeface="Tajawal" pitchFamily="34" charset="0"/>
                <a:ea typeface="Tajawal" pitchFamily="34" charset="-122"/>
                <a:cs typeface="Tajawal" pitchFamily="34" charset="-120"/>
              </a:rPr>
              <a:t>١</a:t>
            </a:r>
            <a:endParaRPr lang="ar-SA" sz="1150" dirty="0"/>
          </a:p>
        </p:txBody>
      </p:sp>
      <p:sp>
        <p:nvSpPr>
          <p:cNvPr id="13" name="Text 8"/>
          <p:cNvSpPr/>
          <p:nvPr/>
        </p:nvSpPr>
        <p:spPr>
          <a:xfrm>
            <a:off x="9749699" y="2084832"/>
            <a:ext cx="1948221" cy="749808"/>
          </a:xfrm>
          <a:prstGeom prst="rect">
            <a:avLst/>
          </a:prstGeom>
          <a:noFill/>
          <a:ln/>
        </p:spPr>
        <p:txBody>
          <a:bodyPr wrap="square" lIns="0" tIns="0" rIns="0" bIns="0" rtlCol="0" anchor="ctr"/>
          <a:lstStyle/>
          <a:p>
            <a:pPr rtl="1" algn="ctr" indent="0" marL="0">
              <a:lnSpc>
                <a:spcPct val="105000"/>
              </a:lnSpc>
              <a:buNone/>
            </a:pPr>
            <a:r>
              <a:rPr lang="ar-SA" altLang="en-US" sz="930" b="1" dirty="0">
                <a:solidFill>
                  <a:srgbClr val="063E33"/>
                </a:solidFill>
                <a:latin typeface="Tajawal" pitchFamily="34" charset="0"/>
                <a:ea typeface="Tajawal" pitchFamily="34" charset="-122"/>
                <a:cs typeface="Tajawal" pitchFamily="34" charset="-120"/>
              </a:rPr>
              <a:t>ضمان وصول التعليم للجميع</a:t>
            </a:r>
            <a:endParaRPr lang="ar-SA" sz="930" dirty="0"/>
          </a:p>
        </p:txBody>
      </p:sp>
      <p:sp>
        <p:nvSpPr>
          <p:cNvPr id="14" name="Shape 9"/>
          <p:cNvSpPr/>
          <p:nvPr/>
        </p:nvSpPr>
        <p:spPr>
          <a:xfrm>
            <a:off x="7353422" y="1536192"/>
            <a:ext cx="2112813" cy="1371600"/>
          </a:xfrm>
          <a:prstGeom prst="roundRect">
            <a:avLst>
              <a:gd name="adj" fmla="val 5000"/>
            </a:avLst>
          </a:prstGeom>
          <a:solidFill>
            <a:srgbClr val="FFFFFF"/>
          </a:solidFill>
          <a:ln w="9525">
            <a:solidFill>
              <a:srgbClr val="DCE8E2"/>
            </a:solidFill>
            <a:prstDash val="solid"/>
          </a:ln>
          <a:effectLst>
            <a:outerShdw sx="100000" sy="100000" kx="0" ky="0" algn="bl" rotWithShape="0" blurRad="63500" dist="12700" dir="5400000">
              <a:srgbClr val="0E3B30">
                <a:alpha val="6000"/>
              </a:srgbClr>
            </a:outerShdw>
          </a:effectLst>
        </p:spPr>
      </p:sp>
      <p:sp>
        <p:nvSpPr>
          <p:cNvPr id="15" name="Shape 10"/>
          <p:cNvSpPr/>
          <p:nvPr/>
        </p:nvSpPr>
        <p:spPr>
          <a:xfrm>
            <a:off x="8236092" y="1682496"/>
            <a:ext cx="347472" cy="347472"/>
          </a:xfrm>
          <a:prstGeom prst="roundRect">
            <a:avLst>
              <a:gd name="adj" fmla="val 22000"/>
            </a:avLst>
          </a:prstGeom>
          <a:solidFill>
            <a:srgbClr val="095242"/>
          </a:solidFill>
          <a:ln/>
        </p:spPr>
      </p:sp>
      <p:sp>
        <p:nvSpPr>
          <p:cNvPr id="16" name="Text 11"/>
          <p:cNvSpPr/>
          <p:nvPr/>
        </p:nvSpPr>
        <p:spPr>
          <a:xfrm>
            <a:off x="8236092" y="1668780"/>
            <a:ext cx="347472" cy="347472"/>
          </a:xfrm>
          <a:prstGeom prst="rect">
            <a:avLst/>
          </a:prstGeom>
          <a:noFill/>
          <a:ln/>
        </p:spPr>
        <p:txBody>
          <a:bodyPr wrap="square" lIns="0" tIns="0" rIns="0" bIns="0" rtlCol="0" anchor="ctr"/>
          <a:lstStyle/>
          <a:p>
            <a:pPr rtl="1" algn="ctr" indent="0" marL="0">
              <a:buNone/>
            </a:pPr>
            <a:r>
              <a:rPr lang="ar-SA" altLang="en-US" sz="1150" b="1" dirty="0">
                <a:solidFill>
                  <a:srgbClr val="FFFFFF"/>
                </a:solidFill>
                <a:latin typeface="Tajawal" pitchFamily="34" charset="0"/>
                <a:ea typeface="Tajawal" pitchFamily="34" charset="-122"/>
                <a:cs typeface="Tajawal" pitchFamily="34" charset="-120"/>
              </a:rPr>
              <a:t>٢</a:t>
            </a:r>
            <a:endParaRPr lang="ar-SA" sz="1150" dirty="0"/>
          </a:p>
        </p:txBody>
      </p:sp>
      <p:sp>
        <p:nvSpPr>
          <p:cNvPr id="17" name="Text 12"/>
          <p:cNvSpPr/>
          <p:nvPr/>
        </p:nvSpPr>
        <p:spPr>
          <a:xfrm>
            <a:off x="7435718" y="2084832"/>
            <a:ext cx="1948221" cy="749808"/>
          </a:xfrm>
          <a:prstGeom prst="rect">
            <a:avLst/>
          </a:prstGeom>
          <a:noFill/>
          <a:ln/>
        </p:spPr>
        <p:txBody>
          <a:bodyPr wrap="square" lIns="0" tIns="0" rIns="0" bIns="0" rtlCol="0" anchor="ctr"/>
          <a:lstStyle/>
          <a:p>
            <a:pPr rtl="1" algn="ctr" indent="0" marL="0">
              <a:lnSpc>
                <a:spcPct val="105000"/>
              </a:lnSpc>
              <a:buNone/>
            </a:pPr>
            <a:r>
              <a:rPr lang="ar-SA" altLang="en-US" sz="930" b="1" dirty="0">
                <a:solidFill>
                  <a:srgbClr val="063E33"/>
                </a:solidFill>
                <a:latin typeface="Tajawal" pitchFamily="34" charset="0"/>
                <a:ea typeface="Tajawal" pitchFamily="34" charset="-122"/>
                <a:cs typeface="Tajawal" pitchFamily="34" charset="-120"/>
              </a:rPr>
              <a:t>تطوير بيئة مدرسية آمنة وابتكارية</a:t>
            </a:r>
            <a:endParaRPr lang="ar-SA" sz="930" dirty="0"/>
          </a:p>
        </p:txBody>
      </p:sp>
      <p:sp>
        <p:nvSpPr>
          <p:cNvPr id="18" name="Shape 13"/>
          <p:cNvSpPr/>
          <p:nvPr/>
        </p:nvSpPr>
        <p:spPr>
          <a:xfrm>
            <a:off x="5039441" y="1536192"/>
            <a:ext cx="2112813" cy="1371600"/>
          </a:xfrm>
          <a:prstGeom prst="roundRect">
            <a:avLst>
              <a:gd name="adj" fmla="val 5000"/>
            </a:avLst>
          </a:prstGeom>
          <a:solidFill>
            <a:srgbClr val="FFFFFF"/>
          </a:solidFill>
          <a:ln w="9525">
            <a:solidFill>
              <a:srgbClr val="DCE8E2"/>
            </a:solidFill>
            <a:prstDash val="solid"/>
          </a:ln>
          <a:effectLst>
            <a:outerShdw sx="100000" sy="100000" kx="0" ky="0" algn="bl" rotWithShape="0" blurRad="63500" dist="12700" dir="5400000">
              <a:srgbClr val="0E3B30">
                <a:alpha val="6000"/>
              </a:srgbClr>
            </a:outerShdw>
          </a:effectLst>
        </p:spPr>
      </p:sp>
      <p:sp>
        <p:nvSpPr>
          <p:cNvPr id="19" name="Shape 14"/>
          <p:cNvSpPr/>
          <p:nvPr/>
        </p:nvSpPr>
        <p:spPr>
          <a:xfrm>
            <a:off x="5922112" y="1682496"/>
            <a:ext cx="347472" cy="347472"/>
          </a:xfrm>
          <a:prstGeom prst="roundRect">
            <a:avLst>
              <a:gd name="adj" fmla="val 22000"/>
            </a:avLst>
          </a:prstGeom>
          <a:solidFill>
            <a:srgbClr val="095242"/>
          </a:solidFill>
          <a:ln/>
        </p:spPr>
      </p:sp>
      <p:sp>
        <p:nvSpPr>
          <p:cNvPr id="20" name="Text 15"/>
          <p:cNvSpPr/>
          <p:nvPr/>
        </p:nvSpPr>
        <p:spPr>
          <a:xfrm>
            <a:off x="5922112" y="1668780"/>
            <a:ext cx="347472" cy="347472"/>
          </a:xfrm>
          <a:prstGeom prst="rect">
            <a:avLst/>
          </a:prstGeom>
          <a:noFill/>
          <a:ln/>
        </p:spPr>
        <p:txBody>
          <a:bodyPr wrap="square" lIns="0" tIns="0" rIns="0" bIns="0" rtlCol="0" anchor="ctr"/>
          <a:lstStyle/>
          <a:p>
            <a:pPr rtl="1" algn="ctr" indent="0" marL="0">
              <a:buNone/>
            </a:pPr>
            <a:r>
              <a:rPr lang="ar-SA" altLang="en-US" sz="1150" b="1" dirty="0">
                <a:solidFill>
                  <a:srgbClr val="FFFFFF"/>
                </a:solidFill>
                <a:latin typeface="Tajawal" pitchFamily="34" charset="0"/>
                <a:ea typeface="Tajawal" pitchFamily="34" charset="-122"/>
                <a:cs typeface="Tajawal" pitchFamily="34" charset="-120"/>
              </a:rPr>
              <a:t>٣</a:t>
            </a:r>
            <a:endParaRPr lang="ar-SA" sz="1150" dirty="0"/>
          </a:p>
        </p:txBody>
      </p:sp>
      <p:sp>
        <p:nvSpPr>
          <p:cNvPr id="21" name="Text 16"/>
          <p:cNvSpPr/>
          <p:nvPr/>
        </p:nvSpPr>
        <p:spPr>
          <a:xfrm>
            <a:off x="5121737" y="2084832"/>
            <a:ext cx="1948221" cy="749808"/>
          </a:xfrm>
          <a:prstGeom prst="rect">
            <a:avLst/>
          </a:prstGeom>
          <a:noFill/>
          <a:ln/>
        </p:spPr>
        <p:txBody>
          <a:bodyPr wrap="square" lIns="0" tIns="0" rIns="0" bIns="0" rtlCol="0" anchor="ctr"/>
          <a:lstStyle/>
          <a:p>
            <a:pPr rtl="1" algn="ctr" indent="0" marL="0">
              <a:lnSpc>
                <a:spcPct val="105000"/>
              </a:lnSpc>
              <a:buNone/>
            </a:pPr>
            <a:r>
              <a:rPr lang="ar-SA" altLang="en-US" sz="930" b="1" dirty="0">
                <a:solidFill>
                  <a:srgbClr val="063E33"/>
                </a:solidFill>
                <a:latin typeface="Tajawal" pitchFamily="34" charset="0"/>
                <a:ea typeface="Tajawal" pitchFamily="34" charset="-122"/>
                <a:cs typeface="Tajawal" pitchFamily="34" charset="-120"/>
              </a:rPr>
              <a:t>تعزيز القيم والهوية الوطنية</a:t>
            </a:r>
            <a:endParaRPr lang="ar-SA" sz="930" dirty="0"/>
          </a:p>
        </p:txBody>
      </p:sp>
      <p:sp>
        <p:nvSpPr>
          <p:cNvPr id="22" name="Shape 17"/>
          <p:cNvSpPr/>
          <p:nvPr/>
        </p:nvSpPr>
        <p:spPr>
          <a:xfrm>
            <a:off x="2725461" y="1536192"/>
            <a:ext cx="2112813" cy="1371600"/>
          </a:xfrm>
          <a:prstGeom prst="roundRect">
            <a:avLst>
              <a:gd name="adj" fmla="val 5000"/>
            </a:avLst>
          </a:prstGeom>
          <a:solidFill>
            <a:srgbClr val="FFFFFF"/>
          </a:solidFill>
          <a:ln w="9525">
            <a:solidFill>
              <a:srgbClr val="DCE8E2"/>
            </a:solidFill>
            <a:prstDash val="solid"/>
          </a:ln>
          <a:effectLst>
            <a:outerShdw sx="100000" sy="100000" kx="0" ky="0" algn="bl" rotWithShape="0" blurRad="63500" dist="12700" dir="5400000">
              <a:srgbClr val="0E3B30">
                <a:alpha val="6000"/>
              </a:srgbClr>
            </a:outerShdw>
          </a:effectLst>
        </p:spPr>
      </p:sp>
      <p:sp>
        <p:nvSpPr>
          <p:cNvPr id="23" name="Shape 18"/>
          <p:cNvSpPr/>
          <p:nvPr/>
        </p:nvSpPr>
        <p:spPr>
          <a:xfrm>
            <a:off x="3608131" y="1682496"/>
            <a:ext cx="347472" cy="347472"/>
          </a:xfrm>
          <a:prstGeom prst="roundRect">
            <a:avLst>
              <a:gd name="adj" fmla="val 22000"/>
            </a:avLst>
          </a:prstGeom>
          <a:solidFill>
            <a:srgbClr val="095242"/>
          </a:solidFill>
          <a:ln/>
        </p:spPr>
      </p:sp>
      <p:sp>
        <p:nvSpPr>
          <p:cNvPr id="24" name="Text 19"/>
          <p:cNvSpPr/>
          <p:nvPr/>
        </p:nvSpPr>
        <p:spPr>
          <a:xfrm>
            <a:off x="3608131" y="1668780"/>
            <a:ext cx="347472" cy="347472"/>
          </a:xfrm>
          <a:prstGeom prst="rect">
            <a:avLst/>
          </a:prstGeom>
          <a:noFill/>
          <a:ln/>
        </p:spPr>
        <p:txBody>
          <a:bodyPr wrap="square" lIns="0" tIns="0" rIns="0" bIns="0" rtlCol="0" anchor="ctr"/>
          <a:lstStyle/>
          <a:p>
            <a:pPr rtl="1" algn="ctr" indent="0" marL="0">
              <a:buNone/>
            </a:pPr>
            <a:r>
              <a:rPr lang="ar-SA" altLang="en-US" sz="1150" b="1" dirty="0">
                <a:solidFill>
                  <a:srgbClr val="FFFFFF"/>
                </a:solidFill>
                <a:latin typeface="Tajawal" pitchFamily="34" charset="0"/>
                <a:ea typeface="Tajawal" pitchFamily="34" charset="-122"/>
                <a:cs typeface="Tajawal" pitchFamily="34" charset="-120"/>
              </a:rPr>
              <a:t>٤</a:t>
            </a:r>
            <a:endParaRPr lang="ar-SA" sz="1150" dirty="0"/>
          </a:p>
        </p:txBody>
      </p:sp>
      <p:sp>
        <p:nvSpPr>
          <p:cNvPr id="25" name="Text 20"/>
          <p:cNvSpPr/>
          <p:nvPr/>
        </p:nvSpPr>
        <p:spPr>
          <a:xfrm>
            <a:off x="2807757" y="2084832"/>
            <a:ext cx="1948221" cy="749808"/>
          </a:xfrm>
          <a:prstGeom prst="rect">
            <a:avLst/>
          </a:prstGeom>
          <a:noFill/>
          <a:ln/>
        </p:spPr>
        <p:txBody>
          <a:bodyPr wrap="square" lIns="0" tIns="0" rIns="0" bIns="0" rtlCol="0" anchor="ctr"/>
          <a:lstStyle/>
          <a:p>
            <a:pPr rtl="1" algn="ctr" indent="0" marL="0">
              <a:lnSpc>
                <a:spcPct val="105000"/>
              </a:lnSpc>
              <a:buNone/>
            </a:pPr>
            <a:r>
              <a:rPr lang="ar-SA" altLang="en-US" sz="930" b="1" dirty="0">
                <a:solidFill>
                  <a:srgbClr val="063E33"/>
                </a:solidFill>
                <a:latin typeface="Tajawal" pitchFamily="34" charset="0"/>
                <a:ea typeface="Tajawal" pitchFamily="34" charset="-122"/>
                <a:cs typeface="Tajawal" pitchFamily="34" charset="-120"/>
              </a:rPr>
              <a:t>تحسين تجربة المستفيدين</a:t>
            </a:r>
            <a:endParaRPr lang="ar-SA" sz="930" dirty="0"/>
          </a:p>
        </p:txBody>
      </p:sp>
      <p:sp>
        <p:nvSpPr>
          <p:cNvPr id="26" name="Shape 21"/>
          <p:cNvSpPr/>
          <p:nvPr/>
        </p:nvSpPr>
        <p:spPr>
          <a:xfrm>
            <a:off x="411480" y="1536192"/>
            <a:ext cx="2112813" cy="1371600"/>
          </a:xfrm>
          <a:prstGeom prst="roundRect">
            <a:avLst>
              <a:gd name="adj" fmla="val 5000"/>
            </a:avLst>
          </a:prstGeom>
          <a:solidFill>
            <a:srgbClr val="FFFFFF"/>
          </a:solidFill>
          <a:ln w="9525">
            <a:solidFill>
              <a:srgbClr val="DCE8E2"/>
            </a:solidFill>
            <a:prstDash val="solid"/>
          </a:ln>
          <a:effectLst>
            <a:outerShdw sx="100000" sy="100000" kx="0" ky="0" algn="bl" rotWithShape="0" blurRad="63500" dist="12700" dir="5400000">
              <a:srgbClr val="0E3B30">
                <a:alpha val="6000"/>
              </a:srgbClr>
            </a:outerShdw>
          </a:effectLst>
        </p:spPr>
      </p:sp>
      <p:sp>
        <p:nvSpPr>
          <p:cNvPr id="27" name="Shape 22"/>
          <p:cNvSpPr/>
          <p:nvPr/>
        </p:nvSpPr>
        <p:spPr>
          <a:xfrm>
            <a:off x="1294150" y="1682496"/>
            <a:ext cx="347472" cy="347472"/>
          </a:xfrm>
          <a:prstGeom prst="roundRect">
            <a:avLst>
              <a:gd name="adj" fmla="val 22000"/>
            </a:avLst>
          </a:prstGeom>
          <a:solidFill>
            <a:srgbClr val="095242"/>
          </a:solidFill>
          <a:ln/>
        </p:spPr>
      </p:sp>
      <p:sp>
        <p:nvSpPr>
          <p:cNvPr id="28" name="Text 23"/>
          <p:cNvSpPr/>
          <p:nvPr/>
        </p:nvSpPr>
        <p:spPr>
          <a:xfrm>
            <a:off x="1294150" y="1668780"/>
            <a:ext cx="347472" cy="347472"/>
          </a:xfrm>
          <a:prstGeom prst="rect">
            <a:avLst/>
          </a:prstGeom>
          <a:noFill/>
          <a:ln/>
        </p:spPr>
        <p:txBody>
          <a:bodyPr wrap="square" lIns="0" tIns="0" rIns="0" bIns="0" rtlCol="0" anchor="ctr"/>
          <a:lstStyle/>
          <a:p>
            <a:pPr rtl="1" algn="ctr" indent="0" marL="0">
              <a:buNone/>
            </a:pPr>
            <a:r>
              <a:rPr lang="ar-SA" altLang="en-US" sz="1150" b="1" dirty="0">
                <a:solidFill>
                  <a:srgbClr val="FFFFFF"/>
                </a:solidFill>
                <a:latin typeface="Tajawal" pitchFamily="34" charset="0"/>
                <a:ea typeface="Tajawal" pitchFamily="34" charset="-122"/>
                <a:cs typeface="Tajawal" pitchFamily="34" charset="-120"/>
              </a:rPr>
              <a:t>٥</a:t>
            </a:r>
            <a:endParaRPr lang="ar-SA" sz="1150" dirty="0"/>
          </a:p>
        </p:txBody>
      </p:sp>
      <p:sp>
        <p:nvSpPr>
          <p:cNvPr id="29" name="Text 24"/>
          <p:cNvSpPr/>
          <p:nvPr/>
        </p:nvSpPr>
        <p:spPr>
          <a:xfrm>
            <a:off x="493776" y="2084832"/>
            <a:ext cx="1948221" cy="749808"/>
          </a:xfrm>
          <a:prstGeom prst="rect">
            <a:avLst/>
          </a:prstGeom>
          <a:noFill/>
          <a:ln/>
        </p:spPr>
        <p:txBody>
          <a:bodyPr wrap="square" lIns="0" tIns="0" rIns="0" bIns="0" rtlCol="0" anchor="ctr"/>
          <a:lstStyle/>
          <a:p>
            <a:pPr rtl="1" algn="ctr" indent="0" marL="0">
              <a:lnSpc>
                <a:spcPct val="105000"/>
              </a:lnSpc>
              <a:buNone/>
            </a:pPr>
            <a:r>
              <a:rPr lang="ar-SA" altLang="en-US" sz="930" b="1" dirty="0">
                <a:solidFill>
                  <a:srgbClr val="063E33"/>
                </a:solidFill>
                <a:latin typeface="Tajawal" pitchFamily="34" charset="0"/>
                <a:ea typeface="Tajawal" pitchFamily="34" charset="-122"/>
                <a:cs typeface="Tajawal" pitchFamily="34" charset="-120"/>
              </a:rPr>
              <a:t>الاستثمار في الطلاب والمدارس الأولى بالرعاية</a:t>
            </a:r>
            <a:endParaRPr lang="ar-SA" sz="930" dirty="0"/>
          </a:p>
        </p:txBody>
      </p:sp>
      <p:sp>
        <p:nvSpPr>
          <p:cNvPr id="30" name="Shape 25"/>
          <p:cNvSpPr/>
          <p:nvPr/>
        </p:nvSpPr>
        <p:spPr>
          <a:xfrm>
            <a:off x="9667403" y="3127248"/>
            <a:ext cx="2112813" cy="1371600"/>
          </a:xfrm>
          <a:prstGeom prst="roundRect">
            <a:avLst>
              <a:gd name="adj" fmla="val 5000"/>
            </a:avLst>
          </a:prstGeom>
          <a:solidFill>
            <a:srgbClr val="FFFFFF"/>
          </a:solidFill>
          <a:ln w="9525">
            <a:solidFill>
              <a:srgbClr val="DCE8E2"/>
            </a:solidFill>
            <a:prstDash val="solid"/>
          </a:ln>
          <a:effectLst>
            <a:outerShdw sx="100000" sy="100000" kx="0" ky="0" algn="bl" rotWithShape="0" blurRad="63500" dist="12700" dir="5400000">
              <a:srgbClr val="0E3B30">
                <a:alpha val="6000"/>
              </a:srgbClr>
            </a:outerShdw>
          </a:effectLst>
        </p:spPr>
      </p:sp>
      <p:sp>
        <p:nvSpPr>
          <p:cNvPr id="31" name="Shape 26"/>
          <p:cNvSpPr/>
          <p:nvPr/>
        </p:nvSpPr>
        <p:spPr>
          <a:xfrm>
            <a:off x="10550073" y="3273552"/>
            <a:ext cx="347472" cy="347472"/>
          </a:xfrm>
          <a:prstGeom prst="roundRect">
            <a:avLst>
              <a:gd name="adj" fmla="val 22000"/>
            </a:avLst>
          </a:prstGeom>
          <a:solidFill>
            <a:srgbClr val="095242"/>
          </a:solidFill>
          <a:ln/>
        </p:spPr>
      </p:sp>
      <p:sp>
        <p:nvSpPr>
          <p:cNvPr id="32" name="Text 27"/>
          <p:cNvSpPr/>
          <p:nvPr/>
        </p:nvSpPr>
        <p:spPr>
          <a:xfrm>
            <a:off x="10550073" y="3259836"/>
            <a:ext cx="347472" cy="347472"/>
          </a:xfrm>
          <a:prstGeom prst="rect">
            <a:avLst/>
          </a:prstGeom>
          <a:noFill/>
          <a:ln/>
        </p:spPr>
        <p:txBody>
          <a:bodyPr wrap="square" lIns="0" tIns="0" rIns="0" bIns="0" rtlCol="0" anchor="ctr"/>
          <a:lstStyle/>
          <a:p>
            <a:pPr rtl="1" algn="ctr" indent="0" marL="0">
              <a:buNone/>
            </a:pPr>
            <a:r>
              <a:rPr lang="ar-SA" altLang="en-US" sz="1150" b="1" dirty="0">
                <a:solidFill>
                  <a:srgbClr val="FFFFFF"/>
                </a:solidFill>
                <a:latin typeface="Tajawal" pitchFamily="34" charset="0"/>
                <a:ea typeface="Tajawal" pitchFamily="34" charset="-122"/>
                <a:cs typeface="Tajawal" pitchFamily="34" charset="-120"/>
              </a:rPr>
              <a:t>٦</a:t>
            </a:r>
            <a:endParaRPr lang="ar-SA" sz="1150" dirty="0"/>
          </a:p>
        </p:txBody>
      </p:sp>
      <p:sp>
        <p:nvSpPr>
          <p:cNvPr id="33" name="Text 28"/>
          <p:cNvSpPr/>
          <p:nvPr/>
        </p:nvSpPr>
        <p:spPr>
          <a:xfrm>
            <a:off x="9749699" y="3675888"/>
            <a:ext cx="1948221" cy="749808"/>
          </a:xfrm>
          <a:prstGeom prst="rect">
            <a:avLst/>
          </a:prstGeom>
          <a:noFill/>
          <a:ln/>
        </p:spPr>
        <p:txBody>
          <a:bodyPr wrap="square" lIns="0" tIns="0" rIns="0" bIns="0" rtlCol="0" anchor="ctr"/>
          <a:lstStyle/>
          <a:p>
            <a:pPr rtl="1" algn="ctr" indent="0" marL="0">
              <a:lnSpc>
                <a:spcPct val="105000"/>
              </a:lnSpc>
              <a:buNone/>
            </a:pPr>
            <a:r>
              <a:rPr lang="ar-SA" altLang="en-US" sz="930" b="1" dirty="0">
                <a:solidFill>
                  <a:srgbClr val="063E33"/>
                </a:solidFill>
                <a:latin typeface="Tajawal" pitchFamily="34" charset="0"/>
                <a:ea typeface="Tajawal" pitchFamily="34" charset="-122"/>
                <a:cs typeface="Tajawal" pitchFamily="34" charset="-120"/>
              </a:rPr>
              <a:t>تحسين أداء المدارس وتعزيز شراكتها مع المجتمع</a:t>
            </a:r>
            <a:endParaRPr lang="ar-SA" sz="930" dirty="0"/>
          </a:p>
        </p:txBody>
      </p:sp>
      <p:sp>
        <p:nvSpPr>
          <p:cNvPr id="34" name="Shape 29"/>
          <p:cNvSpPr/>
          <p:nvPr/>
        </p:nvSpPr>
        <p:spPr>
          <a:xfrm>
            <a:off x="7353422" y="3127248"/>
            <a:ext cx="2112813" cy="1371600"/>
          </a:xfrm>
          <a:prstGeom prst="roundRect">
            <a:avLst>
              <a:gd name="adj" fmla="val 5000"/>
            </a:avLst>
          </a:prstGeom>
          <a:solidFill>
            <a:srgbClr val="FFFFFF"/>
          </a:solidFill>
          <a:ln w="9525">
            <a:solidFill>
              <a:srgbClr val="DCE8E2"/>
            </a:solidFill>
            <a:prstDash val="solid"/>
          </a:ln>
          <a:effectLst>
            <a:outerShdw sx="100000" sy="100000" kx="0" ky="0" algn="bl" rotWithShape="0" blurRad="63500" dist="12700" dir="5400000">
              <a:srgbClr val="0E3B30">
                <a:alpha val="6000"/>
              </a:srgbClr>
            </a:outerShdw>
          </a:effectLst>
        </p:spPr>
      </p:sp>
      <p:sp>
        <p:nvSpPr>
          <p:cNvPr id="35" name="Shape 30"/>
          <p:cNvSpPr/>
          <p:nvPr/>
        </p:nvSpPr>
        <p:spPr>
          <a:xfrm>
            <a:off x="8236092" y="3273552"/>
            <a:ext cx="347472" cy="347472"/>
          </a:xfrm>
          <a:prstGeom prst="roundRect">
            <a:avLst>
              <a:gd name="adj" fmla="val 22000"/>
            </a:avLst>
          </a:prstGeom>
          <a:solidFill>
            <a:srgbClr val="095242"/>
          </a:solidFill>
          <a:ln/>
        </p:spPr>
      </p:sp>
      <p:sp>
        <p:nvSpPr>
          <p:cNvPr id="36" name="Text 31"/>
          <p:cNvSpPr/>
          <p:nvPr/>
        </p:nvSpPr>
        <p:spPr>
          <a:xfrm>
            <a:off x="8236092" y="3259836"/>
            <a:ext cx="347472" cy="347472"/>
          </a:xfrm>
          <a:prstGeom prst="rect">
            <a:avLst/>
          </a:prstGeom>
          <a:noFill/>
          <a:ln/>
        </p:spPr>
        <p:txBody>
          <a:bodyPr wrap="square" lIns="0" tIns="0" rIns="0" bIns="0" rtlCol="0" anchor="ctr"/>
          <a:lstStyle/>
          <a:p>
            <a:pPr rtl="1" algn="ctr" indent="0" marL="0">
              <a:buNone/>
            </a:pPr>
            <a:r>
              <a:rPr lang="ar-SA" altLang="en-US" sz="1150" b="1" dirty="0">
                <a:solidFill>
                  <a:srgbClr val="FFFFFF"/>
                </a:solidFill>
                <a:latin typeface="Tajawal" pitchFamily="34" charset="0"/>
                <a:ea typeface="Tajawal" pitchFamily="34" charset="-122"/>
                <a:cs typeface="Tajawal" pitchFamily="34" charset="-120"/>
              </a:rPr>
              <a:t>٧</a:t>
            </a:r>
            <a:endParaRPr lang="ar-SA" sz="1150" dirty="0"/>
          </a:p>
        </p:txBody>
      </p:sp>
      <p:sp>
        <p:nvSpPr>
          <p:cNvPr id="37" name="Text 32"/>
          <p:cNvSpPr/>
          <p:nvPr/>
        </p:nvSpPr>
        <p:spPr>
          <a:xfrm>
            <a:off x="7435718" y="3675888"/>
            <a:ext cx="1948221" cy="749808"/>
          </a:xfrm>
          <a:prstGeom prst="rect">
            <a:avLst/>
          </a:prstGeom>
          <a:noFill/>
          <a:ln/>
        </p:spPr>
        <p:txBody>
          <a:bodyPr wrap="square" lIns="0" tIns="0" rIns="0" bIns="0" rtlCol="0" anchor="ctr"/>
          <a:lstStyle/>
          <a:p>
            <a:pPr rtl="1" algn="ctr" indent="0" marL="0">
              <a:lnSpc>
                <a:spcPct val="105000"/>
              </a:lnSpc>
              <a:buNone/>
            </a:pPr>
            <a:r>
              <a:rPr lang="ar-SA" altLang="en-US" sz="930" b="1" dirty="0">
                <a:solidFill>
                  <a:srgbClr val="063E33"/>
                </a:solidFill>
                <a:latin typeface="Tajawal" pitchFamily="34" charset="0"/>
                <a:ea typeface="Tajawal" pitchFamily="34" charset="-122"/>
                <a:cs typeface="Tajawal" pitchFamily="34" charset="-120"/>
              </a:rPr>
              <a:t>رفع كفاءة الإنفاق وتعزيز الاستدامة المالية</a:t>
            </a:r>
            <a:endParaRPr lang="ar-SA" sz="930" dirty="0"/>
          </a:p>
        </p:txBody>
      </p:sp>
      <p:sp>
        <p:nvSpPr>
          <p:cNvPr id="38" name="Shape 33"/>
          <p:cNvSpPr/>
          <p:nvPr/>
        </p:nvSpPr>
        <p:spPr>
          <a:xfrm>
            <a:off x="5039441" y="3127248"/>
            <a:ext cx="2112813" cy="1371600"/>
          </a:xfrm>
          <a:prstGeom prst="roundRect">
            <a:avLst>
              <a:gd name="adj" fmla="val 5000"/>
            </a:avLst>
          </a:prstGeom>
          <a:solidFill>
            <a:srgbClr val="FFFFFF"/>
          </a:solidFill>
          <a:ln w="9525">
            <a:solidFill>
              <a:srgbClr val="DCE8E2"/>
            </a:solidFill>
            <a:prstDash val="solid"/>
          </a:ln>
          <a:effectLst>
            <a:outerShdw sx="100000" sy="100000" kx="0" ky="0" algn="bl" rotWithShape="0" blurRad="63500" dist="12700" dir="5400000">
              <a:srgbClr val="0E3B30">
                <a:alpha val="6000"/>
              </a:srgbClr>
            </a:outerShdw>
          </a:effectLst>
        </p:spPr>
      </p:sp>
      <p:sp>
        <p:nvSpPr>
          <p:cNvPr id="39" name="Shape 34"/>
          <p:cNvSpPr/>
          <p:nvPr/>
        </p:nvSpPr>
        <p:spPr>
          <a:xfrm>
            <a:off x="5922112" y="3273552"/>
            <a:ext cx="347472" cy="347472"/>
          </a:xfrm>
          <a:prstGeom prst="roundRect">
            <a:avLst>
              <a:gd name="adj" fmla="val 22000"/>
            </a:avLst>
          </a:prstGeom>
          <a:solidFill>
            <a:srgbClr val="095242"/>
          </a:solidFill>
          <a:ln/>
        </p:spPr>
      </p:sp>
      <p:sp>
        <p:nvSpPr>
          <p:cNvPr id="40" name="Text 35"/>
          <p:cNvSpPr/>
          <p:nvPr/>
        </p:nvSpPr>
        <p:spPr>
          <a:xfrm>
            <a:off x="5922112" y="3259836"/>
            <a:ext cx="347472" cy="347472"/>
          </a:xfrm>
          <a:prstGeom prst="rect">
            <a:avLst/>
          </a:prstGeom>
          <a:noFill/>
          <a:ln/>
        </p:spPr>
        <p:txBody>
          <a:bodyPr wrap="square" lIns="0" tIns="0" rIns="0" bIns="0" rtlCol="0" anchor="ctr"/>
          <a:lstStyle/>
          <a:p>
            <a:pPr rtl="1" algn="ctr" indent="0" marL="0">
              <a:buNone/>
            </a:pPr>
            <a:r>
              <a:rPr lang="ar-SA" altLang="en-US" sz="1150" b="1" dirty="0">
                <a:solidFill>
                  <a:srgbClr val="FFFFFF"/>
                </a:solidFill>
                <a:latin typeface="Tajawal" pitchFamily="34" charset="0"/>
                <a:ea typeface="Tajawal" pitchFamily="34" charset="-122"/>
                <a:cs typeface="Tajawal" pitchFamily="34" charset="-120"/>
              </a:rPr>
              <a:t>٨</a:t>
            </a:r>
            <a:endParaRPr lang="ar-SA" sz="1150" dirty="0"/>
          </a:p>
        </p:txBody>
      </p:sp>
      <p:sp>
        <p:nvSpPr>
          <p:cNvPr id="41" name="Text 36"/>
          <p:cNvSpPr/>
          <p:nvPr/>
        </p:nvSpPr>
        <p:spPr>
          <a:xfrm>
            <a:off x="5121737" y="3675888"/>
            <a:ext cx="1948221" cy="749808"/>
          </a:xfrm>
          <a:prstGeom prst="rect">
            <a:avLst/>
          </a:prstGeom>
          <a:noFill/>
          <a:ln/>
        </p:spPr>
        <p:txBody>
          <a:bodyPr wrap="square" lIns="0" tIns="0" rIns="0" bIns="0" rtlCol="0" anchor="ctr"/>
          <a:lstStyle/>
          <a:p>
            <a:pPr rtl="1" algn="ctr" indent="0" marL="0">
              <a:lnSpc>
                <a:spcPct val="105000"/>
              </a:lnSpc>
              <a:buNone/>
            </a:pPr>
            <a:r>
              <a:rPr lang="ar-SA" altLang="en-US" sz="930" b="1" dirty="0">
                <a:solidFill>
                  <a:srgbClr val="063E33"/>
                </a:solidFill>
                <a:latin typeface="Tajawal" pitchFamily="34" charset="0"/>
                <a:ea typeface="Tajawal" pitchFamily="34" charset="-122"/>
                <a:cs typeface="Tajawal" pitchFamily="34" charset="-120"/>
              </a:rPr>
              <a:t>تطوير كفاءات الموارد البشرية وتعزيز الثقافة المؤسسية</a:t>
            </a:r>
            <a:endParaRPr lang="ar-SA" sz="930" dirty="0"/>
          </a:p>
        </p:txBody>
      </p:sp>
      <p:sp>
        <p:nvSpPr>
          <p:cNvPr id="42" name="Shape 37"/>
          <p:cNvSpPr/>
          <p:nvPr/>
        </p:nvSpPr>
        <p:spPr>
          <a:xfrm>
            <a:off x="2725461" y="3127248"/>
            <a:ext cx="2112813" cy="1371600"/>
          </a:xfrm>
          <a:prstGeom prst="roundRect">
            <a:avLst>
              <a:gd name="adj" fmla="val 5000"/>
            </a:avLst>
          </a:prstGeom>
          <a:solidFill>
            <a:srgbClr val="FFFFFF"/>
          </a:solidFill>
          <a:ln w="9525">
            <a:solidFill>
              <a:srgbClr val="DCE8E2"/>
            </a:solidFill>
            <a:prstDash val="solid"/>
          </a:ln>
          <a:effectLst>
            <a:outerShdw sx="100000" sy="100000" kx="0" ky="0" algn="bl" rotWithShape="0" blurRad="63500" dist="12700" dir="5400000">
              <a:srgbClr val="0E3B30">
                <a:alpha val="6000"/>
              </a:srgbClr>
            </a:outerShdw>
          </a:effectLst>
        </p:spPr>
      </p:sp>
      <p:sp>
        <p:nvSpPr>
          <p:cNvPr id="43" name="Shape 38"/>
          <p:cNvSpPr/>
          <p:nvPr/>
        </p:nvSpPr>
        <p:spPr>
          <a:xfrm>
            <a:off x="3608131" y="3273552"/>
            <a:ext cx="347472" cy="347472"/>
          </a:xfrm>
          <a:prstGeom prst="roundRect">
            <a:avLst>
              <a:gd name="adj" fmla="val 22000"/>
            </a:avLst>
          </a:prstGeom>
          <a:solidFill>
            <a:srgbClr val="095242"/>
          </a:solidFill>
          <a:ln/>
        </p:spPr>
      </p:sp>
      <p:sp>
        <p:nvSpPr>
          <p:cNvPr id="44" name="Text 39"/>
          <p:cNvSpPr/>
          <p:nvPr/>
        </p:nvSpPr>
        <p:spPr>
          <a:xfrm>
            <a:off x="3608131" y="3259836"/>
            <a:ext cx="347472" cy="347472"/>
          </a:xfrm>
          <a:prstGeom prst="rect">
            <a:avLst/>
          </a:prstGeom>
          <a:noFill/>
          <a:ln/>
        </p:spPr>
        <p:txBody>
          <a:bodyPr wrap="square" lIns="0" tIns="0" rIns="0" bIns="0" rtlCol="0" anchor="ctr"/>
          <a:lstStyle/>
          <a:p>
            <a:pPr rtl="1" algn="ctr" indent="0" marL="0">
              <a:buNone/>
            </a:pPr>
            <a:r>
              <a:rPr lang="ar-SA" altLang="en-US" sz="1150" b="1" dirty="0">
                <a:solidFill>
                  <a:srgbClr val="FFFFFF"/>
                </a:solidFill>
                <a:latin typeface="Tajawal" pitchFamily="34" charset="0"/>
                <a:ea typeface="Tajawal" pitchFamily="34" charset="-122"/>
                <a:cs typeface="Tajawal" pitchFamily="34" charset="-120"/>
              </a:rPr>
              <a:t>٩</a:t>
            </a:r>
            <a:endParaRPr lang="ar-SA" sz="1150" dirty="0"/>
          </a:p>
        </p:txBody>
      </p:sp>
      <p:sp>
        <p:nvSpPr>
          <p:cNvPr id="45" name="Text 40"/>
          <p:cNvSpPr/>
          <p:nvPr/>
        </p:nvSpPr>
        <p:spPr>
          <a:xfrm>
            <a:off x="2807757" y="3675888"/>
            <a:ext cx="1948221" cy="749808"/>
          </a:xfrm>
          <a:prstGeom prst="rect">
            <a:avLst/>
          </a:prstGeom>
          <a:noFill/>
          <a:ln/>
        </p:spPr>
        <p:txBody>
          <a:bodyPr wrap="square" lIns="0" tIns="0" rIns="0" bIns="0" rtlCol="0" anchor="ctr"/>
          <a:lstStyle/>
          <a:p>
            <a:pPr rtl="1" algn="ctr" indent="0" marL="0">
              <a:lnSpc>
                <a:spcPct val="105000"/>
              </a:lnSpc>
              <a:buNone/>
            </a:pPr>
            <a:r>
              <a:rPr lang="ar-SA" altLang="en-US" sz="930" b="1" dirty="0">
                <a:solidFill>
                  <a:srgbClr val="063E33"/>
                </a:solidFill>
                <a:latin typeface="Tajawal" pitchFamily="34" charset="0"/>
                <a:ea typeface="Tajawal" pitchFamily="34" charset="-122"/>
                <a:cs typeface="Tajawal" pitchFamily="34" charset="-120"/>
              </a:rPr>
              <a:t>الارتقاء بمستوى التجربة الرقمية</a:t>
            </a:r>
            <a:endParaRPr lang="ar-SA" sz="930" dirty="0"/>
          </a:p>
        </p:txBody>
      </p:sp>
      <p:sp>
        <p:nvSpPr>
          <p:cNvPr id="46" name="Shape 41"/>
          <p:cNvSpPr/>
          <p:nvPr/>
        </p:nvSpPr>
        <p:spPr>
          <a:xfrm>
            <a:off x="411480" y="3127248"/>
            <a:ext cx="2112813" cy="1371600"/>
          </a:xfrm>
          <a:prstGeom prst="roundRect">
            <a:avLst>
              <a:gd name="adj" fmla="val 5000"/>
            </a:avLst>
          </a:prstGeom>
          <a:solidFill>
            <a:srgbClr val="FFFFFF"/>
          </a:solidFill>
          <a:ln w="9525">
            <a:solidFill>
              <a:srgbClr val="DCE8E2"/>
            </a:solidFill>
            <a:prstDash val="solid"/>
          </a:ln>
          <a:effectLst>
            <a:outerShdw sx="100000" sy="100000" kx="0" ky="0" algn="bl" rotWithShape="0" blurRad="63500" dist="12700" dir="5400000">
              <a:srgbClr val="0E3B30">
                <a:alpha val="6000"/>
              </a:srgbClr>
            </a:outerShdw>
          </a:effectLst>
        </p:spPr>
      </p:sp>
      <p:sp>
        <p:nvSpPr>
          <p:cNvPr id="47" name="Shape 42"/>
          <p:cNvSpPr/>
          <p:nvPr/>
        </p:nvSpPr>
        <p:spPr>
          <a:xfrm>
            <a:off x="1294150" y="3273552"/>
            <a:ext cx="347472" cy="347472"/>
          </a:xfrm>
          <a:prstGeom prst="roundRect">
            <a:avLst>
              <a:gd name="adj" fmla="val 22000"/>
            </a:avLst>
          </a:prstGeom>
          <a:solidFill>
            <a:srgbClr val="095242"/>
          </a:solidFill>
          <a:ln/>
        </p:spPr>
      </p:sp>
      <p:sp>
        <p:nvSpPr>
          <p:cNvPr id="48" name="Text 43"/>
          <p:cNvSpPr/>
          <p:nvPr/>
        </p:nvSpPr>
        <p:spPr>
          <a:xfrm>
            <a:off x="1294150" y="3259836"/>
            <a:ext cx="347472" cy="347472"/>
          </a:xfrm>
          <a:prstGeom prst="rect">
            <a:avLst/>
          </a:prstGeom>
          <a:noFill/>
          <a:ln/>
        </p:spPr>
        <p:txBody>
          <a:bodyPr wrap="square" lIns="0" tIns="0" rIns="0" bIns="0" rtlCol="0" anchor="ctr"/>
          <a:lstStyle/>
          <a:p>
            <a:pPr rtl="1" algn="ctr" indent="0" marL="0">
              <a:buNone/>
            </a:pPr>
            <a:r>
              <a:rPr lang="ar-SA" altLang="en-US" sz="1150" b="1" dirty="0">
                <a:solidFill>
                  <a:srgbClr val="FFFFFF"/>
                </a:solidFill>
                <a:latin typeface="Tajawal" pitchFamily="34" charset="0"/>
                <a:ea typeface="Tajawal" pitchFamily="34" charset="-122"/>
                <a:cs typeface="Tajawal" pitchFamily="34" charset="-120"/>
              </a:rPr>
              <a:t>١٠</a:t>
            </a:r>
            <a:endParaRPr lang="ar-SA" sz="1150" dirty="0"/>
          </a:p>
        </p:txBody>
      </p:sp>
      <p:sp>
        <p:nvSpPr>
          <p:cNvPr id="49" name="Text 44"/>
          <p:cNvSpPr/>
          <p:nvPr/>
        </p:nvSpPr>
        <p:spPr>
          <a:xfrm>
            <a:off x="493776" y="3675888"/>
            <a:ext cx="1948221" cy="749808"/>
          </a:xfrm>
          <a:prstGeom prst="rect">
            <a:avLst/>
          </a:prstGeom>
          <a:noFill/>
          <a:ln/>
        </p:spPr>
        <p:txBody>
          <a:bodyPr wrap="square" lIns="0" tIns="0" rIns="0" bIns="0" rtlCol="0" anchor="ctr"/>
          <a:lstStyle/>
          <a:p>
            <a:pPr rtl="1" algn="ctr" indent="0" marL="0">
              <a:lnSpc>
                <a:spcPct val="105000"/>
              </a:lnSpc>
              <a:buNone/>
            </a:pPr>
            <a:r>
              <a:rPr lang="ar-SA" altLang="en-US" sz="930" b="1" dirty="0">
                <a:solidFill>
                  <a:srgbClr val="063E33"/>
                </a:solidFill>
                <a:latin typeface="Tajawal" pitchFamily="34" charset="0"/>
                <a:ea typeface="Tajawal" pitchFamily="34" charset="-122"/>
                <a:cs typeface="Tajawal" pitchFamily="34" charset="-120"/>
              </a:rPr>
              <a:t>تعزيز الحوكمة والالتزام وإدارة المخاطر</a:t>
            </a:r>
            <a:endParaRPr lang="ar-SA" sz="930" dirty="0"/>
          </a:p>
        </p:txBody>
      </p:sp>
      <p:sp>
        <p:nvSpPr>
          <p:cNvPr id="50" name="Shape 45"/>
          <p:cNvSpPr/>
          <p:nvPr/>
        </p:nvSpPr>
        <p:spPr>
          <a:xfrm>
            <a:off x="411480" y="4773168"/>
            <a:ext cx="11368735" cy="1700784"/>
          </a:xfrm>
          <a:prstGeom prst="roundRect">
            <a:avLst>
              <a:gd name="adj" fmla="val 4032"/>
            </a:avLst>
          </a:prstGeom>
          <a:solidFill>
            <a:srgbClr val="095242"/>
          </a:solidFill>
          <a:ln/>
        </p:spPr>
      </p:sp>
      <p:pic>
        <p:nvPicPr>
          <p:cNvPr id="51" name="Image 3" descr="/tmp/claude-0/-home-user-Mobile1/ab9bbf47-b054-5f6e-be59-70476e095ce8/scratchpad/assets/dots_white.png">    </p:cNvPr>
          <p:cNvPicPr>
            <a:picLocks noChangeAspect="1"/>
          </p:cNvPicPr>
          <p:nvPr/>
        </p:nvPicPr>
        <p:blipFill>
          <a:blip r:embed="rId4">
            <a:alphaModFix amt="40000"/>
          </a:blip>
          <a:stretch>
            <a:fillRect/>
          </a:stretch>
        </p:blipFill>
        <p:spPr>
          <a:xfrm>
            <a:off x="502920" y="4882896"/>
            <a:ext cx="1508760" cy="1005840"/>
          </a:xfrm>
          <a:prstGeom prst="rect">
            <a:avLst/>
          </a:prstGeom>
        </p:spPr>
      </p:pic>
      <p:sp>
        <p:nvSpPr>
          <p:cNvPr id="52" name="Text 46"/>
          <p:cNvSpPr/>
          <p:nvPr/>
        </p:nvSpPr>
        <p:spPr>
          <a:xfrm>
            <a:off x="731520" y="4882896"/>
            <a:ext cx="10682935" cy="329184"/>
          </a:xfrm>
          <a:prstGeom prst="rect">
            <a:avLst/>
          </a:prstGeom>
          <a:noFill/>
          <a:ln/>
        </p:spPr>
        <p:txBody>
          <a:bodyPr wrap="square" lIns="0" tIns="0" rIns="0" bIns="0" rtlCol="0" anchor="t"/>
          <a:lstStyle/>
          <a:p>
            <a:pPr rtl="1" algn="r" indent="0" marL="0">
              <a:buNone/>
            </a:pPr>
            <a:r>
              <a:rPr lang="ar-SA" altLang="en-US" sz="1250" b="1" dirty="0">
                <a:solidFill>
                  <a:srgbClr val="FFFFFF"/>
                </a:solidFill>
                <a:latin typeface="Tajawal" pitchFamily="34" charset="0"/>
                <a:ea typeface="Tajawal" pitchFamily="34" charset="-122"/>
                <a:cs typeface="Tajawal" pitchFamily="34" charset="-120"/>
              </a:rPr>
              <a:t>مواءمة برامج الخطة مع أهداف الوزارة</a:t>
            </a:r>
            <a:endParaRPr lang="ar-SA" sz="1250" dirty="0"/>
          </a:p>
        </p:txBody>
      </p:sp>
      <p:sp>
        <p:nvSpPr>
          <p:cNvPr id="53" name="Text 47"/>
          <p:cNvSpPr/>
          <p:nvPr/>
        </p:nvSpPr>
        <p:spPr>
          <a:xfrm>
            <a:off x="4983480" y="5248656"/>
            <a:ext cx="6476695" cy="868680"/>
          </a:xfrm>
          <a:prstGeom prst="rect">
            <a:avLst/>
          </a:prstGeom>
          <a:noFill/>
          <a:ln/>
        </p:spPr>
        <p:txBody>
          <a:bodyPr wrap="square" lIns="0" tIns="0" rIns="0" bIns="0" rtlCol="0" anchor="t"/>
          <a:lstStyle/>
          <a:p>
            <a:pPr rtl="1" algn="r" indent="0" marL="0">
              <a:lnSpc>
                <a:spcPct val="118000"/>
              </a:lnSpc>
              <a:buNone/>
            </a:pPr>
            <a:r>
              <a:rPr lang="ar-SA" altLang="en-US" sz="920" dirty="0">
                <a:solidFill>
                  <a:srgbClr val="D3E5DE"/>
                </a:solidFill>
                <a:latin typeface="Tajawal" pitchFamily="34" charset="0"/>
                <a:ea typeface="Tajawal" pitchFamily="34" charset="-122"/>
                <a:cs typeface="Tajawal" pitchFamily="34" charset="-120"/>
              </a:rPr>
              <a:t>تُربط كلّ برامج الخطة التشغيلية بهدف استراتيجي واحد على الأقل من الأهداف العشرة، ولكلّ برنامج رقم مؤشر اعتماد مدرسي يرتبط به ضمانًا للمواءمة الرأسية بين المستوى الميداني والمستوى الاستراتيجي.</a:t>
            </a:r>
            <a:endParaRPr lang="ar-SA" sz="920" dirty="0"/>
          </a:p>
        </p:txBody>
      </p:sp>
      <p:sp>
        <p:nvSpPr>
          <p:cNvPr id="54" name="Shape 48"/>
          <p:cNvSpPr/>
          <p:nvPr/>
        </p:nvSpPr>
        <p:spPr>
          <a:xfrm>
            <a:off x="3438144" y="5248656"/>
            <a:ext cx="1207008" cy="603504"/>
          </a:xfrm>
          <a:prstGeom prst="roundRect">
            <a:avLst>
              <a:gd name="adj" fmla="val 12121"/>
            </a:avLst>
          </a:prstGeom>
          <a:solidFill>
            <a:srgbClr val="FFFFFF">
              <a:alpha val="12000"/>
            </a:srgbClr>
          </a:solidFill>
          <a:ln w="9525">
            <a:solidFill>
              <a:srgbClr val="FFFFFF">
                <a:alpha val="40000"/>
              </a:srgbClr>
            </a:solidFill>
            <a:prstDash val="solid"/>
          </a:ln>
        </p:spPr>
      </p:sp>
      <p:sp>
        <p:nvSpPr>
          <p:cNvPr id="55" name="Text 49"/>
          <p:cNvSpPr/>
          <p:nvPr/>
        </p:nvSpPr>
        <p:spPr>
          <a:xfrm>
            <a:off x="3438144" y="5294376"/>
            <a:ext cx="1207008" cy="274320"/>
          </a:xfrm>
          <a:prstGeom prst="rect">
            <a:avLst/>
          </a:prstGeom>
          <a:noFill/>
          <a:ln/>
        </p:spPr>
        <p:txBody>
          <a:bodyPr wrap="square" lIns="0" tIns="0" rIns="0" bIns="0" rtlCol="0" anchor="t"/>
          <a:lstStyle/>
          <a:p>
            <a:pPr rtl="1" algn="ctr" indent="0" marL="0">
              <a:buNone/>
            </a:pPr>
            <a:r>
              <a:rPr lang="ar-SA" altLang="en-US" sz="1300" dirty="0">
                <a:solidFill>
                  <a:srgbClr val="FFFFFF"/>
                </a:solidFill>
                <a:latin typeface="Tajawal ExtraBold" pitchFamily="34" charset="0"/>
                <a:ea typeface="Tajawal ExtraBold" pitchFamily="34" charset="-122"/>
                <a:cs typeface="Tajawal ExtraBold" pitchFamily="34" charset="-120"/>
              </a:rPr>
              <a:t>١٠</a:t>
            </a:r>
            <a:endParaRPr lang="ar-SA" sz="1300" dirty="0"/>
          </a:p>
        </p:txBody>
      </p:sp>
      <p:sp>
        <p:nvSpPr>
          <p:cNvPr id="56" name="Text 50"/>
          <p:cNvSpPr/>
          <p:nvPr/>
        </p:nvSpPr>
        <p:spPr>
          <a:xfrm>
            <a:off x="3438144" y="5577840"/>
            <a:ext cx="1207008" cy="237744"/>
          </a:xfrm>
          <a:prstGeom prst="rect">
            <a:avLst/>
          </a:prstGeom>
          <a:noFill/>
          <a:ln/>
        </p:spPr>
        <p:txBody>
          <a:bodyPr wrap="square" lIns="0" tIns="0" rIns="0" bIns="0" rtlCol="0" anchor="t"/>
          <a:lstStyle/>
          <a:p>
            <a:pPr rtl="1" algn="ctr" indent="0" marL="0">
              <a:buNone/>
            </a:pPr>
            <a:r>
              <a:rPr lang="ar-SA" altLang="en-US" sz="800" dirty="0">
                <a:solidFill>
                  <a:srgbClr val="CFE2DB"/>
                </a:solidFill>
                <a:latin typeface="Tajawal" pitchFamily="34" charset="0"/>
                <a:ea typeface="Tajawal" pitchFamily="34" charset="-122"/>
                <a:cs typeface="Tajawal" pitchFamily="34" charset="-120"/>
              </a:rPr>
              <a:t>أهداف استراتيجية</a:t>
            </a:r>
            <a:endParaRPr lang="ar-SA" sz="800" dirty="0"/>
          </a:p>
        </p:txBody>
      </p:sp>
      <p:sp>
        <p:nvSpPr>
          <p:cNvPr id="57" name="Shape 51"/>
          <p:cNvSpPr/>
          <p:nvPr/>
        </p:nvSpPr>
        <p:spPr>
          <a:xfrm>
            <a:off x="2084832" y="5248656"/>
            <a:ext cx="1207008" cy="603504"/>
          </a:xfrm>
          <a:prstGeom prst="roundRect">
            <a:avLst>
              <a:gd name="adj" fmla="val 12121"/>
            </a:avLst>
          </a:prstGeom>
          <a:solidFill>
            <a:srgbClr val="FFFFFF">
              <a:alpha val="12000"/>
            </a:srgbClr>
          </a:solidFill>
          <a:ln w="9525">
            <a:solidFill>
              <a:srgbClr val="FFFFFF">
                <a:alpha val="40000"/>
              </a:srgbClr>
            </a:solidFill>
            <a:prstDash val="solid"/>
          </a:ln>
        </p:spPr>
      </p:sp>
      <p:sp>
        <p:nvSpPr>
          <p:cNvPr id="58" name="Text 52"/>
          <p:cNvSpPr/>
          <p:nvPr/>
        </p:nvSpPr>
        <p:spPr>
          <a:xfrm>
            <a:off x="2084832" y="5294376"/>
            <a:ext cx="1207008" cy="274320"/>
          </a:xfrm>
          <a:prstGeom prst="rect">
            <a:avLst/>
          </a:prstGeom>
          <a:noFill/>
          <a:ln/>
        </p:spPr>
        <p:txBody>
          <a:bodyPr wrap="square" lIns="0" tIns="0" rIns="0" bIns="0" rtlCol="0" anchor="t"/>
          <a:lstStyle/>
          <a:p>
            <a:pPr rtl="1" algn="ctr" indent="0" marL="0">
              <a:buNone/>
            </a:pPr>
            <a:r>
              <a:rPr lang="ar-SA" altLang="en-US" sz="1300" dirty="0">
                <a:solidFill>
                  <a:srgbClr val="FFFFFF"/>
                </a:solidFill>
                <a:latin typeface="Tajawal ExtraBold" pitchFamily="34" charset="0"/>
                <a:ea typeface="Tajawal ExtraBold" pitchFamily="34" charset="-122"/>
                <a:cs typeface="Tajawal ExtraBold" pitchFamily="34" charset="-120"/>
              </a:rPr>
              <a:t>١١٢</a:t>
            </a:r>
            <a:endParaRPr lang="ar-SA" sz="1300" dirty="0"/>
          </a:p>
        </p:txBody>
      </p:sp>
      <p:sp>
        <p:nvSpPr>
          <p:cNvPr id="59" name="Text 53"/>
          <p:cNvSpPr/>
          <p:nvPr/>
        </p:nvSpPr>
        <p:spPr>
          <a:xfrm>
            <a:off x="2084832" y="5577840"/>
            <a:ext cx="1207008" cy="237744"/>
          </a:xfrm>
          <a:prstGeom prst="rect">
            <a:avLst/>
          </a:prstGeom>
          <a:noFill/>
          <a:ln/>
        </p:spPr>
        <p:txBody>
          <a:bodyPr wrap="square" lIns="0" tIns="0" rIns="0" bIns="0" rtlCol="0" anchor="t"/>
          <a:lstStyle/>
          <a:p>
            <a:pPr rtl="1" algn="ctr" indent="0" marL="0">
              <a:buNone/>
            </a:pPr>
            <a:r>
              <a:rPr lang="ar-SA" altLang="en-US" sz="800" dirty="0">
                <a:solidFill>
                  <a:srgbClr val="CFE2DB"/>
                </a:solidFill>
                <a:latin typeface="Tajawal" pitchFamily="34" charset="0"/>
                <a:ea typeface="Tajawal" pitchFamily="34" charset="-122"/>
                <a:cs typeface="Tajawal" pitchFamily="34" charset="-120"/>
              </a:rPr>
              <a:t>برنامجًا تشغيليًا</a:t>
            </a:r>
            <a:endParaRPr lang="ar-SA" sz="800" dirty="0"/>
          </a:p>
        </p:txBody>
      </p:sp>
      <p:sp>
        <p:nvSpPr>
          <p:cNvPr id="60" name="Shape 54"/>
          <p:cNvSpPr/>
          <p:nvPr/>
        </p:nvSpPr>
        <p:spPr>
          <a:xfrm>
            <a:off x="731520" y="5248656"/>
            <a:ext cx="1207008" cy="603504"/>
          </a:xfrm>
          <a:prstGeom prst="roundRect">
            <a:avLst>
              <a:gd name="adj" fmla="val 12121"/>
            </a:avLst>
          </a:prstGeom>
          <a:solidFill>
            <a:srgbClr val="FFFFFF">
              <a:alpha val="12000"/>
            </a:srgbClr>
          </a:solidFill>
          <a:ln w="9525">
            <a:solidFill>
              <a:srgbClr val="FFFFFF">
                <a:alpha val="40000"/>
              </a:srgbClr>
            </a:solidFill>
            <a:prstDash val="solid"/>
          </a:ln>
        </p:spPr>
      </p:sp>
      <p:sp>
        <p:nvSpPr>
          <p:cNvPr id="61" name="Text 55"/>
          <p:cNvSpPr/>
          <p:nvPr/>
        </p:nvSpPr>
        <p:spPr>
          <a:xfrm>
            <a:off x="731520" y="5294376"/>
            <a:ext cx="1207008" cy="274320"/>
          </a:xfrm>
          <a:prstGeom prst="rect">
            <a:avLst/>
          </a:prstGeom>
          <a:noFill/>
          <a:ln/>
        </p:spPr>
        <p:txBody>
          <a:bodyPr wrap="square" lIns="0" tIns="0" rIns="0" bIns="0" rtlCol="0" anchor="t"/>
          <a:lstStyle/>
          <a:p>
            <a:pPr rtl="1" algn="ctr" indent="0" marL="0">
              <a:buNone/>
            </a:pPr>
            <a:r>
              <a:rPr lang="ar-SA" altLang="en-US" sz="1300" dirty="0">
                <a:solidFill>
                  <a:srgbClr val="FFFFFF"/>
                </a:solidFill>
                <a:latin typeface="Tajawal ExtraBold" pitchFamily="34" charset="0"/>
                <a:ea typeface="Tajawal ExtraBold" pitchFamily="34" charset="-122"/>
                <a:cs typeface="Tajawal ExtraBold" pitchFamily="34" charset="-120"/>
              </a:rPr>
              <a:t>٦٢</a:t>
            </a:r>
            <a:endParaRPr lang="ar-SA" sz="1300" dirty="0"/>
          </a:p>
        </p:txBody>
      </p:sp>
      <p:sp>
        <p:nvSpPr>
          <p:cNvPr id="62" name="Text 56"/>
          <p:cNvSpPr/>
          <p:nvPr/>
        </p:nvSpPr>
        <p:spPr>
          <a:xfrm>
            <a:off x="731520" y="5577840"/>
            <a:ext cx="1207008" cy="237744"/>
          </a:xfrm>
          <a:prstGeom prst="rect">
            <a:avLst/>
          </a:prstGeom>
          <a:noFill/>
          <a:ln/>
        </p:spPr>
        <p:txBody>
          <a:bodyPr wrap="square" lIns="0" tIns="0" rIns="0" bIns="0" rtlCol="0" anchor="t"/>
          <a:lstStyle/>
          <a:p>
            <a:pPr rtl="1" algn="ctr" indent="0" marL="0">
              <a:buNone/>
            </a:pPr>
            <a:r>
              <a:rPr lang="ar-SA" altLang="en-US" sz="800" dirty="0">
                <a:solidFill>
                  <a:srgbClr val="CFE2DB"/>
                </a:solidFill>
                <a:latin typeface="Tajawal" pitchFamily="34" charset="0"/>
                <a:ea typeface="Tajawal" pitchFamily="34" charset="-122"/>
                <a:cs typeface="Tajawal" pitchFamily="34" charset="-120"/>
              </a:rPr>
              <a:t>مؤشر اعتماد</a:t>
            </a:r>
            <a:endParaRPr lang="ar-SA"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tmp/claude-0/-home-user-Mobile1/ab9bbf47-b054-5f6e-be59-70476e095ce8/scratchpad/assets/bg_content.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11480" y="219456"/>
            <a:ext cx="786384" cy="608076"/>
          </a:xfrm>
          <a:prstGeom prst="rect">
            <a:avLst/>
          </a:prstGeom>
        </p:spPr>
      </p:pic>
      <p:sp>
        <p:nvSpPr>
          <p:cNvPr id="4" name="Shape 0"/>
          <p:cNvSpPr/>
          <p:nvPr/>
        </p:nvSpPr>
        <p:spPr>
          <a:xfrm>
            <a:off x="11268151" y="274320"/>
            <a:ext cx="512064" cy="512064"/>
          </a:xfrm>
          <a:prstGeom prst="roundRect">
            <a:avLst>
              <a:gd name="adj" fmla="val 21429"/>
            </a:avLst>
          </a:prstGeom>
          <a:solidFill>
            <a:srgbClr val="095242"/>
          </a:solidFill>
          <a:ln/>
        </p:spPr>
      </p:sp>
      <p:pic>
        <p:nvPicPr>
          <p:cNvPr id="5" name="Image 2" descr="/tmp/claude-0/-home-user-Mobile1/ab9bbf47-b054-5f6e-be59-70476e095ce8/scratchpad/assets/icons/pie_white.png">    </p:cNvPr>
          <p:cNvPicPr>
            <a:picLocks noChangeAspect="1"/>
          </p:cNvPicPr>
          <p:nvPr/>
        </p:nvPicPr>
        <p:blipFill>
          <a:blip r:embed="rId3"/>
          <a:stretch>
            <a:fillRect/>
          </a:stretch>
        </p:blipFill>
        <p:spPr>
          <a:xfrm>
            <a:off x="11387023" y="393192"/>
            <a:ext cx="274320" cy="274320"/>
          </a:xfrm>
          <a:prstGeom prst="rect">
            <a:avLst/>
          </a:prstGeom>
        </p:spPr>
      </p:pic>
      <p:sp>
        <p:nvSpPr>
          <p:cNvPr id="6" name="Text 1"/>
          <p:cNvSpPr/>
          <p:nvPr/>
        </p:nvSpPr>
        <p:spPr>
          <a:xfrm>
            <a:off x="2926080" y="274320"/>
            <a:ext cx="8177479" cy="512064"/>
          </a:xfrm>
          <a:prstGeom prst="rect">
            <a:avLst/>
          </a:prstGeom>
          <a:noFill/>
          <a:ln/>
        </p:spPr>
        <p:txBody>
          <a:bodyPr wrap="square" lIns="0" tIns="0" rIns="0" bIns="0" rtlCol="0" anchor="ctr"/>
          <a:lstStyle/>
          <a:p>
            <a:pPr rtl="1" algn="r" indent="0" marL="0">
              <a:buNone/>
            </a:pPr>
            <a:r>
              <a:rPr lang="ar-SA" altLang="en-US" sz="2000" b="1" dirty="0">
                <a:solidFill>
                  <a:srgbClr val="0F2A21"/>
                </a:solidFill>
                <a:latin typeface="Tajawal" pitchFamily="34" charset="0"/>
                <a:ea typeface="Tajawal" pitchFamily="34" charset="-122"/>
                <a:cs typeface="Tajawal" pitchFamily="34" charset="-120"/>
              </a:rPr>
              <a:t>التوزيع الكمي للأهداف</a:t>
            </a:r>
            <a:endParaRPr lang="ar-SA" sz="2000" dirty="0"/>
          </a:p>
        </p:txBody>
      </p:sp>
      <p:sp>
        <p:nvSpPr>
          <p:cNvPr id="7" name="Text 2"/>
          <p:cNvSpPr/>
          <p:nvPr/>
        </p:nvSpPr>
        <p:spPr>
          <a:xfrm>
            <a:off x="7665415" y="6519672"/>
            <a:ext cx="4114800" cy="274320"/>
          </a:xfrm>
          <a:prstGeom prst="rect">
            <a:avLst/>
          </a:prstGeom>
          <a:noFill/>
          <a:ln/>
        </p:spPr>
        <p:txBody>
          <a:bodyPr wrap="square" lIns="0" tIns="0" rIns="0" bIns="0" rtlCol="0" anchor="t"/>
          <a:lstStyle/>
          <a:p>
            <a:pPr rtl="1" algn="r" indent="0" marL="0">
              <a:buNone/>
            </a:pPr>
            <a:r>
              <a:rPr lang="ar-SA" altLang="en-US" sz="800" dirty="0">
                <a:solidFill>
                  <a:srgbClr val="7C8F87"/>
                </a:solidFill>
                <a:latin typeface="Tajawal" pitchFamily="34" charset="0"/>
                <a:ea typeface="Tajawal" pitchFamily="34" charset="-122"/>
                <a:cs typeface="Tajawal" pitchFamily="34" charset="-120"/>
              </a:rPr>
              <a:t>الخطة التشغيلية للعام الدراسي ١٤٤٨هـ</a:t>
            </a:r>
            <a:endParaRPr lang="ar-SA" sz="800" dirty="0"/>
          </a:p>
        </p:txBody>
      </p:sp>
      <p:sp>
        <p:nvSpPr>
          <p:cNvPr id="8" name="Text 3"/>
          <p:cNvSpPr/>
          <p:nvPr/>
        </p:nvSpPr>
        <p:spPr>
          <a:xfrm>
            <a:off x="411480" y="6519672"/>
            <a:ext cx="914400" cy="274320"/>
          </a:xfrm>
          <a:prstGeom prst="rect">
            <a:avLst/>
          </a:prstGeom>
          <a:noFill/>
          <a:ln/>
        </p:spPr>
        <p:txBody>
          <a:bodyPr wrap="square" lIns="0" tIns="0" rIns="0" bIns="0" rtlCol="0" anchor="t"/>
          <a:lstStyle/>
          <a:p>
            <a:pPr rtl="1" algn="l" indent="0" marL="0">
              <a:buNone/>
            </a:pPr>
            <a:r>
              <a:rPr lang="ar-SA" altLang="en-US" sz="850" b="1" dirty="0">
                <a:solidFill>
                  <a:srgbClr val="7C8F87"/>
                </a:solidFill>
                <a:latin typeface="Tajawal" pitchFamily="34" charset="0"/>
                <a:ea typeface="Tajawal" pitchFamily="34" charset="-122"/>
                <a:cs typeface="Tajawal" pitchFamily="34" charset="-120"/>
              </a:rPr>
              <a:t>١٤</a:t>
            </a:r>
            <a:endParaRPr lang="ar-SA" sz="850" dirty="0"/>
          </a:p>
        </p:txBody>
      </p:sp>
      <p:sp>
        <p:nvSpPr>
          <p:cNvPr id="9" name="Shape 4"/>
          <p:cNvSpPr/>
          <p:nvPr/>
        </p:nvSpPr>
        <p:spPr>
          <a:xfrm>
            <a:off x="9143771" y="1024128"/>
            <a:ext cx="2636444" cy="841248"/>
          </a:xfrm>
          <a:prstGeom prst="roundRect">
            <a:avLst>
              <a:gd name="adj" fmla="val 8152"/>
            </a:avLst>
          </a:prstGeom>
          <a:solidFill>
            <a:srgbClr val="095242"/>
          </a:solidFill>
          <a:ln/>
        </p:spPr>
      </p:sp>
      <p:sp>
        <p:nvSpPr>
          <p:cNvPr id="10" name="Text 5"/>
          <p:cNvSpPr/>
          <p:nvPr/>
        </p:nvSpPr>
        <p:spPr>
          <a:xfrm>
            <a:off x="9326651" y="1024128"/>
            <a:ext cx="1107306" cy="841248"/>
          </a:xfrm>
          <a:prstGeom prst="rect">
            <a:avLst/>
          </a:prstGeom>
          <a:noFill/>
          <a:ln/>
        </p:spPr>
        <p:txBody>
          <a:bodyPr wrap="square" lIns="0" tIns="0" rIns="0" bIns="0" rtlCol="0" anchor="ctr"/>
          <a:lstStyle/>
          <a:p>
            <a:pPr rtl="1" algn="ctr" indent="0" marL="0">
              <a:buNone/>
            </a:pPr>
            <a:r>
              <a:rPr lang="ar-SA" altLang="en-US" sz="2400" dirty="0">
                <a:solidFill>
                  <a:srgbClr val="FFFFFF"/>
                </a:solidFill>
                <a:latin typeface="Tajawal ExtraBold" pitchFamily="34" charset="0"/>
                <a:ea typeface="Tajawal ExtraBold" pitchFamily="34" charset="-122"/>
                <a:cs typeface="Tajawal ExtraBold" pitchFamily="34" charset="-120"/>
              </a:rPr>
              <a:t>١٠</a:t>
            </a:r>
            <a:endParaRPr lang="ar-SA" sz="2400" dirty="0"/>
          </a:p>
        </p:txBody>
      </p:sp>
      <p:sp>
        <p:nvSpPr>
          <p:cNvPr id="11" name="Text 6"/>
          <p:cNvSpPr/>
          <p:nvPr/>
        </p:nvSpPr>
        <p:spPr>
          <a:xfrm>
            <a:off x="10251078" y="1024128"/>
            <a:ext cx="1391977" cy="841248"/>
          </a:xfrm>
          <a:prstGeom prst="rect">
            <a:avLst/>
          </a:prstGeom>
          <a:noFill/>
          <a:ln/>
        </p:spPr>
        <p:txBody>
          <a:bodyPr wrap="square" lIns="0" tIns="0" rIns="0" bIns="0" rtlCol="0" anchor="ctr"/>
          <a:lstStyle/>
          <a:p>
            <a:pPr rtl="1" algn="r" indent="0" marL="0">
              <a:buNone/>
            </a:pPr>
            <a:r>
              <a:rPr lang="ar-SA" altLang="en-US" sz="1100" b="1" dirty="0">
                <a:solidFill>
                  <a:srgbClr val="CFE2DB"/>
                </a:solidFill>
                <a:latin typeface="Tajawal" pitchFamily="34" charset="0"/>
                <a:ea typeface="Tajawal" pitchFamily="34" charset="-122"/>
                <a:cs typeface="Tajawal" pitchFamily="34" charset="-120"/>
              </a:rPr>
              <a:t>إجمالي الأهداف</a:t>
            </a:r>
            <a:endParaRPr lang="ar-SA" sz="1100" dirty="0"/>
          </a:p>
        </p:txBody>
      </p:sp>
      <p:sp>
        <p:nvSpPr>
          <p:cNvPr id="12" name="Shape 7"/>
          <p:cNvSpPr/>
          <p:nvPr/>
        </p:nvSpPr>
        <p:spPr>
          <a:xfrm>
            <a:off x="6233008" y="1024128"/>
            <a:ext cx="2636444" cy="841248"/>
          </a:xfrm>
          <a:prstGeom prst="roundRect">
            <a:avLst>
              <a:gd name="adj" fmla="val 8152"/>
            </a:avLst>
          </a:prstGeom>
          <a:solidFill>
            <a:srgbClr val="FFFFFF"/>
          </a:solidFill>
          <a:ln w="12700">
            <a:solidFill>
              <a:srgbClr val="095242"/>
            </a:solidFill>
            <a:prstDash val="solid"/>
          </a:ln>
        </p:spPr>
      </p:sp>
      <p:sp>
        <p:nvSpPr>
          <p:cNvPr id="13" name="Text 8"/>
          <p:cNvSpPr/>
          <p:nvPr/>
        </p:nvSpPr>
        <p:spPr>
          <a:xfrm>
            <a:off x="6415888" y="1024128"/>
            <a:ext cx="1107306" cy="841248"/>
          </a:xfrm>
          <a:prstGeom prst="rect">
            <a:avLst/>
          </a:prstGeom>
          <a:noFill/>
          <a:ln/>
        </p:spPr>
        <p:txBody>
          <a:bodyPr wrap="square" lIns="0" tIns="0" rIns="0" bIns="0" rtlCol="0" anchor="ctr"/>
          <a:lstStyle/>
          <a:p>
            <a:pPr rtl="1" algn="ctr" indent="0" marL="0">
              <a:buNone/>
            </a:pPr>
            <a:r>
              <a:rPr lang="ar-SA" altLang="en-US" sz="2400" dirty="0">
                <a:solidFill>
                  <a:srgbClr val="095242"/>
                </a:solidFill>
                <a:latin typeface="Tajawal ExtraBold" pitchFamily="34" charset="0"/>
                <a:ea typeface="Tajawal ExtraBold" pitchFamily="34" charset="-122"/>
                <a:cs typeface="Tajawal ExtraBold" pitchFamily="34" charset="-120"/>
              </a:rPr>
              <a:t>٤</a:t>
            </a:r>
            <a:endParaRPr lang="ar-SA" sz="2400" dirty="0"/>
          </a:p>
        </p:txBody>
      </p:sp>
      <p:sp>
        <p:nvSpPr>
          <p:cNvPr id="14" name="Text 9"/>
          <p:cNvSpPr/>
          <p:nvPr/>
        </p:nvSpPr>
        <p:spPr>
          <a:xfrm>
            <a:off x="7340314" y="1024128"/>
            <a:ext cx="1391977" cy="841248"/>
          </a:xfrm>
          <a:prstGeom prst="rect">
            <a:avLst/>
          </a:prstGeom>
          <a:noFill/>
          <a:ln/>
        </p:spPr>
        <p:txBody>
          <a:bodyPr wrap="square" lIns="0" tIns="0" rIns="0" bIns="0" rtlCol="0" anchor="ctr"/>
          <a:lstStyle/>
          <a:p>
            <a:pPr rtl="1" algn="r" indent="0" marL="0">
              <a:buNone/>
            </a:pPr>
            <a:r>
              <a:rPr lang="ar-SA" altLang="en-US" sz="1100" b="1" dirty="0">
                <a:solidFill>
                  <a:srgbClr val="33473F"/>
                </a:solidFill>
                <a:latin typeface="Tajawal" pitchFamily="34" charset="0"/>
                <a:ea typeface="Tajawal" pitchFamily="34" charset="-122"/>
                <a:cs typeface="Tajawal" pitchFamily="34" charset="-120"/>
              </a:rPr>
              <a:t>إجمالي المجالات</a:t>
            </a:r>
            <a:endParaRPr lang="ar-SA" sz="1100" dirty="0"/>
          </a:p>
        </p:txBody>
      </p:sp>
      <p:sp>
        <p:nvSpPr>
          <p:cNvPr id="15" name="Shape 10"/>
          <p:cNvSpPr/>
          <p:nvPr/>
        </p:nvSpPr>
        <p:spPr>
          <a:xfrm>
            <a:off x="3322244" y="1024128"/>
            <a:ext cx="2636444" cy="841248"/>
          </a:xfrm>
          <a:prstGeom prst="roundRect">
            <a:avLst>
              <a:gd name="adj" fmla="val 8152"/>
            </a:avLst>
          </a:prstGeom>
          <a:solidFill>
            <a:srgbClr val="095242"/>
          </a:solidFill>
          <a:ln/>
        </p:spPr>
      </p:sp>
      <p:sp>
        <p:nvSpPr>
          <p:cNvPr id="16" name="Text 11"/>
          <p:cNvSpPr/>
          <p:nvPr/>
        </p:nvSpPr>
        <p:spPr>
          <a:xfrm>
            <a:off x="3505124" y="1024128"/>
            <a:ext cx="1107306" cy="841248"/>
          </a:xfrm>
          <a:prstGeom prst="rect">
            <a:avLst/>
          </a:prstGeom>
          <a:noFill/>
          <a:ln/>
        </p:spPr>
        <p:txBody>
          <a:bodyPr wrap="square" lIns="0" tIns="0" rIns="0" bIns="0" rtlCol="0" anchor="ctr"/>
          <a:lstStyle/>
          <a:p>
            <a:pPr rtl="1" algn="ctr" indent="0" marL="0">
              <a:buNone/>
            </a:pPr>
            <a:r>
              <a:rPr lang="ar-SA" altLang="en-US" sz="2400" dirty="0">
                <a:solidFill>
                  <a:srgbClr val="FFFFFF"/>
                </a:solidFill>
                <a:latin typeface="Tajawal ExtraBold" pitchFamily="34" charset="0"/>
                <a:ea typeface="Tajawal ExtraBold" pitchFamily="34" charset="-122"/>
                <a:cs typeface="Tajawal ExtraBold" pitchFamily="34" charset="-120"/>
              </a:rPr>
              <a:t>٦٢</a:t>
            </a:r>
            <a:endParaRPr lang="ar-SA" sz="2400" dirty="0"/>
          </a:p>
        </p:txBody>
      </p:sp>
      <p:sp>
        <p:nvSpPr>
          <p:cNvPr id="17" name="Text 12"/>
          <p:cNvSpPr/>
          <p:nvPr/>
        </p:nvSpPr>
        <p:spPr>
          <a:xfrm>
            <a:off x="4429550" y="1024128"/>
            <a:ext cx="1391977" cy="841248"/>
          </a:xfrm>
          <a:prstGeom prst="rect">
            <a:avLst/>
          </a:prstGeom>
          <a:noFill/>
          <a:ln/>
        </p:spPr>
        <p:txBody>
          <a:bodyPr wrap="square" lIns="0" tIns="0" rIns="0" bIns="0" rtlCol="0" anchor="ctr"/>
          <a:lstStyle/>
          <a:p>
            <a:pPr rtl="1" algn="r" indent="0" marL="0">
              <a:buNone/>
            </a:pPr>
            <a:r>
              <a:rPr lang="ar-SA" altLang="en-US" sz="1100" b="1" dirty="0">
                <a:solidFill>
                  <a:srgbClr val="CFE2DB"/>
                </a:solidFill>
                <a:latin typeface="Tajawal" pitchFamily="34" charset="0"/>
                <a:ea typeface="Tajawal" pitchFamily="34" charset="-122"/>
                <a:cs typeface="Tajawal" pitchFamily="34" charset="-120"/>
              </a:rPr>
              <a:t>إجمالي المؤشرات</a:t>
            </a:r>
            <a:endParaRPr lang="ar-SA" sz="1100" dirty="0"/>
          </a:p>
        </p:txBody>
      </p:sp>
      <p:sp>
        <p:nvSpPr>
          <p:cNvPr id="18" name="Shape 13"/>
          <p:cNvSpPr/>
          <p:nvPr/>
        </p:nvSpPr>
        <p:spPr>
          <a:xfrm>
            <a:off x="411480" y="1024128"/>
            <a:ext cx="2636444" cy="841248"/>
          </a:xfrm>
          <a:prstGeom prst="roundRect">
            <a:avLst>
              <a:gd name="adj" fmla="val 8152"/>
            </a:avLst>
          </a:prstGeom>
          <a:solidFill>
            <a:srgbClr val="FFFFFF"/>
          </a:solidFill>
          <a:ln w="12700">
            <a:solidFill>
              <a:srgbClr val="095242"/>
            </a:solidFill>
            <a:prstDash val="solid"/>
          </a:ln>
        </p:spPr>
      </p:sp>
      <p:sp>
        <p:nvSpPr>
          <p:cNvPr id="19" name="Text 14"/>
          <p:cNvSpPr/>
          <p:nvPr/>
        </p:nvSpPr>
        <p:spPr>
          <a:xfrm>
            <a:off x="594360" y="1024128"/>
            <a:ext cx="1107306" cy="841248"/>
          </a:xfrm>
          <a:prstGeom prst="rect">
            <a:avLst/>
          </a:prstGeom>
          <a:noFill/>
          <a:ln/>
        </p:spPr>
        <p:txBody>
          <a:bodyPr wrap="square" lIns="0" tIns="0" rIns="0" bIns="0" rtlCol="0" anchor="ctr"/>
          <a:lstStyle/>
          <a:p>
            <a:pPr rtl="1" algn="ctr" indent="0" marL="0">
              <a:buNone/>
            </a:pPr>
            <a:r>
              <a:rPr lang="ar-SA" altLang="en-US" sz="2400" dirty="0">
                <a:solidFill>
                  <a:srgbClr val="095242"/>
                </a:solidFill>
                <a:latin typeface="Tajawal ExtraBold" pitchFamily="34" charset="0"/>
                <a:ea typeface="Tajawal ExtraBold" pitchFamily="34" charset="-122"/>
                <a:cs typeface="Tajawal ExtraBold" pitchFamily="34" charset="-120"/>
              </a:rPr>
              <a:t>١١٢</a:t>
            </a:r>
            <a:endParaRPr lang="ar-SA" sz="2400" dirty="0"/>
          </a:p>
        </p:txBody>
      </p:sp>
      <p:sp>
        <p:nvSpPr>
          <p:cNvPr id="20" name="Text 15"/>
          <p:cNvSpPr/>
          <p:nvPr/>
        </p:nvSpPr>
        <p:spPr>
          <a:xfrm>
            <a:off x="1518786" y="1024128"/>
            <a:ext cx="1391977" cy="841248"/>
          </a:xfrm>
          <a:prstGeom prst="rect">
            <a:avLst/>
          </a:prstGeom>
          <a:noFill/>
          <a:ln/>
        </p:spPr>
        <p:txBody>
          <a:bodyPr wrap="square" lIns="0" tIns="0" rIns="0" bIns="0" rtlCol="0" anchor="ctr"/>
          <a:lstStyle/>
          <a:p>
            <a:pPr rtl="1" algn="r" indent="0" marL="0">
              <a:buNone/>
            </a:pPr>
            <a:r>
              <a:rPr lang="ar-SA" altLang="en-US" sz="1100" b="1" dirty="0">
                <a:solidFill>
                  <a:srgbClr val="33473F"/>
                </a:solidFill>
                <a:latin typeface="Tajawal" pitchFamily="34" charset="0"/>
                <a:ea typeface="Tajawal" pitchFamily="34" charset="-122"/>
                <a:cs typeface="Tajawal" pitchFamily="34" charset="-120"/>
              </a:rPr>
              <a:t>إجمالي البرامج</a:t>
            </a:r>
            <a:endParaRPr lang="ar-SA"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821631" y="2084832"/>
          <a:ext cx="6958584" cy="914400"/>
        </p:xfrm>
        <a:graphic>
          <a:graphicData uri="http://schemas.openxmlformats.org/drawingml/2006/table">
            <a:tbl>
              <a:tblPr/>
              <a:tblGrid>
                <a:gridCol w="914400"/>
                <a:gridCol w="868680"/>
                <a:gridCol w="868680"/>
                <a:gridCol w="1325880"/>
                <a:gridCol w="2651760"/>
                <a:gridCol w="329184"/>
              </a:tblGrid>
              <a:tr h="310896">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النسبة المئوية</a:t>
                      </a:r>
                      <a:endParaRPr lang="ar-SA" sz="8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البرامج</a:t>
                      </a:r>
                      <a:endParaRPr lang="ar-SA" sz="8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المؤشرات</a:t>
                      </a:r>
                      <a:endParaRPr lang="ar-SA" sz="8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المجال</a:t>
                      </a:r>
                      <a:endParaRPr lang="ar-SA" sz="8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الهدف الاستراتيجي</a:t>
                      </a:r>
                      <a:endParaRPr lang="ar-SA" sz="8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م</a:t>
                      </a:r>
                      <a:endParaRPr lang="ar-SA" sz="8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r>
              <a:tr h="329184">
                <a:tc>
                  <a:txBody>
                    <a:bodyPr/>
                    <a:lstStyle/>
                    <a:p>
                      <a:pPr rtl="1" algn="ctr" indent="0" marL="0">
                        <a:buNone/>
                      </a:pPr>
                      <a:r>
                        <a:rPr lang="ar-SA" altLang="en-US" sz="820" b="1" dirty="0">
                          <a:solidFill>
                            <a:srgbClr val="095242"/>
                          </a:solidFill>
                          <a:latin typeface="Tajawal" pitchFamily="34" charset="0"/>
                          <a:ea typeface="Tajawal" pitchFamily="34" charset="-122"/>
                          <a:cs typeface="Tajawal" pitchFamily="34" charset="-120"/>
                        </a:rPr>
                        <a:t>٩٫٦٪</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١١</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٨</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التعليم والتعلّم</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820" dirty="0">
                          <a:solidFill>
                            <a:srgbClr val="063E33"/>
                          </a:solidFill>
                          <a:latin typeface="Tajawal" pitchFamily="34" charset="0"/>
                          <a:ea typeface="Tajawal" pitchFamily="34" charset="-122"/>
                          <a:cs typeface="Tajawal" pitchFamily="34" charset="-120"/>
                        </a:rPr>
                        <a:t>ضمان وصول التعليم للجميع</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20" b="1" dirty="0">
                          <a:solidFill>
                            <a:srgbClr val="33473F"/>
                          </a:solidFill>
                          <a:latin typeface="Tajawal" pitchFamily="34" charset="0"/>
                          <a:ea typeface="Tajawal" pitchFamily="34" charset="-122"/>
                          <a:cs typeface="Tajawal" pitchFamily="34" charset="-120"/>
                        </a:rPr>
                        <a:t>١</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29184">
                <a:tc>
                  <a:txBody>
                    <a:bodyPr/>
                    <a:lstStyle/>
                    <a:p>
                      <a:pPr rtl="1" algn="ctr" indent="0" marL="0">
                        <a:buNone/>
                      </a:pPr>
                      <a:r>
                        <a:rPr lang="ar-SA" altLang="en-US" sz="820" b="1" dirty="0">
                          <a:solidFill>
                            <a:srgbClr val="095242"/>
                          </a:solidFill>
                          <a:latin typeface="Tajawal" pitchFamily="34" charset="0"/>
                          <a:ea typeface="Tajawal" pitchFamily="34" charset="-122"/>
                          <a:cs typeface="Tajawal" pitchFamily="34" charset="-120"/>
                        </a:rPr>
                        <a:t>١٠٫٥٪</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١٢</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١٠</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البيئة المدرسية</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820" dirty="0">
                          <a:solidFill>
                            <a:srgbClr val="063E33"/>
                          </a:solidFill>
                          <a:latin typeface="Tajawal" pitchFamily="34" charset="0"/>
                          <a:ea typeface="Tajawal" pitchFamily="34" charset="-122"/>
                          <a:cs typeface="Tajawal" pitchFamily="34" charset="-120"/>
                        </a:rPr>
                        <a:t>تطوير بيئة مدرسية آمنة وابتكارية</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20" b="1" dirty="0">
                          <a:solidFill>
                            <a:srgbClr val="33473F"/>
                          </a:solidFill>
                          <a:latin typeface="Tajawal" pitchFamily="34" charset="0"/>
                          <a:ea typeface="Tajawal" pitchFamily="34" charset="-122"/>
                          <a:cs typeface="Tajawal" pitchFamily="34" charset="-120"/>
                        </a:rPr>
                        <a:t>٢</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29184">
                <a:tc>
                  <a:txBody>
                    <a:bodyPr/>
                    <a:lstStyle/>
                    <a:p>
                      <a:pPr rtl="1" algn="ctr" indent="0" marL="0">
                        <a:buNone/>
                      </a:pPr>
                      <a:r>
                        <a:rPr lang="ar-SA" altLang="en-US" sz="820" b="1" dirty="0">
                          <a:solidFill>
                            <a:srgbClr val="095242"/>
                          </a:solidFill>
                          <a:latin typeface="Tajawal" pitchFamily="34" charset="0"/>
                          <a:ea typeface="Tajawal" pitchFamily="34" charset="-122"/>
                          <a:cs typeface="Tajawal" pitchFamily="34" charset="-120"/>
                        </a:rPr>
                        <a:t>١٠٫٥٪</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١٢</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٦</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القيم والمواطنة</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820" dirty="0">
                          <a:solidFill>
                            <a:srgbClr val="063E33"/>
                          </a:solidFill>
                          <a:latin typeface="Tajawal" pitchFamily="34" charset="0"/>
                          <a:ea typeface="Tajawal" pitchFamily="34" charset="-122"/>
                          <a:cs typeface="Tajawal" pitchFamily="34" charset="-120"/>
                        </a:rPr>
                        <a:t>تعزيز القيم والهوية الوطنية</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20" b="1" dirty="0">
                          <a:solidFill>
                            <a:srgbClr val="33473F"/>
                          </a:solidFill>
                          <a:latin typeface="Tajawal" pitchFamily="34" charset="0"/>
                          <a:ea typeface="Tajawal" pitchFamily="34" charset="-122"/>
                          <a:cs typeface="Tajawal" pitchFamily="34" charset="-120"/>
                        </a:rPr>
                        <a:t>٣</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29184">
                <a:tc>
                  <a:txBody>
                    <a:bodyPr/>
                    <a:lstStyle/>
                    <a:p>
                      <a:pPr rtl="1" algn="ctr" indent="0" marL="0">
                        <a:buNone/>
                      </a:pPr>
                      <a:r>
                        <a:rPr lang="ar-SA" altLang="en-US" sz="820" b="1" dirty="0">
                          <a:solidFill>
                            <a:srgbClr val="095242"/>
                          </a:solidFill>
                          <a:latin typeface="Tajawal" pitchFamily="34" charset="0"/>
                          <a:ea typeface="Tajawal" pitchFamily="34" charset="-122"/>
                          <a:cs typeface="Tajawal" pitchFamily="34" charset="-120"/>
                        </a:rPr>
                        <a:t>٨٫٨٪</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١٠</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٥</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الخدمات المساندة</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820" dirty="0">
                          <a:solidFill>
                            <a:srgbClr val="063E33"/>
                          </a:solidFill>
                          <a:latin typeface="Tajawal" pitchFamily="34" charset="0"/>
                          <a:ea typeface="Tajawal" pitchFamily="34" charset="-122"/>
                          <a:cs typeface="Tajawal" pitchFamily="34" charset="-120"/>
                        </a:rPr>
                        <a:t>تحسين تجربة المستفيدين</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20" b="1" dirty="0">
                          <a:solidFill>
                            <a:srgbClr val="33473F"/>
                          </a:solidFill>
                          <a:latin typeface="Tajawal" pitchFamily="34" charset="0"/>
                          <a:ea typeface="Tajawal" pitchFamily="34" charset="-122"/>
                          <a:cs typeface="Tajawal" pitchFamily="34" charset="-120"/>
                        </a:rPr>
                        <a:t>٤</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29184">
                <a:tc>
                  <a:txBody>
                    <a:bodyPr/>
                    <a:lstStyle/>
                    <a:p>
                      <a:pPr rtl="1" algn="ctr" indent="0" marL="0">
                        <a:buNone/>
                      </a:pPr>
                      <a:r>
                        <a:rPr lang="ar-SA" altLang="en-US" sz="820" b="1" dirty="0">
                          <a:solidFill>
                            <a:srgbClr val="095242"/>
                          </a:solidFill>
                          <a:latin typeface="Tajawal" pitchFamily="34" charset="0"/>
                          <a:ea typeface="Tajawal" pitchFamily="34" charset="-122"/>
                          <a:cs typeface="Tajawal" pitchFamily="34" charset="-120"/>
                        </a:rPr>
                        <a:t>١٠٫٥٪</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١٢</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٦</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التعليم والتعلّم</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820" dirty="0">
                          <a:solidFill>
                            <a:srgbClr val="063E33"/>
                          </a:solidFill>
                          <a:latin typeface="Tajawal" pitchFamily="34" charset="0"/>
                          <a:ea typeface="Tajawal" pitchFamily="34" charset="-122"/>
                          <a:cs typeface="Tajawal" pitchFamily="34" charset="-120"/>
                        </a:rPr>
                        <a:t>الاستثمار في الطلاب والمدارس الأولى بالرعاية</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20" b="1" dirty="0">
                          <a:solidFill>
                            <a:srgbClr val="33473F"/>
                          </a:solidFill>
                          <a:latin typeface="Tajawal" pitchFamily="34" charset="0"/>
                          <a:ea typeface="Tajawal" pitchFamily="34" charset="-122"/>
                          <a:cs typeface="Tajawal" pitchFamily="34" charset="-120"/>
                        </a:rPr>
                        <a:t>٥</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29184">
                <a:tc>
                  <a:txBody>
                    <a:bodyPr/>
                    <a:lstStyle/>
                    <a:p>
                      <a:pPr rtl="1" algn="ctr" indent="0" marL="0">
                        <a:buNone/>
                      </a:pPr>
                      <a:r>
                        <a:rPr lang="ar-SA" altLang="en-US" sz="820" b="1" dirty="0">
                          <a:solidFill>
                            <a:srgbClr val="095242"/>
                          </a:solidFill>
                          <a:latin typeface="Tajawal" pitchFamily="34" charset="0"/>
                          <a:ea typeface="Tajawal" pitchFamily="34" charset="-122"/>
                          <a:cs typeface="Tajawal" pitchFamily="34" charset="-120"/>
                        </a:rPr>
                        <a:t>٩٫٦٪</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١١</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٥</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الشراكة المجتمعية</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820" dirty="0">
                          <a:solidFill>
                            <a:srgbClr val="063E33"/>
                          </a:solidFill>
                          <a:latin typeface="Tajawal" pitchFamily="34" charset="0"/>
                          <a:ea typeface="Tajawal" pitchFamily="34" charset="-122"/>
                          <a:cs typeface="Tajawal" pitchFamily="34" charset="-120"/>
                        </a:rPr>
                        <a:t>تحسين أداء المدارس وتعزيز شراكتها مع المجتمع</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20" b="1" dirty="0">
                          <a:solidFill>
                            <a:srgbClr val="33473F"/>
                          </a:solidFill>
                          <a:latin typeface="Tajawal" pitchFamily="34" charset="0"/>
                          <a:ea typeface="Tajawal" pitchFamily="34" charset="-122"/>
                          <a:cs typeface="Tajawal" pitchFamily="34" charset="-120"/>
                        </a:rPr>
                        <a:t>٦</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29184">
                <a:tc>
                  <a:txBody>
                    <a:bodyPr/>
                    <a:lstStyle/>
                    <a:p>
                      <a:pPr rtl="1" algn="ctr" indent="0" marL="0">
                        <a:buNone/>
                      </a:pPr>
                      <a:r>
                        <a:rPr lang="ar-SA" altLang="en-US" sz="820" b="1" dirty="0">
                          <a:solidFill>
                            <a:srgbClr val="095242"/>
                          </a:solidFill>
                          <a:latin typeface="Tajawal" pitchFamily="34" charset="0"/>
                          <a:ea typeface="Tajawal" pitchFamily="34" charset="-122"/>
                          <a:cs typeface="Tajawal" pitchFamily="34" charset="-120"/>
                        </a:rPr>
                        <a:t>٧٫٩٪</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٩</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٣</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الموارد والاستدامة</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820" dirty="0">
                          <a:solidFill>
                            <a:srgbClr val="063E33"/>
                          </a:solidFill>
                          <a:latin typeface="Tajawal" pitchFamily="34" charset="0"/>
                          <a:ea typeface="Tajawal" pitchFamily="34" charset="-122"/>
                          <a:cs typeface="Tajawal" pitchFamily="34" charset="-120"/>
                        </a:rPr>
                        <a:t>رفع كفاءة الإنفاق وتعزيز الاستدامة المالية</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20" b="1" dirty="0">
                          <a:solidFill>
                            <a:srgbClr val="33473F"/>
                          </a:solidFill>
                          <a:latin typeface="Tajawal" pitchFamily="34" charset="0"/>
                          <a:ea typeface="Tajawal" pitchFamily="34" charset="-122"/>
                          <a:cs typeface="Tajawal" pitchFamily="34" charset="-120"/>
                        </a:rPr>
                        <a:t>٧</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29184">
                <a:tc>
                  <a:txBody>
                    <a:bodyPr/>
                    <a:lstStyle/>
                    <a:p>
                      <a:pPr rtl="1" algn="ctr" indent="0" marL="0">
                        <a:buNone/>
                      </a:pPr>
                      <a:r>
                        <a:rPr lang="ar-SA" altLang="en-US" sz="820" b="1" dirty="0">
                          <a:solidFill>
                            <a:srgbClr val="095242"/>
                          </a:solidFill>
                          <a:latin typeface="Tajawal" pitchFamily="34" charset="0"/>
                          <a:ea typeface="Tajawal" pitchFamily="34" charset="-122"/>
                          <a:cs typeface="Tajawal" pitchFamily="34" charset="-120"/>
                        </a:rPr>
                        <a:t>٨٫٨٪</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١٠</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٥</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الموارد البشرية</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820" dirty="0">
                          <a:solidFill>
                            <a:srgbClr val="063E33"/>
                          </a:solidFill>
                          <a:latin typeface="Tajawal" pitchFamily="34" charset="0"/>
                          <a:ea typeface="Tajawal" pitchFamily="34" charset="-122"/>
                          <a:cs typeface="Tajawal" pitchFamily="34" charset="-120"/>
                        </a:rPr>
                        <a:t>تطوير كفاءات الموارد البشرية وتعزيز الثقافة المؤسسية</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20" b="1" dirty="0">
                          <a:solidFill>
                            <a:srgbClr val="33473F"/>
                          </a:solidFill>
                          <a:latin typeface="Tajawal" pitchFamily="34" charset="0"/>
                          <a:ea typeface="Tajawal" pitchFamily="34" charset="-122"/>
                          <a:cs typeface="Tajawal" pitchFamily="34" charset="-120"/>
                        </a:rPr>
                        <a:t>٨</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29184">
                <a:tc>
                  <a:txBody>
                    <a:bodyPr/>
                    <a:lstStyle/>
                    <a:p>
                      <a:pPr rtl="1" algn="ctr" indent="0" marL="0">
                        <a:buNone/>
                      </a:pPr>
                      <a:r>
                        <a:rPr lang="ar-SA" altLang="en-US" sz="820" b="1" dirty="0">
                          <a:solidFill>
                            <a:srgbClr val="095242"/>
                          </a:solidFill>
                          <a:latin typeface="Tajawal" pitchFamily="34" charset="0"/>
                          <a:ea typeface="Tajawal" pitchFamily="34" charset="-122"/>
                          <a:cs typeface="Tajawal" pitchFamily="34" charset="-120"/>
                        </a:rPr>
                        <a:t>٨٫٨٪</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١٠</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٦</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التحوّل الرقمي</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820" dirty="0">
                          <a:solidFill>
                            <a:srgbClr val="063E33"/>
                          </a:solidFill>
                          <a:latin typeface="Tajawal" pitchFamily="34" charset="0"/>
                          <a:ea typeface="Tajawal" pitchFamily="34" charset="-122"/>
                          <a:cs typeface="Tajawal" pitchFamily="34" charset="-120"/>
                        </a:rPr>
                        <a:t>الارتقاء بمستوى التجربة الرقمية</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20" b="1" dirty="0">
                          <a:solidFill>
                            <a:srgbClr val="33473F"/>
                          </a:solidFill>
                          <a:latin typeface="Tajawal" pitchFamily="34" charset="0"/>
                          <a:ea typeface="Tajawal" pitchFamily="34" charset="-122"/>
                          <a:cs typeface="Tajawal" pitchFamily="34" charset="-120"/>
                        </a:rPr>
                        <a:t>٩</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29184">
                <a:tc>
                  <a:txBody>
                    <a:bodyPr/>
                    <a:lstStyle/>
                    <a:p>
                      <a:pPr rtl="1" algn="ctr" indent="0" marL="0">
                        <a:buNone/>
                      </a:pPr>
                      <a:r>
                        <a:rPr lang="ar-SA" altLang="en-US" sz="820" b="1" dirty="0">
                          <a:solidFill>
                            <a:srgbClr val="095242"/>
                          </a:solidFill>
                          <a:latin typeface="Tajawal" pitchFamily="34" charset="0"/>
                          <a:ea typeface="Tajawal" pitchFamily="34" charset="-122"/>
                          <a:cs typeface="Tajawal" pitchFamily="34" charset="-120"/>
                        </a:rPr>
                        <a:t>١٣٫٢٪</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١٥</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٨</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الحوكمة والتقويم</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820" dirty="0">
                          <a:solidFill>
                            <a:srgbClr val="063E33"/>
                          </a:solidFill>
                          <a:latin typeface="Tajawal" pitchFamily="34" charset="0"/>
                          <a:ea typeface="Tajawal" pitchFamily="34" charset="-122"/>
                          <a:cs typeface="Tajawal" pitchFamily="34" charset="-120"/>
                        </a:rPr>
                        <a:t>تعزيز الحوكمة والالتزام وإدارة المخاطر</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20" b="1" dirty="0">
                          <a:solidFill>
                            <a:srgbClr val="33473F"/>
                          </a:solidFill>
                          <a:latin typeface="Tajawal" pitchFamily="34" charset="0"/>
                          <a:ea typeface="Tajawal" pitchFamily="34" charset="-122"/>
                          <a:cs typeface="Tajawal" pitchFamily="34" charset="-120"/>
                        </a:rPr>
                        <a:t>١٠</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10896">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١٠٠٪</a:t>
                      </a:r>
                      <a:endParaRPr lang="ar-SA" sz="8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١١٢</a:t>
                      </a:r>
                      <a:endParaRPr lang="ar-SA" sz="8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٦٢</a:t>
                      </a:r>
                      <a:endParaRPr lang="ar-SA" sz="8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gridSpan="3">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الإجمالي الكلي</a:t>
                      </a:r>
                      <a:endParaRPr lang="ar-SA" sz="8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hMerge="1">
                  <a:tcPr/>
                </a:tc>
                <a:tc hMerge="1">
                  <a:tcPr/>
                </a:tc>
              </a:tr>
            </a:tbl>
          </a:graphicData>
        </a:graphic>
      </p:graphicFrame>
      <p:sp>
        <p:nvSpPr>
          <p:cNvPr id="22" name="Shape 16"/>
          <p:cNvSpPr/>
          <p:nvPr/>
        </p:nvSpPr>
        <p:spPr>
          <a:xfrm>
            <a:off x="4384548" y="2093976"/>
            <a:ext cx="50292" cy="201168"/>
          </a:xfrm>
          <a:prstGeom prst="rect">
            <a:avLst/>
          </a:prstGeom>
          <a:solidFill>
            <a:srgbClr val="0089A1"/>
          </a:solidFill>
          <a:ln/>
        </p:spPr>
      </p:sp>
      <p:sp>
        <p:nvSpPr>
          <p:cNvPr id="23" name="Text 17"/>
          <p:cNvSpPr/>
          <p:nvPr/>
        </p:nvSpPr>
        <p:spPr>
          <a:xfrm>
            <a:off x="2240280" y="2048256"/>
            <a:ext cx="2066544" cy="292608"/>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التوزيع البصري للبرامج</a:t>
            </a:r>
            <a:endParaRPr lang="ar-SA" sz="1250" dirty="0"/>
          </a:p>
        </p:txBody>
      </p:sp>
      <p:graphicFrame>
        <p:nvGraphicFramePr>
          <p:cNvPr id="24" name="Chart 0" descr=""/>
          <p:cNvGraphicFramePr/>
          <p:nvPr/>
        </p:nvGraphicFramePr>
        <p:xfrm>
          <a:off x="411480" y="2395728"/>
          <a:ext cx="4023360" cy="2286000"/>
        </p:xfrm>
        <a:graphic xmlns:a="http://schemas.openxmlformats.org/drawingml/2006/main">
          <a:graphicData uri="http://schemas.openxmlformats.org/drawingml/2006/chart">
            <c:chart xmlns:c="http://schemas.openxmlformats.org/drawingml/2006/chart" r:id="rId4"/>
          </a:graphicData>
        </a:graphic>
      </p:graphicFrame>
      <p:sp>
        <p:nvSpPr>
          <p:cNvPr id="25" name="Shape 18"/>
          <p:cNvSpPr/>
          <p:nvPr/>
        </p:nvSpPr>
        <p:spPr>
          <a:xfrm>
            <a:off x="411480" y="4892040"/>
            <a:ext cx="4023360" cy="1463040"/>
          </a:xfrm>
          <a:prstGeom prst="roundRect">
            <a:avLst>
              <a:gd name="adj" fmla="val 4688"/>
            </a:avLst>
          </a:prstGeom>
          <a:solidFill>
            <a:srgbClr val="095242"/>
          </a:solidFill>
          <a:ln/>
        </p:spPr>
      </p:sp>
      <p:pic>
        <p:nvPicPr>
          <p:cNvPr id="26" name="Image 3" descr="/tmp/claude-0/-home-user-Mobile1/ab9bbf47-b054-5f6e-be59-70476e095ce8/scratchpad/assets/icons/trending_white.png">    </p:cNvPr>
          <p:cNvPicPr>
            <a:picLocks noChangeAspect="1"/>
          </p:cNvPicPr>
          <p:nvPr/>
        </p:nvPicPr>
        <p:blipFill>
          <a:blip r:embed="rId5"/>
          <a:stretch>
            <a:fillRect/>
          </a:stretch>
        </p:blipFill>
        <p:spPr>
          <a:xfrm>
            <a:off x="3931920" y="5056632"/>
            <a:ext cx="256032" cy="256032"/>
          </a:xfrm>
          <a:prstGeom prst="rect">
            <a:avLst/>
          </a:prstGeom>
        </p:spPr>
      </p:pic>
      <p:sp>
        <p:nvSpPr>
          <p:cNvPr id="27" name="Text 19"/>
          <p:cNvSpPr/>
          <p:nvPr/>
        </p:nvSpPr>
        <p:spPr>
          <a:xfrm>
            <a:off x="640080" y="5010912"/>
            <a:ext cx="3200400" cy="310896"/>
          </a:xfrm>
          <a:prstGeom prst="rect">
            <a:avLst/>
          </a:prstGeom>
          <a:noFill/>
          <a:ln/>
        </p:spPr>
        <p:txBody>
          <a:bodyPr wrap="square" lIns="0" tIns="0" rIns="0" bIns="0" rtlCol="0" anchor="t"/>
          <a:lstStyle/>
          <a:p>
            <a:pPr rtl="1" algn="r" indent="0" marL="0">
              <a:buNone/>
            </a:pPr>
            <a:r>
              <a:rPr lang="ar-SA" altLang="en-US" sz="1150" b="1" dirty="0">
                <a:solidFill>
                  <a:srgbClr val="FFFFFF"/>
                </a:solidFill>
                <a:latin typeface="Tajawal" pitchFamily="34" charset="0"/>
                <a:ea typeface="Tajawal" pitchFamily="34" charset="-122"/>
                <a:cs typeface="Tajawal" pitchFamily="34" charset="-120"/>
              </a:rPr>
              <a:t>قراءة في التوزيع</a:t>
            </a:r>
            <a:endParaRPr lang="ar-SA" sz="1150" dirty="0"/>
          </a:p>
        </p:txBody>
      </p:sp>
      <p:sp>
        <p:nvSpPr>
          <p:cNvPr id="28" name="Text 20"/>
          <p:cNvSpPr/>
          <p:nvPr/>
        </p:nvSpPr>
        <p:spPr>
          <a:xfrm>
            <a:off x="640080" y="5358384"/>
            <a:ext cx="3520440" cy="914400"/>
          </a:xfrm>
          <a:prstGeom prst="rect">
            <a:avLst/>
          </a:prstGeom>
          <a:noFill/>
          <a:ln/>
        </p:spPr>
        <p:txBody>
          <a:bodyPr wrap="square" lIns="0" tIns="0" rIns="0" bIns="0" rtlCol="0" anchor="t"/>
          <a:lstStyle/>
          <a:p>
            <a:pPr rtl="1" algn="r" indent="0" marL="0">
              <a:lnSpc>
                <a:spcPct val="120000"/>
              </a:lnSpc>
              <a:buNone/>
            </a:pPr>
            <a:r>
              <a:rPr lang="ar-SA" altLang="en-US" sz="900" dirty="0">
                <a:solidFill>
                  <a:srgbClr val="D3E5DE"/>
                </a:solidFill>
                <a:latin typeface="Tajawal" pitchFamily="34" charset="0"/>
                <a:ea typeface="Tajawal" pitchFamily="34" charset="-122"/>
                <a:cs typeface="Tajawal" pitchFamily="34" charset="-120"/>
              </a:rPr>
              <a:t>يتصدّر الهدف العاشر (الحوكمة) بـ ١٥ برنامجًا (١٣٫٢٪)، يليه الثاني والثالث والخامس بـ ١٢ برنامجًا، وأقلّها الهدف السابع بـ ٩ برامج لتركّزه على الحوكمة المالية.</a:t>
            </a:r>
            <a:endParaRPr lang="ar-SA"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tmp/claude-0/-home-user-Mobile1/ab9bbf47-b054-5f6e-be59-70476e095ce8/scratchpad/assets/bg_content.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665415" y="6519672"/>
            <a:ext cx="4114800" cy="274320"/>
          </a:xfrm>
          <a:prstGeom prst="rect">
            <a:avLst/>
          </a:prstGeom>
          <a:noFill/>
          <a:ln/>
        </p:spPr>
        <p:txBody>
          <a:bodyPr wrap="square" lIns="0" tIns="0" rIns="0" bIns="0" rtlCol="0" anchor="t"/>
          <a:lstStyle/>
          <a:p>
            <a:pPr rtl="1" algn="r" indent="0" marL="0">
              <a:buNone/>
            </a:pPr>
            <a:r>
              <a:rPr lang="ar-SA" altLang="en-US" sz="800" dirty="0">
                <a:solidFill>
                  <a:srgbClr val="7C8F87"/>
                </a:solidFill>
                <a:latin typeface="Tajawal" pitchFamily="34" charset="0"/>
                <a:ea typeface="Tajawal" pitchFamily="34" charset="-122"/>
                <a:cs typeface="Tajawal" pitchFamily="34" charset="-120"/>
              </a:rPr>
              <a:t>الخطة التشغيلية للعام الدراسي ١٤٤٨هـ</a:t>
            </a:r>
            <a:endParaRPr lang="ar-SA" sz="800" dirty="0"/>
          </a:p>
        </p:txBody>
      </p:sp>
      <p:sp>
        <p:nvSpPr>
          <p:cNvPr id="4" name="Text 1"/>
          <p:cNvSpPr/>
          <p:nvPr/>
        </p:nvSpPr>
        <p:spPr>
          <a:xfrm>
            <a:off x="411480" y="6519672"/>
            <a:ext cx="914400" cy="274320"/>
          </a:xfrm>
          <a:prstGeom prst="rect">
            <a:avLst/>
          </a:prstGeom>
          <a:noFill/>
          <a:ln/>
        </p:spPr>
        <p:txBody>
          <a:bodyPr wrap="square" lIns="0" tIns="0" rIns="0" bIns="0" rtlCol="0" anchor="t"/>
          <a:lstStyle/>
          <a:p>
            <a:pPr rtl="1" algn="l" indent="0" marL="0">
              <a:buNone/>
            </a:pPr>
            <a:r>
              <a:rPr lang="ar-SA" altLang="en-US" sz="850" b="1" dirty="0">
                <a:solidFill>
                  <a:srgbClr val="7C8F87"/>
                </a:solidFill>
                <a:latin typeface="Tajawal" pitchFamily="34" charset="0"/>
                <a:ea typeface="Tajawal" pitchFamily="34" charset="-122"/>
                <a:cs typeface="Tajawal" pitchFamily="34" charset="-120"/>
              </a:rPr>
              <a:t>١٥</a:t>
            </a:r>
            <a:endParaRPr lang="ar-SA" sz="850" dirty="0"/>
          </a:p>
        </p:txBody>
      </p:sp>
      <p:pic>
        <p:nvPicPr>
          <p:cNvPr id="5" name="Image 1" descr="/tmp/claude-0/-home-user-Mobile1/ab9bbf47-b054-5f6e-be59-70476e095ce8/scratchpad/assets/band_goal.png">    </p:cNvPr>
          <p:cNvPicPr>
            <a:picLocks noChangeAspect="1"/>
          </p:cNvPicPr>
          <p:nvPr/>
        </p:nvPicPr>
        <p:blipFill>
          <a:blip r:embed="rId2"/>
          <a:stretch>
            <a:fillRect/>
          </a:stretch>
        </p:blipFill>
        <p:spPr>
          <a:xfrm>
            <a:off x="411480" y="292608"/>
            <a:ext cx="11368735" cy="1344168"/>
          </a:xfrm>
          <a:prstGeom prst="rect">
            <a:avLst/>
          </a:prstGeom>
        </p:spPr>
      </p:pic>
      <p:pic>
        <p:nvPicPr>
          <p:cNvPr id="6" name="Image 2" descr="/tmp/claude-0/-home-user-Mobile1/ab9bbf47-b054-5f6e-be59-70476e095ce8/scratchpad/assets/moe_white.png">    </p:cNvPr>
          <p:cNvPicPr>
            <a:picLocks noChangeAspect="1"/>
          </p:cNvPicPr>
          <p:nvPr/>
        </p:nvPicPr>
        <p:blipFill>
          <a:blip r:embed="rId3"/>
          <a:stretch>
            <a:fillRect/>
          </a:stretch>
        </p:blipFill>
        <p:spPr>
          <a:xfrm>
            <a:off x="795528" y="502920"/>
            <a:ext cx="1170432" cy="905256"/>
          </a:xfrm>
          <a:prstGeom prst="rect">
            <a:avLst/>
          </a:prstGeom>
        </p:spPr>
      </p:pic>
      <p:sp>
        <p:nvSpPr>
          <p:cNvPr id="7" name="Text 2"/>
          <p:cNvSpPr/>
          <p:nvPr/>
        </p:nvSpPr>
        <p:spPr>
          <a:xfrm>
            <a:off x="2377440" y="475488"/>
            <a:ext cx="9128455" cy="329184"/>
          </a:xfrm>
          <a:prstGeom prst="rect">
            <a:avLst/>
          </a:prstGeom>
          <a:noFill/>
          <a:ln/>
        </p:spPr>
        <p:txBody>
          <a:bodyPr wrap="square" lIns="0" tIns="0" rIns="0" bIns="0" rtlCol="0" anchor="t"/>
          <a:lstStyle/>
          <a:p>
            <a:pPr rtl="1" algn="r" indent="0" marL="0">
              <a:buNone/>
            </a:pPr>
            <a:r>
              <a:rPr lang="ar-SA" altLang="en-US" sz="1200" b="1" dirty="0">
                <a:solidFill>
                  <a:srgbClr val="C9A45C"/>
                </a:solidFill>
                <a:latin typeface="Tajawal" pitchFamily="34" charset="0"/>
                <a:ea typeface="Tajawal" pitchFamily="34" charset="-122"/>
                <a:cs typeface="Tajawal" pitchFamily="34" charset="-120"/>
              </a:rPr>
              <a:t>الهدف الاستراتيجي رقم ١</a:t>
            </a:r>
            <a:endParaRPr lang="ar-SA" sz="1200" dirty="0"/>
          </a:p>
        </p:txBody>
      </p:sp>
      <p:sp>
        <p:nvSpPr>
          <p:cNvPr id="8" name="Text 3"/>
          <p:cNvSpPr/>
          <p:nvPr/>
        </p:nvSpPr>
        <p:spPr>
          <a:xfrm>
            <a:off x="2377440" y="822960"/>
            <a:ext cx="9128455" cy="603504"/>
          </a:xfrm>
          <a:prstGeom prst="rect">
            <a:avLst/>
          </a:prstGeom>
          <a:noFill/>
          <a:ln/>
        </p:spPr>
        <p:txBody>
          <a:bodyPr wrap="square" lIns="0" tIns="0" rIns="0" bIns="0" rtlCol="0" anchor="ctr"/>
          <a:lstStyle/>
          <a:p>
            <a:pPr rtl="1" algn="r" indent="0" marL="0">
              <a:buNone/>
            </a:pPr>
            <a:r>
              <a:rPr lang="ar-SA" altLang="en-US" sz="2300" b="1" dirty="0">
                <a:solidFill>
                  <a:srgbClr val="FFFFFF"/>
                </a:solidFill>
                <a:latin typeface="Tajawal" pitchFamily="34" charset="0"/>
                <a:ea typeface="Tajawal" pitchFamily="34" charset="-122"/>
                <a:cs typeface="Tajawal" pitchFamily="34" charset="-120"/>
              </a:rPr>
              <a:t>ضمان وصول التعليم للجميع</a:t>
            </a:r>
            <a:endParaRPr lang="ar-SA" sz="2300" dirty="0"/>
          </a:p>
        </p:txBody>
      </p:sp>
      <p:sp>
        <p:nvSpPr>
          <p:cNvPr id="9" name="Shape 4"/>
          <p:cNvSpPr/>
          <p:nvPr/>
        </p:nvSpPr>
        <p:spPr>
          <a:xfrm>
            <a:off x="8173517" y="1828800"/>
            <a:ext cx="3606698" cy="914400"/>
          </a:xfrm>
          <a:prstGeom prst="roundRect">
            <a:avLst>
              <a:gd name="adj" fmla="val 7500"/>
            </a:avLst>
          </a:prstGeom>
          <a:solidFill>
            <a:srgbClr val="FFFFFF"/>
          </a:solidFill>
          <a:ln w="12700">
            <a:solidFill>
              <a:srgbClr val="095242"/>
            </a:solidFill>
            <a:prstDash val="solid"/>
          </a:ln>
        </p:spPr>
      </p:sp>
      <p:sp>
        <p:nvSpPr>
          <p:cNvPr id="10" name="Text 5"/>
          <p:cNvSpPr/>
          <p:nvPr/>
        </p:nvSpPr>
        <p:spPr>
          <a:xfrm>
            <a:off x="8310677" y="1828800"/>
            <a:ext cx="1234440" cy="914400"/>
          </a:xfrm>
          <a:prstGeom prst="rect">
            <a:avLst/>
          </a:prstGeom>
          <a:noFill/>
          <a:ln/>
        </p:spPr>
        <p:txBody>
          <a:bodyPr wrap="square" lIns="0" tIns="0" rIns="0" bIns="0" rtlCol="0" anchor="ctr"/>
          <a:lstStyle/>
          <a:p>
            <a:pPr rtl="1" algn="ctr" indent="0" marL="0">
              <a:buNone/>
            </a:pPr>
            <a:r>
              <a:rPr lang="ar-SA" altLang="en-US" sz="2600" dirty="0">
                <a:solidFill>
                  <a:srgbClr val="095242"/>
                </a:solidFill>
                <a:latin typeface="Tajawal ExtraBold" pitchFamily="34" charset="0"/>
                <a:ea typeface="Tajawal ExtraBold" pitchFamily="34" charset="-122"/>
                <a:cs typeface="Tajawal ExtraBold" pitchFamily="34" charset="-120"/>
              </a:rPr>
              <a:t>١١</a:t>
            </a:r>
            <a:endParaRPr lang="ar-SA" sz="2600" dirty="0"/>
          </a:p>
        </p:txBody>
      </p:sp>
      <p:sp>
        <p:nvSpPr>
          <p:cNvPr id="11" name="Text 6"/>
          <p:cNvSpPr/>
          <p:nvPr/>
        </p:nvSpPr>
        <p:spPr>
          <a:xfrm>
            <a:off x="9545117" y="1828800"/>
            <a:ext cx="2052218" cy="914400"/>
          </a:xfrm>
          <a:prstGeom prst="rect">
            <a:avLst/>
          </a:prstGeom>
          <a:noFill/>
          <a:ln/>
        </p:spPr>
        <p:txBody>
          <a:bodyPr wrap="square" lIns="0" tIns="0" rIns="0" bIns="0" rtlCol="0" anchor="ctr"/>
          <a:lstStyle/>
          <a:p>
            <a:pPr rtl="1" algn="r" indent="0" marL="0">
              <a:buNone/>
            </a:pPr>
            <a:r>
              <a:rPr lang="ar-SA" altLang="en-US" sz="1150" b="1" dirty="0">
                <a:solidFill>
                  <a:srgbClr val="33473F"/>
                </a:solidFill>
                <a:latin typeface="Tajawal" pitchFamily="34" charset="0"/>
                <a:ea typeface="Tajawal" pitchFamily="34" charset="-122"/>
                <a:cs typeface="Tajawal" pitchFamily="34" charset="-120"/>
              </a:rPr>
              <a:t>عدد البرامج التشغيلية</a:t>
            </a:r>
            <a:endParaRPr lang="ar-SA" sz="1150" dirty="0"/>
          </a:p>
        </p:txBody>
      </p:sp>
      <p:sp>
        <p:nvSpPr>
          <p:cNvPr id="12" name="Shape 7"/>
          <p:cNvSpPr/>
          <p:nvPr/>
        </p:nvSpPr>
        <p:spPr>
          <a:xfrm>
            <a:off x="4292498" y="1828800"/>
            <a:ext cx="3606698" cy="914400"/>
          </a:xfrm>
          <a:prstGeom prst="roundRect">
            <a:avLst>
              <a:gd name="adj" fmla="val 7500"/>
            </a:avLst>
          </a:prstGeom>
          <a:solidFill>
            <a:srgbClr val="095242"/>
          </a:solidFill>
          <a:ln/>
          <a:effectLst>
            <a:outerShdw sx="100000" sy="100000" kx="0" ky="0" algn="bl" rotWithShape="0" blurRad="88900" dist="25400" dir="5400000">
              <a:srgbClr val="083528">
                <a:alpha val="22000"/>
              </a:srgbClr>
            </a:outerShdw>
          </a:effectLst>
        </p:spPr>
      </p:sp>
      <p:sp>
        <p:nvSpPr>
          <p:cNvPr id="13" name="Text 8"/>
          <p:cNvSpPr/>
          <p:nvPr/>
        </p:nvSpPr>
        <p:spPr>
          <a:xfrm>
            <a:off x="4429658" y="1828800"/>
            <a:ext cx="1234440" cy="914400"/>
          </a:xfrm>
          <a:prstGeom prst="rect">
            <a:avLst/>
          </a:prstGeom>
          <a:noFill/>
          <a:ln/>
        </p:spPr>
        <p:txBody>
          <a:bodyPr wrap="square" lIns="0" tIns="0" rIns="0" bIns="0" rtlCol="0" anchor="ctr"/>
          <a:lstStyle/>
          <a:p>
            <a:pPr rtl="1" algn="ctr" indent="0" marL="0">
              <a:buNone/>
            </a:pPr>
            <a:r>
              <a:rPr lang="ar-SA" altLang="en-US" sz="2600" dirty="0">
                <a:solidFill>
                  <a:srgbClr val="FFFFFF"/>
                </a:solidFill>
                <a:latin typeface="Tajawal ExtraBold" pitchFamily="34" charset="0"/>
                <a:ea typeface="Tajawal ExtraBold" pitchFamily="34" charset="-122"/>
                <a:cs typeface="Tajawal ExtraBold" pitchFamily="34" charset="-120"/>
              </a:rPr>
              <a:t>٨</a:t>
            </a:r>
            <a:endParaRPr lang="ar-SA" sz="2600" dirty="0"/>
          </a:p>
        </p:txBody>
      </p:sp>
      <p:sp>
        <p:nvSpPr>
          <p:cNvPr id="14" name="Text 9"/>
          <p:cNvSpPr/>
          <p:nvPr/>
        </p:nvSpPr>
        <p:spPr>
          <a:xfrm>
            <a:off x="5664098" y="1828800"/>
            <a:ext cx="2052218" cy="914400"/>
          </a:xfrm>
          <a:prstGeom prst="rect">
            <a:avLst/>
          </a:prstGeom>
          <a:noFill/>
          <a:ln/>
        </p:spPr>
        <p:txBody>
          <a:bodyPr wrap="square" lIns="0" tIns="0" rIns="0" bIns="0" rtlCol="0" anchor="ctr"/>
          <a:lstStyle/>
          <a:p>
            <a:pPr rtl="1" algn="r" indent="0" marL="0">
              <a:buNone/>
            </a:pPr>
            <a:r>
              <a:rPr lang="ar-SA" altLang="en-US" sz="1150" b="1" dirty="0">
                <a:solidFill>
                  <a:srgbClr val="CFE2DB"/>
                </a:solidFill>
                <a:latin typeface="Tajawal" pitchFamily="34" charset="0"/>
                <a:ea typeface="Tajawal" pitchFamily="34" charset="-122"/>
                <a:cs typeface="Tajawal" pitchFamily="34" charset="-120"/>
              </a:rPr>
              <a:t>عدد مؤشرات الاعتماد المرتبطة</a:t>
            </a:r>
            <a:endParaRPr lang="ar-SA" sz="1150" dirty="0"/>
          </a:p>
        </p:txBody>
      </p:sp>
      <p:sp>
        <p:nvSpPr>
          <p:cNvPr id="15" name="Shape 10"/>
          <p:cNvSpPr/>
          <p:nvPr/>
        </p:nvSpPr>
        <p:spPr>
          <a:xfrm>
            <a:off x="411480" y="1828800"/>
            <a:ext cx="3606698" cy="914400"/>
          </a:xfrm>
          <a:prstGeom prst="roundRect">
            <a:avLst>
              <a:gd name="adj" fmla="val 7500"/>
            </a:avLst>
          </a:prstGeom>
          <a:solidFill>
            <a:srgbClr val="FFFFFF"/>
          </a:solidFill>
          <a:ln w="12700">
            <a:solidFill>
              <a:srgbClr val="095242"/>
            </a:solidFill>
            <a:prstDash val="solid"/>
          </a:ln>
        </p:spPr>
      </p:sp>
      <p:sp>
        <p:nvSpPr>
          <p:cNvPr id="16" name="Text 11"/>
          <p:cNvSpPr/>
          <p:nvPr/>
        </p:nvSpPr>
        <p:spPr>
          <a:xfrm>
            <a:off x="548640" y="1828800"/>
            <a:ext cx="1234440" cy="914400"/>
          </a:xfrm>
          <a:prstGeom prst="rect">
            <a:avLst/>
          </a:prstGeom>
          <a:noFill/>
          <a:ln/>
        </p:spPr>
        <p:txBody>
          <a:bodyPr wrap="square" lIns="0" tIns="0" rIns="0" bIns="0" rtlCol="0" anchor="ctr"/>
          <a:lstStyle/>
          <a:p>
            <a:pPr rtl="1" algn="ctr" indent="0" marL="0">
              <a:buNone/>
            </a:pPr>
            <a:r>
              <a:rPr lang="ar-SA" altLang="en-US" sz="2600" dirty="0">
                <a:solidFill>
                  <a:srgbClr val="095242"/>
                </a:solidFill>
                <a:latin typeface="Tajawal ExtraBold" pitchFamily="34" charset="0"/>
                <a:ea typeface="Tajawal ExtraBold" pitchFamily="34" charset="-122"/>
                <a:cs typeface="Tajawal ExtraBold" pitchFamily="34" charset="-120"/>
              </a:rPr>
              <a:t>٨٠٪</a:t>
            </a:r>
            <a:endParaRPr lang="ar-SA" sz="2600" dirty="0"/>
          </a:p>
        </p:txBody>
      </p:sp>
      <p:sp>
        <p:nvSpPr>
          <p:cNvPr id="17" name="Text 12"/>
          <p:cNvSpPr/>
          <p:nvPr/>
        </p:nvSpPr>
        <p:spPr>
          <a:xfrm>
            <a:off x="1783080" y="1828800"/>
            <a:ext cx="2052218" cy="914400"/>
          </a:xfrm>
          <a:prstGeom prst="rect">
            <a:avLst/>
          </a:prstGeom>
          <a:noFill/>
          <a:ln/>
        </p:spPr>
        <p:txBody>
          <a:bodyPr wrap="square" lIns="0" tIns="0" rIns="0" bIns="0" rtlCol="0" anchor="ctr"/>
          <a:lstStyle/>
          <a:p>
            <a:pPr rtl="1" algn="r" indent="0" marL="0">
              <a:buNone/>
            </a:pPr>
            <a:r>
              <a:rPr lang="ar-SA" altLang="en-US" sz="1150" b="1" dirty="0">
                <a:solidFill>
                  <a:srgbClr val="33473F"/>
                </a:solidFill>
                <a:latin typeface="Tajawal" pitchFamily="34" charset="0"/>
                <a:ea typeface="Tajawal" pitchFamily="34" charset="-122"/>
                <a:cs typeface="Tajawal" pitchFamily="34" charset="-120"/>
              </a:rPr>
              <a:t>نسبة التحقّق المستهدفة</a:t>
            </a:r>
            <a:endParaRPr lang="ar-SA" sz="1150" dirty="0"/>
          </a:p>
        </p:txBody>
      </p:sp>
      <p:sp>
        <p:nvSpPr>
          <p:cNvPr id="18" name="Shape 13"/>
          <p:cNvSpPr/>
          <p:nvPr/>
        </p:nvSpPr>
        <p:spPr>
          <a:xfrm>
            <a:off x="11729923" y="3044952"/>
            <a:ext cx="50292" cy="201168"/>
          </a:xfrm>
          <a:prstGeom prst="rect">
            <a:avLst/>
          </a:prstGeom>
          <a:solidFill>
            <a:srgbClr val="0089A1"/>
          </a:solidFill>
          <a:ln/>
        </p:spPr>
      </p:sp>
      <p:sp>
        <p:nvSpPr>
          <p:cNvPr id="19" name="Text 14"/>
          <p:cNvSpPr/>
          <p:nvPr/>
        </p:nvSpPr>
        <p:spPr>
          <a:xfrm>
            <a:off x="8488375" y="2999232"/>
            <a:ext cx="3163824" cy="292608"/>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البرامج التشغيلية ضمن هذا الهدف</a:t>
            </a:r>
            <a:endParaRPr lang="ar-SA" sz="1250" dirty="0"/>
          </a:p>
        </p:txBody>
      </p:sp>
      <p:sp>
        <p:nvSpPr>
          <p:cNvPr id="20" name="Shape 15"/>
          <p:cNvSpPr/>
          <p:nvPr/>
        </p:nvSpPr>
        <p:spPr>
          <a:xfrm>
            <a:off x="9075191" y="3383280"/>
            <a:ext cx="2705024" cy="438912"/>
          </a:xfrm>
          <a:prstGeom prst="roundRect">
            <a:avLst>
              <a:gd name="adj" fmla="val 18750"/>
            </a:avLst>
          </a:prstGeom>
          <a:solidFill>
            <a:srgbClr val="F1F7F4"/>
          </a:solidFill>
          <a:ln w="9525">
            <a:solidFill>
              <a:srgbClr val="DCE8E2"/>
            </a:solidFill>
            <a:prstDash val="solid"/>
          </a:ln>
        </p:spPr>
      </p:sp>
      <p:sp>
        <p:nvSpPr>
          <p:cNvPr id="21" name="Shape 16"/>
          <p:cNvSpPr/>
          <p:nvPr/>
        </p:nvSpPr>
        <p:spPr>
          <a:xfrm>
            <a:off x="11505895" y="3557016"/>
            <a:ext cx="100584" cy="100584"/>
          </a:xfrm>
          <a:prstGeom prst="roundRect">
            <a:avLst>
              <a:gd name="adj" fmla="val 18182"/>
            </a:avLst>
          </a:prstGeom>
          <a:solidFill>
            <a:srgbClr val="0089A1"/>
          </a:solidFill>
          <a:ln/>
        </p:spPr>
      </p:sp>
      <p:sp>
        <p:nvSpPr>
          <p:cNvPr id="22" name="Text 17"/>
          <p:cNvSpPr/>
          <p:nvPr/>
        </p:nvSpPr>
        <p:spPr>
          <a:xfrm>
            <a:off x="9203207" y="3383280"/>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تكافؤ الفرص التعليمية</a:t>
            </a:r>
            <a:endParaRPr lang="ar-SA" sz="1000" dirty="0"/>
          </a:p>
        </p:txBody>
      </p:sp>
      <p:sp>
        <p:nvSpPr>
          <p:cNvPr id="23" name="Shape 18"/>
          <p:cNvSpPr/>
          <p:nvPr/>
        </p:nvSpPr>
        <p:spPr>
          <a:xfrm>
            <a:off x="6187288" y="3383280"/>
            <a:ext cx="2705024" cy="438912"/>
          </a:xfrm>
          <a:prstGeom prst="roundRect">
            <a:avLst>
              <a:gd name="adj" fmla="val 18750"/>
            </a:avLst>
          </a:prstGeom>
          <a:solidFill>
            <a:srgbClr val="F1F7F4"/>
          </a:solidFill>
          <a:ln w="9525">
            <a:solidFill>
              <a:srgbClr val="DCE8E2"/>
            </a:solidFill>
            <a:prstDash val="solid"/>
          </a:ln>
        </p:spPr>
      </p:sp>
      <p:sp>
        <p:nvSpPr>
          <p:cNvPr id="24" name="Shape 19"/>
          <p:cNvSpPr/>
          <p:nvPr/>
        </p:nvSpPr>
        <p:spPr>
          <a:xfrm>
            <a:off x="8617991" y="3557016"/>
            <a:ext cx="100584" cy="100584"/>
          </a:xfrm>
          <a:prstGeom prst="roundRect">
            <a:avLst>
              <a:gd name="adj" fmla="val 18182"/>
            </a:avLst>
          </a:prstGeom>
          <a:solidFill>
            <a:srgbClr val="0089A1"/>
          </a:solidFill>
          <a:ln/>
        </p:spPr>
      </p:sp>
      <p:sp>
        <p:nvSpPr>
          <p:cNvPr id="25" name="Text 20"/>
          <p:cNvSpPr/>
          <p:nvPr/>
        </p:nvSpPr>
        <p:spPr>
          <a:xfrm>
            <a:off x="6315304" y="3383280"/>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دمج ذوي الإعاقة</a:t>
            </a:r>
            <a:endParaRPr lang="ar-SA" sz="1000" dirty="0"/>
          </a:p>
        </p:txBody>
      </p:sp>
      <p:sp>
        <p:nvSpPr>
          <p:cNvPr id="26" name="Shape 21"/>
          <p:cNvSpPr/>
          <p:nvPr/>
        </p:nvSpPr>
        <p:spPr>
          <a:xfrm>
            <a:off x="3299384" y="3383280"/>
            <a:ext cx="2705024" cy="438912"/>
          </a:xfrm>
          <a:prstGeom prst="roundRect">
            <a:avLst>
              <a:gd name="adj" fmla="val 18750"/>
            </a:avLst>
          </a:prstGeom>
          <a:solidFill>
            <a:srgbClr val="F1F7F4"/>
          </a:solidFill>
          <a:ln w="9525">
            <a:solidFill>
              <a:srgbClr val="DCE8E2"/>
            </a:solidFill>
            <a:prstDash val="solid"/>
          </a:ln>
        </p:spPr>
      </p:sp>
      <p:sp>
        <p:nvSpPr>
          <p:cNvPr id="27" name="Shape 22"/>
          <p:cNvSpPr/>
          <p:nvPr/>
        </p:nvSpPr>
        <p:spPr>
          <a:xfrm>
            <a:off x="5730088" y="3557016"/>
            <a:ext cx="100584" cy="100584"/>
          </a:xfrm>
          <a:prstGeom prst="roundRect">
            <a:avLst>
              <a:gd name="adj" fmla="val 18182"/>
            </a:avLst>
          </a:prstGeom>
          <a:solidFill>
            <a:srgbClr val="0089A1"/>
          </a:solidFill>
          <a:ln/>
        </p:spPr>
      </p:sp>
      <p:sp>
        <p:nvSpPr>
          <p:cNvPr id="28" name="Text 23"/>
          <p:cNvSpPr/>
          <p:nvPr/>
        </p:nvSpPr>
        <p:spPr>
          <a:xfrm>
            <a:off x="3427400" y="3383280"/>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تهيئة البيئة لذوي الإعاقة</a:t>
            </a:r>
            <a:endParaRPr lang="ar-SA" sz="1000" dirty="0"/>
          </a:p>
        </p:txBody>
      </p:sp>
      <p:sp>
        <p:nvSpPr>
          <p:cNvPr id="29" name="Shape 24"/>
          <p:cNvSpPr/>
          <p:nvPr/>
        </p:nvSpPr>
        <p:spPr>
          <a:xfrm>
            <a:off x="411480" y="3383280"/>
            <a:ext cx="2705024" cy="438912"/>
          </a:xfrm>
          <a:prstGeom prst="roundRect">
            <a:avLst>
              <a:gd name="adj" fmla="val 18750"/>
            </a:avLst>
          </a:prstGeom>
          <a:solidFill>
            <a:srgbClr val="F1F7F4"/>
          </a:solidFill>
          <a:ln w="9525">
            <a:solidFill>
              <a:srgbClr val="DCE8E2"/>
            </a:solidFill>
            <a:prstDash val="solid"/>
          </a:ln>
        </p:spPr>
      </p:sp>
      <p:sp>
        <p:nvSpPr>
          <p:cNvPr id="30" name="Shape 25"/>
          <p:cNvSpPr/>
          <p:nvPr/>
        </p:nvSpPr>
        <p:spPr>
          <a:xfrm>
            <a:off x="2842184" y="3557016"/>
            <a:ext cx="100584" cy="100584"/>
          </a:xfrm>
          <a:prstGeom prst="roundRect">
            <a:avLst>
              <a:gd name="adj" fmla="val 18182"/>
            </a:avLst>
          </a:prstGeom>
          <a:solidFill>
            <a:srgbClr val="0089A1"/>
          </a:solidFill>
          <a:ln/>
        </p:spPr>
      </p:sp>
      <p:sp>
        <p:nvSpPr>
          <p:cNvPr id="31" name="Text 26"/>
          <p:cNvSpPr/>
          <p:nvPr/>
        </p:nvSpPr>
        <p:spPr>
          <a:xfrm>
            <a:off x="539496" y="3383280"/>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مواءمة دورات المياه</a:t>
            </a:r>
            <a:endParaRPr lang="ar-SA" sz="1000" dirty="0"/>
          </a:p>
        </p:txBody>
      </p:sp>
      <p:sp>
        <p:nvSpPr>
          <p:cNvPr id="32" name="Shape 27"/>
          <p:cNvSpPr/>
          <p:nvPr/>
        </p:nvSpPr>
        <p:spPr>
          <a:xfrm>
            <a:off x="9075191" y="3950208"/>
            <a:ext cx="2705024" cy="438912"/>
          </a:xfrm>
          <a:prstGeom prst="roundRect">
            <a:avLst>
              <a:gd name="adj" fmla="val 18750"/>
            </a:avLst>
          </a:prstGeom>
          <a:solidFill>
            <a:srgbClr val="F1F7F4"/>
          </a:solidFill>
          <a:ln w="9525">
            <a:solidFill>
              <a:srgbClr val="DCE8E2"/>
            </a:solidFill>
            <a:prstDash val="solid"/>
          </a:ln>
        </p:spPr>
      </p:sp>
      <p:sp>
        <p:nvSpPr>
          <p:cNvPr id="33" name="Shape 28"/>
          <p:cNvSpPr/>
          <p:nvPr/>
        </p:nvSpPr>
        <p:spPr>
          <a:xfrm>
            <a:off x="11505895" y="4123944"/>
            <a:ext cx="100584" cy="100584"/>
          </a:xfrm>
          <a:prstGeom prst="roundRect">
            <a:avLst>
              <a:gd name="adj" fmla="val 18182"/>
            </a:avLst>
          </a:prstGeom>
          <a:solidFill>
            <a:srgbClr val="0089A1"/>
          </a:solidFill>
          <a:ln/>
        </p:spPr>
      </p:sp>
      <p:sp>
        <p:nvSpPr>
          <p:cNvPr id="34" name="Text 29"/>
          <p:cNvSpPr/>
          <p:nvPr/>
        </p:nvSpPr>
        <p:spPr>
          <a:xfrm>
            <a:off x="9203207" y="3950208"/>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تسهيل التنقل بين المرافق</a:t>
            </a:r>
            <a:endParaRPr lang="ar-SA" sz="1000" dirty="0"/>
          </a:p>
        </p:txBody>
      </p:sp>
      <p:sp>
        <p:nvSpPr>
          <p:cNvPr id="35" name="Shape 30"/>
          <p:cNvSpPr/>
          <p:nvPr/>
        </p:nvSpPr>
        <p:spPr>
          <a:xfrm>
            <a:off x="6187288" y="3950208"/>
            <a:ext cx="2705024" cy="438912"/>
          </a:xfrm>
          <a:prstGeom prst="roundRect">
            <a:avLst>
              <a:gd name="adj" fmla="val 18750"/>
            </a:avLst>
          </a:prstGeom>
          <a:solidFill>
            <a:srgbClr val="F1F7F4"/>
          </a:solidFill>
          <a:ln w="9525">
            <a:solidFill>
              <a:srgbClr val="DCE8E2"/>
            </a:solidFill>
            <a:prstDash val="solid"/>
          </a:ln>
        </p:spPr>
      </p:sp>
      <p:sp>
        <p:nvSpPr>
          <p:cNvPr id="36" name="Shape 31"/>
          <p:cNvSpPr/>
          <p:nvPr/>
        </p:nvSpPr>
        <p:spPr>
          <a:xfrm>
            <a:off x="8617991" y="4123944"/>
            <a:ext cx="100584" cy="100584"/>
          </a:xfrm>
          <a:prstGeom prst="roundRect">
            <a:avLst>
              <a:gd name="adj" fmla="val 18182"/>
            </a:avLst>
          </a:prstGeom>
          <a:solidFill>
            <a:srgbClr val="0089A1"/>
          </a:solidFill>
          <a:ln/>
        </p:spPr>
      </p:sp>
      <p:sp>
        <p:nvSpPr>
          <p:cNvPr id="37" name="Text 32"/>
          <p:cNvSpPr/>
          <p:nvPr/>
        </p:nvSpPr>
        <p:spPr>
          <a:xfrm>
            <a:off x="6315304" y="3950208"/>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تجهيز الفصول والمعامل</a:t>
            </a:r>
            <a:endParaRPr lang="ar-SA" sz="1000" dirty="0"/>
          </a:p>
        </p:txBody>
      </p:sp>
      <p:sp>
        <p:nvSpPr>
          <p:cNvPr id="38" name="Shape 33"/>
          <p:cNvSpPr/>
          <p:nvPr/>
        </p:nvSpPr>
        <p:spPr>
          <a:xfrm>
            <a:off x="3299384" y="3950208"/>
            <a:ext cx="2705024" cy="438912"/>
          </a:xfrm>
          <a:prstGeom prst="roundRect">
            <a:avLst>
              <a:gd name="adj" fmla="val 18750"/>
            </a:avLst>
          </a:prstGeom>
          <a:solidFill>
            <a:srgbClr val="F1F7F4"/>
          </a:solidFill>
          <a:ln w="9525">
            <a:solidFill>
              <a:srgbClr val="DCE8E2"/>
            </a:solidFill>
            <a:prstDash val="solid"/>
          </a:ln>
        </p:spPr>
      </p:sp>
      <p:sp>
        <p:nvSpPr>
          <p:cNvPr id="39" name="Shape 34"/>
          <p:cNvSpPr/>
          <p:nvPr/>
        </p:nvSpPr>
        <p:spPr>
          <a:xfrm>
            <a:off x="5730088" y="4123944"/>
            <a:ext cx="100584" cy="100584"/>
          </a:xfrm>
          <a:prstGeom prst="roundRect">
            <a:avLst>
              <a:gd name="adj" fmla="val 18182"/>
            </a:avLst>
          </a:prstGeom>
          <a:solidFill>
            <a:srgbClr val="0089A1"/>
          </a:solidFill>
          <a:ln/>
        </p:spPr>
      </p:sp>
      <p:sp>
        <p:nvSpPr>
          <p:cNvPr id="40" name="Text 35"/>
          <p:cNvSpPr/>
          <p:nvPr/>
        </p:nvSpPr>
        <p:spPr>
          <a:xfrm>
            <a:off x="3427400" y="3950208"/>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توفير مصادر التعلم</a:t>
            </a:r>
            <a:endParaRPr lang="ar-SA" sz="1000" dirty="0"/>
          </a:p>
        </p:txBody>
      </p:sp>
      <p:sp>
        <p:nvSpPr>
          <p:cNvPr id="41" name="Shape 36"/>
          <p:cNvSpPr/>
          <p:nvPr/>
        </p:nvSpPr>
        <p:spPr>
          <a:xfrm>
            <a:off x="411480" y="3950208"/>
            <a:ext cx="2705024" cy="438912"/>
          </a:xfrm>
          <a:prstGeom prst="roundRect">
            <a:avLst>
              <a:gd name="adj" fmla="val 18750"/>
            </a:avLst>
          </a:prstGeom>
          <a:solidFill>
            <a:srgbClr val="F1F7F4"/>
          </a:solidFill>
          <a:ln w="9525">
            <a:solidFill>
              <a:srgbClr val="DCE8E2"/>
            </a:solidFill>
            <a:prstDash val="solid"/>
          </a:ln>
        </p:spPr>
      </p:sp>
      <p:sp>
        <p:nvSpPr>
          <p:cNvPr id="42" name="Shape 37"/>
          <p:cNvSpPr/>
          <p:nvPr/>
        </p:nvSpPr>
        <p:spPr>
          <a:xfrm>
            <a:off x="2842184" y="4123944"/>
            <a:ext cx="100584" cy="100584"/>
          </a:xfrm>
          <a:prstGeom prst="roundRect">
            <a:avLst>
              <a:gd name="adj" fmla="val 18182"/>
            </a:avLst>
          </a:prstGeom>
          <a:solidFill>
            <a:srgbClr val="0089A1"/>
          </a:solidFill>
          <a:ln/>
        </p:spPr>
      </p:sp>
      <p:sp>
        <p:nvSpPr>
          <p:cNvPr id="43" name="Text 38"/>
          <p:cNvSpPr/>
          <p:nvPr/>
        </p:nvSpPr>
        <p:spPr>
          <a:xfrm>
            <a:off x="539496" y="3950208"/>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برامج دعم القراءة</a:t>
            </a:r>
            <a:endParaRPr lang="ar-SA" sz="1000" dirty="0"/>
          </a:p>
        </p:txBody>
      </p:sp>
      <p:sp>
        <p:nvSpPr>
          <p:cNvPr id="44" name="Shape 39"/>
          <p:cNvSpPr/>
          <p:nvPr/>
        </p:nvSpPr>
        <p:spPr>
          <a:xfrm>
            <a:off x="9075191" y="4517136"/>
            <a:ext cx="2705024" cy="438912"/>
          </a:xfrm>
          <a:prstGeom prst="roundRect">
            <a:avLst>
              <a:gd name="adj" fmla="val 18750"/>
            </a:avLst>
          </a:prstGeom>
          <a:solidFill>
            <a:srgbClr val="F1F7F4"/>
          </a:solidFill>
          <a:ln w="9525">
            <a:solidFill>
              <a:srgbClr val="DCE8E2"/>
            </a:solidFill>
            <a:prstDash val="solid"/>
          </a:ln>
        </p:spPr>
      </p:sp>
      <p:sp>
        <p:nvSpPr>
          <p:cNvPr id="45" name="Shape 40"/>
          <p:cNvSpPr/>
          <p:nvPr/>
        </p:nvSpPr>
        <p:spPr>
          <a:xfrm>
            <a:off x="11505895" y="4690872"/>
            <a:ext cx="100584" cy="100584"/>
          </a:xfrm>
          <a:prstGeom prst="roundRect">
            <a:avLst>
              <a:gd name="adj" fmla="val 18182"/>
            </a:avLst>
          </a:prstGeom>
          <a:solidFill>
            <a:srgbClr val="0089A1"/>
          </a:solidFill>
          <a:ln/>
        </p:spPr>
      </p:sp>
      <p:sp>
        <p:nvSpPr>
          <p:cNvPr id="46" name="Text 41"/>
          <p:cNvSpPr/>
          <p:nvPr/>
        </p:nvSpPr>
        <p:spPr>
          <a:xfrm>
            <a:off x="9203207" y="4517136"/>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برامج دعم الرياضيات</a:t>
            </a:r>
            <a:endParaRPr lang="ar-SA" sz="1000" dirty="0"/>
          </a:p>
        </p:txBody>
      </p:sp>
      <p:sp>
        <p:nvSpPr>
          <p:cNvPr id="47" name="Shape 42"/>
          <p:cNvSpPr/>
          <p:nvPr/>
        </p:nvSpPr>
        <p:spPr>
          <a:xfrm>
            <a:off x="6187288" y="4517136"/>
            <a:ext cx="2705024" cy="438912"/>
          </a:xfrm>
          <a:prstGeom prst="roundRect">
            <a:avLst>
              <a:gd name="adj" fmla="val 18750"/>
            </a:avLst>
          </a:prstGeom>
          <a:solidFill>
            <a:srgbClr val="F1F7F4"/>
          </a:solidFill>
          <a:ln w="9525">
            <a:solidFill>
              <a:srgbClr val="DCE8E2"/>
            </a:solidFill>
            <a:prstDash val="solid"/>
          </a:ln>
        </p:spPr>
      </p:sp>
      <p:sp>
        <p:nvSpPr>
          <p:cNvPr id="48" name="Shape 43"/>
          <p:cNvSpPr/>
          <p:nvPr/>
        </p:nvSpPr>
        <p:spPr>
          <a:xfrm>
            <a:off x="8617991" y="4690872"/>
            <a:ext cx="100584" cy="100584"/>
          </a:xfrm>
          <a:prstGeom prst="roundRect">
            <a:avLst>
              <a:gd name="adj" fmla="val 18182"/>
            </a:avLst>
          </a:prstGeom>
          <a:solidFill>
            <a:srgbClr val="0089A1"/>
          </a:solidFill>
          <a:ln/>
        </p:spPr>
      </p:sp>
      <p:sp>
        <p:nvSpPr>
          <p:cNvPr id="49" name="Text 44"/>
          <p:cNvSpPr/>
          <p:nvPr/>
        </p:nvSpPr>
        <p:spPr>
          <a:xfrm>
            <a:off x="6315304" y="4517136"/>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برامج دعم العلوم</a:t>
            </a:r>
            <a:endParaRPr lang="ar-SA" sz="1000" dirty="0"/>
          </a:p>
        </p:txBody>
      </p:sp>
      <p:sp>
        <p:nvSpPr>
          <p:cNvPr id="50" name="Shape 45"/>
          <p:cNvSpPr/>
          <p:nvPr/>
        </p:nvSpPr>
        <p:spPr>
          <a:xfrm>
            <a:off x="3299384" y="4517136"/>
            <a:ext cx="2705024" cy="438912"/>
          </a:xfrm>
          <a:prstGeom prst="roundRect">
            <a:avLst>
              <a:gd name="adj" fmla="val 18750"/>
            </a:avLst>
          </a:prstGeom>
          <a:solidFill>
            <a:srgbClr val="F1F7F4"/>
          </a:solidFill>
          <a:ln w="9525">
            <a:solidFill>
              <a:srgbClr val="DCE8E2"/>
            </a:solidFill>
            <a:prstDash val="solid"/>
          </a:ln>
        </p:spPr>
      </p:sp>
      <p:sp>
        <p:nvSpPr>
          <p:cNvPr id="51" name="Shape 46"/>
          <p:cNvSpPr/>
          <p:nvPr/>
        </p:nvSpPr>
        <p:spPr>
          <a:xfrm>
            <a:off x="5730088" y="4690872"/>
            <a:ext cx="100584" cy="100584"/>
          </a:xfrm>
          <a:prstGeom prst="roundRect">
            <a:avLst>
              <a:gd name="adj" fmla="val 18182"/>
            </a:avLst>
          </a:prstGeom>
          <a:solidFill>
            <a:srgbClr val="0089A1"/>
          </a:solidFill>
          <a:ln/>
        </p:spPr>
      </p:sp>
      <p:sp>
        <p:nvSpPr>
          <p:cNvPr id="52" name="Text 47"/>
          <p:cNvSpPr/>
          <p:nvPr/>
        </p:nvSpPr>
        <p:spPr>
          <a:xfrm>
            <a:off x="3427400" y="4517136"/>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خطط الدعم الفردية</a:t>
            </a:r>
            <a:endParaRPr lang="ar-SA" sz="1000" dirty="0"/>
          </a:p>
        </p:txBody>
      </p:sp>
      <p:sp>
        <p:nvSpPr>
          <p:cNvPr id="53" name="Shape 48"/>
          <p:cNvSpPr/>
          <p:nvPr/>
        </p:nvSpPr>
        <p:spPr>
          <a:xfrm>
            <a:off x="7802575" y="5193792"/>
            <a:ext cx="3977640" cy="1261872"/>
          </a:xfrm>
          <a:prstGeom prst="roundRect">
            <a:avLst>
              <a:gd name="adj" fmla="val 5435"/>
            </a:avLst>
          </a:prstGeom>
          <a:solidFill>
            <a:srgbClr val="FFFFFF"/>
          </a:solidFill>
          <a:ln w="9525">
            <a:solidFill>
              <a:srgbClr val="DCE8E2"/>
            </a:solidFill>
            <a:prstDash val="solid"/>
          </a:ln>
        </p:spPr>
      </p:sp>
      <p:sp>
        <p:nvSpPr>
          <p:cNvPr id="54" name="Text 49"/>
          <p:cNvSpPr/>
          <p:nvPr/>
        </p:nvSpPr>
        <p:spPr>
          <a:xfrm>
            <a:off x="8031175" y="5285232"/>
            <a:ext cx="3520440" cy="292608"/>
          </a:xfrm>
          <a:prstGeom prst="rect">
            <a:avLst/>
          </a:prstGeom>
          <a:noFill/>
          <a:ln/>
        </p:spPr>
        <p:txBody>
          <a:bodyPr wrap="square" lIns="0" tIns="0" rIns="0" bIns="0" rtlCol="0" anchor="t"/>
          <a:lstStyle/>
          <a:p>
            <a:pPr rtl="1" algn="r" indent="0" marL="0">
              <a:buNone/>
            </a:pPr>
            <a:r>
              <a:rPr lang="ar-SA" altLang="en-US" sz="1050" b="1" dirty="0">
                <a:solidFill>
                  <a:srgbClr val="063E33"/>
                </a:solidFill>
                <a:latin typeface="Tajawal" pitchFamily="34" charset="0"/>
                <a:ea typeface="Tajawal" pitchFamily="34" charset="-122"/>
                <a:cs typeface="Tajawal" pitchFamily="34" charset="-120"/>
              </a:rPr>
              <a:t>مؤشرات الاعتماد المدرسي</a:t>
            </a:r>
            <a:endParaRPr lang="ar-SA" sz="1050" dirty="0"/>
          </a:p>
        </p:txBody>
      </p:sp>
      <p:sp>
        <p:nvSpPr>
          <p:cNvPr id="55" name="Shape 50"/>
          <p:cNvSpPr/>
          <p:nvPr/>
        </p:nvSpPr>
        <p:spPr>
          <a:xfrm>
            <a:off x="10893247" y="5632704"/>
            <a:ext cx="658368" cy="274320"/>
          </a:xfrm>
          <a:prstGeom prst="roundRect">
            <a:avLst>
              <a:gd name="adj" fmla="val 20000"/>
            </a:avLst>
          </a:prstGeom>
          <a:solidFill>
            <a:srgbClr val="FFFFFF"/>
          </a:solidFill>
          <a:ln w="9525">
            <a:solidFill>
              <a:srgbClr val="095242"/>
            </a:solidFill>
            <a:prstDash val="solid"/>
          </a:ln>
        </p:spPr>
      </p:sp>
      <p:sp>
        <p:nvSpPr>
          <p:cNvPr id="56" name="Text 51"/>
          <p:cNvSpPr/>
          <p:nvPr/>
        </p:nvSpPr>
        <p:spPr>
          <a:xfrm>
            <a:off x="10893247" y="56235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‎2-1-1-1‎</a:t>
            </a:r>
            <a:endParaRPr lang="ar-SA" sz="800" dirty="0"/>
          </a:p>
        </p:txBody>
      </p:sp>
      <p:sp>
        <p:nvSpPr>
          <p:cNvPr id="57" name="Shape 52"/>
          <p:cNvSpPr/>
          <p:nvPr/>
        </p:nvSpPr>
        <p:spPr>
          <a:xfrm>
            <a:off x="10125151" y="5632704"/>
            <a:ext cx="658368" cy="274320"/>
          </a:xfrm>
          <a:prstGeom prst="roundRect">
            <a:avLst>
              <a:gd name="adj" fmla="val 20000"/>
            </a:avLst>
          </a:prstGeom>
          <a:solidFill>
            <a:srgbClr val="FFFFFF"/>
          </a:solidFill>
          <a:ln w="9525">
            <a:solidFill>
              <a:srgbClr val="095242"/>
            </a:solidFill>
            <a:prstDash val="solid"/>
          </a:ln>
        </p:spPr>
      </p:sp>
      <p:sp>
        <p:nvSpPr>
          <p:cNvPr id="58" name="Text 53"/>
          <p:cNvSpPr/>
          <p:nvPr/>
        </p:nvSpPr>
        <p:spPr>
          <a:xfrm>
            <a:off x="10125151" y="56235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‎2-1-1-2‎</a:t>
            </a:r>
            <a:endParaRPr lang="ar-SA" sz="800" dirty="0"/>
          </a:p>
        </p:txBody>
      </p:sp>
      <p:sp>
        <p:nvSpPr>
          <p:cNvPr id="59" name="Shape 54"/>
          <p:cNvSpPr/>
          <p:nvPr/>
        </p:nvSpPr>
        <p:spPr>
          <a:xfrm>
            <a:off x="9357055" y="5632704"/>
            <a:ext cx="658368" cy="274320"/>
          </a:xfrm>
          <a:prstGeom prst="roundRect">
            <a:avLst>
              <a:gd name="adj" fmla="val 20000"/>
            </a:avLst>
          </a:prstGeom>
          <a:solidFill>
            <a:srgbClr val="FFFFFF"/>
          </a:solidFill>
          <a:ln w="9525">
            <a:solidFill>
              <a:srgbClr val="095242"/>
            </a:solidFill>
            <a:prstDash val="solid"/>
          </a:ln>
        </p:spPr>
      </p:sp>
      <p:sp>
        <p:nvSpPr>
          <p:cNvPr id="60" name="Text 55"/>
          <p:cNvSpPr/>
          <p:nvPr/>
        </p:nvSpPr>
        <p:spPr>
          <a:xfrm>
            <a:off x="9357055" y="56235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‎3-1-1-1‎</a:t>
            </a:r>
            <a:endParaRPr lang="ar-SA" sz="800" dirty="0"/>
          </a:p>
        </p:txBody>
      </p:sp>
      <p:sp>
        <p:nvSpPr>
          <p:cNvPr id="61" name="Shape 56"/>
          <p:cNvSpPr/>
          <p:nvPr/>
        </p:nvSpPr>
        <p:spPr>
          <a:xfrm>
            <a:off x="8588959" y="5632704"/>
            <a:ext cx="658368" cy="274320"/>
          </a:xfrm>
          <a:prstGeom prst="roundRect">
            <a:avLst>
              <a:gd name="adj" fmla="val 20000"/>
            </a:avLst>
          </a:prstGeom>
          <a:solidFill>
            <a:srgbClr val="FFFFFF"/>
          </a:solidFill>
          <a:ln w="9525">
            <a:solidFill>
              <a:srgbClr val="095242"/>
            </a:solidFill>
            <a:prstDash val="solid"/>
          </a:ln>
        </p:spPr>
      </p:sp>
      <p:sp>
        <p:nvSpPr>
          <p:cNvPr id="62" name="Text 57"/>
          <p:cNvSpPr/>
          <p:nvPr/>
        </p:nvSpPr>
        <p:spPr>
          <a:xfrm>
            <a:off x="8588959" y="56235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‎3-1-1-2‎</a:t>
            </a:r>
            <a:endParaRPr lang="ar-SA" sz="800" dirty="0"/>
          </a:p>
        </p:txBody>
      </p:sp>
      <p:sp>
        <p:nvSpPr>
          <p:cNvPr id="63" name="Shape 58"/>
          <p:cNvSpPr/>
          <p:nvPr/>
        </p:nvSpPr>
        <p:spPr>
          <a:xfrm>
            <a:off x="7820863" y="5632704"/>
            <a:ext cx="658368" cy="274320"/>
          </a:xfrm>
          <a:prstGeom prst="roundRect">
            <a:avLst>
              <a:gd name="adj" fmla="val 20000"/>
            </a:avLst>
          </a:prstGeom>
          <a:solidFill>
            <a:srgbClr val="FFFFFF"/>
          </a:solidFill>
          <a:ln w="9525">
            <a:solidFill>
              <a:srgbClr val="095242"/>
            </a:solidFill>
            <a:prstDash val="solid"/>
          </a:ln>
        </p:spPr>
      </p:sp>
      <p:sp>
        <p:nvSpPr>
          <p:cNvPr id="64" name="Text 59"/>
          <p:cNvSpPr/>
          <p:nvPr/>
        </p:nvSpPr>
        <p:spPr>
          <a:xfrm>
            <a:off x="7820863" y="56235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‎3-1-1-3‎</a:t>
            </a:r>
            <a:endParaRPr lang="ar-SA" sz="800" dirty="0"/>
          </a:p>
        </p:txBody>
      </p:sp>
      <p:sp>
        <p:nvSpPr>
          <p:cNvPr id="65" name="Shape 60"/>
          <p:cNvSpPr/>
          <p:nvPr/>
        </p:nvSpPr>
        <p:spPr>
          <a:xfrm>
            <a:off x="10893247" y="5998464"/>
            <a:ext cx="658368" cy="274320"/>
          </a:xfrm>
          <a:prstGeom prst="roundRect">
            <a:avLst>
              <a:gd name="adj" fmla="val 20000"/>
            </a:avLst>
          </a:prstGeom>
          <a:solidFill>
            <a:srgbClr val="FFFFFF"/>
          </a:solidFill>
          <a:ln w="9525">
            <a:solidFill>
              <a:srgbClr val="095242"/>
            </a:solidFill>
            <a:prstDash val="solid"/>
          </a:ln>
        </p:spPr>
      </p:sp>
      <p:sp>
        <p:nvSpPr>
          <p:cNvPr id="66" name="Text 61"/>
          <p:cNvSpPr/>
          <p:nvPr/>
        </p:nvSpPr>
        <p:spPr>
          <a:xfrm>
            <a:off x="10893247" y="598932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‎4-1-1-2‎</a:t>
            </a:r>
            <a:endParaRPr lang="ar-SA" sz="800" dirty="0"/>
          </a:p>
        </p:txBody>
      </p:sp>
      <p:sp>
        <p:nvSpPr>
          <p:cNvPr id="67" name="Shape 62"/>
          <p:cNvSpPr/>
          <p:nvPr/>
        </p:nvSpPr>
        <p:spPr>
          <a:xfrm>
            <a:off x="10125151" y="5998464"/>
            <a:ext cx="658368" cy="274320"/>
          </a:xfrm>
          <a:prstGeom prst="roundRect">
            <a:avLst>
              <a:gd name="adj" fmla="val 20000"/>
            </a:avLst>
          </a:prstGeom>
          <a:solidFill>
            <a:srgbClr val="FFFFFF"/>
          </a:solidFill>
          <a:ln w="9525">
            <a:solidFill>
              <a:srgbClr val="095242"/>
            </a:solidFill>
            <a:prstDash val="solid"/>
          </a:ln>
        </p:spPr>
      </p:sp>
      <p:sp>
        <p:nvSpPr>
          <p:cNvPr id="68" name="Text 63"/>
          <p:cNvSpPr/>
          <p:nvPr/>
        </p:nvSpPr>
        <p:spPr>
          <a:xfrm>
            <a:off x="10125151" y="598932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‎4-1-1-3‎</a:t>
            </a:r>
            <a:endParaRPr lang="ar-SA" sz="800" dirty="0"/>
          </a:p>
        </p:txBody>
      </p:sp>
      <p:sp>
        <p:nvSpPr>
          <p:cNvPr id="69" name="Shape 64"/>
          <p:cNvSpPr/>
          <p:nvPr/>
        </p:nvSpPr>
        <p:spPr>
          <a:xfrm>
            <a:off x="9357055" y="5998464"/>
            <a:ext cx="658368" cy="274320"/>
          </a:xfrm>
          <a:prstGeom prst="roundRect">
            <a:avLst>
              <a:gd name="adj" fmla="val 20000"/>
            </a:avLst>
          </a:prstGeom>
          <a:solidFill>
            <a:srgbClr val="FFFFFF"/>
          </a:solidFill>
          <a:ln w="9525">
            <a:solidFill>
              <a:srgbClr val="095242"/>
            </a:solidFill>
            <a:prstDash val="solid"/>
          </a:ln>
        </p:spPr>
      </p:sp>
      <p:sp>
        <p:nvSpPr>
          <p:cNvPr id="70" name="Text 65"/>
          <p:cNvSpPr/>
          <p:nvPr/>
        </p:nvSpPr>
        <p:spPr>
          <a:xfrm>
            <a:off x="9357055" y="598932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‎4-1-1-4‎</a:t>
            </a:r>
            <a:endParaRPr lang="ar-SA" sz="800" dirty="0"/>
          </a:p>
        </p:txBody>
      </p:sp>
      <p:sp>
        <p:nvSpPr>
          <p:cNvPr id="71" name="Shape 66"/>
          <p:cNvSpPr/>
          <p:nvPr/>
        </p:nvSpPr>
        <p:spPr>
          <a:xfrm>
            <a:off x="411480" y="5193792"/>
            <a:ext cx="7116775" cy="1261872"/>
          </a:xfrm>
          <a:prstGeom prst="roundRect">
            <a:avLst>
              <a:gd name="adj" fmla="val 5435"/>
            </a:avLst>
          </a:prstGeom>
          <a:solidFill>
            <a:srgbClr val="095242"/>
          </a:solidFill>
          <a:ln/>
          <a:effectLst>
            <a:outerShdw sx="100000" sy="100000" kx="0" ky="0" algn="bl" rotWithShape="0" blurRad="88900" dist="25400" dir="5400000">
              <a:srgbClr val="083528">
                <a:alpha val="22000"/>
              </a:srgbClr>
            </a:outerShdw>
          </a:effectLst>
        </p:spPr>
      </p:sp>
      <p:pic>
        <p:nvPicPr>
          <p:cNvPr id="72" name="Image 3" descr="/tmp/claude-0/-home-user-Mobile1/ab9bbf47-b054-5f6e-be59-70476e095ce8/scratchpad/assets/icons/sparkles_white.png">    </p:cNvPr>
          <p:cNvPicPr>
            <a:picLocks noChangeAspect="1"/>
          </p:cNvPicPr>
          <p:nvPr/>
        </p:nvPicPr>
        <p:blipFill>
          <a:blip r:embed="rId4"/>
          <a:stretch>
            <a:fillRect/>
          </a:stretch>
        </p:blipFill>
        <p:spPr>
          <a:xfrm>
            <a:off x="7052767" y="5303520"/>
            <a:ext cx="256032" cy="256032"/>
          </a:xfrm>
          <a:prstGeom prst="rect">
            <a:avLst/>
          </a:prstGeom>
        </p:spPr>
      </p:pic>
      <p:sp>
        <p:nvSpPr>
          <p:cNvPr id="73" name="Text 67"/>
          <p:cNvSpPr/>
          <p:nvPr/>
        </p:nvSpPr>
        <p:spPr>
          <a:xfrm>
            <a:off x="685800" y="5285232"/>
            <a:ext cx="6248095" cy="292608"/>
          </a:xfrm>
          <a:prstGeom prst="rect">
            <a:avLst/>
          </a:prstGeom>
          <a:noFill/>
          <a:ln/>
        </p:spPr>
        <p:txBody>
          <a:bodyPr wrap="square" lIns="0" tIns="0" rIns="0" bIns="0" rtlCol="0" anchor="t"/>
          <a:lstStyle/>
          <a:p>
            <a:pPr rtl="1" algn="r" indent="0" marL="0">
              <a:buNone/>
            </a:pPr>
            <a:r>
              <a:rPr lang="ar-SA" altLang="en-US" sz="1150" b="1" dirty="0">
                <a:solidFill>
                  <a:srgbClr val="FFFFFF"/>
                </a:solidFill>
                <a:latin typeface="Tajawal" pitchFamily="34" charset="0"/>
                <a:ea typeface="Tajawal" pitchFamily="34" charset="-122"/>
                <a:cs typeface="Tajawal" pitchFamily="34" charset="-120"/>
              </a:rPr>
              <a:t>المخرجات المتوقّعة</a:t>
            </a:r>
            <a:endParaRPr lang="ar-SA" sz="1150" dirty="0"/>
          </a:p>
        </p:txBody>
      </p:sp>
      <p:sp>
        <p:nvSpPr>
          <p:cNvPr id="74" name="Text 68"/>
          <p:cNvSpPr/>
          <p:nvPr/>
        </p:nvSpPr>
        <p:spPr>
          <a:xfrm>
            <a:off x="685800" y="5614416"/>
            <a:ext cx="6549847" cy="749808"/>
          </a:xfrm>
          <a:prstGeom prst="rect">
            <a:avLst/>
          </a:prstGeom>
          <a:noFill/>
          <a:ln/>
        </p:spPr>
        <p:txBody>
          <a:bodyPr wrap="square" lIns="0" tIns="0" rIns="0" bIns="0" rtlCol="0" anchor="t"/>
          <a:lstStyle/>
          <a:p>
            <a:pPr rtl="1" algn="r" indent="0" marL="0">
              <a:lnSpc>
                <a:spcPct val="120000"/>
              </a:lnSpc>
              <a:buNone/>
            </a:pPr>
            <a:r>
              <a:rPr lang="ar-SA" altLang="en-US" sz="960" dirty="0">
                <a:solidFill>
                  <a:srgbClr val="D9E9E3"/>
                </a:solidFill>
                <a:latin typeface="Tajawal" pitchFamily="34" charset="0"/>
                <a:ea typeface="Tajawal" pitchFamily="34" charset="-122"/>
                <a:cs typeface="Tajawal" pitchFamily="34" charset="-120"/>
              </a:rPr>
              <a:t>ارتفاع نسبة الفصول المهيّأة لذوي الإعاقة • زيادة المستفيدين من برامج الدعم بنسبة لا تقل عن ٢٠٪ • تنوّع مصادر التعلّم وتغطية المهارات الأساسية.</a:t>
            </a:r>
            <a:endParaRPr lang="ar-SA" sz="9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tmp/claude-0/-home-user-Mobile1/ab9bbf47-b054-5f6e-be59-70476e095ce8/scratchpad/assets/bg_content.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665415" y="6519672"/>
            <a:ext cx="4114800" cy="274320"/>
          </a:xfrm>
          <a:prstGeom prst="rect">
            <a:avLst/>
          </a:prstGeom>
          <a:noFill/>
          <a:ln/>
        </p:spPr>
        <p:txBody>
          <a:bodyPr wrap="square" lIns="0" tIns="0" rIns="0" bIns="0" rtlCol="0" anchor="t"/>
          <a:lstStyle/>
          <a:p>
            <a:pPr rtl="1" algn="r" indent="0" marL="0">
              <a:buNone/>
            </a:pPr>
            <a:r>
              <a:rPr lang="ar-SA" altLang="en-US" sz="800" dirty="0">
                <a:solidFill>
                  <a:srgbClr val="7C8F87"/>
                </a:solidFill>
                <a:latin typeface="Tajawal" pitchFamily="34" charset="0"/>
                <a:ea typeface="Tajawal" pitchFamily="34" charset="-122"/>
                <a:cs typeface="Tajawal" pitchFamily="34" charset="-120"/>
              </a:rPr>
              <a:t>الخطة التشغيلية للعام الدراسي ١٤٤٨هـ</a:t>
            </a:r>
            <a:endParaRPr lang="ar-SA" sz="800" dirty="0"/>
          </a:p>
        </p:txBody>
      </p:sp>
      <p:sp>
        <p:nvSpPr>
          <p:cNvPr id="4" name="Text 1"/>
          <p:cNvSpPr/>
          <p:nvPr/>
        </p:nvSpPr>
        <p:spPr>
          <a:xfrm>
            <a:off x="411480" y="6519672"/>
            <a:ext cx="914400" cy="274320"/>
          </a:xfrm>
          <a:prstGeom prst="rect">
            <a:avLst/>
          </a:prstGeom>
          <a:noFill/>
          <a:ln/>
        </p:spPr>
        <p:txBody>
          <a:bodyPr wrap="square" lIns="0" tIns="0" rIns="0" bIns="0" rtlCol="0" anchor="t"/>
          <a:lstStyle/>
          <a:p>
            <a:pPr rtl="1" algn="l" indent="0" marL="0">
              <a:buNone/>
            </a:pPr>
            <a:r>
              <a:rPr lang="ar-SA" altLang="en-US" sz="850" b="1" dirty="0">
                <a:solidFill>
                  <a:srgbClr val="7C8F87"/>
                </a:solidFill>
                <a:latin typeface="Tajawal" pitchFamily="34" charset="0"/>
                <a:ea typeface="Tajawal" pitchFamily="34" charset="-122"/>
                <a:cs typeface="Tajawal" pitchFamily="34" charset="-120"/>
              </a:rPr>
              <a:t>١٦</a:t>
            </a:r>
            <a:endParaRPr lang="ar-SA" sz="850" dirty="0"/>
          </a:p>
        </p:txBody>
      </p:sp>
      <p:sp>
        <p:nvSpPr>
          <p:cNvPr id="5" name="Shape 2"/>
          <p:cNvSpPr/>
          <p:nvPr/>
        </p:nvSpPr>
        <p:spPr>
          <a:xfrm>
            <a:off x="411480" y="274320"/>
            <a:ext cx="11368735" cy="548640"/>
          </a:xfrm>
          <a:prstGeom prst="roundRect">
            <a:avLst>
              <a:gd name="adj" fmla="val 15000"/>
            </a:avLst>
          </a:prstGeom>
          <a:solidFill>
            <a:srgbClr val="095242"/>
          </a:solidFill>
          <a:ln/>
        </p:spPr>
      </p:sp>
      <p:sp>
        <p:nvSpPr>
          <p:cNvPr id="6" name="Shape 3"/>
          <p:cNvSpPr/>
          <p:nvPr/>
        </p:nvSpPr>
        <p:spPr>
          <a:xfrm>
            <a:off x="576072" y="379476"/>
            <a:ext cx="1371600" cy="338328"/>
          </a:xfrm>
          <a:prstGeom prst="roundRect">
            <a:avLst>
              <a:gd name="adj" fmla="val 18919"/>
            </a:avLst>
          </a:prstGeom>
          <a:solidFill>
            <a:srgbClr val="FFFFFF">
              <a:alpha val="14000"/>
            </a:srgbClr>
          </a:solidFill>
          <a:ln w="6350">
            <a:solidFill>
              <a:srgbClr val="FFFFFF">
                <a:alpha val="45000"/>
              </a:srgbClr>
            </a:solidFill>
            <a:prstDash val="solid"/>
          </a:ln>
        </p:spPr>
      </p:sp>
      <p:sp>
        <p:nvSpPr>
          <p:cNvPr id="7" name="Text 4"/>
          <p:cNvSpPr/>
          <p:nvPr/>
        </p:nvSpPr>
        <p:spPr>
          <a:xfrm>
            <a:off x="576072" y="370332"/>
            <a:ext cx="1371600" cy="338328"/>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البرامج التفصيلية</a:t>
            </a:r>
            <a:endParaRPr lang="ar-SA" sz="950" dirty="0"/>
          </a:p>
        </p:txBody>
      </p:sp>
      <p:sp>
        <p:nvSpPr>
          <p:cNvPr id="8" name="Text 5"/>
          <p:cNvSpPr/>
          <p:nvPr/>
        </p:nvSpPr>
        <p:spPr>
          <a:xfrm>
            <a:off x="2194560" y="274320"/>
            <a:ext cx="9311335" cy="548640"/>
          </a:xfrm>
          <a:prstGeom prst="rect">
            <a:avLst/>
          </a:prstGeom>
          <a:noFill/>
          <a:ln/>
        </p:spPr>
        <p:txBody>
          <a:bodyPr wrap="square" lIns="0" tIns="0" rIns="0" bIns="0" rtlCol="0" anchor="ctr"/>
          <a:lstStyle/>
          <a:p>
            <a:pPr rtl="1" algn="r" indent="0" marL="0">
              <a:buNone/>
            </a:pPr>
            <a:r>
              <a:rPr lang="ar-SA" altLang="en-US" sz="1550" b="1" dirty="0">
                <a:solidFill>
                  <a:srgbClr val="FFFFFF"/>
                </a:solidFill>
                <a:latin typeface="Tajawal" pitchFamily="34" charset="0"/>
                <a:ea typeface="Tajawal" pitchFamily="34" charset="-122"/>
                <a:cs typeface="Tajawal" pitchFamily="34" charset="-120"/>
              </a:rPr>
              <a:t>الهدف الاستراتيجي العام ١: ضمان وصول التعليم للجميع</a:t>
            </a:r>
            <a:endParaRPr lang="ar-SA" sz="15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914400"/>
        </p:xfrm>
        <a:graphic>
          <a:graphicData uri="http://schemas.openxmlformats.org/drawingml/2006/table">
            <a:tbl>
              <a:tblPr/>
              <a:tblGrid>
                <a:gridCol w="9631375"/>
                <a:gridCol w="1737360"/>
              </a:tblGrid>
              <a:tr h="274320">
                <a:tc>
                  <a:txBody>
                    <a:bodyPr/>
                    <a:lstStyle/>
                    <a:p>
                      <a:pPr rtl="1" algn="r" indent="0" marL="0">
                        <a:buNone/>
                      </a:pPr>
                      <a:r>
                        <a:rPr lang="ar-SA" altLang="en-US" sz="940" b="1" dirty="0">
                          <a:solidFill>
                            <a:srgbClr val="063E33"/>
                          </a:solidFill>
                          <a:latin typeface="Tajawal" pitchFamily="34" charset="0"/>
                          <a:ea typeface="Tajawal" pitchFamily="34" charset="-122"/>
                          <a:cs typeface="Tajawal" pitchFamily="34" charset="-120"/>
                        </a:rPr>
                        <a:t>ضمان وصول التعليم للجميع</a:t>
                      </a:r>
                      <a:endParaRPr lang="ar-SA" sz="9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المحور الاستراتيجي</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B5E4C"/>
                    </a:solidFill>
                  </a:tcPr>
                </a:tc>
              </a:tr>
              <a:tr h="548640">
                <a:tc>
                  <a:txBody>
                    <a:bodyPr/>
                    <a:lstStyle/>
                    <a:p>
                      <a:pPr rtl="1" algn="r" indent="0" marL="0">
                        <a:buNone/>
                      </a:pPr>
                      <a:r>
                        <a:rPr lang="ar-SA" altLang="en-US" sz="820" dirty="0">
                          <a:solidFill>
                            <a:srgbClr val="33473F"/>
                          </a:solidFill>
                          <a:latin typeface="Tajawal" pitchFamily="34" charset="0"/>
                          <a:ea typeface="Tajawal" pitchFamily="34" charset="-122"/>
                          <a:cs typeface="Tajawal" pitchFamily="34" charset="-120"/>
                        </a:rPr>
                        <a:t>يهدف هذا المحور إلى ضمان حصول جميع الطلاب على فرص تعليمية متكافئة وشاملة، وتوفير بيئات تعليمية داعمة تراعي الفروق الفردية والاحتياجات التعليمية المتنوعة، بما يسهم في تحسين جودة التعليم وتعزيز نواتج التعلم وتحقيق مبادئ العدالة وتكافؤ الفرص.</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الهدف التفصيلي (١-١)</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B5E4C"/>
                    </a:solidFill>
                  </a:tcPr>
                </a:tc>
              </a:tr>
              <a:tr h="420624">
                <a:tc>
                  <a:txBody>
                    <a:bodyPr/>
                    <a:lstStyle/>
                    <a:p>
                      <a:pPr rtl="1" algn="r" indent="0" marL="0">
                        <a:buNone/>
                      </a:pPr>
                      <a:r>
                        <a:rPr lang="ar-SA" altLang="en-US" sz="840" b="1" dirty="0">
                          <a:solidFill>
                            <a:srgbClr val="0B4A56"/>
                          </a:solidFill>
                          <a:latin typeface="Tajawal" pitchFamily="34" charset="0"/>
                          <a:ea typeface="Tajawal" pitchFamily="34" charset="-122"/>
                          <a:cs typeface="Tajawal" pitchFamily="34" charset="-120"/>
                        </a:rPr>
                        <a:t>نسبة المستفيدين من برامج الدعم والتهيئة لذوي الإعاقة والموهوبين خلال العام. المستهدف: رفع نسبة الفرص التعليمية المتكافئة للطلاب جميعًا بنسبة ٨٠٪ خلال العام.</a:t>
                      </a:r>
                      <a:endParaRPr lang="ar-SA" sz="8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مؤشر قياس الأداء (المستهدف)</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B5E4C"/>
                    </a:solidFill>
                  </a:tcPr>
                </a:tc>
              </a:tr>
            </a:tbl>
          </a:graphicData>
        </a:graphic>
      </p:graphicFrame>
      <p:graphicFrame>
        <p:nvGraphicFramePr>
          <p:cNvPr id="33" name="Table 1"/>
          <p:cNvGraphicFramePr>
            <a:graphicFrameLocks noGrp="1"/>
          </p:cNvGraphicFramePr>
          <p:nvPr>
            <p:extLst>
              <p:ext uri="{D42A27DB-BD31-4B8C-83A1-F6EECF244321}">
                <p14:modId xmlns:p14="http://schemas.microsoft.com/office/powerpoint/2010/main" val="1579011935"/>
              </p:ext>
            </p:extLst>
          </p:nvPr>
        </p:nvGraphicFramePr>
        <p:xfrm>
          <a:off x="411480" y="2286000"/>
          <a:ext cx="11368735" cy="914400"/>
        </p:xfrm>
        <a:graphic>
          <a:graphicData uri="http://schemas.openxmlformats.org/drawingml/2006/table">
            <a:tbl>
              <a:tblPr/>
              <a:tblGrid>
                <a:gridCol w="859536"/>
                <a:gridCol w="1243584"/>
                <a:gridCol w="941832"/>
                <a:gridCol w="960120"/>
                <a:gridCol w="914400"/>
                <a:gridCol w="1051560"/>
                <a:gridCol w="1097280"/>
                <a:gridCol w="548640"/>
                <a:gridCol w="365760"/>
                <a:gridCol w="914400"/>
                <a:gridCol w="1371600"/>
                <a:gridCol w="804672"/>
                <a:gridCol w="292608"/>
              </a:tblGrid>
              <a:tr h="274320">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مؤشر تحقق الهدف</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أسلوب التنفيذ</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الفئة المستهدفة</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gridSpan="3">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جهة التنفيذ</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63E33"/>
                    </a:solidFill>
                  </a:tcPr>
                </a:tc>
                <a:tc hMerge="1">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المتطلبات</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grid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زمن التنفيذ</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63E33"/>
                    </a:solidFill>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مصدر البرنامج</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اسم المشروع / البرنامج</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المجال</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r>
              <a:tr h="292608">
                <a:tc vMerge="1">
                  <a:tcPr/>
                </a:tc>
                <a:tc vMerge="1">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الدعم الخارجي</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المساندة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الرئيسة وفريق العمل</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الأسبوع</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ف</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vMerge="1">
                  <a:tcPr/>
                </a:tc>
                <a:tc vMerge="1">
                  <a:tcPr/>
                </a:tc>
                <a:tc vMerge="1">
                  <a:tcPr/>
                </a:tc>
                <a:tc vMerge="1">
                  <a:tcPr/>
                </a:tc>
              </a:tr>
              <a:tr h="327521">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حصر، خطط، تنفيذ</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الطلاب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المرشد</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قاعدة بيانات + موارد</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٣-٥</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تكافؤ الفرص التعليمية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التعليم والتعلّم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١</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27521">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برامج فردية تأهيلية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طلاب الدمج</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مركز التأهيل</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المرشد</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معلم التربية الخاصة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معلم تربية خاصة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٦-١٥</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دمج ذوي الإعاقة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التعليم والتعلّم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٢</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27521">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جولات، تقييم، تطوير</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المرافق</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المرافق</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السلامة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دعم فني وميزانية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١-٤</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تهيئة البيئة لذوي الإعاقة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٣</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27521">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صيانة، تجهيز</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المرافق</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المرافق</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السلامة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مقاول صيانة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٢-٣</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مواءمة دورات المياه</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٤</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27521">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منحدرات، لوحات إرشادية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المرافق</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السلامة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معدات تنقّل</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تسهيل التنقل بين المرافق</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٥</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27521">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تجهيز، صيانة دورية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الفصول</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المرافق</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أثاث + أجهزة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١-٤</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تجهيز الفصول والمعامل</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٦</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27521">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مكتبة، مصادر رقمية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الطلاب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منصة مدرستي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أمين مصادر التعلّم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منصات وأجهزة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١-٣٠</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توفير مصادر التعلّم</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التعليم والتعلّم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٧</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27521">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حصص علاجية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المتعثرون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الإشراف</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المرشد</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معلم اللغة العربية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معلم قراءة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٤-٢٥</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التوجيه الطلابي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برامج دعم القراءة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التعليم والتعلّم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٨</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27521">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حصص وأنشطة علاجية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المتعثرون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الإشراف</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المرشد</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معلم الرياضيات</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وسائل وأدوات</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٤-٢٥</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التوجيه الطلابي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برامج دعم الرياضيات</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التعليم والتعلّم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27521">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تجارب وأنشطة تطبيقية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المتعثرون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الإشراف</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محضر المختبر</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معلم العلوم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معامل ومواد تعليمية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٦-٢٢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التوجيه الطلابي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برامج دعم العلوم</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التعليم والتعلّم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١٠</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27521">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فردية موثقة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الطلاب المحتاجون للدعم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الإشراف</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المرشد الطلابي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سجل متابعة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١-٣٠</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خطط الدعم الفردية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التعليم والتعلّم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١١</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tmp/claude-0/-home-user-Mobile1/ab9bbf47-b054-5f6e-be59-70476e095ce8/scratchpad/assets/bg_content.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665415" y="6519672"/>
            <a:ext cx="4114800" cy="274320"/>
          </a:xfrm>
          <a:prstGeom prst="rect">
            <a:avLst/>
          </a:prstGeom>
          <a:noFill/>
          <a:ln/>
        </p:spPr>
        <p:txBody>
          <a:bodyPr wrap="square" lIns="0" tIns="0" rIns="0" bIns="0" rtlCol="0" anchor="t"/>
          <a:lstStyle/>
          <a:p>
            <a:pPr rtl="1" algn="r" indent="0" marL="0">
              <a:buNone/>
            </a:pPr>
            <a:r>
              <a:rPr lang="ar-SA" altLang="en-US" sz="800" dirty="0">
                <a:solidFill>
                  <a:srgbClr val="7C8F87"/>
                </a:solidFill>
                <a:latin typeface="Tajawal" pitchFamily="34" charset="0"/>
                <a:ea typeface="Tajawal" pitchFamily="34" charset="-122"/>
                <a:cs typeface="Tajawal" pitchFamily="34" charset="-120"/>
              </a:rPr>
              <a:t>الخطة التشغيلية للعام الدراسي ١٤٤٨هـ</a:t>
            </a:r>
            <a:endParaRPr lang="ar-SA" sz="800" dirty="0"/>
          </a:p>
        </p:txBody>
      </p:sp>
      <p:sp>
        <p:nvSpPr>
          <p:cNvPr id="4" name="Text 1"/>
          <p:cNvSpPr/>
          <p:nvPr/>
        </p:nvSpPr>
        <p:spPr>
          <a:xfrm>
            <a:off x="411480" y="6519672"/>
            <a:ext cx="914400" cy="274320"/>
          </a:xfrm>
          <a:prstGeom prst="rect">
            <a:avLst/>
          </a:prstGeom>
          <a:noFill/>
          <a:ln/>
        </p:spPr>
        <p:txBody>
          <a:bodyPr wrap="square" lIns="0" tIns="0" rIns="0" bIns="0" rtlCol="0" anchor="t"/>
          <a:lstStyle/>
          <a:p>
            <a:pPr rtl="1" algn="l" indent="0" marL="0">
              <a:buNone/>
            </a:pPr>
            <a:r>
              <a:rPr lang="ar-SA" altLang="en-US" sz="850" b="1" dirty="0">
                <a:solidFill>
                  <a:srgbClr val="7C8F87"/>
                </a:solidFill>
                <a:latin typeface="Tajawal" pitchFamily="34" charset="0"/>
                <a:ea typeface="Tajawal" pitchFamily="34" charset="-122"/>
                <a:cs typeface="Tajawal" pitchFamily="34" charset="-120"/>
              </a:rPr>
              <a:t>١٧</a:t>
            </a:r>
            <a:endParaRPr lang="ar-SA" sz="850" dirty="0"/>
          </a:p>
        </p:txBody>
      </p:sp>
      <p:pic>
        <p:nvPicPr>
          <p:cNvPr id="5" name="Image 1" descr="/tmp/claude-0/-home-user-Mobile1/ab9bbf47-b054-5f6e-be59-70476e095ce8/scratchpad/assets/band_goal.png">    </p:cNvPr>
          <p:cNvPicPr>
            <a:picLocks noChangeAspect="1"/>
          </p:cNvPicPr>
          <p:nvPr/>
        </p:nvPicPr>
        <p:blipFill>
          <a:blip r:embed="rId2"/>
          <a:stretch>
            <a:fillRect/>
          </a:stretch>
        </p:blipFill>
        <p:spPr>
          <a:xfrm>
            <a:off x="411480" y="292608"/>
            <a:ext cx="11368735" cy="1344168"/>
          </a:xfrm>
          <a:prstGeom prst="rect">
            <a:avLst/>
          </a:prstGeom>
        </p:spPr>
      </p:pic>
      <p:pic>
        <p:nvPicPr>
          <p:cNvPr id="6" name="Image 2" descr="/tmp/claude-0/-home-user-Mobile1/ab9bbf47-b054-5f6e-be59-70476e095ce8/scratchpad/assets/moe_white.png">    </p:cNvPr>
          <p:cNvPicPr>
            <a:picLocks noChangeAspect="1"/>
          </p:cNvPicPr>
          <p:nvPr/>
        </p:nvPicPr>
        <p:blipFill>
          <a:blip r:embed="rId3"/>
          <a:stretch>
            <a:fillRect/>
          </a:stretch>
        </p:blipFill>
        <p:spPr>
          <a:xfrm>
            <a:off x="795528" y="502920"/>
            <a:ext cx="1170432" cy="905256"/>
          </a:xfrm>
          <a:prstGeom prst="rect">
            <a:avLst/>
          </a:prstGeom>
        </p:spPr>
      </p:pic>
      <p:sp>
        <p:nvSpPr>
          <p:cNvPr id="7" name="Text 2"/>
          <p:cNvSpPr/>
          <p:nvPr/>
        </p:nvSpPr>
        <p:spPr>
          <a:xfrm>
            <a:off x="2377440" y="475488"/>
            <a:ext cx="9128455" cy="329184"/>
          </a:xfrm>
          <a:prstGeom prst="rect">
            <a:avLst/>
          </a:prstGeom>
          <a:noFill/>
          <a:ln/>
        </p:spPr>
        <p:txBody>
          <a:bodyPr wrap="square" lIns="0" tIns="0" rIns="0" bIns="0" rtlCol="0" anchor="t"/>
          <a:lstStyle/>
          <a:p>
            <a:pPr rtl="1" algn="r" indent="0" marL="0">
              <a:buNone/>
            </a:pPr>
            <a:r>
              <a:rPr lang="ar-SA" altLang="en-US" sz="1200" b="1" dirty="0">
                <a:solidFill>
                  <a:srgbClr val="C9A45C"/>
                </a:solidFill>
                <a:latin typeface="Tajawal" pitchFamily="34" charset="0"/>
                <a:ea typeface="Tajawal" pitchFamily="34" charset="-122"/>
                <a:cs typeface="Tajawal" pitchFamily="34" charset="-120"/>
              </a:rPr>
              <a:t>الهدف الاستراتيجي رقم ٢</a:t>
            </a:r>
            <a:endParaRPr lang="ar-SA" sz="1200" dirty="0"/>
          </a:p>
        </p:txBody>
      </p:sp>
      <p:sp>
        <p:nvSpPr>
          <p:cNvPr id="8" name="Text 3"/>
          <p:cNvSpPr/>
          <p:nvPr/>
        </p:nvSpPr>
        <p:spPr>
          <a:xfrm>
            <a:off x="2377440" y="822960"/>
            <a:ext cx="9128455" cy="603504"/>
          </a:xfrm>
          <a:prstGeom prst="rect">
            <a:avLst/>
          </a:prstGeom>
          <a:noFill/>
          <a:ln/>
        </p:spPr>
        <p:txBody>
          <a:bodyPr wrap="square" lIns="0" tIns="0" rIns="0" bIns="0" rtlCol="0" anchor="ctr"/>
          <a:lstStyle/>
          <a:p>
            <a:pPr rtl="1" algn="r" indent="0" marL="0">
              <a:buNone/>
            </a:pPr>
            <a:r>
              <a:rPr lang="ar-SA" altLang="en-US" sz="2300" b="1" dirty="0">
                <a:solidFill>
                  <a:srgbClr val="FFFFFF"/>
                </a:solidFill>
                <a:latin typeface="Tajawal" pitchFamily="34" charset="0"/>
                <a:ea typeface="Tajawal" pitchFamily="34" charset="-122"/>
                <a:cs typeface="Tajawal" pitchFamily="34" charset="-120"/>
              </a:rPr>
              <a:t>تطوير بيئة مدرسية آمنة وابتكارية</a:t>
            </a:r>
            <a:endParaRPr lang="ar-SA" sz="2300" dirty="0"/>
          </a:p>
        </p:txBody>
      </p:sp>
      <p:sp>
        <p:nvSpPr>
          <p:cNvPr id="9" name="Shape 4"/>
          <p:cNvSpPr/>
          <p:nvPr/>
        </p:nvSpPr>
        <p:spPr>
          <a:xfrm>
            <a:off x="8173517" y="1828800"/>
            <a:ext cx="3606698" cy="914400"/>
          </a:xfrm>
          <a:prstGeom prst="roundRect">
            <a:avLst>
              <a:gd name="adj" fmla="val 7500"/>
            </a:avLst>
          </a:prstGeom>
          <a:solidFill>
            <a:srgbClr val="FFFFFF"/>
          </a:solidFill>
          <a:ln w="12700">
            <a:solidFill>
              <a:srgbClr val="095242"/>
            </a:solidFill>
            <a:prstDash val="solid"/>
          </a:ln>
        </p:spPr>
      </p:sp>
      <p:sp>
        <p:nvSpPr>
          <p:cNvPr id="10" name="Text 5"/>
          <p:cNvSpPr/>
          <p:nvPr/>
        </p:nvSpPr>
        <p:spPr>
          <a:xfrm>
            <a:off x="8310677" y="1828800"/>
            <a:ext cx="1234440" cy="914400"/>
          </a:xfrm>
          <a:prstGeom prst="rect">
            <a:avLst/>
          </a:prstGeom>
          <a:noFill/>
          <a:ln/>
        </p:spPr>
        <p:txBody>
          <a:bodyPr wrap="square" lIns="0" tIns="0" rIns="0" bIns="0" rtlCol="0" anchor="ctr"/>
          <a:lstStyle/>
          <a:p>
            <a:pPr rtl="1" algn="ctr" indent="0" marL="0">
              <a:buNone/>
            </a:pPr>
            <a:r>
              <a:rPr lang="ar-SA" altLang="en-US" sz="2600" dirty="0">
                <a:solidFill>
                  <a:srgbClr val="095242"/>
                </a:solidFill>
                <a:latin typeface="Tajawal ExtraBold" pitchFamily="34" charset="0"/>
                <a:ea typeface="Tajawal ExtraBold" pitchFamily="34" charset="-122"/>
                <a:cs typeface="Tajawal ExtraBold" pitchFamily="34" charset="-120"/>
              </a:rPr>
              <a:t>١٢</a:t>
            </a:r>
            <a:endParaRPr lang="ar-SA" sz="2600" dirty="0"/>
          </a:p>
        </p:txBody>
      </p:sp>
      <p:sp>
        <p:nvSpPr>
          <p:cNvPr id="11" name="Text 6"/>
          <p:cNvSpPr/>
          <p:nvPr/>
        </p:nvSpPr>
        <p:spPr>
          <a:xfrm>
            <a:off x="9545117" y="1828800"/>
            <a:ext cx="2052218" cy="914400"/>
          </a:xfrm>
          <a:prstGeom prst="rect">
            <a:avLst/>
          </a:prstGeom>
          <a:noFill/>
          <a:ln/>
        </p:spPr>
        <p:txBody>
          <a:bodyPr wrap="square" lIns="0" tIns="0" rIns="0" bIns="0" rtlCol="0" anchor="ctr"/>
          <a:lstStyle/>
          <a:p>
            <a:pPr rtl="1" algn="r" indent="0" marL="0">
              <a:buNone/>
            </a:pPr>
            <a:r>
              <a:rPr lang="ar-SA" altLang="en-US" sz="1150" b="1" dirty="0">
                <a:solidFill>
                  <a:srgbClr val="33473F"/>
                </a:solidFill>
                <a:latin typeface="Tajawal" pitchFamily="34" charset="0"/>
                <a:ea typeface="Tajawal" pitchFamily="34" charset="-122"/>
                <a:cs typeface="Tajawal" pitchFamily="34" charset="-120"/>
              </a:rPr>
              <a:t>عدد البرامج التشغيلية</a:t>
            </a:r>
            <a:endParaRPr lang="ar-SA" sz="1150" dirty="0"/>
          </a:p>
        </p:txBody>
      </p:sp>
      <p:sp>
        <p:nvSpPr>
          <p:cNvPr id="12" name="Shape 7"/>
          <p:cNvSpPr/>
          <p:nvPr/>
        </p:nvSpPr>
        <p:spPr>
          <a:xfrm>
            <a:off x="4292498" y="1828800"/>
            <a:ext cx="3606698" cy="914400"/>
          </a:xfrm>
          <a:prstGeom prst="roundRect">
            <a:avLst>
              <a:gd name="adj" fmla="val 7500"/>
            </a:avLst>
          </a:prstGeom>
          <a:solidFill>
            <a:srgbClr val="095242"/>
          </a:solidFill>
          <a:ln/>
          <a:effectLst>
            <a:outerShdw sx="100000" sy="100000" kx="0" ky="0" algn="bl" rotWithShape="0" blurRad="88900" dist="25400" dir="5400000">
              <a:srgbClr val="083528">
                <a:alpha val="22000"/>
              </a:srgbClr>
            </a:outerShdw>
          </a:effectLst>
        </p:spPr>
      </p:sp>
      <p:sp>
        <p:nvSpPr>
          <p:cNvPr id="13" name="Text 8"/>
          <p:cNvSpPr/>
          <p:nvPr/>
        </p:nvSpPr>
        <p:spPr>
          <a:xfrm>
            <a:off x="4429658" y="1828800"/>
            <a:ext cx="1234440" cy="914400"/>
          </a:xfrm>
          <a:prstGeom prst="rect">
            <a:avLst/>
          </a:prstGeom>
          <a:noFill/>
          <a:ln/>
        </p:spPr>
        <p:txBody>
          <a:bodyPr wrap="square" lIns="0" tIns="0" rIns="0" bIns="0" rtlCol="0" anchor="ctr"/>
          <a:lstStyle/>
          <a:p>
            <a:pPr rtl="1" algn="ctr" indent="0" marL="0">
              <a:buNone/>
            </a:pPr>
            <a:r>
              <a:rPr lang="ar-SA" altLang="en-US" sz="2600" dirty="0">
                <a:solidFill>
                  <a:srgbClr val="FFFFFF"/>
                </a:solidFill>
                <a:latin typeface="Tajawal ExtraBold" pitchFamily="34" charset="0"/>
                <a:ea typeface="Tajawal ExtraBold" pitchFamily="34" charset="-122"/>
                <a:cs typeface="Tajawal ExtraBold" pitchFamily="34" charset="-120"/>
              </a:rPr>
              <a:t>١٠</a:t>
            </a:r>
            <a:endParaRPr lang="ar-SA" sz="2600" dirty="0"/>
          </a:p>
        </p:txBody>
      </p:sp>
      <p:sp>
        <p:nvSpPr>
          <p:cNvPr id="14" name="Text 9"/>
          <p:cNvSpPr/>
          <p:nvPr/>
        </p:nvSpPr>
        <p:spPr>
          <a:xfrm>
            <a:off x="5664098" y="1828800"/>
            <a:ext cx="2052218" cy="914400"/>
          </a:xfrm>
          <a:prstGeom prst="rect">
            <a:avLst/>
          </a:prstGeom>
          <a:noFill/>
          <a:ln/>
        </p:spPr>
        <p:txBody>
          <a:bodyPr wrap="square" lIns="0" tIns="0" rIns="0" bIns="0" rtlCol="0" anchor="ctr"/>
          <a:lstStyle/>
          <a:p>
            <a:pPr rtl="1" algn="r" indent="0" marL="0">
              <a:buNone/>
            </a:pPr>
            <a:r>
              <a:rPr lang="ar-SA" altLang="en-US" sz="1150" b="1" dirty="0">
                <a:solidFill>
                  <a:srgbClr val="CFE2DB"/>
                </a:solidFill>
                <a:latin typeface="Tajawal" pitchFamily="34" charset="0"/>
                <a:ea typeface="Tajawal" pitchFamily="34" charset="-122"/>
                <a:cs typeface="Tajawal" pitchFamily="34" charset="-120"/>
              </a:rPr>
              <a:t>عدد مؤشرات الاعتماد المرتبطة</a:t>
            </a:r>
            <a:endParaRPr lang="ar-SA" sz="1150" dirty="0"/>
          </a:p>
        </p:txBody>
      </p:sp>
      <p:sp>
        <p:nvSpPr>
          <p:cNvPr id="15" name="Shape 10"/>
          <p:cNvSpPr/>
          <p:nvPr/>
        </p:nvSpPr>
        <p:spPr>
          <a:xfrm>
            <a:off x="411480" y="1828800"/>
            <a:ext cx="3606698" cy="914400"/>
          </a:xfrm>
          <a:prstGeom prst="roundRect">
            <a:avLst>
              <a:gd name="adj" fmla="val 7500"/>
            </a:avLst>
          </a:prstGeom>
          <a:solidFill>
            <a:srgbClr val="FFFFFF"/>
          </a:solidFill>
          <a:ln w="12700">
            <a:solidFill>
              <a:srgbClr val="095242"/>
            </a:solidFill>
            <a:prstDash val="solid"/>
          </a:ln>
        </p:spPr>
      </p:sp>
      <p:sp>
        <p:nvSpPr>
          <p:cNvPr id="16" name="Text 11"/>
          <p:cNvSpPr/>
          <p:nvPr/>
        </p:nvSpPr>
        <p:spPr>
          <a:xfrm>
            <a:off x="548640" y="1828800"/>
            <a:ext cx="1234440" cy="914400"/>
          </a:xfrm>
          <a:prstGeom prst="rect">
            <a:avLst/>
          </a:prstGeom>
          <a:noFill/>
          <a:ln/>
        </p:spPr>
        <p:txBody>
          <a:bodyPr wrap="square" lIns="0" tIns="0" rIns="0" bIns="0" rtlCol="0" anchor="ctr"/>
          <a:lstStyle/>
          <a:p>
            <a:pPr rtl="1" algn="ctr" indent="0" marL="0">
              <a:buNone/>
            </a:pPr>
            <a:r>
              <a:rPr lang="ar-SA" altLang="en-US" sz="2600" dirty="0">
                <a:solidFill>
                  <a:srgbClr val="095242"/>
                </a:solidFill>
                <a:latin typeface="Tajawal ExtraBold" pitchFamily="34" charset="0"/>
                <a:ea typeface="Tajawal ExtraBold" pitchFamily="34" charset="-122"/>
                <a:cs typeface="Tajawal ExtraBold" pitchFamily="34" charset="-120"/>
              </a:rPr>
              <a:t>٨٥٪</a:t>
            </a:r>
            <a:endParaRPr lang="ar-SA" sz="2600" dirty="0"/>
          </a:p>
        </p:txBody>
      </p:sp>
      <p:sp>
        <p:nvSpPr>
          <p:cNvPr id="17" name="Text 12"/>
          <p:cNvSpPr/>
          <p:nvPr/>
        </p:nvSpPr>
        <p:spPr>
          <a:xfrm>
            <a:off x="1783080" y="1828800"/>
            <a:ext cx="2052218" cy="914400"/>
          </a:xfrm>
          <a:prstGeom prst="rect">
            <a:avLst/>
          </a:prstGeom>
          <a:noFill/>
          <a:ln/>
        </p:spPr>
        <p:txBody>
          <a:bodyPr wrap="square" lIns="0" tIns="0" rIns="0" bIns="0" rtlCol="0" anchor="ctr"/>
          <a:lstStyle/>
          <a:p>
            <a:pPr rtl="1" algn="r" indent="0" marL="0">
              <a:buNone/>
            </a:pPr>
            <a:r>
              <a:rPr lang="ar-SA" altLang="en-US" sz="1150" b="1" dirty="0">
                <a:solidFill>
                  <a:srgbClr val="33473F"/>
                </a:solidFill>
                <a:latin typeface="Tajawal" pitchFamily="34" charset="0"/>
                <a:ea typeface="Tajawal" pitchFamily="34" charset="-122"/>
                <a:cs typeface="Tajawal" pitchFamily="34" charset="-120"/>
              </a:rPr>
              <a:t>نسبة التحقّق المستهدفة</a:t>
            </a:r>
            <a:endParaRPr lang="ar-SA" sz="1150" dirty="0"/>
          </a:p>
        </p:txBody>
      </p:sp>
      <p:sp>
        <p:nvSpPr>
          <p:cNvPr id="18" name="Shape 13"/>
          <p:cNvSpPr/>
          <p:nvPr/>
        </p:nvSpPr>
        <p:spPr>
          <a:xfrm>
            <a:off x="11729923" y="3044952"/>
            <a:ext cx="50292" cy="201168"/>
          </a:xfrm>
          <a:prstGeom prst="rect">
            <a:avLst/>
          </a:prstGeom>
          <a:solidFill>
            <a:srgbClr val="0089A1"/>
          </a:solidFill>
          <a:ln/>
        </p:spPr>
      </p:sp>
      <p:sp>
        <p:nvSpPr>
          <p:cNvPr id="19" name="Text 14"/>
          <p:cNvSpPr/>
          <p:nvPr/>
        </p:nvSpPr>
        <p:spPr>
          <a:xfrm>
            <a:off x="8488375" y="2999232"/>
            <a:ext cx="3163824" cy="292608"/>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البرامج التشغيلية ضمن هذا الهدف</a:t>
            </a:r>
            <a:endParaRPr lang="ar-SA" sz="1250" dirty="0"/>
          </a:p>
        </p:txBody>
      </p:sp>
      <p:sp>
        <p:nvSpPr>
          <p:cNvPr id="20" name="Shape 15"/>
          <p:cNvSpPr/>
          <p:nvPr/>
        </p:nvSpPr>
        <p:spPr>
          <a:xfrm>
            <a:off x="9075191" y="3383280"/>
            <a:ext cx="2705024" cy="438912"/>
          </a:xfrm>
          <a:prstGeom prst="roundRect">
            <a:avLst>
              <a:gd name="adj" fmla="val 18750"/>
            </a:avLst>
          </a:prstGeom>
          <a:solidFill>
            <a:srgbClr val="F1F7F4"/>
          </a:solidFill>
          <a:ln w="9525">
            <a:solidFill>
              <a:srgbClr val="DCE8E2"/>
            </a:solidFill>
            <a:prstDash val="solid"/>
          </a:ln>
        </p:spPr>
      </p:sp>
      <p:sp>
        <p:nvSpPr>
          <p:cNvPr id="21" name="Shape 16"/>
          <p:cNvSpPr/>
          <p:nvPr/>
        </p:nvSpPr>
        <p:spPr>
          <a:xfrm>
            <a:off x="11505895" y="3557016"/>
            <a:ext cx="100584" cy="100584"/>
          </a:xfrm>
          <a:prstGeom prst="roundRect">
            <a:avLst>
              <a:gd name="adj" fmla="val 18182"/>
            </a:avLst>
          </a:prstGeom>
          <a:solidFill>
            <a:srgbClr val="0089A1"/>
          </a:solidFill>
          <a:ln/>
        </p:spPr>
      </p:sp>
      <p:sp>
        <p:nvSpPr>
          <p:cNvPr id="22" name="Text 17"/>
          <p:cNvSpPr/>
          <p:nvPr/>
        </p:nvSpPr>
        <p:spPr>
          <a:xfrm>
            <a:off x="9203207" y="3383280"/>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الأمن والسلامة المدرسية</a:t>
            </a:r>
            <a:endParaRPr lang="ar-SA" sz="1000" dirty="0"/>
          </a:p>
        </p:txBody>
      </p:sp>
      <p:sp>
        <p:nvSpPr>
          <p:cNvPr id="23" name="Shape 18"/>
          <p:cNvSpPr/>
          <p:nvPr/>
        </p:nvSpPr>
        <p:spPr>
          <a:xfrm>
            <a:off x="6187288" y="3383280"/>
            <a:ext cx="2705024" cy="438912"/>
          </a:xfrm>
          <a:prstGeom prst="roundRect">
            <a:avLst>
              <a:gd name="adj" fmla="val 18750"/>
            </a:avLst>
          </a:prstGeom>
          <a:solidFill>
            <a:srgbClr val="F1F7F4"/>
          </a:solidFill>
          <a:ln w="9525">
            <a:solidFill>
              <a:srgbClr val="DCE8E2"/>
            </a:solidFill>
            <a:prstDash val="solid"/>
          </a:ln>
        </p:spPr>
      </p:sp>
      <p:sp>
        <p:nvSpPr>
          <p:cNvPr id="24" name="Shape 19"/>
          <p:cNvSpPr/>
          <p:nvPr/>
        </p:nvSpPr>
        <p:spPr>
          <a:xfrm>
            <a:off x="8617991" y="3557016"/>
            <a:ext cx="100584" cy="100584"/>
          </a:xfrm>
          <a:prstGeom prst="roundRect">
            <a:avLst>
              <a:gd name="adj" fmla="val 18182"/>
            </a:avLst>
          </a:prstGeom>
          <a:solidFill>
            <a:srgbClr val="0089A1"/>
          </a:solidFill>
          <a:ln/>
        </p:spPr>
      </p:sp>
      <p:sp>
        <p:nvSpPr>
          <p:cNvPr id="25" name="Text 20"/>
          <p:cNvSpPr/>
          <p:nvPr/>
        </p:nvSpPr>
        <p:spPr>
          <a:xfrm>
            <a:off x="6315304" y="3383280"/>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خطة الإخلاء والطوارئ</a:t>
            </a:r>
            <a:endParaRPr lang="ar-SA" sz="1000" dirty="0"/>
          </a:p>
        </p:txBody>
      </p:sp>
      <p:sp>
        <p:nvSpPr>
          <p:cNvPr id="26" name="Shape 21"/>
          <p:cNvSpPr/>
          <p:nvPr/>
        </p:nvSpPr>
        <p:spPr>
          <a:xfrm>
            <a:off x="3299384" y="3383280"/>
            <a:ext cx="2705024" cy="438912"/>
          </a:xfrm>
          <a:prstGeom prst="roundRect">
            <a:avLst>
              <a:gd name="adj" fmla="val 18750"/>
            </a:avLst>
          </a:prstGeom>
          <a:solidFill>
            <a:srgbClr val="F1F7F4"/>
          </a:solidFill>
          <a:ln w="9525">
            <a:solidFill>
              <a:srgbClr val="DCE8E2"/>
            </a:solidFill>
            <a:prstDash val="solid"/>
          </a:ln>
        </p:spPr>
      </p:sp>
      <p:sp>
        <p:nvSpPr>
          <p:cNvPr id="27" name="Shape 22"/>
          <p:cNvSpPr/>
          <p:nvPr/>
        </p:nvSpPr>
        <p:spPr>
          <a:xfrm>
            <a:off x="5730088" y="3557016"/>
            <a:ext cx="100584" cy="100584"/>
          </a:xfrm>
          <a:prstGeom prst="roundRect">
            <a:avLst>
              <a:gd name="adj" fmla="val 18182"/>
            </a:avLst>
          </a:prstGeom>
          <a:solidFill>
            <a:srgbClr val="0089A1"/>
          </a:solidFill>
          <a:ln/>
        </p:spPr>
      </p:sp>
      <p:sp>
        <p:nvSpPr>
          <p:cNvPr id="28" name="Text 23"/>
          <p:cNvSpPr/>
          <p:nvPr/>
        </p:nvSpPr>
        <p:spPr>
          <a:xfrm>
            <a:off x="3427400" y="3383280"/>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تحسين بيئة الفصول</a:t>
            </a:r>
            <a:endParaRPr lang="ar-SA" sz="1000" dirty="0"/>
          </a:p>
        </p:txBody>
      </p:sp>
      <p:sp>
        <p:nvSpPr>
          <p:cNvPr id="29" name="Shape 24"/>
          <p:cNvSpPr/>
          <p:nvPr/>
        </p:nvSpPr>
        <p:spPr>
          <a:xfrm>
            <a:off x="411480" y="3383280"/>
            <a:ext cx="2705024" cy="438912"/>
          </a:xfrm>
          <a:prstGeom prst="roundRect">
            <a:avLst>
              <a:gd name="adj" fmla="val 18750"/>
            </a:avLst>
          </a:prstGeom>
          <a:solidFill>
            <a:srgbClr val="F1F7F4"/>
          </a:solidFill>
          <a:ln w="9525">
            <a:solidFill>
              <a:srgbClr val="DCE8E2"/>
            </a:solidFill>
            <a:prstDash val="solid"/>
          </a:ln>
        </p:spPr>
      </p:sp>
      <p:sp>
        <p:nvSpPr>
          <p:cNvPr id="30" name="Shape 25"/>
          <p:cNvSpPr/>
          <p:nvPr/>
        </p:nvSpPr>
        <p:spPr>
          <a:xfrm>
            <a:off x="2842184" y="3557016"/>
            <a:ext cx="100584" cy="100584"/>
          </a:xfrm>
          <a:prstGeom prst="roundRect">
            <a:avLst>
              <a:gd name="adj" fmla="val 18182"/>
            </a:avLst>
          </a:prstGeom>
          <a:solidFill>
            <a:srgbClr val="0089A1"/>
          </a:solidFill>
          <a:ln/>
        </p:spPr>
      </p:sp>
      <p:sp>
        <p:nvSpPr>
          <p:cNvPr id="31" name="Text 26"/>
          <p:cNvSpPr/>
          <p:nvPr/>
        </p:nvSpPr>
        <p:spPr>
          <a:xfrm>
            <a:off x="539496" y="3383280"/>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تجهيز المعامل</a:t>
            </a:r>
            <a:endParaRPr lang="ar-SA" sz="1000" dirty="0"/>
          </a:p>
        </p:txBody>
      </p:sp>
      <p:sp>
        <p:nvSpPr>
          <p:cNvPr id="32" name="Shape 27"/>
          <p:cNvSpPr/>
          <p:nvPr/>
        </p:nvSpPr>
        <p:spPr>
          <a:xfrm>
            <a:off x="9075191" y="3950208"/>
            <a:ext cx="2705024" cy="438912"/>
          </a:xfrm>
          <a:prstGeom prst="roundRect">
            <a:avLst>
              <a:gd name="adj" fmla="val 18750"/>
            </a:avLst>
          </a:prstGeom>
          <a:solidFill>
            <a:srgbClr val="F1F7F4"/>
          </a:solidFill>
          <a:ln w="9525">
            <a:solidFill>
              <a:srgbClr val="DCE8E2"/>
            </a:solidFill>
            <a:prstDash val="solid"/>
          </a:ln>
        </p:spPr>
      </p:sp>
      <p:sp>
        <p:nvSpPr>
          <p:cNvPr id="33" name="Shape 28"/>
          <p:cNvSpPr/>
          <p:nvPr/>
        </p:nvSpPr>
        <p:spPr>
          <a:xfrm>
            <a:off x="11505895" y="4123944"/>
            <a:ext cx="100584" cy="100584"/>
          </a:xfrm>
          <a:prstGeom prst="roundRect">
            <a:avLst>
              <a:gd name="adj" fmla="val 18182"/>
            </a:avLst>
          </a:prstGeom>
          <a:solidFill>
            <a:srgbClr val="0089A1"/>
          </a:solidFill>
          <a:ln/>
        </p:spPr>
      </p:sp>
      <p:sp>
        <p:nvSpPr>
          <p:cNvPr id="34" name="Text 29"/>
          <p:cNvSpPr/>
          <p:nvPr/>
        </p:nvSpPr>
        <p:spPr>
          <a:xfrm>
            <a:off x="9203207" y="3950208"/>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تحسين التهوية والإضاءة</a:t>
            </a:r>
            <a:endParaRPr lang="ar-SA" sz="1000" dirty="0"/>
          </a:p>
        </p:txBody>
      </p:sp>
      <p:sp>
        <p:nvSpPr>
          <p:cNvPr id="35" name="Shape 30"/>
          <p:cNvSpPr/>
          <p:nvPr/>
        </p:nvSpPr>
        <p:spPr>
          <a:xfrm>
            <a:off x="6187288" y="3950208"/>
            <a:ext cx="2705024" cy="438912"/>
          </a:xfrm>
          <a:prstGeom prst="roundRect">
            <a:avLst>
              <a:gd name="adj" fmla="val 18750"/>
            </a:avLst>
          </a:prstGeom>
          <a:solidFill>
            <a:srgbClr val="F1F7F4"/>
          </a:solidFill>
          <a:ln w="9525">
            <a:solidFill>
              <a:srgbClr val="DCE8E2"/>
            </a:solidFill>
            <a:prstDash val="solid"/>
          </a:ln>
        </p:spPr>
      </p:sp>
      <p:sp>
        <p:nvSpPr>
          <p:cNvPr id="36" name="Shape 31"/>
          <p:cNvSpPr/>
          <p:nvPr/>
        </p:nvSpPr>
        <p:spPr>
          <a:xfrm>
            <a:off x="8617991" y="4123944"/>
            <a:ext cx="100584" cy="100584"/>
          </a:xfrm>
          <a:prstGeom prst="roundRect">
            <a:avLst>
              <a:gd name="adj" fmla="val 18182"/>
            </a:avLst>
          </a:prstGeom>
          <a:solidFill>
            <a:srgbClr val="0089A1"/>
          </a:solidFill>
          <a:ln/>
        </p:spPr>
      </p:sp>
      <p:sp>
        <p:nvSpPr>
          <p:cNvPr id="37" name="Text 32"/>
          <p:cNvSpPr/>
          <p:nvPr/>
        </p:nvSpPr>
        <p:spPr>
          <a:xfrm>
            <a:off x="6315304" y="3950208"/>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صيانة الأثاث</a:t>
            </a:r>
            <a:endParaRPr lang="ar-SA" sz="1000" dirty="0"/>
          </a:p>
        </p:txBody>
      </p:sp>
      <p:sp>
        <p:nvSpPr>
          <p:cNvPr id="38" name="Shape 33"/>
          <p:cNvSpPr/>
          <p:nvPr/>
        </p:nvSpPr>
        <p:spPr>
          <a:xfrm>
            <a:off x="3299384" y="3950208"/>
            <a:ext cx="2705024" cy="438912"/>
          </a:xfrm>
          <a:prstGeom prst="roundRect">
            <a:avLst>
              <a:gd name="adj" fmla="val 18750"/>
            </a:avLst>
          </a:prstGeom>
          <a:solidFill>
            <a:srgbClr val="F1F7F4"/>
          </a:solidFill>
          <a:ln w="9525">
            <a:solidFill>
              <a:srgbClr val="DCE8E2"/>
            </a:solidFill>
            <a:prstDash val="solid"/>
          </a:ln>
        </p:spPr>
      </p:sp>
      <p:sp>
        <p:nvSpPr>
          <p:cNvPr id="39" name="Shape 34"/>
          <p:cNvSpPr/>
          <p:nvPr/>
        </p:nvSpPr>
        <p:spPr>
          <a:xfrm>
            <a:off x="5730088" y="4123944"/>
            <a:ext cx="100584" cy="100584"/>
          </a:xfrm>
          <a:prstGeom prst="roundRect">
            <a:avLst>
              <a:gd name="adj" fmla="val 18182"/>
            </a:avLst>
          </a:prstGeom>
          <a:solidFill>
            <a:srgbClr val="0089A1"/>
          </a:solidFill>
          <a:ln/>
        </p:spPr>
      </p:sp>
      <p:sp>
        <p:nvSpPr>
          <p:cNvPr id="40" name="Text 35"/>
          <p:cNvSpPr/>
          <p:nvPr/>
        </p:nvSpPr>
        <p:spPr>
          <a:xfrm>
            <a:off x="3427400" y="3950208"/>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تحسين الساحات المدرسية</a:t>
            </a:r>
            <a:endParaRPr lang="ar-SA" sz="1000" dirty="0"/>
          </a:p>
        </p:txBody>
      </p:sp>
      <p:sp>
        <p:nvSpPr>
          <p:cNvPr id="41" name="Shape 36"/>
          <p:cNvSpPr/>
          <p:nvPr/>
        </p:nvSpPr>
        <p:spPr>
          <a:xfrm>
            <a:off x="411480" y="3950208"/>
            <a:ext cx="2705024" cy="438912"/>
          </a:xfrm>
          <a:prstGeom prst="roundRect">
            <a:avLst>
              <a:gd name="adj" fmla="val 18750"/>
            </a:avLst>
          </a:prstGeom>
          <a:solidFill>
            <a:srgbClr val="F1F7F4"/>
          </a:solidFill>
          <a:ln w="9525">
            <a:solidFill>
              <a:srgbClr val="DCE8E2"/>
            </a:solidFill>
            <a:prstDash val="solid"/>
          </a:ln>
        </p:spPr>
      </p:sp>
      <p:sp>
        <p:nvSpPr>
          <p:cNvPr id="42" name="Shape 37"/>
          <p:cNvSpPr/>
          <p:nvPr/>
        </p:nvSpPr>
        <p:spPr>
          <a:xfrm>
            <a:off x="2842184" y="4123944"/>
            <a:ext cx="100584" cy="100584"/>
          </a:xfrm>
          <a:prstGeom prst="roundRect">
            <a:avLst>
              <a:gd name="adj" fmla="val 18182"/>
            </a:avLst>
          </a:prstGeom>
          <a:solidFill>
            <a:srgbClr val="0089A1"/>
          </a:solidFill>
          <a:ln/>
        </p:spPr>
      </p:sp>
      <p:sp>
        <p:nvSpPr>
          <p:cNvPr id="43" name="Text 38"/>
          <p:cNvSpPr/>
          <p:nvPr/>
        </p:nvSpPr>
        <p:spPr>
          <a:xfrm>
            <a:off x="539496" y="3950208"/>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تطوير المقصف المدرسي</a:t>
            </a:r>
            <a:endParaRPr lang="ar-SA" sz="1000" dirty="0"/>
          </a:p>
        </p:txBody>
      </p:sp>
      <p:sp>
        <p:nvSpPr>
          <p:cNvPr id="44" name="Shape 39"/>
          <p:cNvSpPr/>
          <p:nvPr/>
        </p:nvSpPr>
        <p:spPr>
          <a:xfrm>
            <a:off x="9075191" y="4517136"/>
            <a:ext cx="2705024" cy="438912"/>
          </a:xfrm>
          <a:prstGeom prst="roundRect">
            <a:avLst>
              <a:gd name="adj" fmla="val 18750"/>
            </a:avLst>
          </a:prstGeom>
          <a:solidFill>
            <a:srgbClr val="F1F7F4"/>
          </a:solidFill>
          <a:ln w="9525">
            <a:solidFill>
              <a:srgbClr val="DCE8E2"/>
            </a:solidFill>
            <a:prstDash val="solid"/>
          </a:ln>
        </p:spPr>
      </p:sp>
      <p:sp>
        <p:nvSpPr>
          <p:cNvPr id="45" name="Shape 40"/>
          <p:cNvSpPr/>
          <p:nvPr/>
        </p:nvSpPr>
        <p:spPr>
          <a:xfrm>
            <a:off x="11505895" y="4690872"/>
            <a:ext cx="100584" cy="100584"/>
          </a:xfrm>
          <a:prstGeom prst="roundRect">
            <a:avLst>
              <a:gd name="adj" fmla="val 18182"/>
            </a:avLst>
          </a:prstGeom>
          <a:solidFill>
            <a:srgbClr val="0089A1"/>
          </a:solidFill>
          <a:ln/>
        </p:spPr>
      </p:sp>
      <p:sp>
        <p:nvSpPr>
          <p:cNvPr id="46" name="Text 41"/>
          <p:cNvSpPr/>
          <p:nvPr/>
        </p:nvSpPr>
        <p:spPr>
          <a:xfrm>
            <a:off x="9203207" y="4517136"/>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النشاط البدني المدرسي</a:t>
            </a:r>
            <a:endParaRPr lang="ar-SA" sz="1000" dirty="0"/>
          </a:p>
        </p:txBody>
      </p:sp>
      <p:sp>
        <p:nvSpPr>
          <p:cNvPr id="47" name="Shape 42"/>
          <p:cNvSpPr/>
          <p:nvPr/>
        </p:nvSpPr>
        <p:spPr>
          <a:xfrm>
            <a:off x="6187288" y="4517136"/>
            <a:ext cx="2705024" cy="438912"/>
          </a:xfrm>
          <a:prstGeom prst="roundRect">
            <a:avLst>
              <a:gd name="adj" fmla="val 18750"/>
            </a:avLst>
          </a:prstGeom>
          <a:solidFill>
            <a:srgbClr val="F1F7F4"/>
          </a:solidFill>
          <a:ln w="9525">
            <a:solidFill>
              <a:srgbClr val="DCE8E2"/>
            </a:solidFill>
            <a:prstDash val="solid"/>
          </a:ln>
        </p:spPr>
      </p:sp>
      <p:sp>
        <p:nvSpPr>
          <p:cNvPr id="48" name="Shape 43"/>
          <p:cNvSpPr/>
          <p:nvPr/>
        </p:nvSpPr>
        <p:spPr>
          <a:xfrm>
            <a:off x="8617991" y="4690872"/>
            <a:ext cx="100584" cy="100584"/>
          </a:xfrm>
          <a:prstGeom prst="roundRect">
            <a:avLst>
              <a:gd name="adj" fmla="val 18182"/>
            </a:avLst>
          </a:prstGeom>
          <a:solidFill>
            <a:srgbClr val="0089A1"/>
          </a:solidFill>
          <a:ln/>
        </p:spPr>
      </p:sp>
      <p:sp>
        <p:nvSpPr>
          <p:cNvPr id="49" name="Text 44"/>
          <p:cNvSpPr/>
          <p:nvPr/>
        </p:nvSpPr>
        <p:spPr>
          <a:xfrm>
            <a:off x="6315304" y="4517136"/>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الصيانة الوقائية</a:t>
            </a:r>
            <a:endParaRPr lang="ar-SA" sz="1000" dirty="0"/>
          </a:p>
        </p:txBody>
      </p:sp>
      <p:sp>
        <p:nvSpPr>
          <p:cNvPr id="50" name="Shape 45"/>
          <p:cNvSpPr/>
          <p:nvPr/>
        </p:nvSpPr>
        <p:spPr>
          <a:xfrm>
            <a:off x="3299384" y="4517136"/>
            <a:ext cx="2705024" cy="438912"/>
          </a:xfrm>
          <a:prstGeom prst="roundRect">
            <a:avLst>
              <a:gd name="adj" fmla="val 18750"/>
            </a:avLst>
          </a:prstGeom>
          <a:solidFill>
            <a:srgbClr val="F1F7F4"/>
          </a:solidFill>
          <a:ln w="9525">
            <a:solidFill>
              <a:srgbClr val="DCE8E2"/>
            </a:solidFill>
            <a:prstDash val="solid"/>
          </a:ln>
        </p:spPr>
      </p:sp>
      <p:sp>
        <p:nvSpPr>
          <p:cNvPr id="51" name="Shape 46"/>
          <p:cNvSpPr/>
          <p:nvPr/>
        </p:nvSpPr>
        <p:spPr>
          <a:xfrm>
            <a:off x="5730088" y="4690872"/>
            <a:ext cx="100584" cy="100584"/>
          </a:xfrm>
          <a:prstGeom prst="roundRect">
            <a:avLst>
              <a:gd name="adj" fmla="val 18182"/>
            </a:avLst>
          </a:prstGeom>
          <a:solidFill>
            <a:srgbClr val="0089A1"/>
          </a:solidFill>
          <a:ln/>
        </p:spPr>
      </p:sp>
      <p:sp>
        <p:nvSpPr>
          <p:cNvPr id="52" name="Text 47"/>
          <p:cNvSpPr/>
          <p:nvPr/>
        </p:nvSpPr>
        <p:spPr>
          <a:xfrm>
            <a:off x="3427400" y="4517136"/>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النظافة المدرسية</a:t>
            </a:r>
            <a:endParaRPr lang="ar-SA" sz="1000" dirty="0"/>
          </a:p>
        </p:txBody>
      </p:sp>
      <p:sp>
        <p:nvSpPr>
          <p:cNvPr id="53" name="Shape 48"/>
          <p:cNvSpPr/>
          <p:nvPr/>
        </p:nvSpPr>
        <p:spPr>
          <a:xfrm>
            <a:off x="411480" y="4517136"/>
            <a:ext cx="2705024" cy="438912"/>
          </a:xfrm>
          <a:prstGeom prst="roundRect">
            <a:avLst>
              <a:gd name="adj" fmla="val 18750"/>
            </a:avLst>
          </a:prstGeom>
          <a:solidFill>
            <a:srgbClr val="F1F7F4"/>
          </a:solidFill>
          <a:ln w="9525">
            <a:solidFill>
              <a:srgbClr val="DCE8E2"/>
            </a:solidFill>
            <a:prstDash val="solid"/>
          </a:ln>
        </p:spPr>
      </p:sp>
      <p:sp>
        <p:nvSpPr>
          <p:cNvPr id="54" name="Shape 49"/>
          <p:cNvSpPr/>
          <p:nvPr/>
        </p:nvSpPr>
        <p:spPr>
          <a:xfrm>
            <a:off x="2842184" y="4690872"/>
            <a:ext cx="100584" cy="100584"/>
          </a:xfrm>
          <a:prstGeom prst="roundRect">
            <a:avLst>
              <a:gd name="adj" fmla="val 18182"/>
            </a:avLst>
          </a:prstGeom>
          <a:solidFill>
            <a:srgbClr val="0089A1"/>
          </a:solidFill>
          <a:ln/>
        </p:spPr>
      </p:sp>
      <p:sp>
        <p:nvSpPr>
          <p:cNvPr id="55" name="Text 50"/>
          <p:cNvSpPr/>
          <p:nvPr/>
        </p:nvSpPr>
        <p:spPr>
          <a:xfrm>
            <a:off x="539496" y="4517136"/>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إدارة المخاطر</a:t>
            </a:r>
            <a:endParaRPr lang="ar-SA" sz="1000" dirty="0"/>
          </a:p>
        </p:txBody>
      </p:sp>
      <p:sp>
        <p:nvSpPr>
          <p:cNvPr id="56" name="Shape 51"/>
          <p:cNvSpPr/>
          <p:nvPr/>
        </p:nvSpPr>
        <p:spPr>
          <a:xfrm>
            <a:off x="7802575" y="5193792"/>
            <a:ext cx="3977640" cy="1261872"/>
          </a:xfrm>
          <a:prstGeom prst="roundRect">
            <a:avLst>
              <a:gd name="adj" fmla="val 5435"/>
            </a:avLst>
          </a:prstGeom>
          <a:solidFill>
            <a:srgbClr val="FFFFFF"/>
          </a:solidFill>
          <a:ln w="9525">
            <a:solidFill>
              <a:srgbClr val="DCE8E2"/>
            </a:solidFill>
            <a:prstDash val="solid"/>
          </a:ln>
        </p:spPr>
      </p:sp>
      <p:sp>
        <p:nvSpPr>
          <p:cNvPr id="57" name="Text 52"/>
          <p:cNvSpPr/>
          <p:nvPr/>
        </p:nvSpPr>
        <p:spPr>
          <a:xfrm>
            <a:off x="8031175" y="5285232"/>
            <a:ext cx="3520440" cy="292608"/>
          </a:xfrm>
          <a:prstGeom prst="rect">
            <a:avLst/>
          </a:prstGeom>
          <a:noFill/>
          <a:ln/>
        </p:spPr>
        <p:txBody>
          <a:bodyPr wrap="square" lIns="0" tIns="0" rIns="0" bIns="0" rtlCol="0" anchor="t"/>
          <a:lstStyle/>
          <a:p>
            <a:pPr rtl="1" algn="r" indent="0" marL="0">
              <a:buNone/>
            </a:pPr>
            <a:r>
              <a:rPr lang="ar-SA" altLang="en-US" sz="1050" b="1" dirty="0">
                <a:solidFill>
                  <a:srgbClr val="063E33"/>
                </a:solidFill>
                <a:latin typeface="Tajawal" pitchFamily="34" charset="0"/>
                <a:ea typeface="Tajawal" pitchFamily="34" charset="-122"/>
                <a:cs typeface="Tajawal" pitchFamily="34" charset="-120"/>
              </a:rPr>
              <a:t>مؤشرات الاعتماد المدرسي</a:t>
            </a:r>
            <a:endParaRPr lang="ar-SA" sz="1050" dirty="0"/>
          </a:p>
        </p:txBody>
      </p:sp>
      <p:sp>
        <p:nvSpPr>
          <p:cNvPr id="58" name="Shape 53"/>
          <p:cNvSpPr/>
          <p:nvPr/>
        </p:nvSpPr>
        <p:spPr>
          <a:xfrm>
            <a:off x="10893247" y="5632704"/>
            <a:ext cx="658368" cy="274320"/>
          </a:xfrm>
          <a:prstGeom prst="roundRect">
            <a:avLst>
              <a:gd name="adj" fmla="val 20000"/>
            </a:avLst>
          </a:prstGeom>
          <a:solidFill>
            <a:srgbClr val="FFFFFF"/>
          </a:solidFill>
          <a:ln w="9525">
            <a:solidFill>
              <a:srgbClr val="095242"/>
            </a:solidFill>
            <a:prstDash val="solid"/>
          </a:ln>
        </p:spPr>
      </p:sp>
      <p:sp>
        <p:nvSpPr>
          <p:cNvPr id="59" name="Text 54"/>
          <p:cNvSpPr/>
          <p:nvPr/>
        </p:nvSpPr>
        <p:spPr>
          <a:xfrm>
            <a:off x="10893247" y="56235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‎1-1-1-1‎</a:t>
            </a:r>
            <a:endParaRPr lang="ar-SA" sz="800" dirty="0"/>
          </a:p>
        </p:txBody>
      </p:sp>
      <p:sp>
        <p:nvSpPr>
          <p:cNvPr id="60" name="Shape 55"/>
          <p:cNvSpPr/>
          <p:nvPr/>
        </p:nvSpPr>
        <p:spPr>
          <a:xfrm>
            <a:off x="10125151" y="5632704"/>
            <a:ext cx="658368" cy="274320"/>
          </a:xfrm>
          <a:prstGeom prst="roundRect">
            <a:avLst>
              <a:gd name="adj" fmla="val 20000"/>
            </a:avLst>
          </a:prstGeom>
          <a:solidFill>
            <a:srgbClr val="FFFFFF"/>
          </a:solidFill>
          <a:ln w="9525">
            <a:solidFill>
              <a:srgbClr val="095242"/>
            </a:solidFill>
            <a:prstDash val="solid"/>
          </a:ln>
        </p:spPr>
      </p:sp>
      <p:sp>
        <p:nvSpPr>
          <p:cNvPr id="61" name="Text 56"/>
          <p:cNvSpPr/>
          <p:nvPr/>
        </p:nvSpPr>
        <p:spPr>
          <a:xfrm>
            <a:off x="10125151" y="56235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‎1-4-1-7‎</a:t>
            </a:r>
            <a:endParaRPr lang="ar-SA" sz="800" dirty="0"/>
          </a:p>
        </p:txBody>
      </p:sp>
      <p:sp>
        <p:nvSpPr>
          <p:cNvPr id="62" name="Shape 57"/>
          <p:cNvSpPr/>
          <p:nvPr/>
        </p:nvSpPr>
        <p:spPr>
          <a:xfrm>
            <a:off x="9357055" y="5632704"/>
            <a:ext cx="658368" cy="274320"/>
          </a:xfrm>
          <a:prstGeom prst="roundRect">
            <a:avLst>
              <a:gd name="adj" fmla="val 20000"/>
            </a:avLst>
          </a:prstGeom>
          <a:solidFill>
            <a:srgbClr val="FFFFFF"/>
          </a:solidFill>
          <a:ln w="9525">
            <a:solidFill>
              <a:srgbClr val="095242"/>
            </a:solidFill>
            <a:prstDash val="solid"/>
          </a:ln>
        </p:spPr>
      </p:sp>
      <p:sp>
        <p:nvSpPr>
          <p:cNvPr id="63" name="Text 58"/>
          <p:cNvSpPr/>
          <p:nvPr/>
        </p:nvSpPr>
        <p:spPr>
          <a:xfrm>
            <a:off x="9357055" y="56235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‎3-2-1-3‎</a:t>
            </a:r>
            <a:endParaRPr lang="ar-SA" sz="800" dirty="0"/>
          </a:p>
        </p:txBody>
      </p:sp>
      <p:sp>
        <p:nvSpPr>
          <p:cNvPr id="64" name="Shape 59"/>
          <p:cNvSpPr/>
          <p:nvPr/>
        </p:nvSpPr>
        <p:spPr>
          <a:xfrm>
            <a:off x="8588959" y="5632704"/>
            <a:ext cx="658368" cy="274320"/>
          </a:xfrm>
          <a:prstGeom prst="roundRect">
            <a:avLst>
              <a:gd name="adj" fmla="val 20000"/>
            </a:avLst>
          </a:prstGeom>
          <a:solidFill>
            <a:srgbClr val="FFFFFF"/>
          </a:solidFill>
          <a:ln w="9525">
            <a:solidFill>
              <a:srgbClr val="095242"/>
            </a:solidFill>
            <a:prstDash val="solid"/>
          </a:ln>
        </p:spPr>
      </p:sp>
      <p:sp>
        <p:nvSpPr>
          <p:cNvPr id="65" name="Text 60"/>
          <p:cNvSpPr/>
          <p:nvPr/>
        </p:nvSpPr>
        <p:spPr>
          <a:xfrm>
            <a:off x="8588959" y="56235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‎4-1-1-1‎</a:t>
            </a:r>
            <a:endParaRPr lang="ar-SA" sz="800" dirty="0"/>
          </a:p>
        </p:txBody>
      </p:sp>
      <p:sp>
        <p:nvSpPr>
          <p:cNvPr id="66" name="Shape 61"/>
          <p:cNvSpPr/>
          <p:nvPr/>
        </p:nvSpPr>
        <p:spPr>
          <a:xfrm>
            <a:off x="7820863" y="5632704"/>
            <a:ext cx="658368" cy="274320"/>
          </a:xfrm>
          <a:prstGeom prst="roundRect">
            <a:avLst>
              <a:gd name="adj" fmla="val 20000"/>
            </a:avLst>
          </a:prstGeom>
          <a:solidFill>
            <a:srgbClr val="FFFFFF"/>
          </a:solidFill>
          <a:ln w="9525">
            <a:solidFill>
              <a:srgbClr val="095242"/>
            </a:solidFill>
            <a:prstDash val="solid"/>
          </a:ln>
        </p:spPr>
      </p:sp>
      <p:sp>
        <p:nvSpPr>
          <p:cNvPr id="67" name="Text 62"/>
          <p:cNvSpPr/>
          <p:nvPr/>
        </p:nvSpPr>
        <p:spPr>
          <a:xfrm>
            <a:off x="7820863" y="56235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‎4-1-1-2‎</a:t>
            </a:r>
            <a:endParaRPr lang="ar-SA" sz="800" dirty="0"/>
          </a:p>
        </p:txBody>
      </p:sp>
      <p:sp>
        <p:nvSpPr>
          <p:cNvPr id="68" name="Shape 63"/>
          <p:cNvSpPr/>
          <p:nvPr/>
        </p:nvSpPr>
        <p:spPr>
          <a:xfrm>
            <a:off x="10893247" y="5998464"/>
            <a:ext cx="658368" cy="274320"/>
          </a:xfrm>
          <a:prstGeom prst="roundRect">
            <a:avLst>
              <a:gd name="adj" fmla="val 20000"/>
            </a:avLst>
          </a:prstGeom>
          <a:solidFill>
            <a:srgbClr val="FFFFFF"/>
          </a:solidFill>
          <a:ln w="9525">
            <a:solidFill>
              <a:srgbClr val="095242"/>
            </a:solidFill>
            <a:prstDash val="solid"/>
          </a:ln>
        </p:spPr>
      </p:sp>
      <p:sp>
        <p:nvSpPr>
          <p:cNvPr id="69" name="Text 64"/>
          <p:cNvSpPr/>
          <p:nvPr/>
        </p:nvSpPr>
        <p:spPr>
          <a:xfrm>
            <a:off x="10893247" y="598932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‎4-1-1-3‎</a:t>
            </a:r>
            <a:endParaRPr lang="ar-SA" sz="800" dirty="0"/>
          </a:p>
        </p:txBody>
      </p:sp>
      <p:sp>
        <p:nvSpPr>
          <p:cNvPr id="70" name="Shape 65"/>
          <p:cNvSpPr/>
          <p:nvPr/>
        </p:nvSpPr>
        <p:spPr>
          <a:xfrm>
            <a:off x="10125151" y="5998464"/>
            <a:ext cx="658368" cy="274320"/>
          </a:xfrm>
          <a:prstGeom prst="roundRect">
            <a:avLst>
              <a:gd name="adj" fmla="val 20000"/>
            </a:avLst>
          </a:prstGeom>
          <a:solidFill>
            <a:srgbClr val="FFFFFF"/>
          </a:solidFill>
          <a:ln w="9525">
            <a:solidFill>
              <a:srgbClr val="095242"/>
            </a:solidFill>
            <a:prstDash val="solid"/>
          </a:ln>
        </p:spPr>
      </p:sp>
      <p:sp>
        <p:nvSpPr>
          <p:cNvPr id="71" name="Text 66"/>
          <p:cNvSpPr/>
          <p:nvPr/>
        </p:nvSpPr>
        <p:spPr>
          <a:xfrm>
            <a:off x="10125151" y="598932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‎4-1-1-4‎</a:t>
            </a:r>
            <a:endParaRPr lang="ar-SA" sz="800" dirty="0"/>
          </a:p>
        </p:txBody>
      </p:sp>
      <p:sp>
        <p:nvSpPr>
          <p:cNvPr id="72" name="Shape 67"/>
          <p:cNvSpPr/>
          <p:nvPr/>
        </p:nvSpPr>
        <p:spPr>
          <a:xfrm>
            <a:off x="9357055" y="5998464"/>
            <a:ext cx="658368" cy="274320"/>
          </a:xfrm>
          <a:prstGeom prst="roundRect">
            <a:avLst>
              <a:gd name="adj" fmla="val 20000"/>
            </a:avLst>
          </a:prstGeom>
          <a:solidFill>
            <a:srgbClr val="FFFFFF"/>
          </a:solidFill>
          <a:ln w="9525">
            <a:solidFill>
              <a:srgbClr val="095242"/>
            </a:solidFill>
            <a:prstDash val="solid"/>
          </a:ln>
        </p:spPr>
      </p:sp>
      <p:sp>
        <p:nvSpPr>
          <p:cNvPr id="73" name="Text 68"/>
          <p:cNvSpPr/>
          <p:nvPr/>
        </p:nvSpPr>
        <p:spPr>
          <a:xfrm>
            <a:off x="9357055" y="598932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‎4-2-1-1‎</a:t>
            </a:r>
            <a:endParaRPr lang="ar-SA" sz="800" dirty="0"/>
          </a:p>
        </p:txBody>
      </p:sp>
      <p:sp>
        <p:nvSpPr>
          <p:cNvPr id="74" name="Shape 69"/>
          <p:cNvSpPr/>
          <p:nvPr/>
        </p:nvSpPr>
        <p:spPr>
          <a:xfrm>
            <a:off x="8588959" y="5998464"/>
            <a:ext cx="658368" cy="274320"/>
          </a:xfrm>
          <a:prstGeom prst="roundRect">
            <a:avLst>
              <a:gd name="adj" fmla="val 20000"/>
            </a:avLst>
          </a:prstGeom>
          <a:solidFill>
            <a:srgbClr val="FFFFFF"/>
          </a:solidFill>
          <a:ln w="9525">
            <a:solidFill>
              <a:srgbClr val="095242"/>
            </a:solidFill>
            <a:prstDash val="solid"/>
          </a:ln>
        </p:spPr>
      </p:sp>
      <p:sp>
        <p:nvSpPr>
          <p:cNvPr id="75" name="Text 70"/>
          <p:cNvSpPr/>
          <p:nvPr/>
        </p:nvSpPr>
        <p:spPr>
          <a:xfrm>
            <a:off x="8588959" y="598932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‎4-2-1-2‎</a:t>
            </a:r>
            <a:endParaRPr lang="ar-SA" sz="800" dirty="0"/>
          </a:p>
        </p:txBody>
      </p:sp>
      <p:sp>
        <p:nvSpPr>
          <p:cNvPr id="76" name="Shape 71"/>
          <p:cNvSpPr/>
          <p:nvPr/>
        </p:nvSpPr>
        <p:spPr>
          <a:xfrm>
            <a:off x="7820863" y="5998464"/>
            <a:ext cx="658368" cy="274320"/>
          </a:xfrm>
          <a:prstGeom prst="roundRect">
            <a:avLst>
              <a:gd name="adj" fmla="val 20000"/>
            </a:avLst>
          </a:prstGeom>
          <a:solidFill>
            <a:srgbClr val="FFFFFF"/>
          </a:solidFill>
          <a:ln w="9525">
            <a:solidFill>
              <a:srgbClr val="095242"/>
            </a:solidFill>
            <a:prstDash val="solid"/>
          </a:ln>
        </p:spPr>
      </p:sp>
      <p:sp>
        <p:nvSpPr>
          <p:cNvPr id="77" name="Text 72"/>
          <p:cNvSpPr/>
          <p:nvPr/>
        </p:nvSpPr>
        <p:spPr>
          <a:xfrm>
            <a:off x="7820863" y="598932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‎4-2-1-3‎</a:t>
            </a:r>
            <a:endParaRPr lang="ar-SA" sz="800" dirty="0"/>
          </a:p>
        </p:txBody>
      </p:sp>
      <p:sp>
        <p:nvSpPr>
          <p:cNvPr id="78" name="Shape 73"/>
          <p:cNvSpPr/>
          <p:nvPr/>
        </p:nvSpPr>
        <p:spPr>
          <a:xfrm>
            <a:off x="411480" y="5193792"/>
            <a:ext cx="7116775" cy="1261872"/>
          </a:xfrm>
          <a:prstGeom prst="roundRect">
            <a:avLst>
              <a:gd name="adj" fmla="val 5435"/>
            </a:avLst>
          </a:prstGeom>
          <a:solidFill>
            <a:srgbClr val="095242"/>
          </a:solidFill>
          <a:ln/>
          <a:effectLst>
            <a:outerShdw sx="100000" sy="100000" kx="0" ky="0" algn="bl" rotWithShape="0" blurRad="88900" dist="25400" dir="5400000">
              <a:srgbClr val="083528">
                <a:alpha val="22000"/>
              </a:srgbClr>
            </a:outerShdw>
          </a:effectLst>
        </p:spPr>
      </p:sp>
      <p:pic>
        <p:nvPicPr>
          <p:cNvPr id="79" name="Image 3" descr="/tmp/claude-0/-home-user-Mobile1/ab9bbf47-b054-5f6e-be59-70476e095ce8/scratchpad/assets/icons/sparkles_white.png">    </p:cNvPr>
          <p:cNvPicPr>
            <a:picLocks noChangeAspect="1"/>
          </p:cNvPicPr>
          <p:nvPr/>
        </p:nvPicPr>
        <p:blipFill>
          <a:blip r:embed="rId4"/>
          <a:stretch>
            <a:fillRect/>
          </a:stretch>
        </p:blipFill>
        <p:spPr>
          <a:xfrm>
            <a:off x="7052767" y="5303520"/>
            <a:ext cx="256032" cy="256032"/>
          </a:xfrm>
          <a:prstGeom prst="rect">
            <a:avLst/>
          </a:prstGeom>
        </p:spPr>
      </p:pic>
      <p:sp>
        <p:nvSpPr>
          <p:cNvPr id="80" name="Text 74"/>
          <p:cNvSpPr/>
          <p:nvPr/>
        </p:nvSpPr>
        <p:spPr>
          <a:xfrm>
            <a:off x="685800" y="5285232"/>
            <a:ext cx="6248095" cy="292608"/>
          </a:xfrm>
          <a:prstGeom prst="rect">
            <a:avLst/>
          </a:prstGeom>
          <a:noFill/>
          <a:ln/>
        </p:spPr>
        <p:txBody>
          <a:bodyPr wrap="square" lIns="0" tIns="0" rIns="0" bIns="0" rtlCol="0" anchor="t"/>
          <a:lstStyle/>
          <a:p>
            <a:pPr rtl="1" algn="r" indent="0" marL="0">
              <a:buNone/>
            </a:pPr>
            <a:r>
              <a:rPr lang="ar-SA" altLang="en-US" sz="1150" b="1" dirty="0">
                <a:solidFill>
                  <a:srgbClr val="FFFFFF"/>
                </a:solidFill>
                <a:latin typeface="Tajawal" pitchFamily="34" charset="0"/>
                <a:ea typeface="Tajawal" pitchFamily="34" charset="-122"/>
                <a:cs typeface="Tajawal" pitchFamily="34" charset="-120"/>
              </a:rPr>
              <a:t>المخرجات المتوقّعة</a:t>
            </a:r>
            <a:endParaRPr lang="ar-SA" sz="1150" dirty="0"/>
          </a:p>
        </p:txBody>
      </p:sp>
      <p:sp>
        <p:nvSpPr>
          <p:cNvPr id="81" name="Text 75"/>
          <p:cNvSpPr/>
          <p:nvPr/>
        </p:nvSpPr>
        <p:spPr>
          <a:xfrm>
            <a:off x="685800" y="5614416"/>
            <a:ext cx="6549847" cy="749808"/>
          </a:xfrm>
          <a:prstGeom prst="rect">
            <a:avLst/>
          </a:prstGeom>
          <a:noFill/>
          <a:ln/>
        </p:spPr>
        <p:txBody>
          <a:bodyPr wrap="square" lIns="0" tIns="0" rIns="0" bIns="0" rtlCol="0" anchor="t"/>
          <a:lstStyle/>
          <a:p>
            <a:pPr rtl="1" algn="r" indent="0" marL="0">
              <a:lnSpc>
                <a:spcPct val="120000"/>
              </a:lnSpc>
              <a:buNone/>
            </a:pPr>
            <a:r>
              <a:rPr lang="ar-SA" altLang="en-US" sz="960" dirty="0">
                <a:solidFill>
                  <a:srgbClr val="D9E9E3"/>
                </a:solidFill>
                <a:latin typeface="Tajawal" pitchFamily="34" charset="0"/>
                <a:ea typeface="Tajawal" pitchFamily="34" charset="-122"/>
                <a:cs typeface="Tajawal" pitchFamily="34" charset="-120"/>
              </a:rPr>
              <a:t>بيئة مدرسية صحيّة ومنظّمة • فصول ومعامل مجهّزة بمعايير السلامة • انخفاض في حوادث الإصابة • صيانة وقائية موثّقة.</a:t>
            </a:r>
            <a:endParaRPr lang="ar-SA" sz="96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tmp/claude-0/-home-user-Mobile1/ab9bbf47-b054-5f6e-be59-70476e095ce8/scratchpad/assets/bg_content.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665415" y="6519672"/>
            <a:ext cx="4114800" cy="274320"/>
          </a:xfrm>
          <a:prstGeom prst="rect">
            <a:avLst/>
          </a:prstGeom>
          <a:noFill/>
          <a:ln/>
        </p:spPr>
        <p:txBody>
          <a:bodyPr wrap="square" lIns="0" tIns="0" rIns="0" bIns="0" rtlCol="0" anchor="t"/>
          <a:lstStyle/>
          <a:p>
            <a:pPr rtl="1" algn="r" indent="0" marL="0">
              <a:buNone/>
            </a:pPr>
            <a:r>
              <a:rPr lang="ar-SA" altLang="en-US" sz="800" dirty="0">
                <a:solidFill>
                  <a:srgbClr val="7C8F87"/>
                </a:solidFill>
                <a:latin typeface="Tajawal" pitchFamily="34" charset="0"/>
                <a:ea typeface="Tajawal" pitchFamily="34" charset="-122"/>
                <a:cs typeface="Tajawal" pitchFamily="34" charset="-120"/>
              </a:rPr>
              <a:t>الخطة التشغيلية للعام الدراسي ١٤٤٨هـ</a:t>
            </a:r>
            <a:endParaRPr lang="ar-SA" sz="800" dirty="0"/>
          </a:p>
        </p:txBody>
      </p:sp>
      <p:sp>
        <p:nvSpPr>
          <p:cNvPr id="4" name="Text 1"/>
          <p:cNvSpPr/>
          <p:nvPr/>
        </p:nvSpPr>
        <p:spPr>
          <a:xfrm>
            <a:off x="411480" y="6519672"/>
            <a:ext cx="914400" cy="274320"/>
          </a:xfrm>
          <a:prstGeom prst="rect">
            <a:avLst/>
          </a:prstGeom>
          <a:noFill/>
          <a:ln/>
        </p:spPr>
        <p:txBody>
          <a:bodyPr wrap="square" lIns="0" tIns="0" rIns="0" bIns="0" rtlCol="0" anchor="t"/>
          <a:lstStyle/>
          <a:p>
            <a:pPr rtl="1" algn="l" indent="0" marL="0">
              <a:buNone/>
            </a:pPr>
            <a:r>
              <a:rPr lang="ar-SA" altLang="en-US" sz="850" b="1" dirty="0">
                <a:solidFill>
                  <a:srgbClr val="7C8F87"/>
                </a:solidFill>
                <a:latin typeface="Tajawal" pitchFamily="34" charset="0"/>
                <a:ea typeface="Tajawal" pitchFamily="34" charset="-122"/>
                <a:cs typeface="Tajawal" pitchFamily="34" charset="-120"/>
              </a:rPr>
              <a:t>١٨</a:t>
            </a:r>
            <a:endParaRPr lang="ar-SA" sz="850" dirty="0"/>
          </a:p>
        </p:txBody>
      </p:sp>
      <p:sp>
        <p:nvSpPr>
          <p:cNvPr id="5" name="Shape 2"/>
          <p:cNvSpPr/>
          <p:nvPr/>
        </p:nvSpPr>
        <p:spPr>
          <a:xfrm>
            <a:off x="411480" y="274320"/>
            <a:ext cx="11368735" cy="548640"/>
          </a:xfrm>
          <a:prstGeom prst="roundRect">
            <a:avLst>
              <a:gd name="adj" fmla="val 15000"/>
            </a:avLst>
          </a:prstGeom>
          <a:solidFill>
            <a:srgbClr val="095242"/>
          </a:solidFill>
          <a:ln/>
        </p:spPr>
      </p:sp>
      <p:sp>
        <p:nvSpPr>
          <p:cNvPr id="6" name="Shape 3"/>
          <p:cNvSpPr/>
          <p:nvPr/>
        </p:nvSpPr>
        <p:spPr>
          <a:xfrm>
            <a:off x="576072" y="379476"/>
            <a:ext cx="1371600" cy="338328"/>
          </a:xfrm>
          <a:prstGeom prst="roundRect">
            <a:avLst>
              <a:gd name="adj" fmla="val 18919"/>
            </a:avLst>
          </a:prstGeom>
          <a:solidFill>
            <a:srgbClr val="FFFFFF">
              <a:alpha val="14000"/>
            </a:srgbClr>
          </a:solidFill>
          <a:ln w="6350">
            <a:solidFill>
              <a:srgbClr val="FFFFFF">
                <a:alpha val="45000"/>
              </a:srgbClr>
            </a:solidFill>
            <a:prstDash val="solid"/>
          </a:ln>
        </p:spPr>
      </p:sp>
      <p:sp>
        <p:nvSpPr>
          <p:cNvPr id="7" name="Text 4"/>
          <p:cNvSpPr/>
          <p:nvPr/>
        </p:nvSpPr>
        <p:spPr>
          <a:xfrm>
            <a:off x="576072" y="370332"/>
            <a:ext cx="1371600" cy="338328"/>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البرامج التفصيلية</a:t>
            </a:r>
            <a:endParaRPr lang="ar-SA" sz="950" dirty="0"/>
          </a:p>
        </p:txBody>
      </p:sp>
      <p:sp>
        <p:nvSpPr>
          <p:cNvPr id="8" name="Text 5"/>
          <p:cNvSpPr/>
          <p:nvPr/>
        </p:nvSpPr>
        <p:spPr>
          <a:xfrm>
            <a:off x="2194560" y="274320"/>
            <a:ext cx="9311335" cy="548640"/>
          </a:xfrm>
          <a:prstGeom prst="rect">
            <a:avLst/>
          </a:prstGeom>
          <a:noFill/>
          <a:ln/>
        </p:spPr>
        <p:txBody>
          <a:bodyPr wrap="square" lIns="0" tIns="0" rIns="0" bIns="0" rtlCol="0" anchor="ctr"/>
          <a:lstStyle/>
          <a:p>
            <a:pPr rtl="1" algn="r" indent="0" marL="0">
              <a:buNone/>
            </a:pPr>
            <a:r>
              <a:rPr lang="ar-SA" altLang="en-US" sz="1550" b="1" dirty="0">
                <a:solidFill>
                  <a:srgbClr val="FFFFFF"/>
                </a:solidFill>
                <a:latin typeface="Tajawal" pitchFamily="34" charset="0"/>
                <a:ea typeface="Tajawal" pitchFamily="34" charset="-122"/>
                <a:cs typeface="Tajawal" pitchFamily="34" charset="-120"/>
              </a:rPr>
              <a:t>الهدف الاستراتيجي العام ٢: تطوير بيئة مدرسية آمنة وابتكارية</a:t>
            </a:r>
            <a:endParaRPr lang="ar-SA" sz="15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914400"/>
        </p:xfrm>
        <a:graphic>
          <a:graphicData uri="http://schemas.openxmlformats.org/drawingml/2006/table">
            <a:tbl>
              <a:tblPr/>
              <a:tblGrid>
                <a:gridCol w="9631375"/>
                <a:gridCol w="1737360"/>
              </a:tblGrid>
              <a:tr h="274320">
                <a:tc>
                  <a:txBody>
                    <a:bodyPr/>
                    <a:lstStyle/>
                    <a:p>
                      <a:pPr rtl="1" algn="r" indent="0" marL="0">
                        <a:buNone/>
                      </a:pPr>
                      <a:r>
                        <a:rPr lang="ar-SA" altLang="en-US" sz="940" b="1" dirty="0">
                          <a:solidFill>
                            <a:srgbClr val="063E33"/>
                          </a:solidFill>
                          <a:latin typeface="Tajawal" pitchFamily="34" charset="0"/>
                          <a:ea typeface="Tajawal" pitchFamily="34" charset="-122"/>
                          <a:cs typeface="Tajawal" pitchFamily="34" charset="-120"/>
                        </a:rPr>
                        <a:t>تطوير بيئة مدرسية آمنة وابتكارية</a:t>
                      </a:r>
                      <a:endParaRPr lang="ar-SA" sz="9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المحور الاستراتيجي</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B5E4C"/>
                    </a:solidFill>
                  </a:tcPr>
                </a:tc>
              </a:tr>
              <a:tr h="548640">
                <a:tc>
                  <a:txBody>
                    <a:bodyPr/>
                    <a:lstStyle/>
                    <a:p>
                      <a:pPr rtl="1" algn="r" indent="0" marL="0">
                        <a:buNone/>
                      </a:pPr>
                      <a:r>
                        <a:rPr lang="ar-SA" altLang="en-US" sz="820" dirty="0">
                          <a:solidFill>
                            <a:srgbClr val="33473F"/>
                          </a:solidFill>
                          <a:latin typeface="Tajawal" pitchFamily="34" charset="0"/>
                          <a:ea typeface="Tajawal" pitchFamily="34" charset="-122"/>
                          <a:cs typeface="Tajawal" pitchFamily="34" charset="-120"/>
                        </a:rPr>
                        <a:t>يهدف هذا المحور إلى توفير بيئة مدرسية آمنة وجاذبة ومحفزة للتعلم والإبداع، من خلال تعزيز معايير الأمن والسلامة، وتحسين المرافق والتجهيزات المدرسية، ودعم الصحة المدرسية والأنشطة البدنية، بما يسهم في رفع جودة الحياة المدرسية وتحقيق رضا المستفيدين.</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الهدف التفصيلي (٢-١)</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B5E4C"/>
                    </a:solidFill>
                  </a:tcPr>
                </a:tc>
              </a:tr>
              <a:tr h="420624">
                <a:tc>
                  <a:txBody>
                    <a:bodyPr/>
                    <a:lstStyle/>
                    <a:p>
                      <a:pPr rtl="1" algn="r" indent="0" marL="0">
                        <a:buNone/>
                      </a:pPr>
                      <a:r>
                        <a:rPr lang="ar-SA" altLang="en-US" sz="840" b="1" dirty="0">
                          <a:solidFill>
                            <a:srgbClr val="0B4A56"/>
                          </a:solidFill>
                          <a:latin typeface="Tajawal" pitchFamily="34" charset="0"/>
                          <a:ea typeface="Tajawal" pitchFamily="34" charset="-122"/>
                          <a:cs typeface="Tajawal" pitchFamily="34" charset="-120"/>
                        </a:rPr>
                        <a:t>نسبة المرافق المدرسية المهيأة وفق معايير السلامة ومستوى رضا المستفيدين. المستهدف: تطوير بيئة المدرسة لتكون آمنة ومحفزة للإبداع بنسبة ٨٥٪ خلال العام.</a:t>
                      </a:r>
                      <a:endParaRPr lang="ar-SA" sz="8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مؤشر قياس الأداء (المستهدف)</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B5E4C"/>
                    </a:solidFill>
                  </a:tcPr>
                </a:tc>
              </a:tr>
            </a:tbl>
          </a:graphicData>
        </a:graphic>
      </p:graphicFrame>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411480" y="2286000"/>
          <a:ext cx="11368735" cy="914400"/>
        </p:xfrm>
        <a:graphic>
          <a:graphicData uri="http://schemas.openxmlformats.org/drawingml/2006/table">
            <a:tbl>
              <a:tblPr/>
              <a:tblGrid>
                <a:gridCol w="859536"/>
                <a:gridCol w="1243584"/>
                <a:gridCol w="941832"/>
                <a:gridCol w="960120"/>
                <a:gridCol w="914400"/>
                <a:gridCol w="1051560"/>
                <a:gridCol w="1097280"/>
                <a:gridCol w="548640"/>
                <a:gridCol w="365760"/>
                <a:gridCol w="914400"/>
                <a:gridCol w="1371600"/>
                <a:gridCol w="804672"/>
                <a:gridCol w="292608"/>
              </a:tblGrid>
              <a:tr h="274320">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مؤشر تحقق الهدف</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أسلوب التنفيذ</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الفئة المستهدفة</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gridSpan="3">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جهة التنفيذ</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63E33"/>
                    </a:solidFill>
                  </a:tcPr>
                </a:tc>
                <a:tc hMerge="1">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المتطلبات</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grid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زمن التنفيذ</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63E33"/>
                    </a:solidFill>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مصدر البرنامج</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اسم المشروع / البرنامج</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المجال</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r>
              <a:tr h="292608">
                <a:tc vMerge="1">
                  <a:tcPr/>
                </a:tc>
                <a:tc vMerge="1">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الدعم الخارجي</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المساندة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الرئيسة وفريق العمل</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الأسبوع</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ف</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vMerge="1">
                  <a:tcPr/>
                </a:tc>
                <a:tc vMerge="1">
                  <a:tcPr/>
                </a:tc>
                <a:tc vMerge="1">
                  <a:tcPr/>
                </a:tc>
                <a:tc vMerge="1">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جولات، توعية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جميع منسوبي المدرسة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الدفاع المدني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منسق الأمن والسلامة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 معدات</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الأمن والسلامة المدرسية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١</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تدريب، محاكاة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جميع منسوبي المدرسة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الدفاع المدني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منسق الأمن والسلامة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معتمدة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٤، ٢٠</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خطة الإخلاء والطوارئ</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٢</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تنظيم، تجميل</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الفصول</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المرافق</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المعلمون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أثاث + لوحات</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٣-٢٥</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تحسين بيئة الفصول</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٣</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تجهيز، صيانة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المعامل</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معلم العلوم ومحضر المختبر</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مواد ومعدات</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٣-٥</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تجهيز المعامل</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٤</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صيانة، استبدال</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المبنى</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المرافق</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لجنة المرافق</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عقد صيانة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١-٣</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تحسين التهوية والإضاءة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٥</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صيانة دورية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الأثاث</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المرافق</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لجنة المرافق</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عقد صيانة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دوري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صيانة الأثاث</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٦</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تنظيم، تجميل</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الساحات</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المرافق</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رائد 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معدات وأدوات</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٢-١٨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تحسين الساحات المدرسية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٧</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مراجعة الوجبات</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المقصف</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الجهات الصحية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السلامة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لجنة الصحة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عقد + شروط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دوري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تطوير المقصف المدرسي</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٨</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أنشطة، مسابقات</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الطلاب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النشاط الطلابي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معلم التربية البدنية ورائد 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معدات رياضية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أسبوعي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النشاط البدني المدرسي</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جدول، تنفيذ</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المبنى</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المرافق</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لجنة المرافق</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جدول صيانة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شهري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الصيانة الوقائية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١٠</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جداول، متابعة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المبنى</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شركة النظافة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مشرف الخدمات والسلامة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عمال نظافة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يومي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النظافة المدرسية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١١</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سجل + معالجة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المدرسة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لجنة إدارة المخاطر</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نموذج سجل</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دوري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إدارة المخاطر</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١٢</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tmp/claude-0/-home-user-Mobile1/ab9bbf47-b054-5f6e-be59-70476e095ce8/scratchpad/assets/bg_content.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665415" y="6519672"/>
            <a:ext cx="4114800" cy="274320"/>
          </a:xfrm>
          <a:prstGeom prst="rect">
            <a:avLst/>
          </a:prstGeom>
          <a:noFill/>
          <a:ln/>
        </p:spPr>
        <p:txBody>
          <a:bodyPr wrap="square" lIns="0" tIns="0" rIns="0" bIns="0" rtlCol="0" anchor="t"/>
          <a:lstStyle/>
          <a:p>
            <a:pPr rtl="1" algn="r" indent="0" marL="0">
              <a:buNone/>
            </a:pPr>
            <a:r>
              <a:rPr lang="ar-SA" altLang="en-US" sz="800" dirty="0">
                <a:solidFill>
                  <a:srgbClr val="7C8F87"/>
                </a:solidFill>
                <a:latin typeface="Tajawal" pitchFamily="34" charset="0"/>
                <a:ea typeface="Tajawal" pitchFamily="34" charset="-122"/>
                <a:cs typeface="Tajawal" pitchFamily="34" charset="-120"/>
              </a:rPr>
              <a:t>الخطة التشغيلية للعام الدراسي ١٤٤٨هـ</a:t>
            </a:r>
            <a:endParaRPr lang="ar-SA" sz="800" dirty="0"/>
          </a:p>
        </p:txBody>
      </p:sp>
      <p:sp>
        <p:nvSpPr>
          <p:cNvPr id="4" name="Text 1"/>
          <p:cNvSpPr/>
          <p:nvPr/>
        </p:nvSpPr>
        <p:spPr>
          <a:xfrm>
            <a:off x="411480" y="6519672"/>
            <a:ext cx="914400" cy="274320"/>
          </a:xfrm>
          <a:prstGeom prst="rect">
            <a:avLst/>
          </a:prstGeom>
          <a:noFill/>
          <a:ln/>
        </p:spPr>
        <p:txBody>
          <a:bodyPr wrap="square" lIns="0" tIns="0" rIns="0" bIns="0" rtlCol="0" anchor="t"/>
          <a:lstStyle/>
          <a:p>
            <a:pPr rtl="1" algn="l" indent="0" marL="0">
              <a:buNone/>
            </a:pPr>
            <a:r>
              <a:rPr lang="ar-SA" altLang="en-US" sz="850" b="1" dirty="0">
                <a:solidFill>
                  <a:srgbClr val="7C8F87"/>
                </a:solidFill>
                <a:latin typeface="Tajawal" pitchFamily="34" charset="0"/>
                <a:ea typeface="Tajawal" pitchFamily="34" charset="-122"/>
                <a:cs typeface="Tajawal" pitchFamily="34" charset="-120"/>
              </a:rPr>
              <a:t>١٩</a:t>
            </a:r>
            <a:endParaRPr lang="ar-SA" sz="850" dirty="0"/>
          </a:p>
        </p:txBody>
      </p:sp>
      <p:pic>
        <p:nvPicPr>
          <p:cNvPr id="5" name="Image 1" descr="/tmp/claude-0/-home-user-Mobile1/ab9bbf47-b054-5f6e-be59-70476e095ce8/scratchpad/assets/band_goal.png">    </p:cNvPr>
          <p:cNvPicPr>
            <a:picLocks noChangeAspect="1"/>
          </p:cNvPicPr>
          <p:nvPr/>
        </p:nvPicPr>
        <p:blipFill>
          <a:blip r:embed="rId2"/>
          <a:stretch>
            <a:fillRect/>
          </a:stretch>
        </p:blipFill>
        <p:spPr>
          <a:xfrm>
            <a:off x="411480" y="292608"/>
            <a:ext cx="11368735" cy="1344168"/>
          </a:xfrm>
          <a:prstGeom prst="rect">
            <a:avLst/>
          </a:prstGeom>
        </p:spPr>
      </p:pic>
      <p:pic>
        <p:nvPicPr>
          <p:cNvPr id="6" name="Image 2" descr="/tmp/claude-0/-home-user-Mobile1/ab9bbf47-b054-5f6e-be59-70476e095ce8/scratchpad/assets/moe_white.png">    </p:cNvPr>
          <p:cNvPicPr>
            <a:picLocks noChangeAspect="1"/>
          </p:cNvPicPr>
          <p:nvPr/>
        </p:nvPicPr>
        <p:blipFill>
          <a:blip r:embed="rId3"/>
          <a:stretch>
            <a:fillRect/>
          </a:stretch>
        </p:blipFill>
        <p:spPr>
          <a:xfrm>
            <a:off x="795528" y="502920"/>
            <a:ext cx="1170432" cy="905256"/>
          </a:xfrm>
          <a:prstGeom prst="rect">
            <a:avLst/>
          </a:prstGeom>
        </p:spPr>
      </p:pic>
      <p:sp>
        <p:nvSpPr>
          <p:cNvPr id="7" name="Text 2"/>
          <p:cNvSpPr/>
          <p:nvPr/>
        </p:nvSpPr>
        <p:spPr>
          <a:xfrm>
            <a:off x="2377440" y="475488"/>
            <a:ext cx="9128455" cy="329184"/>
          </a:xfrm>
          <a:prstGeom prst="rect">
            <a:avLst/>
          </a:prstGeom>
          <a:noFill/>
          <a:ln/>
        </p:spPr>
        <p:txBody>
          <a:bodyPr wrap="square" lIns="0" tIns="0" rIns="0" bIns="0" rtlCol="0" anchor="t"/>
          <a:lstStyle/>
          <a:p>
            <a:pPr rtl="1" algn="r" indent="0" marL="0">
              <a:buNone/>
            </a:pPr>
            <a:r>
              <a:rPr lang="ar-SA" altLang="en-US" sz="1200" b="1" dirty="0">
                <a:solidFill>
                  <a:srgbClr val="C9A45C"/>
                </a:solidFill>
                <a:latin typeface="Tajawal" pitchFamily="34" charset="0"/>
                <a:ea typeface="Tajawal" pitchFamily="34" charset="-122"/>
                <a:cs typeface="Tajawal" pitchFamily="34" charset="-120"/>
              </a:rPr>
              <a:t>الهدف الاستراتيجي رقم ٣</a:t>
            </a:r>
            <a:endParaRPr lang="ar-SA" sz="1200" dirty="0"/>
          </a:p>
        </p:txBody>
      </p:sp>
      <p:sp>
        <p:nvSpPr>
          <p:cNvPr id="8" name="Text 3"/>
          <p:cNvSpPr/>
          <p:nvPr/>
        </p:nvSpPr>
        <p:spPr>
          <a:xfrm>
            <a:off x="2377440" y="822960"/>
            <a:ext cx="9128455" cy="603504"/>
          </a:xfrm>
          <a:prstGeom prst="rect">
            <a:avLst/>
          </a:prstGeom>
          <a:noFill/>
          <a:ln/>
        </p:spPr>
        <p:txBody>
          <a:bodyPr wrap="square" lIns="0" tIns="0" rIns="0" bIns="0" rtlCol="0" anchor="ctr"/>
          <a:lstStyle/>
          <a:p>
            <a:pPr rtl="1" algn="r" indent="0" marL="0">
              <a:buNone/>
            </a:pPr>
            <a:r>
              <a:rPr lang="ar-SA" altLang="en-US" sz="2300" b="1" dirty="0">
                <a:solidFill>
                  <a:srgbClr val="FFFFFF"/>
                </a:solidFill>
                <a:latin typeface="Tajawal" pitchFamily="34" charset="0"/>
                <a:ea typeface="Tajawal" pitchFamily="34" charset="-122"/>
                <a:cs typeface="Tajawal" pitchFamily="34" charset="-120"/>
              </a:rPr>
              <a:t>تعزيز القيم والهوية الوطنية</a:t>
            </a:r>
            <a:endParaRPr lang="ar-SA" sz="2300" dirty="0"/>
          </a:p>
        </p:txBody>
      </p:sp>
      <p:sp>
        <p:nvSpPr>
          <p:cNvPr id="9" name="Shape 4"/>
          <p:cNvSpPr/>
          <p:nvPr/>
        </p:nvSpPr>
        <p:spPr>
          <a:xfrm>
            <a:off x="8173517" y="1828800"/>
            <a:ext cx="3606698" cy="914400"/>
          </a:xfrm>
          <a:prstGeom prst="roundRect">
            <a:avLst>
              <a:gd name="adj" fmla="val 7500"/>
            </a:avLst>
          </a:prstGeom>
          <a:solidFill>
            <a:srgbClr val="FFFFFF"/>
          </a:solidFill>
          <a:ln w="12700">
            <a:solidFill>
              <a:srgbClr val="095242"/>
            </a:solidFill>
            <a:prstDash val="solid"/>
          </a:ln>
        </p:spPr>
      </p:sp>
      <p:sp>
        <p:nvSpPr>
          <p:cNvPr id="10" name="Text 5"/>
          <p:cNvSpPr/>
          <p:nvPr/>
        </p:nvSpPr>
        <p:spPr>
          <a:xfrm>
            <a:off x="8310677" y="1828800"/>
            <a:ext cx="1234440" cy="914400"/>
          </a:xfrm>
          <a:prstGeom prst="rect">
            <a:avLst/>
          </a:prstGeom>
          <a:noFill/>
          <a:ln/>
        </p:spPr>
        <p:txBody>
          <a:bodyPr wrap="square" lIns="0" tIns="0" rIns="0" bIns="0" rtlCol="0" anchor="ctr"/>
          <a:lstStyle/>
          <a:p>
            <a:pPr rtl="1" algn="ctr" indent="0" marL="0">
              <a:buNone/>
            </a:pPr>
            <a:r>
              <a:rPr lang="ar-SA" altLang="en-US" sz="2600" dirty="0">
                <a:solidFill>
                  <a:srgbClr val="095242"/>
                </a:solidFill>
                <a:latin typeface="Tajawal ExtraBold" pitchFamily="34" charset="0"/>
                <a:ea typeface="Tajawal ExtraBold" pitchFamily="34" charset="-122"/>
                <a:cs typeface="Tajawal ExtraBold" pitchFamily="34" charset="-120"/>
              </a:rPr>
              <a:t>١٢</a:t>
            </a:r>
            <a:endParaRPr lang="ar-SA" sz="2600" dirty="0"/>
          </a:p>
        </p:txBody>
      </p:sp>
      <p:sp>
        <p:nvSpPr>
          <p:cNvPr id="11" name="Text 6"/>
          <p:cNvSpPr/>
          <p:nvPr/>
        </p:nvSpPr>
        <p:spPr>
          <a:xfrm>
            <a:off x="9545117" y="1828800"/>
            <a:ext cx="2052218" cy="914400"/>
          </a:xfrm>
          <a:prstGeom prst="rect">
            <a:avLst/>
          </a:prstGeom>
          <a:noFill/>
          <a:ln/>
        </p:spPr>
        <p:txBody>
          <a:bodyPr wrap="square" lIns="0" tIns="0" rIns="0" bIns="0" rtlCol="0" anchor="ctr"/>
          <a:lstStyle/>
          <a:p>
            <a:pPr rtl="1" algn="r" indent="0" marL="0">
              <a:buNone/>
            </a:pPr>
            <a:r>
              <a:rPr lang="ar-SA" altLang="en-US" sz="1150" b="1" dirty="0">
                <a:solidFill>
                  <a:srgbClr val="33473F"/>
                </a:solidFill>
                <a:latin typeface="Tajawal" pitchFamily="34" charset="0"/>
                <a:ea typeface="Tajawal" pitchFamily="34" charset="-122"/>
                <a:cs typeface="Tajawal" pitchFamily="34" charset="-120"/>
              </a:rPr>
              <a:t>عدد البرامج التشغيلية</a:t>
            </a:r>
            <a:endParaRPr lang="ar-SA" sz="1150" dirty="0"/>
          </a:p>
        </p:txBody>
      </p:sp>
      <p:sp>
        <p:nvSpPr>
          <p:cNvPr id="12" name="Shape 7"/>
          <p:cNvSpPr/>
          <p:nvPr/>
        </p:nvSpPr>
        <p:spPr>
          <a:xfrm>
            <a:off x="4292498" y="1828800"/>
            <a:ext cx="3606698" cy="914400"/>
          </a:xfrm>
          <a:prstGeom prst="roundRect">
            <a:avLst>
              <a:gd name="adj" fmla="val 7500"/>
            </a:avLst>
          </a:prstGeom>
          <a:solidFill>
            <a:srgbClr val="095242"/>
          </a:solidFill>
          <a:ln/>
          <a:effectLst>
            <a:outerShdw sx="100000" sy="100000" kx="0" ky="0" algn="bl" rotWithShape="0" blurRad="88900" dist="25400" dir="5400000">
              <a:srgbClr val="083528">
                <a:alpha val="22000"/>
              </a:srgbClr>
            </a:outerShdw>
          </a:effectLst>
        </p:spPr>
      </p:sp>
      <p:sp>
        <p:nvSpPr>
          <p:cNvPr id="13" name="Text 8"/>
          <p:cNvSpPr/>
          <p:nvPr/>
        </p:nvSpPr>
        <p:spPr>
          <a:xfrm>
            <a:off x="4429658" y="1828800"/>
            <a:ext cx="1234440" cy="914400"/>
          </a:xfrm>
          <a:prstGeom prst="rect">
            <a:avLst/>
          </a:prstGeom>
          <a:noFill/>
          <a:ln/>
        </p:spPr>
        <p:txBody>
          <a:bodyPr wrap="square" lIns="0" tIns="0" rIns="0" bIns="0" rtlCol="0" anchor="ctr"/>
          <a:lstStyle/>
          <a:p>
            <a:pPr rtl="1" algn="ctr" indent="0" marL="0">
              <a:buNone/>
            </a:pPr>
            <a:r>
              <a:rPr lang="ar-SA" altLang="en-US" sz="2600" dirty="0">
                <a:solidFill>
                  <a:srgbClr val="FFFFFF"/>
                </a:solidFill>
                <a:latin typeface="Tajawal ExtraBold" pitchFamily="34" charset="0"/>
                <a:ea typeface="Tajawal ExtraBold" pitchFamily="34" charset="-122"/>
                <a:cs typeface="Tajawal ExtraBold" pitchFamily="34" charset="-120"/>
              </a:rPr>
              <a:t>٦</a:t>
            </a:r>
            <a:endParaRPr lang="ar-SA" sz="2600" dirty="0"/>
          </a:p>
        </p:txBody>
      </p:sp>
      <p:sp>
        <p:nvSpPr>
          <p:cNvPr id="14" name="Text 9"/>
          <p:cNvSpPr/>
          <p:nvPr/>
        </p:nvSpPr>
        <p:spPr>
          <a:xfrm>
            <a:off x="5664098" y="1828800"/>
            <a:ext cx="2052218" cy="914400"/>
          </a:xfrm>
          <a:prstGeom prst="rect">
            <a:avLst/>
          </a:prstGeom>
          <a:noFill/>
          <a:ln/>
        </p:spPr>
        <p:txBody>
          <a:bodyPr wrap="square" lIns="0" tIns="0" rIns="0" bIns="0" rtlCol="0" anchor="ctr"/>
          <a:lstStyle/>
          <a:p>
            <a:pPr rtl="1" algn="r" indent="0" marL="0">
              <a:buNone/>
            </a:pPr>
            <a:r>
              <a:rPr lang="ar-SA" altLang="en-US" sz="1150" b="1" dirty="0">
                <a:solidFill>
                  <a:srgbClr val="CFE2DB"/>
                </a:solidFill>
                <a:latin typeface="Tajawal" pitchFamily="34" charset="0"/>
                <a:ea typeface="Tajawal" pitchFamily="34" charset="-122"/>
                <a:cs typeface="Tajawal" pitchFamily="34" charset="-120"/>
              </a:rPr>
              <a:t>عدد مؤشرات الاعتماد المرتبطة</a:t>
            </a:r>
            <a:endParaRPr lang="ar-SA" sz="1150" dirty="0"/>
          </a:p>
        </p:txBody>
      </p:sp>
      <p:sp>
        <p:nvSpPr>
          <p:cNvPr id="15" name="Shape 10"/>
          <p:cNvSpPr/>
          <p:nvPr/>
        </p:nvSpPr>
        <p:spPr>
          <a:xfrm>
            <a:off x="411480" y="1828800"/>
            <a:ext cx="3606698" cy="914400"/>
          </a:xfrm>
          <a:prstGeom prst="roundRect">
            <a:avLst>
              <a:gd name="adj" fmla="val 7500"/>
            </a:avLst>
          </a:prstGeom>
          <a:solidFill>
            <a:srgbClr val="FFFFFF"/>
          </a:solidFill>
          <a:ln w="12700">
            <a:solidFill>
              <a:srgbClr val="095242"/>
            </a:solidFill>
            <a:prstDash val="solid"/>
          </a:ln>
        </p:spPr>
      </p:sp>
      <p:sp>
        <p:nvSpPr>
          <p:cNvPr id="16" name="Text 11"/>
          <p:cNvSpPr/>
          <p:nvPr/>
        </p:nvSpPr>
        <p:spPr>
          <a:xfrm>
            <a:off x="548640" y="1828800"/>
            <a:ext cx="1234440" cy="914400"/>
          </a:xfrm>
          <a:prstGeom prst="rect">
            <a:avLst/>
          </a:prstGeom>
          <a:noFill/>
          <a:ln/>
        </p:spPr>
        <p:txBody>
          <a:bodyPr wrap="square" lIns="0" tIns="0" rIns="0" bIns="0" rtlCol="0" anchor="ctr"/>
          <a:lstStyle/>
          <a:p>
            <a:pPr rtl="1" algn="ctr" indent="0" marL="0">
              <a:buNone/>
            </a:pPr>
            <a:r>
              <a:rPr lang="ar-SA" altLang="en-US" sz="2600" dirty="0">
                <a:solidFill>
                  <a:srgbClr val="095242"/>
                </a:solidFill>
                <a:latin typeface="Tajawal ExtraBold" pitchFamily="34" charset="0"/>
                <a:ea typeface="Tajawal ExtraBold" pitchFamily="34" charset="-122"/>
                <a:cs typeface="Tajawal ExtraBold" pitchFamily="34" charset="-120"/>
              </a:rPr>
              <a:t>٩٠٪</a:t>
            </a:r>
            <a:endParaRPr lang="ar-SA" sz="2600" dirty="0"/>
          </a:p>
        </p:txBody>
      </p:sp>
      <p:sp>
        <p:nvSpPr>
          <p:cNvPr id="17" name="Text 12"/>
          <p:cNvSpPr/>
          <p:nvPr/>
        </p:nvSpPr>
        <p:spPr>
          <a:xfrm>
            <a:off x="1783080" y="1828800"/>
            <a:ext cx="2052218" cy="914400"/>
          </a:xfrm>
          <a:prstGeom prst="rect">
            <a:avLst/>
          </a:prstGeom>
          <a:noFill/>
          <a:ln/>
        </p:spPr>
        <p:txBody>
          <a:bodyPr wrap="square" lIns="0" tIns="0" rIns="0" bIns="0" rtlCol="0" anchor="ctr"/>
          <a:lstStyle/>
          <a:p>
            <a:pPr rtl="1" algn="r" indent="0" marL="0">
              <a:buNone/>
            </a:pPr>
            <a:r>
              <a:rPr lang="ar-SA" altLang="en-US" sz="1150" b="1" dirty="0">
                <a:solidFill>
                  <a:srgbClr val="33473F"/>
                </a:solidFill>
                <a:latin typeface="Tajawal" pitchFamily="34" charset="0"/>
                <a:ea typeface="Tajawal" pitchFamily="34" charset="-122"/>
                <a:cs typeface="Tajawal" pitchFamily="34" charset="-120"/>
              </a:rPr>
              <a:t>نسبة التحقّق المستهدفة</a:t>
            </a:r>
            <a:endParaRPr lang="ar-SA" sz="1150" dirty="0"/>
          </a:p>
        </p:txBody>
      </p:sp>
      <p:sp>
        <p:nvSpPr>
          <p:cNvPr id="18" name="Shape 13"/>
          <p:cNvSpPr/>
          <p:nvPr/>
        </p:nvSpPr>
        <p:spPr>
          <a:xfrm>
            <a:off x="11729923" y="3044952"/>
            <a:ext cx="50292" cy="201168"/>
          </a:xfrm>
          <a:prstGeom prst="rect">
            <a:avLst/>
          </a:prstGeom>
          <a:solidFill>
            <a:srgbClr val="0089A1"/>
          </a:solidFill>
          <a:ln/>
        </p:spPr>
      </p:sp>
      <p:sp>
        <p:nvSpPr>
          <p:cNvPr id="19" name="Text 14"/>
          <p:cNvSpPr/>
          <p:nvPr/>
        </p:nvSpPr>
        <p:spPr>
          <a:xfrm>
            <a:off x="8488375" y="2999232"/>
            <a:ext cx="3163824" cy="292608"/>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البرامج التشغيلية ضمن هذا الهدف</a:t>
            </a:r>
            <a:endParaRPr lang="ar-SA" sz="1250" dirty="0"/>
          </a:p>
        </p:txBody>
      </p:sp>
      <p:sp>
        <p:nvSpPr>
          <p:cNvPr id="20" name="Shape 15"/>
          <p:cNvSpPr/>
          <p:nvPr/>
        </p:nvSpPr>
        <p:spPr>
          <a:xfrm>
            <a:off x="9075191" y="3383280"/>
            <a:ext cx="2705024" cy="438912"/>
          </a:xfrm>
          <a:prstGeom prst="roundRect">
            <a:avLst>
              <a:gd name="adj" fmla="val 18750"/>
            </a:avLst>
          </a:prstGeom>
          <a:solidFill>
            <a:srgbClr val="F1F7F4"/>
          </a:solidFill>
          <a:ln w="9525">
            <a:solidFill>
              <a:srgbClr val="DCE8E2"/>
            </a:solidFill>
            <a:prstDash val="solid"/>
          </a:ln>
        </p:spPr>
      </p:sp>
      <p:sp>
        <p:nvSpPr>
          <p:cNvPr id="21" name="Shape 16"/>
          <p:cNvSpPr/>
          <p:nvPr/>
        </p:nvSpPr>
        <p:spPr>
          <a:xfrm>
            <a:off x="11505895" y="3557016"/>
            <a:ext cx="100584" cy="100584"/>
          </a:xfrm>
          <a:prstGeom prst="roundRect">
            <a:avLst>
              <a:gd name="adj" fmla="val 18182"/>
            </a:avLst>
          </a:prstGeom>
          <a:solidFill>
            <a:srgbClr val="0089A1"/>
          </a:solidFill>
          <a:ln/>
        </p:spPr>
      </p:sp>
      <p:sp>
        <p:nvSpPr>
          <p:cNvPr id="22" name="Text 17"/>
          <p:cNvSpPr/>
          <p:nvPr/>
        </p:nvSpPr>
        <p:spPr>
          <a:xfrm>
            <a:off x="9203207" y="3383280"/>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تعزيز الهوية الوطنية</a:t>
            </a:r>
            <a:endParaRPr lang="ar-SA" sz="1000" dirty="0"/>
          </a:p>
        </p:txBody>
      </p:sp>
      <p:sp>
        <p:nvSpPr>
          <p:cNvPr id="23" name="Shape 18"/>
          <p:cNvSpPr/>
          <p:nvPr/>
        </p:nvSpPr>
        <p:spPr>
          <a:xfrm>
            <a:off x="6187288" y="3383280"/>
            <a:ext cx="2705024" cy="438912"/>
          </a:xfrm>
          <a:prstGeom prst="roundRect">
            <a:avLst>
              <a:gd name="adj" fmla="val 18750"/>
            </a:avLst>
          </a:prstGeom>
          <a:solidFill>
            <a:srgbClr val="F1F7F4"/>
          </a:solidFill>
          <a:ln w="9525">
            <a:solidFill>
              <a:srgbClr val="DCE8E2"/>
            </a:solidFill>
            <a:prstDash val="solid"/>
          </a:ln>
        </p:spPr>
      </p:sp>
      <p:sp>
        <p:nvSpPr>
          <p:cNvPr id="24" name="Shape 19"/>
          <p:cNvSpPr/>
          <p:nvPr/>
        </p:nvSpPr>
        <p:spPr>
          <a:xfrm>
            <a:off x="8617991" y="3557016"/>
            <a:ext cx="100584" cy="100584"/>
          </a:xfrm>
          <a:prstGeom prst="roundRect">
            <a:avLst>
              <a:gd name="adj" fmla="val 18182"/>
            </a:avLst>
          </a:prstGeom>
          <a:solidFill>
            <a:srgbClr val="0089A1"/>
          </a:solidFill>
          <a:ln/>
        </p:spPr>
      </p:sp>
      <p:sp>
        <p:nvSpPr>
          <p:cNvPr id="25" name="Text 20"/>
          <p:cNvSpPr/>
          <p:nvPr/>
        </p:nvSpPr>
        <p:spPr>
          <a:xfrm>
            <a:off x="6315304" y="3383280"/>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القيم الإسلامية</a:t>
            </a:r>
            <a:endParaRPr lang="ar-SA" sz="1000" dirty="0"/>
          </a:p>
        </p:txBody>
      </p:sp>
      <p:sp>
        <p:nvSpPr>
          <p:cNvPr id="26" name="Shape 21"/>
          <p:cNvSpPr/>
          <p:nvPr/>
        </p:nvSpPr>
        <p:spPr>
          <a:xfrm>
            <a:off x="3299384" y="3383280"/>
            <a:ext cx="2705024" cy="438912"/>
          </a:xfrm>
          <a:prstGeom prst="roundRect">
            <a:avLst>
              <a:gd name="adj" fmla="val 18750"/>
            </a:avLst>
          </a:prstGeom>
          <a:solidFill>
            <a:srgbClr val="F1F7F4"/>
          </a:solidFill>
          <a:ln w="9525">
            <a:solidFill>
              <a:srgbClr val="DCE8E2"/>
            </a:solidFill>
            <a:prstDash val="solid"/>
          </a:ln>
        </p:spPr>
      </p:sp>
      <p:sp>
        <p:nvSpPr>
          <p:cNvPr id="27" name="Shape 22"/>
          <p:cNvSpPr/>
          <p:nvPr/>
        </p:nvSpPr>
        <p:spPr>
          <a:xfrm>
            <a:off x="5730088" y="3557016"/>
            <a:ext cx="100584" cy="100584"/>
          </a:xfrm>
          <a:prstGeom prst="roundRect">
            <a:avLst>
              <a:gd name="adj" fmla="val 18182"/>
            </a:avLst>
          </a:prstGeom>
          <a:solidFill>
            <a:srgbClr val="0089A1"/>
          </a:solidFill>
          <a:ln/>
        </p:spPr>
      </p:sp>
      <p:sp>
        <p:nvSpPr>
          <p:cNvPr id="28" name="Text 23"/>
          <p:cNvSpPr/>
          <p:nvPr/>
        </p:nvSpPr>
        <p:spPr>
          <a:xfrm>
            <a:off x="3427400" y="3383280"/>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يوم التأسيس</a:t>
            </a:r>
            <a:endParaRPr lang="ar-SA" sz="1000" dirty="0"/>
          </a:p>
        </p:txBody>
      </p:sp>
      <p:sp>
        <p:nvSpPr>
          <p:cNvPr id="29" name="Shape 24"/>
          <p:cNvSpPr/>
          <p:nvPr/>
        </p:nvSpPr>
        <p:spPr>
          <a:xfrm>
            <a:off x="411480" y="3383280"/>
            <a:ext cx="2705024" cy="438912"/>
          </a:xfrm>
          <a:prstGeom prst="roundRect">
            <a:avLst>
              <a:gd name="adj" fmla="val 18750"/>
            </a:avLst>
          </a:prstGeom>
          <a:solidFill>
            <a:srgbClr val="F1F7F4"/>
          </a:solidFill>
          <a:ln w="9525">
            <a:solidFill>
              <a:srgbClr val="DCE8E2"/>
            </a:solidFill>
            <a:prstDash val="solid"/>
          </a:ln>
        </p:spPr>
      </p:sp>
      <p:sp>
        <p:nvSpPr>
          <p:cNvPr id="30" name="Shape 25"/>
          <p:cNvSpPr/>
          <p:nvPr/>
        </p:nvSpPr>
        <p:spPr>
          <a:xfrm>
            <a:off x="2842184" y="3557016"/>
            <a:ext cx="100584" cy="100584"/>
          </a:xfrm>
          <a:prstGeom prst="roundRect">
            <a:avLst>
              <a:gd name="adj" fmla="val 18182"/>
            </a:avLst>
          </a:prstGeom>
          <a:solidFill>
            <a:srgbClr val="0089A1"/>
          </a:solidFill>
          <a:ln/>
        </p:spPr>
      </p:sp>
      <p:sp>
        <p:nvSpPr>
          <p:cNvPr id="31" name="Text 26"/>
          <p:cNvSpPr/>
          <p:nvPr/>
        </p:nvSpPr>
        <p:spPr>
          <a:xfrm>
            <a:off x="539496" y="3383280"/>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اليوم الوطني</a:t>
            </a:r>
            <a:endParaRPr lang="ar-SA" sz="1000" dirty="0"/>
          </a:p>
        </p:txBody>
      </p:sp>
      <p:sp>
        <p:nvSpPr>
          <p:cNvPr id="32" name="Shape 27"/>
          <p:cNvSpPr/>
          <p:nvPr/>
        </p:nvSpPr>
        <p:spPr>
          <a:xfrm>
            <a:off x="9075191" y="3950208"/>
            <a:ext cx="2705024" cy="438912"/>
          </a:xfrm>
          <a:prstGeom prst="roundRect">
            <a:avLst>
              <a:gd name="adj" fmla="val 18750"/>
            </a:avLst>
          </a:prstGeom>
          <a:solidFill>
            <a:srgbClr val="F1F7F4"/>
          </a:solidFill>
          <a:ln w="9525">
            <a:solidFill>
              <a:srgbClr val="DCE8E2"/>
            </a:solidFill>
            <a:prstDash val="solid"/>
          </a:ln>
        </p:spPr>
      </p:sp>
      <p:sp>
        <p:nvSpPr>
          <p:cNvPr id="33" name="Shape 28"/>
          <p:cNvSpPr/>
          <p:nvPr/>
        </p:nvSpPr>
        <p:spPr>
          <a:xfrm>
            <a:off x="11505895" y="4123944"/>
            <a:ext cx="100584" cy="100584"/>
          </a:xfrm>
          <a:prstGeom prst="roundRect">
            <a:avLst>
              <a:gd name="adj" fmla="val 18182"/>
            </a:avLst>
          </a:prstGeom>
          <a:solidFill>
            <a:srgbClr val="0089A1"/>
          </a:solidFill>
          <a:ln/>
        </p:spPr>
      </p:sp>
      <p:sp>
        <p:nvSpPr>
          <p:cNvPr id="34" name="Text 29"/>
          <p:cNvSpPr/>
          <p:nvPr/>
        </p:nvSpPr>
        <p:spPr>
          <a:xfrm>
            <a:off x="9203207" y="3950208"/>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المواطنة الرقمية</a:t>
            </a:r>
            <a:endParaRPr lang="ar-SA" sz="1000" dirty="0"/>
          </a:p>
        </p:txBody>
      </p:sp>
      <p:sp>
        <p:nvSpPr>
          <p:cNvPr id="35" name="Shape 30"/>
          <p:cNvSpPr/>
          <p:nvPr/>
        </p:nvSpPr>
        <p:spPr>
          <a:xfrm>
            <a:off x="6187288" y="3950208"/>
            <a:ext cx="2705024" cy="438912"/>
          </a:xfrm>
          <a:prstGeom prst="roundRect">
            <a:avLst>
              <a:gd name="adj" fmla="val 18750"/>
            </a:avLst>
          </a:prstGeom>
          <a:solidFill>
            <a:srgbClr val="F1F7F4"/>
          </a:solidFill>
          <a:ln w="9525">
            <a:solidFill>
              <a:srgbClr val="DCE8E2"/>
            </a:solidFill>
            <a:prstDash val="solid"/>
          </a:ln>
        </p:spPr>
      </p:sp>
      <p:sp>
        <p:nvSpPr>
          <p:cNvPr id="36" name="Shape 31"/>
          <p:cNvSpPr/>
          <p:nvPr/>
        </p:nvSpPr>
        <p:spPr>
          <a:xfrm>
            <a:off x="8617991" y="4123944"/>
            <a:ext cx="100584" cy="100584"/>
          </a:xfrm>
          <a:prstGeom prst="roundRect">
            <a:avLst>
              <a:gd name="adj" fmla="val 18182"/>
            </a:avLst>
          </a:prstGeom>
          <a:solidFill>
            <a:srgbClr val="0089A1"/>
          </a:solidFill>
          <a:ln/>
        </p:spPr>
      </p:sp>
      <p:sp>
        <p:nvSpPr>
          <p:cNvPr id="37" name="Text 32"/>
          <p:cNvSpPr/>
          <p:nvPr/>
        </p:nvSpPr>
        <p:spPr>
          <a:xfrm>
            <a:off x="6315304" y="3950208"/>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سفراء القيم</a:t>
            </a:r>
            <a:endParaRPr lang="ar-SA" sz="1000" dirty="0"/>
          </a:p>
        </p:txBody>
      </p:sp>
      <p:sp>
        <p:nvSpPr>
          <p:cNvPr id="38" name="Shape 33"/>
          <p:cNvSpPr/>
          <p:nvPr/>
        </p:nvSpPr>
        <p:spPr>
          <a:xfrm>
            <a:off x="3299384" y="3950208"/>
            <a:ext cx="2705024" cy="438912"/>
          </a:xfrm>
          <a:prstGeom prst="roundRect">
            <a:avLst>
              <a:gd name="adj" fmla="val 18750"/>
            </a:avLst>
          </a:prstGeom>
          <a:solidFill>
            <a:srgbClr val="F1F7F4"/>
          </a:solidFill>
          <a:ln w="9525">
            <a:solidFill>
              <a:srgbClr val="DCE8E2"/>
            </a:solidFill>
            <a:prstDash val="solid"/>
          </a:ln>
        </p:spPr>
      </p:sp>
      <p:sp>
        <p:nvSpPr>
          <p:cNvPr id="39" name="Shape 34"/>
          <p:cNvSpPr/>
          <p:nvPr/>
        </p:nvSpPr>
        <p:spPr>
          <a:xfrm>
            <a:off x="5730088" y="4123944"/>
            <a:ext cx="100584" cy="100584"/>
          </a:xfrm>
          <a:prstGeom prst="roundRect">
            <a:avLst>
              <a:gd name="adj" fmla="val 18182"/>
            </a:avLst>
          </a:prstGeom>
          <a:solidFill>
            <a:srgbClr val="0089A1"/>
          </a:solidFill>
          <a:ln/>
        </p:spPr>
      </p:sp>
      <p:sp>
        <p:nvSpPr>
          <p:cNvPr id="40" name="Text 35"/>
          <p:cNvSpPr/>
          <p:nvPr/>
        </p:nvSpPr>
        <p:spPr>
          <a:xfrm>
            <a:off x="3427400" y="3950208"/>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القيم المهنية</a:t>
            </a:r>
            <a:endParaRPr lang="ar-SA" sz="1000" dirty="0"/>
          </a:p>
        </p:txBody>
      </p:sp>
      <p:sp>
        <p:nvSpPr>
          <p:cNvPr id="41" name="Shape 36"/>
          <p:cNvSpPr/>
          <p:nvPr/>
        </p:nvSpPr>
        <p:spPr>
          <a:xfrm>
            <a:off x="411480" y="3950208"/>
            <a:ext cx="2705024" cy="438912"/>
          </a:xfrm>
          <a:prstGeom prst="roundRect">
            <a:avLst>
              <a:gd name="adj" fmla="val 18750"/>
            </a:avLst>
          </a:prstGeom>
          <a:solidFill>
            <a:srgbClr val="F1F7F4"/>
          </a:solidFill>
          <a:ln w="9525">
            <a:solidFill>
              <a:srgbClr val="DCE8E2"/>
            </a:solidFill>
            <a:prstDash val="solid"/>
          </a:ln>
        </p:spPr>
      </p:sp>
      <p:sp>
        <p:nvSpPr>
          <p:cNvPr id="42" name="Shape 37"/>
          <p:cNvSpPr/>
          <p:nvPr/>
        </p:nvSpPr>
        <p:spPr>
          <a:xfrm>
            <a:off x="2842184" y="4123944"/>
            <a:ext cx="100584" cy="100584"/>
          </a:xfrm>
          <a:prstGeom prst="roundRect">
            <a:avLst>
              <a:gd name="adj" fmla="val 18182"/>
            </a:avLst>
          </a:prstGeom>
          <a:solidFill>
            <a:srgbClr val="0089A1"/>
          </a:solidFill>
          <a:ln/>
        </p:spPr>
      </p:sp>
      <p:sp>
        <p:nvSpPr>
          <p:cNvPr id="43" name="Text 38"/>
          <p:cNvSpPr/>
          <p:nvPr/>
        </p:nvSpPr>
        <p:spPr>
          <a:xfrm>
            <a:off x="539496" y="3950208"/>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الانضباط المدرسي</a:t>
            </a:r>
            <a:endParaRPr lang="ar-SA" sz="1000" dirty="0"/>
          </a:p>
        </p:txBody>
      </p:sp>
      <p:sp>
        <p:nvSpPr>
          <p:cNvPr id="44" name="Shape 39"/>
          <p:cNvSpPr/>
          <p:nvPr/>
        </p:nvSpPr>
        <p:spPr>
          <a:xfrm>
            <a:off x="9075191" y="4517136"/>
            <a:ext cx="2705024" cy="438912"/>
          </a:xfrm>
          <a:prstGeom prst="roundRect">
            <a:avLst>
              <a:gd name="adj" fmla="val 18750"/>
            </a:avLst>
          </a:prstGeom>
          <a:solidFill>
            <a:srgbClr val="F1F7F4"/>
          </a:solidFill>
          <a:ln w="9525">
            <a:solidFill>
              <a:srgbClr val="DCE8E2"/>
            </a:solidFill>
            <a:prstDash val="solid"/>
          </a:ln>
        </p:spPr>
      </p:sp>
      <p:sp>
        <p:nvSpPr>
          <p:cNvPr id="45" name="Shape 40"/>
          <p:cNvSpPr/>
          <p:nvPr/>
        </p:nvSpPr>
        <p:spPr>
          <a:xfrm>
            <a:off x="11505895" y="4690872"/>
            <a:ext cx="100584" cy="100584"/>
          </a:xfrm>
          <a:prstGeom prst="roundRect">
            <a:avLst>
              <a:gd name="adj" fmla="val 18182"/>
            </a:avLst>
          </a:prstGeom>
          <a:solidFill>
            <a:srgbClr val="0089A1"/>
          </a:solidFill>
          <a:ln/>
        </p:spPr>
      </p:sp>
      <p:sp>
        <p:nvSpPr>
          <p:cNvPr id="46" name="Text 41"/>
          <p:cNvSpPr/>
          <p:nvPr/>
        </p:nvSpPr>
        <p:spPr>
          <a:xfrm>
            <a:off x="9203207" y="4517136"/>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السلوك الإيجابي</a:t>
            </a:r>
            <a:endParaRPr lang="ar-SA" sz="1000" dirty="0"/>
          </a:p>
        </p:txBody>
      </p:sp>
      <p:sp>
        <p:nvSpPr>
          <p:cNvPr id="47" name="Shape 42"/>
          <p:cNvSpPr/>
          <p:nvPr/>
        </p:nvSpPr>
        <p:spPr>
          <a:xfrm>
            <a:off x="6187288" y="4517136"/>
            <a:ext cx="2705024" cy="438912"/>
          </a:xfrm>
          <a:prstGeom prst="roundRect">
            <a:avLst>
              <a:gd name="adj" fmla="val 18750"/>
            </a:avLst>
          </a:prstGeom>
          <a:solidFill>
            <a:srgbClr val="F1F7F4"/>
          </a:solidFill>
          <a:ln w="9525">
            <a:solidFill>
              <a:srgbClr val="DCE8E2"/>
            </a:solidFill>
            <a:prstDash val="solid"/>
          </a:ln>
        </p:spPr>
      </p:sp>
      <p:sp>
        <p:nvSpPr>
          <p:cNvPr id="48" name="Shape 43"/>
          <p:cNvSpPr/>
          <p:nvPr/>
        </p:nvSpPr>
        <p:spPr>
          <a:xfrm>
            <a:off x="8617991" y="4690872"/>
            <a:ext cx="100584" cy="100584"/>
          </a:xfrm>
          <a:prstGeom prst="roundRect">
            <a:avLst>
              <a:gd name="adj" fmla="val 18182"/>
            </a:avLst>
          </a:prstGeom>
          <a:solidFill>
            <a:srgbClr val="0089A1"/>
          </a:solidFill>
          <a:ln/>
        </p:spPr>
      </p:sp>
      <p:sp>
        <p:nvSpPr>
          <p:cNvPr id="49" name="Text 44"/>
          <p:cNvSpPr/>
          <p:nvPr/>
        </p:nvSpPr>
        <p:spPr>
          <a:xfrm>
            <a:off x="6315304" y="4517136"/>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الاعتزاز بالهوية</a:t>
            </a:r>
            <a:endParaRPr lang="ar-SA" sz="1000" dirty="0"/>
          </a:p>
        </p:txBody>
      </p:sp>
      <p:sp>
        <p:nvSpPr>
          <p:cNvPr id="50" name="Shape 45"/>
          <p:cNvSpPr/>
          <p:nvPr/>
        </p:nvSpPr>
        <p:spPr>
          <a:xfrm>
            <a:off x="3299384" y="4517136"/>
            <a:ext cx="2705024" cy="438912"/>
          </a:xfrm>
          <a:prstGeom prst="roundRect">
            <a:avLst>
              <a:gd name="adj" fmla="val 18750"/>
            </a:avLst>
          </a:prstGeom>
          <a:solidFill>
            <a:srgbClr val="F1F7F4"/>
          </a:solidFill>
          <a:ln w="9525">
            <a:solidFill>
              <a:srgbClr val="DCE8E2"/>
            </a:solidFill>
            <a:prstDash val="solid"/>
          </a:ln>
        </p:spPr>
      </p:sp>
      <p:sp>
        <p:nvSpPr>
          <p:cNvPr id="51" name="Shape 46"/>
          <p:cNvSpPr/>
          <p:nvPr/>
        </p:nvSpPr>
        <p:spPr>
          <a:xfrm>
            <a:off x="5730088" y="4690872"/>
            <a:ext cx="100584" cy="100584"/>
          </a:xfrm>
          <a:prstGeom prst="roundRect">
            <a:avLst>
              <a:gd name="adj" fmla="val 18182"/>
            </a:avLst>
          </a:prstGeom>
          <a:solidFill>
            <a:srgbClr val="0089A1"/>
          </a:solidFill>
          <a:ln/>
        </p:spPr>
      </p:sp>
      <p:sp>
        <p:nvSpPr>
          <p:cNvPr id="52" name="Text 47"/>
          <p:cNvSpPr/>
          <p:nvPr/>
        </p:nvSpPr>
        <p:spPr>
          <a:xfrm>
            <a:off x="3427400" y="4517136"/>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المحافظة على المرافق</a:t>
            </a:r>
            <a:endParaRPr lang="ar-SA" sz="1000" dirty="0"/>
          </a:p>
        </p:txBody>
      </p:sp>
      <p:sp>
        <p:nvSpPr>
          <p:cNvPr id="53" name="Shape 48"/>
          <p:cNvSpPr/>
          <p:nvPr/>
        </p:nvSpPr>
        <p:spPr>
          <a:xfrm>
            <a:off x="411480" y="4517136"/>
            <a:ext cx="2705024" cy="438912"/>
          </a:xfrm>
          <a:prstGeom prst="roundRect">
            <a:avLst>
              <a:gd name="adj" fmla="val 18750"/>
            </a:avLst>
          </a:prstGeom>
          <a:solidFill>
            <a:srgbClr val="F1F7F4"/>
          </a:solidFill>
          <a:ln w="9525">
            <a:solidFill>
              <a:srgbClr val="DCE8E2"/>
            </a:solidFill>
            <a:prstDash val="solid"/>
          </a:ln>
        </p:spPr>
      </p:sp>
      <p:sp>
        <p:nvSpPr>
          <p:cNvPr id="54" name="Shape 49"/>
          <p:cNvSpPr/>
          <p:nvPr/>
        </p:nvSpPr>
        <p:spPr>
          <a:xfrm>
            <a:off x="2842184" y="4690872"/>
            <a:ext cx="100584" cy="100584"/>
          </a:xfrm>
          <a:prstGeom prst="roundRect">
            <a:avLst>
              <a:gd name="adj" fmla="val 18182"/>
            </a:avLst>
          </a:prstGeom>
          <a:solidFill>
            <a:srgbClr val="0089A1"/>
          </a:solidFill>
          <a:ln/>
        </p:spPr>
      </p:sp>
      <p:sp>
        <p:nvSpPr>
          <p:cNvPr id="55" name="Text 50"/>
          <p:cNvSpPr/>
          <p:nvPr/>
        </p:nvSpPr>
        <p:spPr>
          <a:xfrm>
            <a:off x="539496" y="4517136"/>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احترام التنوع الثقافي</a:t>
            </a:r>
            <a:endParaRPr lang="ar-SA" sz="1000" dirty="0"/>
          </a:p>
        </p:txBody>
      </p:sp>
      <p:sp>
        <p:nvSpPr>
          <p:cNvPr id="56" name="Shape 51"/>
          <p:cNvSpPr/>
          <p:nvPr/>
        </p:nvSpPr>
        <p:spPr>
          <a:xfrm>
            <a:off x="7802575" y="5193792"/>
            <a:ext cx="3977640" cy="1261872"/>
          </a:xfrm>
          <a:prstGeom prst="roundRect">
            <a:avLst>
              <a:gd name="adj" fmla="val 5435"/>
            </a:avLst>
          </a:prstGeom>
          <a:solidFill>
            <a:srgbClr val="FFFFFF"/>
          </a:solidFill>
          <a:ln w="9525">
            <a:solidFill>
              <a:srgbClr val="DCE8E2"/>
            </a:solidFill>
            <a:prstDash val="solid"/>
          </a:ln>
        </p:spPr>
      </p:sp>
      <p:sp>
        <p:nvSpPr>
          <p:cNvPr id="57" name="Text 52"/>
          <p:cNvSpPr/>
          <p:nvPr/>
        </p:nvSpPr>
        <p:spPr>
          <a:xfrm>
            <a:off x="8031175" y="5285232"/>
            <a:ext cx="3520440" cy="292608"/>
          </a:xfrm>
          <a:prstGeom prst="rect">
            <a:avLst/>
          </a:prstGeom>
          <a:noFill/>
          <a:ln/>
        </p:spPr>
        <p:txBody>
          <a:bodyPr wrap="square" lIns="0" tIns="0" rIns="0" bIns="0" rtlCol="0" anchor="t"/>
          <a:lstStyle/>
          <a:p>
            <a:pPr rtl="1" algn="r" indent="0" marL="0">
              <a:buNone/>
            </a:pPr>
            <a:r>
              <a:rPr lang="ar-SA" altLang="en-US" sz="1050" b="1" dirty="0">
                <a:solidFill>
                  <a:srgbClr val="063E33"/>
                </a:solidFill>
                <a:latin typeface="Tajawal" pitchFamily="34" charset="0"/>
                <a:ea typeface="Tajawal" pitchFamily="34" charset="-122"/>
                <a:cs typeface="Tajawal" pitchFamily="34" charset="-120"/>
              </a:rPr>
              <a:t>مؤشرات الاعتماد المدرسي</a:t>
            </a:r>
            <a:endParaRPr lang="ar-SA" sz="1050" dirty="0"/>
          </a:p>
        </p:txBody>
      </p:sp>
      <p:sp>
        <p:nvSpPr>
          <p:cNvPr id="58" name="Shape 53"/>
          <p:cNvSpPr/>
          <p:nvPr/>
        </p:nvSpPr>
        <p:spPr>
          <a:xfrm>
            <a:off x="10893247" y="5632704"/>
            <a:ext cx="658368" cy="274320"/>
          </a:xfrm>
          <a:prstGeom prst="roundRect">
            <a:avLst>
              <a:gd name="adj" fmla="val 20000"/>
            </a:avLst>
          </a:prstGeom>
          <a:solidFill>
            <a:srgbClr val="FFFFFF"/>
          </a:solidFill>
          <a:ln w="9525">
            <a:solidFill>
              <a:srgbClr val="095242"/>
            </a:solidFill>
            <a:prstDash val="solid"/>
          </a:ln>
        </p:spPr>
      </p:sp>
      <p:sp>
        <p:nvSpPr>
          <p:cNvPr id="59" name="Text 54"/>
          <p:cNvSpPr/>
          <p:nvPr/>
        </p:nvSpPr>
        <p:spPr>
          <a:xfrm>
            <a:off x="10893247" y="56235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‎1-2-1-1‎</a:t>
            </a:r>
            <a:endParaRPr lang="ar-SA" sz="800" dirty="0"/>
          </a:p>
        </p:txBody>
      </p:sp>
      <p:sp>
        <p:nvSpPr>
          <p:cNvPr id="60" name="Shape 55"/>
          <p:cNvSpPr/>
          <p:nvPr/>
        </p:nvSpPr>
        <p:spPr>
          <a:xfrm>
            <a:off x="10125151" y="5632704"/>
            <a:ext cx="658368" cy="274320"/>
          </a:xfrm>
          <a:prstGeom prst="roundRect">
            <a:avLst>
              <a:gd name="adj" fmla="val 20000"/>
            </a:avLst>
          </a:prstGeom>
          <a:solidFill>
            <a:srgbClr val="FFFFFF"/>
          </a:solidFill>
          <a:ln w="9525">
            <a:solidFill>
              <a:srgbClr val="095242"/>
            </a:solidFill>
            <a:prstDash val="solid"/>
          </a:ln>
        </p:spPr>
      </p:sp>
      <p:sp>
        <p:nvSpPr>
          <p:cNvPr id="61" name="Text 56"/>
          <p:cNvSpPr/>
          <p:nvPr/>
        </p:nvSpPr>
        <p:spPr>
          <a:xfrm>
            <a:off x="10125151" y="56235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‎1-2-1-2‎</a:t>
            </a:r>
            <a:endParaRPr lang="ar-SA" sz="800" dirty="0"/>
          </a:p>
        </p:txBody>
      </p:sp>
      <p:sp>
        <p:nvSpPr>
          <p:cNvPr id="62" name="Shape 57"/>
          <p:cNvSpPr/>
          <p:nvPr/>
        </p:nvSpPr>
        <p:spPr>
          <a:xfrm>
            <a:off x="9357055" y="5632704"/>
            <a:ext cx="658368" cy="274320"/>
          </a:xfrm>
          <a:prstGeom prst="roundRect">
            <a:avLst>
              <a:gd name="adj" fmla="val 20000"/>
            </a:avLst>
          </a:prstGeom>
          <a:solidFill>
            <a:srgbClr val="FFFFFF"/>
          </a:solidFill>
          <a:ln w="9525">
            <a:solidFill>
              <a:srgbClr val="095242"/>
            </a:solidFill>
            <a:prstDash val="solid"/>
          </a:ln>
        </p:spPr>
      </p:sp>
      <p:sp>
        <p:nvSpPr>
          <p:cNvPr id="63" name="Text 58"/>
          <p:cNvSpPr/>
          <p:nvPr/>
        </p:nvSpPr>
        <p:spPr>
          <a:xfrm>
            <a:off x="9357055" y="56235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‎1-2-1-3‎</a:t>
            </a:r>
            <a:endParaRPr lang="ar-SA" sz="800" dirty="0"/>
          </a:p>
        </p:txBody>
      </p:sp>
      <p:sp>
        <p:nvSpPr>
          <p:cNvPr id="64" name="Shape 59"/>
          <p:cNvSpPr/>
          <p:nvPr/>
        </p:nvSpPr>
        <p:spPr>
          <a:xfrm>
            <a:off x="8588959" y="5632704"/>
            <a:ext cx="658368" cy="274320"/>
          </a:xfrm>
          <a:prstGeom prst="roundRect">
            <a:avLst>
              <a:gd name="adj" fmla="val 20000"/>
            </a:avLst>
          </a:prstGeom>
          <a:solidFill>
            <a:srgbClr val="FFFFFF"/>
          </a:solidFill>
          <a:ln w="9525">
            <a:solidFill>
              <a:srgbClr val="095242"/>
            </a:solidFill>
            <a:prstDash val="solid"/>
          </a:ln>
        </p:spPr>
      </p:sp>
      <p:sp>
        <p:nvSpPr>
          <p:cNvPr id="65" name="Text 60"/>
          <p:cNvSpPr/>
          <p:nvPr/>
        </p:nvSpPr>
        <p:spPr>
          <a:xfrm>
            <a:off x="8588959" y="56235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‎1-2-1-4‎</a:t>
            </a:r>
            <a:endParaRPr lang="ar-SA" sz="800" dirty="0"/>
          </a:p>
        </p:txBody>
      </p:sp>
      <p:sp>
        <p:nvSpPr>
          <p:cNvPr id="66" name="Shape 61"/>
          <p:cNvSpPr/>
          <p:nvPr/>
        </p:nvSpPr>
        <p:spPr>
          <a:xfrm>
            <a:off x="7820863" y="5632704"/>
            <a:ext cx="658368" cy="274320"/>
          </a:xfrm>
          <a:prstGeom prst="roundRect">
            <a:avLst>
              <a:gd name="adj" fmla="val 20000"/>
            </a:avLst>
          </a:prstGeom>
          <a:solidFill>
            <a:srgbClr val="FFFFFF"/>
          </a:solidFill>
          <a:ln w="9525">
            <a:solidFill>
              <a:srgbClr val="095242"/>
            </a:solidFill>
            <a:prstDash val="solid"/>
          </a:ln>
        </p:spPr>
      </p:sp>
      <p:sp>
        <p:nvSpPr>
          <p:cNvPr id="67" name="Text 62"/>
          <p:cNvSpPr/>
          <p:nvPr/>
        </p:nvSpPr>
        <p:spPr>
          <a:xfrm>
            <a:off x="7820863" y="56235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‎3-2-1-1‎</a:t>
            </a:r>
            <a:endParaRPr lang="ar-SA" sz="800" dirty="0"/>
          </a:p>
        </p:txBody>
      </p:sp>
      <p:sp>
        <p:nvSpPr>
          <p:cNvPr id="68" name="Shape 63"/>
          <p:cNvSpPr/>
          <p:nvPr/>
        </p:nvSpPr>
        <p:spPr>
          <a:xfrm>
            <a:off x="10893247" y="5998464"/>
            <a:ext cx="658368" cy="274320"/>
          </a:xfrm>
          <a:prstGeom prst="roundRect">
            <a:avLst>
              <a:gd name="adj" fmla="val 20000"/>
            </a:avLst>
          </a:prstGeom>
          <a:solidFill>
            <a:srgbClr val="FFFFFF"/>
          </a:solidFill>
          <a:ln w="9525">
            <a:solidFill>
              <a:srgbClr val="095242"/>
            </a:solidFill>
            <a:prstDash val="solid"/>
          </a:ln>
        </p:spPr>
      </p:sp>
      <p:sp>
        <p:nvSpPr>
          <p:cNvPr id="69" name="Text 64"/>
          <p:cNvSpPr/>
          <p:nvPr/>
        </p:nvSpPr>
        <p:spPr>
          <a:xfrm>
            <a:off x="10893247" y="598932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‎3-2-1-7‎</a:t>
            </a:r>
            <a:endParaRPr lang="ar-SA" sz="800" dirty="0"/>
          </a:p>
        </p:txBody>
      </p:sp>
      <p:sp>
        <p:nvSpPr>
          <p:cNvPr id="70" name="Shape 65"/>
          <p:cNvSpPr/>
          <p:nvPr/>
        </p:nvSpPr>
        <p:spPr>
          <a:xfrm>
            <a:off x="411480" y="5193792"/>
            <a:ext cx="7116775" cy="1261872"/>
          </a:xfrm>
          <a:prstGeom prst="roundRect">
            <a:avLst>
              <a:gd name="adj" fmla="val 5435"/>
            </a:avLst>
          </a:prstGeom>
          <a:solidFill>
            <a:srgbClr val="095242"/>
          </a:solidFill>
          <a:ln/>
          <a:effectLst>
            <a:outerShdw sx="100000" sy="100000" kx="0" ky="0" algn="bl" rotWithShape="0" blurRad="88900" dist="25400" dir="5400000">
              <a:srgbClr val="083528">
                <a:alpha val="22000"/>
              </a:srgbClr>
            </a:outerShdw>
          </a:effectLst>
        </p:spPr>
      </p:sp>
      <p:pic>
        <p:nvPicPr>
          <p:cNvPr id="71" name="Image 3" descr="/tmp/claude-0/-home-user-Mobile1/ab9bbf47-b054-5f6e-be59-70476e095ce8/scratchpad/assets/icons/sparkles_white.png">    </p:cNvPr>
          <p:cNvPicPr>
            <a:picLocks noChangeAspect="1"/>
          </p:cNvPicPr>
          <p:nvPr/>
        </p:nvPicPr>
        <p:blipFill>
          <a:blip r:embed="rId4"/>
          <a:stretch>
            <a:fillRect/>
          </a:stretch>
        </p:blipFill>
        <p:spPr>
          <a:xfrm>
            <a:off x="7052767" y="5303520"/>
            <a:ext cx="256032" cy="256032"/>
          </a:xfrm>
          <a:prstGeom prst="rect">
            <a:avLst/>
          </a:prstGeom>
        </p:spPr>
      </p:pic>
      <p:sp>
        <p:nvSpPr>
          <p:cNvPr id="72" name="Text 66"/>
          <p:cNvSpPr/>
          <p:nvPr/>
        </p:nvSpPr>
        <p:spPr>
          <a:xfrm>
            <a:off x="685800" y="5285232"/>
            <a:ext cx="6248095" cy="292608"/>
          </a:xfrm>
          <a:prstGeom prst="rect">
            <a:avLst/>
          </a:prstGeom>
          <a:noFill/>
          <a:ln/>
        </p:spPr>
        <p:txBody>
          <a:bodyPr wrap="square" lIns="0" tIns="0" rIns="0" bIns="0" rtlCol="0" anchor="t"/>
          <a:lstStyle/>
          <a:p>
            <a:pPr rtl="1" algn="r" indent="0" marL="0">
              <a:buNone/>
            </a:pPr>
            <a:r>
              <a:rPr lang="ar-SA" altLang="en-US" sz="1150" b="1" dirty="0">
                <a:solidFill>
                  <a:srgbClr val="FFFFFF"/>
                </a:solidFill>
                <a:latin typeface="Tajawal" pitchFamily="34" charset="0"/>
                <a:ea typeface="Tajawal" pitchFamily="34" charset="-122"/>
                <a:cs typeface="Tajawal" pitchFamily="34" charset="-120"/>
              </a:rPr>
              <a:t>المخرجات المتوقّعة</a:t>
            </a:r>
            <a:endParaRPr lang="ar-SA" sz="1150" dirty="0"/>
          </a:p>
        </p:txBody>
      </p:sp>
      <p:sp>
        <p:nvSpPr>
          <p:cNvPr id="73" name="Text 67"/>
          <p:cNvSpPr/>
          <p:nvPr/>
        </p:nvSpPr>
        <p:spPr>
          <a:xfrm>
            <a:off x="685800" y="5614416"/>
            <a:ext cx="6549847" cy="749808"/>
          </a:xfrm>
          <a:prstGeom prst="rect">
            <a:avLst/>
          </a:prstGeom>
          <a:noFill/>
          <a:ln/>
        </p:spPr>
        <p:txBody>
          <a:bodyPr wrap="square" lIns="0" tIns="0" rIns="0" bIns="0" rtlCol="0" anchor="t"/>
          <a:lstStyle/>
          <a:p>
            <a:pPr rtl="1" algn="r" indent="0" marL="0">
              <a:lnSpc>
                <a:spcPct val="120000"/>
              </a:lnSpc>
              <a:buNone/>
            </a:pPr>
            <a:r>
              <a:rPr lang="ar-SA" altLang="en-US" sz="960" dirty="0">
                <a:solidFill>
                  <a:srgbClr val="D9E9E3"/>
                </a:solidFill>
                <a:latin typeface="Tajawal" pitchFamily="34" charset="0"/>
                <a:ea typeface="Tajawal" pitchFamily="34" charset="-122"/>
                <a:cs typeface="Tajawal" pitchFamily="34" charset="-120"/>
              </a:rPr>
              <a:t>انغراس قيم المواطنة في الممارسة اليومية • مشاركة فاعلة في المناسبات الوطنية • انضباط مدرسي مرتفع • سلوك إيجابي في تعاملات الطلاب.</a:t>
            </a:r>
            <a:endParaRPr lang="ar-SA" sz="96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tmp/claude-0/-home-user-Mobile1/ab9bbf47-b054-5f6e-be59-70476e095ce8/scratchpad/assets/bg_content.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665415" y="6519672"/>
            <a:ext cx="4114800" cy="274320"/>
          </a:xfrm>
          <a:prstGeom prst="rect">
            <a:avLst/>
          </a:prstGeom>
          <a:noFill/>
          <a:ln/>
        </p:spPr>
        <p:txBody>
          <a:bodyPr wrap="square" lIns="0" tIns="0" rIns="0" bIns="0" rtlCol="0" anchor="t"/>
          <a:lstStyle/>
          <a:p>
            <a:pPr rtl="1" algn="r" indent="0" marL="0">
              <a:buNone/>
            </a:pPr>
            <a:r>
              <a:rPr lang="ar-SA" altLang="en-US" sz="800" dirty="0">
                <a:solidFill>
                  <a:srgbClr val="7C8F87"/>
                </a:solidFill>
                <a:latin typeface="Tajawal" pitchFamily="34" charset="0"/>
                <a:ea typeface="Tajawal" pitchFamily="34" charset="-122"/>
                <a:cs typeface="Tajawal" pitchFamily="34" charset="-120"/>
              </a:rPr>
              <a:t>الخطة التشغيلية للعام الدراسي ١٤٤٨هـ</a:t>
            </a:r>
            <a:endParaRPr lang="ar-SA" sz="800" dirty="0"/>
          </a:p>
        </p:txBody>
      </p:sp>
      <p:sp>
        <p:nvSpPr>
          <p:cNvPr id="4" name="Text 1"/>
          <p:cNvSpPr/>
          <p:nvPr/>
        </p:nvSpPr>
        <p:spPr>
          <a:xfrm>
            <a:off x="411480" y="6519672"/>
            <a:ext cx="914400" cy="274320"/>
          </a:xfrm>
          <a:prstGeom prst="rect">
            <a:avLst/>
          </a:prstGeom>
          <a:noFill/>
          <a:ln/>
        </p:spPr>
        <p:txBody>
          <a:bodyPr wrap="square" lIns="0" tIns="0" rIns="0" bIns="0" rtlCol="0" anchor="t"/>
          <a:lstStyle/>
          <a:p>
            <a:pPr rtl="1" algn="l" indent="0" marL="0">
              <a:buNone/>
            </a:pPr>
            <a:r>
              <a:rPr lang="ar-SA" altLang="en-US" sz="850" b="1" dirty="0">
                <a:solidFill>
                  <a:srgbClr val="7C8F87"/>
                </a:solidFill>
                <a:latin typeface="Tajawal" pitchFamily="34" charset="0"/>
                <a:ea typeface="Tajawal" pitchFamily="34" charset="-122"/>
                <a:cs typeface="Tajawal" pitchFamily="34" charset="-120"/>
              </a:rPr>
              <a:t>٢٠</a:t>
            </a:r>
            <a:endParaRPr lang="ar-SA" sz="850" dirty="0"/>
          </a:p>
        </p:txBody>
      </p:sp>
      <p:sp>
        <p:nvSpPr>
          <p:cNvPr id="5" name="Shape 2"/>
          <p:cNvSpPr/>
          <p:nvPr/>
        </p:nvSpPr>
        <p:spPr>
          <a:xfrm>
            <a:off x="411480" y="274320"/>
            <a:ext cx="11368735" cy="548640"/>
          </a:xfrm>
          <a:prstGeom prst="roundRect">
            <a:avLst>
              <a:gd name="adj" fmla="val 15000"/>
            </a:avLst>
          </a:prstGeom>
          <a:solidFill>
            <a:srgbClr val="095242"/>
          </a:solidFill>
          <a:ln/>
        </p:spPr>
      </p:sp>
      <p:sp>
        <p:nvSpPr>
          <p:cNvPr id="6" name="Shape 3"/>
          <p:cNvSpPr/>
          <p:nvPr/>
        </p:nvSpPr>
        <p:spPr>
          <a:xfrm>
            <a:off x="576072" y="379476"/>
            <a:ext cx="1371600" cy="338328"/>
          </a:xfrm>
          <a:prstGeom prst="roundRect">
            <a:avLst>
              <a:gd name="adj" fmla="val 18919"/>
            </a:avLst>
          </a:prstGeom>
          <a:solidFill>
            <a:srgbClr val="FFFFFF">
              <a:alpha val="14000"/>
            </a:srgbClr>
          </a:solidFill>
          <a:ln w="6350">
            <a:solidFill>
              <a:srgbClr val="FFFFFF">
                <a:alpha val="45000"/>
              </a:srgbClr>
            </a:solidFill>
            <a:prstDash val="solid"/>
          </a:ln>
        </p:spPr>
      </p:sp>
      <p:sp>
        <p:nvSpPr>
          <p:cNvPr id="7" name="Text 4"/>
          <p:cNvSpPr/>
          <p:nvPr/>
        </p:nvSpPr>
        <p:spPr>
          <a:xfrm>
            <a:off x="576072" y="370332"/>
            <a:ext cx="1371600" cy="338328"/>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البرامج التفصيلية</a:t>
            </a:r>
            <a:endParaRPr lang="ar-SA" sz="950" dirty="0"/>
          </a:p>
        </p:txBody>
      </p:sp>
      <p:sp>
        <p:nvSpPr>
          <p:cNvPr id="8" name="Text 5"/>
          <p:cNvSpPr/>
          <p:nvPr/>
        </p:nvSpPr>
        <p:spPr>
          <a:xfrm>
            <a:off x="2194560" y="274320"/>
            <a:ext cx="9311335" cy="548640"/>
          </a:xfrm>
          <a:prstGeom prst="rect">
            <a:avLst/>
          </a:prstGeom>
          <a:noFill/>
          <a:ln/>
        </p:spPr>
        <p:txBody>
          <a:bodyPr wrap="square" lIns="0" tIns="0" rIns="0" bIns="0" rtlCol="0" anchor="ctr"/>
          <a:lstStyle/>
          <a:p>
            <a:pPr rtl="1" algn="r" indent="0" marL="0">
              <a:buNone/>
            </a:pPr>
            <a:r>
              <a:rPr lang="ar-SA" altLang="en-US" sz="1550" b="1" dirty="0">
                <a:solidFill>
                  <a:srgbClr val="FFFFFF"/>
                </a:solidFill>
                <a:latin typeface="Tajawal" pitchFamily="34" charset="0"/>
                <a:ea typeface="Tajawal" pitchFamily="34" charset="-122"/>
                <a:cs typeface="Tajawal" pitchFamily="34" charset="-120"/>
              </a:rPr>
              <a:t>الهدف الاستراتيجي العام ٣: تعزيز القيم والهوية الوطنية</a:t>
            </a:r>
            <a:endParaRPr lang="ar-SA" sz="15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914400"/>
        </p:xfrm>
        <a:graphic>
          <a:graphicData uri="http://schemas.openxmlformats.org/drawingml/2006/table">
            <a:tbl>
              <a:tblPr/>
              <a:tblGrid>
                <a:gridCol w="9631375"/>
                <a:gridCol w="1737360"/>
              </a:tblGrid>
              <a:tr h="274320">
                <a:tc>
                  <a:txBody>
                    <a:bodyPr/>
                    <a:lstStyle/>
                    <a:p>
                      <a:pPr rtl="1" algn="r" indent="0" marL="0">
                        <a:buNone/>
                      </a:pPr>
                      <a:r>
                        <a:rPr lang="ar-SA" altLang="en-US" sz="940" b="1" dirty="0">
                          <a:solidFill>
                            <a:srgbClr val="063E33"/>
                          </a:solidFill>
                          <a:latin typeface="Tajawal" pitchFamily="34" charset="0"/>
                          <a:ea typeface="Tajawal" pitchFamily="34" charset="-122"/>
                          <a:cs typeface="Tajawal" pitchFamily="34" charset="-120"/>
                        </a:rPr>
                        <a:t>تعزيز القيم والهوية الوطنية</a:t>
                      </a:r>
                      <a:endParaRPr lang="ar-SA" sz="9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المحور الاستراتيجي</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B5E4C"/>
                    </a:solidFill>
                  </a:tcPr>
                </a:tc>
              </a:tr>
              <a:tr h="548640">
                <a:tc>
                  <a:txBody>
                    <a:bodyPr/>
                    <a:lstStyle/>
                    <a:p>
                      <a:pPr rtl="1" algn="r" indent="0" marL="0">
                        <a:buNone/>
                      </a:pPr>
                      <a:r>
                        <a:rPr lang="ar-SA" altLang="en-US" sz="820" dirty="0">
                          <a:solidFill>
                            <a:srgbClr val="33473F"/>
                          </a:solidFill>
                          <a:latin typeface="Tajawal" pitchFamily="34" charset="0"/>
                          <a:ea typeface="Tajawal" pitchFamily="34" charset="-122"/>
                          <a:cs typeface="Tajawal" pitchFamily="34" charset="-120"/>
                        </a:rPr>
                        <a:t>يهدف هذا المحور إلى ترسيخ القيم الإسلامية والوطنية في نفوس الطلاب، وتعزيز الانتماء والولاء للوطن وقيادته، وتنمية السلوك الإيجابي والمواطنة المسؤولة، من خلال البرامج والأنشطة التربوية والمناسبات الوطنية التي تسهم في بناء الشخصية المتوازنة والهوية الوطنية الراسخة.</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الهدف التفصيلي (٣-١)</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B5E4C"/>
                    </a:solidFill>
                  </a:tcPr>
                </a:tc>
              </a:tr>
              <a:tr h="420624">
                <a:tc>
                  <a:txBody>
                    <a:bodyPr/>
                    <a:lstStyle/>
                    <a:p>
                      <a:pPr rtl="1" algn="r" indent="0" marL="0">
                        <a:buNone/>
                      </a:pPr>
                      <a:r>
                        <a:rPr lang="ar-SA" altLang="en-US" sz="840" b="1" dirty="0">
                          <a:solidFill>
                            <a:srgbClr val="0B4A56"/>
                          </a:solidFill>
                          <a:latin typeface="Tajawal" pitchFamily="34" charset="0"/>
                          <a:ea typeface="Tajawal" pitchFamily="34" charset="-122"/>
                          <a:cs typeface="Tajawal" pitchFamily="34" charset="-120"/>
                        </a:rPr>
                        <a:t>نسبة مشاركة الطلاب والمعلمين في برامج تعزيز القيم والمناسبات الوطنية والأنشطة الداعمة للهوية الوطنية والإسلامية. المستهدف: غرس القيم الوطنية والإسلامية وتعزيز الهوية بنسبة ٩٠٪ خلال العام.</a:t>
                      </a:r>
                      <a:endParaRPr lang="ar-SA" sz="8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مؤشر قياس الأداء (المستهدف)</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B5E4C"/>
                    </a:solidFill>
                  </a:tcPr>
                </a:tc>
              </a:tr>
            </a:tbl>
          </a:graphicData>
        </a:graphic>
      </p:graphicFrame>
      <p:graphicFrame>
        <p:nvGraphicFramePr>
          <p:cNvPr id="41" name="Table 1"/>
          <p:cNvGraphicFramePr>
            <a:graphicFrameLocks noGrp="1"/>
          </p:cNvGraphicFramePr>
          <p:nvPr>
            <p:extLst>
              <p:ext uri="{D42A27DB-BD31-4B8C-83A1-F6EECF244321}">
                <p14:modId xmlns:p14="http://schemas.microsoft.com/office/powerpoint/2010/main" val="1579011935"/>
              </p:ext>
            </p:extLst>
          </p:nvPr>
        </p:nvGraphicFramePr>
        <p:xfrm>
          <a:off x="411480" y="2286000"/>
          <a:ext cx="11368735" cy="914400"/>
        </p:xfrm>
        <a:graphic>
          <a:graphicData uri="http://schemas.openxmlformats.org/drawingml/2006/table">
            <a:tbl>
              <a:tblPr/>
              <a:tblGrid>
                <a:gridCol w="859536"/>
                <a:gridCol w="1243584"/>
                <a:gridCol w="941832"/>
                <a:gridCol w="960120"/>
                <a:gridCol w="914400"/>
                <a:gridCol w="1051560"/>
                <a:gridCol w="1097280"/>
                <a:gridCol w="548640"/>
                <a:gridCol w="365760"/>
                <a:gridCol w="914400"/>
                <a:gridCol w="1371600"/>
                <a:gridCol w="804672"/>
                <a:gridCol w="292608"/>
              </a:tblGrid>
              <a:tr h="274320">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مؤشر تحقق الهدف</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أسلوب التنفيذ</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الفئة المستهدفة</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gridSpan="3">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جهة التنفيذ</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63E33"/>
                    </a:solidFill>
                  </a:tcPr>
                </a:tc>
                <a:tc hMerge="1">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المتطلبات</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grid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زمن التنفيذ</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63E33"/>
                    </a:solidFill>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مصدر البرنامج</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اسم المشروع / البرنامج</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المجال</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r>
              <a:tr h="292608">
                <a:tc vMerge="1">
                  <a:tcPr/>
                </a:tc>
                <a:tc vMerge="1">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الدعم الخارجي</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المساندة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الرئيسة وفريق العمل</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الأسبوع</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ف</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vMerge="1">
                  <a:tcPr/>
                </a:tc>
                <a:tc vMerge="1">
                  <a:tcPr/>
                </a:tc>
                <a:tc vMerge="1">
                  <a:tcPr/>
                </a:tc>
                <a:tc vMerge="1">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إذاعة، لقاءات</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الكل</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الجميع</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النشاط والمرشد</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سنوية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أسبوعي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تعزيز الهوية الوطنية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١</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حلقات، أنشطة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جميع</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التوجيه</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معلم الدين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وسائل دعوية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أسبوعي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التوجيه الطلابي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القيم الإسلامية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٢</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احتفال، مسابقات</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جميع</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تجهيز قاعة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١٢-١٤</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يوم التأسيس</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٣</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احتفال، مسابقات</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جميع</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تجهيزات + جوائز</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٥-٧</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اليوم الوطني</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٤</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محاضرات، ورش</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طلاب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المرشد</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معلم الحاسب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محتوى رقمي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شهري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المواطنة الرقمية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التعليم والتعلم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٥</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تدريب، مبادرات</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طلاب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المرشد</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ميثاق + جوائز</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أسبوعي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سفراء القيم</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٦</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لقاءات، تطوير</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معلمون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اللجان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ميثاق مهني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شهري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التوجيه الطلابي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القيم المهنية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٧</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متابعة، لوائح</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طلاب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المرشد</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لائحة + سجلات</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يومي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التوجيه الطلابي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الانضباط المدرسي</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٨</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تعزيز، جوائز</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طلاب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المرشد</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نموذج تعزيز</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أسبوعي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التوجيه الطلابي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السلوك الإيجابي</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أنشطة، مناسبات</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جميع</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موارد إعلامية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دوري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الاعتزاز بالهوية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١٠</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توعية، متابعة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جميع</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لا يوجد</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لوحات إرشاد</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يومي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المحافظة على المرافق</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١١</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ورش، مبادرات</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طلاب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المرشد</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محتوى تثقيفي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شهري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التوجيه الطلابي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احترام التنوع الثقافي</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١٢</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tmp/claude-0/-home-user-Mobile1/ab9bbf47-b054-5f6e-be59-70476e095ce8/scratchpad/assets/bg_content.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665415" y="6519672"/>
            <a:ext cx="4114800" cy="274320"/>
          </a:xfrm>
          <a:prstGeom prst="rect">
            <a:avLst/>
          </a:prstGeom>
          <a:noFill/>
          <a:ln/>
        </p:spPr>
        <p:txBody>
          <a:bodyPr wrap="square" lIns="0" tIns="0" rIns="0" bIns="0" rtlCol="0" anchor="t"/>
          <a:lstStyle/>
          <a:p>
            <a:pPr rtl="1" algn="r" indent="0" marL="0">
              <a:buNone/>
            </a:pPr>
            <a:r>
              <a:rPr lang="ar-SA" altLang="en-US" sz="800" dirty="0">
                <a:solidFill>
                  <a:srgbClr val="7C8F87"/>
                </a:solidFill>
                <a:latin typeface="Tajawal" pitchFamily="34" charset="0"/>
                <a:ea typeface="Tajawal" pitchFamily="34" charset="-122"/>
                <a:cs typeface="Tajawal" pitchFamily="34" charset="-120"/>
              </a:rPr>
              <a:t>الخطة التشغيلية للعام الدراسي ١٤٤٨هـ</a:t>
            </a:r>
            <a:endParaRPr lang="ar-SA" sz="800" dirty="0"/>
          </a:p>
        </p:txBody>
      </p:sp>
      <p:sp>
        <p:nvSpPr>
          <p:cNvPr id="4" name="Text 1"/>
          <p:cNvSpPr/>
          <p:nvPr/>
        </p:nvSpPr>
        <p:spPr>
          <a:xfrm>
            <a:off x="411480" y="6519672"/>
            <a:ext cx="914400" cy="274320"/>
          </a:xfrm>
          <a:prstGeom prst="rect">
            <a:avLst/>
          </a:prstGeom>
          <a:noFill/>
          <a:ln/>
        </p:spPr>
        <p:txBody>
          <a:bodyPr wrap="square" lIns="0" tIns="0" rIns="0" bIns="0" rtlCol="0" anchor="t"/>
          <a:lstStyle/>
          <a:p>
            <a:pPr rtl="1" algn="l" indent="0" marL="0">
              <a:buNone/>
            </a:pPr>
            <a:r>
              <a:rPr lang="ar-SA" altLang="en-US" sz="850" b="1" dirty="0">
                <a:solidFill>
                  <a:srgbClr val="7C8F87"/>
                </a:solidFill>
                <a:latin typeface="Tajawal" pitchFamily="34" charset="0"/>
                <a:ea typeface="Tajawal" pitchFamily="34" charset="-122"/>
                <a:cs typeface="Tajawal" pitchFamily="34" charset="-120"/>
              </a:rPr>
              <a:t>٢١</a:t>
            </a:r>
            <a:endParaRPr lang="ar-SA" sz="850" dirty="0"/>
          </a:p>
        </p:txBody>
      </p:sp>
      <p:pic>
        <p:nvPicPr>
          <p:cNvPr id="5" name="Image 1" descr="/tmp/claude-0/-home-user-Mobile1/ab9bbf47-b054-5f6e-be59-70476e095ce8/scratchpad/assets/band_goal.png">    </p:cNvPr>
          <p:cNvPicPr>
            <a:picLocks noChangeAspect="1"/>
          </p:cNvPicPr>
          <p:nvPr/>
        </p:nvPicPr>
        <p:blipFill>
          <a:blip r:embed="rId2"/>
          <a:stretch>
            <a:fillRect/>
          </a:stretch>
        </p:blipFill>
        <p:spPr>
          <a:xfrm>
            <a:off x="411480" y="292608"/>
            <a:ext cx="11368735" cy="1344168"/>
          </a:xfrm>
          <a:prstGeom prst="rect">
            <a:avLst/>
          </a:prstGeom>
        </p:spPr>
      </p:pic>
      <p:pic>
        <p:nvPicPr>
          <p:cNvPr id="6" name="Image 2" descr="/tmp/claude-0/-home-user-Mobile1/ab9bbf47-b054-5f6e-be59-70476e095ce8/scratchpad/assets/moe_white.png">    </p:cNvPr>
          <p:cNvPicPr>
            <a:picLocks noChangeAspect="1"/>
          </p:cNvPicPr>
          <p:nvPr/>
        </p:nvPicPr>
        <p:blipFill>
          <a:blip r:embed="rId3"/>
          <a:stretch>
            <a:fillRect/>
          </a:stretch>
        </p:blipFill>
        <p:spPr>
          <a:xfrm>
            <a:off x="795528" y="502920"/>
            <a:ext cx="1170432" cy="905256"/>
          </a:xfrm>
          <a:prstGeom prst="rect">
            <a:avLst/>
          </a:prstGeom>
        </p:spPr>
      </p:pic>
      <p:sp>
        <p:nvSpPr>
          <p:cNvPr id="7" name="Text 2"/>
          <p:cNvSpPr/>
          <p:nvPr/>
        </p:nvSpPr>
        <p:spPr>
          <a:xfrm>
            <a:off x="2377440" y="475488"/>
            <a:ext cx="9128455" cy="329184"/>
          </a:xfrm>
          <a:prstGeom prst="rect">
            <a:avLst/>
          </a:prstGeom>
          <a:noFill/>
          <a:ln/>
        </p:spPr>
        <p:txBody>
          <a:bodyPr wrap="square" lIns="0" tIns="0" rIns="0" bIns="0" rtlCol="0" anchor="t"/>
          <a:lstStyle/>
          <a:p>
            <a:pPr rtl="1" algn="r" indent="0" marL="0">
              <a:buNone/>
            </a:pPr>
            <a:r>
              <a:rPr lang="ar-SA" altLang="en-US" sz="1200" b="1" dirty="0">
                <a:solidFill>
                  <a:srgbClr val="C9A45C"/>
                </a:solidFill>
                <a:latin typeface="Tajawal" pitchFamily="34" charset="0"/>
                <a:ea typeface="Tajawal" pitchFamily="34" charset="-122"/>
                <a:cs typeface="Tajawal" pitchFamily="34" charset="-120"/>
              </a:rPr>
              <a:t>الهدف الاستراتيجي رقم ٤</a:t>
            </a:r>
            <a:endParaRPr lang="ar-SA" sz="1200" dirty="0"/>
          </a:p>
        </p:txBody>
      </p:sp>
      <p:sp>
        <p:nvSpPr>
          <p:cNvPr id="8" name="Text 3"/>
          <p:cNvSpPr/>
          <p:nvPr/>
        </p:nvSpPr>
        <p:spPr>
          <a:xfrm>
            <a:off x="2377440" y="822960"/>
            <a:ext cx="9128455" cy="603504"/>
          </a:xfrm>
          <a:prstGeom prst="rect">
            <a:avLst/>
          </a:prstGeom>
          <a:noFill/>
          <a:ln/>
        </p:spPr>
        <p:txBody>
          <a:bodyPr wrap="square" lIns="0" tIns="0" rIns="0" bIns="0" rtlCol="0" anchor="ctr"/>
          <a:lstStyle/>
          <a:p>
            <a:pPr rtl="1" algn="r" indent="0" marL="0">
              <a:buNone/>
            </a:pPr>
            <a:r>
              <a:rPr lang="ar-SA" altLang="en-US" sz="2300" b="1" dirty="0">
                <a:solidFill>
                  <a:srgbClr val="FFFFFF"/>
                </a:solidFill>
                <a:latin typeface="Tajawal" pitchFamily="34" charset="0"/>
                <a:ea typeface="Tajawal" pitchFamily="34" charset="-122"/>
                <a:cs typeface="Tajawal" pitchFamily="34" charset="-120"/>
              </a:rPr>
              <a:t>تحسين تجربة المستفيدين</a:t>
            </a:r>
            <a:endParaRPr lang="ar-SA" sz="2300" dirty="0"/>
          </a:p>
        </p:txBody>
      </p:sp>
      <p:sp>
        <p:nvSpPr>
          <p:cNvPr id="9" name="Shape 4"/>
          <p:cNvSpPr/>
          <p:nvPr/>
        </p:nvSpPr>
        <p:spPr>
          <a:xfrm>
            <a:off x="8173517" y="1828800"/>
            <a:ext cx="3606698" cy="914400"/>
          </a:xfrm>
          <a:prstGeom prst="roundRect">
            <a:avLst>
              <a:gd name="adj" fmla="val 7500"/>
            </a:avLst>
          </a:prstGeom>
          <a:solidFill>
            <a:srgbClr val="FFFFFF"/>
          </a:solidFill>
          <a:ln w="12700">
            <a:solidFill>
              <a:srgbClr val="095242"/>
            </a:solidFill>
            <a:prstDash val="solid"/>
          </a:ln>
        </p:spPr>
      </p:sp>
      <p:sp>
        <p:nvSpPr>
          <p:cNvPr id="10" name="Text 5"/>
          <p:cNvSpPr/>
          <p:nvPr/>
        </p:nvSpPr>
        <p:spPr>
          <a:xfrm>
            <a:off x="8310677" y="1828800"/>
            <a:ext cx="1234440" cy="914400"/>
          </a:xfrm>
          <a:prstGeom prst="rect">
            <a:avLst/>
          </a:prstGeom>
          <a:noFill/>
          <a:ln/>
        </p:spPr>
        <p:txBody>
          <a:bodyPr wrap="square" lIns="0" tIns="0" rIns="0" bIns="0" rtlCol="0" anchor="ctr"/>
          <a:lstStyle/>
          <a:p>
            <a:pPr rtl="1" algn="ctr" indent="0" marL="0">
              <a:buNone/>
            </a:pPr>
            <a:r>
              <a:rPr lang="ar-SA" altLang="en-US" sz="2600" dirty="0">
                <a:solidFill>
                  <a:srgbClr val="095242"/>
                </a:solidFill>
                <a:latin typeface="Tajawal ExtraBold" pitchFamily="34" charset="0"/>
                <a:ea typeface="Tajawal ExtraBold" pitchFamily="34" charset="-122"/>
                <a:cs typeface="Tajawal ExtraBold" pitchFamily="34" charset="-120"/>
              </a:rPr>
              <a:t>١٠</a:t>
            </a:r>
            <a:endParaRPr lang="ar-SA" sz="2600" dirty="0"/>
          </a:p>
        </p:txBody>
      </p:sp>
      <p:sp>
        <p:nvSpPr>
          <p:cNvPr id="11" name="Text 6"/>
          <p:cNvSpPr/>
          <p:nvPr/>
        </p:nvSpPr>
        <p:spPr>
          <a:xfrm>
            <a:off x="9545117" y="1828800"/>
            <a:ext cx="2052218" cy="914400"/>
          </a:xfrm>
          <a:prstGeom prst="rect">
            <a:avLst/>
          </a:prstGeom>
          <a:noFill/>
          <a:ln/>
        </p:spPr>
        <p:txBody>
          <a:bodyPr wrap="square" lIns="0" tIns="0" rIns="0" bIns="0" rtlCol="0" anchor="ctr"/>
          <a:lstStyle/>
          <a:p>
            <a:pPr rtl="1" algn="r" indent="0" marL="0">
              <a:buNone/>
            </a:pPr>
            <a:r>
              <a:rPr lang="ar-SA" altLang="en-US" sz="1150" b="1" dirty="0">
                <a:solidFill>
                  <a:srgbClr val="33473F"/>
                </a:solidFill>
                <a:latin typeface="Tajawal" pitchFamily="34" charset="0"/>
                <a:ea typeface="Tajawal" pitchFamily="34" charset="-122"/>
                <a:cs typeface="Tajawal" pitchFamily="34" charset="-120"/>
              </a:rPr>
              <a:t>عدد البرامج التشغيلية</a:t>
            </a:r>
            <a:endParaRPr lang="ar-SA" sz="1150" dirty="0"/>
          </a:p>
        </p:txBody>
      </p:sp>
      <p:sp>
        <p:nvSpPr>
          <p:cNvPr id="12" name="Shape 7"/>
          <p:cNvSpPr/>
          <p:nvPr/>
        </p:nvSpPr>
        <p:spPr>
          <a:xfrm>
            <a:off x="4292498" y="1828800"/>
            <a:ext cx="3606698" cy="914400"/>
          </a:xfrm>
          <a:prstGeom prst="roundRect">
            <a:avLst>
              <a:gd name="adj" fmla="val 7500"/>
            </a:avLst>
          </a:prstGeom>
          <a:solidFill>
            <a:srgbClr val="095242"/>
          </a:solidFill>
          <a:ln/>
          <a:effectLst>
            <a:outerShdw sx="100000" sy="100000" kx="0" ky="0" algn="bl" rotWithShape="0" blurRad="88900" dist="25400" dir="5400000">
              <a:srgbClr val="083528">
                <a:alpha val="22000"/>
              </a:srgbClr>
            </a:outerShdw>
          </a:effectLst>
        </p:spPr>
      </p:sp>
      <p:sp>
        <p:nvSpPr>
          <p:cNvPr id="13" name="Text 8"/>
          <p:cNvSpPr/>
          <p:nvPr/>
        </p:nvSpPr>
        <p:spPr>
          <a:xfrm>
            <a:off x="4429658" y="1828800"/>
            <a:ext cx="1234440" cy="914400"/>
          </a:xfrm>
          <a:prstGeom prst="rect">
            <a:avLst/>
          </a:prstGeom>
          <a:noFill/>
          <a:ln/>
        </p:spPr>
        <p:txBody>
          <a:bodyPr wrap="square" lIns="0" tIns="0" rIns="0" bIns="0" rtlCol="0" anchor="ctr"/>
          <a:lstStyle/>
          <a:p>
            <a:pPr rtl="1" algn="ctr" indent="0" marL="0">
              <a:buNone/>
            </a:pPr>
            <a:r>
              <a:rPr lang="ar-SA" altLang="en-US" sz="2600" dirty="0">
                <a:solidFill>
                  <a:srgbClr val="FFFFFF"/>
                </a:solidFill>
                <a:latin typeface="Tajawal ExtraBold" pitchFamily="34" charset="0"/>
                <a:ea typeface="Tajawal ExtraBold" pitchFamily="34" charset="-122"/>
                <a:cs typeface="Tajawal ExtraBold" pitchFamily="34" charset="-120"/>
              </a:rPr>
              <a:t>٥</a:t>
            </a:r>
            <a:endParaRPr lang="ar-SA" sz="2600" dirty="0"/>
          </a:p>
        </p:txBody>
      </p:sp>
      <p:sp>
        <p:nvSpPr>
          <p:cNvPr id="14" name="Text 9"/>
          <p:cNvSpPr/>
          <p:nvPr/>
        </p:nvSpPr>
        <p:spPr>
          <a:xfrm>
            <a:off x="5664098" y="1828800"/>
            <a:ext cx="2052218" cy="914400"/>
          </a:xfrm>
          <a:prstGeom prst="rect">
            <a:avLst/>
          </a:prstGeom>
          <a:noFill/>
          <a:ln/>
        </p:spPr>
        <p:txBody>
          <a:bodyPr wrap="square" lIns="0" tIns="0" rIns="0" bIns="0" rtlCol="0" anchor="ctr"/>
          <a:lstStyle/>
          <a:p>
            <a:pPr rtl="1" algn="r" indent="0" marL="0">
              <a:buNone/>
            </a:pPr>
            <a:r>
              <a:rPr lang="ar-SA" altLang="en-US" sz="1150" b="1" dirty="0">
                <a:solidFill>
                  <a:srgbClr val="CFE2DB"/>
                </a:solidFill>
                <a:latin typeface="Tajawal" pitchFamily="34" charset="0"/>
                <a:ea typeface="Tajawal" pitchFamily="34" charset="-122"/>
                <a:cs typeface="Tajawal" pitchFamily="34" charset="-120"/>
              </a:rPr>
              <a:t>عدد مؤشرات الاعتماد المرتبطة</a:t>
            </a:r>
            <a:endParaRPr lang="ar-SA" sz="1150" dirty="0"/>
          </a:p>
        </p:txBody>
      </p:sp>
      <p:sp>
        <p:nvSpPr>
          <p:cNvPr id="15" name="Shape 10"/>
          <p:cNvSpPr/>
          <p:nvPr/>
        </p:nvSpPr>
        <p:spPr>
          <a:xfrm>
            <a:off x="411480" y="1828800"/>
            <a:ext cx="3606698" cy="914400"/>
          </a:xfrm>
          <a:prstGeom prst="roundRect">
            <a:avLst>
              <a:gd name="adj" fmla="val 7500"/>
            </a:avLst>
          </a:prstGeom>
          <a:solidFill>
            <a:srgbClr val="FFFFFF"/>
          </a:solidFill>
          <a:ln w="12700">
            <a:solidFill>
              <a:srgbClr val="095242"/>
            </a:solidFill>
            <a:prstDash val="solid"/>
          </a:ln>
        </p:spPr>
      </p:sp>
      <p:sp>
        <p:nvSpPr>
          <p:cNvPr id="16" name="Text 11"/>
          <p:cNvSpPr/>
          <p:nvPr/>
        </p:nvSpPr>
        <p:spPr>
          <a:xfrm>
            <a:off x="548640" y="1828800"/>
            <a:ext cx="1234440" cy="914400"/>
          </a:xfrm>
          <a:prstGeom prst="rect">
            <a:avLst/>
          </a:prstGeom>
          <a:noFill/>
          <a:ln/>
        </p:spPr>
        <p:txBody>
          <a:bodyPr wrap="square" lIns="0" tIns="0" rIns="0" bIns="0" rtlCol="0" anchor="ctr"/>
          <a:lstStyle/>
          <a:p>
            <a:pPr rtl="1" algn="ctr" indent="0" marL="0">
              <a:buNone/>
            </a:pPr>
            <a:r>
              <a:rPr lang="ar-SA" altLang="en-US" sz="2600" dirty="0">
                <a:solidFill>
                  <a:srgbClr val="095242"/>
                </a:solidFill>
                <a:latin typeface="Tajawal ExtraBold" pitchFamily="34" charset="0"/>
                <a:ea typeface="Tajawal ExtraBold" pitchFamily="34" charset="-122"/>
                <a:cs typeface="Tajawal ExtraBold" pitchFamily="34" charset="-120"/>
              </a:rPr>
              <a:t>٨٥٪</a:t>
            </a:r>
            <a:endParaRPr lang="ar-SA" sz="2600" dirty="0"/>
          </a:p>
        </p:txBody>
      </p:sp>
      <p:sp>
        <p:nvSpPr>
          <p:cNvPr id="17" name="Text 12"/>
          <p:cNvSpPr/>
          <p:nvPr/>
        </p:nvSpPr>
        <p:spPr>
          <a:xfrm>
            <a:off x="1783080" y="1828800"/>
            <a:ext cx="2052218" cy="914400"/>
          </a:xfrm>
          <a:prstGeom prst="rect">
            <a:avLst/>
          </a:prstGeom>
          <a:noFill/>
          <a:ln/>
        </p:spPr>
        <p:txBody>
          <a:bodyPr wrap="square" lIns="0" tIns="0" rIns="0" bIns="0" rtlCol="0" anchor="ctr"/>
          <a:lstStyle/>
          <a:p>
            <a:pPr rtl="1" algn="r" indent="0" marL="0">
              <a:buNone/>
            </a:pPr>
            <a:r>
              <a:rPr lang="ar-SA" altLang="en-US" sz="1150" b="1" dirty="0">
                <a:solidFill>
                  <a:srgbClr val="33473F"/>
                </a:solidFill>
                <a:latin typeface="Tajawal" pitchFamily="34" charset="0"/>
                <a:ea typeface="Tajawal" pitchFamily="34" charset="-122"/>
                <a:cs typeface="Tajawal" pitchFamily="34" charset="-120"/>
              </a:rPr>
              <a:t>نسبة التحقّق المستهدفة</a:t>
            </a:r>
            <a:endParaRPr lang="ar-SA" sz="1150" dirty="0"/>
          </a:p>
        </p:txBody>
      </p:sp>
      <p:sp>
        <p:nvSpPr>
          <p:cNvPr id="18" name="Shape 13"/>
          <p:cNvSpPr/>
          <p:nvPr/>
        </p:nvSpPr>
        <p:spPr>
          <a:xfrm>
            <a:off x="11729923" y="3044952"/>
            <a:ext cx="50292" cy="201168"/>
          </a:xfrm>
          <a:prstGeom prst="rect">
            <a:avLst/>
          </a:prstGeom>
          <a:solidFill>
            <a:srgbClr val="0089A1"/>
          </a:solidFill>
          <a:ln/>
        </p:spPr>
      </p:sp>
      <p:sp>
        <p:nvSpPr>
          <p:cNvPr id="19" name="Text 14"/>
          <p:cNvSpPr/>
          <p:nvPr/>
        </p:nvSpPr>
        <p:spPr>
          <a:xfrm>
            <a:off x="8488375" y="2999232"/>
            <a:ext cx="3163824" cy="292608"/>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البرامج التشغيلية ضمن هذا الهدف</a:t>
            </a:r>
            <a:endParaRPr lang="ar-SA" sz="1250" dirty="0"/>
          </a:p>
        </p:txBody>
      </p:sp>
      <p:sp>
        <p:nvSpPr>
          <p:cNvPr id="20" name="Shape 15"/>
          <p:cNvSpPr/>
          <p:nvPr/>
        </p:nvSpPr>
        <p:spPr>
          <a:xfrm>
            <a:off x="9075191" y="3383280"/>
            <a:ext cx="2705024" cy="438912"/>
          </a:xfrm>
          <a:prstGeom prst="roundRect">
            <a:avLst>
              <a:gd name="adj" fmla="val 18750"/>
            </a:avLst>
          </a:prstGeom>
          <a:solidFill>
            <a:srgbClr val="F1F7F4"/>
          </a:solidFill>
          <a:ln w="9525">
            <a:solidFill>
              <a:srgbClr val="DCE8E2"/>
            </a:solidFill>
            <a:prstDash val="solid"/>
          </a:ln>
        </p:spPr>
      </p:sp>
      <p:sp>
        <p:nvSpPr>
          <p:cNvPr id="21" name="Shape 16"/>
          <p:cNvSpPr/>
          <p:nvPr/>
        </p:nvSpPr>
        <p:spPr>
          <a:xfrm>
            <a:off x="11505895" y="3557016"/>
            <a:ext cx="100584" cy="100584"/>
          </a:xfrm>
          <a:prstGeom prst="roundRect">
            <a:avLst>
              <a:gd name="adj" fmla="val 18182"/>
            </a:avLst>
          </a:prstGeom>
          <a:solidFill>
            <a:srgbClr val="0089A1"/>
          </a:solidFill>
          <a:ln/>
        </p:spPr>
      </p:sp>
      <p:sp>
        <p:nvSpPr>
          <p:cNvPr id="22" name="Text 17"/>
          <p:cNvSpPr/>
          <p:nvPr/>
        </p:nvSpPr>
        <p:spPr>
          <a:xfrm>
            <a:off x="9203207" y="3383280"/>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التغذية الراجعة</a:t>
            </a:r>
            <a:endParaRPr lang="ar-SA" sz="1000" dirty="0"/>
          </a:p>
        </p:txBody>
      </p:sp>
      <p:sp>
        <p:nvSpPr>
          <p:cNvPr id="23" name="Shape 18"/>
          <p:cNvSpPr/>
          <p:nvPr/>
        </p:nvSpPr>
        <p:spPr>
          <a:xfrm>
            <a:off x="6187288" y="3383280"/>
            <a:ext cx="2705024" cy="438912"/>
          </a:xfrm>
          <a:prstGeom prst="roundRect">
            <a:avLst>
              <a:gd name="adj" fmla="val 18750"/>
            </a:avLst>
          </a:prstGeom>
          <a:solidFill>
            <a:srgbClr val="F1F7F4"/>
          </a:solidFill>
          <a:ln w="9525">
            <a:solidFill>
              <a:srgbClr val="DCE8E2"/>
            </a:solidFill>
            <a:prstDash val="solid"/>
          </a:ln>
        </p:spPr>
      </p:sp>
      <p:sp>
        <p:nvSpPr>
          <p:cNvPr id="24" name="Shape 19"/>
          <p:cNvSpPr/>
          <p:nvPr/>
        </p:nvSpPr>
        <p:spPr>
          <a:xfrm>
            <a:off x="8617991" y="3557016"/>
            <a:ext cx="100584" cy="100584"/>
          </a:xfrm>
          <a:prstGeom prst="roundRect">
            <a:avLst>
              <a:gd name="adj" fmla="val 18182"/>
            </a:avLst>
          </a:prstGeom>
          <a:solidFill>
            <a:srgbClr val="0089A1"/>
          </a:solidFill>
          <a:ln/>
        </p:spPr>
      </p:sp>
      <p:sp>
        <p:nvSpPr>
          <p:cNvPr id="25" name="Text 20"/>
          <p:cNvSpPr/>
          <p:nvPr/>
        </p:nvSpPr>
        <p:spPr>
          <a:xfrm>
            <a:off x="6315304" y="3383280"/>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قياس رضا المستفيدين</a:t>
            </a:r>
            <a:endParaRPr lang="ar-SA" sz="1000" dirty="0"/>
          </a:p>
        </p:txBody>
      </p:sp>
      <p:sp>
        <p:nvSpPr>
          <p:cNvPr id="26" name="Shape 21"/>
          <p:cNvSpPr/>
          <p:nvPr/>
        </p:nvSpPr>
        <p:spPr>
          <a:xfrm>
            <a:off x="3299384" y="3383280"/>
            <a:ext cx="2705024" cy="438912"/>
          </a:xfrm>
          <a:prstGeom prst="roundRect">
            <a:avLst>
              <a:gd name="adj" fmla="val 18750"/>
            </a:avLst>
          </a:prstGeom>
          <a:solidFill>
            <a:srgbClr val="F1F7F4"/>
          </a:solidFill>
          <a:ln w="9525">
            <a:solidFill>
              <a:srgbClr val="DCE8E2"/>
            </a:solidFill>
            <a:prstDash val="solid"/>
          </a:ln>
        </p:spPr>
      </p:sp>
      <p:sp>
        <p:nvSpPr>
          <p:cNvPr id="27" name="Shape 22"/>
          <p:cNvSpPr/>
          <p:nvPr/>
        </p:nvSpPr>
        <p:spPr>
          <a:xfrm>
            <a:off x="5730088" y="3557016"/>
            <a:ext cx="100584" cy="100584"/>
          </a:xfrm>
          <a:prstGeom prst="roundRect">
            <a:avLst>
              <a:gd name="adj" fmla="val 18182"/>
            </a:avLst>
          </a:prstGeom>
          <a:solidFill>
            <a:srgbClr val="0089A1"/>
          </a:solidFill>
          <a:ln/>
        </p:spPr>
      </p:sp>
      <p:sp>
        <p:nvSpPr>
          <p:cNvPr id="28" name="Text 23"/>
          <p:cNvSpPr/>
          <p:nvPr/>
        </p:nvSpPr>
        <p:spPr>
          <a:xfrm>
            <a:off x="3427400" y="3383280"/>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تحسين بيئة التعلم</a:t>
            </a:r>
            <a:endParaRPr lang="ar-SA" sz="1000" dirty="0"/>
          </a:p>
        </p:txBody>
      </p:sp>
      <p:sp>
        <p:nvSpPr>
          <p:cNvPr id="29" name="Shape 24"/>
          <p:cNvSpPr/>
          <p:nvPr/>
        </p:nvSpPr>
        <p:spPr>
          <a:xfrm>
            <a:off x="411480" y="3383280"/>
            <a:ext cx="2705024" cy="438912"/>
          </a:xfrm>
          <a:prstGeom prst="roundRect">
            <a:avLst>
              <a:gd name="adj" fmla="val 18750"/>
            </a:avLst>
          </a:prstGeom>
          <a:solidFill>
            <a:srgbClr val="F1F7F4"/>
          </a:solidFill>
          <a:ln w="9525">
            <a:solidFill>
              <a:srgbClr val="DCE8E2"/>
            </a:solidFill>
            <a:prstDash val="solid"/>
          </a:ln>
        </p:spPr>
      </p:sp>
      <p:sp>
        <p:nvSpPr>
          <p:cNvPr id="30" name="Shape 25"/>
          <p:cNvSpPr/>
          <p:nvPr/>
        </p:nvSpPr>
        <p:spPr>
          <a:xfrm>
            <a:off x="2842184" y="3557016"/>
            <a:ext cx="100584" cy="100584"/>
          </a:xfrm>
          <a:prstGeom prst="roundRect">
            <a:avLst>
              <a:gd name="adj" fmla="val 18182"/>
            </a:avLst>
          </a:prstGeom>
          <a:solidFill>
            <a:srgbClr val="0089A1"/>
          </a:solidFill>
          <a:ln/>
        </p:spPr>
      </p:sp>
      <p:sp>
        <p:nvSpPr>
          <p:cNvPr id="31" name="Text 26"/>
          <p:cNvSpPr/>
          <p:nvPr/>
        </p:nvSpPr>
        <p:spPr>
          <a:xfrm>
            <a:off x="539496" y="3383280"/>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تحسين المقصف المدرسي</a:t>
            </a:r>
            <a:endParaRPr lang="ar-SA" sz="1000" dirty="0"/>
          </a:p>
        </p:txBody>
      </p:sp>
      <p:sp>
        <p:nvSpPr>
          <p:cNvPr id="32" name="Shape 27"/>
          <p:cNvSpPr/>
          <p:nvPr/>
        </p:nvSpPr>
        <p:spPr>
          <a:xfrm>
            <a:off x="9075191" y="3950208"/>
            <a:ext cx="2705024" cy="438912"/>
          </a:xfrm>
          <a:prstGeom prst="roundRect">
            <a:avLst>
              <a:gd name="adj" fmla="val 18750"/>
            </a:avLst>
          </a:prstGeom>
          <a:solidFill>
            <a:srgbClr val="F1F7F4"/>
          </a:solidFill>
          <a:ln w="9525">
            <a:solidFill>
              <a:srgbClr val="DCE8E2"/>
            </a:solidFill>
            <a:prstDash val="solid"/>
          </a:ln>
        </p:spPr>
      </p:sp>
      <p:sp>
        <p:nvSpPr>
          <p:cNvPr id="33" name="Shape 28"/>
          <p:cNvSpPr/>
          <p:nvPr/>
        </p:nvSpPr>
        <p:spPr>
          <a:xfrm>
            <a:off x="11505895" y="4123944"/>
            <a:ext cx="100584" cy="100584"/>
          </a:xfrm>
          <a:prstGeom prst="roundRect">
            <a:avLst>
              <a:gd name="adj" fmla="val 18182"/>
            </a:avLst>
          </a:prstGeom>
          <a:solidFill>
            <a:srgbClr val="0089A1"/>
          </a:solidFill>
          <a:ln/>
        </p:spPr>
      </p:sp>
      <p:sp>
        <p:nvSpPr>
          <p:cNvPr id="34" name="Text 29"/>
          <p:cNvSpPr/>
          <p:nvPr/>
        </p:nvSpPr>
        <p:spPr>
          <a:xfrm>
            <a:off x="9203207" y="3950208"/>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تحسين ساحة الاصطفاف</a:t>
            </a:r>
            <a:endParaRPr lang="ar-SA" sz="1000" dirty="0"/>
          </a:p>
        </p:txBody>
      </p:sp>
      <p:sp>
        <p:nvSpPr>
          <p:cNvPr id="35" name="Shape 30"/>
          <p:cNvSpPr/>
          <p:nvPr/>
        </p:nvSpPr>
        <p:spPr>
          <a:xfrm>
            <a:off x="6187288" y="3950208"/>
            <a:ext cx="2705024" cy="438912"/>
          </a:xfrm>
          <a:prstGeom prst="roundRect">
            <a:avLst>
              <a:gd name="adj" fmla="val 18750"/>
            </a:avLst>
          </a:prstGeom>
          <a:solidFill>
            <a:srgbClr val="F1F7F4"/>
          </a:solidFill>
          <a:ln w="9525">
            <a:solidFill>
              <a:srgbClr val="DCE8E2"/>
            </a:solidFill>
            <a:prstDash val="solid"/>
          </a:ln>
        </p:spPr>
      </p:sp>
      <p:sp>
        <p:nvSpPr>
          <p:cNvPr id="36" name="Shape 31"/>
          <p:cNvSpPr/>
          <p:nvPr/>
        </p:nvSpPr>
        <p:spPr>
          <a:xfrm>
            <a:off x="8617991" y="4123944"/>
            <a:ext cx="100584" cy="100584"/>
          </a:xfrm>
          <a:prstGeom prst="roundRect">
            <a:avLst>
              <a:gd name="adj" fmla="val 18182"/>
            </a:avLst>
          </a:prstGeom>
          <a:solidFill>
            <a:srgbClr val="0089A1"/>
          </a:solidFill>
          <a:ln/>
        </p:spPr>
      </p:sp>
      <p:sp>
        <p:nvSpPr>
          <p:cNvPr id="37" name="Text 32"/>
          <p:cNvSpPr/>
          <p:nvPr/>
        </p:nvSpPr>
        <p:spPr>
          <a:xfrm>
            <a:off x="6315304" y="3950208"/>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تحسين الخدمات المساندة</a:t>
            </a:r>
            <a:endParaRPr lang="ar-SA" sz="1000" dirty="0"/>
          </a:p>
        </p:txBody>
      </p:sp>
      <p:sp>
        <p:nvSpPr>
          <p:cNvPr id="38" name="Shape 33"/>
          <p:cNvSpPr/>
          <p:nvPr/>
        </p:nvSpPr>
        <p:spPr>
          <a:xfrm>
            <a:off x="3299384" y="3950208"/>
            <a:ext cx="2705024" cy="438912"/>
          </a:xfrm>
          <a:prstGeom prst="roundRect">
            <a:avLst>
              <a:gd name="adj" fmla="val 18750"/>
            </a:avLst>
          </a:prstGeom>
          <a:solidFill>
            <a:srgbClr val="F1F7F4"/>
          </a:solidFill>
          <a:ln w="9525">
            <a:solidFill>
              <a:srgbClr val="DCE8E2"/>
            </a:solidFill>
            <a:prstDash val="solid"/>
          </a:ln>
        </p:spPr>
      </p:sp>
      <p:sp>
        <p:nvSpPr>
          <p:cNvPr id="39" name="Shape 34"/>
          <p:cNvSpPr/>
          <p:nvPr/>
        </p:nvSpPr>
        <p:spPr>
          <a:xfrm>
            <a:off x="5730088" y="4123944"/>
            <a:ext cx="100584" cy="100584"/>
          </a:xfrm>
          <a:prstGeom prst="roundRect">
            <a:avLst>
              <a:gd name="adj" fmla="val 18182"/>
            </a:avLst>
          </a:prstGeom>
          <a:solidFill>
            <a:srgbClr val="0089A1"/>
          </a:solidFill>
          <a:ln/>
        </p:spPr>
      </p:sp>
      <p:sp>
        <p:nvSpPr>
          <p:cNvPr id="40" name="Text 35"/>
          <p:cNvSpPr/>
          <p:nvPr/>
        </p:nvSpPr>
        <p:spPr>
          <a:xfrm>
            <a:off x="3427400" y="3950208"/>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برامج الصحة المدرسية</a:t>
            </a:r>
            <a:endParaRPr lang="ar-SA" sz="1000" dirty="0"/>
          </a:p>
        </p:txBody>
      </p:sp>
      <p:sp>
        <p:nvSpPr>
          <p:cNvPr id="41" name="Shape 36"/>
          <p:cNvSpPr/>
          <p:nvPr/>
        </p:nvSpPr>
        <p:spPr>
          <a:xfrm>
            <a:off x="411480" y="3950208"/>
            <a:ext cx="2705024" cy="438912"/>
          </a:xfrm>
          <a:prstGeom prst="roundRect">
            <a:avLst>
              <a:gd name="adj" fmla="val 18750"/>
            </a:avLst>
          </a:prstGeom>
          <a:solidFill>
            <a:srgbClr val="F1F7F4"/>
          </a:solidFill>
          <a:ln w="9525">
            <a:solidFill>
              <a:srgbClr val="DCE8E2"/>
            </a:solidFill>
            <a:prstDash val="solid"/>
          </a:ln>
        </p:spPr>
      </p:sp>
      <p:sp>
        <p:nvSpPr>
          <p:cNvPr id="42" name="Shape 37"/>
          <p:cNvSpPr/>
          <p:nvPr/>
        </p:nvSpPr>
        <p:spPr>
          <a:xfrm>
            <a:off x="2842184" y="4123944"/>
            <a:ext cx="100584" cy="100584"/>
          </a:xfrm>
          <a:prstGeom prst="roundRect">
            <a:avLst>
              <a:gd name="adj" fmla="val 18182"/>
            </a:avLst>
          </a:prstGeom>
          <a:solidFill>
            <a:srgbClr val="0089A1"/>
          </a:solidFill>
          <a:ln/>
        </p:spPr>
      </p:sp>
      <p:sp>
        <p:nvSpPr>
          <p:cNvPr id="43" name="Text 38"/>
          <p:cNvSpPr/>
          <p:nvPr/>
        </p:nvSpPr>
        <p:spPr>
          <a:xfrm>
            <a:off x="539496" y="3950208"/>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وجبتي الصحية</a:t>
            </a:r>
            <a:endParaRPr lang="ar-SA" sz="1000" dirty="0"/>
          </a:p>
        </p:txBody>
      </p:sp>
      <p:sp>
        <p:nvSpPr>
          <p:cNvPr id="44" name="Shape 39"/>
          <p:cNvSpPr/>
          <p:nvPr/>
        </p:nvSpPr>
        <p:spPr>
          <a:xfrm>
            <a:off x="9075191" y="4517136"/>
            <a:ext cx="2705024" cy="438912"/>
          </a:xfrm>
          <a:prstGeom prst="roundRect">
            <a:avLst>
              <a:gd name="adj" fmla="val 18750"/>
            </a:avLst>
          </a:prstGeom>
          <a:solidFill>
            <a:srgbClr val="F1F7F4"/>
          </a:solidFill>
          <a:ln w="9525">
            <a:solidFill>
              <a:srgbClr val="DCE8E2"/>
            </a:solidFill>
            <a:prstDash val="solid"/>
          </a:ln>
        </p:spPr>
      </p:sp>
      <p:sp>
        <p:nvSpPr>
          <p:cNvPr id="45" name="Shape 40"/>
          <p:cNvSpPr/>
          <p:nvPr/>
        </p:nvSpPr>
        <p:spPr>
          <a:xfrm>
            <a:off x="11505895" y="4690872"/>
            <a:ext cx="100584" cy="100584"/>
          </a:xfrm>
          <a:prstGeom prst="roundRect">
            <a:avLst>
              <a:gd name="adj" fmla="val 18182"/>
            </a:avLst>
          </a:prstGeom>
          <a:solidFill>
            <a:srgbClr val="0089A1"/>
          </a:solidFill>
          <a:ln/>
        </p:spPr>
      </p:sp>
      <p:sp>
        <p:nvSpPr>
          <p:cNvPr id="46" name="Text 41"/>
          <p:cNvSpPr/>
          <p:nvPr/>
        </p:nvSpPr>
        <p:spPr>
          <a:xfrm>
            <a:off x="9203207" y="4517136"/>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صحتي مسؤوليتي</a:t>
            </a:r>
            <a:endParaRPr lang="ar-SA" sz="1000" dirty="0"/>
          </a:p>
        </p:txBody>
      </p:sp>
      <p:sp>
        <p:nvSpPr>
          <p:cNvPr id="47" name="Shape 42"/>
          <p:cNvSpPr/>
          <p:nvPr/>
        </p:nvSpPr>
        <p:spPr>
          <a:xfrm>
            <a:off x="6187288" y="4517136"/>
            <a:ext cx="2705024" cy="438912"/>
          </a:xfrm>
          <a:prstGeom prst="roundRect">
            <a:avLst>
              <a:gd name="adj" fmla="val 18750"/>
            </a:avLst>
          </a:prstGeom>
          <a:solidFill>
            <a:srgbClr val="F1F7F4"/>
          </a:solidFill>
          <a:ln w="9525">
            <a:solidFill>
              <a:srgbClr val="DCE8E2"/>
            </a:solidFill>
            <a:prstDash val="solid"/>
          </a:ln>
        </p:spPr>
      </p:sp>
      <p:sp>
        <p:nvSpPr>
          <p:cNvPr id="48" name="Shape 43"/>
          <p:cNvSpPr/>
          <p:nvPr/>
        </p:nvSpPr>
        <p:spPr>
          <a:xfrm>
            <a:off x="8617991" y="4690872"/>
            <a:ext cx="100584" cy="100584"/>
          </a:xfrm>
          <a:prstGeom prst="roundRect">
            <a:avLst>
              <a:gd name="adj" fmla="val 18182"/>
            </a:avLst>
          </a:prstGeom>
          <a:solidFill>
            <a:srgbClr val="0089A1"/>
          </a:solidFill>
          <a:ln/>
        </p:spPr>
      </p:sp>
      <p:sp>
        <p:nvSpPr>
          <p:cNvPr id="49" name="Text 44"/>
          <p:cNvSpPr/>
          <p:nvPr/>
        </p:nvSpPr>
        <p:spPr>
          <a:xfrm>
            <a:off x="6315304" y="4517136"/>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المناخ الآمن نفسيًا واجتماعيًا</a:t>
            </a:r>
            <a:endParaRPr lang="ar-SA" sz="1000" dirty="0"/>
          </a:p>
        </p:txBody>
      </p:sp>
      <p:sp>
        <p:nvSpPr>
          <p:cNvPr id="50" name="Shape 45"/>
          <p:cNvSpPr/>
          <p:nvPr/>
        </p:nvSpPr>
        <p:spPr>
          <a:xfrm>
            <a:off x="7802575" y="5193792"/>
            <a:ext cx="3977640" cy="1261872"/>
          </a:xfrm>
          <a:prstGeom prst="roundRect">
            <a:avLst>
              <a:gd name="adj" fmla="val 5435"/>
            </a:avLst>
          </a:prstGeom>
          <a:solidFill>
            <a:srgbClr val="FFFFFF"/>
          </a:solidFill>
          <a:ln w="9525">
            <a:solidFill>
              <a:srgbClr val="DCE8E2"/>
            </a:solidFill>
            <a:prstDash val="solid"/>
          </a:ln>
        </p:spPr>
      </p:sp>
      <p:sp>
        <p:nvSpPr>
          <p:cNvPr id="51" name="Text 46"/>
          <p:cNvSpPr/>
          <p:nvPr/>
        </p:nvSpPr>
        <p:spPr>
          <a:xfrm>
            <a:off x="8031175" y="5285232"/>
            <a:ext cx="3520440" cy="292608"/>
          </a:xfrm>
          <a:prstGeom prst="rect">
            <a:avLst/>
          </a:prstGeom>
          <a:noFill/>
          <a:ln/>
        </p:spPr>
        <p:txBody>
          <a:bodyPr wrap="square" lIns="0" tIns="0" rIns="0" bIns="0" rtlCol="0" anchor="t"/>
          <a:lstStyle/>
          <a:p>
            <a:pPr rtl="1" algn="r" indent="0" marL="0">
              <a:buNone/>
            </a:pPr>
            <a:r>
              <a:rPr lang="ar-SA" altLang="en-US" sz="1050" b="1" dirty="0">
                <a:solidFill>
                  <a:srgbClr val="063E33"/>
                </a:solidFill>
                <a:latin typeface="Tajawal" pitchFamily="34" charset="0"/>
                <a:ea typeface="Tajawal" pitchFamily="34" charset="-122"/>
                <a:cs typeface="Tajawal" pitchFamily="34" charset="-120"/>
              </a:rPr>
              <a:t>مؤشرات الاعتماد المدرسي</a:t>
            </a:r>
            <a:endParaRPr lang="ar-SA" sz="1050" dirty="0"/>
          </a:p>
        </p:txBody>
      </p:sp>
      <p:sp>
        <p:nvSpPr>
          <p:cNvPr id="52" name="Shape 47"/>
          <p:cNvSpPr/>
          <p:nvPr/>
        </p:nvSpPr>
        <p:spPr>
          <a:xfrm>
            <a:off x="10893247" y="5632704"/>
            <a:ext cx="658368" cy="274320"/>
          </a:xfrm>
          <a:prstGeom prst="roundRect">
            <a:avLst>
              <a:gd name="adj" fmla="val 20000"/>
            </a:avLst>
          </a:prstGeom>
          <a:solidFill>
            <a:srgbClr val="FFFFFF"/>
          </a:solidFill>
          <a:ln w="9525">
            <a:solidFill>
              <a:srgbClr val="095242"/>
            </a:solidFill>
            <a:prstDash val="solid"/>
          </a:ln>
        </p:spPr>
      </p:sp>
      <p:sp>
        <p:nvSpPr>
          <p:cNvPr id="53" name="Text 48"/>
          <p:cNvSpPr/>
          <p:nvPr/>
        </p:nvSpPr>
        <p:spPr>
          <a:xfrm>
            <a:off x="10893247" y="56235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‎1-5-1-2‎</a:t>
            </a:r>
            <a:endParaRPr lang="ar-SA" sz="800" dirty="0"/>
          </a:p>
        </p:txBody>
      </p:sp>
      <p:sp>
        <p:nvSpPr>
          <p:cNvPr id="54" name="Shape 49"/>
          <p:cNvSpPr/>
          <p:nvPr/>
        </p:nvSpPr>
        <p:spPr>
          <a:xfrm>
            <a:off x="10125151" y="5632704"/>
            <a:ext cx="658368" cy="274320"/>
          </a:xfrm>
          <a:prstGeom prst="roundRect">
            <a:avLst>
              <a:gd name="adj" fmla="val 20000"/>
            </a:avLst>
          </a:prstGeom>
          <a:solidFill>
            <a:srgbClr val="FFFFFF"/>
          </a:solidFill>
          <a:ln w="9525">
            <a:solidFill>
              <a:srgbClr val="095242"/>
            </a:solidFill>
            <a:prstDash val="solid"/>
          </a:ln>
        </p:spPr>
      </p:sp>
      <p:sp>
        <p:nvSpPr>
          <p:cNvPr id="55" name="Text 50"/>
          <p:cNvSpPr/>
          <p:nvPr/>
        </p:nvSpPr>
        <p:spPr>
          <a:xfrm>
            <a:off x="10125151" y="56235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‎2-2-1-4‎</a:t>
            </a:r>
            <a:endParaRPr lang="ar-SA" sz="800" dirty="0"/>
          </a:p>
        </p:txBody>
      </p:sp>
      <p:sp>
        <p:nvSpPr>
          <p:cNvPr id="56" name="Shape 51"/>
          <p:cNvSpPr/>
          <p:nvPr/>
        </p:nvSpPr>
        <p:spPr>
          <a:xfrm>
            <a:off x="9357055" y="5632704"/>
            <a:ext cx="658368" cy="274320"/>
          </a:xfrm>
          <a:prstGeom prst="roundRect">
            <a:avLst>
              <a:gd name="adj" fmla="val 20000"/>
            </a:avLst>
          </a:prstGeom>
          <a:solidFill>
            <a:srgbClr val="FFFFFF"/>
          </a:solidFill>
          <a:ln w="9525">
            <a:solidFill>
              <a:srgbClr val="095242"/>
            </a:solidFill>
            <a:prstDash val="solid"/>
          </a:ln>
        </p:spPr>
      </p:sp>
      <p:sp>
        <p:nvSpPr>
          <p:cNvPr id="57" name="Text 52"/>
          <p:cNvSpPr/>
          <p:nvPr/>
        </p:nvSpPr>
        <p:spPr>
          <a:xfrm>
            <a:off x="9357055" y="56235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‎3-2-1-3‎</a:t>
            </a:r>
            <a:endParaRPr lang="ar-SA" sz="800" dirty="0"/>
          </a:p>
        </p:txBody>
      </p:sp>
      <p:sp>
        <p:nvSpPr>
          <p:cNvPr id="58" name="Shape 53"/>
          <p:cNvSpPr/>
          <p:nvPr/>
        </p:nvSpPr>
        <p:spPr>
          <a:xfrm>
            <a:off x="8588959" y="5632704"/>
            <a:ext cx="658368" cy="274320"/>
          </a:xfrm>
          <a:prstGeom prst="roundRect">
            <a:avLst>
              <a:gd name="adj" fmla="val 20000"/>
            </a:avLst>
          </a:prstGeom>
          <a:solidFill>
            <a:srgbClr val="FFFFFF"/>
          </a:solidFill>
          <a:ln w="9525">
            <a:solidFill>
              <a:srgbClr val="095242"/>
            </a:solidFill>
            <a:prstDash val="solid"/>
          </a:ln>
        </p:spPr>
      </p:sp>
      <p:sp>
        <p:nvSpPr>
          <p:cNvPr id="59" name="Text 54"/>
          <p:cNvSpPr/>
          <p:nvPr/>
        </p:nvSpPr>
        <p:spPr>
          <a:xfrm>
            <a:off x="8588959" y="56235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‎4-1-1-2‎</a:t>
            </a:r>
            <a:endParaRPr lang="ar-SA" sz="800" dirty="0"/>
          </a:p>
        </p:txBody>
      </p:sp>
      <p:sp>
        <p:nvSpPr>
          <p:cNvPr id="60" name="Shape 55"/>
          <p:cNvSpPr/>
          <p:nvPr/>
        </p:nvSpPr>
        <p:spPr>
          <a:xfrm>
            <a:off x="7820863" y="5632704"/>
            <a:ext cx="658368" cy="274320"/>
          </a:xfrm>
          <a:prstGeom prst="roundRect">
            <a:avLst>
              <a:gd name="adj" fmla="val 20000"/>
            </a:avLst>
          </a:prstGeom>
          <a:solidFill>
            <a:srgbClr val="FFFFFF"/>
          </a:solidFill>
          <a:ln w="9525">
            <a:solidFill>
              <a:srgbClr val="095242"/>
            </a:solidFill>
            <a:prstDash val="solid"/>
          </a:ln>
        </p:spPr>
      </p:sp>
      <p:sp>
        <p:nvSpPr>
          <p:cNvPr id="61" name="Text 56"/>
          <p:cNvSpPr/>
          <p:nvPr/>
        </p:nvSpPr>
        <p:spPr>
          <a:xfrm>
            <a:off x="7820863" y="56235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‎4-1-1-4‎</a:t>
            </a:r>
            <a:endParaRPr lang="ar-SA" sz="800" dirty="0"/>
          </a:p>
        </p:txBody>
      </p:sp>
      <p:sp>
        <p:nvSpPr>
          <p:cNvPr id="62" name="Shape 57"/>
          <p:cNvSpPr/>
          <p:nvPr/>
        </p:nvSpPr>
        <p:spPr>
          <a:xfrm>
            <a:off x="411480" y="5193792"/>
            <a:ext cx="7116775" cy="1261872"/>
          </a:xfrm>
          <a:prstGeom prst="roundRect">
            <a:avLst>
              <a:gd name="adj" fmla="val 5435"/>
            </a:avLst>
          </a:prstGeom>
          <a:solidFill>
            <a:srgbClr val="095242"/>
          </a:solidFill>
          <a:ln/>
          <a:effectLst>
            <a:outerShdw sx="100000" sy="100000" kx="0" ky="0" algn="bl" rotWithShape="0" blurRad="88900" dist="25400" dir="5400000">
              <a:srgbClr val="083528">
                <a:alpha val="22000"/>
              </a:srgbClr>
            </a:outerShdw>
          </a:effectLst>
        </p:spPr>
      </p:sp>
      <p:pic>
        <p:nvPicPr>
          <p:cNvPr id="63" name="Image 3" descr="/tmp/claude-0/-home-user-Mobile1/ab9bbf47-b054-5f6e-be59-70476e095ce8/scratchpad/assets/icons/sparkles_white.png">    </p:cNvPr>
          <p:cNvPicPr>
            <a:picLocks noChangeAspect="1"/>
          </p:cNvPicPr>
          <p:nvPr/>
        </p:nvPicPr>
        <p:blipFill>
          <a:blip r:embed="rId4"/>
          <a:stretch>
            <a:fillRect/>
          </a:stretch>
        </p:blipFill>
        <p:spPr>
          <a:xfrm>
            <a:off x="7052767" y="5303520"/>
            <a:ext cx="256032" cy="256032"/>
          </a:xfrm>
          <a:prstGeom prst="rect">
            <a:avLst/>
          </a:prstGeom>
        </p:spPr>
      </p:pic>
      <p:sp>
        <p:nvSpPr>
          <p:cNvPr id="64" name="Text 58"/>
          <p:cNvSpPr/>
          <p:nvPr/>
        </p:nvSpPr>
        <p:spPr>
          <a:xfrm>
            <a:off x="685800" y="5285232"/>
            <a:ext cx="6248095" cy="292608"/>
          </a:xfrm>
          <a:prstGeom prst="rect">
            <a:avLst/>
          </a:prstGeom>
          <a:noFill/>
          <a:ln/>
        </p:spPr>
        <p:txBody>
          <a:bodyPr wrap="square" lIns="0" tIns="0" rIns="0" bIns="0" rtlCol="0" anchor="t"/>
          <a:lstStyle/>
          <a:p>
            <a:pPr rtl="1" algn="r" indent="0" marL="0">
              <a:buNone/>
            </a:pPr>
            <a:r>
              <a:rPr lang="ar-SA" altLang="en-US" sz="1150" b="1" dirty="0">
                <a:solidFill>
                  <a:srgbClr val="FFFFFF"/>
                </a:solidFill>
                <a:latin typeface="Tajawal" pitchFamily="34" charset="0"/>
                <a:ea typeface="Tajawal" pitchFamily="34" charset="-122"/>
                <a:cs typeface="Tajawal" pitchFamily="34" charset="-120"/>
              </a:rPr>
              <a:t>المخرجات المتوقّعة</a:t>
            </a:r>
            <a:endParaRPr lang="ar-SA" sz="1150" dirty="0"/>
          </a:p>
        </p:txBody>
      </p:sp>
      <p:sp>
        <p:nvSpPr>
          <p:cNvPr id="65" name="Text 59"/>
          <p:cNvSpPr/>
          <p:nvPr/>
        </p:nvSpPr>
        <p:spPr>
          <a:xfrm>
            <a:off x="685800" y="5614416"/>
            <a:ext cx="6549847" cy="749808"/>
          </a:xfrm>
          <a:prstGeom prst="rect">
            <a:avLst/>
          </a:prstGeom>
          <a:noFill/>
          <a:ln/>
        </p:spPr>
        <p:txBody>
          <a:bodyPr wrap="square" lIns="0" tIns="0" rIns="0" bIns="0" rtlCol="0" anchor="t"/>
          <a:lstStyle/>
          <a:p>
            <a:pPr rtl="1" algn="r" indent="0" marL="0">
              <a:lnSpc>
                <a:spcPct val="120000"/>
              </a:lnSpc>
              <a:buNone/>
            </a:pPr>
            <a:r>
              <a:rPr lang="ar-SA" altLang="en-US" sz="960" dirty="0">
                <a:solidFill>
                  <a:srgbClr val="D9E9E3"/>
                </a:solidFill>
                <a:latin typeface="Tajawal" pitchFamily="34" charset="0"/>
                <a:ea typeface="Tajawal" pitchFamily="34" charset="-122"/>
                <a:cs typeface="Tajawal" pitchFamily="34" charset="-120"/>
              </a:rPr>
              <a:t>ارتفاع مؤشرات رضا الطلاب وأولياء الأمور • تحسّن جودة الخدمات المساندة • مقصف صحي معتمد • مناخ نفسي إيجابي.</a:t>
            </a:r>
            <a:endParaRPr lang="ar-SA" sz="96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tmp/claude-0/-home-user-Mobile1/ab9bbf47-b054-5f6e-be59-70476e095ce8/scratchpad/assets/bg_content.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665415" y="6519672"/>
            <a:ext cx="4114800" cy="274320"/>
          </a:xfrm>
          <a:prstGeom prst="rect">
            <a:avLst/>
          </a:prstGeom>
          <a:noFill/>
          <a:ln/>
        </p:spPr>
        <p:txBody>
          <a:bodyPr wrap="square" lIns="0" tIns="0" rIns="0" bIns="0" rtlCol="0" anchor="t"/>
          <a:lstStyle/>
          <a:p>
            <a:pPr rtl="1" algn="r" indent="0" marL="0">
              <a:buNone/>
            </a:pPr>
            <a:r>
              <a:rPr lang="ar-SA" altLang="en-US" sz="800" dirty="0">
                <a:solidFill>
                  <a:srgbClr val="7C8F87"/>
                </a:solidFill>
                <a:latin typeface="Tajawal" pitchFamily="34" charset="0"/>
                <a:ea typeface="Tajawal" pitchFamily="34" charset="-122"/>
                <a:cs typeface="Tajawal" pitchFamily="34" charset="-120"/>
              </a:rPr>
              <a:t>الخطة التشغيلية للعام الدراسي ١٤٤٨هـ</a:t>
            </a:r>
            <a:endParaRPr lang="ar-SA" sz="800" dirty="0"/>
          </a:p>
        </p:txBody>
      </p:sp>
      <p:sp>
        <p:nvSpPr>
          <p:cNvPr id="4" name="Text 1"/>
          <p:cNvSpPr/>
          <p:nvPr/>
        </p:nvSpPr>
        <p:spPr>
          <a:xfrm>
            <a:off x="411480" y="6519672"/>
            <a:ext cx="914400" cy="274320"/>
          </a:xfrm>
          <a:prstGeom prst="rect">
            <a:avLst/>
          </a:prstGeom>
          <a:noFill/>
          <a:ln/>
        </p:spPr>
        <p:txBody>
          <a:bodyPr wrap="square" lIns="0" tIns="0" rIns="0" bIns="0" rtlCol="0" anchor="t"/>
          <a:lstStyle/>
          <a:p>
            <a:pPr rtl="1" algn="l" indent="0" marL="0">
              <a:buNone/>
            </a:pPr>
            <a:r>
              <a:rPr lang="ar-SA" altLang="en-US" sz="850" b="1" dirty="0">
                <a:solidFill>
                  <a:srgbClr val="7C8F87"/>
                </a:solidFill>
                <a:latin typeface="Tajawal" pitchFamily="34" charset="0"/>
                <a:ea typeface="Tajawal" pitchFamily="34" charset="-122"/>
                <a:cs typeface="Tajawal" pitchFamily="34" charset="-120"/>
              </a:rPr>
              <a:t>٢٢</a:t>
            </a:r>
            <a:endParaRPr lang="ar-SA" sz="850" dirty="0"/>
          </a:p>
        </p:txBody>
      </p:sp>
      <p:sp>
        <p:nvSpPr>
          <p:cNvPr id="5" name="Shape 2"/>
          <p:cNvSpPr/>
          <p:nvPr/>
        </p:nvSpPr>
        <p:spPr>
          <a:xfrm>
            <a:off x="411480" y="274320"/>
            <a:ext cx="11368735" cy="548640"/>
          </a:xfrm>
          <a:prstGeom prst="roundRect">
            <a:avLst>
              <a:gd name="adj" fmla="val 15000"/>
            </a:avLst>
          </a:prstGeom>
          <a:solidFill>
            <a:srgbClr val="095242"/>
          </a:solidFill>
          <a:ln/>
        </p:spPr>
      </p:sp>
      <p:sp>
        <p:nvSpPr>
          <p:cNvPr id="6" name="Shape 3"/>
          <p:cNvSpPr/>
          <p:nvPr/>
        </p:nvSpPr>
        <p:spPr>
          <a:xfrm>
            <a:off x="576072" y="379476"/>
            <a:ext cx="1371600" cy="338328"/>
          </a:xfrm>
          <a:prstGeom prst="roundRect">
            <a:avLst>
              <a:gd name="adj" fmla="val 18919"/>
            </a:avLst>
          </a:prstGeom>
          <a:solidFill>
            <a:srgbClr val="FFFFFF">
              <a:alpha val="14000"/>
            </a:srgbClr>
          </a:solidFill>
          <a:ln w="6350">
            <a:solidFill>
              <a:srgbClr val="FFFFFF">
                <a:alpha val="45000"/>
              </a:srgbClr>
            </a:solidFill>
            <a:prstDash val="solid"/>
          </a:ln>
        </p:spPr>
      </p:sp>
      <p:sp>
        <p:nvSpPr>
          <p:cNvPr id="7" name="Text 4"/>
          <p:cNvSpPr/>
          <p:nvPr/>
        </p:nvSpPr>
        <p:spPr>
          <a:xfrm>
            <a:off x="576072" y="370332"/>
            <a:ext cx="1371600" cy="338328"/>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البرامج التفصيلية</a:t>
            </a:r>
            <a:endParaRPr lang="ar-SA" sz="950" dirty="0"/>
          </a:p>
        </p:txBody>
      </p:sp>
      <p:sp>
        <p:nvSpPr>
          <p:cNvPr id="8" name="Text 5"/>
          <p:cNvSpPr/>
          <p:nvPr/>
        </p:nvSpPr>
        <p:spPr>
          <a:xfrm>
            <a:off x="2194560" y="274320"/>
            <a:ext cx="9311335" cy="548640"/>
          </a:xfrm>
          <a:prstGeom prst="rect">
            <a:avLst/>
          </a:prstGeom>
          <a:noFill/>
          <a:ln/>
        </p:spPr>
        <p:txBody>
          <a:bodyPr wrap="square" lIns="0" tIns="0" rIns="0" bIns="0" rtlCol="0" anchor="ctr"/>
          <a:lstStyle/>
          <a:p>
            <a:pPr rtl="1" algn="r" indent="0" marL="0">
              <a:buNone/>
            </a:pPr>
            <a:r>
              <a:rPr lang="ar-SA" altLang="en-US" sz="1550" b="1" dirty="0">
                <a:solidFill>
                  <a:srgbClr val="FFFFFF"/>
                </a:solidFill>
                <a:latin typeface="Tajawal" pitchFamily="34" charset="0"/>
                <a:ea typeface="Tajawal" pitchFamily="34" charset="-122"/>
                <a:cs typeface="Tajawal" pitchFamily="34" charset="-120"/>
              </a:rPr>
              <a:t>الهدف الاستراتيجي العام ٤: تحسين تجربة المستفيدين</a:t>
            </a:r>
            <a:endParaRPr lang="ar-SA" sz="15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914400"/>
        </p:xfrm>
        <a:graphic>
          <a:graphicData uri="http://schemas.openxmlformats.org/drawingml/2006/table">
            <a:tbl>
              <a:tblPr/>
              <a:tblGrid>
                <a:gridCol w="9631375"/>
                <a:gridCol w="1737360"/>
              </a:tblGrid>
              <a:tr h="274320">
                <a:tc>
                  <a:txBody>
                    <a:bodyPr/>
                    <a:lstStyle/>
                    <a:p>
                      <a:pPr rtl="1" algn="r" indent="0" marL="0">
                        <a:buNone/>
                      </a:pPr>
                      <a:r>
                        <a:rPr lang="ar-SA" altLang="en-US" sz="940" b="1" dirty="0">
                          <a:solidFill>
                            <a:srgbClr val="063E33"/>
                          </a:solidFill>
                          <a:latin typeface="Tajawal" pitchFamily="34" charset="0"/>
                          <a:ea typeface="Tajawal" pitchFamily="34" charset="-122"/>
                          <a:cs typeface="Tajawal" pitchFamily="34" charset="-120"/>
                        </a:rPr>
                        <a:t>تحسين تجربة المستفيدين</a:t>
                      </a:r>
                      <a:endParaRPr lang="ar-SA" sz="9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المحور الاستراتيجي</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B5E4C"/>
                    </a:solidFill>
                  </a:tcPr>
                </a:tc>
              </a:tr>
              <a:tr h="548640">
                <a:tc>
                  <a:txBody>
                    <a:bodyPr/>
                    <a:lstStyle/>
                    <a:p>
                      <a:pPr rtl="1" algn="r" indent="0" marL="0">
                        <a:buNone/>
                      </a:pPr>
                      <a:r>
                        <a:rPr lang="ar-SA" altLang="en-US" sz="820" dirty="0">
                          <a:solidFill>
                            <a:srgbClr val="33473F"/>
                          </a:solidFill>
                          <a:latin typeface="Tajawal" pitchFamily="34" charset="0"/>
                          <a:ea typeface="Tajawal" pitchFamily="34" charset="-122"/>
                          <a:cs typeface="Tajawal" pitchFamily="34" charset="-120"/>
                        </a:rPr>
                        <a:t>يهدف هذا المحور إلى تطوير الخدمات المساندة ورفع جودتها بما يسهم في تحسين تجربة المستفيدين، وتعزيز رضا الطلاب وأولياء الأمور ومنسوبي المدرسة عن الخدمات التعليمية والإدارية والصحية والبيئية المقدمة، وفق معايير الجودة والاعتماد المدرسي.</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الهدف التفصيلي (٤-١)</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B5E4C"/>
                    </a:solidFill>
                  </a:tcPr>
                </a:tc>
              </a:tr>
              <a:tr h="420624">
                <a:tc>
                  <a:txBody>
                    <a:bodyPr/>
                    <a:lstStyle/>
                    <a:p>
                      <a:pPr rtl="1" algn="r" indent="0" marL="0">
                        <a:buNone/>
                      </a:pPr>
                      <a:r>
                        <a:rPr lang="ar-SA" altLang="en-US" sz="840" b="1" dirty="0">
                          <a:solidFill>
                            <a:srgbClr val="0B4A56"/>
                          </a:solidFill>
                          <a:latin typeface="Tajawal" pitchFamily="34" charset="0"/>
                          <a:ea typeface="Tajawal" pitchFamily="34" charset="-122"/>
                          <a:cs typeface="Tajawal" pitchFamily="34" charset="-120"/>
                        </a:rPr>
                        <a:t>نسبة رضا الطلاب وأولياء الأمور عن الخدمات التعليمية والأكاديمية والخدمات المساندة المقدمة في المدرسة. المستهدف: رفع نسبة رضا المستفيدين عن الخدمات المدرسية إلى ٨٥٪ خلال العام الدراسي.</a:t>
                      </a:r>
                      <a:endParaRPr lang="ar-SA" sz="8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مؤشر قياس الأداء (المستهدف)</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B5E4C"/>
                    </a:solidFill>
                  </a:tcPr>
                </a:tc>
              </a:tr>
            </a:tbl>
          </a:graphicData>
        </a:graphic>
      </p:graphicFrame>
      <p:graphicFrame>
        <p:nvGraphicFramePr>
          <p:cNvPr id="45" name="Table 1"/>
          <p:cNvGraphicFramePr>
            <a:graphicFrameLocks noGrp="1"/>
          </p:cNvGraphicFramePr>
          <p:nvPr>
            <p:extLst>
              <p:ext uri="{D42A27DB-BD31-4B8C-83A1-F6EECF244321}">
                <p14:modId xmlns:p14="http://schemas.microsoft.com/office/powerpoint/2010/main" val="1579011935"/>
              </p:ext>
            </p:extLst>
          </p:nvPr>
        </p:nvGraphicFramePr>
        <p:xfrm>
          <a:off x="411480" y="2286000"/>
          <a:ext cx="11368735" cy="914400"/>
        </p:xfrm>
        <a:graphic>
          <a:graphicData uri="http://schemas.openxmlformats.org/drawingml/2006/table">
            <a:tbl>
              <a:tblPr/>
              <a:tblGrid>
                <a:gridCol w="859536"/>
                <a:gridCol w="1243584"/>
                <a:gridCol w="941832"/>
                <a:gridCol w="960120"/>
                <a:gridCol w="914400"/>
                <a:gridCol w="1051560"/>
                <a:gridCol w="1097280"/>
                <a:gridCol w="548640"/>
                <a:gridCol w="365760"/>
                <a:gridCol w="914400"/>
                <a:gridCol w="1371600"/>
                <a:gridCol w="804672"/>
                <a:gridCol w="292608"/>
              </a:tblGrid>
              <a:tr h="274320">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مؤشر تحقق الهدف</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أسلوب التنفيذ</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الفئة المستهدفة</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gridSpan="3">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جهة التنفيذ</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63E33"/>
                    </a:solidFill>
                  </a:tcPr>
                </a:tc>
                <a:tc hMerge="1">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المتطلبات</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grid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زمن التنفيذ</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63E33"/>
                    </a:solidFill>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مصدر البرنامج</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اسم المشروع / البرنامج</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المجال</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r>
              <a:tr h="292608">
                <a:tc vMerge="1">
                  <a:tcPr/>
                </a:tc>
                <a:tc vMerge="1">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الدعم الخارجي</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المساندة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الرئيسة وفريق العمل</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الأسبوع</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ف</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vMerge="1">
                  <a:tcPr/>
                </a:tc>
                <a:tc vMerge="1">
                  <a:tcPr/>
                </a:tc>
                <a:tc vMerge="1">
                  <a:tcPr/>
                </a:tc>
                <a:tc vMerge="1">
                  <a:tcPr/>
                </a:tc>
              </a:tr>
              <a:tr h="360274">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استبانات ولقاءات دورية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جميع المستفيدين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المرشد الطلابي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أدوات استبانة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فصلي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التغذية الراجعة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١</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استبانة موحدة وتحليل النتائج</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جميع المستفيدين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فريق الجودة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نموذج معتمد</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نهاية الفصل</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قياس رضا المستفيدين</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٢</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60274">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تطوير وصيانة بيئة التعلم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الطلاب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المرافق والصيانة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المعلمون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ميزانية تشغيل وتجهيزات</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دوري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تحسين بيئة التعلم</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٣</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توفير وجبات صحية ومتابعة الجودة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الطلاب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الجهات الصحية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لجنة السلامة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موردون معتمدون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شهري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تحسين المقصف المدرسي</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٤</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60274">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تنظيم وتجميل ساحة الاصطفاف</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الطلاب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المرافق والصيانة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رائد 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مظلات ولوحات إرشادية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خلال الفصل</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تحسين ساحة الاصطفاف</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٥</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مراجعة الخدمات وتطويرها</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جميع المستفيدين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اللجان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تحسين معتمدة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دوري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تحسين الخدمات المساندة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٦</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60274">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فحوصات صحية وبرامج توعوية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الطلاب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الصحة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النشاط الطلابي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المرشد الطلابي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كادر صحي ومواد توعوية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شهري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التوجيه الطلابي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برامج الصحة المدرسية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٧</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حملات توعوية ومسابقات غذائية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الطلاب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الجهات الصحية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المعلمون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المرشد الطلابي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مواد توعوية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أسبوعي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وجبتي الصحية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٨</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60274">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ورش عمل ومبادرات صحية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الطلاب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الجهات الصحية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النشاط الطلابي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المرشد الطلابي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موارد توعوية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شهري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صحتي مسؤوليتي</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برامج إرشادية ومبادرات داعمة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جميع المستفيدين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الجهات المختصة بالصحة النفسية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المرشد الطلابي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أدوات قياس وبرامج إرشادية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مستمر</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التوجيه الطلابي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المناخ الآمن نفسيًا واجتماعيًا</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١٠</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tmp/claude-0/-home-user-Mobile1/ab9bbf47-b054-5f6e-be59-70476e095ce8/scratchpad/assets/bg_content.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665415" y="6519672"/>
            <a:ext cx="4114800" cy="274320"/>
          </a:xfrm>
          <a:prstGeom prst="rect">
            <a:avLst/>
          </a:prstGeom>
          <a:noFill/>
          <a:ln/>
        </p:spPr>
        <p:txBody>
          <a:bodyPr wrap="square" lIns="0" tIns="0" rIns="0" bIns="0" rtlCol="0" anchor="t"/>
          <a:lstStyle/>
          <a:p>
            <a:pPr rtl="1" algn="r" indent="0" marL="0">
              <a:buNone/>
            </a:pPr>
            <a:r>
              <a:rPr lang="ar-SA" altLang="en-US" sz="800" dirty="0">
                <a:solidFill>
                  <a:srgbClr val="7C8F87"/>
                </a:solidFill>
                <a:latin typeface="Tajawal" pitchFamily="34" charset="0"/>
                <a:ea typeface="Tajawal" pitchFamily="34" charset="-122"/>
                <a:cs typeface="Tajawal" pitchFamily="34" charset="-120"/>
              </a:rPr>
              <a:t>الخطة التشغيلية للعام الدراسي ١٤٤٨هـ</a:t>
            </a:r>
            <a:endParaRPr lang="ar-SA" sz="800" dirty="0"/>
          </a:p>
        </p:txBody>
      </p:sp>
      <p:sp>
        <p:nvSpPr>
          <p:cNvPr id="4" name="Text 1"/>
          <p:cNvSpPr/>
          <p:nvPr/>
        </p:nvSpPr>
        <p:spPr>
          <a:xfrm>
            <a:off x="411480" y="6519672"/>
            <a:ext cx="914400" cy="274320"/>
          </a:xfrm>
          <a:prstGeom prst="rect">
            <a:avLst/>
          </a:prstGeom>
          <a:noFill/>
          <a:ln/>
        </p:spPr>
        <p:txBody>
          <a:bodyPr wrap="square" lIns="0" tIns="0" rIns="0" bIns="0" rtlCol="0" anchor="t"/>
          <a:lstStyle/>
          <a:p>
            <a:pPr rtl="1" algn="l" indent="0" marL="0">
              <a:buNone/>
            </a:pPr>
            <a:r>
              <a:rPr lang="ar-SA" altLang="en-US" sz="850" b="1" dirty="0">
                <a:solidFill>
                  <a:srgbClr val="7C8F87"/>
                </a:solidFill>
                <a:latin typeface="Tajawal" pitchFamily="34" charset="0"/>
                <a:ea typeface="Tajawal" pitchFamily="34" charset="-122"/>
                <a:cs typeface="Tajawal" pitchFamily="34" charset="-120"/>
              </a:rPr>
              <a:t>٢٣</a:t>
            </a:r>
            <a:endParaRPr lang="ar-SA" sz="850" dirty="0"/>
          </a:p>
        </p:txBody>
      </p:sp>
      <p:pic>
        <p:nvPicPr>
          <p:cNvPr id="5" name="Image 1" descr="/tmp/claude-0/-home-user-Mobile1/ab9bbf47-b054-5f6e-be59-70476e095ce8/scratchpad/assets/band_goal.png">    </p:cNvPr>
          <p:cNvPicPr>
            <a:picLocks noChangeAspect="1"/>
          </p:cNvPicPr>
          <p:nvPr/>
        </p:nvPicPr>
        <p:blipFill>
          <a:blip r:embed="rId2"/>
          <a:stretch>
            <a:fillRect/>
          </a:stretch>
        </p:blipFill>
        <p:spPr>
          <a:xfrm>
            <a:off x="411480" y="292608"/>
            <a:ext cx="11368735" cy="1344168"/>
          </a:xfrm>
          <a:prstGeom prst="rect">
            <a:avLst/>
          </a:prstGeom>
        </p:spPr>
      </p:pic>
      <p:pic>
        <p:nvPicPr>
          <p:cNvPr id="6" name="Image 2" descr="/tmp/claude-0/-home-user-Mobile1/ab9bbf47-b054-5f6e-be59-70476e095ce8/scratchpad/assets/moe_white.png">    </p:cNvPr>
          <p:cNvPicPr>
            <a:picLocks noChangeAspect="1"/>
          </p:cNvPicPr>
          <p:nvPr/>
        </p:nvPicPr>
        <p:blipFill>
          <a:blip r:embed="rId3"/>
          <a:stretch>
            <a:fillRect/>
          </a:stretch>
        </p:blipFill>
        <p:spPr>
          <a:xfrm>
            <a:off x="795528" y="502920"/>
            <a:ext cx="1170432" cy="905256"/>
          </a:xfrm>
          <a:prstGeom prst="rect">
            <a:avLst/>
          </a:prstGeom>
        </p:spPr>
      </p:pic>
      <p:sp>
        <p:nvSpPr>
          <p:cNvPr id="7" name="Text 2"/>
          <p:cNvSpPr/>
          <p:nvPr/>
        </p:nvSpPr>
        <p:spPr>
          <a:xfrm>
            <a:off x="2377440" y="475488"/>
            <a:ext cx="9128455" cy="329184"/>
          </a:xfrm>
          <a:prstGeom prst="rect">
            <a:avLst/>
          </a:prstGeom>
          <a:noFill/>
          <a:ln/>
        </p:spPr>
        <p:txBody>
          <a:bodyPr wrap="square" lIns="0" tIns="0" rIns="0" bIns="0" rtlCol="0" anchor="t"/>
          <a:lstStyle/>
          <a:p>
            <a:pPr rtl="1" algn="r" indent="0" marL="0">
              <a:buNone/>
            </a:pPr>
            <a:r>
              <a:rPr lang="ar-SA" altLang="en-US" sz="1200" b="1" dirty="0">
                <a:solidFill>
                  <a:srgbClr val="C9A45C"/>
                </a:solidFill>
                <a:latin typeface="Tajawal" pitchFamily="34" charset="0"/>
                <a:ea typeface="Tajawal" pitchFamily="34" charset="-122"/>
                <a:cs typeface="Tajawal" pitchFamily="34" charset="-120"/>
              </a:rPr>
              <a:t>الهدف الاستراتيجي رقم ٥</a:t>
            </a:r>
            <a:endParaRPr lang="ar-SA" sz="1200" dirty="0"/>
          </a:p>
        </p:txBody>
      </p:sp>
      <p:sp>
        <p:nvSpPr>
          <p:cNvPr id="8" name="Text 3"/>
          <p:cNvSpPr/>
          <p:nvPr/>
        </p:nvSpPr>
        <p:spPr>
          <a:xfrm>
            <a:off x="2377440" y="822960"/>
            <a:ext cx="9128455" cy="603504"/>
          </a:xfrm>
          <a:prstGeom prst="rect">
            <a:avLst/>
          </a:prstGeom>
          <a:noFill/>
          <a:ln/>
        </p:spPr>
        <p:txBody>
          <a:bodyPr wrap="square" lIns="0" tIns="0" rIns="0" bIns="0" rtlCol="0" anchor="ctr"/>
          <a:lstStyle/>
          <a:p>
            <a:pPr rtl="1" algn="r" indent="0" marL="0">
              <a:buNone/>
            </a:pPr>
            <a:r>
              <a:rPr lang="ar-SA" altLang="en-US" sz="2300" b="1" dirty="0">
                <a:solidFill>
                  <a:srgbClr val="FFFFFF"/>
                </a:solidFill>
                <a:latin typeface="Tajawal" pitchFamily="34" charset="0"/>
                <a:ea typeface="Tajawal" pitchFamily="34" charset="-122"/>
                <a:cs typeface="Tajawal" pitchFamily="34" charset="-120"/>
              </a:rPr>
              <a:t>الاستثمار في الطلاب والمدارس الأولى بالرعاية</a:t>
            </a:r>
            <a:endParaRPr lang="ar-SA" sz="2300" dirty="0"/>
          </a:p>
        </p:txBody>
      </p:sp>
      <p:sp>
        <p:nvSpPr>
          <p:cNvPr id="9" name="Shape 4"/>
          <p:cNvSpPr/>
          <p:nvPr/>
        </p:nvSpPr>
        <p:spPr>
          <a:xfrm>
            <a:off x="8173517" y="1828800"/>
            <a:ext cx="3606698" cy="914400"/>
          </a:xfrm>
          <a:prstGeom prst="roundRect">
            <a:avLst>
              <a:gd name="adj" fmla="val 7500"/>
            </a:avLst>
          </a:prstGeom>
          <a:solidFill>
            <a:srgbClr val="FFFFFF"/>
          </a:solidFill>
          <a:ln w="12700">
            <a:solidFill>
              <a:srgbClr val="095242"/>
            </a:solidFill>
            <a:prstDash val="solid"/>
          </a:ln>
        </p:spPr>
      </p:sp>
      <p:sp>
        <p:nvSpPr>
          <p:cNvPr id="10" name="Text 5"/>
          <p:cNvSpPr/>
          <p:nvPr/>
        </p:nvSpPr>
        <p:spPr>
          <a:xfrm>
            <a:off x="8310677" y="1828800"/>
            <a:ext cx="1234440" cy="914400"/>
          </a:xfrm>
          <a:prstGeom prst="rect">
            <a:avLst/>
          </a:prstGeom>
          <a:noFill/>
          <a:ln/>
        </p:spPr>
        <p:txBody>
          <a:bodyPr wrap="square" lIns="0" tIns="0" rIns="0" bIns="0" rtlCol="0" anchor="ctr"/>
          <a:lstStyle/>
          <a:p>
            <a:pPr rtl="1" algn="ctr" indent="0" marL="0">
              <a:buNone/>
            </a:pPr>
            <a:r>
              <a:rPr lang="ar-SA" altLang="en-US" sz="2600" dirty="0">
                <a:solidFill>
                  <a:srgbClr val="095242"/>
                </a:solidFill>
                <a:latin typeface="Tajawal ExtraBold" pitchFamily="34" charset="0"/>
                <a:ea typeface="Tajawal ExtraBold" pitchFamily="34" charset="-122"/>
                <a:cs typeface="Tajawal ExtraBold" pitchFamily="34" charset="-120"/>
              </a:rPr>
              <a:t>١٢</a:t>
            </a:r>
            <a:endParaRPr lang="ar-SA" sz="2600" dirty="0"/>
          </a:p>
        </p:txBody>
      </p:sp>
      <p:sp>
        <p:nvSpPr>
          <p:cNvPr id="11" name="Text 6"/>
          <p:cNvSpPr/>
          <p:nvPr/>
        </p:nvSpPr>
        <p:spPr>
          <a:xfrm>
            <a:off x="9545117" y="1828800"/>
            <a:ext cx="2052218" cy="914400"/>
          </a:xfrm>
          <a:prstGeom prst="rect">
            <a:avLst/>
          </a:prstGeom>
          <a:noFill/>
          <a:ln/>
        </p:spPr>
        <p:txBody>
          <a:bodyPr wrap="square" lIns="0" tIns="0" rIns="0" bIns="0" rtlCol="0" anchor="ctr"/>
          <a:lstStyle/>
          <a:p>
            <a:pPr rtl="1" algn="r" indent="0" marL="0">
              <a:buNone/>
            </a:pPr>
            <a:r>
              <a:rPr lang="ar-SA" altLang="en-US" sz="1150" b="1" dirty="0">
                <a:solidFill>
                  <a:srgbClr val="33473F"/>
                </a:solidFill>
                <a:latin typeface="Tajawal" pitchFamily="34" charset="0"/>
                <a:ea typeface="Tajawal" pitchFamily="34" charset="-122"/>
                <a:cs typeface="Tajawal" pitchFamily="34" charset="-120"/>
              </a:rPr>
              <a:t>عدد البرامج التشغيلية</a:t>
            </a:r>
            <a:endParaRPr lang="ar-SA" sz="1150" dirty="0"/>
          </a:p>
        </p:txBody>
      </p:sp>
      <p:sp>
        <p:nvSpPr>
          <p:cNvPr id="12" name="Shape 7"/>
          <p:cNvSpPr/>
          <p:nvPr/>
        </p:nvSpPr>
        <p:spPr>
          <a:xfrm>
            <a:off x="4292498" y="1828800"/>
            <a:ext cx="3606698" cy="914400"/>
          </a:xfrm>
          <a:prstGeom prst="roundRect">
            <a:avLst>
              <a:gd name="adj" fmla="val 7500"/>
            </a:avLst>
          </a:prstGeom>
          <a:solidFill>
            <a:srgbClr val="095242"/>
          </a:solidFill>
          <a:ln/>
          <a:effectLst>
            <a:outerShdw sx="100000" sy="100000" kx="0" ky="0" algn="bl" rotWithShape="0" blurRad="88900" dist="25400" dir="5400000">
              <a:srgbClr val="083528">
                <a:alpha val="22000"/>
              </a:srgbClr>
            </a:outerShdw>
          </a:effectLst>
        </p:spPr>
      </p:sp>
      <p:sp>
        <p:nvSpPr>
          <p:cNvPr id="13" name="Text 8"/>
          <p:cNvSpPr/>
          <p:nvPr/>
        </p:nvSpPr>
        <p:spPr>
          <a:xfrm>
            <a:off x="4429658" y="1828800"/>
            <a:ext cx="1234440" cy="914400"/>
          </a:xfrm>
          <a:prstGeom prst="rect">
            <a:avLst/>
          </a:prstGeom>
          <a:noFill/>
          <a:ln/>
        </p:spPr>
        <p:txBody>
          <a:bodyPr wrap="square" lIns="0" tIns="0" rIns="0" bIns="0" rtlCol="0" anchor="ctr"/>
          <a:lstStyle/>
          <a:p>
            <a:pPr rtl="1" algn="ctr" indent="0" marL="0">
              <a:buNone/>
            </a:pPr>
            <a:r>
              <a:rPr lang="ar-SA" altLang="en-US" sz="2600" dirty="0">
                <a:solidFill>
                  <a:srgbClr val="FFFFFF"/>
                </a:solidFill>
                <a:latin typeface="Tajawal ExtraBold" pitchFamily="34" charset="0"/>
                <a:ea typeface="Tajawal ExtraBold" pitchFamily="34" charset="-122"/>
                <a:cs typeface="Tajawal ExtraBold" pitchFamily="34" charset="-120"/>
              </a:rPr>
              <a:t>٦</a:t>
            </a:r>
            <a:endParaRPr lang="ar-SA" sz="2600" dirty="0"/>
          </a:p>
        </p:txBody>
      </p:sp>
      <p:sp>
        <p:nvSpPr>
          <p:cNvPr id="14" name="Text 9"/>
          <p:cNvSpPr/>
          <p:nvPr/>
        </p:nvSpPr>
        <p:spPr>
          <a:xfrm>
            <a:off x="5664098" y="1828800"/>
            <a:ext cx="2052218" cy="914400"/>
          </a:xfrm>
          <a:prstGeom prst="rect">
            <a:avLst/>
          </a:prstGeom>
          <a:noFill/>
          <a:ln/>
        </p:spPr>
        <p:txBody>
          <a:bodyPr wrap="square" lIns="0" tIns="0" rIns="0" bIns="0" rtlCol="0" anchor="ctr"/>
          <a:lstStyle/>
          <a:p>
            <a:pPr rtl="1" algn="r" indent="0" marL="0">
              <a:buNone/>
            </a:pPr>
            <a:r>
              <a:rPr lang="ar-SA" altLang="en-US" sz="1150" b="1" dirty="0">
                <a:solidFill>
                  <a:srgbClr val="CFE2DB"/>
                </a:solidFill>
                <a:latin typeface="Tajawal" pitchFamily="34" charset="0"/>
                <a:ea typeface="Tajawal" pitchFamily="34" charset="-122"/>
                <a:cs typeface="Tajawal" pitchFamily="34" charset="-120"/>
              </a:rPr>
              <a:t>عدد مؤشرات الاعتماد المرتبطة</a:t>
            </a:r>
            <a:endParaRPr lang="ar-SA" sz="1150" dirty="0"/>
          </a:p>
        </p:txBody>
      </p:sp>
      <p:sp>
        <p:nvSpPr>
          <p:cNvPr id="15" name="Shape 10"/>
          <p:cNvSpPr/>
          <p:nvPr/>
        </p:nvSpPr>
        <p:spPr>
          <a:xfrm>
            <a:off x="411480" y="1828800"/>
            <a:ext cx="3606698" cy="914400"/>
          </a:xfrm>
          <a:prstGeom prst="roundRect">
            <a:avLst>
              <a:gd name="adj" fmla="val 7500"/>
            </a:avLst>
          </a:prstGeom>
          <a:solidFill>
            <a:srgbClr val="FFFFFF"/>
          </a:solidFill>
          <a:ln w="12700">
            <a:solidFill>
              <a:srgbClr val="095242"/>
            </a:solidFill>
            <a:prstDash val="solid"/>
          </a:ln>
        </p:spPr>
      </p:sp>
      <p:sp>
        <p:nvSpPr>
          <p:cNvPr id="16" name="Text 11"/>
          <p:cNvSpPr/>
          <p:nvPr/>
        </p:nvSpPr>
        <p:spPr>
          <a:xfrm>
            <a:off x="548640" y="1828800"/>
            <a:ext cx="1234440" cy="914400"/>
          </a:xfrm>
          <a:prstGeom prst="rect">
            <a:avLst/>
          </a:prstGeom>
          <a:noFill/>
          <a:ln/>
        </p:spPr>
        <p:txBody>
          <a:bodyPr wrap="square" lIns="0" tIns="0" rIns="0" bIns="0" rtlCol="0" anchor="ctr"/>
          <a:lstStyle/>
          <a:p>
            <a:pPr rtl="1" algn="ctr" indent="0" marL="0">
              <a:buNone/>
            </a:pPr>
            <a:r>
              <a:rPr lang="ar-SA" altLang="en-US" sz="2600" dirty="0">
                <a:solidFill>
                  <a:srgbClr val="095242"/>
                </a:solidFill>
                <a:latin typeface="Tajawal ExtraBold" pitchFamily="34" charset="0"/>
                <a:ea typeface="Tajawal ExtraBold" pitchFamily="34" charset="-122"/>
                <a:cs typeface="Tajawal ExtraBold" pitchFamily="34" charset="-120"/>
              </a:rPr>
              <a:t>٨٠٪</a:t>
            </a:r>
            <a:endParaRPr lang="ar-SA" sz="2600" dirty="0"/>
          </a:p>
        </p:txBody>
      </p:sp>
      <p:sp>
        <p:nvSpPr>
          <p:cNvPr id="17" name="Text 12"/>
          <p:cNvSpPr/>
          <p:nvPr/>
        </p:nvSpPr>
        <p:spPr>
          <a:xfrm>
            <a:off x="1783080" y="1828800"/>
            <a:ext cx="2052218" cy="914400"/>
          </a:xfrm>
          <a:prstGeom prst="rect">
            <a:avLst/>
          </a:prstGeom>
          <a:noFill/>
          <a:ln/>
        </p:spPr>
        <p:txBody>
          <a:bodyPr wrap="square" lIns="0" tIns="0" rIns="0" bIns="0" rtlCol="0" anchor="ctr"/>
          <a:lstStyle/>
          <a:p>
            <a:pPr rtl="1" algn="r" indent="0" marL="0">
              <a:buNone/>
            </a:pPr>
            <a:r>
              <a:rPr lang="ar-SA" altLang="en-US" sz="1150" b="1" dirty="0">
                <a:solidFill>
                  <a:srgbClr val="33473F"/>
                </a:solidFill>
                <a:latin typeface="Tajawal" pitchFamily="34" charset="0"/>
                <a:ea typeface="Tajawal" pitchFamily="34" charset="-122"/>
                <a:cs typeface="Tajawal" pitchFamily="34" charset="-120"/>
              </a:rPr>
              <a:t>نسبة التحقّق المستهدفة</a:t>
            </a:r>
            <a:endParaRPr lang="ar-SA" sz="1150" dirty="0"/>
          </a:p>
        </p:txBody>
      </p:sp>
      <p:sp>
        <p:nvSpPr>
          <p:cNvPr id="18" name="Shape 13"/>
          <p:cNvSpPr/>
          <p:nvPr/>
        </p:nvSpPr>
        <p:spPr>
          <a:xfrm>
            <a:off x="11729923" y="3044952"/>
            <a:ext cx="50292" cy="201168"/>
          </a:xfrm>
          <a:prstGeom prst="rect">
            <a:avLst/>
          </a:prstGeom>
          <a:solidFill>
            <a:srgbClr val="0089A1"/>
          </a:solidFill>
          <a:ln/>
        </p:spPr>
      </p:sp>
      <p:sp>
        <p:nvSpPr>
          <p:cNvPr id="19" name="Text 14"/>
          <p:cNvSpPr/>
          <p:nvPr/>
        </p:nvSpPr>
        <p:spPr>
          <a:xfrm>
            <a:off x="8488375" y="2999232"/>
            <a:ext cx="3163824" cy="292608"/>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البرامج التشغيلية ضمن هذا الهدف</a:t>
            </a:r>
            <a:endParaRPr lang="ar-SA" sz="1250" dirty="0"/>
          </a:p>
        </p:txBody>
      </p:sp>
      <p:sp>
        <p:nvSpPr>
          <p:cNvPr id="20" name="Shape 15"/>
          <p:cNvSpPr/>
          <p:nvPr/>
        </p:nvSpPr>
        <p:spPr>
          <a:xfrm>
            <a:off x="9075191" y="3383280"/>
            <a:ext cx="2705024" cy="438912"/>
          </a:xfrm>
          <a:prstGeom prst="roundRect">
            <a:avLst>
              <a:gd name="adj" fmla="val 18750"/>
            </a:avLst>
          </a:prstGeom>
          <a:solidFill>
            <a:srgbClr val="F1F7F4"/>
          </a:solidFill>
          <a:ln w="9525">
            <a:solidFill>
              <a:srgbClr val="DCE8E2"/>
            </a:solidFill>
            <a:prstDash val="solid"/>
          </a:ln>
        </p:spPr>
      </p:sp>
      <p:sp>
        <p:nvSpPr>
          <p:cNvPr id="21" name="Shape 16"/>
          <p:cNvSpPr/>
          <p:nvPr/>
        </p:nvSpPr>
        <p:spPr>
          <a:xfrm>
            <a:off x="11505895" y="3557016"/>
            <a:ext cx="100584" cy="100584"/>
          </a:xfrm>
          <a:prstGeom prst="roundRect">
            <a:avLst>
              <a:gd name="adj" fmla="val 18182"/>
            </a:avLst>
          </a:prstGeom>
          <a:solidFill>
            <a:srgbClr val="0089A1"/>
          </a:solidFill>
          <a:ln/>
        </p:spPr>
      </p:sp>
      <p:sp>
        <p:nvSpPr>
          <p:cNvPr id="22" name="Text 17"/>
          <p:cNvSpPr/>
          <p:nvPr/>
        </p:nvSpPr>
        <p:spPr>
          <a:xfrm>
            <a:off x="9203207" y="3383280"/>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البرامج الإثرائية</a:t>
            </a:r>
            <a:endParaRPr lang="ar-SA" sz="1000" dirty="0"/>
          </a:p>
        </p:txBody>
      </p:sp>
      <p:sp>
        <p:nvSpPr>
          <p:cNvPr id="23" name="Shape 18"/>
          <p:cNvSpPr/>
          <p:nvPr/>
        </p:nvSpPr>
        <p:spPr>
          <a:xfrm>
            <a:off x="6187288" y="3383280"/>
            <a:ext cx="2705024" cy="438912"/>
          </a:xfrm>
          <a:prstGeom prst="roundRect">
            <a:avLst>
              <a:gd name="adj" fmla="val 18750"/>
            </a:avLst>
          </a:prstGeom>
          <a:solidFill>
            <a:srgbClr val="F1F7F4"/>
          </a:solidFill>
          <a:ln w="9525">
            <a:solidFill>
              <a:srgbClr val="DCE8E2"/>
            </a:solidFill>
            <a:prstDash val="solid"/>
          </a:ln>
        </p:spPr>
      </p:sp>
      <p:sp>
        <p:nvSpPr>
          <p:cNvPr id="24" name="Shape 19"/>
          <p:cNvSpPr/>
          <p:nvPr/>
        </p:nvSpPr>
        <p:spPr>
          <a:xfrm>
            <a:off x="8617991" y="3557016"/>
            <a:ext cx="100584" cy="100584"/>
          </a:xfrm>
          <a:prstGeom prst="roundRect">
            <a:avLst>
              <a:gd name="adj" fmla="val 18182"/>
            </a:avLst>
          </a:prstGeom>
          <a:solidFill>
            <a:srgbClr val="0089A1"/>
          </a:solidFill>
          <a:ln/>
        </p:spPr>
      </p:sp>
      <p:sp>
        <p:nvSpPr>
          <p:cNvPr id="25" name="Text 20"/>
          <p:cNvSpPr/>
          <p:nvPr/>
        </p:nvSpPr>
        <p:spPr>
          <a:xfrm>
            <a:off x="6315304" y="3383280"/>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رعاية الموهوبين</a:t>
            </a:r>
            <a:endParaRPr lang="ar-SA" sz="1000" dirty="0"/>
          </a:p>
        </p:txBody>
      </p:sp>
      <p:sp>
        <p:nvSpPr>
          <p:cNvPr id="26" name="Shape 21"/>
          <p:cNvSpPr/>
          <p:nvPr/>
        </p:nvSpPr>
        <p:spPr>
          <a:xfrm>
            <a:off x="3299384" y="3383280"/>
            <a:ext cx="2705024" cy="438912"/>
          </a:xfrm>
          <a:prstGeom prst="roundRect">
            <a:avLst>
              <a:gd name="adj" fmla="val 18750"/>
            </a:avLst>
          </a:prstGeom>
          <a:solidFill>
            <a:srgbClr val="F1F7F4"/>
          </a:solidFill>
          <a:ln w="9525">
            <a:solidFill>
              <a:srgbClr val="DCE8E2"/>
            </a:solidFill>
            <a:prstDash val="solid"/>
          </a:ln>
        </p:spPr>
      </p:sp>
      <p:sp>
        <p:nvSpPr>
          <p:cNvPr id="27" name="Shape 22"/>
          <p:cNvSpPr/>
          <p:nvPr/>
        </p:nvSpPr>
        <p:spPr>
          <a:xfrm>
            <a:off x="5730088" y="3557016"/>
            <a:ext cx="100584" cy="100584"/>
          </a:xfrm>
          <a:prstGeom prst="roundRect">
            <a:avLst>
              <a:gd name="adj" fmla="val 18182"/>
            </a:avLst>
          </a:prstGeom>
          <a:solidFill>
            <a:srgbClr val="0089A1"/>
          </a:solidFill>
          <a:ln/>
        </p:spPr>
      </p:sp>
      <p:sp>
        <p:nvSpPr>
          <p:cNvPr id="28" name="Text 23"/>
          <p:cNvSpPr/>
          <p:nvPr/>
        </p:nvSpPr>
        <p:spPr>
          <a:xfrm>
            <a:off x="3427400" y="3383280"/>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تنمية التفكير والابتكار</a:t>
            </a:r>
            <a:endParaRPr lang="ar-SA" sz="1000" dirty="0"/>
          </a:p>
        </p:txBody>
      </p:sp>
      <p:sp>
        <p:nvSpPr>
          <p:cNvPr id="29" name="Shape 24"/>
          <p:cNvSpPr/>
          <p:nvPr/>
        </p:nvSpPr>
        <p:spPr>
          <a:xfrm>
            <a:off x="411480" y="3383280"/>
            <a:ext cx="2705024" cy="438912"/>
          </a:xfrm>
          <a:prstGeom prst="roundRect">
            <a:avLst>
              <a:gd name="adj" fmla="val 18750"/>
            </a:avLst>
          </a:prstGeom>
          <a:solidFill>
            <a:srgbClr val="F1F7F4"/>
          </a:solidFill>
          <a:ln w="9525">
            <a:solidFill>
              <a:srgbClr val="DCE8E2"/>
            </a:solidFill>
            <a:prstDash val="solid"/>
          </a:ln>
        </p:spPr>
      </p:sp>
      <p:sp>
        <p:nvSpPr>
          <p:cNvPr id="30" name="Shape 25"/>
          <p:cNvSpPr/>
          <p:nvPr/>
        </p:nvSpPr>
        <p:spPr>
          <a:xfrm>
            <a:off x="2842184" y="3557016"/>
            <a:ext cx="100584" cy="100584"/>
          </a:xfrm>
          <a:prstGeom prst="roundRect">
            <a:avLst>
              <a:gd name="adj" fmla="val 18182"/>
            </a:avLst>
          </a:prstGeom>
          <a:solidFill>
            <a:srgbClr val="0089A1"/>
          </a:solidFill>
          <a:ln/>
        </p:spPr>
      </p:sp>
      <p:sp>
        <p:nvSpPr>
          <p:cNvPr id="31" name="Text 26"/>
          <p:cNvSpPr/>
          <p:nvPr/>
        </p:nvSpPr>
        <p:spPr>
          <a:xfrm>
            <a:off x="539496" y="3383280"/>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تنمية المهارات القرائية</a:t>
            </a:r>
            <a:endParaRPr lang="ar-SA" sz="1000" dirty="0"/>
          </a:p>
        </p:txBody>
      </p:sp>
      <p:sp>
        <p:nvSpPr>
          <p:cNvPr id="32" name="Shape 27"/>
          <p:cNvSpPr/>
          <p:nvPr/>
        </p:nvSpPr>
        <p:spPr>
          <a:xfrm>
            <a:off x="9075191" y="3950208"/>
            <a:ext cx="2705024" cy="438912"/>
          </a:xfrm>
          <a:prstGeom prst="roundRect">
            <a:avLst>
              <a:gd name="adj" fmla="val 18750"/>
            </a:avLst>
          </a:prstGeom>
          <a:solidFill>
            <a:srgbClr val="F1F7F4"/>
          </a:solidFill>
          <a:ln w="9525">
            <a:solidFill>
              <a:srgbClr val="DCE8E2"/>
            </a:solidFill>
            <a:prstDash val="solid"/>
          </a:ln>
        </p:spPr>
      </p:sp>
      <p:sp>
        <p:nvSpPr>
          <p:cNvPr id="33" name="Shape 28"/>
          <p:cNvSpPr/>
          <p:nvPr/>
        </p:nvSpPr>
        <p:spPr>
          <a:xfrm>
            <a:off x="11505895" y="4123944"/>
            <a:ext cx="100584" cy="100584"/>
          </a:xfrm>
          <a:prstGeom prst="roundRect">
            <a:avLst>
              <a:gd name="adj" fmla="val 18182"/>
            </a:avLst>
          </a:prstGeom>
          <a:solidFill>
            <a:srgbClr val="0089A1"/>
          </a:solidFill>
          <a:ln/>
        </p:spPr>
      </p:sp>
      <p:sp>
        <p:nvSpPr>
          <p:cNvPr id="34" name="Text 29"/>
          <p:cNvSpPr/>
          <p:nvPr/>
        </p:nvSpPr>
        <p:spPr>
          <a:xfrm>
            <a:off x="9203207" y="3950208"/>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التعلم الذاتي</a:t>
            </a:r>
            <a:endParaRPr lang="ar-SA" sz="1000" dirty="0"/>
          </a:p>
        </p:txBody>
      </p:sp>
      <p:sp>
        <p:nvSpPr>
          <p:cNvPr id="35" name="Shape 30"/>
          <p:cNvSpPr/>
          <p:nvPr/>
        </p:nvSpPr>
        <p:spPr>
          <a:xfrm>
            <a:off x="6187288" y="3950208"/>
            <a:ext cx="2705024" cy="438912"/>
          </a:xfrm>
          <a:prstGeom prst="roundRect">
            <a:avLst>
              <a:gd name="adj" fmla="val 18750"/>
            </a:avLst>
          </a:prstGeom>
          <a:solidFill>
            <a:srgbClr val="F1F7F4"/>
          </a:solidFill>
          <a:ln w="9525">
            <a:solidFill>
              <a:srgbClr val="DCE8E2"/>
            </a:solidFill>
            <a:prstDash val="solid"/>
          </a:ln>
        </p:spPr>
      </p:sp>
      <p:sp>
        <p:nvSpPr>
          <p:cNvPr id="36" name="Shape 31"/>
          <p:cNvSpPr/>
          <p:nvPr/>
        </p:nvSpPr>
        <p:spPr>
          <a:xfrm>
            <a:off x="8617991" y="4123944"/>
            <a:ext cx="100584" cy="100584"/>
          </a:xfrm>
          <a:prstGeom prst="roundRect">
            <a:avLst>
              <a:gd name="adj" fmla="val 18182"/>
            </a:avLst>
          </a:prstGeom>
          <a:solidFill>
            <a:srgbClr val="0089A1"/>
          </a:solidFill>
          <a:ln/>
        </p:spPr>
      </p:sp>
      <p:sp>
        <p:nvSpPr>
          <p:cNvPr id="37" name="Text 32"/>
          <p:cNvSpPr/>
          <p:nvPr/>
        </p:nvSpPr>
        <p:spPr>
          <a:xfrm>
            <a:off x="6315304" y="3950208"/>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المشاريع التطبيقية</a:t>
            </a:r>
            <a:endParaRPr lang="ar-SA" sz="1000" dirty="0"/>
          </a:p>
        </p:txBody>
      </p:sp>
      <p:sp>
        <p:nvSpPr>
          <p:cNvPr id="38" name="Shape 33"/>
          <p:cNvSpPr/>
          <p:nvPr/>
        </p:nvSpPr>
        <p:spPr>
          <a:xfrm>
            <a:off x="3299384" y="3950208"/>
            <a:ext cx="2705024" cy="438912"/>
          </a:xfrm>
          <a:prstGeom prst="roundRect">
            <a:avLst>
              <a:gd name="adj" fmla="val 18750"/>
            </a:avLst>
          </a:prstGeom>
          <a:solidFill>
            <a:srgbClr val="F1F7F4"/>
          </a:solidFill>
          <a:ln w="9525">
            <a:solidFill>
              <a:srgbClr val="DCE8E2"/>
            </a:solidFill>
            <a:prstDash val="solid"/>
          </a:ln>
        </p:spPr>
      </p:sp>
      <p:sp>
        <p:nvSpPr>
          <p:cNvPr id="39" name="Shape 34"/>
          <p:cNvSpPr/>
          <p:nvPr/>
        </p:nvSpPr>
        <p:spPr>
          <a:xfrm>
            <a:off x="5730088" y="4123944"/>
            <a:ext cx="100584" cy="100584"/>
          </a:xfrm>
          <a:prstGeom prst="roundRect">
            <a:avLst>
              <a:gd name="adj" fmla="val 18182"/>
            </a:avLst>
          </a:prstGeom>
          <a:solidFill>
            <a:srgbClr val="0089A1"/>
          </a:solidFill>
          <a:ln/>
        </p:spPr>
      </p:sp>
      <p:sp>
        <p:nvSpPr>
          <p:cNvPr id="40" name="Text 35"/>
          <p:cNvSpPr/>
          <p:nvPr/>
        </p:nvSpPr>
        <p:spPr>
          <a:xfrm>
            <a:off x="3427400" y="3950208"/>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البحث العلمي</a:t>
            </a:r>
            <a:endParaRPr lang="ar-SA" sz="1000" dirty="0"/>
          </a:p>
        </p:txBody>
      </p:sp>
      <p:sp>
        <p:nvSpPr>
          <p:cNvPr id="41" name="Shape 36"/>
          <p:cNvSpPr/>
          <p:nvPr/>
        </p:nvSpPr>
        <p:spPr>
          <a:xfrm>
            <a:off x="411480" y="3950208"/>
            <a:ext cx="2705024" cy="438912"/>
          </a:xfrm>
          <a:prstGeom prst="roundRect">
            <a:avLst>
              <a:gd name="adj" fmla="val 18750"/>
            </a:avLst>
          </a:prstGeom>
          <a:solidFill>
            <a:srgbClr val="F1F7F4"/>
          </a:solidFill>
          <a:ln w="9525">
            <a:solidFill>
              <a:srgbClr val="DCE8E2"/>
            </a:solidFill>
            <a:prstDash val="solid"/>
          </a:ln>
        </p:spPr>
      </p:sp>
      <p:sp>
        <p:nvSpPr>
          <p:cNvPr id="42" name="Shape 37"/>
          <p:cNvSpPr/>
          <p:nvPr/>
        </p:nvSpPr>
        <p:spPr>
          <a:xfrm>
            <a:off x="2842184" y="4123944"/>
            <a:ext cx="100584" cy="100584"/>
          </a:xfrm>
          <a:prstGeom prst="roundRect">
            <a:avLst>
              <a:gd name="adj" fmla="val 18182"/>
            </a:avLst>
          </a:prstGeom>
          <a:solidFill>
            <a:srgbClr val="0089A1"/>
          </a:solidFill>
          <a:ln/>
        </p:spPr>
      </p:sp>
      <p:sp>
        <p:nvSpPr>
          <p:cNvPr id="43" name="Text 38"/>
          <p:cNvSpPr/>
          <p:nvPr/>
        </p:nvSpPr>
        <p:spPr>
          <a:xfrm>
            <a:off x="539496" y="3950208"/>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STEM</a:t>
            </a:r>
            <a:endParaRPr lang="ar-SA" sz="1000" dirty="0"/>
          </a:p>
        </p:txBody>
      </p:sp>
      <p:sp>
        <p:nvSpPr>
          <p:cNvPr id="44" name="Shape 39"/>
          <p:cNvSpPr/>
          <p:nvPr/>
        </p:nvSpPr>
        <p:spPr>
          <a:xfrm>
            <a:off x="9075191" y="4517136"/>
            <a:ext cx="2705024" cy="438912"/>
          </a:xfrm>
          <a:prstGeom prst="roundRect">
            <a:avLst>
              <a:gd name="adj" fmla="val 18750"/>
            </a:avLst>
          </a:prstGeom>
          <a:solidFill>
            <a:srgbClr val="F1F7F4"/>
          </a:solidFill>
          <a:ln w="9525">
            <a:solidFill>
              <a:srgbClr val="DCE8E2"/>
            </a:solidFill>
            <a:prstDash val="solid"/>
          </a:ln>
        </p:spPr>
      </p:sp>
      <p:sp>
        <p:nvSpPr>
          <p:cNvPr id="45" name="Shape 40"/>
          <p:cNvSpPr/>
          <p:nvPr/>
        </p:nvSpPr>
        <p:spPr>
          <a:xfrm>
            <a:off x="11505895" y="4690872"/>
            <a:ext cx="100584" cy="100584"/>
          </a:xfrm>
          <a:prstGeom prst="roundRect">
            <a:avLst>
              <a:gd name="adj" fmla="val 18182"/>
            </a:avLst>
          </a:prstGeom>
          <a:solidFill>
            <a:srgbClr val="0089A1"/>
          </a:solidFill>
          <a:ln/>
        </p:spPr>
      </p:sp>
      <p:sp>
        <p:nvSpPr>
          <p:cNvPr id="46" name="Text 41"/>
          <p:cNvSpPr/>
          <p:nvPr/>
        </p:nvSpPr>
        <p:spPr>
          <a:xfrm>
            <a:off x="9203207" y="4517136"/>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البرمجة والذكاء الاصطناعي</a:t>
            </a:r>
            <a:endParaRPr lang="ar-SA" sz="1000" dirty="0"/>
          </a:p>
        </p:txBody>
      </p:sp>
      <p:sp>
        <p:nvSpPr>
          <p:cNvPr id="47" name="Shape 42"/>
          <p:cNvSpPr/>
          <p:nvPr/>
        </p:nvSpPr>
        <p:spPr>
          <a:xfrm>
            <a:off x="6187288" y="4517136"/>
            <a:ext cx="2705024" cy="438912"/>
          </a:xfrm>
          <a:prstGeom prst="roundRect">
            <a:avLst>
              <a:gd name="adj" fmla="val 18750"/>
            </a:avLst>
          </a:prstGeom>
          <a:solidFill>
            <a:srgbClr val="F1F7F4"/>
          </a:solidFill>
          <a:ln w="9525">
            <a:solidFill>
              <a:srgbClr val="DCE8E2"/>
            </a:solidFill>
            <a:prstDash val="solid"/>
          </a:ln>
        </p:spPr>
      </p:sp>
      <p:sp>
        <p:nvSpPr>
          <p:cNvPr id="48" name="Shape 43"/>
          <p:cNvSpPr/>
          <p:nvPr/>
        </p:nvSpPr>
        <p:spPr>
          <a:xfrm>
            <a:off x="8617991" y="4690872"/>
            <a:ext cx="100584" cy="100584"/>
          </a:xfrm>
          <a:prstGeom prst="roundRect">
            <a:avLst>
              <a:gd name="adj" fmla="val 18182"/>
            </a:avLst>
          </a:prstGeom>
          <a:solidFill>
            <a:srgbClr val="0089A1"/>
          </a:solidFill>
          <a:ln/>
        </p:spPr>
      </p:sp>
      <p:sp>
        <p:nvSpPr>
          <p:cNvPr id="49" name="Text 44"/>
          <p:cNvSpPr/>
          <p:nvPr/>
        </p:nvSpPr>
        <p:spPr>
          <a:xfrm>
            <a:off x="6315304" y="4517136"/>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أندية القراءة</a:t>
            </a:r>
            <a:endParaRPr lang="ar-SA" sz="1000" dirty="0"/>
          </a:p>
        </p:txBody>
      </p:sp>
      <p:sp>
        <p:nvSpPr>
          <p:cNvPr id="50" name="Shape 45"/>
          <p:cNvSpPr/>
          <p:nvPr/>
        </p:nvSpPr>
        <p:spPr>
          <a:xfrm>
            <a:off x="3299384" y="4517136"/>
            <a:ext cx="2705024" cy="438912"/>
          </a:xfrm>
          <a:prstGeom prst="roundRect">
            <a:avLst>
              <a:gd name="adj" fmla="val 18750"/>
            </a:avLst>
          </a:prstGeom>
          <a:solidFill>
            <a:srgbClr val="F1F7F4"/>
          </a:solidFill>
          <a:ln w="9525">
            <a:solidFill>
              <a:srgbClr val="DCE8E2"/>
            </a:solidFill>
            <a:prstDash val="solid"/>
          </a:ln>
        </p:spPr>
      </p:sp>
      <p:sp>
        <p:nvSpPr>
          <p:cNvPr id="51" name="Shape 46"/>
          <p:cNvSpPr/>
          <p:nvPr/>
        </p:nvSpPr>
        <p:spPr>
          <a:xfrm>
            <a:off x="5730088" y="4690872"/>
            <a:ext cx="100584" cy="100584"/>
          </a:xfrm>
          <a:prstGeom prst="roundRect">
            <a:avLst>
              <a:gd name="adj" fmla="val 18182"/>
            </a:avLst>
          </a:prstGeom>
          <a:solidFill>
            <a:srgbClr val="0089A1"/>
          </a:solidFill>
          <a:ln/>
        </p:spPr>
      </p:sp>
      <p:sp>
        <p:nvSpPr>
          <p:cNvPr id="52" name="Text 47"/>
          <p:cNvSpPr/>
          <p:nvPr/>
        </p:nvSpPr>
        <p:spPr>
          <a:xfrm>
            <a:off x="3427400" y="4517136"/>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الأولمبيادات والمسابقات</a:t>
            </a:r>
            <a:endParaRPr lang="ar-SA" sz="1000" dirty="0"/>
          </a:p>
        </p:txBody>
      </p:sp>
      <p:sp>
        <p:nvSpPr>
          <p:cNvPr id="53" name="Shape 48"/>
          <p:cNvSpPr/>
          <p:nvPr/>
        </p:nvSpPr>
        <p:spPr>
          <a:xfrm>
            <a:off x="411480" y="4517136"/>
            <a:ext cx="2705024" cy="438912"/>
          </a:xfrm>
          <a:prstGeom prst="roundRect">
            <a:avLst>
              <a:gd name="adj" fmla="val 18750"/>
            </a:avLst>
          </a:prstGeom>
          <a:solidFill>
            <a:srgbClr val="F1F7F4"/>
          </a:solidFill>
          <a:ln w="9525">
            <a:solidFill>
              <a:srgbClr val="DCE8E2"/>
            </a:solidFill>
            <a:prstDash val="solid"/>
          </a:ln>
        </p:spPr>
      </p:sp>
      <p:sp>
        <p:nvSpPr>
          <p:cNvPr id="54" name="Shape 49"/>
          <p:cNvSpPr/>
          <p:nvPr/>
        </p:nvSpPr>
        <p:spPr>
          <a:xfrm>
            <a:off x="2842184" y="4690872"/>
            <a:ext cx="100584" cy="100584"/>
          </a:xfrm>
          <a:prstGeom prst="roundRect">
            <a:avLst>
              <a:gd name="adj" fmla="val 18182"/>
            </a:avLst>
          </a:prstGeom>
          <a:solidFill>
            <a:srgbClr val="0089A1"/>
          </a:solidFill>
          <a:ln/>
        </p:spPr>
      </p:sp>
      <p:sp>
        <p:nvSpPr>
          <p:cNvPr id="55" name="Text 50"/>
          <p:cNvSpPr/>
          <p:nvPr/>
        </p:nvSpPr>
        <p:spPr>
          <a:xfrm>
            <a:off x="539496" y="4517136"/>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المهارات العاطفية والاجتماعية</a:t>
            </a:r>
            <a:endParaRPr lang="ar-SA" sz="1000" dirty="0"/>
          </a:p>
        </p:txBody>
      </p:sp>
      <p:sp>
        <p:nvSpPr>
          <p:cNvPr id="56" name="Shape 51"/>
          <p:cNvSpPr/>
          <p:nvPr/>
        </p:nvSpPr>
        <p:spPr>
          <a:xfrm>
            <a:off x="7802575" y="5193792"/>
            <a:ext cx="3977640" cy="1261872"/>
          </a:xfrm>
          <a:prstGeom prst="roundRect">
            <a:avLst>
              <a:gd name="adj" fmla="val 5435"/>
            </a:avLst>
          </a:prstGeom>
          <a:solidFill>
            <a:srgbClr val="FFFFFF"/>
          </a:solidFill>
          <a:ln w="9525">
            <a:solidFill>
              <a:srgbClr val="DCE8E2"/>
            </a:solidFill>
            <a:prstDash val="solid"/>
          </a:ln>
        </p:spPr>
      </p:sp>
      <p:sp>
        <p:nvSpPr>
          <p:cNvPr id="57" name="Text 52"/>
          <p:cNvSpPr/>
          <p:nvPr/>
        </p:nvSpPr>
        <p:spPr>
          <a:xfrm>
            <a:off x="8031175" y="5285232"/>
            <a:ext cx="3520440" cy="292608"/>
          </a:xfrm>
          <a:prstGeom prst="rect">
            <a:avLst/>
          </a:prstGeom>
          <a:noFill/>
          <a:ln/>
        </p:spPr>
        <p:txBody>
          <a:bodyPr wrap="square" lIns="0" tIns="0" rIns="0" bIns="0" rtlCol="0" anchor="t"/>
          <a:lstStyle/>
          <a:p>
            <a:pPr rtl="1" algn="r" indent="0" marL="0">
              <a:buNone/>
            </a:pPr>
            <a:r>
              <a:rPr lang="ar-SA" altLang="en-US" sz="1050" b="1" dirty="0">
                <a:solidFill>
                  <a:srgbClr val="063E33"/>
                </a:solidFill>
                <a:latin typeface="Tajawal" pitchFamily="34" charset="0"/>
                <a:ea typeface="Tajawal" pitchFamily="34" charset="-122"/>
                <a:cs typeface="Tajawal" pitchFamily="34" charset="-120"/>
              </a:rPr>
              <a:t>مؤشرات الاعتماد المدرسي</a:t>
            </a:r>
            <a:endParaRPr lang="ar-SA" sz="1050" dirty="0"/>
          </a:p>
        </p:txBody>
      </p:sp>
      <p:sp>
        <p:nvSpPr>
          <p:cNvPr id="58" name="Shape 53"/>
          <p:cNvSpPr/>
          <p:nvPr/>
        </p:nvSpPr>
        <p:spPr>
          <a:xfrm>
            <a:off x="10893247" y="5632704"/>
            <a:ext cx="658368" cy="274320"/>
          </a:xfrm>
          <a:prstGeom prst="roundRect">
            <a:avLst>
              <a:gd name="adj" fmla="val 20000"/>
            </a:avLst>
          </a:prstGeom>
          <a:solidFill>
            <a:srgbClr val="FFFFFF"/>
          </a:solidFill>
          <a:ln w="9525">
            <a:solidFill>
              <a:srgbClr val="095242"/>
            </a:solidFill>
            <a:prstDash val="solid"/>
          </a:ln>
        </p:spPr>
      </p:sp>
      <p:sp>
        <p:nvSpPr>
          <p:cNvPr id="59" name="Text 54"/>
          <p:cNvSpPr/>
          <p:nvPr/>
        </p:nvSpPr>
        <p:spPr>
          <a:xfrm>
            <a:off x="10893247" y="56235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‎1-2-1-5‎</a:t>
            </a:r>
            <a:endParaRPr lang="ar-SA" sz="800" dirty="0"/>
          </a:p>
        </p:txBody>
      </p:sp>
      <p:sp>
        <p:nvSpPr>
          <p:cNvPr id="60" name="Shape 55"/>
          <p:cNvSpPr/>
          <p:nvPr/>
        </p:nvSpPr>
        <p:spPr>
          <a:xfrm>
            <a:off x="10125151" y="5632704"/>
            <a:ext cx="658368" cy="274320"/>
          </a:xfrm>
          <a:prstGeom prst="roundRect">
            <a:avLst>
              <a:gd name="adj" fmla="val 20000"/>
            </a:avLst>
          </a:prstGeom>
          <a:solidFill>
            <a:srgbClr val="FFFFFF"/>
          </a:solidFill>
          <a:ln w="9525">
            <a:solidFill>
              <a:srgbClr val="095242"/>
            </a:solidFill>
            <a:prstDash val="solid"/>
          </a:ln>
        </p:spPr>
      </p:sp>
      <p:sp>
        <p:nvSpPr>
          <p:cNvPr id="61" name="Text 56"/>
          <p:cNvSpPr/>
          <p:nvPr/>
        </p:nvSpPr>
        <p:spPr>
          <a:xfrm>
            <a:off x="10125151" y="56235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‎2-1-1-5‎</a:t>
            </a:r>
            <a:endParaRPr lang="ar-SA" sz="800" dirty="0"/>
          </a:p>
        </p:txBody>
      </p:sp>
      <p:sp>
        <p:nvSpPr>
          <p:cNvPr id="62" name="Shape 57"/>
          <p:cNvSpPr/>
          <p:nvPr/>
        </p:nvSpPr>
        <p:spPr>
          <a:xfrm>
            <a:off x="9357055" y="5632704"/>
            <a:ext cx="658368" cy="274320"/>
          </a:xfrm>
          <a:prstGeom prst="roundRect">
            <a:avLst>
              <a:gd name="adj" fmla="val 20000"/>
            </a:avLst>
          </a:prstGeom>
          <a:solidFill>
            <a:srgbClr val="FFFFFF"/>
          </a:solidFill>
          <a:ln w="9525">
            <a:solidFill>
              <a:srgbClr val="095242"/>
            </a:solidFill>
            <a:prstDash val="solid"/>
          </a:ln>
        </p:spPr>
      </p:sp>
      <p:sp>
        <p:nvSpPr>
          <p:cNvPr id="63" name="Text 58"/>
          <p:cNvSpPr/>
          <p:nvPr/>
        </p:nvSpPr>
        <p:spPr>
          <a:xfrm>
            <a:off x="9357055" y="56235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‎2-1-1-6‎</a:t>
            </a:r>
            <a:endParaRPr lang="ar-SA" sz="800" dirty="0"/>
          </a:p>
        </p:txBody>
      </p:sp>
      <p:sp>
        <p:nvSpPr>
          <p:cNvPr id="64" name="Shape 59"/>
          <p:cNvSpPr/>
          <p:nvPr/>
        </p:nvSpPr>
        <p:spPr>
          <a:xfrm>
            <a:off x="8588959" y="5632704"/>
            <a:ext cx="658368" cy="274320"/>
          </a:xfrm>
          <a:prstGeom prst="roundRect">
            <a:avLst>
              <a:gd name="adj" fmla="val 20000"/>
            </a:avLst>
          </a:prstGeom>
          <a:solidFill>
            <a:srgbClr val="FFFFFF"/>
          </a:solidFill>
          <a:ln w="9525">
            <a:solidFill>
              <a:srgbClr val="095242"/>
            </a:solidFill>
            <a:prstDash val="solid"/>
          </a:ln>
        </p:spPr>
      </p:sp>
      <p:sp>
        <p:nvSpPr>
          <p:cNvPr id="65" name="Text 60"/>
          <p:cNvSpPr/>
          <p:nvPr/>
        </p:nvSpPr>
        <p:spPr>
          <a:xfrm>
            <a:off x="8588959" y="56235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‎2-1-1-7‎</a:t>
            </a:r>
            <a:endParaRPr lang="ar-SA" sz="800" dirty="0"/>
          </a:p>
        </p:txBody>
      </p:sp>
      <p:sp>
        <p:nvSpPr>
          <p:cNvPr id="66" name="Shape 61"/>
          <p:cNvSpPr/>
          <p:nvPr/>
        </p:nvSpPr>
        <p:spPr>
          <a:xfrm>
            <a:off x="7820863" y="5632704"/>
            <a:ext cx="658368" cy="274320"/>
          </a:xfrm>
          <a:prstGeom prst="roundRect">
            <a:avLst>
              <a:gd name="adj" fmla="val 20000"/>
            </a:avLst>
          </a:prstGeom>
          <a:solidFill>
            <a:srgbClr val="FFFFFF"/>
          </a:solidFill>
          <a:ln w="9525">
            <a:solidFill>
              <a:srgbClr val="095242"/>
            </a:solidFill>
            <a:prstDash val="solid"/>
          </a:ln>
        </p:spPr>
      </p:sp>
      <p:sp>
        <p:nvSpPr>
          <p:cNvPr id="67" name="Text 62"/>
          <p:cNvSpPr/>
          <p:nvPr/>
        </p:nvSpPr>
        <p:spPr>
          <a:xfrm>
            <a:off x="7820863" y="56235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‎2-1-1-8‎</a:t>
            </a:r>
            <a:endParaRPr lang="ar-SA" sz="800" dirty="0"/>
          </a:p>
        </p:txBody>
      </p:sp>
      <p:sp>
        <p:nvSpPr>
          <p:cNvPr id="68" name="Shape 63"/>
          <p:cNvSpPr/>
          <p:nvPr/>
        </p:nvSpPr>
        <p:spPr>
          <a:xfrm>
            <a:off x="10893247" y="5998464"/>
            <a:ext cx="658368" cy="274320"/>
          </a:xfrm>
          <a:prstGeom prst="roundRect">
            <a:avLst>
              <a:gd name="adj" fmla="val 20000"/>
            </a:avLst>
          </a:prstGeom>
          <a:solidFill>
            <a:srgbClr val="FFFFFF"/>
          </a:solidFill>
          <a:ln w="9525">
            <a:solidFill>
              <a:srgbClr val="095242"/>
            </a:solidFill>
            <a:prstDash val="solid"/>
          </a:ln>
        </p:spPr>
      </p:sp>
      <p:sp>
        <p:nvSpPr>
          <p:cNvPr id="69" name="Text 64"/>
          <p:cNvSpPr/>
          <p:nvPr/>
        </p:nvSpPr>
        <p:spPr>
          <a:xfrm>
            <a:off x="10893247" y="598932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‎3-2-1-6‎</a:t>
            </a:r>
            <a:endParaRPr lang="ar-SA" sz="800" dirty="0"/>
          </a:p>
        </p:txBody>
      </p:sp>
      <p:sp>
        <p:nvSpPr>
          <p:cNvPr id="70" name="Shape 65"/>
          <p:cNvSpPr/>
          <p:nvPr/>
        </p:nvSpPr>
        <p:spPr>
          <a:xfrm>
            <a:off x="411480" y="5193792"/>
            <a:ext cx="7116775" cy="1261872"/>
          </a:xfrm>
          <a:prstGeom prst="roundRect">
            <a:avLst>
              <a:gd name="adj" fmla="val 5435"/>
            </a:avLst>
          </a:prstGeom>
          <a:solidFill>
            <a:srgbClr val="095242"/>
          </a:solidFill>
          <a:ln/>
          <a:effectLst>
            <a:outerShdw sx="100000" sy="100000" kx="0" ky="0" algn="bl" rotWithShape="0" blurRad="88900" dist="25400" dir="5400000">
              <a:srgbClr val="083528">
                <a:alpha val="22000"/>
              </a:srgbClr>
            </a:outerShdw>
          </a:effectLst>
        </p:spPr>
      </p:sp>
      <p:pic>
        <p:nvPicPr>
          <p:cNvPr id="71" name="Image 3" descr="/tmp/claude-0/-home-user-Mobile1/ab9bbf47-b054-5f6e-be59-70476e095ce8/scratchpad/assets/icons/sparkles_white.png">    </p:cNvPr>
          <p:cNvPicPr>
            <a:picLocks noChangeAspect="1"/>
          </p:cNvPicPr>
          <p:nvPr/>
        </p:nvPicPr>
        <p:blipFill>
          <a:blip r:embed="rId4"/>
          <a:stretch>
            <a:fillRect/>
          </a:stretch>
        </p:blipFill>
        <p:spPr>
          <a:xfrm>
            <a:off x="7052767" y="5303520"/>
            <a:ext cx="256032" cy="256032"/>
          </a:xfrm>
          <a:prstGeom prst="rect">
            <a:avLst/>
          </a:prstGeom>
        </p:spPr>
      </p:pic>
      <p:sp>
        <p:nvSpPr>
          <p:cNvPr id="72" name="Text 66"/>
          <p:cNvSpPr/>
          <p:nvPr/>
        </p:nvSpPr>
        <p:spPr>
          <a:xfrm>
            <a:off x="685800" y="5285232"/>
            <a:ext cx="6248095" cy="292608"/>
          </a:xfrm>
          <a:prstGeom prst="rect">
            <a:avLst/>
          </a:prstGeom>
          <a:noFill/>
          <a:ln/>
        </p:spPr>
        <p:txBody>
          <a:bodyPr wrap="square" lIns="0" tIns="0" rIns="0" bIns="0" rtlCol="0" anchor="t"/>
          <a:lstStyle/>
          <a:p>
            <a:pPr rtl="1" algn="r" indent="0" marL="0">
              <a:buNone/>
            </a:pPr>
            <a:r>
              <a:rPr lang="ar-SA" altLang="en-US" sz="1150" b="1" dirty="0">
                <a:solidFill>
                  <a:srgbClr val="FFFFFF"/>
                </a:solidFill>
                <a:latin typeface="Tajawal" pitchFamily="34" charset="0"/>
                <a:ea typeface="Tajawal" pitchFamily="34" charset="-122"/>
                <a:cs typeface="Tajawal" pitchFamily="34" charset="-120"/>
              </a:rPr>
              <a:t>المخرجات المتوقّعة</a:t>
            </a:r>
            <a:endParaRPr lang="ar-SA" sz="1150" dirty="0"/>
          </a:p>
        </p:txBody>
      </p:sp>
      <p:sp>
        <p:nvSpPr>
          <p:cNvPr id="73" name="Text 67"/>
          <p:cNvSpPr/>
          <p:nvPr/>
        </p:nvSpPr>
        <p:spPr>
          <a:xfrm>
            <a:off x="685800" y="5614416"/>
            <a:ext cx="6549847" cy="749808"/>
          </a:xfrm>
          <a:prstGeom prst="rect">
            <a:avLst/>
          </a:prstGeom>
          <a:noFill/>
          <a:ln/>
        </p:spPr>
        <p:txBody>
          <a:bodyPr wrap="square" lIns="0" tIns="0" rIns="0" bIns="0" rtlCol="0" anchor="t"/>
          <a:lstStyle/>
          <a:p>
            <a:pPr rtl="1" algn="r" indent="0" marL="0">
              <a:lnSpc>
                <a:spcPct val="120000"/>
              </a:lnSpc>
              <a:buNone/>
            </a:pPr>
            <a:r>
              <a:rPr lang="ar-SA" altLang="en-US" sz="960" dirty="0">
                <a:solidFill>
                  <a:srgbClr val="D9E9E3"/>
                </a:solidFill>
                <a:latin typeface="Tajawal" pitchFamily="34" charset="0"/>
                <a:ea typeface="Tajawal" pitchFamily="34" charset="-122"/>
                <a:cs typeface="Tajawal" pitchFamily="34" charset="-120"/>
              </a:rPr>
              <a:t>رفع نسبة المشاركة في المسابقات والأولمبيادات • أندية علمية ومشاريع طلابية موثّقة • تنمية مهارات التفكير العليا والبحث العلمي.</a:t>
            </a:r>
            <a:endParaRPr lang="ar-SA" sz="96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tmp/claude-0/-home-user-Mobile1/ab9bbf47-b054-5f6e-be59-70476e095ce8/scratchpad/assets/bg_content.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665415" y="6519672"/>
            <a:ext cx="4114800" cy="274320"/>
          </a:xfrm>
          <a:prstGeom prst="rect">
            <a:avLst/>
          </a:prstGeom>
          <a:noFill/>
          <a:ln/>
        </p:spPr>
        <p:txBody>
          <a:bodyPr wrap="square" lIns="0" tIns="0" rIns="0" bIns="0" rtlCol="0" anchor="t"/>
          <a:lstStyle/>
          <a:p>
            <a:pPr rtl="1" algn="r" indent="0" marL="0">
              <a:buNone/>
            </a:pPr>
            <a:r>
              <a:rPr lang="ar-SA" altLang="en-US" sz="800" dirty="0">
                <a:solidFill>
                  <a:srgbClr val="7C8F87"/>
                </a:solidFill>
                <a:latin typeface="Tajawal" pitchFamily="34" charset="0"/>
                <a:ea typeface="Tajawal" pitchFamily="34" charset="-122"/>
                <a:cs typeface="Tajawal" pitchFamily="34" charset="-120"/>
              </a:rPr>
              <a:t>الخطة التشغيلية للعام الدراسي ١٤٤٨هـ</a:t>
            </a:r>
            <a:endParaRPr lang="ar-SA" sz="800" dirty="0"/>
          </a:p>
        </p:txBody>
      </p:sp>
      <p:sp>
        <p:nvSpPr>
          <p:cNvPr id="4" name="Text 1"/>
          <p:cNvSpPr/>
          <p:nvPr/>
        </p:nvSpPr>
        <p:spPr>
          <a:xfrm>
            <a:off x="411480" y="6519672"/>
            <a:ext cx="914400" cy="274320"/>
          </a:xfrm>
          <a:prstGeom prst="rect">
            <a:avLst/>
          </a:prstGeom>
          <a:noFill/>
          <a:ln/>
        </p:spPr>
        <p:txBody>
          <a:bodyPr wrap="square" lIns="0" tIns="0" rIns="0" bIns="0" rtlCol="0" anchor="t"/>
          <a:lstStyle/>
          <a:p>
            <a:pPr rtl="1" algn="l" indent="0" marL="0">
              <a:buNone/>
            </a:pPr>
            <a:r>
              <a:rPr lang="ar-SA" altLang="en-US" sz="850" b="1" dirty="0">
                <a:solidFill>
                  <a:srgbClr val="7C8F87"/>
                </a:solidFill>
                <a:latin typeface="Tajawal" pitchFamily="34" charset="0"/>
                <a:ea typeface="Tajawal" pitchFamily="34" charset="-122"/>
                <a:cs typeface="Tajawal" pitchFamily="34" charset="-120"/>
              </a:rPr>
              <a:t>٢٤</a:t>
            </a:r>
            <a:endParaRPr lang="ar-SA" sz="850" dirty="0"/>
          </a:p>
        </p:txBody>
      </p:sp>
      <p:sp>
        <p:nvSpPr>
          <p:cNvPr id="5" name="Shape 2"/>
          <p:cNvSpPr/>
          <p:nvPr/>
        </p:nvSpPr>
        <p:spPr>
          <a:xfrm>
            <a:off x="411480" y="274320"/>
            <a:ext cx="11368735" cy="548640"/>
          </a:xfrm>
          <a:prstGeom prst="roundRect">
            <a:avLst>
              <a:gd name="adj" fmla="val 15000"/>
            </a:avLst>
          </a:prstGeom>
          <a:solidFill>
            <a:srgbClr val="095242"/>
          </a:solidFill>
          <a:ln/>
        </p:spPr>
      </p:sp>
      <p:sp>
        <p:nvSpPr>
          <p:cNvPr id="6" name="Shape 3"/>
          <p:cNvSpPr/>
          <p:nvPr/>
        </p:nvSpPr>
        <p:spPr>
          <a:xfrm>
            <a:off x="576072" y="379476"/>
            <a:ext cx="1371600" cy="338328"/>
          </a:xfrm>
          <a:prstGeom prst="roundRect">
            <a:avLst>
              <a:gd name="adj" fmla="val 18919"/>
            </a:avLst>
          </a:prstGeom>
          <a:solidFill>
            <a:srgbClr val="FFFFFF">
              <a:alpha val="14000"/>
            </a:srgbClr>
          </a:solidFill>
          <a:ln w="6350">
            <a:solidFill>
              <a:srgbClr val="FFFFFF">
                <a:alpha val="45000"/>
              </a:srgbClr>
            </a:solidFill>
            <a:prstDash val="solid"/>
          </a:ln>
        </p:spPr>
      </p:sp>
      <p:sp>
        <p:nvSpPr>
          <p:cNvPr id="7" name="Text 4"/>
          <p:cNvSpPr/>
          <p:nvPr/>
        </p:nvSpPr>
        <p:spPr>
          <a:xfrm>
            <a:off x="576072" y="370332"/>
            <a:ext cx="1371600" cy="338328"/>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البرامج التفصيلية</a:t>
            </a:r>
            <a:endParaRPr lang="ar-SA" sz="950" dirty="0"/>
          </a:p>
        </p:txBody>
      </p:sp>
      <p:sp>
        <p:nvSpPr>
          <p:cNvPr id="8" name="Text 5"/>
          <p:cNvSpPr/>
          <p:nvPr/>
        </p:nvSpPr>
        <p:spPr>
          <a:xfrm>
            <a:off x="2194560" y="274320"/>
            <a:ext cx="9311335" cy="548640"/>
          </a:xfrm>
          <a:prstGeom prst="rect">
            <a:avLst/>
          </a:prstGeom>
          <a:noFill/>
          <a:ln/>
        </p:spPr>
        <p:txBody>
          <a:bodyPr wrap="square" lIns="0" tIns="0" rIns="0" bIns="0" rtlCol="0" anchor="ctr"/>
          <a:lstStyle/>
          <a:p>
            <a:pPr rtl="1" algn="r" indent="0" marL="0">
              <a:buNone/>
            </a:pPr>
            <a:r>
              <a:rPr lang="ar-SA" altLang="en-US" sz="1550" b="1" dirty="0">
                <a:solidFill>
                  <a:srgbClr val="FFFFFF"/>
                </a:solidFill>
                <a:latin typeface="Tajawal" pitchFamily="34" charset="0"/>
                <a:ea typeface="Tajawal" pitchFamily="34" charset="-122"/>
                <a:cs typeface="Tajawal" pitchFamily="34" charset="-120"/>
              </a:rPr>
              <a:t>الهدف الاستراتيجي العام ٥: الاستثمار في الطلاب والمدارس الأولى بالرعاية</a:t>
            </a:r>
            <a:endParaRPr lang="ar-SA" sz="15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914400"/>
        </p:xfrm>
        <a:graphic>
          <a:graphicData uri="http://schemas.openxmlformats.org/drawingml/2006/table">
            <a:tbl>
              <a:tblPr/>
              <a:tblGrid>
                <a:gridCol w="9631375"/>
                <a:gridCol w="1737360"/>
              </a:tblGrid>
              <a:tr h="274320">
                <a:tc>
                  <a:txBody>
                    <a:bodyPr/>
                    <a:lstStyle/>
                    <a:p>
                      <a:pPr rtl="1" algn="r" indent="0" marL="0">
                        <a:buNone/>
                      </a:pPr>
                      <a:r>
                        <a:rPr lang="ar-SA" altLang="en-US" sz="940" b="1" dirty="0">
                          <a:solidFill>
                            <a:srgbClr val="063E33"/>
                          </a:solidFill>
                          <a:latin typeface="Tajawal" pitchFamily="34" charset="0"/>
                          <a:ea typeface="Tajawal" pitchFamily="34" charset="-122"/>
                          <a:cs typeface="Tajawal" pitchFamily="34" charset="-120"/>
                        </a:rPr>
                        <a:t>رعاية الموهوبين وتنمية القدرات</a:t>
                      </a:r>
                      <a:endParaRPr lang="ar-SA" sz="9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المحور الاستراتيجي</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B5E4C"/>
                    </a:solidFill>
                  </a:tcPr>
                </a:tc>
              </a:tr>
              <a:tr h="548640">
                <a:tc>
                  <a:txBody>
                    <a:bodyPr/>
                    <a:lstStyle/>
                    <a:p>
                      <a:pPr rtl="1" algn="r" indent="0" marL="0">
                        <a:buNone/>
                      </a:pPr>
                      <a:r>
                        <a:rPr lang="ar-SA" altLang="en-US" sz="820" dirty="0">
                          <a:solidFill>
                            <a:srgbClr val="33473F"/>
                          </a:solidFill>
                          <a:latin typeface="Tajawal" pitchFamily="34" charset="0"/>
                          <a:ea typeface="Tajawal" pitchFamily="34" charset="-122"/>
                          <a:cs typeface="Tajawal" pitchFamily="34" charset="-120"/>
                        </a:rPr>
                        <a:t>يهدف هذا المحور إلى اكتشاف الطلاب الموهوبين والمتميزين ورعايتهم، وتنمية قدراتهم ومهاراتهم من خلال البرامج الإثرائية والمسابقات العلمية والابتكارية، وتوفير بيئة تعليمية داعمة تسهم في تعزيز التميز والإبداع وتحقيق أقصى إمكاناتهم.</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الهدف التفصيلي (٥-١)</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B5E4C"/>
                    </a:solidFill>
                  </a:tcPr>
                </a:tc>
              </a:tr>
              <a:tr h="420624">
                <a:tc>
                  <a:txBody>
                    <a:bodyPr/>
                    <a:lstStyle/>
                    <a:p>
                      <a:pPr rtl="1" algn="r" indent="0" marL="0">
                        <a:buNone/>
                      </a:pPr>
                      <a:r>
                        <a:rPr lang="ar-SA" altLang="en-US" sz="840" b="1" dirty="0">
                          <a:solidFill>
                            <a:srgbClr val="0B4A56"/>
                          </a:solidFill>
                          <a:latin typeface="Tajawal" pitchFamily="34" charset="0"/>
                          <a:ea typeface="Tajawal" pitchFamily="34" charset="-122"/>
                          <a:cs typeface="Tajawal" pitchFamily="34" charset="-120"/>
                        </a:rPr>
                        <a:t>نسبة الطلاب الموهوبين المستفيدين من البرامج الإثرائية والمسابقات. المستهدف: تنمية مهارات الموهوبين والمتميزين بنسبة ٨٠٪ خلال العام الدراسي ١٤٤٨هـ.</a:t>
                      </a:r>
                      <a:endParaRPr lang="ar-SA" sz="8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مؤشر قياس الأداء (المستهدف)</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B5E4C"/>
                    </a:solidFill>
                  </a:tcPr>
                </a:tc>
              </a:tr>
            </a:tbl>
          </a:graphicData>
        </a:graphic>
      </p:graphicFrame>
      <p:graphicFrame>
        <p:nvGraphicFramePr>
          <p:cNvPr id="49" name="Table 1"/>
          <p:cNvGraphicFramePr>
            <a:graphicFrameLocks noGrp="1"/>
          </p:cNvGraphicFramePr>
          <p:nvPr>
            <p:extLst>
              <p:ext uri="{D42A27DB-BD31-4B8C-83A1-F6EECF244321}">
                <p14:modId xmlns:p14="http://schemas.microsoft.com/office/powerpoint/2010/main" val="1579011935"/>
              </p:ext>
            </p:extLst>
          </p:nvPr>
        </p:nvGraphicFramePr>
        <p:xfrm>
          <a:off x="411480" y="2286000"/>
          <a:ext cx="11368735" cy="914400"/>
        </p:xfrm>
        <a:graphic>
          <a:graphicData uri="http://schemas.openxmlformats.org/drawingml/2006/table">
            <a:tbl>
              <a:tblPr/>
              <a:tblGrid>
                <a:gridCol w="859536"/>
                <a:gridCol w="1243584"/>
                <a:gridCol w="941832"/>
                <a:gridCol w="960120"/>
                <a:gridCol w="914400"/>
                <a:gridCol w="1051560"/>
                <a:gridCol w="1097280"/>
                <a:gridCol w="548640"/>
                <a:gridCol w="365760"/>
                <a:gridCol w="914400"/>
                <a:gridCol w="1371600"/>
                <a:gridCol w="804672"/>
                <a:gridCol w="292608"/>
              </a:tblGrid>
              <a:tr h="274320">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مؤشر تحقق الهدف</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أسلوب التنفيذ</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الفئة المستهدفة</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gridSpan="3">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جهة التنفيذ</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63E33"/>
                    </a:solidFill>
                  </a:tcPr>
                </a:tc>
                <a:tc hMerge="1">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المتطلبات</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grid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زمن التنفيذ</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63E33"/>
                    </a:solidFill>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مصدر البرنامج</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اسم المشروع / البرنامج</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المجال</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r>
              <a:tr h="292608">
                <a:tc vMerge="1">
                  <a:tcPr/>
                </a:tc>
                <a:tc vMerge="1">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الدعم الخارجي</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المساندة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الرئيسة وفريق العمل</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الأسبوع</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ف</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vMerge="1">
                  <a:tcPr/>
                </a:tc>
                <a:tc vMerge="1">
                  <a:tcPr/>
                </a:tc>
                <a:tc vMerge="1">
                  <a:tcPr/>
                </a:tc>
                <a:tc vMerge="1">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ورش، مشاريع</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موهوبون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موهبة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موارد إثرائية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أسبوعي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البرامج الإثرائية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التعليم والتعلم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١</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خطط فردية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موهوبون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موهبة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المرشد</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مرشد موهبة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أسبوعي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التوجيه الطلابي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رعاية الموهوبين</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التعليم والتعلم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٢</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ورش، تحديات</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طلاب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الإشراف</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أدوات تفكير</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أسبوعي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تنمية التفكير والابتكار</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التعليم والتعلم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٣</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أنشطة قرائية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طلاب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الإشراف</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المصادر</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معلم العربية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مكتبة + موارد</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أسبوعي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تنمية المهارات القرائية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نواتج التعلم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٤</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ملفات إنجاز</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طلاب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لا يوجد</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المصادر</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منصات تعلم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مستمر</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التعلم الذاتي</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نواتج التعلم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٥</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مشاريع، عرض</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طلاب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الإشراف</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ورش وأدوات</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شهري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المشاريع التطبيقية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نواتج التعلم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٦</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أبحاث، تحكيم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طلاب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الإشراف</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المصادر</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إشراف بحثي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فصلي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البحث العلمي</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نواتج التعلم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٧</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تجارب، مشاريع</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طلاب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الإشراف</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الحاسب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معلم العلوم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معامل + أدوات</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أسبوعي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STEM</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التعليم والتعلم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٨</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ورش، مشاريع</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طلاب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معلم الحاسب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أجهزة + منصات</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أسبوعي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البرمجة والذكاء الاصطناعي</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التعليم والتعلم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جلسات، مناقشة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طلاب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وزارة الثقافة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أمين المصادر</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كتب + قاعة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أسبوعي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أندية القراءة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نواتج التعلم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١٠</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تأهيل، مشاركة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متفوقون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موهبة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مدربون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موسمي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الأولمبيادات والمسابقات</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نواتج التعلم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١١</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ورش، أنشطة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طلاب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الصحة النفسية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المرشد</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اختصاصي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أسبوعي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التوجيه الطلابي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المهارات العاطفية والاجتماعية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١٢</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الخطة التشغيلية للعام الدراسي ١٤٤٨هـ</dc:title>
  <dc:subject>PptxGenJS Presentation</dc:subject>
  <dc:creator>وزارة التعليم</dc:creator>
  <cp:lastModifiedBy>وزارة التعليم</cp:lastModifiedBy>
  <cp:revision>1</cp:revision>
  <dcterms:created xsi:type="dcterms:W3CDTF">2026-08-02T09:42:12Z</dcterms:created>
  <dcterms:modified xsi:type="dcterms:W3CDTF">2026-08-02T09:42:12Z</dcterms:modified>
</cp:coreProperties>
</file>