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embeddedFontLst>
    <p:embeddedFont>
      <p:font typeface="Tajawal"/>
      <p:regular r:id="rId501"/>
      <p:bold r:id="rId502"/>
    </p:embeddedFont>
    <p:embeddedFont>
      <p:font typeface="Tajawal ExtraBold"/>
      <p:regular r:id="rId50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501" Type="http://schemas.openxmlformats.org/officeDocument/2006/relationships/font" Target="fonts/font1.fntdata"/><Relationship Id="rId502" Type="http://schemas.openxmlformats.org/officeDocument/2006/relationships/font" Target="fonts/font2.fntdata"/><Relationship Id="rId503" Type="http://schemas.openxmlformats.org/officeDocument/2006/relationships/font" Target="fonts/font3.fntdata"/></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البرامج</c:v>
                </c:pt>
              </c:strCache>
            </c:strRef>
          </c:tx>
          <c:spPr>
            <a:solidFill>
              <a:srgbClr val="C9A45C"/>
            </a:solidFill>
            <a:effectLst/>
          </c:spPr>
          <c:invertIfNegative val="0"/>
          <c:dLbls>
            <c:numFmt formatCode="#,##0" sourceLinked="0"/>
            <c:txPr>
              <a:bodyPr/>
              <a:lstStyle/>
              <a:p>
                <a:pPr>
                  <a:defRPr b="0" i="0" strike="noStrike" sz="800" u="none">
                    <a:solidFill>
                      <a:srgbClr val="0F2A21"/>
                    </a:solidFill>
                    <a:latin typeface="Tajawal"/>
                  </a:defRPr>
                </a:pPr>
              </a:p>
            </c:txPr>
            <c:showLegendKey val="0"/>
            <c:showVal val="1"/>
            <c:showCatName val="0"/>
            <c:showSerName val="0"/>
            <c:showPercent val="0"/>
            <c:showBubbleSize val="0"/>
            <c:showLeaderLines val="0"/>
          </c:dLbls>
          <c:dPt>
            <c:idx val="0"/>
            <c:invertIfNegative val="0"/>
            <c:bubble3D val="0"/>
            <c:spPr>
              <a:solidFill>
                <a:srgbClr val="C9A45C"/>
              </a:solidFill>
              <a:effectLst/>
            </c:spPr>
          </c:dPt>
          <c:dPt>
            <c:idx val="1"/>
            <c:invertIfNegative val="0"/>
            <c:bubble3D val="0"/>
            <c:spPr>
              <a:solidFill>
                <a:srgbClr val="095242"/>
              </a:solidFill>
              <a:effectLst/>
            </c:spPr>
          </c:dPt>
          <c:dPt>
            <c:idx val="2"/>
            <c:invertIfNegative val="0"/>
            <c:bubble3D val="0"/>
            <c:spPr>
              <a:solidFill>
                <a:srgbClr val="095242"/>
              </a:solidFill>
              <a:effectLst/>
            </c:spPr>
          </c:dPt>
          <c:dPt>
            <c:idx val="3"/>
            <c:invertIfNegative val="0"/>
            <c:bubble3D val="0"/>
            <c:spPr>
              <a:solidFill>
                <a:srgbClr val="095242"/>
              </a:solidFill>
              <a:effectLst/>
            </c:spPr>
          </c:dPt>
          <c:dPt>
            <c:idx val="4"/>
            <c:invertIfNegative val="0"/>
            <c:bubble3D val="0"/>
            <c:spPr>
              <a:solidFill>
                <a:srgbClr val="095242"/>
              </a:solidFill>
              <a:effectLst/>
            </c:spPr>
          </c:dPt>
          <c:dPt>
            <c:idx val="5"/>
            <c:invertIfNegative val="0"/>
            <c:bubble3D val="0"/>
            <c:spPr>
              <a:solidFill>
                <a:srgbClr val="095242"/>
              </a:solidFill>
              <a:effectLst/>
            </c:spPr>
          </c:dPt>
          <c:dPt>
            <c:idx val="6"/>
            <c:invertIfNegative val="0"/>
            <c:bubble3D val="0"/>
            <c:spPr>
              <a:solidFill>
                <a:srgbClr val="095242"/>
              </a:solidFill>
              <a:effectLst/>
            </c:spPr>
          </c:dPt>
          <c:dPt>
            <c:idx val="7"/>
            <c:invertIfNegative val="0"/>
            <c:bubble3D val="0"/>
            <c:spPr>
              <a:solidFill>
                <a:srgbClr val="095242"/>
              </a:solidFill>
              <a:effectLst/>
            </c:spPr>
          </c:dPt>
          <c:dPt>
            <c:idx val="8"/>
            <c:invertIfNegative val="0"/>
            <c:bubble3D val="0"/>
            <c:spPr>
              <a:solidFill>
                <a:srgbClr val="095242"/>
              </a:solidFill>
              <a:effectLst/>
            </c:spPr>
          </c:dPt>
          <c:dPt>
            <c:idx val="9"/>
            <c:invertIfNegative val="0"/>
            <c:bubble3D val="0"/>
            <c:spPr>
              <a:solidFill>
                <a:srgbClr val="095242"/>
              </a:solidFill>
              <a:effectLst/>
            </c:spPr>
          </c:dPt>
          <c:cat>
            <c:multiLvlStrRef>
              <c:f>Sheet1!$A$2:$A$11</c:f>
              <c:multiLvlStrCache>
                <c:ptCount val="10"/>
                <c:lvl>
                  <c:pt idx="0">
                    <c:v>هـ١٠</c:v>
                  </c:pt>
                  <c:pt idx="1">
                    <c:v>هـ٩</c:v>
                  </c:pt>
                  <c:pt idx="2">
                    <c:v>هـ٨</c:v>
                  </c:pt>
                  <c:pt idx="3">
                    <c:v>هـ٧</c:v>
                  </c:pt>
                  <c:pt idx="4">
                    <c:v>هـ٦</c:v>
                  </c:pt>
                  <c:pt idx="5">
                    <c:v>هـ٥</c:v>
                  </c:pt>
                  <c:pt idx="6">
                    <c:v>هـ٤</c:v>
                  </c:pt>
                  <c:pt idx="7">
                    <c:v>هـ٣</c:v>
                  </c:pt>
                  <c:pt idx="8">
                    <c:v>هـ٢</c:v>
                  </c:pt>
                  <c:pt idx="9">
                    <c:v>هـ١</c:v>
                  </c:pt>
                </c:lvl>
              </c:multiLvlStrCache>
            </c:multiLvlStrRef>
          </c:cat>
          <c:val>
            <c:numRef>
              <c:f>Sheet1!$B$2:$B$11</c:f>
              <c:numCache>
                <c:formatCode>General</c:formatCode>
                <c:ptCount val="10"/>
                <c:pt idx="0">
                  <c:v>15</c:v>
                </c:pt>
                <c:pt idx="1">
                  <c:v>10</c:v>
                </c:pt>
                <c:pt idx="2">
                  <c:v>10</c:v>
                </c:pt>
                <c:pt idx="3">
                  <c:v>9</c:v>
                </c:pt>
                <c:pt idx="4">
                  <c:v>11</c:v>
                </c:pt>
                <c:pt idx="5">
                  <c:v>12</c:v>
                </c:pt>
                <c:pt idx="6">
                  <c:v>10</c:v>
                </c:pt>
                <c:pt idx="7">
                  <c:v>12</c:v>
                </c:pt>
                <c:pt idx="8">
                  <c:v>12</c:v>
                </c:pt>
                <c:pt idx="9">
                  <c:v>11</c:v>
                </c:pt>
              </c:numCache>
            </c:numRef>
          </c:val>
        </c:ser>
        <c:dLbls>
          <c:numFmt formatCode="#,##0" sourceLinked="0"/>
          <c:txPr>
            <a:bodyPr/>
            <a:lstStyle/>
            <a:p>
              <a:pPr>
                <a:defRPr b="0" i="0" strike="noStrike" sz="800" u="none">
                  <a:solidFill>
                    <a:srgbClr val="0F2A21"/>
                  </a:solidFill>
                  <a:latin typeface="Tajawal"/>
                </a:defRPr>
              </a:pPr>
            </a:p>
          </c:txPr>
          <c:showLegendKey val="0"/>
          <c:showVal val="1"/>
          <c:showCatName val="0"/>
          <c:showSerName val="0"/>
          <c:showPercent val="0"/>
          <c:showBubbleSize val="0"/>
          <c:showLeaderLines val="0"/>
        </c:dLbls>
        <c:gapWidth val="28"/>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7C8F87"/>
                </a:solidFill>
                <a:latin typeface="Tajawal"/>
              </a:defRPr>
            </a:pPr>
            <a:endParaRPr lang="en-US"/>
          </a:p>
        </c:txPr>
        <c:crossAx val="2094734552"/>
        <c:crosses val="autoZero"/>
        <c:auto val="1"/>
        <c:lblAlgn val="ctr"/>
        <c:noMultiLvlLbl val="1"/>
      </c:catAx>
      <c:valAx>
        <c:axId val="2094734552"/>
        <c:scaling>
          <c:orientation val="minMax"/>
          <c:max val="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claude-0/-home-user-Mobile1/ab9bbf47-b054-5f6e-be59-70476e095ce8/scratchpad/assets/bg_cover.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white.png">    </p:cNvPr>
          <p:cNvPicPr>
            <a:picLocks noChangeAspect="1"/>
          </p:cNvPicPr>
          <p:nvPr/>
        </p:nvPicPr>
        <p:blipFill>
          <a:blip r:embed="rId2"/>
          <a:stretch>
            <a:fillRect/>
          </a:stretch>
        </p:blipFill>
        <p:spPr>
          <a:xfrm>
            <a:off x="5336896" y="566928"/>
            <a:ext cx="1517904" cy="1174090"/>
          </a:xfrm>
          <a:prstGeom prst="rect">
            <a:avLst/>
          </a:prstGeom>
        </p:spPr>
      </p:pic>
      <p:sp>
        <p:nvSpPr>
          <p:cNvPr id="4" name="Shape 0"/>
          <p:cNvSpPr/>
          <p:nvPr/>
        </p:nvSpPr>
        <p:spPr>
          <a:xfrm>
            <a:off x="4724248" y="1993392"/>
            <a:ext cx="1170432" cy="0"/>
          </a:xfrm>
          <a:prstGeom prst="line">
            <a:avLst/>
          </a:prstGeom>
          <a:noFill/>
          <a:ln w="12700">
            <a:solidFill>
              <a:srgbClr val="C9A45C"/>
            </a:solidFill>
            <a:prstDash val="solid"/>
          </a:ln>
        </p:spPr>
      </p:sp>
      <p:sp>
        <p:nvSpPr>
          <p:cNvPr id="5" name="Shape 1"/>
          <p:cNvSpPr/>
          <p:nvPr/>
        </p:nvSpPr>
        <p:spPr>
          <a:xfrm>
            <a:off x="6297016" y="1993392"/>
            <a:ext cx="1170432" cy="0"/>
          </a:xfrm>
          <a:prstGeom prst="line">
            <a:avLst/>
          </a:prstGeom>
          <a:noFill/>
          <a:ln w="12700">
            <a:solidFill>
              <a:srgbClr val="C9A45C"/>
            </a:solidFill>
            <a:prstDash val="solid"/>
          </a:ln>
        </p:spPr>
      </p:sp>
      <p:sp>
        <p:nvSpPr>
          <p:cNvPr id="6" name="Shape 2"/>
          <p:cNvSpPr/>
          <p:nvPr/>
        </p:nvSpPr>
        <p:spPr>
          <a:xfrm>
            <a:off x="6045556" y="1943100"/>
            <a:ext cx="100584" cy="100584"/>
          </a:xfrm>
          <a:prstGeom prst="diamond">
            <a:avLst/>
          </a:prstGeom>
          <a:solidFill>
            <a:srgbClr val="C9A45C"/>
          </a:solidFill>
          <a:ln/>
        </p:spPr>
      </p:sp>
      <p:sp>
        <p:nvSpPr>
          <p:cNvPr id="7" name="Text 3"/>
          <p:cNvSpPr/>
          <p:nvPr/>
        </p:nvSpPr>
        <p:spPr>
          <a:xfrm>
            <a:off x="1371600" y="2212848"/>
            <a:ext cx="9448495" cy="1051560"/>
          </a:xfrm>
          <a:prstGeom prst="rect">
            <a:avLst/>
          </a:prstGeom>
          <a:noFill/>
          <a:ln/>
        </p:spPr>
        <p:txBody>
          <a:bodyPr wrap="square" lIns="0" tIns="0" rIns="0" bIns="0" rtlCol="0" anchor="ctr"/>
          <a:lstStyle/>
          <a:p>
            <a:pPr rtl="1" algn="ctr" indent="0" marL="0">
              <a:buNone/>
            </a:pPr>
            <a:r>
              <a:rPr lang="ar-SA" altLang="en-US" sz="5400" dirty="0">
                <a:solidFill>
                  <a:srgbClr val="FFFFFF"/>
                </a:solidFill>
                <a:latin typeface="Tajawal ExtraBold" pitchFamily="34" charset="0"/>
                <a:ea typeface="Tajawal ExtraBold" pitchFamily="34" charset="-122"/>
                <a:cs typeface="Tajawal ExtraBold" pitchFamily="34" charset="-120"/>
              </a:rPr>
              <a:t>الخطة التشغيلية</a:t>
            </a:r>
            <a:endParaRPr lang="ar-SA" sz="5400" dirty="0"/>
          </a:p>
        </p:txBody>
      </p:sp>
      <p:sp>
        <p:nvSpPr>
          <p:cNvPr id="8" name="Text 4"/>
          <p:cNvSpPr/>
          <p:nvPr/>
        </p:nvSpPr>
        <p:spPr>
          <a:xfrm>
            <a:off x="1371600" y="3310128"/>
            <a:ext cx="9448495" cy="502920"/>
          </a:xfrm>
          <a:prstGeom prst="rect">
            <a:avLst/>
          </a:prstGeom>
          <a:noFill/>
          <a:ln/>
        </p:spPr>
        <p:txBody>
          <a:bodyPr wrap="square" lIns="0" tIns="0" rIns="0" bIns="0" rtlCol="0" anchor="ctr"/>
          <a:lstStyle/>
          <a:p>
            <a:pPr rtl="1" algn="ctr" indent="0" marL="0">
              <a:buNone/>
            </a:pPr>
            <a:r>
              <a:rPr lang="ar-SA" altLang="en-US" sz="2400" b="1" dirty="0">
                <a:solidFill>
                  <a:srgbClr val="C9A45C"/>
                </a:solidFill>
                <a:latin typeface="Tajawal" pitchFamily="34" charset="0"/>
                <a:ea typeface="Tajawal" pitchFamily="34" charset="-122"/>
                <a:cs typeface="Tajawal" pitchFamily="34" charset="-120"/>
              </a:rPr>
              <a:t>للعام الدراسي ١٤٤٨هـ</a:t>
            </a:r>
            <a:endParaRPr lang="ar-SA" sz="2400" dirty="0"/>
          </a:p>
        </p:txBody>
      </p:sp>
      <p:sp>
        <p:nvSpPr>
          <p:cNvPr id="9" name="Shape 5"/>
          <p:cNvSpPr/>
          <p:nvPr/>
        </p:nvSpPr>
        <p:spPr>
          <a:xfrm>
            <a:off x="5135728" y="4005072"/>
            <a:ext cx="1920240" cy="457200"/>
          </a:xfrm>
          <a:prstGeom prst="roundRect">
            <a:avLst>
              <a:gd name="adj" fmla="val 50000"/>
            </a:avLst>
          </a:prstGeom>
          <a:solidFill>
            <a:srgbClr val="FFFFFF">
              <a:alpha val="12000"/>
            </a:srgbClr>
          </a:solidFill>
          <a:ln w="12700">
            <a:solidFill>
              <a:srgbClr val="C9A45C"/>
            </a:solidFill>
            <a:prstDash val="solid"/>
          </a:ln>
        </p:spPr>
      </p:sp>
      <p:sp>
        <p:nvSpPr>
          <p:cNvPr id="10" name="Text 6"/>
          <p:cNvSpPr/>
          <p:nvPr/>
        </p:nvSpPr>
        <p:spPr>
          <a:xfrm>
            <a:off x="5135728" y="3986784"/>
            <a:ext cx="1920240" cy="457200"/>
          </a:xfrm>
          <a:prstGeom prst="rect">
            <a:avLst/>
          </a:prstGeom>
          <a:noFill/>
          <a:ln/>
        </p:spPr>
        <p:txBody>
          <a:bodyPr wrap="square" lIns="0" tIns="0" rIns="0" bIns="0" rtlCol="0" anchor="ctr"/>
          <a:lstStyle/>
          <a:p>
            <a:pPr rtl="1" algn="ctr" indent="0" marL="0">
              <a:buNone/>
            </a:pPr>
            <a:r>
              <a:rPr lang="ar-SA" altLang="en-US" sz="1500" b="1" dirty="0">
                <a:solidFill>
                  <a:srgbClr val="FFFFFF"/>
                </a:solidFill>
                <a:latin typeface="Tajawal" pitchFamily="34" charset="0"/>
                <a:ea typeface="Tajawal" pitchFamily="34" charset="-122"/>
                <a:cs typeface="Tajawal" pitchFamily="34" charset="-120"/>
              </a:rPr>
              <a:t>جميع المراحل</a:t>
            </a:r>
            <a:endParaRPr lang="ar-SA" sz="1500" dirty="0"/>
          </a:p>
        </p:txBody>
      </p:sp>
      <p:sp>
        <p:nvSpPr>
          <p:cNvPr id="11" name="Shape 7"/>
          <p:cNvSpPr/>
          <p:nvPr/>
        </p:nvSpPr>
        <p:spPr>
          <a:xfrm>
            <a:off x="2621128" y="4828032"/>
            <a:ext cx="6949440" cy="1024128"/>
          </a:xfrm>
          <a:prstGeom prst="roundRect">
            <a:avLst>
              <a:gd name="adj" fmla="val 8929"/>
            </a:avLst>
          </a:prstGeom>
          <a:solidFill>
            <a:srgbClr val="FFFFFF">
              <a:alpha val="10000"/>
            </a:srgbClr>
          </a:solidFill>
          <a:ln w="9525">
            <a:solidFill>
              <a:srgbClr val="FFFFFF">
                <a:alpha val="45000"/>
              </a:srgbClr>
            </a:solidFill>
            <a:prstDash val="solid"/>
          </a:ln>
        </p:spPr>
      </p:sp>
      <p:sp>
        <p:nvSpPr>
          <p:cNvPr id="12" name="Text 8"/>
          <p:cNvSpPr/>
          <p:nvPr/>
        </p:nvSpPr>
        <p:spPr>
          <a:xfrm>
            <a:off x="3032608" y="4937760"/>
            <a:ext cx="6126480" cy="402336"/>
          </a:xfrm>
          <a:prstGeom prst="rect">
            <a:avLst/>
          </a:prstGeom>
          <a:noFill/>
          <a:ln/>
        </p:spPr>
        <p:txBody>
          <a:bodyPr wrap="square" lIns="0" tIns="0" rIns="0" bIns="0" rtlCol="0" anchor="ctr"/>
          <a:lstStyle/>
          <a:p>
            <a:pPr algn="r" indent="0" marL="0">
              <a:buNone/>
            </a:pPr>
            <a:r>
              <a:rPr lang="ar-SA" altLang="en-US" sz="1400" b="1" dirty="0">
                <a:solidFill>
                  <a:srgbClr val="FFFFFF"/>
                </a:solidFill>
                <a:latin typeface="Tajawal" pitchFamily="34" charset="0"/>
                <a:ea typeface="Tajawal" pitchFamily="34" charset="-122"/>
                <a:cs typeface="Tajawal" pitchFamily="34" charset="-120"/>
              </a:rPr>
              <a:t>اسم المدرسة:  </a:t>
            </a:r>
            <a:pPr algn="r" indent="0" marL="0">
              <a:buNone/>
            </a:pPr>
            <a:r>
              <a:rPr lang="ar-SA" altLang="en-US" sz="1300" dirty="0">
                <a:solidFill>
                  <a:srgbClr val="D8E6E1"/>
                </a:solidFill>
                <a:latin typeface="Tajawal" pitchFamily="34" charset="0"/>
                <a:ea typeface="Tajawal" pitchFamily="34" charset="-122"/>
                <a:cs typeface="Tajawal" pitchFamily="34" charset="-120"/>
              </a:rPr>
              <a:t>……………………………………</a:t>
            </a:r>
            <a:endParaRPr lang="ar-SA" sz="1100" dirty="0"/>
          </a:p>
        </p:txBody>
      </p:sp>
      <p:sp>
        <p:nvSpPr>
          <p:cNvPr id="13" name="Text 9"/>
          <p:cNvSpPr/>
          <p:nvPr/>
        </p:nvSpPr>
        <p:spPr>
          <a:xfrm>
            <a:off x="3032608" y="5358384"/>
            <a:ext cx="6126480" cy="402336"/>
          </a:xfrm>
          <a:prstGeom prst="rect">
            <a:avLst/>
          </a:prstGeom>
          <a:noFill/>
          <a:ln/>
        </p:spPr>
        <p:txBody>
          <a:bodyPr wrap="square" lIns="0" tIns="0" rIns="0" bIns="0" rtlCol="0" anchor="ctr"/>
          <a:lstStyle/>
          <a:p>
            <a:pPr algn="r" indent="0" marL="0">
              <a:buNone/>
            </a:pPr>
            <a:r>
              <a:rPr lang="ar-SA" altLang="en-US" sz="1400" b="1" dirty="0">
                <a:solidFill>
                  <a:srgbClr val="FFFFFF"/>
                </a:solidFill>
                <a:latin typeface="Tajawal" pitchFamily="34" charset="0"/>
                <a:ea typeface="Tajawal" pitchFamily="34" charset="-122"/>
                <a:cs typeface="Tajawal" pitchFamily="34" charset="-120"/>
              </a:rPr>
              <a:t>اسم المديرة:  </a:t>
            </a:r>
            <a:pPr algn="r" indent="0" marL="0">
              <a:buNone/>
            </a:pPr>
            <a:r>
              <a:rPr lang="ar-SA" altLang="en-US" sz="1300" dirty="0">
                <a:solidFill>
                  <a:srgbClr val="D8E6E1"/>
                </a:solidFill>
                <a:latin typeface="Tajawal" pitchFamily="34" charset="0"/>
                <a:ea typeface="Tajawal" pitchFamily="34" charset="-122"/>
                <a:cs typeface="Tajawal" pitchFamily="34" charset="-120"/>
              </a:rPr>
              <a:t>……………………………………</a:t>
            </a:r>
            <a:endParaRPr lang="ar-SA" sz="1100" dirty="0"/>
          </a:p>
        </p:txBody>
      </p:sp>
      <p:sp>
        <p:nvSpPr>
          <p:cNvPr id="14" name="Text 10"/>
          <p:cNvSpPr/>
          <p:nvPr/>
        </p:nvSpPr>
        <p:spPr>
          <a:xfrm>
            <a:off x="1371600" y="6199632"/>
            <a:ext cx="9448495" cy="365760"/>
          </a:xfrm>
          <a:prstGeom prst="rect">
            <a:avLst/>
          </a:prstGeom>
          <a:noFill/>
          <a:ln/>
        </p:spPr>
        <p:txBody>
          <a:bodyPr wrap="square" lIns="0" tIns="0" rIns="0" bIns="0" rtlCol="0" anchor="t"/>
          <a:lstStyle/>
          <a:p>
            <a:pPr rtl="1" algn="ctr" indent="0" marL="0">
              <a:buNone/>
            </a:pPr>
            <a:r>
              <a:rPr lang="ar-SA" altLang="en-US" sz="1150" dirty="0">
                <a:solidFill>
                  <a:srgbClr val="BFD6CE"/>
                </a:solidFill>
                <a:latin typeface="Tajawal" pitchFamily="34" charset="0"/>
                <a:ea typeface="Tajawal" pitchFamily="34" charset="-122"/>
                <a:cs typeface="Tajawal" pitchFamily="34" charset="-120"/>
              </a:rPr>
              <a:t>الملف الإجرائي المدرسي · ١٤٤٨هـ</a:t>
            </a:r>
            <a:endParaRPr lang="ar-SA"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listchecks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فهرس المحتويات</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٠٢</a:t>
            </a:r>
            <a:endParaRPr lang="ar-SA" sz="850" dirty="0"/>
          </a:p>
        </p:txBody>
      </p:sp>
      <p:sp>
        <p:nvSpPr>
          <p:cNvPr id="9" name="Shape 4"/>
          <p:cNvSpPr/>
          <p:nvPr/>
        </p:nvSpPr>
        <p:spPr>
          <a:xfrm>
            <a:off x="8136941" y="1298448"/>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10" name="Shape 5"/>
          <p:cNvSpPr/>
          <p:nvPr/>
        </p:nvSpPr>
        <p:spPr>
          <a:xfrm>
            <a:off x="11213287" y="1508760"/>
            <a:ext cx="365760" cy="365760"/>
          </a:xfrm>
          <a:prstGeom prst="roundRect">
            <a:avLst>
              <a:gd name="adj" fmla="val 22000"/>
            </a:avLst>
          </a:prstGeom>
          <a:solidFill>
            <a:srgbClr val="095242"/>
          </a:solidFill>
          <a:ln/>
        </p:spPr>
      </p:sp>
      <p:sp>
        <p:nvSpPr>
          <p:cNvPr id="11" name="Text 6"/>
          <p:cNvSpPr/>
          <p:nvPr/>
        </p:nvSpPr>
        <p:spPr>
          <a:xfrm>
            <a:off x="11213287" y="1495044"/>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٠١</a:t>
            </a:r>
            <a:endParaRPr lang="ar-SA" sz="1050" dirty="0"/>
          </a:p>
        </p:txBody>
      </p:sp>
      <p:sp>
        <p:nvSpPr>
          <p:cNvPr id="12" name="Text 7"/>
          <p:cNvSpPr/>
          <p:nvPr/>
        </p:nvSpPr>
        <p:spPr>
          <a:xfrm>
            <a:off x="8365541" y="1298448"/>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المقدمة</a:t>
            </a:r>
            <a:endParaRPr lang="ar-SA" sz="1300" dirty="0"/>
          </a:p>
        </p:txBody>
      </p:sp>
      <p:sp>
        <p:nvSpPr>
          <p:cNvPr id="13" name="Shape 8"/>
          <p:cNvSpPr/>
          <p:nvPr/>
        </p:nvSpPr>
        <p:spPr>
          <a:xfrm>
            <a:off x="4274210" y="1298448"/>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14" name="Shape 9"/>
          <p:cNvSpPr/>
          <p:nvPr/>
        </p:nvSpPr>
        <p:spPr>
          <a:xfrm>
            <a:off x="7350557" y="1508760"/>
            <a:ext cx="365760" cy="365760"/>
          </a:xfrm>
          <a:prstGeom prst="roundRect">
            <a:avLst>
              <a:gd name="adj" fmla="val 22000"/>
            </a:avLst>
          </a:prstGeom>
          <a:solidFill>
            <a:srgbClr val="095242"/>
          </a:solidFill>
          <a:ln/>
        </p:spPr>
      </p:sp>
      <p:sp>
        <p:nvSpPr>
          <p:cNvPr id="15" name="Text 10"/>
          <p:cNvSpPr/>
          <p:nvPr/>
        </p:nvSpPr>
        <p:spPr>
          <a:xfrm>
            <a:off x="7350557" y="1495044"/>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٠٢</a:t>
            </a:r>
            <a:endParaRPr lang="ar-SA" sz="1050" dirty="0"/>
          </a:p>
        </p:txBody>
      </p:sp>
      <p:sp>
        <p:nvSpPr>
          <p:cNvPr id="16" name="Text 11"/>
          <p:cNvSpPr/>
          <p:nvPr/>
        </p:nvSpPr>
        <p:spPr>
          <a:xfrm>
            <a:off x="4502810" y="1298448"/>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فريق إعداد الخطة</a:t>
            </a:r>
            <a:endParaRPr lang="ar-SA" sz="1300" dirty="0"/>
          </a:p>
        </p:txBody>
      </p:sp>
      <p:sp>
        <p:nvSpPr>
          <p:cNvPr id="17" name="Shape 12"/>
          <p:cNvSpPr/>
          <p:nvPr/>
        </p:nvSpPr>
        <p:spPr>
          <a:xfrm>
            <a:off x="411480" y="1298448"/>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18" name="Shape 13"/>
          <p:cNvSpPr/>
          <p:nvPr/>
        </p:nvSpPr>
        <p:spPr>
          <a:xfrm>
            <a:off x="3487826" y="1508760"/>
            <a:ext cx="365760" cy="365760"/>
          </a:xfrm>
          <a:prstGeom prst="roundRect">
            <a:avLst>
              <a:gd name="adj" fmla="val 22000"/>
            </a:avLst>
          </a:prstGeom>
          <a:solidFill>
            <a:srgbClr val="095242"/>
          </a:solidFill>
          <a:ln/>
        </p:spPr>
      </p:sp>
      <p:sp>
        <p:nvSpPr>
          <p:cNvPr id="19" name="Text 14"/>
          <p:cNvSpPr/>
          <p:nvPr/>
        </p:nvSpPr>
        <p:spPr>
          <a:xfrm>
            <a:off x="3487826" y="1495044"/>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٠٣</a:t>
            </a:r>
            <a:endParaRPr lang="ar-SA" sz="1050" dirty="0"/>
          </a:p>
        </p:txBody>
      </p:sp>
      <p:sp>
        <p:nvSpPr>
          <p:cNvPr id="20" name="Text 15"/>
          <p:cNvSpPr/>
          <p:nvPr/>
        </p:nvSpPr>
        <p:spPr>
          <a:xfrm>
            <a:off x="640080" y="1298448"/>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البيانات الإحصائية</a:t>
            </a:r>
            <a:endParaRPr lang="ar-SA" sz="1300" dirty="0"/>
          </a:p>
        </p:txBody>
      </p:sp>
      <p:sp>
        <p:nvSpPr>
          <p:cNvPr id="21" name="Shape 16"/>
          <p:cNvSpPr/>
          <p:nvPr/>
        </p:nvSpPr>
        <p:spPr>
          <a:xfrm>
            <a:off x="8136941" y="2286000"/>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22" name="Shape 17"/>
          <p:cNvSpPr/>
          <p:nvPr/>
        </p:nvSpPr>
        <p:spPr>
          <a:xfrm>
            <a:off x="11213287" y="2496312"/>
            <a:ext cx="365760" cy="365760"/>
          </a:xfrm>
          <a:prstGeom prst="roundRect">
            <a:avLst>
              <a:gd name="adj" fmla="val 22000"/>
            </a:avLst>
          </a:prstGeom>
          <a:solidFill>
            <a:srgbClr val="095242"/>
          </a:solidFill>
          <a:ln/>
        </p:spPr>
      </p:sp>
      <p:sp>
        <p:nvSpPr>
          <p:cNvPr id="23" name="Text 18"/>
          <p:cNvSpPr/>
          <p:nvPr/>
        </p:nvSpPr>
        <p:spPr>
          <a:xfrm>
            <a:off x="11213287" y="2482596"/>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٠٤</a:t>
            </a:r>
            <a:endParaRPr lang="ar-SA" sz="1050" dirty="0"/>
          </a:p>
        </p:txBody>
      </p:sp>
      <p:sp>
        <p:nvSpPr>
          <p:cNvPr id="24" name="Text 19"/>
          <p:cNvSpPr/>
          <p:nvPr/>
        </p:nvSpPr>
        <p:spPr>
          <a:xfrm>
            <a:off x="8365541" y="2286000"/>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بيانات الطلاب والمعلمين</a:t>
            </a:r>
            <a:endParaRPr lang="ar-SA" sz="1300" dirty="0"/>
          </a:p>
        </p:txBody>
      </p:sp>
      <p:sp>
        <p:nvSpPr>
          <p:cNvPr id="25" name="Shape 20"/>
          <p:cNvSpPr/>
          <p:nvPr/>
        </p:nvSpPr>
        <p:spPr>
          <a:xfrm>
            <a:off x="4274210" y="2286000"/>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26" name="Shape 21"/>
          <p:cNvSpPr/>
          <p:nvPr/>
        </p:nvSpPr>
        <p:spPr>
          <a:xfrm>
            <a:off x="7350557" y="2496312"/>
            <a:ext cx="365760" cy="365760"/>
          </a:xfrm>
          <a:prstGeom prst="roundRect">
            <a:avLst>
              <a:gd name="adj" fmla="val 22000"/>
            </a:avLst>
          </a:prstGeom>
          <a:solidFill>
            <a:srgbClr val="095242"/>
          </a:solidFill>
          <a:ln/>
        </p:spPr>
      </p:sp>
      <p:sp>
        <p:nvSpPr>
          <p:cNvPr id="27" name="Text 22"/>
          <p:cNvSpPr/>
          <p:nvPr/>
        </p:nvSpPr>
        <p:spPr>
          <a:xfrm>
            <a:off x="7350557" y="2482596"/>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٠٥</a:t>
            </a:r>
            <a:endParaRPr lang="ar-SA" sz="1050" dirty="0"/>
          </a:p>
        </p:txBody>
      </p:sp>
      <p:sp>
        <p:nvSpPr>
          <p:cNvPr id="28" name="Text 23"/>
          <p:cNvSpPr/>
          <p:nvPr/>
        </p:nvSpPr>
        <p:spPr>
          <a:xfrm>
            <a:off x="4502810" y="2286000"/>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الرؤية والرسالة والقيم</a:t>
            </a:r>
            <a:endParaRPr lang="ar-SA" sz="1300" dirty="0"/>
          </a:p>
        </p:txBody>
      </p:sp>
      <p:sp>
        <p:nvSpPr>
          <p:cNvPr id="29" name="Shape 24"/>
          <p:cNvSpPr/>
          <p:nvPr/>
        </p:nvSpPr>
        <p:spPr>
          <a:xfrm>
            <a:off x="411480" y="2286000"/>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30" name="Shape 25"/>
          <p:cNvSpPr/>
          <p:nvPr/>
        </p:nvSpPr>
        <p:spPr>
          <a:xfrm>
            <a:off x="3487826" y="2496312"/>
            <a:ext cx="365760" cy="365760"/>
          </a:xfrm>
          <a:prstGeom prst="roundRect">
            <a:avLst>
              <a:gd name="adj" fmla="val 22000"/>
            </a:avLst>
          </a:prstGeom>
          <a:solidFill>
            <a:srgbClr val="095242"/>
          </a:solidFill>
          <a:ln/>
        </p:spPr>
      </p:sp>
      <p:sp>
        <p:nvSpPr>
          <p:cNvPr id="31" name="Text 26"/>
          <p:cNvSpPr/>
          <p:nvPr/>
        </p:nvSpPr>
        <p:spPr>
          <a:xfrm>
            <a:off x="3487826" y="2482596"/>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٠٦</a:t>
            </a:r>
            <a:endParaRPr lang="ar-SA" sz="1050" dirty="0"/>
          </a:p>
        </p:txBody>
      </p:sp>
      <p:sp>
        <p:nvSpPr>
          <p:cNvPr id="32" name="Text 27"/>
          <p:cNvSpPr/>
          <p:nvPr/>
        </p:nvSpPr>
        <p:spPr>
          <a:xfrm>
            <a:off x="640080" y="2286000"/>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مرتكزات ومصادر الخطة</a:t>
            </a:r>
            <a:endParaRPr lang="ar-SA" sz="1300" dirty="0"/>
          </a:p>
        </p:txBody>
      </p:sp>
      <p:sp>
        <p:nvSpPr>
          <p:cNvPr id="33" name="Shape 28"/>
          <p:cNvSpPr/>
          <p:nvPr/>
        </p:nvSpPr>
        <p:spPr>
          <a:xfrm>
            <a:off x="8136941" y="3273552"/>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34" name="Shape 29"/>
          <p:cNvSpPr/>
          <p:nvPr/>
        </p:nvSpPr>
        <p:spPr>
          <a:xfrm>
            <a:off x="11213287" y="3483864"/>
            <a:ext cx="365760" cy="365760"/>
          </a:xfrm>
          <a:prstGeom prst="roundRect">
            <a:avLst>
              <a:gd name="adj" fmla="val 22000"/>
            </a:avLst>
          </a:prstGeom>
          <a:solidFill>
            <a:srgbClr val="095242"/>
          </a:solidFill>
          <a:ln/>
        </p:spPr>
      </p:sp>
      <p:sp>
        <p:nvSpPr>
          <p:cNvPr id="35" name="Text 30"/>
          <p:cNvSpPr/>
          <p:nvPr/>
        </p:nvSpPr>
        <p:spPr>
          <a:xfrm>
            <a:off x="11213287" y="3470148"/>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٠٧</a:t>
            </a:r>
            <a:endParaRPr lang="ar-SA" sz="1050" dirty="0"/>
          </a:p>
        </p:txBody>
      </p:sp>
      <p:sp>
        <p:nvSpPr>
          <p:cNvPr id="36" name="Text 31"/>
          <p:cNvSpPr/>
          <p:nvPr/>
        </p:nvSpPr>
        <p:spPr>
          <a:xfrm>
            <a:off x="8365541" y="3273552"/>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أولويات مجالات التقويم</a:t>
            </a:r>
            <a:endParaRPr lang="ar-SA" sz="1300" dirty="0"/>
          </a:p>
        </p:txBody>
      </p:sp>
      <p:sp>
        <p:nvSpPr>
          <p:cNvPr id="37" name="Shape 32"/>
          <p:cNvSpPr/>
          <p:nvPr/>
        </p:nvSpPr>
        <p:spPr>
          <a:xfrm>
            <a:off x="4274210" y="3273552"/>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38" name="Shape 33"/>
          <p:cNvSpPr/>
          <p:nvPr/>
        </p:nvSpPr>
        <p:spPr>
          <a:xfrm>
            <a:off x="7350557" y="3483864"/>
            <a:ext cx="365760" cy="365760"/>
          </a:xfrm>
          <a:prstGeom prst="roundRect">
            <a:avLst>
              <a:gd name="adj" fmla="val 22000"/>
            </a:avLst>
          </a:prstGeom>
          <a:solidFill>
            <a:srgbClr val="095242"/>
          </a:solidFill>
          <a:ln/>
        </p:spPr>
      </p:sp>
      <p:sp>
        <p:nvSpPr>
          <p:cNvPr id="39" name="Text 34"/>
          <p:cNvSpPr/>
          <p:nvPr/>
        </p:nvSpPr>
        <p:spPr>
          <a:xfrm>
            <a:off x="7350557" y="3470148"/>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٠٨</a:t>
            </a:r>
            <a:endParaRPr lang="ar-SA" sz="1050" dirty="0"/>
          </a:p>
        </p:txBody>
      </p:sp>
      <p:sp>
        <p:nvSpPr>
          <p:cNvPr id="40" name="Text 35"/>
          <p:cNvSpPr/>
          <p:nvPr/>
        </p:nvSpPr>
        <p:spPr>
          <a:xfrm>
            <a:off x="4502810" y="3273552"/>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تحليل SWOT</a:t>
            </a:r>
            <a:endParaRPr lang="ar-SA" sz="1300" dirty="0"/>
          </a:p>
        </p:txBody>
      </p:sp>
      <p:sp>
        <p:nvSpPr>
          <p:cNvPr id="41" name="Shape 36"/>
          <p:cNvSpPr/>
          <p:nvPr/>
        </p:nvSpPr>
        <p:spPr>
          <a:xfrm>
            <a:off x="411480" y="3273552"/>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42" name="Shape 37"/>
          <p:cNvSpPr/>
          <p:nvPr/>
        </p:nvSpPr>
        <p:spPr>
          <a:xfrm>
            <a:off x="3487826" y="3483864"/>
            <a:ext cx="365760" cy="365760"/>
          </a:xfrm>
          <a:prstGeom prst="roundRect">
            <a:avLst>
              <a:gd name="adj" fmla="val 22000"/>
            </a:avLst>
          </a:prstGeom>
          <a:solidFill>
            <a:srgbClr val="095242"/>
          </a:solidFill>
          <a:ln/>
        </p:spPr>
      </p:sp>
      <p:sp>
        <p:nvSpPr>
          <p:cNvPr id="43" name="Text 38"/>
          <p:cNvSpPr/>
          <p:nvPr/>
        </p:nvSpPr>
        <p:spPr>
          <a:xfrm>
            <a:off x="3487826" y="3470148"/>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٠٩</a:t>
            </a:r>
            <a:endParaRPr lang="ar-SA" sz="1050" dirty="0"/>
          </a:p>
        </p:txBody>
      </p:sp>
      <p:sp>
        <p:nvSpPr>
          <p:cNvPr id="44" name="Text 39"/>
          <p:cNvSpPr/>
          <p:nvPr/>
        </p:nvSpPr>
        <p:spPr>
          <a:xfrm>
            <a:off x="640080" y="3273552"/>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القضايا الملحة للمدرسة</a:t>
            </a:r>
            <a:endParaRPr lang="ar-SA" sz="1300" dirty="0"/>
          </a:p>
        </p:txBody>
      </p:sp>
      <p:sp>
        <p:nvSpPr>
          <p:cNvPr id="45" name="Shape 40"/>
          <p:cNvSpPr/>
          <p:nvPr/>
        </p:nvSpPr>
        <p:spPr>
          <a:xfrm>
            <a:off x="8136941" y="4261104"/>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46" name="Shape 41"/>
          <p:cNvSpPr/>
          <p:nvPr/>
        </p:nvSpPr>
        <p:spPr>
          <a:xfrm>
            <a:off x="11213287" y="4471416"/>
            <a:ext cx="365760" cy="365760"/>
          </a:xfrm>
          <a:prstGeom prst="roundRect">
            <a:avLst>
              <a:gd name="adj" fmla="val 22000"/>
            </a:avLst>
          </a:prstGeom>
          <a:solidFill>
            <a:srgbClr val="095242"/>
          </a:solidFill>
          <a:ln/>
        </p:spPr>
      </p:sp>
      <p:sp>
        <p:nvSpPr>
          <p:cNvPr id="47" name="Text 42"/>
          <p:cNvSpPr/>
          <p:nvPr/>
        </p:nvSpPr>
        <p:spPr>
          <a:xfrm>
            <a:off x="11213287" y="4457700"/>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١٠</a:t>
            </a:r>
            <a:endParaRPr lang="ar-SA" sz="1050" dirty="0"/>
          </a:p>
        </p:txBody>
      </p:sp>
      <p:sp>
        <p:nvSpPr>
          <p:cNvPr id="48" name="Text 43"/>
          <p:cNvSpPr/>
          <p:nvPr/>
        </p:nvSpPr>
        <p:spPr>
          <a:xfrm>
            <a:off x="8365541" y="4261104"/>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الأهداف الاستراتيجية</a:t>
            </a:r>
            <a:endParaRPr lang="ar-SA" sz="1300" dirty="0"/>
          </a:p>
        </p:txBody>
      </p:sp>
      <p:sp>
        <p:nvSpPr>
          <p:cNvPr id="49" name="Shape 44"/>
          <p:cNvSpPr/>
          <p:nvPr/>
        </p:nvSpPr>
        <p:spPr>
          <a:xfrm>
            <a:off x="4274210" y="4261104"/>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50" name="Shape 45"/>
          <p:cNvSpPr/>
          <p:nvPr/>
        </p:nvSpPr>
        <p:spPr>
          <a:xfrm>
            <a:off x="7350557" y="4471416"/>
            <a:ext cx="365760" cy="365760"/>
          </a:xfrm>
          <a:prstGeom prst="roundRect">
            <a:avLst>
              <a:gd name="adj" fmla="val 22000"/>
            </a:avLst>
          </a:prstGeom>
          <a:solidFill>
            <a:srgbClr val="095242"/>
          </a:solidFill>
          <a:ln/>
        </p:spPr>
      </p:sp>
      <p:sp>
        <p:nvSpPr>
          <p:cNvPr id="51" name="Text 46"/>
          <p:cNvSpPr/>
          <p:nvPr/>
        </p:nvSpPr>
        <p:spPr>
          <a:xfrm>
            <a:off x="7350557" y="4457700"/>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١١</a:t>
            </a:r>
            <a:endParaRPr lang="ar-SA" sz="1050" dirty="0"/>
          </a:p>
        </p:txBody>
      </p:sp>
      <p:sp>
        <p:nvSpPr>
          <p:cNvPr id="52" name="Text 47"/>
          <p:cNvSpPr/>
          <p:nvPr/>
        </p:nvSpPr>
        <p:spPr>
          <a:xfrm>
            <a:off x="4502810" y="4261104"/>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التوزيع الكمي للأهداف</a:t>
            </a:r>
            <a:endParaRPr lang="ar-SA" sz="1300" dirty="0"/>
          </a:p>
        </p:txBody>
      </p:sp>
      <p:sp>
        <p:nvSpPr>
          <p:cNvPr id="53" name="Shape 48"/>
          <p:cNvSpPr/>
          <p:nvPr/>
        </p:nvSpPr>
        <p:spPr>
          <a:xfrm>
            <a:off x="411480" y="4261104"/>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54" name="Shape 49"/>
          <p:cNvSpPr/>
          <p:nvPr/>
        </p:nvSpPr>
        <p:spPr>
          <a:xfrm>
            <a:off x="3487826" y="4471416"/>
            <a:ext cx="365760" cy="365760"/>
          </a:xfrm>
          <a:prstGeom prst="roundRect">
            <a:avLst>
              <a:gd name="adj" fmla="val 22000"/>
            </a:avLst>
          </a:prstGeom>
          <a:solidFill>
            <a:srgbClr val="095242"/>
          </a:solidFill>
          <a:ln/>
        </p:spPr>
      </p:sp>
      <p:sp>
        <p:nvSpPr>
          <p:cNvPr id="55" name="Text 50"/>
          <p:cNvSpPr/>
          <p:nvPr/>
        </p:nvSpPr>
        <p:spPr>
          <a:xfrm>
            <a:off x="3487826" y="4457700"/>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١٢</a:t>
            </a:r>
            <a:endParaRPr lang="ar-SA" sz="1050" dirty="0"/>
          </a:p>
        </p:txBody>
      </p:sp>
      <p:sp>
        <p:nvSpPr>
          <p:cNvPr id="56" name="Text 51"/>
          <p:cNvSpPr/>
          <p:nvPr/>
        </p:nvSpPr>
        <p:spPr>
          <a:xfrm>
            <a:off x="640080" y="4261104"/>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برامج الأهداف العشرة</a:t>
            </a:r>
            <a:endParaRPr lang="ar-SA" sz="1300" dirty="0"/>
          </a:p>
        </p:txBody>
      </p:sp>
      <p:sp>
        <p:nvSpPr>
          <p:cNvPr id="57" name="Shape 52"/>
          <p:cNvSpPr/>
          <p:nvPr/>
        </p:nvSpPr>
        <p:spPr>
          <a:xfrm>
            <a:off x="8136941" y="5248656"/>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58" name="Shape 53"/>
          <p:cNvSpPr/>
          <p:nvPr/>
        </p:nvSpPr>
        <p:spPr>
          <a:xfrm>
            <a:off x="11213287" y="5458968"/>
            <a:ext cx="365760" cy="365760"/>
          </a:xfrm>
          <a:prstGeom prst="roundRect">
            <a:avLst>
              <a:gd name="adj" fmla="val 22000"/>
            </a:avLst>
          </a:prstGeom>
          <a:solidFill>
            <a:srgbClr val="095242"/>
          </a:solidFill>
          <a:ln/>
        </p:spPr>
      </p:sp>
      <p:sp>
        <p:nvSpPr>
          <p:cNvPr id="59" name="Text 54"/>
          <p:cNvSpPr/>
          <p:nvPr/>
        </p:nvSpPr>
        <p:spPr>
          <a:xfrm>
            <a:off x="11213287" y="5445252"/>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١٣</a:t>
            </a:r>
            <a:endParaRPr lang="ar-SA" sz="1050" dirty="0"/>
          </a:p>
        </p:txBody>
      </p:sp>
      <p:sp>
        <p:nvSpPr>
          <p:cNvPr id="60" name="Text 55"/>
          <p:cNvSpPr/>
          <p:nvPr/>
        </p:nvSpPr>
        <p:spPr>
          <a:xfrm>
            <a:off x="8365541" y="5248656"/>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نظام المتابعة والمساءلة</a:t>
            </a:r>
            <a:endParaRPr lang="ar-SA" sz="1300" dirty="0"/>
          </a:p>
        </p:txBody>
      </p:sp>
      <p:sp>
        <p:nvSpPr>
          <p:cNvPr id="61" name="Shape 56"/>
          <p:cNvSpPr/>
          <p:nvPr/>
        </p:nvSpPr>
        <p:spPr>
          <a:xfrm>
            <a:off x="4274210" y="5248656"/>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62" name="Shape 57"/>
          <p:cNvSpPr/>
          <p:nvPr/>
        </p:nvSpPr>
        <p:spPr>
          <a:xfrm>
            <a:off x="7350557" y="5458968"/>
            <a:ext cx="365760" cy="365760"/>
          </a:xfrm>
          <a:prstGeom prst="roundRect">
            <a:avLst>
              <a:gd name="adj" fmla="val 22000"/>
            </a:avLst>
          </a:prstGeom>
          <a:solidFill>
            <a:srgbClr val="095242"/>
          </a:solidFill>
          <a:ln/>
        </p:spPr>
      </p:sp>
      <p:sp>
        <p:nvSpPr>
          <p:cNvPr id="63" name="Text 58"/>
          <p:cNvSpPr/>
          <p:nvPr/>
        </p:nvSpPr>
        <p:spPr>
          <a:xfrm>
            <a:off x="7350557" y="5445252"/>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١٤</a:t>
            </a:r>
            <a:endParaRPr lang="ar-SA" sz="1050" dirty="0"/>
          </a:p>
        </p:txBody>
      </p:sp>
      <p:sp>
        <p:nvSpPr>
          <p:cNvPr id="64" name="Text 59"/>
          <p:cNvSpPr/>
          <p:nvPr/>
        </p:nvSpPr>
        <p:spPr>
          <a:xfrm>
            <a:off x="4502810" y="5248656"/>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نموذج المساءلة</a:t>
            </a:r>
            <a:endParaRPr lang="ar-SA" sz="1300" dirty="0"/>
          </a:p>
        </p:txBody>
      </p:sp>
      <p:sp>
        <p:nvSpPr>
          <p:cNvPr id="65" name="Shape 60"/>
          <p:cNvSpPr/>
          <p:nvPr/>
        </p:nvSpPr>
        <p:spPr>
          <a:xfrm>
            <a:off x="411480" y="5248656"/>
            <a:ext cx="3643274" cy="786384"/>
          </a:xfrm>
          <a:prstGeom prst="roundRect">
            <a:avLst>
              <a:gd name="adj" fmla="val 8721"/>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66" name="Shape 61"/>
          <p:cNvSpPr/>
          <p:nvPr/>
        </p:nvSpPr>
        <p:spPr>
          <a:xfrm>
            <a:off x="3487826" y="5458968"/>
            <a:ext cx="365760" cy="365760"/>
          </a:xfrm>
          <a:prstGeom prst="roundRect">
            <a:avLst>
              <a:gd name="adj" fmla="val 22000"/>
            </a:avLst>
          </a:prstGeom>
          <a:solidFill>
            <a:srgbClr val="095242"/>
          </a:solidFill>
          <a:ln/>
        </p:spPr>
      </p:sp>
      <p:sp>
        <p:nvSpPr>
          <p:cNvPr id="67" name="Text 62"/>
          <p:cNvSpPr/>
          <p:nvPr/>
        </p:nvSpPr>
        <p:spPr>
          <a:xfrm>
            <a:off x="3487826" y="5445252"/>
            <a:ext cx="365760" cy="365760"/>
          </a:xfrm>
          <a:prstGeom prst="rect">
            <a:avLst/>
          </a:prstGeom>
          <a:noFill/>
          <a:ln/>
        </p:spPr>
        <p:txBody>
          <a:bodyPr wrap="square" lIns="0" tIns="0" rIns="0" bIns="0" rtlCol="0" anchor="ctr"/>
          <a:lstStyle/>
          <a:p>
            <a:pPr rtl="1" algn="ctr" indent="0" marL="0">
              <a:buNone/>
            </a:pPr>
            <a:r>
              <a:rPr lang="ar-SA" altLang="en-US" sz="1050" b="1" dirty="0">
                <a:solidFill>
                  <a:srgbClr val="FFFFFF"/>
                </a:solidFill>
                <a:latin typeface="Tajawal" pitchFamily="34" charset="0"/>
                <a:ea typeface="Tajawal" pitchFamily="34" charset="-122"/>
                <a:cs typeface="Tajawal" pitchFamily="34" charset="-120"/>
              </a:rPr>
              <a:t>١٥</a:t>
            </a:r>
            <a:endParaRPr lang="ar-SA" sz="1050" dirty="0"/>
          </a:p>
        </p:txBody>
      </p:sp>
      <p:sp>
        <p:nvSpPr>
          <p:cNvPr id="68" name="Text 63"/>
          <p:cNvSpPr/>
          <p:nvPr/>
        </p:nvSpPr>
        <p:spPr>
          <a:xfrm>
            <a:off x="640080" y="5248656"/>
            <a:ext cx="2710586" cy="786384"/>
          </a:xfrm>
          <a:prstGeom prst="rect">
            <a:avLst/>
          </a:prstGeom>
          <a:noFill/>
          <a:ln/>
        </p:spPr>
        <p:txBody>
          <a:bodyPr wrap="square" lIns="0" tIns="0" rIns="0" bIns="0" rtlCol="0" anchor="ctr"/>
          <a:lstStyle/>
          <a:p>
            <a:pPr rtl="1" algn="r" indent="0" marL="0">
              <a:buNone/>
            </a:pPr>
            <a:r>
              <a:rPr lang="ar-SA" altLang="en-US" sz="1300" b="1" dirty="0">
                <a:solidFill>
                  <a:srgbClr val="0F2A21"/>
                </a:solidFill>
                <a:latin typeface="Tajawal" pitchFamily="34" charset="0"/>
                <a:ea typeface="Tajawal" pitchFamily="34" charset="-122"/>
                <a:cs typeface="Tajawal" pitchFamily="34" charset="-120"/>
              </a:rPr>
              <a:t>اعتماد الخطة التشغيلية</a:t>
            </a:r>
            <a:endParaRPr lang="ar-SA"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compass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المقدمة</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٠٣</a:t>
            </a:r>
            <a:endParaRPr lang="ar-SA" sz="850" dirty="0"/>
          </a:p>
        </p:txBody>
      </p:sp>
      <p:sp>
        <p:nvSpPr>
          <p:cNvPr id="9" name="Shape 4"/>
          <p:cNvSpPr/>
          <p:nvPr/>
        </p:nvSpPr>
        <p:spPr>
          <a:xfrm>
            <a:off x="4892040" y="1207008"/>
            <a:ext cx="6888175" cy="1170432"/>
          </a:xfrm>
          <a:prstGeom prst="roundRect">
            <a:avLst>
              <a:gd name="adj" fmla="val 5859"/>
            </a:avLst>
          </a:prstGeom>
          <a:solidFill>
            <a:srgbClr val="EBF6F8"/>
          </a:solidFill>
          <a:ln w="9525">
            <a:solidFill>
              <a:srgbClr val="CBE4EA"/>
            </a:solidFill>
            <a:prstDash val="solid"/>
          </a:ln>
        </p:spPr>
      </p:sp>
      <p:pic>
        <p:nvPicPr>
          <p:cNvPr id="10" name="Image 3" descr="/tmp/claude-0/-home-user-Mobile1/ab9bbf47-b054-5f6e-be59-70476e095ce8/scratchpad/assets/icons/quote_teal.png">    </p:cNvPr>
          <p:cNvPicPr>
            <a:picLocks noChangeAspect="1"/>
          </p:cNvPicPr>
          <p:nvPr/>
        </p:nvPicPr>
        <p:blipFill>
          <a:blip r:embed="rId4"/>
          <a:stretch>
            <a:fillRect/>
          </a:stretch>
        </p:blipFill>
        <p:spPr>
          <a:xfrm>
            <a:off x="11213287" y="1389888"/>
            <a:ext cx="310896" cy="310896"/>
          </a:xfrm>
          <a:prstGeom prst="rect">
            <a:avLst/>
          </a:prstGeom>
        </p:spPr>
      </p:pic>
      <p:sp>
        <p:nvSpPr>
          <p:cNvPr id="11" name="Text 5"/>
          <p:cNvSpPr/>
          <p:nvPr/>
        </p:nvSpPr>
        <p:spPr>
          <a:xfrm>
            <a:off x="5212080" y="1207008"/>
            <a:ext cx="5882335" cy="1170432"/>
          </a:xfrm>
          <a:prstGeom prst="rect">
            <a:avLst/>
          </a:prstGeom>
          <a:noFill/>
          <a:ln/>
        </p:spPr>
        <p:txBody>
          <a:bodyPr wrap="square" lIns="0" tIns="0" rIns="0" bIns="0" rtlCol="0" anchor="ctr"/>
          <a:lstStyle/>
          <a:p>
            <a:pPr rtl="1" algn="r" indent="0" marL="0">
              <a:lnSpc>
                <a:spcPct val="125000"/>
              </a:lnSpc>
              <a:buNone/>
            </a:pPr>
            <a:r>
              <a:rPr lang="ar-SA" altLang="en-US" sz="1250" b="1" dirty="0">
                <a:solidFill>
                  <a:srgbClr val="0B4A56"/>
                </a:solidFill>
                <a:latin typeface="Tajawal" pitchFamily="34" charset="0"/>
                <a:ea typeface="Tajawal" pitchFamily="34" charset="-122"/>
                <a:cs typeface="Tajawal" pitchFamily="34" charset="-120"/>
              </a:rPr>
              <a:t>التخطيط هو الجسر الذي يصل ما بين الواقع المدرسي وبين الطموح، ومن خلاله تتحوّل الرؤى إلى إنجازات تُقاس وتُراجَع وتُحسَّن باستمرار.</a:t>
            </a:r>
            <a:endParaRPr lang="ar-SA" sz="1250" dirty="0"/>
          </a:p>
        </p:txBody>
      </p:sp>
      <p:sp>
        <p:nvSpPr>
          <p:cNvPr id="12" name="Text 6"/>
          <p:cNvSpPr/>
          <p:nvPr/>
        </p:nvSpPr>
        <p:spPr>
          <a:xfrm>
            <a:off x="4892040" y="2606040"/>
            <a:ext cx="6888175" cy="3566160"/>
          </a:xfrm>
          <a:prstGeom prst="rect">
            <a:avLst/>
          </a:prstGeom>
          <a:noFill/>
          <a:ln/>
        </p:spPr>
        <p:txBody>
          <a:bodyPr wrap="square" lIns="0" tIns="0" rIns="0" bIns="0" rtlCol="0" anchor="t"/>
          <a:lstStyle/>
          <a:p>
            <a:pPr algn="r" indent="0" marL="0">
              <a:lnSpc>
                <a:spcPct val="132000"/>
              </a:lnSpc>
              <a:spcAft>
                <a:spcPts val="1200"/>
              </a:spcAft>
              <a:buNone/>
            </a:pPr>
            <a:r>
              <a:rPr lang="ar-SA" altLang="en-US" sz="1200" dirty="0">
                <a:solidFill>
                  <a:srgbClr val="33473F"/>
                </a:solidFill>
                <a:latin typeface="Tajawal" pitchFamily="34" charset="0"/>
                <a:ea typeface="Tajawal" pitchFamily="34" charset="-122"/>
                <a:cs typeface="Tajawal" pitchFamily="34" charset="-120"/>
              </a:rPr>
              <a:t>انطلاقًا من رؤية وزارة التعليم الرامية إلى تعزيز جودة العملية التعليمية والارتقاء بمستوى نواتج التعلّم، تأتي هذه الخطة التشغيلية للعام الدراسي ١٤٤٨هـ لتشكّل إطارًا منهجيًا مُوجِّهًا لعمل مدرسة ........ وبرامجها خلال هذا العام.</a:t>
            </a:r>
            <a:endParaRPr lang="ar-SA" sz="1200" dirty="0"/>
          </a:p>
          <a:p>
            <a:pPr algn="r" indent="0" marL="0">
              <a:lnSpc>
                <a:spcPct val="132000"/>
              </a:lnSpc>
              <a:spcAft>
                <a:spcPts val="1200"/>
              </a:spcAft>
              <a:buNone/>
            </a:pPr>
            <a:r>
              <a:rPr lang="ar-SA" altLang="en-US" sz="1200" dirty="0">
                <a:solidFill>
                  <a:srgbClr val="33473F"/>
                </a:solidFill>
                <a:latin typeface="Tajawal" pitchFamily="34" charset="0"/>
                <a:ea typeface="Tajawal" pitchFamily="34" charset="-122"/>
                <a:cs typeface="Tajawal" pitchFamily="34" charset="-120"/>
              </a:rPr>
              <a:t>وقد حرص فريق الإعداد على أن تكون الخطة ترجمةً واقعية للأهداف الاستراتيجية إلى مبادرات تنفيذية ومؤشرات أداء قابلة للقياس، مع جداول زمنية واضحة وأدوار محدّدة لكل عضو من أعضاء المجتمع المدرسي.</a:t>
            </a:r>
            <a:endParaRPr lang="ar-SA" sz="1200" dirty="0"/>
          </a:p>
          <a:p>
            <a:pPr algn="r" indent="0" marL="0">
              <a:lnSpc>
                <a:spcPct val="132000"/>
              </a:lnSpc>
              <a:spcAft>
                <a:spcPts val="1200"/>
              </a:spcAft>
              <a:buNone/>
            </a:pPr>
            <a:r>
              <a:rPr lang="ar-SA" altLang="en-US" sz="1200" dirty="0">
                <a:solidFill>
                  <a:srgbClr val="33473F"/>
                </a:solidFill>
                <a:latin typeface="Tajawal" pitchFamily="34" charset="0"/>
                <a:ea typeface="Tajawal" pitchFamily="34" charset="-122"/>
                <a:cs typeface="Tajawal" pitchFamily="34" charset="-120"/>
              </a:rPr>
              <a:t>وتستند الخطة في بنائها إلى قراءة دقيقة لواقع المدرسة، ونتائج التقويم الذاتي السابق، واحتياجات الطلاب والمعلمين والبيئة التعليمية، إيمانًا بأنّ التخطيط هو الطريق إلى جودة التعليم والتميّز المؤسسي.</a:t>
            </a:r>
            <a:endParaRPr lang="ar-SA" sz="1200" dirty="0"/>
          </a:p>
        </p:txBody>
      </p:sp>
      <p:sp>
        <p:nvSpPr>
          <p:cNvPr id="13" name="Shape 7"/>
          <p:cNvSpPr/>
          <p:nvPr/>
        </p:nvSpPr>
        <p:spPr>
          <a:xfrm>
            <a:off x="411480" y="1207008"/>
            <a:ext cx="4069080" cy="1481328"/>
          </a:xfrm>
          <a:prstGeom prst="roundRect">
            <a:avLst>
              <a:gd name="adj" fmla="val 4630"/>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14" name="Text 8"/>
          <p:cNvSpPr/>
          <p:nvPr/>
        </p:nvSpPr>
        <p:spPr>
          <a:xfrm>
            <a:off x="3703320" y="1353312"/>
            <a:ext cx="548640" cy="457200"/>
          </a:xfrm>
          <a:prstGeom prst="rect">
            <a:avLst/>
          </a:prstGeom>
          <a:noFill/>
          <a:ln/>
        </p:spPr>
        <p:txBody>
          <a:bodyPr wrap="square" lIns="0" tIns="0" rIns="0" bIns="0" rtlCol="0" anchor="t"/>
          <a:lstStyle/>
          <a:p>
            <a:pPr rtl="1" algn="ctr" indent="0" marL="0">
              <a:buNone/>
            </a:pPr>
            <a:r>
              <a:rPr lang="ar-SA" altLang="en-US" sz="2000" dirty="0">
                <a:solidFill>
                  <a:srgbClr val="0089A1"/>
                </a:solidFill>
                <a:latin typeface="Tajawal ExtraBold" pitchFamily="34" charset="0"/>
                <a:ea typeface="Tajawal ExtraBold" pitchFamily="34" charset="-122"/>
                <a:cs typeface="Tajawal ExtraBold" pitchFamily="34" charset="-120"/>
              </a:rPr>
              <a:t>٠١</a:t>
            </a:r>
            <a:endParaRPr lang="ar-SA" sz="2000" dirty="0"/>
          </a:p>
        </p:txBody>
      </p:sp>
      <p:sp>
        <p:nvSpPr>
          <p:cNvPr id="15" name="Text 9"/>
          <p:cNvSpPr/>
          <p:nvPr/>
        </p:nvSpPr>
        <p:spPr>
          <a:xfrm>
            <a:off x="685800" y="1371600"/>
            <a:ext cx="2971800" cy="384048"/>
          </a:xfrm>
          <a:prstGeom prst="rect">
            <a:avLst/>
          </a:prstGeom>
          <a:noFill/>
          <a:ln/>
        </p:spPr>
        <p:txBody>
          <a:bodyPr wrap="square" lIns="0" tIns="0" rIns="0" bIns="0" rtlCol="0" anchor="ctr"/>
          <a:lstStyle/>
          <a:p>
            <a:pPr rtl="1" algn="r" indent="0" marL="0">
              <a:buNone/>
            </a:pPr>
            <a:r>
              <a:rPr lang="ar-SA" altLang="en-US" sz="1500" b="1" dirty="0">
                <a:solidFill>
                  <a:srgbClr val="0F2A21"/>
                </a:solidFill>
                <a:latin typeface="Tajawal" pitchFamily="34" charset="0"/>
                <a:ea typeface="Tajawal" pitchFamily="34" charset="-122"/>
                <a:cs typeface="Tajawal" pitchFamily="34" charset="-120"/>
              </a:rPr>
              <a:t>إطار منهجي</a:t>
            </a:r>
            <a:endParaRPr lang="ar-SA" sz="1500" dirty="0"/>
          </a:p>
        </p:txBody>
      </p:sp>
      <p:sp>
        <p:nvSpPr>
          <p:cNvPr id="16" name="Text 10"/>
          <p:cNvSpPr/>
          <p:nvPr/>
        </p:nvSpPr>
        <p:spPr>
          <a:xfrm>
            <a:off x="685800" y="1828800"/>
            <a:ext cx="3502152" cy="731520"/>
          </a:xfrm>
          <a:prstGeom prst="rect">
            <a:avLst/>
          </a:prstGeom>
          <a:noFill/>
          <a:ln/>
        </p:spPr>
        <p:txBody>
          <a:bodyPr wrap="square" lIns="0" tIns="0" rIns="0" bIns="0" rtlCol="0" anchor="t"/>
          <a:lstStyle/>
          <a:p>
            <a:pPr rtl="1" algn="r" indent="0" marL="0">
              <a:lnSpc>
                <a:spcPct val="120000"/>
              </a:lnSpc>
              <a:buNone/>
            </a:pPr>
            <a:r>
              <a:rPr lang="ar-SA" altLang="en-US" sz="1100" dirty="0">
                <a:solidFill>
                  <a:srgbClr val="33473F"/>
                </a:solidFill>
                <a:latin typeface="Tajawal" pitchFamily="34" charset="0"/>
                <a:ea typeface="Tajawal" pitchFamily="34" charset="-122"/>
                <a:cs typeface="Tajawal" pitchFamily="34" charset="-120"/>
              </a:rPr>
              <a:t>يوجّه عمل المدرسة وبرامجها وفق رؤية واضحة للأداء.</a:t>
            </a:r>
            <a:endParaRPr lang="ar-SA" sz="1100" dirty="0"/>
          </a:p>
        </p:txBody>
      </p:sp>
      <p:sp>
        <p:nvSpPr>
          <p:cNvPr id="17" name="Shape 11"/>
          <p:cNvSpPr/>
          <p:nvPr/>
        </p:nvSpPr>
        <p:spPr>
          <a:xfrm>
            <a:off x="411480" y="2898648"/>
            <a:ext cx="4069080" cy="1481328"/>
          </a:xfrm>
          <a:prstGeom prst="roundRect">
            <a:avLst>
              <a:gd name="adj" fmla="val 4630"/>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18" name="Text 12"/>
          <p:cNvSpPr/>
          <p:nvPr/>
        </p:nvSpPr>
        <p:spPr>
          <a:xfrm>
            <a:off x="3703320" y="3044952"/>
            <a:ext cx="548640" cy="457200"/>
          </a:xfrm>
          <a:prstGeom prst="rect">
            <a:avLst/>
          </a:prstGeom>
          <a:noFill/>
          <a:ln/>
        </p:spPr>
        <p:txBody>
          <a:bodyPr wrap="square" lIns="0" tIns="0" rIns="0" bIns="0" rtlCol="0" anchor="t"/>
          <a:lstStyle/>
          <a:p>
            <a:pPr rtl="1" algn="ctr" indent="0" marL="0">
              <a:buNone/>
            </a:pPr>
            <a:r>
              <a:rPr lang="ar-SA" altLang="en-US" sz="2000" dirty="0">
                <a:solidFill>
                  <a:srgbClr val="0089A1"/>
                </a:solidFill>
                <a:latin typeface="Tajawal ExtraBold" pitchFamily="34" charset="0"/>
                <a:ea typeface="Tajawal ExtraBold" pitchFamily="34" charset="-122"/>
                <a:cs typeface="Tajawal ExtraBold" pitchFamily="34" charset="-120"/>
              </a:rPr>
              <a:t>٠٢</a:t>
            </a:r>
            <a:endParaRPr lang="ar-SA" sz="2000" dirty="0"/>
          </a:p>
        </p:txBody>
      </p:sp>
      <p:sp>
        <p:nvSpPr>
          <p:cNvPr id="19" name="Text 13"/>
          <p:cNvSpPr/>
          <p:nvPr/>
        </p:nvSpPr>
        <p:spPr>
          <a:xfrm>
            <a:off x="685800" y="3063240"/>
            <a:ext cx="2971800" cy="384048"/>
          </a:xfrm>
          <a:prstGeom prst="rect">
            <a:avLst/>
          </a:prstGeom>
          <a:noFill/>
          <a:ln/>
        </p:spPr>
        <p:txBody>
          <a:bodyPr wrap="square" lIns="0" tIns="0" rIns="0" bIns="0" rtlCol="0" anchor="ctr"/>
          <a:lstStyle/>
          <a:p>
            <a:pPr rtl="1" algn="r" indent="0" marL="0">
              <a:buNone/>
            </a:pPr>
            <a:r>
              <a:rPr lang="ar-SA" altLang="en-US" sz="1500" b="1" dirty="0">
                <a:solidFill>
                  <a:srgbClr val="0F2A21"/>
                </a:solidFill>
                <a:latin typeface="Tajawal" pitchFamily="34" charset="0"/>
                <a:ea typeface="Tajawal" pitchFamily="34" charset="-122"/>
                <a:cs typeface="Tajawal" pitchFamily="34" charset="-120"/>
              </a:rPr>
              <a:t>مؤشرات قابلة للقياس</a:t>
            </a:r>
            <a:endParaRPr lang="ar-SA" sz="1500" dirty="0"/>
          </a:p>
        </p:txBody>
      </p:sp>
      <p:sp>
        <p:nvSpPr>
          <p:cNvPr id="20" name="Text 14"/>
          <p:cNvSpPr/>
          <p:nvPr/>
        </p:nvSpPr>
        <p:spPr>
          <a:xfrm>
            <a:off x="685800" y="3520440"/>
            <a:ext cx="3502152" cy="731520"/>
          </a:xfrm>
          <a:prstGeom prst="rect">
            <a:avLst/>
          </a:prstGeom>
          <a:noFill/>
          <a:ln/>
        </p:spPr>
        <p:txBody>
          <a:bodyPr wrap="square" lIns="0" tIns="0" rIns="0" bIns="0" rtlCol="0" anchor="t"/>
          <a:lstStyle/>
          <a:p>
            <a:pPr rtl="1" algn="r" indent="0" marL="0">
              <a:lnSpc>
                <a:spcPct val="120000"/>
              </a:lnSpc>
              <a:buNone/>
            </a:pPr>
            <a:r>
              <a:rPr lang="ar-SA" altLang="en-US" sz="1100" dirty="0">
                <a:solidFill>
                  <a:srgbClr val="33473F"/>
                </a:solidFill>
                <a:latin typeface="Tajawal" pitchFamily="34" charset="0"/>
                <a:ea typeface="Tajawal" pitchFamily="34" charset="-122"/>
                <a:cs typeface="Tajawal" pitchFamily="34" charset="-120"/>
              </a:rPr>
              <a:t>لكل مبادرة هدف ومقياس وزمن واضح للتنفيذ.</a:t>
            </a:r>
            <a:endParaRPr lang="ar-SA" sz="1100" dirty="0"/>
          </a:p>
        </p:txBody>
      </p:sp>
      <p:sp>
        <p:nvSpPr>
          <p:cNvPr id="21" name="Shape 15"/>
          <p:cNvSpPr/>
          <p:nvPr/>
        </p:nvSpPr>
        <p:spPr>
          <a:xfrm>
            <a:off x="411480" y="4590288"/>
            <a:ext cx="4069080" cy="1481328"/>
          </a:xfrm>
          <a:prstGeom prst="roundRect">
            <a:avLst>
              <a:gd name="adj" fmla="val 4630"/>
            </a:avLst>
          </a:prstGeom>
          <a:solidFill>
            <a:srgbClr val="095242"/>
          </a:solidFill>
          <a:ln/>
          <a:effectLst>
            <a:outerShdw sx="100000" sy="100000" kx="0" ky="0" algn="bl" rotWithShape="0" blurRad="101600" dist="25400" dir="5400000">
              <a:srgbClr val="083528">
                <a:alpha val="28000"/>
              </a:srgbClr>
            </a:outerShdw>
          </a:effectLst>
        </p:spPr>
      </p:sp>
      <p:sp>
        <p:nvSpPr>
          <p:cNvPr id="22" name="Text 16"/>
          <p:cNvSpPr/>
          <p:nvPr/>
        </p:nvSpPr>
        <p:spPr>
          <a:xfrm>
            <a:off x="3703320" y="4736592"/>
            <a:ext cx="548640" cy="457200"/>
          </a:xfrm>
          <a:prstGeom prst="rect">
            <a:avLst/>
          </a:prstGeom>
          <a:noFill/>
          <a:ln/>
        </p:spPr>
        <p:txBody>
          <a:bodyPr wrap="square" lIns="0" tIns="0" rIns="0" bIns="0" rtlCol="0" anchor="t"/>
          <a:lstStyle/>
          <a:p>
            <a:pPr rtl="1" algn="ctr" indent="0" marL="0">
              <a:buNone/>
            </a:pPr>
            <a:r>
              <a:rPr lang="ar-SA" altLang="en-US" sz="2000" dirty="0">
                <a:solidFill>
                  <a:srgbClr val="C9A45C"/>
                </a:solidFill>
                <a:latin typeface="Tajawal ExtraBold" pitchFamily="34" charset="0"/>
                <a:ea typeface="Tajawal ExtraBold" pitchFamily="34" charset="-122"/>
                <a:cs typeface="Tajawal ExtraBold" pitchFamily="34" charset="-120"/>
              </a:rPr>
              <a:t>٠٣</a:t>
            </a:r>
            <a:endParaRPr lang="ar-SA" sz="2000" dirty="0"/>
          </a:p>
        </p:txBody>
      </p:sp>
      <p:sp>
        <p:nvSpPr>
          <p:cNvPr id="23" name="Text 17"/>
          <p:cNvSpPr/>
          <p:nvPr/>
        </p:nvSpPr>
        <p:spPr>
          <a:xfrm>
            <a:off x="685800" y="4754880"/>
            <a:ext cx="2971800" cy="384048"/>
          </a:xfrm>
          <a:prstGeom prst="rect">
            <a:avLst/>
          </a:prstGeom>
          <a:noFill/>
          <a:ln/>
        </p:spPr>
        <p:txBody>
          <a:bodyPr wrap="square" lIns="0" tIns="0" rIns="0" bIns="0" rtlCol="0" anchor="ctr"/>
          <a:lstStyle/>
          <a:p>
            <a:pPr rtl="1" algn="r" indent="0" marL="0">
              <a:buNone/>
            </a:pPr>
            <a:r>
              <a:rPr lang="ar-SA" altLang="en-US" sz="1500" b="1" dirty="0">
                <a:solidFill>
                  <a:srgbClr val="FFFFFF"/>
                </a:solidFill>
                <a:latin typeface="Tajawal" pitchFamily="34" charset="0"/>
                <a:ea typeface="Tajawal" pitchFamily="34" charset="-122"/>
                <a:cs typeface="Tajawal" pitchFamily="34" charset="-120"/>
              </a:rPr>
              <a:t>شراكة فاعلة</a:t>
            </a:r>
            <a:endParaRPr lang="ar-SA" sz="1500" dirty="0"/>
          </a:p>
        </p:txBody>
      </p:sp>
      <p:sp>
        <p:nvSpPr>
          <p:cNvPr id="24" name="Text 18"/>
          <p:cNvSpPr/>
          <p:nvPr/>
        </p:nvSpPr>
        <p:spPr>
          <a:xfrm>
            <a:off x="685800" y="5212080"/>
            <a:ext cx="3502152" cy="731520"/>
          </a:xfrm>
          <a:prstGeom prst="rect">
            <a:avLst/>
          </a:prstGeom>
          <a:noFill/>
          <a:ln/>
        </p:spPr>
        <p:txBody>
          <a:bodyPr wrap="square" lIns="0" tIns="0" rIns="0" bIns="0" rtlCol="0" anchor="t"/>
          <a:lstStyle/>
          <a:p>
            <a:pPr rtl="1" algn="r" indent="0" marL="0">
              <a:lnSpc>
                <a:spcPct val="120000"/>
              </a:lnSpc>
              <a:buNone/>
            </a:pPr>
            <a:r>
              <a:rPr lang="ar-SA" altLang="en-US" sz="1100" dirty="0">
                <a:solidFill>
                  <a:srgbClr val="D3E5DE"/>
                </a:solidFill>
                <a:latin typeface="Tajawal" pitchFamily="34" charset="0"/>
                <a:ea typeface="Tajawal" pitchFamily="34" charset="-122"/>
                <a:cs typeface="Tajawal" pitchFamily="34" charset="-120"/>
              </a:rPr>
              <a:t>تتكامل فيها الأسرة والمجتمع مع المنظومة المدرسية.</a:t>
            </a:r>
            <a:endParaRPr lang="ar-SA"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users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فريق إعداد الخطة</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٠٤</a:t>
            </a:r>
            <a:endParaRPr lang="ar-SA" sz="850" dirty="0"/>
          </a:p>
        </p:txBody>
      </p:sp>
      <p:sp>
        <p:nvSpPr>
          <p:cNvPr id="9" name="Shape 4"/>
          <p:cNvSpPr/>
          <p:nvPr/>
        </p:nvSpPr>
        <p:spPr>
          <a:xfrm>
            <a:off x="1417320" y="338328"/>
            <a:ext cx="2377440" cy="384048"/>
          </a:xfrm>
          <a:prstGeom prst="roundRect">
            <a:avLst>
              <a:gd name="adj" fmla="val 50000"/>
            </a:avLst>
          </a:prstGeom>
          <a:solidFill>
            <a:srgbClr val="F1F7F4"/>
          </a:solidFill>
          <a:ln w="9525">
            <a:solidFill>
              <a:srgbClr val="DCE8E2"/>
            </a:solidFill>
            <a:prstDash val="solid"/>
          </a:ln>
        </p:spPr>
      </p:sp>
      <p:sp>
        <p:nvSpPr>
          <p:cNvPr id="10" name="Text 5"/>
          <p:cNvSpPr/>
          <p:nvPr/>
        </p:nvSpPr>
        <p:spPr>
          <a:xfrm>
            <a:off x="1417320" y="329184"/>
            <a:ext cx="2377440" cy="384048"/>
          </a:xfrm>
          <a:prstGeom prst="rect">
            <a:avLst/>
          </a:prstGeom>
          <a:noFill/>
          <a:ln/>
        </p:spPr>
        <p:txBody>
          <a:bodyPr wrap="square" lIns="0" tIns="0" rIns="0" bIns="0" rtlCol="0" anchor="ctr"/>
          <a:lstStyle/>
          <a:p>
            <a:pPr rtl="1" algn="ctr" indent="0" marL="0">
              <a:buNone/>
            </a:pPr>
            <a:r>
              <a:rPr lang="ar-SA" altLang="en-US" sz="950" b="1" dirty="0">
                <a:solidFill>
                  <a:srgbClr val="095242"/>
                </a:solidFill>
                <a:latin typeface="Tajawal" pitchFamily="34" charset="0"/>
                <a:ea typeface="Tajawal" pitchFamily="34" charset="-122"/>
                <a:cs typeface="Tajawal" pitchFamily="34" charset="-120"/>
              </a:rPr>
              <a:t>محضر اجتماع تشكيل الفريق</a:t>
            </a:r>
            <a:endParaRPr lang="ar-SA" sz="950" dirty="0"/>
          </a:p>
        </p:txBody>
      </p:sp>
      <p:sp>
        <p:nvSpPr>
          <p:cNvPr id="11" name="Text 6"/>
          <p:cNvSpPr/>
          <p:nvPr/>
        </p:nvSpPr>
        <p:spPr>
          <a:xfrm>
            <a:off x="3337560" y="987552"/>
            <a:ext cx="8442655" cy="566928"/>
          </a:xfrm>
          <a:prstGeom prst="rect">
            <a:avLst/>
          </a:prstGeom>
          <a:noFill/>
          <a:ln/>
        </p:spPr>
        <p:txBody>
          <a:bodyPr wrap="square" lIns="0" tIns="0" rIns="0" bIns="0" rtlCol="0" anchor="t"/>
          <a:lstStyle/>
          <a:p>
            <a:pPr rtl="1" algn="r" indent="0" marL="0">
              <a:lnSpc>
                <a:spcPct val="120000"/>
              </a:lnSpc>
              <a:buNone/>
            </a:pPr>
            <a:r>
              <a:rPr lang="ar-SA" altLang="en-US" sz="1050" dirty="0">
                <a:solidFill>
                  <a:srgbClr val="33473F"/>
                </a:solidFill>
                <a:latin typeface="Tajawal" pitchFamily="34" charset="0"/>
                <a:ea typeface="Tajawal" pitchFamily="34" charset="-122"/>
                <a:cs typeface="Tajawal" pitchFamily="34" charset="-120"/>
              </a:rPr>
              <a:t>شُكِّل فريق إعداد الخطة التشغيلية بقرار من إدارة المدرسة، ضامنًا تمثيلًا متوازنًا للمعلمين والمرشد الطلابي والمشرفين، ليضطلع بمسؤولية بناء الخطة ومتابعة تنفيذها وتقويم أثرها على نواتج التعلّم.</a:t>
            </a:r>
            <a:endParaRPr lang="ar-SA"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337560" y="1627632"/>
          <a:ext cx="8442655" cy="914400"/>
        </p:xfrm>
        <a:graphic>
          <a:graphicData uri="http://schemas.openxmlformats.org/drawingml/2006/table">
            <a:tbl>
              <a:tblPr/>
              <a:tblGrid>
                <a:gridCol w="6184087"/>
                <a:gridCol w="1874520"/>
                <a:gridCol w="384048"/>
              </a:tblGrid>
              <a:tr h="310896">
                <a:tc>
                  <a:txBody>
                    <a:bodyP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المهام والمسؤوليات</a:t>
                      </a:r>
                      <a:endParaRPr lang="ar-SA" sz="95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الدور</a:t>
                      </a:r>
                      <a:endParaRPr lang="ar-SA" sz="95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م</a:t>
                      </a:r>
                      <a:endParaRPr lang="ar-SA" sz="95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الإشراف العام على إعداد الخطة التشغيلية، اعتماد المسارات والأهداف، متابعة التنفيذ، وإقرار التقارير النهائية.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رئيس فريق الإعداد</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١</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متابعة مؤشرات الأداء، جمع وتحليل البيانات، إعداد التقارير الدورية، وقياس مستوى الإنجاز.</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منسّق الجودة</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٢</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566928">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تنفيذ برامج التوجيه والإرشاد، تعزيز السلوك الإيجابي، متابعة الحالات الطلابية، والمشاركة في معالجة التحديات السلوكية.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المرشد الطلابي</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٣</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التخطيط للبرامج والأنشطة الطلابية، تنفيذ المبادرات الإثرائية، وتحفيز مشاركة الطلاب في المسابقات والفعاليات.</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رائد النشاط</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٤</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566928">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دعم تحسين نواتج التعلّم، متابعة التحصيل الدراسي، تنفيذ البرامج العلاجية والإثرائية، ونقل الخبرات التعليمية.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معلم متميّز (قائد تطوير المهارات الأكاديمية)</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٥</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66928">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دعم توظيف التقنيات التعليمية، متابعة منصات التعليم الإلكتروني، تدريب المعلمين، وتعزيز التحوّل الرقمي بالمدرسة.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معلم متميّز (قائد التحوّل الرقمي والتعليم الإلكتروني)</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٦</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566928">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تعزيز الشراكة بين المدرسة والأسرة، نقل المقترحات والملاحظات، دعم البرامج المدرسية، والمشاركة في المبادرات المجتمعية.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ممثل أولياء الأمور</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٧</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66928">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متابعة تطبيق اشتراطات الأمن والسلامة، تنفيذ خطط الإخلاء والتدريب، رصد المخاطر، وتعزيز البيئة المدرسية الآمنة.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900" b="1" dirty="0">
                          <a:solidFill>
                            <a:srgbClr val="063E33"/>
                          </a:solidFill>
                          <a:latin typeface="Tajawal" pitchFamily="34" charset="0"/>
                          <a:ea typeface="Tajawal" pitchFamily="34" charset="-122"/>
                          <a:cs typeface="Tajawal" pitchFamily="34" charset="-120"/>
                        </a:rPr>
                        <a:t>منسّق الأمن والسلامة</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900" dirty="0">
                          <a:solidFill>
                            <a:srgbClr val="33473F"/>
                          </a:solidFill>
                          <a:latin typeface="Tajawal" pitchFamily="34" charset="0"/>
                          <a:ea typeface="Tajawal" pitchFamily="34" charset="-122"/>
                          <a:cs typeface="Tajawal" pitchFamily="34" charset="-120"/>
                        </a:rPr>
                        <a:t>٨</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
        <p:nvSpPr>
          <p:cNvPr id="13" name="Shape 7"/>
          <p:cNvSpPr/>
          <p:nvPr/>
        </p:nvSpPr>
        <p:spPr>
          <a:xfrm>
            <a:off x="3058668" y="1033272"/>
            <a:ext cx="50292" cy="201168"/>
          </a:xfrm>
          <a:prstGeom prst="rect">
            <a:avLst/>
          </a:prstGeom>
          <a:solidFill>
            <a:srgbClr val="0089A1"/>
          </a:solidFill>
          <a:ln/>
        </p:spPr>
      </p:sp>
      <p:sp>
        <p:nvSpPr>
          <p:cNvPr id="14" name="Text 8"/>
          <p:cNvSpPr/>
          <p:nvPr/>
        </p:nvSpPr>
        <p:spPr>
          <a:xfrm>
            <a:off x="411480" y="987552"/>
            <a:ext cx="256946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مهام الفريق الرئيسية</a:t>
            </a:r>
            <a:endParaRPr lang="ar-SA" sz="1250" dirty="0"/>
          </a:p>
        </p:txBody>
      </p:sp>
      <p:sp>
        <p:nvSpPr>
          <p:cNvPr id="15" name="Shape 9"/>
          <p:cNvSpPr/>
          <p:nvPr/>
        </p:nvSpPr>
        <p:spPr>
          <a:xfrm>
            <a:off x="411480" y="1417320"/>
            <a:ext cx="2697480" cy="1097280"/>
          </a:xfrm>
          <a:prstGeom prst="roundRect">
            <a:avLst>
              <a:gd name="adj" fmla="val 6250"/>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pic>
        <p:nvPicPr>
          <p:cNvPr id="16" name="Image 3" descr="/tmp/claude-0/-home-user-Mobile1/ab9bbf47-b054-5f6e-be59-70476e095ce8/scratchpad/assets/icons/chart_green.png">    </p:cNvPr>
          <p:cNvPicPr>
            <a:picLocks noChangeAspect="1"/>
          </p:cNvPicPr>
          <p:nvPr/>
        </p:nvPicPr>
        <p:blipFill>
          <a:blip r:embed="rId4"/>
          <a:stretch>
            <a:fillRect/>
          </a:stretch>
        </p:blipFill>
        <p:spPr>
          <a:xfrm>
            <a:off x="2633472" y="1563624"/>
            <a:ext cx="274320" cy="274320"/>
          </a:xfrm>
          <a:prstGeom prst="rect">
            <a:avLst/>
          </a:prstGeom>
        </p:spPr>
      </p:pic>
      <p:sp>
        <p:nvSpPr>
          <p:cNvPr id="17" name="Text 10"/>
          <p:cNvSpPr/>
          <p:nvPr/>
        </p:nvSpPr>
        <p:spPr>
          <a:xfrm>
            <a:off x="594360" y="1527048"/>
            <a:ext cx="1984248" cy="329184"/>
          </a:xfrm>
          <a:prstGeom prst="rect">
            <a:avLst/>
          </a:prstGeom>
          <a:noFill/>
          <a:ln/>
        </p:spPr>
        <p:txBody>
          <a:bodyPr wrap="square" lIns="0" tIns="0" rIns="0" bIns="0" rtlCol="0" anchor="ctr"/>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تحليل واقع المدرسة</a:t>
            </a:r>
            <a:endParaRPr lang="ar-SA" sz="1050" dirty="0"/>
          </a:p>
        </p:txBody>
      </p:sp>
      <p:sp>
        <p:nvSpPr>
          <p:cNvPr id="18" name="Text 11"/>
          <p:cNvSpPr/>
          <p:nvPr/>
        </p:nvSpPr>
        <p:spPr>
          <a:xfrm>
            <a:off x="594360" y="1874520"/>
            <a:ext cx="2313432" cy="585216"/>
          </a:xfrm>
          <a:prstGeom prst="rect">
            <a:avLst/>
          </a:prstGeom>
          <a:noFill/>
          <a:ln/>
        </p:spPr>
        <p:txBody>
          <a:bodyPr wrap="square" lIns="0" tIns="0" rIns="0" bIns="0" rtlCol="0" anchor="t"/>
          <a:lstStyle/>
          <a:p>
            <a:pPr rtl="1" algn="r" indent="0" marL="0">
              <a:lnSpc>
                <a:spcPct val="112000"/>
              </a:lnSpc>
              <a:buNone/>
            </a:pPr>
            <a:r>
              <a:rPr lang="ar-SA" altLang="en-US" sz="860" dirty="0">
                <a:solidFill>
                  <a:srgbClr val="7C8F87"/>
                </a:solidFill>
                <a:latin typeface="Tajawal" pitchFamily="34" charset="0"/>
                <a:ea typeface="Tajawal" pitchFamily="34" charset="-122"/>
                <a:cs typeface="Tajawal" pitchFamily="34" charset="-120"/>
              </a:rPr>
              <a:t>جمع البيانات ودراسة نتائج التقويم الذاتي وتحليل SWOT</a:t>
            </a:r>
            <a:endParaRPr lang="ar-SA" sz="860" dirty="0"/>
          </a:p>
        </p:txBody>
      </p:sp>
      <p:sp>
        <p:nvSpPr>
          <p:cNvPr id="19" name="Shape 12"/>
          <p:cNvSpPr/>
          <p:nvPr/>
        </p:nvSpPr>
        <p:spPr>
          <a:xfrm>
            <a:off x="411480" y="2660904"/>
            <a:ext cx="2697480" cy="1097280"/>
          </a:xfrm>
          <a:prstGeom prst="roundRect">
            <a:avLst>
              <a:gd name="adj" fmla="val 6250"/>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pic>
        <p:nvPicPr>
          <p:cNvPr id="20" name="Image 4" descr="/tmp/claude-0/-home-user-Mobile1/ab9bbf47-b054-5f6e-be59-70476e095ce8/scratchpad/assets/icons/target_green.png">    </p:cNvPr>
          <p:cNvPicPr>
            <a:picLocks noChangeAspect="1"/>
          </p:cNvPicPr>
          <p:nvPr/>
        </p:nvPicPr>
        <p:blipFill>
          <a:blip r:embed="rId5"/>
          <a:stretch>
            <a:fillRect/>
          </a:stretch>
        </p:blipFill>
        <p:spPr>
          <a:xfrm>
            <a:off x="2633472" y="2807208"/>
            <a:ext cx="274320" cy="274320"/>
          </a:xfrm>
          <a:prstGeom prst="rect">
            <a:avLst/>
          </a:prstGeom>
        </p:spPr>
      </p:pic>
      <p:sp>
        <p:nvSpPr>
          <p:cNvPr id="21" name="Text 13"/>
          <p:cNvSpPr/>
          <p:nvPr/>
        </p:nvSpPr>
        <p:spPr>
          <a:xfrm>
            <a:off x="594360" y="2770632"/>
            <a:ext cx="1984248" cy="329184"/>
          </a:xfrm>
          <a:prstGeom prst="rect">
            <a:avLst/>
          </a:prstGeom>
          <a:noFill/>
          <a:ln/>
        </p:spPr>
        <p:txBody>
          <a:bodyPr wrap="square" lIns="0" tIns="0" rIns="0" bIns="0" rtlCol="0" anchor="ctr"/>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صياغة الأهداف والمؤشرات</a:t>
            </a:r>
            <a:endParaRPr lang="ar-SA" sz="1050" dirty="0"/>
          </a:p>
        </p:txBody>
      </p:sp>
      <p:sp>
        <p:nvSpPr>
          <p:cNvPr id="22" name="Text 14"/>
          <p:cNvSpPr/>
          <p:nvPr/>
        </p:nvSpPr>
        <p:spPr>
          <a:xfrm>
            <a:off x="594360" y="3118104"/>
            <a:ext cx="2313432" cy="585216"/>
          </a:xfrm>
          <a:prstGeom prst="rect">
            <a:avLst/>
          </a:prstGeom>
          <a:noFill/>
          <a:ln/>
        </p:spPr>
        <p:txBody>
          <a:bodyPr wrap="square" lIns="0" tIns="0" rIns="0" bIns="0" rtlCol="0" anchor="t"/>
          <a:lstStyle/>
          <a:p>
            <a:pPr rtl="1" algn="r" indent="0" marL="0">
              <a:lnSpc>
                <a:spcPct val="112000"/>
              </a:lnSpc>
              <a:buNone/>
            </a:pPr>
            <a:r>
              <a:rPr lang="ar-SA" altLang="en-US" sz="860" dirty="0">
                <a:solidFill>
                  <a:srgbClr val="7C8F87"/>
                </a:solidFill>
                <a:latin typeface="Tajawal" pitchFamily="34" charset="0"/>
                <a:ea typeface="Tajawal" pitchFamily="34" charset="-122"/>
                <a:cs typeface="Tajawal" pitchFamily="34" charset="-120"/>
              </a:rPr>
              <a:t>ربط البرامج بالأهداف الاستراتيجية للوزارة</a:t>
            </a:r>
            <a:endParaRPr lang="ar-SA" sz="860" dirty="0"/>
          </a:p>
        </p:txBody>
      </p:sp>
      <p:sp>
        <p:nvSpPr>
          <p:cNvPr id="23" name="Shape 15"/>
          <p:cNvSpPr/>
          <p:nvPr/>
        </p:nvSpPr>
        <p:spPr>
          <a:xfrm>
            <a:off x="411480" y="3904488"/>
            <a:ext cx="2697480" cy="1097280"/>
          </a:xfrm>
          <a:prstGeom prst="roundRect">
            <a:avLst>
              <a:gd name="adj" fmla="val 6250"/>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pic>
        <p:nvPicPr>
          <p:cNvPr id="24" name="Image 5" descr="/tmp/claude-0/-home-user-Mobile1/ab9bbf47-b054-5f6e-be59-70476e095ce8/scratchpad/assets/icons/users_green.png">    </p:cNvPr>
          <p:cNvPicPr>
            <a:picLocks noChangeAspect="1"/>
          </p:cNvPicPr>
          <p:nvPr/>
        </p:nvPicPr>
        <p:blipFill>
          <a:blip r:embed="rId6"/>
          <a:stretch>
            <a:fillRect/>
          </a:stretch>
        </p:blipFill>
        <p:spPr>
          <a:xfrm>
            <a:off x="2633472" y="4050792"/>
            <a:ext cx="274320" cy="274320"/>
          </a:xfrm>
          <a:prstGeom prst="rect">
            <a:avLst/>
          </a:prstGeom>
        </p:spPr>
      </p:pic>
      <p:sp>
        <p:nvSpPr>
          <p:cNvPr id="25" name="Text 16"/>
          <p:cNvSpPr/>
          <p:nvPr/>
        </p:nvSpPr>
        <p:spPr>
          <a:xfrm>
            <a:off x="594360" y="4014216"/>
            <a:ext cx="1984248" cy="329184"/>
          </a:xfrm>
          <a:prstGeom prst="rect">
            <a:avLst/>
          </a:prstGeom>
          <a:noFill/>
          <a:ln/>
        </p:spPr>
        <p:txBody>
          <a:bodyPr wrap="square" lIns="0" tIns="0" rIns="0" bIns="0" rtlCol="0" anchor="ctr"/>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توزيع الأدوار والمسؤوليات</a:t>
            </a:r>
            <a:endParaRPr lang="ar-SA" sz="1050" dirty="0"/>
          </a:p>
        </p:txBody>
      </p:sp>
      <p:sp>
        <p:nvSpPr>
          <p:cNvPr id="26" name="Text 17"/>
          <p:cNvSpPr/>
          <p:nvPr/>
        </p:nvSpPr>
        <p:spPr>
          <a:xfrm>
            <a:off x="594360" y="4361688"/>
            <a:ext cx="2313432" cy="585216"/>
          </a:xfrm>
          <a:prstGeom prst="rect">
            <a:avLst/>
          </a:prstGeom>
          <a:noFill/>
          <a:ln/>
        </p:spPr>
        <p:txBody>
          <a:bodyPr wrap="square" lIns="0" tIns="0" rIns="0" bIns="0" rtlCol="0" anchor="t"/>
          <a:lstStyle/>
          <a:p>
            <a:pPr rtl="1" algn="r" indent="0" marL="0">
              <a:lnSpc>
                <a:spcPct val="112000"/>
              </a:lnSpc>
              <a:buNone/>
            </a:pPr>
            <a:r>
              <a:rPr lang="ar-SA" altLang="en-US" sz="860" dirty="0">
                <a:solidFill>
                  <a:srgbClr val="7C8F87"/>
                </a:solidFill>
                <a:latin typeface="Tajawal" pitchFamily="34" charset="0"/>
                <a:ea typeface="Tajawal" pitchFamily="34" charset="-122"/>
                <a:cs typeface="Tajawal" pitchFamily="34" charset="-120"/>
              </a:rPr>
              <a:t>تحديد مسؤول رئيسي ومساعد لكل برنامج</a:t>
            </a:r>
            <a:endParaRPr lang="ar-SA" sz="860" dirty="0"/>
          </a:p>
        </p:txBody>
      </p:sp>
      <p:sp>
        <p:nvSpPr>
          <p:cNvPr id="27" name="Shape 18"/>
          <p:cNvSpPr/>
          <p:nvPr/>
        </p:nvSpPr>
        <p:spPr>
          <a:xfrm>
            <a:off x="411480" y="5148072"/>
            <a:ext cx="2697480" cy="1097280"/>
          </a:xfrm>
          <a:prstGeom prst="roundRect">
            <a:avLst>
              <a:gd name="adj" fmla="val 6250"/>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pic>
        <p:nvPicPr>
          <p:cNvPr id="28" name="Image 6" descr="/tmp/claude-0/-home-user-Mobile1/ab9bbf47-b054-5f6e-be59-70476e095ce8/scratchpad/assets/icons/refresh_green.png">    </p:cNvPr>
          <p:cNvPicPr>
            <a:picLocks noChangeAspect="1"/>
          </p:cNvPicPr>
          <p:nvPr/>
        </p:nvPicPr>
        <p:blipFill>
          <a:blip r:embed="rId7"/>
          <a:stretch>
            <a:fillRect/>
          </a:stretch>
        </p:blipFill>
        <p:spPr>
          <a:xfrm>
            <a:off x="2633472" y="5294376"/>
            <a:ext cx="274320" cy="274320"/>
          </a:xfrm>
          <a:prstGeom prst="rect">
            <a:avLst/>
          </a:prstGeom>
        </p:spPr>
      </p:pic>
      <p:sp>
        <p:nvSpPr>
          <p:cNvPr id="29" name="Text 19"/>
          <p:cNvSpPr/>
          <p:nvPr/>
        </p:nvSpPr>
        <p:spPr>
          <a:xfrm>
            <a:off x="594360" y="5257800"/>
            <a:ext cx="1984248" cy="329184"/>
          </a:xfrm>
          <a:prstGeom prst="rect">
            <a:avLst/>
          </a:prstGeom>
          <a:noFill/>
          <a:ln/>
        </p:spPr>
        <p:txBody>
          <a:bodyPr wrap="square" lIns="0" tIns="0" rIns="0" bIns="0" rtlCol="0" anchor="ctr"/>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المتابعة والتقويم</a:t>
            </a:r>
            <a:endParaRPr lang="ar-SA" sz="1050" dirty="0"/>
          </a:p>
        </p:txBody>
      </p:sp>
      <p:sp>
        <p:nvSpPr>
          <p:cNvPr id="30" name="Text 20"/>
          <p:cNvSpPr/>
          <p:nvPr/>
        </p:nvSpPr>
        <p:spPr>
          <a:xfrm>
            <a:off x="594360" y="5605272"/>
            <a:ext cx="2313432" cy="585216"/>
          </a:xfrm>
          <a:prstGeom prst="rect">
            <a:avLst/>
          </a:prstGeom>
          <a:noFill/>
          <a:ln/>
        </p:spPr>
        <p:txBody>
          <a:bodyPr wrap="square" lIns="0" tIns="0" rIns="0" bIns="0" rtlCol="0" anchor="t"/>
          <a:lstStyle/>
          <a:p>
            <a:pPr rtl="1" algn="r" indent="0" marL="0">
              <a:lnSpc>
                <a:spcPct val="112000"/>
              </a:lnSpc>
              <a:buNone/>
            </a:pPr>
            <a:r>
              <a:rPr lang="ar-SA" altLang="en-US" sz="860" dirty="0">
                <a:solidFill>
                  <a:srgbClr val="7C8F87"/>
                </a:solidFill>
                <a:latin typeface="Tajawal" pitchFamily="34" charset="0"/>
                <a:ea typeface="Tajawal" pitchFamily="34" charset="-122"/>
                <a:cs typeface="Tajawal" pitchFamily="34" charset="-120"/>
              </a:rPr>
              <a:t>رصد التنفيذ وإعداد التقارير الفصلية والسنوية</a:t>
            </a:r>
            <a:endParaRPr lang="ar-SA" sz="8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penline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فريق إعداد الخطة — مشاركة الكادر</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٠٥</a:t>
            </a:r>
            <a:endParaRPr lang="ar-SA" sz="850" dirty="0"/>
          </a:p>
        </p:txBody>
      </p:sp>
      <p:sp>
        <p:nvSpPr>
          <p:cNvPr id="9" name="Shape 4"/>
          <p:cNvSpPr/>
          <p:nvPr/>
        </p:nvSpPr>
        <p:spPr>
          <a:xfrm>
            <a:off x="411480" y="1060704"/>
            <a:ext cx="11368735" cy="713232"/>
          </a:xfrm>
          <a:prstGeom prst="roundRect">
            <a:avLst>
              <a:gd name="adj" fmla="val 9615"/>
            </a:avLst>
          </a:prstGeom>
          <a:solidFill>
            <a:srgbClr val="EBF6F8"/>
          </a:solidFill>
          <a:ln w="9525">
            <a:solidFill>
              <a:srgbClr val="CBE4EA"/>
            </a:solidFill>
            <a:prstDash val="solid"/>
          </a:ln>
        </p:spPr>
      </p:sp>
      <p:pic>
        <p:nvPicPr>
          <p:cNvPr id="10" name="Image 3" descr="/tmp/claude-0/-home-user-Mobile1/ab9bbf47-b054-5f6e-be59-70476e095ce8/scratchpad/assets/icons/info_teal.png">    </p:cNvPr>
          <p:cNvPicPr>
            <a:picLocks noChangeAspect="1"/>
          </p:cNvPicPr>
          <p:nvPr/>
        </p:nvPicPr>
        <p:blipFill>
          <a:blip r:embed="rId4"/>
          <a:stretch>
            <a:fillRect/>
          </a:stretch>
        </p:blipFill>
        <p:spPr>
          <a:xfrm>
            <a:off x="11277295" y="1280160"/>
            <a:ext cx="274320" cy="274320"/>
          </a:xfrm>
          <a:prstGeom prst="rect">
            <a:avLst/>
          </a:prstGeom>
        </p:spPr>
      </p:pic>
      <p:sp>
        <p:nvSpPr>
          <p:cNvPr id="11" name="Text 5"/>
          <p:cNvSpPr/>
          <p:nvPr/>
        </p:nvSpPr>
        <p:spPr>
          <a:xfrm>
            <a:off x="640080" y="1060704"/>
            <a:ext cx="10454335" cy="713232"/>
          </a:xfrm>
          <a:prstGeom prst="rect">
            <a:avLst/>
          </a:prstGeom>
          <a:noFill/>
          <a:ln/>
        </p:spPr>
        <p:txBody>
          <a:bodyPr wrap="square" lIns="0" tIns="0" rIns="0" bIns="0" rtlCol="0" anchor="ctr"/>
          <a:lstStyle/>
          <a:p>
            <a:pPr rtl="1" algn="r" indent="0" marL="0">
              <a:lnSpc>
                <a:spcPct val="118000"/>
              </a:lnSpc>
              <a:buNone/>
            </a:pPr>
            <a:r>
              <a:rPr lang="ar-SA" altLang="en-US" sz="980" dirty="0">
                <a:solidFill>
                  <a:srgbClr val="0B4A56"/>
                </a:solidFill>
                <a:latin typeface="Tajawal" pitchFamily="34" charset="0"/>
                <a:ea typeface="Tajawal" pitchFamily="34" charset="-122"/>
                <a:cs typeface="Tajawal" pitchFamily="34" charset="-120"/>
              </a:rPr>
              <a:t>يشترط مشاركة ما لا يقل عن (٩٠٪) من الكادر التعليمي في إعداد الخطة التشغيلية من خلال المساهمة في تحليل الواقع المدرسي، وتحديد الاحتياجات، واقتراح البرامج والمبادرات، وتزويد فريق الخطة بالبيانات والمعلومات اللازمة.</a:t>
            </a:r>
            <a:endParaRPr lang="ar-SA" sz="98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33008" y="1956816"/>
          <a:ext cx="5547208" cy="914400"/>
        </p:xfrm>
        <a:graphic>
          <a:graphicData uri="http://schemas.openxmlformats.org/drawingml/2006/table">
            <a:tbl>
              <a:tblPr/>
              <a:tblGrid>
                <a:gridCol w="777240"/>
                <a:gridCol w="960120"/>
                <a:gridCol w="3480664"/>
                <a:gridCol w="329184"/>
              </a:tblGrid>
              <a:tr h="274320">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التوقيع</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اسم المعلم</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المهمة في الخطة التشغيلية</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م</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تحليل نتائج الطلاب وتحديد الاحتياجات التعليمية واقتراح البرامج العلاجية والإثرائية.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برامج تحسين نواتج التعلم ومتابعة مؤشرات الأداء الخاصة بها.</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٢</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المساهمة في إعداد برامج تنمية المهارات القرائية والكتابية.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٣</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المساهمة في إعداد برامج تنمية التفكير والابتكار والبحث العلمي.</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٤</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وتنفيذ برامج رعاية الموهوبين والمسابقات العلمية.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٥</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برامج التحول الرقمي وتوظيف التقنية والذكاء الاصطناعي في التعليم.</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٦</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جمع وتحليل بيانات التحصيل الدراسي وتزويد فريق الخطة بالتقارير اللازمة.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٧</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وتنفيذ برامج القيم والهوية الوطنية والمواطنة الرقمية.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٨</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وتنفيذ برامج الانضباط المدرسي والسلوك الإيجابي.</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٩</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برامج النشاط الطلابي والمبادرات التطوعية والمجتمعية.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١٠</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11480" y="1956816"/>
          <a:ext cx="5547208" cy="914400"/>
        </p:xfrm>
        <a:graphic>
          <a:graphicData uri="http://schemas.openxmlformats.org/drawingml/2006/table">
            <a:tbl>
              <a:tblPr/>
              <a:tblGrid>
                <a:gridCol w="777240"/>
                <a:gridCol w="960120"/>
                <a:gridCol w="3480664"/>
                <a:gridCol w="329184"/>
              </a:tblGrid>
              <a:tr h="274320">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التوقيع</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اسم المعلم</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المهمة في الخطة التشغيلية</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م</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المساهمة في إعداد برامج الأمن والسلامة وخطط الطوارئ والإخلاء.</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١١</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المشاركة في تحسين البيئة المدرسية ورصد الاحتياجات والمقترحات التطويرية.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١٢</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أدوات القياس والتقويم وتحليل النتائج وقياس الأثر.</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١٣</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المساهمة في إعداد برامج الشراكة المجتمعية والتواصل مع أولياء الأمور.</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١٤</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توثيق البرامج والمبادرات وجمع الشواهد والأدلة الداعمة للخطة التشغيلية.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١٥</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متابعة تنفيذ البرامج المسندة إليه ورفع تقارير الإنجاز الدورية.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١٦</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المساهمة في إعداد برامج التطوير المهني ونقل الخبرات التعليمية.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١٧</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إعداد مبادرات تحسين الخدمات المساندة ورفع رضا المستفيدين.</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١٨</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رصد المخاطر المحتملة واقتراح الإجراءات الوقائية والعلاجية.</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١٩</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402336">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90" dirty="0">
                          <a:solidFill>
                            <a:srgbClr val="33473F"/>
                          </a:solidFill>
                          <a:latin typeface="Tajawal" pitchFamily="34" charset="0"/>
                          <a:ea typeface="Tajawal" pitchFamily="34" charset="-122"/>
                          <a:cs typeface="Tajawal" pitchFamily="34" charset="-120"/>
                        </a:rPr>
                        <a:t>المشاركة في مراجعة الخطة التشغيلية وتحديثها واقتراح فرص التحسين المستمر.</a:t>
                      </a:r>
                      <a:endParaRPr lang="ar-SA" sz="79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00" dirty="0">
                          <a:solidFill>
                            <a:srgbClr val="33473F"/>
                          </a:solidFill>
                          <a:latin typeface="Tajawal" pitchFamily="34" charset="0"/>
                          <a:ea typeface="Tajawal" pitchFamily="34" charset="-122"/>
                          <a:cs typeface="Tajawal" pitchFamily="34" charset="-120"/>
                        </a:rPr>
                        <a:t>٢٠</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database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البيانات الإحصائية</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٠٦</a:t>
            </a:r>
            <a:endParaRPr lang="ar-SA" sz="850" dirty="0"/>
          </a:p>
        </p:txBody>
      </p:sp>
      <p:sp>
        <p:nvSpPr>
          <p:cNvPr id="9" name="Shape 4"/>
          <p:cNvSpPr/>
          <p:nvPr/>
        </p:nvSpPr>
        <p:spPr>
          <a:xfrm>
            <a:off x="11729923" y="1051560"/>
            <a:ext cx="50292" cy="201168"/>
          </a:xfrm>
          <a:prstGeom prst="rect">
            <a:avLst/>
          </a:prstGeom>
          <a:solidFill>
            <a:srgbClr val="0089A1"/>
          </a:solidFill>
          <a:ln/>
        </p:spPr>
      </p:sp>
      <p:sp>
        <p:nvSpPr>
          <p:cNvPr id="10" name="Text 5"/>
          <p:cNvSpPr/>
          <p:nvPr/>
        </p:nvSpPr>
        <p:spPr>
          <a:xfrm>
            <a:off x="8854135" y="1005840"/>
            <a:ext cx="279806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البيانات الأساسية للمدرسة</a:t>
            </a:r>
            <a:endParaRPr lang="ar-SA"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11368735" cy="914400"/>
        </p:xfrm>
        <a:graphic>
          <a:graphicData uri="http://schemas.openxmlformats.org/drawingml/2006/table">
            <a:tbl>
              <a:tblPr/>
              <a:tblGrid>
                <a:gridCol w="1263193"/>
                <a:gridCol w="1263193"/>
                <a:gridCol w="1263193"/>
                <a:gridCol w="1263193"/>
                <a:gridCol w="1263193"/>
                <a:gridCol w="1263193"/>
                <a:gridCol w="1263193"/>
                <a:gridCol w="1263193"/>
                <a:gridCol w="1263193"/>
              </a:tblGrid>
              <a:tr h="310896">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برنامج الدمج</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الجوال</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رقم الهاتف</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الحالة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عدد الشُّعَب</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نوع المبنى</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تاريخ التأسيس</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المرحلة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اسم المدرسة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457200">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dirty="0">
                          <a:solidFill>
                            <a:srgbClr val="7C8F87"/>
                          </a:solidFill>
                          <a:latin typeface="Tajawal" pitchFamily="34" charset="0"/>
                          <a:ea typeface="Tajawal" pitchFamily="34" charset="-122"/>
                          <a:cs typeface="Tajawal" pitchFamily="34" charset="-120"/>
                        </a:rPr>
                        <a:t>…………</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r>
            </a:tbl>
          </a:graphicData>
        </a:graphic>
      </p:graphicFrame>
      <p:sp>
        <p:nvSpPr>
          <p:cNvPr id="12" name="Shape 6"/>
          <p:cNvSpPr/>
          <p:nvPr/>
        </p:nvSpPr>
        <p:spPr>
          <a:xfrm>
            <a:off x="11729923" y="2441448"/>
            <a:ext cx="50292" cy="201168"/>
          </a:xfrm>
          <a:prstGeom prst="rect">
            <a:avLst/>
          </a:prstGeom>
          <a:solidFill>
            <a:srgbClr val="0089A1"/>
          </a:solidFill>
          <a:ln/>
        </p:spPr>
      </p:sp>
      <p:sp>
        <p:nvSpPr>
          <p:cNvPr id="13" name="Text 7"/>
          <p:cNvSpPr/>
          <p:nvPr/>
        </p:nvSpPr>
        <p:spPr>
          <a:xfrm>
            <a:off x="8854135" y="2395728"/>
            <a:ext cx="279806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الهيئة الإدارية</a:t>
            </a:r>
            <a:endParaRPr lang="ar-SA" sz="12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411480" y="2761488"/>
          <a:ext cx="11368735" cy="914400"/>
        </p:xfrm>
        <a:graphic>
          <a:graphicData uri="http://schemas.openxmlformats.org/drawingml/2006/table">
            <a:tbl>
              <a:tblPr/>
              <a:tblGrid>
                <a:gridCol w="1996135"/>
                <a:gridCol w="2011680"/>
                <a:gridCol w="1920240"/>
                <a:gridCol w="2011680"/>
                <a:gridCol w="2377440"/>
                <a:gridCol w="1051560"/>
              </a:tblGrid>
              <a:tr h="457200">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تاريخ الحصول على دورة مديري المدارس</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تاريخ المباشرة بالمدرسة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عدد سنوات الخدمة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آخر مؤهل وتاريخه</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الاسم (رباعيًا)</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طبيعة العمل</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38404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63E33"/>
                          </a:solidFill>
                          <a:latin typeface="Tajawal" pitchFamily="34" charset="0"/>
                          <a:ea typeface="Tajawal" pitchFamily="34" charset="-122"/>
                          <a:cs typeface="Tajawal" pitchFamily="34" charset="-120"/>
                        </a:rPr>
                        <a:t>مدير</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8404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900" b="1" dirty="0">
                          <a:solidFill>
                            <a:srgbClr val="063E33"/>
                          </a:solidFill>
                          <a:latin typeface="Tajawal" pitchFamily="34" charset="0"/>
                          <a:ea typeface="Tajawal" pitchFamily="34" charset="-122"/>
                          <a:cs typeface="Tajawal" pitchFamily="34" charset="-120"/>
                        </a:rPr>
                        <a:t>وكيل</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8404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63E33"/>
                          </a:solidFill>
                          <a:latin typeface="Tajawal" pitchFamily="34" charset="0"/>
                          <a:ea typeface="Tajawal" pitchFamily="34" charset="-122"/>
                          <a:cs typeface="Tajawal" pitchFamily="34" charset="-120"/>
                        </a:rPr>
                        <a:t>وكيل</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bl>
          </a:graphicData>
        </a:graphic>
      </p:graphicFrame>
      <p:sp>
        <p:nvSpPr>
          <p:cNvPr id="15" name="Shape 8"/>
          <p:cNvSpPr/>
          <p:nvPr/>
        </p:nvSpPr>
        <p:spPr>
          <a:xfrm>
            <a:off x="9143771" y="4709160"/>
            <a:ext cx="2636444" cy="1371600"/>
          </a:xfrm>
          <a:prstGeom prst="roundRect">
            <a:avLst>
              <a:gd name="adj" fmla="val 5000"/>
            </a:avLst>
          </a:prstGeom>
          <a:solidFill>
            <a:srgbClr val="095242"/>
          </a:solidFill>
          <a:ln/>
          <a:effectLst>
            <a:outerShdw sx="100000" sy="100000" kx="0" ky="0" algn="bl" rotWithShape="0" blurRad="101600" dist="25400" dir="5400000">
              <a:srgbClr val="083528">
                <a:alpha val="25000"/>
              </a:srgbClr>
            </a:outerShdw>
          </a:effectLst>
        </p:spPr>
      </p:sp>
      <p:sp>
        <p:nvSpPr>
          <p:cNvPr id="16" name="Text 9"/>
          <p:cNvSpPr/>
          <p:nvPr/>
        </p:nvSpPr>
        <p:spPr>
          <a:xfrm>
            <a:off x="9143771" y="4965192"/>
            <a:ext cx="2636444" cy="457200"/>
          </a:xfrm>
          <a:prstGeom prst="rect">
            <a:avLst/>
          </a:prstGeom>
          <a:noFill/>
          <a:ln/>
        </p:spPr>
        <p:txBody>
          <a:bodyPr wrap="square" lIns="0" tIns="0" rIns="0" bIns="0" rtlCol="0" anchor="t"/>
          <a:lstStyle/>
          <a:p>
            <a:pPr rtl="1" algn="ctr" indent="0" marL="0">
              <a:buNone/>
            </a:pPr>
            <a:r>
              <a:rPr lang="ar-SA" altLang="en-US" sz="1600" b="1" dirty="0">
                <a:solidFill>
                  <a:srgbClr val="FFFFFF"/>
                </a:solidFill>
                <a:latin typeface="Tajawal" pitchFamily="34" charset="0"/>
                <a:ea typeface="Tajawal" pitchFamily="34" charset="-122"/>
                <a:cs typeface="Tajawal" pitchFamily="34" charset="-120"/>
              </a:rPr>
              <a:t>…………</a:t>
            </a:r>
            <a:endParaRPr lang="ar-SA" sz="1600" dirty="0"/>
          </a:p>
        </p:txBody>
      </p:sp>
      <p:sp>
        <p:nvSpPr>
          <p:cNvPr id="17" name="Text 10"/>
          <p:cNvSpPr/>
          <p:nvPr/>
        </p:nvSpPr>
        <p:spPr>
          <a:xfrm>
            <a:off x="9143771" y="5513832"/>
            <a:ext cx="2636444" cy="365760"/>
          </a:xfrm>
          <a:prstGeom prst="rect">
            <a:avLst/>
          </a:prstGeom>
          <a:noFill/>
          <a:ln/>
        </p:spPr>
        <p:txBody>
          <a:bodyPr wrap="square" lIns="0" tIns="0" rIns="0" bIns="0" rtlCol="0" anchor="t"/>
          <a:lstStyle/>
          <a:p>
            <a:pPr rtl="1" algn="ctr" indent="0" marL="0">
              <a:buNone/>
            </a:pPr>
            <a:r>
              <a:rPr lang="ar-SA" altLang="en-US" sz="1250" b="1" dirty="0">
                <a:solidFill>
                  <a:srgbClr val="CFE2DB"/>
                </a:solidFill>
                <a:latin typeface="Tajawal" pitchFamily="34" charset="0"/>
                <a:ea typeface="Tajawal" pitchFamily="34" charset="-122"/>
                <a:cs typeface="Tajawal" pitchFamily="34" charset="-120"/>
              </a:rPr>
              <a:t>إجمالي الطلاب</a:t>
            </a:r>
            <a:endParaRPr lang="ar-SA" sz="1250" dirty="0"/>
          </a:p>
        </p:txBody>
      </p:sp>
      <p:sp>
        <p:nvSpPr>
          <p:cNvPr id="18" name="Shape 11"/>
          <p:cNvSpPr/>
          <p:nvPr/>
        </p:nvSpPr>
        <p:spPr>
          <a:xfrm>
            <a:off x="6233008" y="4709160"/>
            <a:ext cx="2636444" cy="1371600"/>
          </a:xfrm>
          <a:prstGeom prst="roundRect">
            <a:avLst>
              <a:gd name="adj" fmla="val 5000"/>
            </a:avLst>
          </a:prstGeom>
          <a:solidFill>
            <a:srgbClr val="FFFFFF"/>
          </a:solidFill>
          <a:ln w="12700">
            <a:solidFill>
              <a:srgbClr val="095242"/>
            </a:solidFill>
            <a:prstDash val="solid"/>
          </a:ln>
          <a:effectLst>
            <a:outerShdw sx="100000" sy="100000" kx="0" ky="0" algn="bl" rotWithShape="0" blurRad="63500" dist="12700" dir="5400000">
              <a:srgbClr val="0E3B30">
                <a:alpha val="6000"/>
              </a:srgbClr>
            </a:outerShdw>
          </a:effectLst>
        </p:spPr>
      </p:sp>
      <p:sp>
        <p:nvSpPr>
          <p:cNvPr id="19" name="Text 12"/>
          <p:cNvSpPr/>
          <p:nvPr/>
        </p:nvSpPr>
        <p:spPr>
          <a:xfrm>
            <a:off x="6233008" y="4965192"/>
            <a:ext cx="2636444" cy="457200"/>
          </a:xfrm>
          <a:prstGeom prst="rect">
            <a:avLst/>
          </a:prstGeom>
          <a:noFill/>
          <a:ln/>
        </p:spPr>
        <p:txBody>
          <a:bodyPr wrap="square" lIns="0" tIns="0" rIns="0" bIns="0" rtlCol="0" anchor="t"/>
          <a:lstStyle/>
          <a:p>
            <a:pPr rtl="1" algn="ctr" indent="0" marL="0">
              <a:buNone/>
            </a:pPr>
            <a:r>
              <a:rPr lang="ar-SA" altLang="en-US" sz="1600" b="1" dirty="0">
                <a:solidFill>
                  <a:srgbClr val="095242"/>
                </a:solidFill>
                <a:latin typeface="Tajawal" pitchFamily="34" charset="0"/>
                <a:ea typeface="Tajawal" pitchFamily="34" charset="-122"/>
                <a:cs typeface="Tajawal" pitchFamily="34" charset="-120"/>
              </a:rPr>
              <a:t>…………</a:t>
            </a:r>
            <a:endParaRPr lang="ar-SA" sz="1600" dirty="0"/>
          </a:p>
        </p:txBody>
      </p:sp>
      <p:sp>
        <p:nvSpPr>
          <p:cNvPr id="20" name="Text 13"/>
          <p:cNvSpPr/>
          <p:nvPr/>
        </p:nvSpPr>
        <p:spPr>
          <a:xfrm>
            <a:off x="6233008" y="5513832"/>
            <a:ext cx="2636444" cy="365760"/>
          </a:xfrm>
          <a:prstGeom prst="rect">
            <a:avLst/>
          </a:prstGeom>
          <a:noFill/>
          <a:ln/>
        </p:spPr>
        <p:txBody>
          <a:bodyPr wrap="square" lIns="0" tIns="0" rIns="0" bIns="0" rtlCol="0" anchor="t"/>
          <a:lstStyle/>
          <a:p>
            <a:pPr rtl="1" algn="ctr" indent="0" marL="0">
              <a:buNone/>
            </a:pPr>
            <a:r>
              <a:rPr lang="ar-SA" altLang="en-US" sz="1250" b="1" dirty="0">
                <a:solidFill>
                  <a:srgbClr val="33473F"/>
                </a:solidFill>
                <a:latin typeface="Tajawal" pitchFamily="34" charset="0"/>
                <a:ea typeface="Tajawal" pitchFamily="34" charset="-122"/>
                <a:cs typeface="Tajawal" pitchFamily="34" charset="-120"/>
              </a:rPr>
              <a:t>عدد الفصول</a:t>
            </a:r>
            <a:endParaRPr lang="ar-SA" sz="1250" dirty="0"/>
          </a:p>
        </p:txBody>
      </p:sp>
      <p:sp>
        <p:nvSpPr>
          <p:cNvPr id="21" name="Shape 14"/>
          <p:cNvSpPr/>
          <p:nvPr/>
        </p:nvSpPr>
        <p:spPr>
          <a:xfrm>
            <a:off x="3322244" y="4709160"/>
            <a:ext cx="2636444" cy="1371600"/>
          </a:xfrm>
          <a:prstGeom prst="roundRect">
            <a:avLst>
              <a:gd name="adj" fmla="val 5000"/>
            </a:avLst>
          </a:prstGeom>
          <a:solidFill>
            <a:srgbClr val="095242"/>
          </a:solidFill>
          <a:ln/>
          <a:effectLst>
            <a:outerShdw sx="100000" sy="100000" kx="0" ky="0" algn="bl" rotWithShape="0" blurRad="101600" dist="25400" dir="5400000">
              <a:srgbClr val="083528">
                <a:alpha val="25000"/>
              </a:srgbClr>
            </a:outerShdw>
          </a:effectLst>
        </p:spPr>
      </p:sp>
      <p:sp>
        <p:nvSpPr>
          <p:cNvPr id="22" name="Text 15"/>
          <p:cNvSpPr/>
          <p:nvPr/>
        </p:nvSpPr>
        <p:spPr>
          <a:xfrm>
            <a:off x="3322244" y="4965192"/>
            <a:ext cx="2636444" cy="457200"/>
          </a:xfrm>
          <a:prstGeom prst="rect">
            <a:avLst/>
          </a:prstGeom>
          <a:noFill/>
          <a:ln/>
        </p:spPr>
        <p:txBody>
          <a:bodyPr wrap="square" lIns="0" tIns="0" rIns="0" bIns="0" rtlCol="0" anchor="t"/>
          <a:lstStyle/>
          <a:p>
            <a:pPr rtl="1" algn="ctr" indent="0" marL="0">
              <a:buNone/>
            </a:pPr>
            <a:r>
              <a:rPr lang="ar-SA" altLang="en-US" sz="1600" b="1" dirty="0">
                <a:solidFill>
                  <a:srgbClr val="FFFFFF"/>
                </a:solidFill>
                <a:latin typeface="Tajawal" pitchFamily="34" charset="0"/>
                <a:ea typeface="Tajawal" pitchFamily="34" charset="-122"/>
                <a:cs typeface="Tajawal" pitchFamily="34" charset="-120"/>
              </a:rPr>
              <a:t>…………</a:t>
            </a:r>
            <a:endParaRPr lang="ar-SA" sz="1600" dirty="0"/>
          </a:p>
        </p:txBody>
      </p:sp>
      <p:sp>
        <p:nvSpPr>
          <p:cNvPr id="23" name="Text 16"/>
          <p:cNvSpPr/>
          <p:nvPr/>
        </p:nvSpPr>
        <p:spPr>
          <a:xfrm>
            <a:off x="3322244" y="5513832"/>
            <a:ext cx="2636444" cy="365760"/>
          </a:xfrm>
          <a:prstGeom prst="rect">
            <a:avLst/>
          </a:prstGeom>
          <a:noFill/>
          <a:ln/>
        </p:spPr>
        <p:txBody>
          <a:bodyPr wrap="square" lIns="0" tIns="0" rIns="0" bIns="0" rtlCol="0" anchor="t"/>
          <a:lstStyle/>
          <a:p>
            <a:pPr rtl="1" algn="ctr" indent="0" marL="0">
              <a:buNone/>
            </a:pPr>
            <a:r>
              <a:rPr lang="ar-SA" altLang="en-US" sz="1250" b="1" dirty="0">
                <a:solidFill>
                  <a:srgbClr val="CFE2DB"/>
                </a:solidFill>
                <a:latin typeface="Tajawal" pitchFamily="34" charset="0"/>
                <a:ea typeface="Tajawal" pitchFamily="34" charset="-122"/>
                <a:cs typeface="Tajawal" pitchFamily="34" charset="-120"/>
              </a:rPr>
              <a:t>عدد المعلمين</a:t>
            </a:r>
            <a:endParaRPr lang="ar-SA" sz="1250" dirty="0"/>
          </a:p>
        </p:txBody>
      </p:sp>
      <p:sp>
        <p:nvSpPr>
          <p:cNvPr id="24" name="Shape 17"/>
          <p:cNvSpPr/>
          <p:nvPr/>
        </p:nvSpPr>
        <p:spPr>
          <a:xfrm>
            <a:off x="411480" y="4709160"/>
            <a:ext cx="2636444" cy="1371600"/>
          </a:xfrm>
          <a:prstGeom prst="roundRect">
            <a:avLst>
              <a:gd name="adj" fmla="val 5000"/>
            </a:avLst>
          </a:prstGeom>
          <a:solidFill>
            <a:srgbClr val="FFFFFF"/>
          </a:solidFill>
          <a:ln w="12700">
            <a:solidFill>
              <a:srgbClr val="095242"/>
            </a:solidFill>
            <a:prstDash val="solid"/>
          </a:ln>
          <a:effectLst>
            <a:outerShdw sx="100000" sy="100000" kx="0" ky="0" algn="bl" rotWithShape="0" blurRad="63500" dist="12700" dir="5400000">
              <a:srgbClr val="0E3B30">
                <a:alpha val="6000"/>
              </a:srgbClr>
            </a:outerShdw>
          </a:effectLst>
        </p:spPr>
      </p:sp>
      <p:sp>
        <p:nvSpPr>
          <p:cNvPr id="25" name="Text 18"/>
          <p:cNvSpPr/>
          <p:nvPr/>
        </p:nvSpPr>
        <p:spPr>
          <a:xfrm>
            <a:off x="411480" y="4965192"/>
            <a:ext cx="2636444" cy="457200"/>
          </a:xfrm>
          <a:prstGeom prst="rect">
            <a:avLst/>
          </a:prstGeom>
          <a:noFill/>
          <a:ln/>
        </p:spPr>
        <p:txBody>
          <a:bodyPr wrap="square" lIns="0" tIns="0" rIns="0" bIns="0" rtlCol="0" anchor="t"/>
          <a:lstStyle/>
          <a:p>
            <a:pPr rtl="1" algn="ctr" indent="0" marL="0">
              <a:buNone/>
            </a:pPr>
            <a:r>
              <a:rPr lang="ar-SA" altLang="en-US" sz="1600" b="1" dirty="0">
                <a:solidFill>
                  <a:srgbClr val="095242"/>
                </a:solidFill>
                <a:latin typeface="Tajawal" pitchFamily="34" charset="0"/>
                <a:ea typeface="Tajawal" pitchFamily="34" charset="-122"/>
                <a:cs typeface="Tajawal" pitchFamily="34" charset="-120"/>
              </a:rPr>
              <a:t>…………</a:t>
            </a:r>
            <a:endParaRPr lang="ar-SA" sz="1600" dirty="0"/>
          </a:p>
        </p:txBody>
      </p:sp>
      <p:sp>
        <p:nvSpPr>
          <p:cNvPr id="26" name="Text 19"/>
          <p:cNvSpPr/>
          <p:nvPr/>
        </p:nvSpPr>
        <p:spPr>
          <a:xfrm>
            <a:off x="411480" y="5513832"/>
            <a:ext cx="2636444" cy="365760"/>
          </a:xfrm>
          <a:prstGeom prst="rect">
            <a:avLst/>
          </a:prstGeom>
          <a:noFill/>
          <a:ln/>
        </p:spPr>
        <p:txBody>
          <a:bodyPr wrap="square" lIns="0" tIns="0" rIns="0" bIns="0" rtlCol="0" anchor="t"/>
          <a:lstStyle/>
          <a:p>
            <a:pPr rtl="1" algn="ctr" indent="0" marL="0">
              <a:buNone/>
            </a:pPr>
            <a:r>
              <a:rPr lang="ar-SA" altLang="en-US" sz="1250" b="1" dirty="0">
                <a:solidFill>
                  <a:srgbClr val="33473F"/>
                </a:solidFill>
                <a:latin typeface="Tajawal" pitchFamily="34" charset="0"/>
                <a:ea typeface="Tajawal" pitchFamily="34" charset="-122"/>
                <a:cs typeface="Tajawal" pitchFamily="34" charset="-120"/>
              </a:rPr>
              <a:t>شاغلو الوظائف</a:t>
            </a:r>
            <a:endParaRPr lang="ar-SA"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gradcap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بيانات الطلاب والمعلمين</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٠٧</a:t>
            </a:r>
            <a:endParaRPr lang="ar-SA" sz="850" dirty="0"/>
          </a:p>
        </p:txBody>
      </p:sp>
      <p:sp>
        <p:nvSpPr>
          <p:cNvPr id="9" name="Shape 4"/>
          <p:cNvSpPr/>
          <p:nvPr/>
        </p:nvSpPr>
        <p:spPr>
          <a:xfrm>
            <a:off x="11729923" y="1014984"/>
            <a:ext cx="50292" cy="201168"/>
          </a:xfrm>
          <a:prstGeom prst="rect">
            <a:avLst/>
          </a:prstGeom>
          <a:solidFill>
            <a:srgbClr val="0089A1"/>
          </a:solidFill>
          <a:ln/>
        </p:spPr>
      </p:sp>
      <p:sp>
        <p:nvSpPr>
          <p:cNvPr id="10" name="Text 5"/>
          <p:cNvSpPr/>
          <p:nvPr/>
        </p:nvSpPr>
        <p:spPr>
          <a:xfrm>
            <a:off x="8671255" y="969264"/>
            <a:ext cx="298094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بيانات أعداد الطلاب حسب الصف</a:t>
            </a:r>
            <a:endParaRPr lang="ar-SA"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316736"/>
          <a:ext cx="11368735" cy="914400"/>
        </p:xfrm>
        <a:graphic>
          <a:graphicData uri="http://schemas.openxmlformats.org/drawingml/2006/table">
            <a:tbl>
              <a:tblPr/>
              <a:tblGrid>
                <a:gridCol w="1234440"/>
                <a:gridCol w="1445209"/>
                <a:gridCol w="1445209"/>
                <a:gridCol w="1445209"/>
                <a:gridCol w="1445209"/>
                <a:gridCol w="1445209"/>
                <a:gridCol w="1445209"/>
                <a:gridCol w="1463040"/>
              </a:tblGrid>
              <a:tr h="292608">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المجموع</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سادس</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خامس</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رابع</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ثالث</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ثاني</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أول</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البيان</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900" b="1" dirty="0">
                          <a:solidFill>
                            <a:srgbClr val="063E33"/>
                          </a:solidFill>
                          <a:latin typeface="Tajawal" pitchFamily="34" charset="0"/>
                          <a:ea typeface="Tajawal" pitchFamily="34" charset="-122"/>
                          <a:cs typeface="Tajawal" pitchFamily="34" charset="-120"/>
                        </a:rPr>
                        <a:t>عدد الفصول</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47472">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900" b="1" dirty="0">
                          <a:solidFill>
                            <a:srgbClr val="063E33"/>
                          </a:solidFill>
                          <a:latin typeface="Tajawal" pitchFamily="34" charset="0"/>
                          <a:ea typeface="Tajawal" pitchFamily="34" charset="-122"/>
                          <a:cs typeface="Tajawal" pitchFamily="34" charset="-120"/>
                        </a:rPr>
                        <a:t>عدد الطلاب</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
        <p:nvSpPr>
          <p:cNvPr id="12" name="Shape 6"/>
          <p:cNvSpPr/>
          <p:nvPr/>
        </p:nvSpPr>
        <p:spPr>
          <a:xfrm>
            <a:off x="11729923" y="2532888"/>
            <a:ext cx="50292" cy="201168"/>
          </a:xfrm>
          <a:prstGeom prst="rect">
            <a:avLst/>
          </a:prstGeom>
          <a:solidFill>
            <a:srgbClr val="0089A1"/>
          </a:solidFill>
          <a:ln/>
        </p:spPr>
      </p:sp>
      <p:sp>
        <p:nvSpPr>
          <p:cNvPr id="13" name="Text 7"/>
          <p:cNvSpPr/>
          <p:nvPr/>
        </p:nvSpPr>
        <p:spPr>
          <a:xfrm>
            <a:off x="8671255" y="2487168"/>
            <a:ext cx="298094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معلمو المدرسة حسب التخصص</a:t>
            </a:r>
            <a:endParaRPr lang="ar-SA" sz="12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11480" y="2834640"/>
          <a:ext cx="11368735" cy="914400"/>
        </p:xfrm>
        <a:graphic>
          <a:graphicData uri="http://schemas.openxmlformats.org/drawingml/2006/table">
            <a:tbl>
              <a:tblPr/>
              <a:tblGrid>
                <a:gridCol w="1051560"/>
                <a:gridCol w="1118197"/>
                <a:gridCol w="1118197"/>
                <a:gridCol w="1118197"/>
                <a:gridCol w="1118197"/>
                <a:gridCol w="1118197"/>
                <a:gridCol w="1118197"/>
                <a:gridCol w="1118197"/>
                <a:gridCol w="1118197"/>
                <a:gridCol w="1371600"/>
              </a:tblGrid>
              <a:tr h="329184">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المجموع</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حاسب آلي</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تربية فنية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علوم</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رياضيات</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لغة إنجليزية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دراسات اجتماعية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لغة عربية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تربية إسلامية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20" b="1" dirty="0">
                          <a:solidFill>
                            <a:srgbClr val="FFFFFF"/>
                          </a:solidFill>
                          <a:latin typeface="Tajawal" pitchFamily="34" charset="0"/>
                          <a:ea typeface="Tajawal" pitchFamily="34" charset="-122"/>
                          <a:cs typeface="Tajawal" pitchFamily="34" charset="-120"/>
                        </a:rPr>
                        <a:t>التخصص</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40" b="1" dirty="0">
                          <a:solidFill>
                            <a:srgbClr val="063E33"/>
                          </a:solidFill>
                          <a:latin typeface="Tajawal" pitchFamily="34" charset="0"/>
                          <a:ea typeface="Tajawal" pitchFamily="34" charset="-122"/>
                          <a:cs typeface="Tajawal" pitchFamily="34" charset="-120"/>
                        </a:rPr>
                        <a:t>عدد المعلمين</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47472">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40" b="1" dirty="0">
                          <a:solidFill>
                            <a:srgbClr val="063E33"/>
                          </a:solidFill>
                          <a:latin typeface="Tajawal" pitchFamily="34" charset="0"/>
                          <a:ea typeface="Tajawal" pitchFamily="34" charset="-122"/>
                          <a:cs typeface="Tajawal" pitchFamily="34" charset="-120"/>
                        </a:rPr>
                        <a:t>عدد الطلاب</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
        <p:nvSpPr>
          <p:cNvPr id="15" name="Shape 8"/>
          <p:cNvSpPr/>
          <p:nvPr/>
        </p:nvSpPr>
        <p:spPr>
          <a:xfrm>
            <a:off x="11729923" y="4087368"/>
            <a:ext cx="50292" cy="201168"/>
          </a:xfrm>
          <a:prstGeom prst="rect">
            <a:avLst/>
          </a:prstGeom>
          <a:solidFill>
            <a:srgbClr val="0089A1"/>
          </a:solidFill>
          <a:ln/>
        </p:spPr>
      </p:sp>
      <p:sp>
        <p:nvSpPr>
          <p:cNvPr id="16" name="Text 9"/>
          <p:cNvSpPr/>
          <p:nvPr/>
        </p:nvSpPr>
        <p:spPr>
          <a:xfrm>
            <a:off x="8671255" y="4041648"/>
            <a:ext cx="298094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شاغلو الوظائف الفنية والإدارية</a:t>
            </a:r>
            <a:endParaRPr lang="ar-SA" sz="1250" dirty="0"/>
          </a:p>
        </p:txBody>
      </p:sp>
      <p:graphicFrame>
        <p:nvGraphicFramePr>
          <p:cNvPr id="22" name="Table 2"/>
          <p:cNvGraphicFramePr>
            <a:graphicFrameLocks noGrp="1"/>
          </p:cNvGraphicFramePr>
          <p:nvPr>
            <p:extLst>
              <p:ext uri="{D42A27DB-BD31-4B8C-83A1-F6EECF244321}">
                <p14:modId xmlns:p14="http://schemas.microsoft.com/office/powerpoint/2010/main" val="1579011935"/>
              </p:ext>
            </p:extLst>
          </p:nvPr>
        </p:nvGraphicFramePr>
        <p:xfrm>
          <a:off x="411480" y="4389120"/>
          <a:ext cx="11368735" cy="914400"/>
        </p:xfrm>
        <a:graphic>
          <a:graphicData uri="http://schemas.openxmlformats.org/drawingml/2006/table">
            <a:tbl>
              <a:tblPr/>
              <a:tblGrid>
                <a:gridCol w="914400"/>
                <a:gridCol w="846485"/>
                <a:gridCol w="846485"/>
                <a:gridCol w="846485"/>
                <a:gridCol w="846485"/>
                <a:gridCol w="846485"/>
                <a:gridCol w="846485"/>
                <a:gridCol w="846485"/>
                <a:gridCol w="846485"/>
                <a:gridCol w="846485"/>
                <a:gridCol w="846485"/>
                <a:gridCol w="846485"/>
                <a:gridCol w="1143000"/>
              </a:tblGrid>
              <a:tr h="457200">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المجموع</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كاتب</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مساعد إداري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سكرتير</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محضر مختبر</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مدخل بيانات</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رائد نشاط</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أمين مصادر تعلم</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مرشد طلابي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معلم تعليم عام</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وكيل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مدير</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الفئة الوظيفية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347472">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840" b="1" dirty="0">
                          <a:solidFill>
                            <a:srgbClr val="063E33"/>
                          </a:solidFill>
                          <a:latin typeface="Tajawal" pitchFamily="34" charset="0"/>
                          <a:ea typeface="Tajawal" pitchFamily="34" charset="-122"/>
                          <a:cs typeface="Tajawal" pitchFamily="34" charset="-120"/>
                        </a:rPr>
                        <a:t>العدد</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r>
            </a:tbl>
          </a:graphicData>
        </a:graphic>
      </p:graphicFrame>
      <p:sp>
        <p:nvSpPr>
          <p:cNvPr id="18" name="Shape 10"/>
          <p:cNvSpPr/>
          <p:nvPr/>
        </p:nvSpPr>
        <p:spPr>
          <a:xfrm>
            <a:off x="6233008" y="5440680"/>
            <a:ext cx="5547208" cy="896112"/>
          </a:xfrm>
          <a:prstGeom prst="roundRect">
            <a:avLst>
              <a:gd name="adj" fmla="val 7653"/>
            </a:avLst>
          </a:prstGeom>
          <a:solidFill>
            <a:srgbClr val="095242"/>
          </a:solidFill>
          <a:ln/>
        </p:spPr>
      </p:sp>
      <p:pic>
        <p:nvPicPr>
          <p:cNvPr id="19" name="Image 3" descr="/tmp/claude-0/-home-user-Mobile1/ab9bbf47-b054-5f6e-be59-70476e095ce8/scratchpad/assets/icons/check_white.png">    </p:cNvPr>
          <p:cNvPicPr>
            <a:picLocks noChangeAspect="1"/>
          </p:cNvPicPr>
          <p:nvPr/>
        </p:nvPicPr>
        <p:blipFill>
          <a:blip r:embed="rId4"/>
          <a:stretch>
            <a:fillRect/>
          </a:stretch>
        </p:blipFill>
        <p:spPr>
          <a:xfrm>
            <a:off x="11213287" y="5596128"/>
            <a:ext cx="274320" cy="274320"/>
          </a:xfrm>
          <a:prstGeom prst="rect">
            <a:avLst/>
          </a:prstGeom>
        </p:spPr>
      </p:pic>
      <p:sp>
        <p:nvSpPr>
          <p:cNvPr id="20" name="Text 11"/>
          <p:cNvSpPr/>
          <p:nvPr/>
        </p:nvSpPr>
        <p:spPr>
          <a:xfrm>
            <a:off x="6461608" y="5504688"/>
            <a:ext cx="4678528" cy="292608"/>
          </a:xfrm>
          <a:prstGeom prst="rect">
            <a:avLst/>
          </a:prstGeom>
          <a:noFill/>
          <a:ln/>
        </p:spPr>
        <p:txBody>
          <a:bodyPr wrap="square" lIns="0" tIns="0" rIns="0" bIns="0" rtlCol="0" anchor="t"/>
          <a:lstStyle/>
          <a:p>
            <a:pPr rtl="1" algn="r" indent="0" marL="0">
              <a:buNone/>
            </a:pPr>
            <a:r>
              <a:rPr lang="ar-SA" altLang="en-US" sz="1100" b="1" dirty="0">
                <a:solidFill>
                  <a:srgbClr val="FFFFFF"/>
                </a:solidFill>
                <a:latin typeface="Tajawal" pitchFamily="34" charset="0"/>
                <a:ea typeface="Tajawal" pitchFamily="34" charset="-122"/>
                <a:cs typeface="Tajawal" pitchFamily="34" charset="-120"/>
              </a:rPr>
              <a:t>تنوّع التخصصات</a:t>
            </a:r>
            <a:endParaRPr lang="ar-SA" sz="1100" dirty="0"/>
          </a:p>
        </p:txBody>
      </p:sp>
      <p:sp>
        <p:nvSpPr>
          <p:cNvPr id="21" name="Text 12"/>
          <p:cNvSpPr/>
          <p:nvPr/>
        </p:nvSpPr>
        <p:spPr>
          <a:xfrm>
            <a:off x="6461608" y="5797296"/>
            <a:ext cx="4678528" cy="502920"/>
          </a:xfrm>
          <a:prstGeom prst="rect">
            <a:avLst/>
          </a:prstGeom>
          <a:noFill/>
          <a:ln/>
        </p:spPr>
        <p:txBody>
          <a:bodyPr wrap="square" lIns="0" tIns="0" rIns="0" bIns="0" rtlCol="0" anchor="t"/>
          <a:lstStyle/>
          <a:p>
            <a:pPr rtl="1" algn="r" indent="0" marL="0">
              <a:lnSpc>
                <a:spcPct val="110000"/>
              </a:lnSpc>
              <a:buNone/>
            </a:pPr>
            <a:r>
              <a:rPr lang="ar-SA" altLang="en-US" sz="860" dirty="0">
                <a:solidFill>
                  <a:srgbClr val="CFE2DB"/>
                </a:solidFill>
                <a:latin typeface="Tajawal" pitchFamily="34" charset="0"/>
                <a:ea typeface="Tajawal" pitchFamily="34" charset="-122"/>
                <a:cs typeface="Tajawal" pitchFamily="34" charset="-120"/>
              </a:rPr>
              <a:t>تغطية شاملة للتخصصات الأساسية مع المساندة الفنية والإدارية، مما يُمكّن الفريق من تنفيذ برامج الخطة بكفاءة عالية.</a:t>
            </a:r>
            <a:endParaRPr lang="ar-SA" sz="860" dirty="0"/>
          </a:p>
        </p:txBody>
      </p:sp>
      <p:sp>
        <p:nvSpPr>
          <p:cNvPr id="22" name="Shape 13"/>
          <p:cNvSpPr/>
          <p:nvPr/>
        </p:nvSpPr>
        <p:spPr>
          <a:xfrm>
            <a:off x="411480" y="5440680"/>
            <a:ext cx="5547208" cy="896112"/>
          </a:xfrm>
          <a:prstGeom prst="roundRect">
            <a:avLst>
              <a:gd name="adj" fmla="val 7653"/>
            </a:avLst>
          </a:prstGeom>
          <a:solidFill>
            <a:srgbClr val="FFFFFF"/>
          </a:solidFill>
          <a:ln w="9525">
            <a:solidFill>
              <a:srgbClr val="DCE8E2"/>
            </a:solidFill>
            <a:prstDash val="solid"/>
          </a:ln>
        </p:spPr>
      </p:sp>
      <p:pic>
        <p:nvPicPr>
          <p:cNvPr id="23" name="Image 4" descr="/tmp/claude-0/-home-user-Mobile1/ab9bbf47-b054-5f6e-be59-70476e095ce8/scratchpad/assets/icons/info_green.png">    </p:cNvPr>
          <p:cNvPicPr>
            <a:picLocks noChangeAspect="1"/>
          </p:cNvPicPr>
          <p:nvPr/>
        </p:nvPicPr>
        <p:blipFill>
          <a:blip r:embed="rId5"/>
          <a:stretch>
            <a:fillRect/>
          </a:stretch>
        </p:blipFill>
        <p:spPr>
          <a:xfrm>
            <a:off x="5391760" y="5596128"/>
            <a:ext cx="274320" cy="274320"/>
          </a:xfrm>
          <a:prstGeom prst="rect">
            <a:avLst/>
          </a:prstGeom>
        </p:spPr>
      </p:pic>
      <p:sp>
        <p:nvSpPr>
          <p:cNvPr id="24" name="Text 14"/>
          <p:cNvSpPr/>
          <p:nvPr/>
        </p:nvSpPr>
        <p:spPr>
          <a:xfrm>
            <a:off x="640080" y="5504688"/>
            <a:ext cx="4678528" cy="292608"/>
          </a:xfrm>
          <a:prstGeom prst="rect">
            <a:avLst/>
          </a:prstGeom>
          <a:noFill/>
          <a:ln/>
        </p:spPr>
        <p:txBody>
          <a:bodyPr wrap="square" lIns="0" tIns="0" rIns="0" bIns="0" rtlCol="0" anchor="t"/>
          <a:lstStyle/>
          <a:p>
            <a:pPr rtl="1" algn="r" indent="0" marL="0">
              <a:buNone/>
            </a:pPr>
            <a:r>
              <a:rPr lang="ar-SA" altLang="en-US" sz="1100" b="1" dirty="0">
                <a:solidFill>
                  <a:srgbClr val="063E33"/>
                </a:solidFill>
                <a:latin typeface="Tajawal" pitchFamily="34" charset="0"/>
                <a:ea typeface="Tajawal" pitchFamily="34" charset="-122"/>
                <a:cs typeface="Tajawal" pitchFamily="34" charset="-120"/>
              </a:rPr>
              <a:t>توازن الأعداد</a:t>
            </a:r>
            <a:endParaRPr lang="ar-SA" sz="1100" dirty="0"/>
          </a:p>
        </p:txBody>
      </p:sp>
      <p:sp>
        <p:nvSpPr>
          <p:cNvPr id="25" name="Text 15"/>
          <p:cNvSpPr/>
          <p:nvPr/>
        </p:nvSpPr>
        <p:spPr>
          <a:xfrm>
            <a:off x="640080" y="5797296"/>
            <a:ext cx="4678528" cy="502920"/>
          </a:xfrm>
          <a:prstGeom prst="rect">
            <a:avLst/>
          </a:prstGeom>
          <a:noFill/>
          <a:ln/>
        </p:spPr>
        <p:txBody>
          <a:bodyPr wrap="square" lIns="0" tIns="0" rIns="0" bIns="0" rtlCol="0" anchor="t"/>
          <a:lstStyle/>
          <a:p>
            <a:pPr rtl="1" algn="r" indent="0" marL="0">
              <a:lnSpc>
                <a:spcPct val="110000"/>
              </a:lnSpc>
              <a:buNone/>
            </a:pPr>
            <a:r>
              <a:rPr lang="ar-SA" altLang="en-US" sz="860" dirty="0">
                <a:solidFill>
                  <a:srgbClr val="7C8F87"/>
                </a:solidFill>
                <a:latin typeface="Tajawal" pitchFamily="34" charset="0"/>
                <a:ea typeface="Tajawal" pitchFamily="34" charset="-122"/>
                <a:cs typeface="Tajawal" pitchFamily="34" charset="-120"/>
              </a:rPr>
              <a:t>توزيع متوازن بين الصفوف، مع شُعَب تربية خاصة لخدمة سياسة الدمج التعليمي ودعم الفئات الأُولى بالرعاية.</a:t>
            </a:r>
            <a:endParaRPr lang="ar-SA" sz="8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eye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الرؤية والرسالة والقيم</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٠٨</a:t>
            </a:r>
            <a:endParaRPr lang="ar-SA" sz="850" dirty="0"/>
          </a:p>
        </p:txBody>
      </p:sp>
      <p:sp>
        <p:nvSpPr>
          <p:cNvPr id="9" name="Shape 4"/>
          <p:cNvSpPr/>
          <p:nvPr/>
        </p:nvSpPr>
        <p:spPr>
          <a:xfrm>
            <a:off x="6255868" y="1188720"/>
            <a:ext cx="5524348" cy="2240280"/>
          </a:xfrm>
          <a:prstGeom prst="roundRect">
            <a:avLst>
              <a:gd name="adj" fmla="val 3061"/>
            </a:avLst>
          </a:prstGeom>
          <a:solidFill>
            <a:srgbClr val="095242"/>
          </a:solidFill>
          <a:ln/>
          <a:effectLst>
            <a:outerShdw sx="100000" sy="100000" kx="0" ky="0" algn="bl" rotWithShape="0" blurRad="114300" dist="25400" dir="5400000">
              <a:srgbClr val="083528">
                <a:alpha val="28000"/>
              </a:srgbClr>
            </a:outerShdw>
          </a:effectLst>
        </p:spPr>
      </p:sp>
      <p:pic>
        <p:nvPicPr>
          <p:cNvPr id="10" name="Image 3" descr="/tmp/claude-0/-home-user-Mobile1/ab9bbf47-b054-5f6e-be59-70476e095ce8/scratchpad/assets/dots_white.png">    </p:cNvPr>
          <p:cNvPicPr>
            <a:picLocks noChangeAspect="1"/>
          </p:cNvPicPr>
          <p:nvPr/>
        </p:nvPicPr>
        <p:blipFill>
          <a:blip r:embed="rId4">
            <a:alphaModFix amt="45000"/>
          </a:blip>
          <a:stretch>
            <a:fillRect/>
          </a:stretch>
        </p:blipFill>
        <p:spPr>
          <a:xfrm>
            <a:off x="6393028" y="2240280"/>
            <a:ext cx="1737360" cy="1143000"/>
          </a:xfrm>
          <a:prstGeom prst="rect">
            <a:avLst/>
          </a:prstGeom>
        </p:spPr>
      </p:pic>
      <p:sp>
        <p:nvSpPr>
          <p:cNvPr id="11" name="Shape 5"/>
          <p:cNvSpPr/>
          <p:nvPr/>
        </p:nvSpPr>
        <p:spPr>
          <a:xfrm>
            <a:off x="10911535" y="1463040"/>
            <a:ext cx="566928" cy="566928"/>
          </a:xfrm>
          <a:prstGeom prst="ellipse">
            <a:avLst/>
          </a:prstGeom>
          <a:solidFill>
            <a:srgbClr val="FFFFFF"/>
          </a:solidFill>
          <a:ln/>
        </p:spPr>
      </p:sp>
      <p:pic>
        <p:nvPicPr>
          <p:cNvPr id="12" name="Image 4" descr="/tmp/claude-0/-home-user-Mobile1/ab9bbf47-b054-5f6e-be59-70476e095ce8/scratchpad/assets/icons/eye_green.png">    </p:cNvPr>
          <p:cNvPicPr>
            <a:picLocks noChangeAspect="1"/>
          </p:cNvPicPr>
          <p:nvPr/>
        </p:nvPicPr>
        <p:blipFill>
          <a:blip r:embed="rId5"/>
          <a:stretch>
            <a:fillRect/>
          </a:stretch>
        </p:blipFill>
        <p:spPr>
          <a:xfrm>
            <a:off x="11053267" y="1604772"/>
            <a:ext cx="283464" cy="283464"/>
          </a:xfrm>
          <a:prstGeom prst="rect">
            <a:avLst/>
          </a:prstGeom>
        </p:spPr>
      </p:pic>
      <p:sp>
        <p:nvSpPr>
          <p:cNvPr id="13" name="Text 6"/>
          <p:cNvSpPr/>
          <p:nvPr/>
        </p:nvSpPr>
        <p:spPr>
          <a:xfrm>
            <a:off x="6621628" y="1481328"/>
            <a:ext cx="4061308" cy="502920"/>
          </a:xfrm>
          <a:prstGeom prst="rect">
            <a:avLst/>
          </a:prstGeom>
          <a:noFill/>
          <a:ln/>
        </p:spPr>
        <p:txBody>
          <a:bodyPr wrap="square" lIns="0" tIns="0" rIns="0" bIns="0" rtlCol="0" anchor="ctr"/>
          <a:lstStyle/>
          <a:p>
            <a:pPr rtl="1" algn="r" indent="0" marL="0">
              <a:buNone/>
            </a:pPr>
            <a:r>
              <a:rPr lang="ar-SA" altLang="en-US" sz="2100" b="1" dirty="0">
                <a:solidFill>
                  <a:srgbClr val="FFFFFF"/>
                </a:solidFill>
                <a:latin typeface="Tajawal" pitchFamily="34" charset="0"/>
                <a:ea typeface="Tajawal" pitchFamily="34" charset="-122"/>
                <a:cs typeface="Tajawal" pitchFamily="34" charset="-120"/>
              </a:rPr>
              <a:t>الرؤية</a:t>
            </a:r>
            <a:endParaRPr lang="ar-SA" sz="2100" dirty="0"/>
          </a:p>
        </p:txBody>
      </p:sp>
      <p:sp>
        <p:nvSpPr>
          <p:cNvPr id="14" name="Text 7"/>
          <p:cNvSpPr/>
          <p:nvPr/>
        </p:nvSpPr>
        <p:spPr>
          <a:xfrm>
            <a:off x="6667348" y="2148840"/>
            <a:ext cx="4655668" cy="1051560"/>
          </a:xfrm>
          <a:prstGeom prst="rect">
            <a:avLst/>
          </a:prstGeom>
          <a:noFill/>
          <a:ln/>
        </p:spPr>
        <p:txBody>
          <a:bodyPr wrap="square" lIns="0" tIns="0" rIns="0" bIns="0" rtlCol="0" anchor="t"/>
          <a:lstStyle/>
          <a:p>
            <a:pPr rtl="1" algn="r" indent="0" marL="0">
              <a:lnSpc>
                <a:spcPct val="135000"/>
              </a:lnSpc>
              <a:buNone/>
            </a:pPr>
            <a:r>
              <a:rPr lang="ar-SA" altLang="en-US" sz="1350" dirty="0">
                <a:solidFill>
                  <a:srgbClr val="E6F1ED"/>
                </a:solidFill>
                <a:latin typeface="Tajawal" pitchFamily="34" charset="0"/>
                <a:ea typeface="Tajawal" pitchFamily="34" charset="-122"/>
                <a:cs typeface="Tajawal" pitchFamily="34" charset="-120"/>
              </a:rPr>
              <a:t>«مدرسةٌ رائدة في بناء جيل من المتعلّمين الواعين والمواطنين المسؤولين، يمتلكون مهارات المستقبل ويُسهمون بفاعلية في تنمية مجتمعهم ووطنهم.»</a:t>
            </a:r>
            <a:endParaRPr lang="ar-SA" sz="1350" dirty="0"/>
          </a:p>
        </p:txBody>
      </p:sp>
      <p:sp>
        <p:nvSpPr>
          <p:cNvPr id="15" name="Shape 8"/>
          <p:cNvSpPr/>
          <p:nvPr/>
        </p:nvSpPr>
        <p:spPr>
          <a:xfrm>
            <a:off x="411480" y="1188720"/>
            <a:ext cx="5524348" cy="2240280"/>
          </a:xfrm>
          <a:prstGeom prst="roundRect">
            <a:avLst>
              <a:gd name="adj" fmla="val 3061"/>
            </a:avLst>
          </a:prstGeom>
          <a:solidFill>
            <a:srgbClr val="FFFFFF"/>
          </a:solidFill>
          <a:ln w="12700">
            <a:solidFill>
              <a:srgbClr val="095242"/>
            </a:solidFill>
            <a:prstDash val="solid"/>
          </a:ln>
          <a:effectLst>
            <a:outerShdw sx="100000" sy="100000" kx="0" ky="0" algn="bl" rotWithShape="0" blurRad="76200" dist="12700" dir="5400000">
              <a:srgbClr val="0E3B30">
                <a:alpha val="7000"/>
              </a:srgbClr>
            </a:outerShdw>
          </a:effectLst>
        </p:spPr>
      </p:sp>
      <p:sp>
        <p:nvSpPr>
          <p:cNvPr id="16" name="Shape 9"/>
          <p:cNvSpPr/>
          <p:nvPr/>
        </p:nvSpPr>
        <p:spPr>
          <a:xfrm>
            <a:off x="5067148" y="1463040"/>
            <a:ext cx="566928" cy="566928"/>
          </a:xfrm>
          <a:prstGeom prst="ellipse">
            <a:avLst/>
          </a:prstGeom>
          <a:solidFill>
            <a:srgbClr val="F1F7F4"/>
          </a:solidFill>
          <a:ln w="9525">
            <a:solidFill>
              <a:srgbClr val="DCE8E2"/>
            </a:solidFill>
            <a:prstDash val="solid"/>
          </a:ln>
        </p:spPr>
      </p:sp>
      <p:pic>
        <p:nvPicPr>
          <p:cNvPr id="17" name="Image 5" descr="/tmp/claude-0/-home-user-Mobile1/ab9bbf47-b054-5f6e-be59-70476e095ce8/scratchpad/assets/icons/target_green.png">    </p:cNvPr>
          <p:cNvPicPr>
            <a:picLocks noChangeAspect="1"/>
          </p:cNvPicPr>
          <p:nvPr/>
        </p:nvPicPr>
        <p:blipFill>
          <a:blip r:embed="rId6"/>
          <a:stretch>
            <a:fillRect/>
          </a:stretch>
        </p:blipFill>
        <p:spPr>
          <a:xfrm>
            <a:off x="5208880" y="1604772"/>
            <a:ext cx="283464" cy="283464"/>
          </a:xfrm>
          <a:prstGeom prst="rect">
            <a:avLst/>
          </a:prstGeom>
        </p:spPr>
      </p:pic>
      <p:sp>
        <p:nvSpPr>
          <p:cNvPr id="18" name="Text 10"/>
          <p:cNvSpPr/>
          <p:nvPr/>
        </p:nvSpPr>
        <p:spPr>
          <a:xfrm>
            <a:off x="777240" y="1481328"/>
            <a:ext cx="4061308" cy="502920"/>
          </a:xfrm>
          <a:prstGeom prst="rect">
            <a:avLst/>
          </a:prstGeom>
          <a:noFill/>
          <a:ln/>
        </p:spPr>
        <p:txBody>
          <a:bodyPr wrap="square" lIns="0" tIns="0" rIns="0" bIns="0" rtlCol="0" anchor="ctr"/>
          <a:lstStyle/>
          <a:p>
            <a:pPr rtl="1" algn="r" indent="0" marL="0">
              <a:buNone/>
            </a:pPr>
            <a:r>
              <a:rPr lang="ar-SA" altLang="en-US" sz="2100" b="1" dirty="0">
                <a:solidFill>
                  <a:srgbClr val="063E33"/>
                </a:solidFill>
                <a:latin typeface="Tajawal" pitchFamily="34" charset="0"/>
                <a:ea typeface="Tajawal" pitchFamily="34" charset="-122"/>
                <a:cs typeface="Tajawal" pitchFamily="34" charset="-120"/>
              </a:rPr>
              <a:t>الرسالة</a:t>
            </a:r>
            <a:endParaRPr lang="ar-SA" sz="2100" dirty="0"/>
          </a:p>
        </p:txBody>
      </p:sp>
      <p:sp>
        <p:nvSpPr>
          <p:cNvPr id="19" name="Text 11"/>
          <p:cNvSpPr/>
          <p:nvPr/>
        </p:nvSpPr>
        <p:spPr>
          <a:xfrm>
            <a:off x="822960" y="2148840"/>
            <a:ext cx="4655668" cy="1051560"/>
          </a:xfrm>
          <a:prstGeom prst="rect">
            <a:avLst/>
          </a:prstGeom>
          <a:noFill/>
          <a:ln/>
        </p:spPr>
        <p:txBody>
          <a:bodyPr wrap="square" lIns="0" tIns="0" rIns="0" bIns="0" rtlCol="0" anchor="t"/>
          <a:lstStyle/>
          <a:p>
            <a:pPr rtl="1" algn="r" indent="0" marL="0">
              <a:lnSpc>
                <a:spcPct val="132000"/>
              </a:lnSpc>
              <a:buNone/>
            </a:pPr>
            <a:r>
              <a:rPr lang="ar-SA" altLang="en-US" sz="1300" dirty="0">
                <a:solidFill>
                  <a:srgbClr val="33473F"/>
                </a:solidFill>
                <a:latin typeface="Tajawal" pitchFamily="34" charset="0"/>
                <a:ea typeface="Tajawal" pitchFamily="34" charset="-122"/>
                <a:cs typeface="Tajawal" pitchFamily="34" charset="-120"/>
              </a:rPr>
              <a:t>«تهيئة بيئة تعليمية آمنة وداعمة تُنمّي مهارات الطلبة الأكاديمية والاجتماعية والرقمية، من خلال تعلّم فاعل وشراكة مجتمعية حقيقية وتوظيف للتقنيات الحديثة بما يحقّق التميّز التربوي.»</a:t>
            </a:r>
            <a:endParaRPr lang="ar-SA" sz="1300" dirty="0"/>
          </a:p>
        </p:txBody>
      </p:sp>
      <p:sp>
        <p:nvSpPr>
          <p:cNvPr id="20" name="Shape 12"/>
          <p:cNvSpPr/>
          <p:nvPr/>
        </p:nvSpPr>
        <p:spPr>
          <a:xfrm>
            <a:off x="11729923" y="3813048"/>
            <a:ext cx="50292" cy="201168"/>
          </a:xfrm>
          <a:prstGeom prst="rect">
            <a:avLst/>
          </a:prstGeom>
          <a:solidFill>
            <a:srgbClr val="0089A1"/>
          </a:solidFill>
          <a:ln/>
        </p:spPr>
      </p:sp>
      <p:sp>
        <p:nvSpPr>
          <p:cNvPr id="21" name="Text 13"/>
          <p:cNvSpPr/>
          <p:nvPr/>
        </p:nvSpPr>
        <p:spPr>
          <a:xfrm>
            <a:off x="9951415" y="3767328"/>
            <a:ext cx="1700784" cy="292608"/>
          </a:xfrm>
          <a:prstGeom prst="rect">
            <a:avLst/>
          </a:prstGeom>
          <a:noFill/>
          <a:ln/>
        </p:spPr>
        <p:txBody>
          <a:bodyPr wrap="square" lIns="0" tIns="0" rIns="0" bIns="0" rtlCol="0" anchor="ctr"/>
          <a:lstStyle/>
          <a:p>
            <a:pPr rtl="1" algn="r" indent="0" marL="0">
              <a:buNone/>
            </a:pPr>
            <a:r>
              <a:rPr lang="ar-SA" altLang="en-US" sz="1400" b="1" dirty="0">
                <a:solidFill>
                  <a:srgbClr val="095242"/>
                </a:solidFill>
                <a:latin typeface="Tajawal" pitchFamily="34" charset="0"/>
                <a:ea typeface="Tajawal" pitchFamily="34" charset="-122"/>
                <a:cs typeface="Tajawal" pitchFamily="34" charset="-120"/>
              </a:rPr>
              <a:t>القيم</a:t>
            </a:r>
            <a:endParaRPr lang="ar-SA" sz="1400" dirty="0"/>
          </a:p>
        </p:txBody>
      </p:sp>
      <p:sp>
        <p:nvSpPr>
          <p:cNvPr id="22" name="Shape 14"/>
          <p:cNvSpPr/>
          <p:nvPr/>
        </p:nvSpPr>
        <p:spPr>
          <a:xfrm>
            <a:off x="10075926" y="4224528"/>
            <a:ext cx="1704289" cy="1691640"/>
          </a:xfrm>
          <a:prstGeom prst="roundRect">
            <a:avLst>
              <a:gd name="adj" fmla="val 4054"/>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23" name="Shape 15"/>
          <p:cNvSpPr/>
          <p:nvPr/>
        </p:nvSpPr>
        <p:spPr>
          <a:xfrm>
            <a:off x="10644607" y="4480560"/>
            <a:ext cx="566928" cy="566928"/>
          </a:xfrm>
          <a:prstGeom prst="ellipse">
            <a:avLst/>
          </a:prstGeom>
          <a:solidFill>
            <a:srgbClr val="F1F7F4"/>
          </a:solidFill>
          <a:ln w="9525">
            <a:solidFill>
              <a:srgbClr val="DCE8E2"/>
            </a:solidFill>
            <a:prstDash val="solid"/>
          </a:ln>
        </p:spPr>
      </p:sp>
      <p:pic>
        <p:nvPicPr>
          <p:cNvPr id="24" name="Image 6" descr="/tmp/claude-0/-home-user-Mobile1/ab9bbf47-b054-5f6e-be59-70476e095ce8/scratchpad/assets/icons/heart_green.png">    </p:cNvPr>
          <p:cNvPicPr>
            <a:picLocks noChangeAspect="1"/>
          </p:cNvPicPr>
          <p:nvPr/>
        </p:nvPicPr>
        <p:blipFill>
          <a:blip r:embed="rId7"/>
          <a:stretch>
            <a:fillRect/>
          </a:stretch>
        </p:blipFill>
        <p:spPr>
          <a:xfrm>
            <a:off x="10786339" y="4622292"/>
            <a:ext cx="283464" cy="283464"/>
          </a:xfrm>
          <a:prstGeom prst="rect">
            <a:avLst/>
          </a:prstGeom>
        </p:spPr>
      </p:pic>
      <p:sp>
        <p:nvSpPr>
          <p:cNvPr id="25" name="Text 16"/>
          <p:cNvSpPr/>
          <p:nvPr/>
        </p:nvSpPr>
        <p:spPr>
          <a:xfrm>
            <a:off x="10121646" y="5212080"/>
            <a:ext cx="1612849" cy="502920"/>
          </a:xfrm>
          <a:prstGeom prst="rect">
            <a:avLst/>
          </a:prstGeom>
          <a:noFill/>
          <a:ln/>
        </p:spPr>
        <p:txBody>
          <a:bodyPr wrap="square" lIns="0" tIns="0" rIns="0" bIns="0" rtlCol="0" anchor="ctr"/>
          <a:lstStyle/>
          <a:p>
            <a:pPr rtl="1" algn="ctr" indent="0" marL="0">
              <a:buNone/>
            </a:pPr>
            <a:r>
              <a:rPr lang="ar-SA" altLang="en-US" sz="1300" b="1" dirty="0">
                <a:solidFill>
                  <a:srgbClr val="0F2A21"/>
                </a:solidFill>
                <a:latin typeface="Tajawal" pitchFamily="34" charset="0"/>
                <a:ea typeface="Tajawal" pitchFamily="34" charset="-122"/>
                <a:cs typeface="Tajawal" pitchFamily="34" charset="-120"/>
              </a:rPr>
              <a:t>المسؤولية</a:t>
            </a:r>
            <a:endParaRPr lang="ar-SA" sz="1300" dirty="0"/>
          </a:p>
        </p:txBody>
      </p:sp>
      <p:sp>
        <p:nvSpPr>
          <p:cNvPr id="26" name="Shape 17"/>
          <p:cNvSpPr/>
          <p:nvPr/>
        </p:nvSpPr>
        <p:spPr>
          <a:xfrm>
            <a:off x="8143037" y="4224528"/>
            <a:ext cx="1704289" cy="1691640"/>
          </a:xfrm>
          <a:prstGeom prst="roundRect">
            <a:avLst>
              <a:gd name="adj" fmla="val 4054"/>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27" name="Shape 18"/>
          <p:cNvSpPr/>
          <p:nvPr/>
        </p:nvSpPr>
        <p:spPr>
          <a:xfrm>
            <a:off x="8711717" y="4480560"/>
            <a:ext cx="566928" cy="566928"/>
          </a:xfrm>
          <a:prstGeom prst="ellipse">
            <a:avLst/>
          </a:prstGeom>
          <a:solidFill>
            <a:srgbClr val="F1F7F4"/>
          </a:solidFill>
          <a:ln w="9525">
            <a:solidFill>
              <a:srgbClr val="DCE8E2"/>
            </a:solidFill>
            <a:prstDash val="solid"/>
          </a:ln>
        </p:spPr>
      </p:sp>
      <p:pic>
        <p:nvPicPr>
          <p:cNvPr id="28" name="Image 7" descr="/tmp/claude-0/-home-user-Mobile1/ab9bbf47-b054-5f6e-be59-70476e095ce8/scratchpad/assets/icons/handshake_green.png">    </p:cNvPr>
          <p:cNvPicPr>
            <a:picLocks noChangeAspect="1"/>
          </p:cNvPicPr>
          <p:nvPr/>
        </p:nvPicPr>
        <p:blipFill>
          <a:blip r:embed="rId8"/>
          <a:stretch>
            <a:fillRect/>
          </a:stretch>
        </p:blipFill>
        <p:spPr>
          <a:xfrm>
            <a:off x="8853449" y="4622292"/>
            <a:ext cx="283464" cy="283464"/>
          </a:xfrm>
          <a:prstGeom prst="rect">
            <a:avLst/>
          </a:prstGeom>
        </p:spPr>
      </p:pic>
      <p:sp>
        <p:nvSpPr>
          <p:cNvPr id="29" name="Text 19"/>
          <p:cNvSpPr/>
          <p:nvPr/>
        </p:nvSpPr>
        <p:spPr>
          <a:xfrm>
            <a:off x="8188757" y="5212080"/>
            <a:ext cx="1612849" cy="502920"/>
          </a:xfrm>
          <a:prstGeom prst="rect">
            <a:avLst/>
          </a:prstGeom>
          <a:noFill/>
          <a:ln/>
        </p:spPr>
        <p:txBody>
          <a:bodyPr wrap="square" lIns="0" tIns="0" rIns="0" bIns="0" rtlCol="0" anchor="ctr"/>
          <a:lstStyle/>
          <a:p>
            <a:pPr rtl="1" algn="ctr" indent="0" marL="0">
              <a:buNone/>
            </a:pPr>
            <a:r>
              <a:rPr lang="ar-SA" altLang="en-US" sz="1300" b="1" dirty="0">
                <a:solidFill>
                  <a:srgbClr val="0F2A21"/>
                </a:solidFill>
                <a:latin typeface="Tajawal" pitchFamily="34" charset="0"/>
                <a:ea typeface="Tajawal" pitchFamily="34" charset="-122"/>
                <a:cs typeface="Tajawal" pitchFamily="34" charset="-120"/>
              </a:rPr>
              <a:t>التعاون</a:t>
            </a:r>
            <a:endParaRPr lang="ar-SA" sz="1300" dirty="0"/>
          </a:p>
        </p:txBody>
      </p:sp>
      <p:sp>
        <p:nvSpPr>
          <p:cNvPr id="30" name="Shape 20"/>
          <p:cNvSpPr/>
          <p:nvPr/>
        </p:nvSpPr>
        <p:spPr>
          <a:xfrm>
            <a:off x="6210148" y="4224528"/>
            <a:ext cx="1704289" cy="1691640"/>
          </a:xfrm>
          <a:prstGeom prst="roundRect">
            <a:avLst>
              <a:gd name="adj" fmla="val 4054"/>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31" name="Shape 21"/>
          <p:cNvSpPr/>
          <p:nvPr/>
        </p:nvSpPr>
        <p:spPr>
          <a:xfrm>
            <a:off x="6778828" y="4480560"/>
            <a:ext cx="566928" cy="566928"/>
          </a:xfrm>
          <a:prstGeom prst="ellipse">
            <a:avLst/>
          </a:prstGeom>
          <a:solidFill>
            <a:srgbClr val="F1F7F4"/>
          </a:solidFill>
          <a:ln w="9525">
            <a:solidFill>
              <a:srgbClr val="DCE8E2"/>
            </a:solidFill>
            <a:prstDash val="solid"/>
          </a:ln>
        </p:spPr>
      </p:sp>
      <p:pic>
        <p:nvPicPr>
          <p:cNvPr id="32" name="Image 8" descr="/tmp/claude-0/-home-user-Mobile1/ab9bbf47-b054-5f6e-be59-70476e095ce8/scratchpad/assets/icons/flag_green.png">    </p:cNvPr>
          <p:cNvPicPr>
            <a:picLocks noChangeAspect="1"/>
          </p:cNvPicPr>
          <p:nvPr/>
        </p:nvPicPr>
        <p:blipFill>
          <a:blip r:embed="rId9"/>
          <a:stretch>
            <a:fillRect/>
          </a:stretch>
        </p:blipFill>
        <p:spPr>
          <a:xfrm>
            <a:off x="6920560" y="4622292"/>
            <a:ext cx="283464" cy="283464"/>
          </a:xfrm>
          <a:prstGeom prst="rect">
            <a:avLst/>
          </a:prstGeom>
        </p:spPr>
      </p:pic>
      <p:sp>
        <p:nvSpPr>
          <p:cNvPr id="33" name="Text 22"/>
          <p:cNvSpPr/>
          <p:nvPr/>
        </p:nvSpPr>
        <p:spPr>
          <a:xfrm>
            <a:off x="6255868" y="5212080"/>
            <a:ext cx="1612849" cy="502920"/>
          </a:xfrm>
          <a:prstGeom prst="rect">
            <a:avLst/>
          </a:prstGeom>
          <a:noFill/>
          <a:ln/>
        </p:spPr>
        <p:txBody>
          <a:bodyPr wrap="square" lIns="0" tIns="0" rIns="0" bIns="0" rtlCol="0" anchor="ctr"/>
          <a:lstStyle/>
          <a:p>
            <a:pPr rtl="1" algn="ctr" indent="0" marL="0">
              <a:buNone/>
            </a:pPr>
            <a:r>
              <a:rPr lang="ar-SA" altLang="en-US" sz="1300" b="1" dirty="0">
                <a:solidFill>
                  <a:srgbClr val="0F2A21"/>
                </a:solidFill>
                <a:latin typeface="Tajawal" pitchFamily="34" charset="0"/>
                <a:ea typeface="Tajawal" pitchFamily="34" charset="-122"/>
                <a:cs typeface="Tajawal" pitchFamily="34" charset="-120"/>
              </a:rPr>
              <a:t>الانتماء</a:t>
            </a:r>
            <a:endParaRPr lang="ar-SA" sz="1300" dirty="0"/>
          </a:p>
        </p:txBody>
      </p:sp>
      <p:sp>
        <p:nvSpPr>
          <p:cNvPr id="34" name="Shape 23"/>
          <p:cNvSpPr/>
          <p:nvPr/>
        </p:nvSpPr>
        <p:spPr>
          <a:xfrm>
            <a:off x="4277258" y="4224528"/>
            <a:ext cx="1704289" cy="1691640"/>
          </a:xfrm>
          <a:prstGeom prst="roundRect">
            <a:avLst>
              <a:gd name="adj" fmla="val 4054"/>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35" name="Shape 24"/>
          <p:cNvSpPr/>
          <p:nvPr/>
        </p:nvSpPr>
        <p:spPr>
          <a:xfrm>
            <a:off x="4845939" y="4480560"/>
            <a:ext cx="566928" cy="566928"/>
          </a:xfrm>
          <a:prstGeom prst="ellipse">
            <a:avLst/>
          </a:prstGeom>
          <a:solidFill>
            <a:srgbClr val="F1F7F4"/>
          </a:solidFill>
          <a:ln w="9525">
            <a:solidFill>
              <a:srgbClr val="DCE8E2"/>
            </a:solidFill>
            <a:prstDash val="solid"/>
          </a:ln>
        </p:spPr>
      </p:sp>
      <p:pic>
        <p:nvPicPr>
          <p:cNvPr id="36" name="Image 9" descr="/tmp/claude-0/-home-user-Mobile1/ab9bbf47-b054-5f6e-be59-70476e095ce8/scratchpad/assets/icons/lightbulb_green.png">    </p:cNvPr>
          <p:cNvPicPr>
            <a:picLocks noChangeAspect="1"/>
          </p:cNvPicPr>
          <p:nvPr/>
        </p:nvPicPr>
        <p:blipFill>
          <a:blip r:embed="rId10"/>
          <a:stretch>
            <a:fillRect/>
          </a:stretch>
        </p:blipFill>
        <p:spPr>
          <a:xfrm>
            <a:off x="4987671" y="4622292"/>
            <a:ext cx="283464" cy="283464"/>
          </a:xfrm>
          <a:prstGeom prst="rect">
            <a:avLst/>
          </a:prstGeom>
        </p:spPr>
      </p:pic>
      <p:sp>
        <p:nvSpPr>
          <p:cNvPr id="37" name="Text 25"/>
          <p:cNvSpPr/>
          <p:nvPr/>
        </p:nvSpPr>
        <p:spPr>
          <a:xfrm>
            <a:off x="4322978" y="5212080"/>
            <a:ext cx="1612849" cy="502920"/>
          </a:xfrm>
          <a:prstGeom prst="rect">
            <a:avLst/>
          </a:prstGeom>
          <a:noFill/>
          <a:ln/>
        </p:spPr>
        <p:txBody>
          <a:bodyPr wrap="square" lIns="0" tIns="0" rIns="0" bIns="0" rtlCol="0" anchor="ctr"/>
          <a:lstStyle/>
          <a:p>
            <a:pPr rtl="1" algn="ctr" indent="0" marL="0">
              <a:buNone/>
            </a:pPr>
            <a:r>
              <a:rPr lang="ar-SA" altLang="en-US" sz="1300" b="1" dirty="0">
                <a:solidFill>
                  <a:srgbClr val="0F2A21"/>
                </a:solidFill>
                <a:latin typeface="Tajawal" pitchFamily="34" charset="0"/>
                <a:ea typeface="Tajawal" pitchFamily="34" charset="-122"/>
                <a:cs typeface="Tajawal" pitchFamily="34" charset="-120"/>
              </a:rPr>
              <a:t>الإبداع</a:t>
            </a:r>
            <a:endParaRPr lang="ar-SA" sz="1300" dirty="0"/>
          </a:p>
        </p:txBody>
      </p:sp>
      <p:sp>
        <p:nvSpPr>
          <p:cNvPr id="38" name="Shape 26"/>
          <p:cNvSpPr/>
          <p:nvPr/>
        </p:nvSpPr>
        <p:spPr>
          <a:xfrm>
            <a:off x="2344369" y="4224528"/>
            <a:ext cx="1704289" cy="1691640"/>
          </a:xfrm>
          <a:prstGeom prst="roundRect">
            <a:avLst>
              <a:gd name="adj" fmla="val 4054"/>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39" name="Shape 27"/>
          <p:cNvSpPr/>
          <p:nvPr/>
        </p:nvSpPr>
        <p:spPr>
          <a:xfrm>
            <a:off x="2913050" y="4480560"/>
            <a:ext cx="566928" cy="566928"/>
          </a:xfrm>
          <a:prstGeom prst="ellipse">
            <a:avLst/>
          </a:prstGeom>
          <a:solidFill>
            <a:srgbClr val="F1F7F4"/>
          </a:solidFill>
          <a:ln w="9525">
            <a:solidFill>
              <a:srgbClr val="DCE8E2"/>
            </a:solidFill>
            <a:prstDash val="solid"/>
          </a:ln>
        </p:spPr>
      </p:sp>
      <p:pic>
        <p:nvPicPr>
          <p:cNvPr id="40" name="Image 10" descr="/tmp/claude-0/-home-user-Mobile1/ab9bbf47-b054-5f6e-be59-70476e095ce8/scratchpad/assets/icons/users_green.png">    </p:cNvPr>
          <p:cNvPicPr>
            <a:picLocks noChangeAspect="1"/>
          </p:cNvPicPr>
          <p:nvPr/>
        </p:nvPicPr>
        <p:blipFill>
          <a:blip r:embed="rId11"/>
          <a:stretch>
            <a:fillRect/>
          </a:stretch>
        </p:blipFill>
        <p:spPr>
          <a:xfrm>
            <a:off x="3054782" y="4622292"/>
            <a:ext cx="283464" cy="283464"/>
          </a:xfrm>
          <a:prstGeom prst="rect">
            <a:avLst/>
          </a:prstGeom>
        </p:spPr>
      </p:pic>
      <p:sp>
        <p:nvSpPr>
          <p:cNvPr id="41" name="Text 28"/>
          <p:cNvSpPr/>
          <p:nvPr/>
        </p:nvSpPr>
        <p:spPr>
          <a:xfrm>
            <a:off x="2390089" y="5212080"/>
            <a:ext cx="1612849" cy="502920"/>
          </a:xfrm>
          <a:prstGeom prst="rect">
            <a:avLst/>
          </a:prstGeom>
          <a:noFill/>
          <a:ln/>
        </p:spPr>
        <p:txBody>
          <a:bodyPr wrap="square" lIns="0" tIns="0" rIns="0" bIns="0" rtlCol="0" anchor="ctr"/>
          <a:lstStyle/>
          <a:p>
            <a:pPr rtl="1" algn="ctr" indent="0" marL="0">
              <a:buNone/>
            </a:pPr>
            <a:r>
              <a:rPr lang="ar-SA" altLang="en-US" sz="1300" b="1" dirty="0">
                <a:solidFill>
                  <a:srgbClr val="0F2A21"/>
                </a:solidFill>
                <a:latin typeface="Tajawal" pitchFamily="34" charset="0"/>
                <a:ea typeface="Tajawal" pitchFamily="34" charset="-122"/>
                <a:cs typeface="Tajawal" pitchFamily="34" charset="-120"/>
              </a:rPr>
              <a:t>روح الفريق</a:t>
            </a:r>
            <a:endParaRPr lang="ar-SA" sz="1300" dirty="0"/>
          </a:p>
        </p:txBody>
      </p:sp>
      <p:sp>
        <p:nvSpPr>
          <p:cNvPr id="42" name="Shape 29"/>
          <p:cNvSpPr/>
          <p:nvPr/>
        </p:nvSpPr>
        <p:spPr>
          <a:xfrm>
            <a:off x="411480" y="4224528"/>
            <a:ext cx="1704289" cy="1691640"/>
          </a:xfrm>
          <a:prstGeom prst="roundRect">
            <a:avLst>
              <a:gd name="adj" fmla="val 4054"/>
            </a:avLst>
          </a:prstGeom>
          <a:solidFill>
            <a:srgbClr val="FFFFFF"/>
          </a:solidFill>
          <a:ln w="9525">
            <a:solidFill>
              <a:srgbClr val="DCE8E2"/>
            </a:solidFill>
            <a:prstDash val="solid"/>
          </a:ln>
          <a:effectLst>
            <a:outerShdw sx="100000" sy="100000" kx="0" ky="0" algn="bl" rotWithShape="0" blurRad="63500" dist="12700" dir="5400000">
              <a:srgbClr val="0E3B30">
                <a:alpha val="7000"/>
              </a:srgbClr>
            </a:outerShdw>
          </a:effectLst>
        </p:spPr>
      </p:sp>
      <p:sp>
        <p:nvSpPr>
          <p:cNvPr id="43" name="Shape 30"/>
          <p:cNvSpPr/>
          <p:nvPr/>
        </p:nvSpPr>
        <p:spPr>
          <a:xfrm>
            <a:off x="980161" y="4480560"/>
            <a:ext cx="566928" cy="566928"/>
          </a:xfrm>
          <a:prstGeom prst="ellipse">
            <a:avLst/>
          </a:prstGeom>
          <a:solidFill>
            <a:srgbClr val="F1F7F4"/>
          </a:solidFill>
          <a:ln w="9525">
            <a:solidFill>
              <a:srgbClr val="DCE8E2"/>
            </a:solidFill>
            <a:prstDash val="solid"/>
          </a:ln>
        </p:spPr>
      </p:sp>
      <p:pic>
        <p:nvPicPr>
          <p:cNvPr id="44" name="Image 11" descr="/tmp/claude-0/-home-user-Mobile1/ab9bbf47-b054-5f6e-be59-70476e095ce8/scratchpad/assets/icons/star_green.png">    </p:cNvPr>
          <p:cNvPicPr>
            <a:picLocks noChangeAspect="1"/>
          </p:cNvPicPr>
          <p:nvPr/>
        </p:nvPicPr>
        <p:blipFill>
          <a:blip r:embed="rId12"/>
          <a:stretch>
            <a:fillRect/>
          </a:stretch>
        </p:blipFill>
        <p:spPr>
          <a:xfrm>
            <a:off x="1121893" y="4622292"/>
            <a:ext cx="283464" cy="283464"/>
          </a:xfrm>
          <a:prstGeom prst="rect">
            <a:avLst/>
          </a:prstGeom>
        </p:spPr>
      </p:pic>
      <p:sp>
        <p:nvSpPr>
          <p:cNvPr id="45" name="Text 31"/>
          <p:cNvSpPr/>
          <p:nvPr/>
        </p:nvSpPr>
        <p:spPr>
          <a:xfrm>
            <a:off x="457200" y="5212080"/>
            <a:ext cx="1612849" cy="502920"/>
          </a:xfrm>
          <a:prstGeom prst="rect">
            <a:avLst/>
          </a:prstGeom>
          <a:noFill/>
          <a:ln/>
        </p:spPr>
        <p:txBody>
          <a:bodyPr wrap="square" lIns="0" tIns="0" rIns="0" bIns="0" rtlCol="0" anchor="ctr"/>
          <a:lstStyle/>
          <a:p>
            <a:pPr rtl="1" algn="ctr" indent="0" marL="0">
              <a:buNone/>
            </a:pPr>
            <a:r>
              <a:rPr lang="ar-SA" altLang="en-US" sz="1300" b="1" dirty="0">
                <a:solidFill>
                  <a:srgbClr val="0F2A21"/>
                </a:solidFill>
                <a:latin typeface="Tajawal" pitchFamily="34" charset="0"/>
                <a:ea typeface="Tajawal" pitchFamily="34" charset="-122"/>
                <a:cs typeface="Tajawal" pitchFamily="34" charset="-120"/>
              </a:rPr>
              <a:t>المواطنة</a:t>
            </a:r>
            <a:endParaRPr lang="ar-SA"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layers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مرتكزات ومصادر بناء الخطة</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٠٩</a:t>
            </a:r>
            <a:endParaRPr lang="ar-SA" sz="850" dirty="0"/>
          </a:p>
        </p:txBody>
      </p:sp>
      <p:sp>
        <p:nvSpPr>
          <p:cNvPr id="9" name="Shape 4"/>
          <p:cNvSpPr/>
          <p:nvPr/>
        </p:nvSpPr>
        <p:spPr>
          <a:xfrm>
            <a:off x="11729923" y="1014984"/>
            <a:ext cx="50292" cy="201168"/>
          </a:xfrm>
          <a:prstGeom prst="rect">
            <a:avLst/>
          </a:prstGeom>
          <a:solidFill>
            <a:srgbClr val="0089A1"/>
          </a:solidFill>
          <a:ln/>
        </p:spPr>
      </p:sp>
      <p:sp>
        <p:nvSpPr>
          <p:cNvPr id="10" name="Text 5"/>
          <p:cNvSpPr/>
          <p:nvPr/>
        </p:nvSpPr>
        <p:spPr>
          <a:xfrm>
            <a:off x="9037015" y="969264"/>
            <a:ext cx="261518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مرتكزات بناء الخطة</a:t>
            </a:r>
            <a:endParaRPr lang="ar-SA" sz="1250" dirty="0"/>
          </a:p>
        </p:txBody>
      </p:sp>
      <p:sp>
        <p:nvSpPr>
          <p:cNvPr id="11" name="Text 6"/>
          <p:cNvSpPr/>
          <p:nvPr/>
        </p:nvSpPr>
        <p:spPr>
          <a:xfrm>
            <a:off x="5120640" y="1298448"/>
            <a:ext cx="6659575" cy="310896"/>
          </a:xfrm>
          <a:prstGeom prst="rect">
            <a:avLst/>
          </a:prstGeom>
          <a:noFill/>
          <a:ln/>
        </p:spPr>
        <p:txBody>
          <a:bodyPr wrap="square" lIns="0" tIns="0" rIns="0" bIns="0" rtlCol="0" anchor="t"/>
          <a:lstStyle/>
          <a:p>
            <a:pPr rtl="1" algn="r" indent="0" marL="0">
              <a:buNone/>
            </a:pPr>
            <a:r>
              <a:rPr lang="ar-SA" altLang="en-US" sz="960" dirty="0">
                <a:solidFill>
                  <a:srgbClr val="7C8F87"/>
                </a:solidFill>
                <a:latin typeface="Tajawal" pitchFamily="34" charset="0"/>
                <a:ea typeface="Tajawal" pitchFamily="34" charset="-122"/>
                <a:cs typeface="Tajawal" pitchFamily="34" charset="-120"/>
              </a:rPr>
              <a:t>الأسس التي ارتكزنا عليها في صياغة الخطة وضمان توافقها مع التوجهات الوطنية:</a:t>
            </a:r>
            <a:endParaRPr lang="ar-SA" sz="960" dirty="0"/>
          </a:p>
        </p:txBody>
      </p:sp>
      <p:sp>
        <p:nvSpPr>
          <p:cNvPr id="12" name="Shape 7"/>
          <p:cNvSpPr/>
          <p:nvPr/>
        </p:nvSpPr>
        <p:spPr>
          <a:xfrm>
            <a:off x="8560156" y="1700784"/>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13" name="Shape 8"/>
          <p:cNvSpPr/>
          <p:nvPr/>
        </p:nvSpPr>
        <p:spPr>
          <a:xfrm>
            <a:off x="11268151" y="1865376"/>
            <a:ext cx="329184" cy="329184"/>
          </a:xfrm>
          <a:prstGeom prst="roundRect">
            <a:avLst>
              <a:gd name="adj" fmla="val 22000"/>
            </a:avLst>
          </a:prstGeom>
          <a:solidFill>
            <a:srgbClr val="095242"/>
          </a:solidFill>
          <a:ln/>
        </p:spPr>
      </p:sp>
      <p:sp>
        <p:nvSpPr>
          <p:cNvPr id="14" name="Text 9"/>
          <p:cNvSpPr/>
          <p:nvPr/>
        </p:nvSpPr>
        <p:spPr>
          <a:xfrm>
            <a:off x="11268151" y="1851660"/>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٠١</a:t>
            </a:r>
            <a:endParaRPr lang="ar-SA" sz="950" dirty="0"/>
          </a:p>
        </p:txBody>
      </p:sp>
      <p:sp>
        <p:nvSpPr>
          <p:cNvPr id="15" name="Text 10"/>
          <p:cNvSpPr/>
          <p:nvPr/>
        </p:nvSpPr>
        <p:spPr>
          <a:xfrm>
            <a:off x="8743036" y="1828800"/>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الرؤية والرسالة والأهداف</a:t>
            </a:r>
            <a:endParaRPr lang="ar-SA" sz="1060" dirty="0"/>
          </a:p>
        </p:txBody>
      </p:sp>
      <p:sp>
        <p:nvSpPr>
          <p:cNvPr id="16" name="Text 11"/>
          <p:cNvSpPr/>
          <p:nvPr/>
        </p:nvSpPr>
        <p:spPr>
          <a:xfrm>
            <a:off x="8743036" y="2249424"/>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الاستراتيجية للمدرسة</a:t>
            </a:r>
            <a:endParaRPr lang="ar-SA" sz="880" dirty="0"/>
          </a:p>
        </p:txBody>
      </p:sp>
      <p:sp>
        <p:nvSpPr>
          <p:cNvPr id="17" name="Shape 12"/>
          <p:cNvSpPr/>
          <p:nvPr/>
        </p:nvSpPr>
        <p:spPr>
          <a:xfrm>
            <a:off x="5120640" y="1700784"/>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18" name="Shape 13"/>
          <p:cNvSpPr/>
          <p:nvPr/>
        </p:nvSpPr>
        <p:spPr>
          <a:xfrm>
            <a:off x="7828636" y="1865376"/>
            <a:ext cx="329184" cy="329184"/>
          </a:xfrm>
          <a:prstGeom prst="roundRect">
            <a:avLst>
              <a:gd name="adj" fmla="val 22000"/>
            </a:avLst>
          </a:prstGeom>
          <a:solidFill>
            <a:srgbClr val="095242"/>
          </a:solidFill>
          <a:ln/>
        </p:spPr>
      </p:sp>
      <p:sp>
        <p:nvSpPr>
          <p:cNvPr id="19" name="Text 14"/>
          <p:cNvSpPr/>
          <p:nvPr/>
        </p:nvSpPr>
        <p:spPr>
          <a:xfrm>
            <a:off x="7828636" y="1851660"/>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٠٢</a:t>
            </a:r>
            <a:endParaRPr lang="ar-SA" sz="950" dirty="0"/>
          </a:p>
        </p:txBody>
      </p:sp>
      <p:sp>
        <p:nvSpPr>
          <p:cNvPr id="20" name="Text 15"/>
          <p:cNvSpPr/>
          <p:nvPr/>
        </p:nvSpPr>
        <p:spPr>
          <a:xfrm>
            <a:off x="5303520" y="1828800"/>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سياسات وزارة التعليم</a:t>
            </a:r>
            <a:endParaRPr lang="ar-SA" sz="1060" dirty="0"/>
          </a:p>
        </p:txBody>
      </p:sp>
      <p:sp>
        <p:nvSpPr>
          <p:cNvPr id="21" name="Text 16"/>
          <p:cNvSpPr/>
          <p:nvPr/>
        </p:nvSpPr>
        <p:spPr>
          <a:xfrm>
            <a:off x="5303520" y="2249424"/>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وأولوياتها الاستراتيجية العشرة</a:t>
            </a:r>
            <a:endParaRPr lang="ar-SA" sz="880" dirty="0"/>
          </a:p>
        </p:txBody>
      </p:sp>
      <p:sp>
        <p:nvSpPr>
          <p:cNvPr id="22" name="Shape 17"/>
          <p:cNvSpPr/>
          <p:nvPr/>
        </p:nvSpPr>
        <p:spPr>
          <a:xfrm>
            <a:off x="8560156" y="2907792"/>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23" name="Shape 18"/>
          <p:cNvSpPr/>
          <p:nvPr/>
        </p:nvSpPr>
        <p:spPr>
          <a:xfrm>
            <a:off x="11268151" y="3072384"/>
            <a:ext cx="329184" cy="329184"/>
          </a:xfrm>
          <a:prstGeom prst="roundRect">
            <a:avLst>
              <a:gd name="adj" fmla="val 22000"/>
            </a:avLst>
          </a:prstGeom>
          <a:solidFill>
            <a:srgbClr val="095242"/>
          </a:solidFill>
          <a:ln/>
        </p:spPr>
      </p:sp>
      <p:sp>
        <p:nvSpPr>
          <p:cNvPr id="24" name="Text 19"/>
          <p:cNvSpPr/>
          <p:nvPr/>
        </p:nvSpPr>
        <p:spPr>
          <a:xfrm>
            <a:off x="11268151" y="3058668"/>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٠٣</a:t>
            </a:r>
            <a:endParaRPr lang="ar-SA" sz="950" dirty="0"/>
          </a:p>
        </p:txBody>
      </p:sp>
      <p:sp>
        <p:nvSpPr>
          <p:cNvPr id="25" name="Text 20"/>
          <p:cNvSpPr/>
          <p:nvPr/>
        </p:nvSpPr>
        <p:spPr>
          <a:xfrm>
            <a:off x="8743036" y="3035808"/>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معايير الجودة والاعتماد</a:t>
            </a:r>
            <a:endParaRPr lang="ar-SA" sz="1060" dirty="0"/>
          </a:p>
        </p:txBody>
      </p:sp>
      <p:sp>
        <p:nvSpPr>
          <p:cNvPr id="26" name="Text 21"/>
          <p:cNvSpPr/>
          <p:nvPr/>
        </p:nvSpPr>
        <p:spPr>
          <a:xfrm>
            <a:off x="8743036" y="3456432"/>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ومؤشراتها التفصيلية</a:t>
            </a:r>
            <a:endParaRPr lang="ar-SA" sz="880" dirty="0"/>
          </a:p>
        </p:txBody>
      </p:sp>
      <p:sp>
        <p:nvSpPr>
          <p:cNvPr id="27" name="Shape 22"/>
          <p:cNvSpPr/>
          <p:nvPr/>
        </p:nvSpPr>
        <p:spPr>
          <a:xfrm>
            <a:off x="5120640" y="2907792"/>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28" name="Shape 23"/>
          <p:cNvSpPr/>
          <p:nvPr/>
        </p:nvSpPr>
        <p:spPr>
          <a:xfrm>
            <a:off x="7828636" y="3072384"/>
            <a:ext cx="329184" cy="329184"/>
          </a:xfrm>
          <a:prstGeom prst="roundRect">
            <a:avLst>
              <a:gd name="adj" fmla="val 22000"/>
            </a:avLst>
          </a:prstGeom>
          <a:solidFill>
            <a:srgbClr val="095242"/>
          </a:solidFill>
          <a:ln/>
        </p:spPr>
      </p:sp>
      <p:sp>
        <p:nvSpPr>
          <p:cNvPr id="29" name="Text 24"/>
          <p:cNvSpPr/>
          <p:nvPr/>
        </p:nvSpPr>
        <p:spPr>
          <a:xfrm>
            <a:off x="7828636" y="3058668"/>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٠٤</a:t>
            </a:r>
            <a:endParaRPr lang="ar-SA" sz="950" dirty="0"/>
          </a:p>
        </p:txBody>
      </p:sp>
      <p:sp>
        <p:nvSpPr>
          <p:cNvPr id="30" name="Text 25"/>
          <p:cNvSpPr/>
          <p:nvPr/>
        </p:nvSpPr>
        <p:spPr>
          <a:xfrm>
            <a:off x="5303520" y="3035808"/>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نتائج التقويم الذاتي</a:t>
            </a:r>
            <a:endParaRPr lang="ar-SA" sz="1060" dirty="0"/>
          </a:p>
        </p:txBody>
      </p:sp>
      <p:sp>
        <p:nvSpPr>
          <p:cNvPr id="31" name="Text 26"/>
          <p:cNvSpPr/>
          <p:nvPr/>
        </p:nvSpPr>
        <p:spPr>
          <a:xfrm>
            <a:off x="5303520" y="3456432"/>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ومجالات التحسين المستهدفة</a:t>
            </a:r>
            <a:endParaRPr lang="ar-SA" sz="880" dirty="0"/>
          </a:p>
        </p:txBody>
      </p:sp>
      <p:sp>
        <p:nvSpPr>
          <p:cNvPr id="32" name="Shape 27"/>
          <p:cNvSpPr/>
          <p:nvPr/>
        </p:nvSpPr>
        <p:spPr>
          <a:xfrm>
            <a:off x="8560156" y="4114800"/>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33" name="Shape 28"/>
          <p:cNvSpPr/>
          <p:nvPr/>
        </p:nvSpPr>
        <p:spPr>
          <a:xfrm>
            <a:off x="11268151" y="4279392"/>
            <a:ext cx="329184" cy="329184"/>
          </a:xfrm>
          <a:prstGeom prst="roundRect">
            <a:avLst>
              <a:gd name="adj" fmla="val 22000"/>
            </a:avLst>
          </a:prstGeom>
          <a:solidFill>
            <a:srgbClr val="095242"/>
          </a:solidFill>
          <a:ln/>
        </p:spPr>
      </p:sp>
      <p:sp>
        <p:nvSpPr>
          <p:cNvPr id="34" name="Text 29"/>
          <p:cNvSpPr/>
          <p:nvPr/>
        </p:nvSpPr>
        <p:spPr>
          <a:xfrm>
            <a:off x="11268151" y="4265676"/>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٠٥</a:t>
            </a:r>
            <a:endParaRPr lang="ar-SA" sz="950" dirty="0"/>
          </a:p>
        </p:txBody>
      </p:sp>
      <p:sp>
        <p:nvSpPr>
          <p:cNvPr id="35" name="Text 30"/>
          <p:cNvSpPr/>
          <p:nvPr/>
        </p:nvSpPr>
        <p:spPr>
          <a:xfrm>
            <a:off x="8743036" y="4242816"/>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احتياجات المتعلّمين</a:t>
            </a:r>
            <a:endParaRPr lang="ar-SA" sz="1060" dirty="0"/>
          </a:p>
        </p:txBody>
      </p:sp>
      <p:sp>
        <p:nvSpPr>
          <p:cNvPr id="36" name="Text 31"/>
          <p:cNvSpPr/>
          <p:nvPr/>
        </p:nvSpPr>
        <p:spPr>
          <a:xfrm>
            <a:off x="8743036" y="4663440"/>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وتحسين نواتج التعلم</a:t>
            </a:r>
            <a:endParaRPr lang="ar-SA" sz="880" dirty="0"/>
          </a:p>
        </p:txBody>
      </p:sp>
      <p:sp>
        <p:nvSpPr>
          <p:cNvPr id="37" name="Shape 32"/>
          <p:cNvSpPr/>
          <p:nvPr/>
        </p:nvSpPr>
        <p:spPr>
          <a:xfrm>
            <a:off x="5120640" y="4114800"/>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38" name="Shape 33"/>
          <p:cNvSpPr/>
          <p:nvPr/>
        </p:nvSpPr>
        <p:spPr>
          <a:xfrm>
            <a:off x="7828636" y="4279392"/>
            <a:ext cx="329184" cy="329184"/>
          </a:xfrm>
          <a:prstGeom prst="roundRect">
            <a:avLst>
              <a:gd name="adj" fmla="val 22000"/>
            </a:avLst>
          </a:prstGeom>
          <a:solidFill>
            <a:srgbClr val="095242"/>
          </a:solidFill>
          <a:ln/>
        </p:spPr>
      </p:sp>
      <p:sp>
        <p:nvSpPr>
          <p:cNvPr id="39" name="Text 34"/>
          <p:cNvSpPr/>
          <p:nvPr/>
        </p:nvSpPr>
        <p:spPr>
          <a:xfrm>
            <a:off x="7828636" y="4265676"/>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٠٦</a:t>
            </a:r>
            <a:endParaRPr lang="ar-SA" sz="950" dirty="0"/>
          </a:p>
        </p:txBody>
      </p:sp>
      <p:sp>
        <p:nvSpPr>
          <p:cNvPr id="40" name="Text 35"/>
          <p:cNvSpPr/>
          <p:nvPr/>
        </p:nvSpPr>
        <p:spPr>
          <a:xfrm>
            <a:off x="5303520" y="4242816"/>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احتياجات المعلمين المهنية</a:t>
            </a:r>
            <a:endParaRPr lang="ar-SA" sz="1060" dirty="0"/>
          </a:p>
        </p:txBody>
      </p:sp>
      <p:sp>
        <p:nvSpPr>
          <p:cNvPr id="41" name="Text 36"/>
          <p:cNvSpPr/>
          <p:nvPr/>
        </p:nvSpPr>
        <p:spPr>
          <a:xfrm>
            <a:off x="5303520" y="4663440"/>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والتطوير المستمر للكوادر</a:t>
            </a:r>
            <a:endParaRPr lang="ar-SA" sz="880" dirty="0"/>
          </a:p>
        </p:txBody>
      </p:sp>
      <p:sp>
        <p:nvSpPr>
          <p:cNvPr id="42" name="Shape 37"/>
          <p:cNvSpPr/>
          <p:nvPr/>
        </p:nvSpPr>
        <p:spPr>
          <a:xfrm>
            <a:off x="8560156" y="5321808"/>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43" name="Shape 38"/>
          <p:cNvSpPr/>
          <p:nvPr/>
        </p:nvSpPr>
        <p:spPr>
          <a:xfrm>
            <a:off x="11268151" y="5486400"/>
            <a:ext cx="329184" cy="329184"/>
          </a:xfrm>
          <a:prstGeom prst="roundRect">
            <a:avLst>
              <a:gd name="adj" fmla="val 22000"/>
            </a:avLst>
          </a:prstGeom>
          <a:solidFill>
            <a:srgbClr val="095242"/>
          </a:solidFill>
          <a:ln/>
        </p:spPr>
      </p:sp>
      <p:sp>
        <p:nvSpPr>
          <p:cNvPr id="44" name="Text 39"/>
          <p:cNvSpPr/>
          <p:nvPr/>
        </p:nvSpPr>
        <p:spPr>
          <a:xfrm>
            <a:off x="11268151" y="5472684"/>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٠٧</a:t>
            </a:r>
            <a:endParaRPr lang="ar-SA" sz="950" dirty="0"/>
          </a:p>
        </p:txBody>
      </p:sp>
      <p:sp>
        <p:nvSpPr>
          <p:cNvPr id="45" name="Text 40"/>
          <p:cNvSpPr/>
          <p:nvPr/>
        </p:nvSpPr>
        <p:spPr>
          <a:xfrm>
            <a:off x="8743036" y="5449824"/>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الشراكة الأسرية</a:t>
            </a:r>
            <a:endParaRPr lang="ar-SA" sz="1060" dirty="0"/>
          </a:p>
        </p:txBody>
      </p:sp>
      <p:sp>
        <p:nvSpPr>
          <p:cNvPr id="46" name="Text 41"/>
          <p:cNvSpPr/>
          <p:nvPr/>
        </p:nvSpPr>
        <p:spPr>
          <a:xfrm>
            <a:off x="8743036" y="5870448"/>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والمجتمعية الفاعلة</a:t>
            </a:r>
            <a:endParaRPr lang="ar-SA" sz="880" dirty="0"/>
          </a:p>
        </p:txBody>
      </p:sp>
      <p:sp>
        <p:nvSpPr>
          <p:cNvPr id="47" name="Shape 42"/>
          <p:cNvSpPr/>
          <p:nvPr/>
        </p:nvSpPr>
        <p:spPr>
          <a:xfrm>
            <a:off x="5120640" y="5321808"/>
            <a:ext cx="3220060" cy="1024128"/>
          </a:xfrm>
          <a:prstGeom prst="roundRect">
            <a:avLst>
              <a:gd name="adj" fmla="val 6696"/>
            </a:avLst>
          </a:prstGeom>
          <a:solidFill>
            <a:srgbClr val="FFFFFF"/>
          </a:solidFill>
          <a:ln w="9525">
            <a:solidFill>
              <a:srgbClr val="DCE8E2"/>
            </a:solidFill>
            <a:prstDash val="solid"/>
          </a:ln>
          <a:effectLst>
            <a:outerShdw sx="100000" sy="100000" kx="0" ky="0" algn="bl" rotWithShape="0" blurRad="50800" dist="12700" dir="5400000">
              <a:srgbClr val="0E3B30">
                <a:alpha val="6000"/>
              </a:srgbClr>
            </a:outerShdw>
          </a:effectLst>
        </p:spPr>
      </p:sp>
      <p:sp>
        <p:nvSpPr>
          <p:cNvPr id="48" name="Shape 43"/>
          <p:cNvSpPr/>
          <p:nvPr/>
        </p:nvSpPr>
        <p:spPr>
          <a:xfrm>
            <a:off x="7828636" y="5486400"/>
            <a:ext cx="329184" cy="329184"/>
          </a:xfrm>
          <a:prstGeom prst="roundRect">
            <a:avLst>
              <a:gd name="adj" fmla="val 22000"/>
            </a:avLst>
          </a:prstGeom>
          <a:solidFill>
            <a:srgbClr val="095242"/>
          </a:solidFill>
          <a:ln/>
        </p:spPr>
      </p:sp>
      <p:sp>
        <p:nvSpPr>
          <p:cNvPr id="49" name="Text 44"/>
          <p:cNvSpPr/>
          <p:nvPr/>
        </p:nvSpPr>
        <p:spPr>
          <a:xfrm>
            <a:off x="7828636" y="5472684"/>
            <a:ext cx="329184" cy="329184"/>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٠٨</a:t>
            </a:r>
            <a:endParaRPr lang="ar-SA" sz="950" dirty="0"/>
          </a:p>
        </p:txBody>
      </p:sp>
      <p:sp>
        <p:nvSpPr>
          <p:cNvPr id="50" name="Text 45"/>
          <p:cNvSpPr/>
          <p:nvPr/>
        </p:nvSpPr>
        <p:spPr>
          <a:xfrm>
            <a:off x="5303520" y="5449824"/>
            <a:ext cx="2442820" cy="384048"/>
          </a:xfrm>
          <a:prstGeom prst="rect">
            <a:avLst/>
          </a:prstGeom>
          <a:noFill/>
          <a:ln/>
        </p:spPr>
        <p:txBody>
          <a:bodyPr wrap="square" lIns="0" tIns="0" rIns="0" bIns="0" rtlCol="0" anchor="ctr"/>
          <a:lstStyle/>
          <a:p>
            <a:pPr rtl="1" algn="r" indent="0" marL="0">
              <a:buNone/>
            </a:pPr>
            <a:r>
              <a:rPr lang="ar-SA" altLang="en-US" sz="1060" b="1" dirty="0">
                <a:solidFill>
                  <a:srgbClr val="063E33"/>
                </a:solidFill>
                <a:latin typeface="Tajawal" pitchFamily="34" charset="0"/>
                <a:ea typeface="Tajawal" pitchFamily="34" charset="-122"/>
                <a:cs typeface="Tajawal" pitchFamily="34" charset="-120"/>
              </a:rPr>
              <a:t>التحول الرقمي والابتكار</a:t>
            </a:r>
            <a:endParaRPr lang="ar-SA" sz="1060" dirty="0"/>
          </a:p>
        </p:txBody>
      </p:sp>
      <p:sp>
        <p:nvSpPr>
          <p:cNvPr id="51" name="Text 46"/>
          <p:cNvSpPr/>
          <p:nvPr/>
        </p:nvSpPr>
        <p:spPr>
          <a:xfrm>
            <a:off x="5303520" y="5870448"/>
            <a:ext cx="2808580" cy="402336"/>
          </a:xfrm>
          <a:prstGeom prst="rect">
            <a:avLst/>
          </a:prstGeom>
          <a:noFill/>
          <a:ln/>
        </p:spPr>
        <p:txBody>
          <a:bodyPr wrap="square" lIns="0" tIns="0" rIns="0" bIns="0" rtlCol="0" anchor="t"/>
          <a:lstStyle/>
          <a:p>
            <a:pPr rtl="1" algn="r" indent="0" marL="0">
              <a:buNone/>
            </a:pPr>
            <a:r>
              <a:rPr lang="ar-SA" altLang="en-US" sz="880" dirty="0">
                <a:solidFill>
                  <a:srgbClr val="7C8F87"/>
                </a:solidFill>
                <a:latin typeface="Tajawal" pitchFamily="34" charset="0"/>
                <a:ea typeface="Tajawal" pitchFamily="34" charset="-122"/>
                <a:cs typeface="Tajawal" pitchFamily="34" charset="-120"/>
              </a:rPr>
              <a:t>وتوظيف التقنيات الحديثة</a:t>
            </a:r>
            <a:endParaRPr lang="ar-SA" sz="880" dirty="0"/>
          </a:p>
        </p:txBody>
      </p:sp>
      <p:sp>
        <p:nvSpPr>
          <p:cNvPr id="52" name="Shape 47"/>
          <p:cNvSpPr/>
          <p:nvPr/>
        </p:nvSpPr>
        <p:spPr>
          <a:xfrm>
            <a:off x="4658868" y="1014984"/>
            <a:ext cx="50292" cy="201168"/>
          </a:xfrm>
          <a:prstGeom prst="rect">
            <a:avLst/>
          </a:prstGeom>
          <a:solidFill>
            <a:srgbClr val="0089A1"/>
          </a:solidFill>
          <a:ln/>
        </p:spPr>
      </p:sp>
      <p:sp>
        <p:nvSpPr>
          <p:cNvPr id="53" name="Text 48"/>
          <p:cNvSpPr/>
          <p:nvPr/>
        </p:nvSpPr>
        <p:spPr>
          <a:xfrm>
            <a:off x="1965960" y="969264"/>
            <a:ext cx="261518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مصادر بناء الخطة</a:t>
            </a:r>
            <a:endParaRPr lang="ar-SA" sz="1250" dirty="0"/>
          </a:p>
        </p:txBody>
      </p:sp>
      <p:sp>
        <p:nvSpPr>
          <p:cNvPr id="54" name="Text 49"/>
          <p:cNvSpPr/>
          <p:nvPr/>
        </p:nvSpPr>
        <p:spPr>
          <a:xfrm>
            <a:off x="411480" y="1298448"/>
            <a:ext cx="4297680" cy="310896"/>
          </a:xfrm>
          <a:prstGeom prst="rect">
            <a:avLst/>
          </a:prstGeom>
          <a:noFill/>
          <a:ln/>
        </p:spPr>
        <p:txBody>
          <a:bodyPr wrap="square" lIns="0" tIns="0" rIns="0" bIns="0" rtlCol="0" anchor="t"/>
          <a:lstStyle/>
          <a:p>
            <a:pPr rtl="1" algn="r" indent="0" marL="0">
              <a:buNone/>
            </a:pPr>
            <a:r>
              <a:rPr lang="ar-SA" altLang="en-US" sz="960" dirty="0">
                <a:solidFill>
                  <a:srgbClr val="7C8F87"/>
                </a:solidFill>
                <a:latin typeface="Tajawal" pitchFamily="34" charset="0"/>
                <a:ea typeface="Tajawal" pitchFamily="34" charset="-122"/>
                <a:cs typeface="Tajawal" pitchFamily="34" charset="-120"/>
              </a:rPr>
              <a:t>البيانات والمراجع التي استند إليها فريق الإعداد لتشخيص واقع المدرسة:</a:t>
            </a:r>
            <a:endParaRPr lang="ar-SA" sz="96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700784"/>
          <a:ext cx="4297680" cy="914400"/>
        </p:xfrm>
        <a:graphic>
          <a:graphicData uri="http://schemas.openxmlformats.org/drawingml/2006/table">
            <a:tbl>
              <a:tblPr/>
              <a:tblGrid>
                <a:gridCol w="3913632"/>
                <a:gridCol w="384048"/>
              </a:tblGrid>
              <a:tr h="292608">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المصدر</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80" b="1" dirty="0">
                          <a:solidFill>
                            <a:srgbClr val="FFFFFF"/>
                          </a:solidFill>
                          <a:latin typeface="Tajawal" pitchFamily="34" charset="0"/>
                          <a:ea typeface="Tajawal" pitchFamily="34" charset="-122"/>
                          <a:cs typeface="Tajawal" pitchFamily="34" charset="-120"/>
                        </a:rPr>
                        <a:t>م</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نتائج الاختبارات التحصيلية واختبارات الفاقد التعليمي</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١</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سجلات الحضور والانضباط وتقارير التأخر والتسرب</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٢</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التغذية الراجعة من المعلمين والطلاب وأولياء الأمور</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٣</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تقارير مقدمي خدمات الدعم والتقويم الخارجي</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٤</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احتياجات المتعلمين وخطط تحسين نواتج التعلم</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٥</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نتائج تحليل SWOT والتحليل الرباعي لأداء المدرسة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٦</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السجلات الفنية والإدارية وسجل النمو المهني بالمدرسة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٧</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512064">
                <a:tc>
                  <a:txBody>
                    <a:bodyPr/>
                    <a:lstStyle/>
                    <a:p>
                      <a:pPr rtl="1" algn="r" indent="0" marL="0">
                        <a:buNone/>
                      </a:pPr>
                      <a:r>
                        <a:rPr lang="ar-SA" altLang="en-US" sz="880" dirty="0">
                          <a:solidFill>
                            <a:srgbClr val="33473F"/>
                          </a:solidFill>
                          <a:latin typeface="Tajawal" pitchFamily="34" charset="0"/>
                          <a:ea typeface="Tajawal" pitchFamily="34" charset="-122"/>
                          <a:cs typeface="Tajawal" pitchFamily="34" charset="-120"/>
                        </a:rPr>
                        <a:t>أولياء الأمور: نتائج التحصيل الدراسي واللائحة السلوكية</a:t>
                      </a:r>
                      <a:endParaRPr lang="ar-SA" sz="88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60" dirty="0">
                          <a:solidFill>
                            <a:srgbClr val="33473F"/>
                          </a:solidFill>
                          <a:latin typeface="Tajawal" pitchFamily="34" charset="0"/>
                          <a:ea typeface="Tajawal" pitchFamily="34" charset="-122"/>
                          <a:cs typeface="Tajawal" pitchFamily="34" charset="-120"/>
                        </a:rPr>
                        <a:t>٨</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listchecks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ترتيب أولويات الخطة حسب مجالات التقويم</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١٠</a:t>
            </a:r>
            <a:endParaRPr lang="ar-SA" sz="850" dirty="0"/>
          </a:p>
        </p:txBody>
      </p:sp>
      <p:sp>
        <p:nvSpPr>
          <p:cNvPr id="9" name="Shape 4"/>
          <p:cNvSpPr/>
          <p:nvPr/>
        </p:nvSpPr>
        <p:spPr>
          <a:xfrm>
            <a:off x="6233008" y="1078992"/>
            <a:ext cx="5547208" cy="1627632"/>
          </a:xfrm>
          <a:prstGeom prst="roundRect">
            <a:avLst>
              <a:gd name="adj" fmla="val 4213"/>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0" name="Shape 5"/>
          <p:cNvSpPr/>
          <p:nvPr/>
        </p:nvSpPr>
        <p:spPr>
          <a:xfrm>
            <a:off x="6361024" y="1188720"/>
            <a:ext cx="5291176" cy="365760"/>
          </a:xfrm>
          <a:prstGeom prst="roundRect">
            <a:avLst>
              <a:gd name="adj" fmla="val 17500"/>
            </a:avLst>
          </a:prstGeom>
          <a:solidFill>
            <a:srgbClr val="095242"/>
          </a:solidFill>
          <a:ln/>
        </p:spPr>
      </p:sp>
      <p:sp>
        <p:nvSpPr>
          <p:cNvPr id="11" name="Shape 6"/>
          <p:cNvSpPr/>
          <p:nvPr/>
        </p:nvSpPr>
        <p:spPr>
          <a:xfrm>
            <a:off x="11323015" y="1234440"/>
            <a:ext cx="274320" cy="274320"/>
          </a:xfrm>
          <a:prstGeom prst="ellipse">
            <a:avLst/>
          </a:prstGeom>
          <a:solidFill>
            <a:srgbClr val="FFFFFF"/>
          </a:solidFill>
          <a:ln/>
        </p:spPr>
      </p:sp>
      <p:sp>
        <p:nvSpPr>
          <p:cNvPr id="12" name="Text 7"/>
          <p:cNvSpPr/>
          <p:nvPr/>
        </p:nvSpPr>
        <p:spPr>
          <a:xfrm>
            <a:off x="11323015" y="1220724"/>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١</a:t>
            </a:r>
            <a:endParaRPr lang="ar-SA" sz="1100" dirty="0"/>
          </a:p>
        </p:txBody>
      </p:sp>
      <p:sp>
        <p:nvSpPr>
          <p:cNvPr id="13" name="Text 8"/>
          <p:cNvSpPr/>
          <p:nvPr/>
        </p:nvSpPr>
        <p:spPr>
          <a:xfrm>
            <a:off x="6507328" y="1188720"/>
            <a:ext cx="4769968"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التدريس</a:t>
            </a:r>
            <a:endParaRPr lang="ar-SA" sz="1200" dirty="0"/>
          </a:p>
        </p:txBody>
      </p:sp>
      <p:sp>
        <p:nvSpPr>
          <p:cNvPr id="14" name="Text 9"/>
          <p:cNvSpPr/>
          <p:nvPr/>
        </p:nvSpPr>
        <p:spPr>
          <a:xfrm>
            <a:off x="7805776" y="1645920"/>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توفر المدرسة فرصًا متكافئة للتعلم تلبّي احتياجات المتعلّمين بمن فيهم ذوو الإعاقة</a:t>
            </a:r>
            <a:endParaRPr lang="ar-SA" sz="820" dirty="0"/>
          </a:p>
        </p:txBody>
      </p:sp>
      <p:sp>
        <p:nvSpPr>
          <p:cNvPr id="15" name="Shape 10"/>
          <p:cNvSpPr/>
          <p:nvPr/>
        </p:nvSpPr>
        <p:spPr>
          <a:xfrm>
            <a:off x="7019392" y="1696212"/>
            <a:ext cx="713232" cy="265176"/>
          </a:xfrm>
          <a:prstGeom prst="roundRect">
            <a:avLst>
              <a:gd name="adj" fmla="val 20690"/>
            </a:avLst>
          </a:prstGeom>
          <a:solidFill>
            <a:srgbClr val="F1F7F4"/>
          </a:solidFill>
          <a:ln w="6350">
            <a:solidFill>
              <a:srgbClr val="DCE8E2"/>
            </a:solidFill>
            <a:prstDash val="solid"/>
          </a:ln>
        </p:spPr>
      </p:sp>
      <p:sp>
        <p:nvSpPr>
          <p:cNvPr id="16" name="Text 11"/>
          <p:cNvSpPr/>
          <p:nvPr/>
        </p:nvSpPr>
        <p:spPr>
          <a:xfrm>
            <a:off x="7019392" y="1691640"/>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‎2-1-1-9‎</a:t>
            </a:r>
            <a:endParaRPr lang="ar-SA" sz="800" dirty="0"/>
          </a:p>
        </p:txBody>
      </p:sp>
      <p:sp>
        <p:nvSpPr>
          <p:cNvPr id="17" name="Text 12"/>
          <p:cNvSpPr/>
          <p:nvPr/>
        </p:nvSpPr>
        <p:spPr>
          <a:xfrm>
            <a:off x="6361024" y="1691640"/>
            <a:ext cx="603504" cy="265176"/>
          </a:xfrm>
          <a:prstGeom prst="rect">
            <a:avLst/>
          </a:prstGeom>
          <a:noFill/>
          <a:ln/>
        </p:spPr>
        <p:txBody>
          <a:bodyPr wrap="square" lIns="0" tIns="0" rIns="0" bIns="0" rtlCol="0" anchor="ctr"/>
          <a:lstStyle/>
          <a:p>
            <a:pPr rtl="1" algn="ctr" indent="0" marL="0">
              <a:buNone/>
            </a:pPr>
            <a:r>
              <a:rPr lang="ar-SA" altLang="en-US" sz="900" b="1" dirty="0">
                <a:solidFill>
                  <a:srgbClr val="0089A1"/>
                </a:solidFill>
                <a:latin typeface="Tajawal" pitchFamily="34" charset="0"/>
                <a:ea typeface="Tajawal" pitchFamily="34" charset="-122"/>
                <a:cs typeface="Tajawal" pitchFamily="34" charset="-120"/>
              </a:rPr>
              <a:t>٧٢٫٧٥٪</a:t>
            </a:r>
            <a:endParaRPr lang="ar-SA" sz="900" dirty="0"/>
          </a:p>
        </p:txBody>
      </p:sp>
      <p:sp>
        <p:nvSpPr>
          <p:cNvPr id="18" name="Text 13"/>
          <p:cNvSpPr/>
          <p:nvPr/>
        </p:nvSpPr>
        <p:spPr>
          <a:xfrm>
            <a:off x="7805776" y="2011680"/>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تفعّل المدرسة التعلم الإلكتروني لتلبية احتياجات المتعلّمين ودعم تعلمهم</a:t>
            </a:r>
            <a:endParaRPr lang="ar-SA" sz="820" dirty="0"/>
          </a:p>
        </p:txBody>
      </p:sp>
      <p:sp>
        <p:nvSpPr>
          <p:cNvPr id="19" name="Shape 14"/>
          <p:cNvSpPr/>
          <p:nvPr/>
        </p:nvSpPr>
        <p:spPr>
          <a:xfrm>
            <a:off x="7019392" y="2061972"/>
            <a:ext cx="713232" cy="265176"/>
          </a:xfrm>
          <a:prstGeom prst="roundRect">
            <a:avLst>
              <a:gd name="adj" fmla="val 20690"/>
            </a:avLst>
          </a:prstGeom>
          <a:solidFill>
            <a:srgbClr val="F1F7F4"/>
          </a:solidFill>
          <a:ln w="6350">
            <a:solidFill>
              <a:srgbClr val="DCE8E2"/>
            </a:solidFill>
            <a:prstDash val="solid"/>
          </a:ln>
        </p:spPr>
      </p:sp>
      <p:sp>
        <p:nvSpPr>
          <p:cNvPr id="20" name="Text 15"/>
          <p:cNvSpPr/>
          <p:nvPr/>
        </p:nvSpPr>
        <p:spPr>
          <a:xfrm>
            <a:off x="7019392" y="2057400"/>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‎2-1-1-4‎</a:t>
            </a:r>
            <a:endParaRPr lang="ar-SA" sz="800" dirty="0"/>
          </a:p>
        </p:txBody>
      </p:sp>
      <p:sp>
        <p:nvSpPr>
          <p:cNvPr id="21" name="Text 16"/>
          <p:cNvSpPr/>
          <p:nvPr/>
        </p:nvSpPr>
        <p:spPr>
          <a:xfrm>
            <a:off x="6361024" y="2057400"/>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22" name="Text 17"/>
          <p:cNvSpPr/>
          <p:nvPr/>
        </p:nvSpPr>
        <p:spPr>
          <a:xfrm>
            <a:off x="7805776" y="2377440"/>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تنمّي المدرسة المهارات الرقمية لدى المتعلّمين</a:t>
            </a:r>
            <a:endParaRPr lang="ar-SA" sz="820" dirty="0"/>
          </a:p>
        </p:txBody>
      </p:sp>
      <p:sp>
        <p:nvSpPr>
          <p:cNvPr id="23" name="Shape 18"/>
          <p:cNvSpPr/>
          <p:nvPr/>
        </p:nvSpPr>
        <p:spPr>
          <a:xfrm>
            <a:off x="7019392" y="2427732"/>
            <a:ext cx="713232" cy="265176"/>
          </a:xfrm>
          <a:prstGeom prst="roundRect">
            <a:avLst>
              <a:gd name="adj" fmla="val 20690"/>
            </a:avLst>
          </a:prstGeom>
          <a:solidFill>
            <a:srgbClr val="F1F7F4"/>
          </a:solidFill>
          <a:ln w="6350">
            <a:solidFill>
              <a:srgbClr val="DCE8E2"/>
            </a:solidFill>
            <a:prstDash val="solid"/>
          </a:ln>
        </p:spPr>
      </p:sp>
      <p:sp>
        <p:nvSpPr>
          <p:cNvPr id="24" name="Text 19"/>
          <p:cNvSpPr/>
          <p:nvPr/>
        </p:nvSpPr>
        <p:spPr>
          <a:xfrm>
            <a:off x="7019392" y="2423160"/>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‎2-1-1-10‎</a:t>
            </a:r>
            <a:endParaRPr lang="ar-SA" sz="800" dirty="0"/>
          </a:p>
        </p:txBody>
      </p:sp>
      <p:sp>
        <p:nvSpPr>
          <p:cNvPr id="25" name="Text 20"/>
          <p:cNvSpPr/>
          <p:nvPr/>
        </p:nvSpPr>
        <p:spPr>
          <a:xfrm>
            <a:off x="6361024" y="2423160"/>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26" name="Shape 21"/>
          <p:cNvSpPr/>
          <p:nvPr/>
        </p:nvSpPr>
        <p:spPr>
          <a:xfrm>
            <a:off x="411480" y="1078992"/>
            <a:ext cx="5547208" cy="1627632"/>
          </a:xfrm>
          <a:prstGeom prst="roundRect">
            <a:avLst>
              <a:gd name="adj" fmla="val 4213"/>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27" name="Shape 22"/>
          <p:cNvSpPr/>
          <p:nvPr/>
        </p:nvSpPr>
        <p:spPr>
          <a:xfrm>
            <a:off x="539496" y="1188720"/>
            <a:ext cx="5291176" cy="365760"/>
          </a:xfrm>
          <a:prstGeom prst="roundRect">
            <a:avLst>
              <a:gd name="adj" fmla="val 17500"/>
            </a:avLst>
          </a:prstGeom>
          <a:solidFill>
            <a:srgbClr val="095242"/>
          </a:solidFill>
          <a:ln/>
        </p:spPr>
      </p:sp>
      <p:sp>
        <p:nvSpPr>
          <p:cNvPr id="28" name="Shape 23"/>
          <p:cNvSpPr/>
          <p:nvPr/>
        </p:nvSpPr>
        <p:spPr>
          <a:xfrm>
            <a:off x="5501488" y="1234440"/>
            <a:ext cx="274320" cy="274320"/>
          </a:xfrm>
          <a:prstGeom prst="ellipse">
            <a:avLst/>
          </a:prstGeom>
          <a:solidFill>
            <a:srgbClr val="FFFFFF"/>
          </a:solidFill>
          <a:ln/>
        </p:spPr>
      </p:sp>
      <p:sp>
        <p:nvSpPr>
          <p:cNvPr id="29" name="Text 24"/>
          <p:cNvSpPr/>
          <p:nvPr/>
        </p:nvSpPr>
        <p:spPr>
          <a:xfrm>
            <a:off x="5501488" y="1220724"/>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٢</a:t>
            </a:r>
            <a:endParaRPr lang="ar-SA" sz="1100" dirty="0"/>
          </a:p>
        </p:txBody>
      </p:sp>
      <p:sp>
        <p:nvSpPr>
          <p:cNvPr id="30" name="Text 25"/>
          <p:cNvSpPr/>
          <p:nvPr/>
        </p:nvSpPr>
        <p:spPr>
          <a:xfrm>
            <a:off x="685800" y="1188720"/>
            <a:ext cx="4769968"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نواتج التعلم</a:t>
            </a:r>
            <a:endParaRPr lang="ar-SA" sz="1200" dirty="0"/>
          </a:p>
        </p:txBody>
      </p:sp>
      <p:sp>
        <p:nvSpPr>
          <p:cNvPr id="31" name="Text 26"/>
          <p:cNvSpPr/>
          <p:nvPr/>
        </p:nvSpPr>
        <p:spPr>
          <a:xfrm>
            <a:off x="1984248" y="1645920"/>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يحقّق المتعلمون نتائج متقدمة في الاختبارات التحصيلية للمرحلة الثانوية</a:t>
            </a:r>
            <a:endParaRPr lang="ar-SA" sz="820" dirty="0"/>
          </a:p>
        </p:txBody>
      </p:sp>
      <p:sp>
        <p:nvSpPr>
          <p:cNvPr id="32" name="Shape 27"/>
          <p:cNvSpPr/>
          <p:nvPr/>
        </p:nvSpPr>
        <p:spPr>
          <a:xfrm>
            <a:off x="1197864" y="1696212"/>
            <a:ext cx="713232" cy="265176"/>
          </a:xfrm>
          <a:prstGeom prst="roundRect">
            <a:avLst>
              <a:gd name="adj" fmla="val 20690"/>
            </a:avLst>
          </a:prstGeom>
          <a:solidFill>
            <a:srgbClr val="F1F7F4"/>
          </a:solidFill>
          <a:ln w="6350">
            <a:solidFill>
              <a:srgbClr val="DCE8E2"/>
            </a:solidFill>
            <a:prstDash val="solid"/>
          </a:ln>
        </p:spPr>
      </p:sp>
      <p:sp>
        <p:nvSpPr>
          <p:cNvPr id="33" name="Text 28"/>
          <p:cNvSpPr/>
          <p:nvPr/>
        </p:nvSpPr>
        <p:spPr>
          <a:xfrm>
            <a:off x="1197864" y="1691640"/>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‎3-1-1-10‎</a:t>
            </a:r>
            <a:endParaRPr lang="ar-SA" sz="800" dirty="0"/>
          </a:p>
        </p:txBody>
      </p:sp>
      <p:sp>
        <p:nvSpPr>
          <p:cNvPr id="34" name="Text 29"/>
          <p:cNvSpPr/>
          <p:nvPr/>
        </p:nvSpPr>
        <p:spPr>
          <a:xfrm>
            <a:off x="539496" y="1691640"/>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35" name="Text 30"/>
          <p:cNvSpPr/>
          <p:nvPr/>
        </p:nvSpPr>
        <p:spPr>
          <a:xfrm>
            <a:off x="1984248" y="2011680"/>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يحقّق المتعلمون نتائج متقدمة في اختبارات القدرات العامة للمرحلة الثانوية</a:t>
            </a:r>
            <a:endParaRPr lang="ar-SA" sz="820" dirty="0"/>
          </a:p>
        </p:txBody>
      </p:sp>
      <p:sp>
        <p:nvSpPr>
          <p:cNvPr id="36" name="Shape 31"/>
          <p:cNvSpPr/>
          <p:nvPr/>
        </p:nvSpPr>
        <p:spPr>
          <a:xfrm>
            <a:off x="1197864" y="2061972"/>
            <a:ext cx="713232" cy="265176"/>
          </a:xfrm>
          <a:prstGeom prst="roundRect">
            <a:avLst>
              <a:gd name="adj" fmla="val 20690"/>
            </a:avLst>
          </a:prstGeom>
          <a:solidFill>
            <a:srgbClr val="F1F7F4"/>
          </a:solidFill>
          <a:ln w="6350">
            <a:solidFill>
              <a:srgbClr val="DCE8E2"/>
            </a:solidFill>
            <a:prstDash val="solid"/>
          </a:ln>
        </p:spPr>
      </p:sp>
      <p:sp>
        <p:nvSpPr>
          <p:cNvPr id="37" name="Text 32"/>
          <p:cNvSpPr/>
          <p:nvPr/>
        </p:nvSpPr>
        <p:spPr>
          <a:xfrm>
            <a:off x="1197864" y="2057400"/>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‎3-1-1-11‎</a:t>
            </a:r>
            <a:endParaRPr lang="ar-SA" sz="800" dirty="0"/>
          </a:p>
        </p:txBody>
      </p:sp>
      <p:sp>
        <p:nvSpPr>
          <p:cNvPr id="38" name="Text 33"/>
          <p:cNvSpPr/>
          <p:nvPr/>
        </p:nvSpPr>
        <p:spPr>
          <a:xfrm>
            <a:off x="539496" y="2057400"/>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39" name="Shape 34"/>
          <p:cNvSpPr/>
          <p:nvPr/>
        </p:nvSpPr>
        <p:spPr>
          <a:xfrm>
            <a:off x="6233008" y="2871216"/>
            <a:ext cx="5547208" cy="1335024"/>
          </a:xfrm>
          <a:prstGeom prst="roundRect">
            <a:avLst>
              <a:gd name="adj" fmla="val 5137"/>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40" name="Shape 35"/>
          <p:cNvSpPr/>
          <p:nvPr/>
        </p:nvSpPr>
        <p:spPr>
          <a:xfrm>
            <a:off x="6361024" y="2980944"/>
            <a:ext cx="5291176" cy="365760"/>
          </a:xfrm>
          <a:prstGeom prst="roundRect">
            <a:avLst>
              <a:gd name="adj" fmla="val 17500"/>
            </a:avLst>
          </a:prstGeom>
          <a:solidFill>
            <a:srgbClr val="095242"/>
          </a:solidFill>
          <a:ln/>
        </p:spPr>
      </p:sp>
      <p:sp>
        <p:nvSpPr>
          <p:cNvPr id="41" name="Shape 36"/>
          <p:cNvSpPr/>
          <p:nvPr/>
        </p:nvSpPr>
        <p:spPr>
          <a:xfrm>
            <a:off x="11323015" y="3026664"/>
            <a:ext cx="274320" cy="274320"/>
          </a:xfrm>
          <a:prstGeom prst="ellipse">
            <a:avLst/>
          </a:prstGeom>
          <a:solidFill>
            <a:srgbClr val="FFFFFF"/>
          </a:solidFill>
          <a:ln/>
        </p:spPr>
      </p:sp>
      <p:sp>
        <p:nvSpPr>
          <p:cNvPr id="42" name="Text 37"/>
          <p:cNvSpPr/>
          <p:nvPr/>
        </p:nvSpPr>
        <p:spPr>
          <a:xfrm>
            <a:off x="11323015" y="3012948"/>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٣</a:t>
            </a:r>
            <a:endParaRPr lang="ar-SA" sz="1100" dirty="0"/>
          </a:p>
        </p:txBody>
      </p:sp>
      <p:sp>
        <p:nvSpPr>
          <p:cNvPr id="43" name="Text 38"/>
          <p:cNvSpPr/>
          <p:nvPr/>
        </p:nvSpPr>
        <p:spPr>
          <a:xfrm>
            <a:off x="6507328" y="2980944"/>
            <a:ext cx="4769968"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التوجيه الطلابي</a:t>
            </a:r>
            <a:endParaRPr lang="ar-SA" sz="1200" dirty="0"/>
          </a:p>
        </p:txBody>
      </p:sp>
      <p:sp>
        <p:nvSpPr>
          <p:cNvPr id="44" name="Text 39"/>
          <p:cNvSpPr/>
          <p:nvPr/>
        </p:nvSpPr>
        <p:spPr>
          <a:xfrm>
            <a:off x="7805776" y="3438144"/>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تنشر المدرسة قواعد السلوك والمواظبة، وتُتابع تطبيقها</a:t>
            </a:r>
            <a:endParaRPr lang="ar-SA" sz="820" dirty="0"/>
          </a:p>
        </p:txBody>
      </p:sp>
      <p:sp>
        <p:nvSpPr>
          <p:cNvPr id="45" name="Shape 40"/>
          <p:cNvSpPr/>
          <p:nvPr/>
        </p:nvSpPr>
        <p:spPr>
          <a:xfrm>
            <a:off x="7019392" y="3488436"/>
            <a:ext cx="713232" cy="265176"/>
          </a:xfrm>
          <a:prstGeom prst="roundRect">
            <a:avLst>
              <a:gd name="adj" fmla="val 20690"/>
            </a:avLst>
          </a:prstGeom>
          <a:solidFill>
            <a:srgbClr val="F1F7F4"/>
          </a:solidFill>
          <a:ln w="6350">
            <a:solidFill>
              <a:srgbClr val="DCE8E2"/>
            </a:solidFill>
            <a:prstDash val="solid"/>
          </a:ln>
        </p:spPr>
      </p:sp>
      <p:sp>
        <p:nvSpPr>
          <p:cNvPr id="46" name="Text 41"/>
          <p:cNvSpPr/>
          <p:nvPr/>
        </p:nvSpPr>
        <p:spPr>
          <a:xfrm>
            <a:off x="7019392" y="3483864"/>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‎1-2-1-2‎</a:t>
            </a:r>
            <a:endParaRPr lang="ar-SA" sz="800" dirty="0"/>
          </a:p>
        </p:txBody>
      </p:sp>
      <p:sp>
        <p:nvSpPr>
          <p:cNvPr id="47" name="Text 42"/>
          <p:cNvSpPr/>
          <p:nvPr/>
        </p:nvSpPr>
        <p:spPr>
          <a:xfrm>
            <a:off x="6361024" y="348386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48" name="Text 43"/>
          <p:cNvSpPr/>
          <p:nvPr/>
        </p:nvSpPr>
        <p:spPr>
          <a:xfrm>
            <a:off x="7805776" y="3803904"/>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يُظهر المتعلمون اتجاهات إيجابية نحو ذواتهم</a:t>
            </a:r>
            <a:endParaRPr lang="ar-SA" sz="820" dirty="0"/>
          </a:p>
        </p:txBody>
      </p:sp>
      <p:sp>
        <p:nvSpPr>
          <p:cNvPr id="49" name="Shape 44"/>
          <p:cNvSpPr/>
          <p:nvPr/>
        </p:nvSpPr>
        <p:spPr>
          <a:xfrm>
            <a:off x="7019392" y="3854196"/>
            <a:ext cx="713232" cy="265176"/>
          </a:xfrm>
          <a:prstGeom prst="roundRect">
            <a:avLst>
              <a:gd name="adj" fmla="val 20690"/>
            </a:avLst>
          </a:prstGeom>
          <a:solidFill>
            <a:srgbClr val="F1F7F4"/>
          </a:solidFill>
          <a:ln w="6350">
            <a:solidFill>
              <a:srgbClr val="DCE8E2"/>
            </a:solidFill>
            <a:prstDash val="solid"/>
          </a:ln>
        </p:spPr>
      </p:sp>
      <p:sp>
        <p:nvSpPr>
          <p:cNvPr id="50" name="Text 45"/>
          <p:cNvSpPr/>
          <p:nvPr/>
        </p:nvSpPr>
        <p:spPr>
          <a:xfrm>
            <a:off x="7019392" y="3849624"/>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‎3-2-1-2‎</a:t>
            </a:r>
            <a:endParaRPr lang="ar-SA" sz="800" dirty="0"/>
          </a:p>
        </p:txBody>
      </p:sp>
      <p:sp>
        <p:nvSpPr>
          <p:cNvPr id="51" name="Text 46"/>
          <p:cNvSpPr/>
          <p:nvPr/>
        </p:nvSpPr>
        <p:spPr>
          <a:xfrm>
            <a:off x="6361024" y="384962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52" name="Shape 47"/>
          <p:cNvSpPr/>
          <p:nvPr/>
        </p:nvSpPr>
        <p:spPr>
          <a:xfrm>
            <a:off x="411480" y="2871216"/>
            <a:ext cx="5547208" cy="1335024"/>
          </a:xfrm>
          <a:prstGeom prst="roundRect">
            <a:avLst>
              <a:gd name="adj" fmla="val 5137"/>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53" name="Shape 48"/>
          <p:cNvSpPr/>
          <p:nvPr/>
        </p:nvSpPr>
        <p:spPr>
          <a:xfrm>
            <a:off x="539496" y="2980944"/>
            <a:ext cx="5291176" cy="365760"/>
          </a:xfrm>
          <a:prstGeom prst="roundRect">
            <a:avLst>
              <a:gd name="adj" fmla="val 17500"/>
            </a:avLst>
          </a:prstGeom>
          <a:solidFill>
            <a:srgbClr val="095242"/>
          </a:solidFill>
          <a:ln/>
        </p:spPr>
      </p:sp>
      <p:sp>
        <p:nvSpPr>
          <p:cNvPr id="54" name="Shape 49"/>
          <p:cNvSpPr/>
          <p:nvPr/>
        </p:nvSpPr>
        <p:spPr>
          <a:xfrm>
            <a:off x="5501488" y="3026664"/>
            <a:ext cx="274320" cy="274320"/>
          </a:xfrm>
          <a:prstGeom prst="ellipse">
            <a:avLst/>
          </a:prstGeom>
          <a:solidFill>
            <a:srgbClr val="FFFFFF"/>
          </a:solidFill>
          <a:ln/>
        </p:spPr>
      </p:sp>
      <p:sp>
        <p:nvSpPr>
          <p:cNvPr id="55" name="Text 50"/>
          <p:cNvSpPr/>
          <p:nvPr/>
        </p:nvSpPr>
        <p:spPr>
          <a:xfrm>
            <a:off x="5501488" y="3012948"/>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Tajawal" pitchFamily="34" charset="0"/>
                <a:ea typeface="Tajawal" pitchFamily="34" charset="-122"/>
                <a:cs typeface="Tajawal" pitchFamily="34" charset="-120"/>
              </a:rPr>
              <a:t>٤</a:t>
            </a:r>
            <a:endParaRPr lang="ar-SA" sz="1100" dirty="0"/>
          </a:p>
        </p:txBody>
      </p:sp>
      <p:sp>
        <p:nvSpPr>
          <p:cNvPr id="56" name="Text 51"/>
          <p:cNvSpPr/>
          <p:nvPr/>
        </p:nvSpPr>
        <p:spPr>
          <a:xfrm>
            <a:off x="685800" y="2980944"/>
            <a:ext cx="4769968" cy="365760"/>
          </a:xfrm>
          <a:prstGeom prst="rect">
            <a:avLst/>
          </a:prstGeom>
          <a:noFill/>
          <a:ln/>
        </p:spPr>
        <p:txBody>
          <a:bodyPr wrap="square" lIns="0" tIns="0" rIns="0" bIns="0" rtlCol="0" anchor="ctr"/>
          <a:lstStyle/>
          <a:p>
            <a:pPr rtl="1" algn="r" indent="0" marL="0">
              <a:buNone/>
            </a:pPr>
            <a:r>
              <a:rPr lang="ar-SA" altLang="en-US" sz="1200" b="1" dirty="0">
                <a:solidFill>
                  <a:srgbClr val="FFFFFF"/>
                </a:solidFill>
                <a:latin typeface="Tajawal" pitchFamily="34" charset="0"/>
                <a:ea typeface="Tajawal" pitchFamily="34" charset="-122"/>
                <a:cs typeface="Tajawal" pitchFamily="34" charset="-120"/>
              </a:rPr>
              <a:t>مجال الأنشطة المدرسية</a:t>
            </a:r>
            <a:endParaRPr lang="ar-SA" sz="1200" dirty="0"/>
          </a:p>
        </p:txBody>
      </p:sp>
      <p:sp>
        <p:nvSpPr>
          <p:cNvPr id="57" name="Text 52"/>
          <p:cNvSpPr/>
          <p:nvPr/>
        </p:nvSpPr>
        <p:spPr>
          <a:xfrm>
            <a:off x="1984248" y="3438144"/>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تعزز المدرسة مشاركة الأسرة في تعلّم أبنائها</a:t>
            </a:r>
            <a:endParaRPr lang="ar-SA" sz="820" dirty="0"/>
          </a:p>
        </p:txBody>
      </p:sp>
      <p:sp>
        <p:nvSpPr>
          <p:cNvPr id="58" name="Shape 53"/>
          <p:cNvSpPr/>
          <p:nvPr/>
        </p:nvSpPr>
        <p:spPr>
          <a:xfrm>
            <a:off x="1197864" y="3488436"/>
            <a:ext cx="713232" cy="265176"/>
          </a:xfrm>
          <a:prstGeom prst="roundRect">
            <a:avLst>
              <a:gd name="adj" fmla="val 20690"/>
            </a:avLst>
          </a:prstGeom>
          <a:solidFill>
            <a:srgbClr val="F1F7F4"/>
          </a:solidFill>
          <a:ln w="6350">
            <a:solidFill>
              <a:srgbClr val="DCE8E2"/>
            </a:solidFill>
            <a:prstDash val="solid"/>
          </a:ln>
        </p:spPr>
      </p:sp>
      <p:sp>
        <p:nvSpPr>
          <p:cNvPr id="59" name="Text 54"/>
          <p:cNvSpPr/>
          <p:nvPr/>
        </p:nvSpPr>
        <p:spPr>
          <a:xfrm>
            <a:off x="1197864" y="3483864"/>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‎1-3-1-2‎</a:t>
            </a:r>
            <a:endParaRPr lang="ar-SA" sz="800" dirty="0"/>
          </a:p>
        </p:txBody>
      </p:sp>
      <p:sp>
        <p:nvSpPr>
          <p:cNvPr id="60" name="Text 55"/>
          <p:cNvSpPr/>
          <p:nvPr/>
        </p:nvSpPr>
        <p:spPr>
          <a:xfrm>
            <a:off x="539496" y="348386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61" name="Text 56"/>
          <p:cNvSpPr/>
          <p:nvPr/>
        </p:nvSpPr>
        <p:spPr>
          <a:xfrm>
            <a:off x="1984248" y="3803904"/>
            <a:ext cx="3764128" cy="365760"/>
          </a:xfrm>
          <a:prstGeom prst="rect">
            <a:avLst/>
          </a:prstGeom>
          <a:noFill/>
          <a:ln/>
        </p:spPr>
        <p:txBody>
          <a:bodyPr wrap="square" lIns="0" tIns="0" rIns="0" bIns="0" rtlCol="0" anchor="ctr"/>
          <a:lstStyle/>
          <a:p>
            <a:pPr rtl="1" algn="r" indent="0" marL="0">
              <a:lnSpc>
                <a:spcPct val="102000"/>
              </a:lnSpc>
              <a:buNone/>
            </a:pPr>
            <a:r>
              <a:rPr lang="ar-SA" altLang="en-US" sz="820" dirty="0">
                <a:solidFill>
                  <a:srgbClr val="33473F"/>
                </a:solidFill>
                <a:latin typeface="Tajawal" pitchFamily="34" charset="0"/>
                <a:ea typeface="Tajawal" pitchFamily="34" charset="-122"/>
                <a:cs typeface="Tajawal" pitchFamily="34" charset="-120"/>
              </a:rPr>
              <a:t>توفّر المدرسة برامج وأنشطة تربوية داعمة للسلوك الإيجابي</a:t>
            </a:r>
            <a:endParaRPr lang="ar-SA" sz="820" dirty="0"/>
          </a:p>
        </p:txBody>
      </p:sp>
      <p:sp>
        <p:nvSpPr>
          <p:cNvPr id="62" name="Shape 57"/>
          <p:cNvSpPr/>
          <p:nvPr/>
        </p:nvSpPr>
        <p:spPr>
          <a:xfrm>
            <a:off x="1197864" y="3854196"/>
            <a:ext cx="713232" cy="265176"/>
          </a:xfrm>
          <a:prstGeom prst="roundRect">
            <a:avLst>
              <a:gd name="adj" fmla="val 20690"/>
            </a:avLst>
          </a:prstGeom>
          <a:solidFill>
            <a:srgbClr val="F1F7F4"/>
          </a:solidFill>
          <a:ln w="6350">
            <a:solidFill>
              <a:srgbClr val="DCE8E2"/>
            </a:solidFill>
            <a:prstDash val="solid"/>
          </a:ln>
        </p:spPr>
      </p:sp>
      <p:sp>
        <p:nvSpPr>
          <p:cNvPr id="63" name="Text 58"/>
          <p:cNvSpPr/>
          <p:nvPr/>
        </p:nvSpPr>
        <p:spPr>
          <a:xfrm>
            <a:off x="1197864" y="3849624"/>
            <a:ext cx="713232" cy="265176"/>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‎1-2-1-5‎</a:t>
            </a:r>
            <a:endParaRPr lang="ar-SA" sz="800" dirty="0"/>
          </a:p>
        </p:txBody>
      </p:sp>
      <p:sp>
        <p:nvSpPr>
          <p:cNvPr id="64" name="Text 59"/>
          <p:cNvSpPr/>
          <p:nvPr/>
        </p:nvSpPr>
        <p:spPr>
          <a:xfrm>
            <a:off x="539496" y="3849624"/>
            <a:ext cx="603504" cy="265176"/>
          </a:xfrm>
          <a:prstGeom prst="rect">
            <a:avLst/>
          </a:prstGeom>
          <a:noFill/>
          <a:ln/>
        </p:spPr>
        <p:txBody>
          <a:bodyPr wrap="square" lIns="0" tIns="0" rIns="0" bIns="0" rtlCol="0" anchor="ctr"/>
          <a:lstStyle/>
          <a:p>
            <a:pPr rtl="1" algn="ctr" indent="0" marL="0">
              <a:buNone/>
            </a:pPr>
            <a:r>
              <a:rPr lang="ar-SA" altLang="en-US" sz="900" b="1" dirty="0">
                <a:solidFill>
                  <a:srgbClr val="7C8F87"/>
                </a:solidFill>
                <a:latin typeface="Tajawal" pitchFamily="34" charset="0"/>
                <a:ea typeface="Tajawal" pitchFamily="34" charset="-122"/>
                <a:cs typeface="Tajawal" pitchFamily="34" charset="-120"/>
              </a:rPr>
              <a:t>—</a:t>
            </a:r>
            <a:endParaRPr lang="ar-SA" sz="900" dirty="0"/>
          </a:p>
        </p:txBody>
      </p:sp>
      <p:sp>
        <p:nvSpPr>
          <p:cNvPr id="65" name="Shape 60"/>
          <p:cNvSpPr/>
          <p:nvPr/>
        </p:nvSpPr>
        <p:spPr>
          <a:xfrm>
            <a:off x="6233008" y="4407408"/>
            <a:ext cx="5547208" cy="1874520"/>
          </a:xfrm>
          <a:prstGeom prst="roundRect">
            <a:avLst>
              <a:gd name="adj" fmla="val 3659"/>
            </a:avLst>
          </a:prstGeom>
          <a:solidFill>
            <a:srgbClr val="095242"/>
          </a:solidFill>
          <a:ln/>
        </p:spPr>
      </p:sp>
      <p:pic>
        <p:nvPicPr>
          <p:cNvPr id="66" name="Image 3" descr="/tmp/claude-0/-home-user-Mobile1/ab9bbf47-b054-5f6e-be59-70476e095ce8/scratchpad/assets/icons/listchecks_white.png">    </p:cNvPr>
          <p:cNvPicPr>
            <a:picLocks noChangeAspect="1"/>
          </p:cNvPicPr>
          <p:nvPr/>
        </p:nvPicPr>
        <p:blipFill>
          <a:blip r:embed="rId4"/>
          <a:stretch>
            <a:fillRect/>
          </a:stretch>
        </p:blipFill>
        <p:spPr>
          <a:xfrm>
            <a:off x="11231575" y="4590288"/>
            <a:ext cx="274320" cy="274320"/>
          </a:xfrm>
          <a:prstGeom prst="rect">
            <a:avLst/>
          </a:prstGeom>
        </p:spPr>
      </p:pic>
      <p:sp>
        <p:nvSpPr>
          <p:cNvPr id="67" name="Text 61"/>
          <p:cNvSpPr/>
          <p:nvPr/>
        </p:nvSpPr>
        <p:spPr>
          <a:xfrm>
            <a:off x="6507328" y="4553712"/>
            <a:ext cx="4632808" cy="365760"/>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منهجية ترتيب الأولويات</a:t>
            </a:r>
            <a:endParaRPr lang="ar-SA" sz="1250" dirty="0"/>
          </a:p>
        </p:txBody>
      </p:sp>
      <p:sp>
        <p:nvSpPr>
          <p:cNvPr id="68" name="Text 62"/>
          <p:cNvSpPr/>
          <p:nvPr/>
        </p:nvSpPr>
        <p:spPr>
          <a:xfrm>
            <a:off x="6507328" y="4974336"/>
            <a:ext cx="4980280" cy="1188720"/>
          </a:xfrm>
          <a:prstGeom prst="rect">
            <a:avLst/>
          </a:prstGeom>
          <a:noFill/>
          <a:ln/>
        </p:spPr>
        <p:txBody>
          <a:bodyPr wrap="square" lIns="0" tIns="0" rIns="0" bIns="0" rtlCol="0" anchor="t"/>
          <a:lstStyle/>
          <a:p>
            <a:pPr rtl="1" algn="r" indent="0" marL="0">
              <a:lnSpc>
                <a:spcPct val="125000"/>
              </a:lnSpc>
              <a:buNone/>
            </a:pPr>
            <a:r>
              <a:rPr lang="ar-SA" altLang="en-US" sz="980" dirty="0">
                <a:solidFill>
                  <a:srgbClr val="D3E5DE"/>
                </a:solidFill>
                <a:latin typeface="Tajawal" pitchFamily="34" charset="0"/>
                <a:ea typeface="Tajawal" pitchFamily="34" charset="-122"/>
                <a:cs typeface="Tajawal" pitchFamily="34" charset="-120"/>
              </a:rPr>
              <a:t>اعتمد فريق الإعداد على تحليل نتائج التقويم الذاتي وفقًا للنسب المسجّلة في كل مؤشر، ثم رتّب الأولويات تصاعديًا من المؤشرات الأدنى نسبةً نحو الأعلى، مع تخصيص برامج علاجية مرتبطة بمعايير الاعتماد المدرسي.</a:t>
            </a:r>
            <a:endParaRPr lang="ar-SA" sz="980" dirty="0"/>
          </a:p>
        </p:txBody>
      </p:sp>
      <p:sp>
        <p:nvSpPr>
          <p:cNvPr id="69" name="Shape 63"/>
          <p:cNvSpPr/>
          <p:nvPr/>
        </p:nvSpPr>
        <p:spPr>
          <a:xfrm>
            <a:off x="5908396" y="4434840"/>
            <a:ext cx="50292" cy="201168"/>
          </a:xfrm>
          <a:prstGeom prst="rect">
            <a:avLst/>
          </a:prstGeom>
          <a:solidFill>
            <a:srgbClr val="0089A1"/>
          </a:solidFill>
          <a:ln/>
        </p:spPr>
      </p:sp>
      <p:sp>
        <p:nvSpPr>
          <p:cNvPr id="70" name="Text 64"/>
          <p:cNvSpPr/>
          <p:nvPr/>
        </p:nvSpPr>
        <p:spPr>
          <a:xfrm>
            <a:off x="3947008" y="4389120"/>
            <a:ext cx="188366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منحنى الأولويات</a:t>
            </a:r>
            <a:endParaRPr lang="ar-SA" sz="1250" dirty="0"/>
          </a:p>
        </p:txBody>
      </p:sp>
      <p:sp>
        <p:nvSpPr>
          <p:cNvPr id="71" name="Shape 65"/>
          <p:cNvSpPr/>
          <p:nvPr/>
        </p:nvSpPr>
        <p:spPr>
          <a:xfrm>
            <a:off x="4695330" y="5394960"/>
            <a:ext cx="1263358" cy="502920"/>
          </a:xfrm>
          <a:prstGeom prst="roundRect">
            <a:avLst>
              <a:gd name="adj" fmla="val 9091"/>
            </a:avLst>
          </a:prstGeom>
          <a:solidFill>
            <a:srgbClr val="0089A1"/>
          </a:solidFill>
          <a:ln/>
        </p:spPr>
      </p:sp>
      <p:sp>
        <p:nvSpPr>
          <p:cNvPr id="72" name="Text 66"/>
          <p:cNvSpPr/>
          <p:nvPr/>
        </p:nvSpPr>
        <p:spPr>
          <a:xfrm>
            <a:off x="4695330" y="5422392"/>
            <a:ext cx="1263358"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١</a:t>
            </a:r>
            <a:endParaRPr lang="ar-SA" sz="1200" dirty="0"/>
          </a:p>
        </p:txBody>
      </p:sp>
      <p:sp>
        <p:nvSpPr>
          <p:cNvPr id="73" name="Text 67"/>
          <p:cNvSpPr/>
          <p:nvPr/>
        </p:nvSpPr>
        <p:spPr>
          <a:xfrm>
            <a:off x="4613034" y="5934456"/>
            <a:ext cx="1427950" cy="347472"/>
          </a:xfrm>
          <a:prstGeom prst="rect">
            <a:avLst/>
          </a:prstGeom>
          <a:noFill/>
          <a:ln/>
        </p:spPr>
        <p:txBody>
          <a:bodyPr wrap="square" lIns="0" tIns="0" rIns="0" bIns="0" rtlCol="0" anchor="t"/>
          <a:lstStyle/>
          <a:p>
            <a:pPr rtl="1" algn="ctr" indent="0" marL="0">
              <a:buNone/>
            </a:pPr>
            <a:r>
              <a:rPr lang="ar-SA" altLang="en-US" sz="860" b="1" dirty="0">
                <a:solidFill>
                  <a:srgbClr val="33473F"/>
                </a:solidFill>
                <a:latin typeface="Tajawal" pitchFamily="34" charset="0"/>
                <a:ea typeface="Tajawal" pitchFamily="34" charset="-122"/>
                <a:cs typeface="Tajawal" pitchFamily="34" charset="-120"/>
              </a:rPr>
              <a:t>التدريس</a:t>
            </a:r>
            <a:endParaRPr lang="ar-SA" sz="860" dirty="0"/>
          </a:p>
        </p:txBody>
      </p:sp>
      <p:sp>
        <p:nvSpPr>
          <p:cNvPr id="74" name="Shape 68"/>
          <p:cNvSpPr/>
          <p:nvPr/>
        </p:nvSpPr>
        <p:spPr>
          <a:xfrm>
            <a:off x="3267380" y="5102352"/>
            <a:ext cx="1263358" cy="795528"/>
          </a:xfrm>
          <a:prstGeom prst="roundRect">
            <a:avLst>
              <a:gd name="adj" fmla="val 5747"/>
            </a:avLst>
          </a:prstGeom>
          <a:solidFill>
            <a:srgbClr val="095242"/>
          </a:solidFill>
          <a:ln/>
        </p:spPr>
      </p:sp>
      <p:sp>
        <p:nvSpPr>
          <p:cNvPr id="75" name="Text 69"/>
          <p:cNvSpPr/>
          <p:nvPr/>
        </p:nvSpPr>
        <p:spPr>
          <a:xfrm>
            <a:off x="3267380" y="5129784"/>
            <a:ext cx="1263358"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٢</a:t>
            </a:r>
            <a:endParaRPr lang="ar-SA" sz="1200" dirty="0"/>
          </a:p>
        </p:txBody>
      </p:sp>
      <p:sp>
        <p:nvSpPr>
          <p:cNvPr id="76" name="Text 70"/>
          <p:cNvSpPr/>
          <p:nvPr/>
        </p:nvSpPr>
        <p:spPr>
          <a:xfrm>
            <a:off x="3185084" y="5934456"/>
            <a:ext cx="1427950" cy="347472"/>
          </a:xfrm>
          <a:prstGeom prst="rect">
            <a:avLst/>
          </a:prstGeom>
          <a:noFill/>
          <a:ln/>
        </p:spPr>
        <p:txBody>
          <a:bodyPr wrap="square" lIns="0" tIns="0" rIns="0" bIns="0" rtlCol="0" anchor="t"/>
          <a:lstStyle/>
          <a:p>
            <a:pPr rtl="1" algn="ctr" indent="0" marL="0">
              <a:buNone/>
            </a:pPr>
            <a:r>
              <a:rPr lang="ar-SA" altLang="en-US" sz="860" b="1" dirty="0">
                <a:solidFill>
                  <a:srgbClr val="33473F"/>
                </a:solidFill>
                <a:latin typeface="Tajawal" pitchFamily="34" charset="0"/>
                <a:ea typeface="Tajawal" pitchFamily="34" charset="-122"/>
                <a:cs typeface="Tajawal" pitchFamily="34" charset="-120"/>
              </a:rPr>
              <a:t>نواتج التعلم</a:t>
            </a:r>
            <a:endParaRPr lang="ar-SA" sz="860" dirty="0"/>
          </a:p>
        </p:txBody>
      </p:sp>
      <p:sp>
        <p:nvSpPr>
          <p:cNvPr id="77" name="Shape 71"/>
          <p:cNvSpPr/>
          <p:nvPr/>
        </p:nvSpPr>
        <p:spPr>
          <a:xfrm>
            <a:off x="1839430" y="4809744"/>
            <a:ext cx="1263358" cy="1088136"/>
          </a:xfrm>
          <a:prstGeom prst="roundRect">
            <a:avLst>
              <a:gd name="adj" fmla="val 4202"/>
            </a:avLst>
          </a:prstGeom>
          <a:solidFill>
            <a:srgbClr val="095242"/>
          </a:solidFill>
          <a:ln/>
        </p:spPr>
      </p:sp>
      <p:sp>
        <p:nvSpPr>
          <p:cNvPr id="78" name="Text 72"/>
          <p:cNvSpPr/>
          <p:nvPr/>
        </p:nvSpPr>
        <p:spPr>
          <a:xfrm>
            <a:off x="1839430" y="4837176"/>
            <a:ext cx="1263358"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٣</a:t>
            </a:r>
            <a:endParaRPr lang="ar-SA" sz="1200" dirty="0"/>
          </a:p>
        </p:txBody>
      </p:sp>
      <p:sp>
        <p:nvSpPr>
          <p:cNvPr id="79" name="Text 73"/>
          <p:cNvSpPr/>
          <p:nvPr/>
        </p:nvSpPr>
        <p:spPr>
          <a:xfrm>
            <a:off x="1757134" y="5934456"/>
            <a:ext cx="1427950" cy="347472"/>
          </a:xfrm>
          <a:prstGeom prst="rect">
            <a:avLst/>
          </a:prstGeom>
          <a:noFill/>
          <a:ln/>
        </p:spPr>
        <p:txBody>
          <a:bodyPr wrap="square" lIns="0" tIns="0" rIns="0" bIns="0" rtlCol="0" anchor="t"/>
          <a:lstStyle/>
          <a:p>
            <a:pPr rtl="1" algn="ctr" indent="0" marL="0">
              <a:buNone/>
            </a:pPr>
            <a:r>
              <a:rPr lang="ar-SA" altLang="en-US" sz="860" b="1" dirty="0">
                <a:solidFill>
                  <a:srgbClr val="33473F"/>
                </a:solidFill>
                <a:latin typeface="Tajawal" pitchFamily="34" charset="0"/>
                <a:ea typeface="Tajawal" pitchFamily="34" charset="-122"/>
                <a:cs typeface="Tajawal" pitchFamily="34" charset="-120"/>
              </a:rPr>
              <a:t>التوجيه الطلابي</a:t>
            </a:r>
            <a:endParaRPr lang="ar-SA" sz="860" dirty="0"/>
          </a:p>
        </p:txBody>
      </p:sp>
      <p:sp>
        <p:nvSpPr>
          <p:cNvPr id="80" name="Shape 74"/>
          <p:cNvSpPr/>
          <p:nvPr/>
        </p:nvSpPr>
        <p:spPr>
          <a:xfrm>
            <a:off x="411480" y="4517136"/>
            <a:ext cx="1263358" cy="1380744"/>
          </a:xfrm>
          <a:prstGeom prst="roundRect">
            <a:avLst>
              <a:gd name="adj" fmla="val 3619"/>
            </a:avLst>
          </a:prstGeom>
          <a:solidFill>
            <a:srgbClr val="095242"/>
          </a:solidFill>
          <a:ln/>
        </p:spPr>
      </p:sp>
      <p:sp>
        <p:nvSpPr>
          <p:cNvPr id="81" name="Text 75"/>
          <p:cNvSpPr/>
          <p:nvPr/>
        </p:nvSpPr>
        <p:spPr>
          <a:xfrm>
            <a:off x="411480" y="4544568"/>
            <a:ext cx="1263358" cy="292608"/>
          </a:xfrm>
          <a:prstGeom prst="rect">
            <a:avLst/>
          </a:prstGeom>
          <a:noFill/>
          <a:ln/>
        </p:spPr>
        <p:txBody>
          <a:bodyPr wrap="square" lIns="0" tIns="0" rIns="0" bIns="0" rtlCol="0" anchor="t"/>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٤</a:t>
            </a:r>
            <a:endParaRPr lang="ar-SA" sz="1200" dirty="0"/>
          </a:p>
        </p:txBody>
      </p:sp>
      <p:sp>
        <p:nvSpPr>
          <p:cNvPr id="82" name="Text 76"/>
          <p:cNvSpPr/>
          <p:nvPr/>
        </p:nvSpPr>
        <p:spPr>
          <a:xfrm>
            <a:off x="329184" y="5934456"/>
            <a:ext cx="1427950" cy="347472"/>
          </a:xfrm>
          <a:prstGeom prst="rect">
            <a:avLst/>
          </a:prstGeom>
          <a:noFill/>
          <a:ln/>
        </p:spPr>
        <p:txBody>
          <a:bodyPr wrap="square" lIns="0" tIns="0" rIns="0" bIns="0" rtlCol="0" anchor="t"/>
          <a:lstStyle/>
          <a:p>
            <a:pPr rtl="1" algn="ctr" indent="0" marL="0">
              <a:buNone/>
            </a:pPr>
            <a:r>
              <a:rPr lang="ar-SA" altLang="en-US" sz="860" b="1" dirty="0">
                <a:solidFill>
                  <a:srgbClr val="33473F"/>
                </a:solidFill>
                <a:latin typeface="Tajawal" pitchFamily="34" charset="0"/>
                <a:ea typeface="Tajawal" pitchFamily="34" charset="-122"/>
                <a:cs typeface="Tajawal" pitchFamily="34" charset="-120"/>
              </a:rPr>
              <a:t>الأنشطة المدرسية</a:t>
            </a:r>
            <a:endParaRPr lang="ar-SA" sz="8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grid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تحليل واقع المدرسة (SWOT)</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١١</a:t>
            </a:r>
            <a:endParaRPr lang="ar-SA" sz="850" dirty="0"/>
          </a:p>
        </p:txBody>
      </p:sp>
      <p:sp>
        <p:nvSpPr>
          <p:cNvPr id="9" name="Text 4"/>
          <p:cNvSpPr/>
          <p:nvPr/>
        </p:nvSpPr>
        <p:spPr>
          <a:xfrm>
            <a:off x="6233008" y="786384"/>
            <a:ext cx="5547208" cy="237744"/>
          </a:xfrm>
          <a:prstGeom prst="rect">
            <a:avLst/>
          </a:prstGeom>
          <a:noFill/>
          <a:ln/>
        </p:spPr>
        <p:txBody>
          <a:bodyPr wrap="square" lIns="0" tIns="0" rIns="0" bIns="0" rtlCol="0" anchor="t"/>
          <a:lstStyle/>
          <a:p>
            <a:pPr rtl="1" algn="ctr" indent="0" marL="0">
              <a:buNone/>
            </a:pPr>
            <a:r>
              <a:rPr lang="ar-SA" altLang="en-US" sz="1000" b="1" dirty="0">
                <a:solidFill>
                  <a:srgbClr val="095242"/>
                </a:solidFill>
                <a:latin typeface="Tajawal" pitchFamily="34" charset="0"/>
                <a:ea typeface="Tajawal" pitchFamily="34" charset="-122"/>
                <a:cs typeface="Tajawal" pitchFamily="34" charset="-120"/>
              </a:rPr>
              <a:t>عوامل داخلية</a:t>
            </a:r>
            <a:endParaRPr lang="ar-SA" sz="1000" dirty="0"/>
          </a:p>
        </p:txBody>
      </p:sp>
      <p:sp>
        <p:nvSpPr>
          <p:cNvPr id="10" name="Text 5"/>
          <p:cNvSpPr/>
          <p:nvPr/>
        </p:nvSpPr>
        <p:spPr>
          <a:xfrm>
            <a:off x="411480" y="786384"/>
            <a:ext cx="5547208" cy="237744"/>
          </a:xfrm>
          <a:prstGeom prst="rect">
            <a:avLst/>
          </a:prstGeom>
          <a:noFill/>
          <a:ln/>
        </p:spPr>
        <p:txBody>
          <a:bodyPr wrap="square" lIns="0" tIns="0" rIns="0" bIns="0" rtlCol="0" anchor="t"/>
          <a:lstStyle/>
          <a:p>
            <a:pPr rtl="1" algn="ctr" indent="0" marL="0">
              <a:buNone/>
            </a:pPr>
            <a:r>
              <a:rPr lang="ar-SA" altLang="en-US" sz="1000" b="1" dirty="0">
                <a:solidFill>
                  <a:srgbClr val="46551F"/>
                </a:solidFill>
                <a:latin typeface="Tajawal" pitchFamily="34" charset="0"/>
                <a:ea typeface="Tajawal" pitchFamily="34" charset="-122"/>
                <a:cs typeface="Tajawal" pitchFamily="34" charset="-120"/>
              </a:rPr>
              <a:t>عوامل خارجية</a:t>
            </a:r>
            <a:endParaRPr lang="ar-SA" sz="1000" dirty="0"/>
          </a:p>
        </p:txBody>
      </p:sp>
      <p:sp>
        <p:nvSpPr>
          <p:cNvPr id="11" name="Shape 6"/>
          <p:cNvSpPr/>
          <p:nvPr/>
        </p:nvSpPr>
        <p:spPr>
          <a:xfrm>
            <a:off x="6233008" y="1042416"/>
            <a:ext cx="5547208" cy="1938528"/>
          </a:xfrm>
          <a:prstGeom prst="roundRect">
            <a:avLst>
              <a:gd name="adj" fmla="val 3538"/>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2" name="Shape 7"/>
          <p:cNvSpPr/>
          <p:nvPr/>
        </p:nvSpPr>
        <p:spPr>
          <a:xfrm>
            <a:off x="6361024" y="1152144"/>
            <a:ext cx="5291176" cy="384048"/>
          </a:xfrm>
          <a:prstGeom prst="roundRect">
            <a:avLst>
              <a:gd name="adj" fmla="val 16667"/>
            </a:avLst>
          </a:prstGeom>
          <a:solidFill>
            <a:srgbClr val="095242"/>
          </a:solidFill>
          <a:ln/>
        </p:spPr>
      </p:sp>
      <p:sp>
        <p:nvSpPr>
          <p:cNvPr id="13" name="Shape 8"/>
          <p:cNvSpPr/>
          <p:nvPr/>
        </p:nvSpPr>
        <p:spPr>
          <a:xfrm>
            <a:off x="11304727" y="1207008"/>
            <a:ext cx="274320" cy="274320"/>
          </a:xfrm>
          <a:prstGeom prst="ellipse">
            <a:avLst/>
          </a:prstGeom>
          <a:solidFill>
            <a:srgbClr val="FFFFFF"/>
          </a:solidFill>
          <a:ln/>
        </p:spPr>
      </p:sp>
      <p:sp>
        <p:nvSpPr>
          <p:cNvPr id="14" name="Text 9"/>
          <p:cNvSpPr/>
          <p:nvPr/>
        </p:nvSpPr>
        <p:spPr>
          <a:xfrm>
            <a:off x="11304727" y="1193292"/>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Arial" pitchFamily="34" charset="0"/>
                <a:ea typeface="Arial" pitchFamily="34" charset="-122"/>
                <a:cs typeface="Arial" pitchFamily="34" charset="-120"/>
              </a:rPr>
              <a:t>S</a:t>
            </a:r>
            <a:endParaRPr lang="ar-SA" sz="1100" dirty="0"/>
          </a:p>
        </p:txBody>
      </p:sp>
      <p:sp>
        <p:nvSpPr>
          <p:cNvPr id="15" name="Text 10"/>
          <p:cNvSpPr/>
          <p:nvPr/>
        </p:nvSpPr>
        <p:spPr>
          <a:xfrm>
            <a:off x="6507328" y="1152144"/>
            <a:ext cx="4724248" cy="384048"/>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نقاط القوة</a:t>
            </a:r>
            <a:endParaRPr lang="ar-SA" sz="1250" dirty="0"/>
          </a:p>
        </p:txBody>
      </p:sp>
      <p:sp>
        <p:nvSpPr>
          <p:cNvPr id="16" name="Text 11"/>
          <p:cNvSpPr/>
          <p:nvPr/>
        </p:nvSpPr>
        <p:spPr>
          <a:xfrm>
            <a:off x="6507328" y="1645920"/>
            <a:ext cx="4998568" cy="1207008"/>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توفّر كادر تعليمي مؤهّل ومُتمكِّن.</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وجود برامج إثرائية وأنشطة طلابية متنوّعة ومنظّمة.</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توفّر بيئة مدرسية آمنة ومنظّمة.</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تفاعل جيّد بين المدرسة وأولياء الأمور.</a:t>
            </a:r>
            <a:endParaRPr lang="ar-SA" sz="930" dirty="0"/>
          </a:p>
        </p:txBody>
      </p:sp>
      <p:sp>
        <p:nvSpPr>
          <p:cNvPr id="17" name="Shape 12"/>
          <p:cNvSpPr/>
          <p:nvPr/>
        </p:nvSpPr>
        <p:spPr>
          <a:xfrm>
            <a:off x="411480" y="1042416"/>
            <a:ext cx="5547208" cy="1938528"/>
          </a:xfrm>
          <a:prstGeom prst="roundRect">
            <a:avLst>
              <a:gd name="adj" fmla="val 3538"/>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8" name="Shape 13"/>
          <p:cNvSpPr/>
          <p:nvPr/>
        </p:nvSpPr>
        <p:spPr>
          <a:xfrm>
            <a:off x="539496" y="1152144"/>
            <a:ext cx="5291176" cy="384048"/>
          </a:xfrm>
          <a:prstGeom prst="roundRect">
            <a:avLst>
              <a:gd name="adj" fmla="val 16667"/>
            </a:avLst>
          </a:prstGeom>
          <a:solidFill>
            <a:srgbClr val="D7E4BD"/>
          </a:solidFill>
          <a:ln/>
        </p:spPr>
      </p:sp>
      <p:sp>
        <p:nvSpPr>
          <p:cNvPr id="19" name="Shape 14"/>
          <p:cNvSpPr/>
          <p:nvPr/>
        </p:nvSpPr>
        <p:spPr>
          <a:xfrm>
            <a:off x="5483200" y="1207008"/>
            <a:ext cx="274320" cy="274320"/>
          </a:xfrm>
          <a:prstGeom prst="ellipse">
            <a:avLst/>
          </a:prstGeom>
          <a:solidFill>
            <a:srgbClr val="FFFFFF"/>
          </a:solidFill>
          <a:ln/>
        </p:spPr>
      </p:sp>
      <p:sp>
        <p:nvSpPr>
          <p:cNvPr id="20" name="Text 15"/>
          <p:cNvSpPr/>
          <p:nvPr/>
        </p:nvSpPr>
        <p:spPr>
          <a:xfrm>
            <a:off x="5483200" y="1193292"/>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46551F"/>
                </a:solidFill>
                <a:latin typeface="Arial" pitchFamily="34" charset="0"/>
                <a:ea typeface="Arial" pitchFamily="34" charset="-122"/>
                <a:cs typeface="Arial" pitchFamily="34" charset="-120"/>
              </a:rPr>
              <a:t>O</a:t>
            </a:r>
            <a:endParaRPr lang="ar-SA" sz="1100" dirty="0"/>
          </a:p>
        </p:txBody>
      </p:sp>
      <p:sp>
        <p:nvSpPr>
          <p:cNvPr id="21" name="Text 16"/>
          <p:cNvSpPr/>
          <p:nvPr/>
        </p:nvSpPr>
        <p:spPr>
          <a:xfrm>
            <a:off x="685800" y="1152144"/>
            <a:ext cx="4724248" cy="384048"/>
          </a:xfrm>
          <a:prstGeom prst="rect">
            <a:avLst/>
          </a:prstGeom>
          <a:noFill/>
          <a:ln/>
        </p:spPr>
        <p:txBody>
          <a:bodyPr wrap="square" lIns="0" tIns="0" rIns="0" bIns="0" rtlCol="0" anchor="ctr"/>
          <a:lstStyle/>
          <a:p>
            <a:pPr rtl="1" algn="r" indent="0" marL="0">
              <a:buNone/>
            </a:pPr>
            <a:r>
              <a:rPr lang="ar-SA" altLang="en-US" sz="1250" b="1" dirty="0">
                <a:solidFill>
                  <a:srgbClr val="46551F"/>
                </a:solidFill>
                <a:latin typeface="Tajawal" pitchFamily="34" charset="0"/>
                <a:ea typeface="Tajawal" pitchFamily="34" charset="-122"/>
                <a:cs typeface="Tajawal" pitchFamily="34" charset="-120"/>
              </a:rPr>
              <a:t>الفرص</a:t>
            </a:r>
            <a:endParaRPr lang="ar-SA" sz="1250" dirty="0"/>
          </a:p>
        </p:txBody>
      </p:sp>
      <p:sp>
        <p:nvSpPr>
          <p:cNvPr id="22" name="Text 17"/>
          <p:cNvSpPr/>
          <p:nvPr/>
        </p:nvSpPr>
        <p:spPr>
          <a:xfrm>
            <a:off x="685800" y="1645920"/>
            <a:ext cx="4998568" cy="1207008"/>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دعم الوزارة للتحوّل الرقمي في التعليم.</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توفّر برامج تدريبية للمعلمين عبر منصّات رسمية.</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إمكانية تفعيل شراكات مع المجتمع المحلّي.</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مشاركة المدارس في مبادرات تحسين نواتج التعلم.</a:t>
            </a:r>
            <a:endParaRPr lang="ar-SA" sz="930" dirty="0"/>
          </a:p>
        </p:txBody>
      </p:sp>
      <p:sp>
        <p:nvSpPr>
          <p:cNvPr id="23" name="Shape 18"/>
          <p:cNvSpPr/>
          <p:nvPr/>
        </p:nvSpPr>
        <p:spPr>
          <a:xfrm>
            <a:off x="6233008" y="3127248"/>
            <a:ext cx="5547208" cy="1938528"/>
          </a:xfrm>
          <a:prstGeom prst="roundRect">
            <a:avLst>
              <a:gd name="adj" fmla="val 3538"/>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24" name="Shape 19"/>
          <p:cNvSpPr/>
          <p:nvPr/>
        </p:nvSpPr>
        <p:spPr>
          <a:xfrm>
            <a:off x="6361024" y="3236976"/>
            <a:ext cx="5291176" cy="384048"/>
          </a:xfrm>
          <a:prstGeom prst="roundRect">
            <a:avLst>
              <a:gd name="adj" fmla="val 16667"/>
            </a:avLst>
          </a:prstGeom>
          <a:solidFill>
            <a:srgbClr val="095242"/>
          </a:solidFill>
          <a:ln/>
        </p:spPr>
      </p:sp>
      <p:sp>
        <p:nvSpPr>
          <p:cNvPr id="25" name="Shape 20"/>
          <p:cNvSpPr/>
          <p:nvPr/>
        </p:nvSpPr>
        <p:spPr>
          <a:xfrm>
            <a:off x="11304727" y="3291840"/>
            <a:ext cx="274320" cy="274320"/>
          </a:xfrm>
          <a:prstGeom prst="ellipse">
            <a:avLst/>
          </a:prstGeom>
          <a:solidFill>
            <a:srgbClr val="FFFFFF"/>
          </a:solidFill>
          <a:ln/>
        </p:spPr>
      </p:sp>
      <p:sp>
        <p:nvSpPr>
          <p:cNvPr id="26" name="Text 21"/>
          <p:cNvSpPr/>
          <p:nvPr/>
        </p:nvSpPr>
        <p:spPr>
          <a:xfrm>
            <a:off x="11304727" y="3278124"/>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095242"/>
                </a:solidFill>
                <a:latin typeface="Arial" pitchFamily="34" charset="0"/>
                <a:ea typeface="Arial" pitchFamily="34" charset="-122"/>
                <a:cs typeface="Arial" pitchFamily="34" charset="-120"/>
              </a:rPr>
              <a:t>W</a:t>
            </a:r>
            <a:endParaRPr lang="ar-SA" sz="1100" dirty="0"/>
          </a:p>
        </p:txBody>
      </p:sp>
      <p:sp>
        <p:nvSpPr>
          <p:cNvPr id="27" name="Text 22"/>
          <p:cNvSpPr/>
          <p:nvPr/>
        </p:nvSpPr>
        <p:spPr>
          <a:xfrm>
            <a:off x="6507328" y="3236976"/>
            <a:ext cx="4724248" cy="384048"/>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نقاط الضعف</a:t>
            </a:r>
            <a:endParaRPr lang="ar-SA" sz="1250" dirty="0"/>
          </a:p>
        </p:txBody>
      </p:sp>
      <p:sp>
        <p:nvSpPr>
          <p:cNvPr id="28" name="Text 23"/>
          <p:cNvSpPr/>
          <p:nvPr/>
        </p:nvSpPr>
        <p:spPr>
          <a:xfrm>
            <a:off x="6507328" y="3730752"/>
            <a:ext cx="4998568" cy="1207008"/>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انخفاض مستوى بعض الطلاب في مهارات القراءة والكتابة والرياضيات.</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نقص في استخدام التقنيات التعليمية داخل الفصول.</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ضعف في متابعة تنفيذ المبادرات حسب الجداول الزمنية.</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الحاجة إلى تطوير ممارسات التقييم النوعي للطلاب.</a:t>
            </a:r>
            <a:endParaRPr lang="ar-SA" sz="930" dirty="0"/>
          </a:p>
        </p:txBody>
      </p:sp>
      <p:sp>
        <p:nvSpPr>
          <p:cNvPr id="29" name="Shape 24"/>
          <p:cNvSpPr/>
          <p:nvPr/>
        </p:nvSpPr>
        <p:spPr>
          <a:xfrm>
            <a:off x="411480" y="3127248"/>
            <a:ext cx="5547208" cy="1938528"/>
          </a:xfrm>
          <a:prstGeom prst="roundRect">
            <a:avLst>
              <a:gd name="adj" fmla="val 3538"/>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30" name="Shape 25"/>
          <p:cNvSpPr/>
          <p:nvPr/>
        </p:nvSpPr>
        <p:spPr>
          <a:xfrm>
            <a:off x="539496" y="3236976"/>
            <a:ext cx="5291176" cy="384048"/>
          </a:xfrm>
          <a:prstGeom prst="roundRect">
            <a:avLst>
              <a:gd name="adj" fmla="val 16667"/>
            </a:avLst>
          </a:prstGeom>
          <a:solidFill>
            <a:srgbClr val="D7E4BD"/>
          </a:solidFill>
          <a:ln/>
        </p:spPr>
      </p:sp>
      <p:sp>
        <p:nvSpPr>
          <p:cNvPr id="31" name="Shape 26"/>
          <p:cNvSpPr/>
          <p:nvPr/>
        </p:nvSpPr>
        <p:spPr>
          <a:xfrm>
            <a:off x="5483200" y="3291840"/>
            <a:ext cx="274320" cy="274320"/>
          </a:xfrm>
          <a:prstGeom prst="ellipse">
            <a:avLst/>
          </a:prstGeom>
          <a:solidFill>
            <a:srgbClr val="FFFFFF"/>
          </a:solidFill>
          <a:ln/>
        </p:spPr>
      </p:sp>
      <p:sp>
        <p:nvSpPr>
          <p:cNvPr id="32" name="Text 27"/>
          <p:cNvSpPr/>
          <p:nvPr/>
        </p:nvSpPr>
        <p:spPr>
          <a:xfrm>
            <a:off x="5483200" y="3278124"/>
            <a:ext cx="274320" cy="274320"/>
          </a:xfrm>
          <a:prstGeom prst="rect">
            <a:avLst/>
          </a:prstGeom>
          <a:noFill/>
          <a:ln/>
        </p:spPr>
        <p:txBody>
          <a:bodyPr wrap="square" lIns="0" tIns="0" rIns="0" bIns="0" rtlCol="0" anchor="ctr"/>
          <a:lstStyle/>
          <a:p>
            <a:pPr rtl="1" algn="ctr" indent="0" marL="0">
              <a:buNone/>
            </a:pPr>
            <a:r>
              <a:rPr lang="ar-SA" altLang="en-US" sz="1100" b="1" dirty="0">
                <a:solidFill>
                  <a:srgbClr val="46551F"/>
                </a:solidFill>
                <a:latin typeface="Arial" pitchFamily="34" charset="0"/>
                <a:ea typeface="Arial" pitchFamily="34" charset="-122"/>
                <a:cs typeface="Arial" pitchFamily="34" charset="-120"/>
              </a:rPr>
              <a:t>T</a:t>
            </a:r>
            <a:endParaRPr lang="ar-SA" sz="1100" dirty="0"/>
          </a:p>
        </p:txBody>
      </p:sp>
      <p:sp>
        <p:nvSpPr>
          <p:cNvPr id="33" name="Text 28"/>
          <p:cNvSpPr/>
          <p:nvPr/>
        </p:nvSpPr>
        <p:spPr>
          <a:xfrm>
            <a:off x="685800" y="3236976"/>
            <a:ext cx="4724248" cy="384048"/>
          </a:xfrm>
          <a:prstGeom prst="rect">
            <a:avLst/>
          </a:prstGeom>
          <a:noFill/>
          <a:ln/>
        </p:spPr>
        <p:txBody>
          <a:bodyPr wrap="square" lIns="0" tIns="0" rIns="0" bIns="0" rtlCol="0" anchor="ctr"/>
          <a:lstStyle/>
          <a:p>
            <a:pPr rtl="1" algn="r" indent="0" marL="0">
              <a:buNone/>
            </a:pPr>
            <a:r>
              <a:rPr lang="ar-SA" altLang="en-US" sz="1250" b="1" dirty="0">
                <a:solidFill>
                  <a:srgbClr val="46551F"/>
                </a:solidFill>
                <a:latin typeface="Tajawal" pitchFamily="34" charset="0"/>
                <a:ea typeface="Tajawal" pitchFamily="34" charset="-122"/>
                <a:cs typeface="Tajawal" pitchFamily="34" charset="-120"/>
              </a:rPr>
              <a:t>التهديدات</a:t>
            </a:r>
            <a:endParaRPr lang="ar-SA" sz="1250" dirty="0"/>
          </a:p>
        </p:txBody>
      </p:sp>
      <p:sp>
        <p:nvSpPr>
          <p:cNvPr id="34" name="Text 29"/>
          <p:cNvSpPr/>
          <p:nvPr/>
        </p:nvSpPr>
        <p:spPr>
          <a:xfrm>
            <a:off x="685800" y="3730752"/>
            <a:ext cx="4998568" cy="1207008"/>
          </a:xfrm>
          <a:prstGeom prst="rect">
            <a:avLst/>
          </a:prstGeom>
          <a:noFill/>
          <a:ln/>
        </p:spPr>
        <p:txBody>
          <a:bodyPr wrap="square" lIns="0" tIns="0" rIns="0" bIns="0" rtlCol="0" anchor="t"/>
          <a:lstStyle/>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غياب بعض الطلاب وضعف الانتظام المدرسي في مجموعة من الفصول.</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ضعف الدعم المالي المُقدَّم للمدرسة لتنفيذ البرامج.</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ضعف الالتزام الأسري بمتابعة الأبناء أكاديميًا.</a:t>
            </a:r>
            <a:endParaRPr lang="ar-SA" sz="930" dirty="0"/>
          </a:p>
          <a:p>
            <a:pPr algn="r" marL="127000" indent="-127000">
              <a:lnSpc>
                <a:spcPct val="110000"/>
              </a:lnSpc>
              <a:spcAft>
                <a:spcPts val="500"/>
              </a:spcAft>
              <a:buSzPct val="100000"/>
              <a:buChar char="▪"/>
            </a:pPr>
            <a:r>
              <a:rPr lang="ar-SA" altLang="en-US" sz="930" dirty="0">
                <a:solidFill>
                  <a:srgbClr val="33473F"/>
                </a:solidFill>
                <a:latin typeface="Tajawal" pitchFamily="34" charset="0"/>
                <a:ea typeface="Tajawal" pitchFamily="34" charset="-122"/>
                <a:cs typeface="Tajawal" pitchFamily="34" charset="-120"/>
              </a:rPr>
              <a:t>محدودية المؤثرات الاجتماعية على الأداء.</a:t>
            </a:r>
            <a:endParaRPr lang="ar-SA" sz="930" dirty="0"/>
          </a:p>
        </p:txBody>
      </p:sp>
      <p:sp>
        <p:nvSpPr>
          <p:cNvPr id="35" name="Text 30"/>
          <p:cNvSpPr/>
          <p:nvPr/>
        </p:nvSpPr>
        <p:spPr>
          <a:xfrm>
            <a:off x="6293815" y="5248656"/>
            <a:ext cx="5486400" cy="274320"/>
          </a:xfrm>
          <a:prstGeom prst="rect">
            <a:avLst/>
          </a:prstGeom>
          <a:noFill/>
          <a:ln/>
        </p:spPr>
        <p:txBody>
          <a:bodyPr wrap="square" lIns="0" tIns="0" rIns="0" bIns="0" rtlCol="0" anchor="t"/>
          <a:lstStyle/>
          <a:p>
            <a:pPr rtl="1" algn="r" indent="0" marL="0">
              <a:buNone/>
            </a:pPr>
            <a:r>
              <a:rPr lang="ar-SA" altLang="en-US" sz="1100" b="1" dirty="0">
                <a:solidFill>
                  <a:srgbClr val="0F2A21"/>
                </a:solidFill>
                <a:latin typeface="Tajawal" pitchFamily="34" charset="0"/>
                <a:ea typeface="Tajawal" pitchFamily="34" charset="-122"/>
                <a:cs typeface="Tajawal" pitchFamily="34" charset="-120"/>
              </a:rPr>
              <a:t>الاستراتيجيات المُستنبَطة (SO · WO · ST · WT)</a:t>
            </a:r>
            <a:endParaRPr lang="ar-SA" sz="1100" dirty="0"/>
          </a:p>
        </p:txBody>
      </p:sp>
      <p:sp>
        <p:nvSpPr>
          <p:cNvPr id="36" name="Shape 31"/>
          <p:cNvSpPr/>
          <p:nvPr/>
        </p:nvSpPr>
        <p:spPr>
          <a:xfrm>
            <a:off x="9102623" y="5596128"/>
            <a:ext cx="2677592" cy="731520"/>
          </a:xfrm>
          <a:prstGeom prst="roundRect">
            <a:avLst>
              <a:gd name="adj" fmla="val 9375"/>
            </a:avLst>
          </a:prstGeom>
          <a:solidFill>
            <a:srgbClr val="F1F7F4"/>
          </a:solidFill>
          <a:ln w="9525">
            <a:solidFill>
              <a:srgbClr val="DCE8E2"/>
            </a:solidFill>
            <a:prstDash val="solid"/>
          </a:ln>
        </p:spPr>
      </p:sp>
      <p:sp>
        <p:nvSpPr>
          <p:cNvPr id="37" name="Shape 32"/>
          <p:cNvSpPr/>
          <p:nvPr/>
        </p:nvSpPr>
        <p:spPr>
          <a:xfrm>
            <a:off x="11213287" y="5769864"/>
            <a:ext cx="438912" cy="274320"/>
          </a:xfrm>
          <a:prstGeom prst="roundRect">
            <a:avLst>
              <a:gd name="adj" fmla="val 20000"/>
            </a:avLst>
          </a:prstGeom>
          <a:solidFill>
            <a:srgbClr val="095242"/>
          </a:solidFill>
          <a:ln/>
        </p:spPr>
      </p:sp>
      <p:sp>
        <p:nvSpPr>
          <p:cNvPr id="38" name="Text 33"/>
          <p:cNvSpPr/>
          <p:nvPr/>
        </p:nvSpPr>
        <p:spPr>
          <a:xfrm>
            <a:off x="11213287" y="5760720"/>
            <a:ext cx="438912"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Arial" pitchFamily="34" charset="0"/>
                <a:ea typeface="Arial" pitchFamily="34" charset="-122"/>
                <a:cs typeface="Arial" pitchFamily="34" charset="-120"/>
              </a:rPr>
              <a:t>SO</a:t>
            </a:r>
            <a:endParaRPr lang="ar-SA" sz="950" dirty="0"/>
          </a:p>
        </p:txBody>
      </p:sp>
      <p:sp>
        <p:nvSpPr>
          <p:cNvPr id="39" name="Text 34"/>
          <p:cNvSpPr/>
          <p:nvPr/>
        </p:nvSpPr>
        <p:spPr>
          <a:xfrm>
            <a:off x="9230639" y="5687568"/>
            <a:ext cx="1927784" cy="274320"/>
          </a:xfrm>
          <a:prstGeom prst="rect">
            <a:avLst/>
          </a:prstGeom>
          <a:noFill/>
          <a:ln/>
        </p:spPr>
        <p:txBody>
          <a:bodyPr wrap="square" lIns="0" tIns="0" rIns="0" bIns="0" rtlCol="0" anchor="ctr"/>
          <a:lstStyle/>
          <a:p>
            <a:pPr rtl="1" algn="r" indent="0" marL="0">
              <a:buNone/>
            </a:pPr>
            <a:r>
              <a:rPr lang="ar-SA" altLang="en-US" sz="960" b="1" dirty="0">
                <a:solidFill>
                  <a:srgbClr val="063E33"/>
                </a:solidFill>
                <a:latin typeface="Tajawal" pitchFamily="34" charset="0"/>
                <a:ea typeface="Tajawal" pitchFamily="34" charset="-122"/>
                <a:cs typeface="Tajawal" pitchFamily="34" charset="-120"/>
              </a:rPr>
              <a:t>استثمار القوة</a:t>
            </a:r>
            <a:endParaRPr lang="ar-SA" sz="960" dirty="0"/>
          </a:p>
        </p:txBody>
      </p:sp>
      <p:sp>
        <p:nvSpPr>
          <p:cNvPr id="40" name="Text 35"/>
          <p:cNvSpPr/>
          <p:nvPr/>
        </p:nvSpPr>
        <p:spPr>
          <a:xfrm>
            <a:off x="9230639" y="5980176"/>
            <a:ext cx="1927784" cy="292608"/>
          </a:xfrm>
          <a:prstGeom prst="rect">
            <a:avLst/>
          </a:prstGeom>
          <a:noFill/>
          <a:ln/>
        </p:spPr>
        <p:txBody>
          <a:bodyPr wrap="square" lIns="0" tIns="0" rIns="0" bIns="0" rtlCol="0" anchor="ctr"/>
          <a:lstStyle/>
          <a:p>
            <a:pPr rtl="1" algn="r" indent="0" marL="0">
              <a:lnSpc>
                <a:spcPct val="100000"/>
              </a:lnSpc>
              <a:buNone/>
            </a:pPr>
            <a:r>
              <a:rPr lang="ar-SA" altLang="en-US" sz="780" dirty="0">
                <a:solidFill>
                  <a:srgbClr val="7C8F87"/>
                </a:solidFill>
                <a:latin typeface="Tajawal" pitchFamily="34" charset="0"/>
                <a:ea typeface="Tajawal" pitchFamily="34" charset="-122"/>
                <a:cs typeface="Tajawal" pitchFamily="34" charset="-120"/>
              </a:rPr>
              <a:t>تفعيل الكادر والشراكات لرفع نواتج التعلم.</a:t>
            </a:r>
            <a:endParaRPr lang="ar-SA" sz="780" dirty="0"/>
          </a:p>
        </p:txBody>
      </p:sp>
      <p:sp>
        <p:nvSpPr>
          <p:cNvPr id="41" name="Shape 36"/>
          <p:cNvSpPr/>
          <p:nvPr/>
        </p:nvSpPr>
        <p:spPr>
          <a:xfrm>
            <a:off x="6205576" y="5596128"/>
            <a:ext cx="2677592" cy="731520"/>
          </a:xfrm>
          <a:prstGeom prst="roundRect">
            <a:avLst>
              <a:gd name="adj" fmla="val 9375"/>
            </a:avLst>
          </a:prstGeom>
          <a:solidFill>
            <a:srgbClr val="F1F7F4"/>
          </a:solidFill>
          <a:ln w="9525">
            <a:solidFill>
              <a:srgbClr val="DCE8E2"/>
            </a:solidFill>
            <a:prstDash val="solid"/>
          </a:ln>
        </p:spPr>
      </p:sp>
      <p:sp>
        <p:nvSpPr>
          <p:cNvPr id="42" name="Shape 37"/>
          <p:cNvSpPr/>
          <p:nvPr/>
        </p:nvSpPr>
        <p:spPr>
          <a:xfrm>
            <a:off x="8316239" y="5769864"/>
            <a:ext cx="438912" cy="274320"/>
          </a:xfrm>
          <a:prstGeom prst="roundRect">
            <a:avLst>
              <a:gd name="adj" fmla="val 20000"/>
            </a:avLst>
          </a:prstGeom>
          <a:solidFill>
            <a:srgbClr val="095242"/>
          </a:solidFill>
          <a:ln/>
        </p:spPr>
      </p:sp>
      <p:sp>
        <p:nvSpPr>
          <p:cNvPr id="43" name="Text 38"/>
          <p:cNvSpPr/>
          <p:nvPr/>
        </p:nvSpPr>
        <p:spPr>
          <a:xfrm>
            <a:off x="8316239" y="5760720"/>
            <a:ext cx="438912"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Arial" pitchFamily="34" charset="0"/>
                <a:ea typeface="Arial" pitchFamily="34" charset="-122"/>
                <a:cs typeface="Arial" pitchFamily="34" charset="-120"/>
              </a:rPr>
              <a:t>WO</a:t>
            </a:r>
            <a:endParaRPr lang="ar-SA" sz="950" dirty="0"/>
          </a:p>
        </p:txBody>
      </p:sp>
      <p:sp>
        <p:nvSpPr>
          <p:cNvPr id="44" name="Text 39"/>
          <p:cNvSpPr/>
          <p:nvPr/>
        </p:nvSpPr>
        <p:spPr>
          <a:xfrm>
            <a:off x="6333592" y="5687568"/>
            <a:ext cx="1927784" cy="274320"/>
          </a:xfrm>
          <a:prstGeom prst="rect">
            <a:avLst/>
          </a:prstGeom>
          <a:noFill/>
          <a:ln/>
        </p:spPr>
        <p:txBody>
          <a:bodyPr wrap="square" lIns="0" tIns="0" rIns="0" bIns="0" rtlCol="0" anchor="ctr"/>
          <a:lstStyle/>
          <a:p>
            <a:pPr rtl="1" algn="r" indent="0" marL="0">
              <a:buNone/>
            </a:pPr>
            <a:r>
              <a:rPr lang="ar-SA" altLang="en-US" sz="960" b="1" dirty="0">
                <a:solidFill>
                  <a:srgbClr val="063E33"/>
                </a:solidFill>
                <a:latin typeface="Tajawal" pitchFamily="34" charset="0"/>
                <a:ea typeface="Tajawal" pitchFamily="34" charset="-122"/>
                <a:cs typeface="Tajawal" pitchFamily="34" charset="-120"/>
              </a:rPr>
              <a:t>معالجة الضعف</a:t>
            </a:r>
            <a:endParaRPr lang="ar-SA" sz="960" dirty="0"/>
          </a:p>
        </p:txBody>
      </p:sp>
      <p:sp>
        <p:nvSpPr>
          <p:cNvPr id="45" name="Text 40"/>
          <p:cNvSpPr/>
          <p:nvPr/>
        </p:nvSpPr>
        <p:spPr>
          <a:xfrm>
            <a:off x="6333592" y="5980176"/>
            <a:ext cx="1927784" cy="292608"/>
          </a:xfrm>
          <a:prstGeom prst="rect">
            <a:avLst/>
          </a:prstGeom>
          <a:noFill/>
          <a:ln/>
        </p:spPr>
        <p:txBody>
          <a:bodyPr wrap="square" lIns="0" tIns="0" rIns="0" bIns="0" rtlCol="0" anchor="ctr"/>
          <a:lstStyle/>
          <a:p>
            <a:pPr rtl="1" algn="r" indent="0" marL="0">
              <a:lnSpc>
                <a:spcPct val="100000"/>
              </a:lnSpc>
              <a:buNone/>
            </a:pPr>
            <a:r>
              <a:rPr lang="ar-SA" altLang="en-US" sz="780" dirty="0">
                <a:solidFill>
                  <a:srgbClr val="7C8F87"/>
                </a:solidFill>
                <a:latin typeface="Tajawal" pitchFamily="34" charset="0"/>
                <a:ea typeface="Tajawal" pitchFamily="34" charset="-122"/>
                <a:cs typeface="Tajawal" pitchFamily="34" charset="-120"/>
              </a:rPr>
              <a:t>تدريب المعلمين على التقنية لسدّ الفجوة.</a:t>
            </a:r>
            <a:endParaRPr lang="ar-SA" sz="780" dirty="0"/>
          </a:p>
        </p:txBody>
      </p:sp>
      <p:sp>
        <p:nvSpPr>
          <p:cNvPr id="46" name="Shape 41"/>
          <p:cNvSpPr/>
          <p:nvPr/>
        </p:nvSpPr>
        <p:spPr>
          <a:xfrm>
            <a:off x="3308528" y="5596128"/>
            <a:ext cx="2677592" cy="731520"/>
          </a:xfrm>
          <a:prstGeom prst="roundRect">
            <a:avLst>
              <a:gd name="adj" fmla="val 9375"/>
            </a:avLst>
          </a:prstGeom>
          <a:solidFill>
            <a:srgbClr val="F1F7F4"/>
          </a:solidFill>
          <a:ln w="9525">
            <a:solidFill>
              <a:srgbClr val="DCE8E2"/>
            </a:solidFill>
            <a:prstDash val="solid"/>
          </a:ln>
        </p:spPr>
      </p:sp>
      <p:sp>
        <p:nvSpPr>
          <p:cNvPr id="47" name="Shape 42"/>
          <p:cNvSpPr/>
          <p:nvPr/>
        </p:nvSpPr>
        <p:spPr>
          <a:xfrm>
            <a:off x="5419192" y="5769864"/>
            <a:ext cx="438912" cy="274320"/>
          </a:xfrm>
          <a:prstGeom prst="roundRect">
            <a:avLst>
              <a:gd name="adj" fmla="val 20000"/>
            </a:avLst>
          </a:prstGeom>
          <a:solidFill>
            <a:srgbClr val="0089A1"/>
          </a:solidFill>
          <a:ln/>
        </p:spPr>
      </p:sp>
      <p:sp>
        <p:nvSpPr>
          <p:cNvPr id="48" name="Text 43"/>
          <p:cNvSpPr/>
          <p:nvPr/>
        </p:nvSpPr>
        <p:spPr>
          <a:xfrm>
            <a:off x="5419192" y="5760720"/>
            <a:ext cx="438912"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Arial" pitchFamily="34" charset="0"/>
                <a:ea typeface="Arial" pitchFamily="34" charset="-122"/>
                <a:cs typeface="Arial" pitchFamily="34" charset="-120"/>
              </a:rPr>
              <a:t>ST</a:t>
            </a:r>
            <a:endParaRPr lang="ar-SA" sz="950" dirty="0"/>
          </a:p>
        </p:txBody>
      </p:sp>
      <p:sp>
        <p:nvSpPr>
          <p:cNvPr id="49" name="Text 44"/>
          <p:cNvSpPr/>
          <p:nvPr/>
        </p:nvSpPr>
        <p:spPr>
          <a:xfrm>
            <a:off x="3436544" y="5687568"/>
            <a:ext cx="1927784" cy="274320"/>
          </a:xfrm>
          <a:prstGeom prst="rect">
            <a:avLst/>
          </a:prstGeom>
          <a:noFill/>
          <a:ln/>
        </p:spPr>
        <p:txBody>
          <a:bodyPr wrap="square" lIns="0" tIns="0" rIns="0" bIns="0" rtlCol="0" anchor="ctr"/>
          <a:lstStyle/>
          <a:p>
            <a:pPr rtl="1" algn="r" indent="0" marL="0">
              <a:buNone/>
            </a:pPr>
            <a:r>
              <a:rPr lang="ar-SA" altLang="en-US" sz="960" b="1" dirty="0">
                <a:solidFill>
                  <a:srgbClr val="063E33"/>
                </a:solidFill>
                <a:latin typeface="Tajawal" pitchFamily="34" charset="0"/>
                <a:ea typeface="Tajawal" pitchFamily="34" charset="-122"/>
                <a:cs typeface="Tajawal" pitchFamily="34" charset="-120"/>
              </a:rPr>
              <a:t>مواجهة التهديدات</a:t>
            </a:r>
            <a:endParaRPr lang="ar-SA" sz="960" dirty="0"/>
          </a:p>
        </p:txBody>
      </p:sp>
      <p:sp>
        <p:nvSpPr>
          <p:cNvPr id="50" name="Text 45"/>
          <p:cNvSpPr/>
          <p:nvPr/>
        </p:nvSpPr>
        <p:spPr>
          <a:xfrm>
            <a:off x="3436544" y="5980176"/>
            <a:ext cx="1927784" cy="292608"/>
          </a:xfrm>
          <a:prstGeom prst="rect">
            <a:avLst/>
          </a:prstGeom>
          <a:noFill/>
          <a:ln/>
        </p:spPr>
        <p:txBody>
          <a:bodyPr wrap="square" lIns="0" tIns="0" rIns="0" bIns="0" rtlCol="0" anchor="ctr"/>
          <a:lstStyle/>
          <a:p>
            <a:pPr rtl="1" algn="r" indent="0" marL="0">
              <a:lnSpc>
                <a:spcPct val="100000"/>
              </a:lnSpc>
              <a:buNone/>
            </a:pPr>
            <a:r>
              <a:rPr lang="ar-SA" altLang="en-US" sz="780" dirty="0">
                <a:solidFill>
                  <a:srgbClr val="7C8F87"/>
                </a:solidFill>
                <a:latin typeface="Tajawal" pitchFamily="34" charset="0"/>
                <a:ea typeface="Tajawal" pitchFamily="34" charset="-122"/>
                <a:cs typeface="Tajawal" pitchFamily="34" charset="-120"/>
              </a:rPr>
              <a:t>تفعيل برامج الانضباط والتواصل الأسري.</a:t>
            </a:r>
            <a:endParaRPr lang="ar-SA" sz="780" dirty="0"/>
          </a:p>
        </p:txBody>
      </p:sp>
      <p:sp>
        <p:nvSpPr>
          <p:cNvPr id="51" name="Shape 46"/>
          <p:cNvSpPr/>
          <p:nvPr/>
        </p:nvSpPr>
        <p:spPr>
          <a:xfrm>
            <a:off x="411480" y="5596128"/>
            <a:ext cx="2677592" cy="731520"/>
          </a:xfrm>
          <a:prstGeom prst="roundRect">
            <a:avLst>
              <a:gd name="adj" fmla="val 9375"/>
            </a:avLst>
          </a:prstGeom>
          <a:solidFill>
            <a:srgbClr val="F1F7F4"/>
          </a:solidFill>
          <a:ln w="9525">
            <a:solidFill>
              <a:srgbClr val="DCE8E2"/>
            </a:solidFill>
            <a:prstDash val="solid"/>
          </a:ln>
        </p:spPr>
      </p:sp>
      <p:sp>
        <p:nvSpPr>
          <p:cNvPr id="52" name="Shape 47"/>
          <p:cNvSpPr/>
          <p:nvPr/>
        </p:nvSpPr>
        <p:spPr>
          <a:xfrm>
            <a:off x="2522144" y="5769864"/>
            <a:ext cx="438912" cy="274320"/>
          </a:xfrm>
          <a:prstGeom prst="roundRect">
            <a:avLst>
              <a:gd name="adj" fmla="val 20000"/>
            </a:avLst>
          </a:prstGeom>
          <a:solidFill>
            <a:srgbClr val="0089A1"/>
          </a:solidFill>
          <a:ln/>
        </p:spPr>
      </p:sp>
      <p:sp>
        <p:nvSpPr>
          <p:cNvPr id="53" name="Text 48"/>
          <p:cNvSpPr/>
          <p:nvPr/>
        </p:nvSpPr>
        <p:spPr>
          <a:xfrm>
            <a:off x="2522144" y="5760720"/>
            <a:ext cx="438912" cy="274320"/>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Arial" pitchFamily="34" charset="0"/>
                <a:ea typeface="Arial" pitchFamily="34" charset="-122"/>
                <a:cs typeface="Arial" pitchFamily="34" charset="-120"/>
              </a:rPr>
              <a:t>WT</a:t>
            </a:r>
            <a:endParaRPr lang="ar-SA" sz="950" dirty="0"/>
          </a:p>
        </p:txBody>
      </p:sp>
      <p:sp>
        <p:nvSpPr>
          <p:cNvPr id="54" name="Text 49"/>
          <p:cNvSpPr/>
          <p:nvPr/>
        </p:nvSpPr>
        <p:spPr>
          <a:xfrm>
            <a:off x="539496" y="5687568"/>
            <a:ext cx="1927784" cy="274320"/>
          </a:xfrm>
          <a:prstGeom prst="rect">
            <a:avLst/>
          </a:prstGeom>
          <a:noFill/>
          <a:ln/>
        </p:spPr>
        <p:txBody>
          <a:bodyPr wrap="square" lIns="0" tIns="0" rIns="0" bIns="0" rtlCol="0" anchor="ctr"/>
          <a:lstStyle/>
          <a:p>
            <a:pPr rtl="1" algn="r" indent="0" marL="0">
              <a:buNone/>
            </a:pPr>
            <a:r>
              <a:rPr lang="ar-SA" altLang="en-US" sz="960" b="1" dirty="0">
                <a:solidFill>
                  <a:srgbClr val="063E33"/>
                </a:solidFill>
                <a:latin typeface="Tajawal" pitchFamily="34" charset="0"/>
                <a:ea typeface="Tajawal" pitchFamily="34" charset="-122"/>
                <a:cs typeface="Tajawal" pitchFamily="34" charset="-120"/>
              </a:rPr>
              <a:t>تقليل المخاطر</a:t>
            </a:r>
            <a:endParaRPr lang="ar-SA" sz="960" dirty="0"/>
          </a:p>
        </p:txBody>
      </p:sp>
      <p:sp>
        <p:nvSpPr>
          <p:cNvPr id="55" name="Text 50"/>
          <p:cNvSpPr/>
          <p:nvPr/>
        </p:nvSpPr>
        <p:spPr>
          <a:xfrm>
            <a:off x="539496" y="5980176"/>
            <a:ext cx="1927784" cy="292608"/>
          </a:xfrm>
          <a:prstGeom prst="rect">
            <a:avLst/>
          </a:prstGeom>
          <a:noFill/>
          <a:ln/>
        </p:spPr>
        <p:txBody>
          <a:bodyPr wrap="square" lIns="0" tIns="0" rIns="0" bIns="0" rtlCol="0" anchor="ctr"/>
          <a:lstStyle/>
          <a:p>
            <a:pPr rtl="1" algn="r" indent="0" marL="0">
              <a:lnSpc>
                <a:spcPct val="100000"/>
              </a:lnSpc>
              <a:buNone/>
            </a:pPr>
            <a:r>
              <a:rPr lang="ar-SA" altLang="en-US" sz="780" dirty="0">
                <a:solidFill>
                  <a:srgbClr val="7C8F87"/>
                </a:solidFill>
                <a:latin typeface="Tajawal" pitchFamily="34" charset="0"/>
                <a:ea typeface="Tajawal" pitchFamily="34" charset="-122"/>
                <a:cs typeface="Tajawal" pitchFamily="34" charset="-120"/>
              </a:rPr>
              <a:t>إعادة هندسة المتابعة وتحفيز الالتزام.</a:t>
            </a:r>
            <a:endParaRPr lang="ar-SA"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alert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القضايا الملحة للمدرسة وفق تحليل SWOT</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١٢</a:t>
            </a:r>
            <a:endParaRPr lang="ar-SA" sz="850" dirty="0"/>
          </a:p>
        </p:txBody>
      </p:sp>
      <p:sp>
        <p:nvSpPr>
          <p:cNvPr id="9" name="Text 4"/>
          <p:cNvSpPr/>
          <p:nvPr/>
        </p:nvSpPr>
        <p:spPr>
          <a:xfrm>
            <a:off x="411480" y="969264"/>
            <a:ext cx="11368735" cy="347472"/>
          </a:xfrm>
          <a:prstGeom prst="rect">
            <a:avLst/>
          </a:prstGeom>
          <a:noFill/>
          <a:ln/>
        </p:spPr>
        <p:txBody>
          <a:bodyPr wrap="square" lIns="0" tIns="0" rIns="0" bIns="0" rtlCol="0" anchor="t"/>
          <a:lstStyle/>
          <a:p>
            <a:pPr rtl="1" algn="r" indent="0" marL="0">
              <a:buNone/>
            </a:pPr>
            <a:r>
              <a:rPr lang="ar-SA" altLang="en-US" sz="1050" dirty="0">
                <a:solidFill>
                  <a:srgbClr val="33473F"/>
                </a:solidFill>
                <a:latin typeface="Tajawal" pitchFamily="34" charset="0"/>
                <a:ea typeface="Tajawal" pitchFamily="34" charset="-122"/>
                <a:cs typeface="Tajawal" pitchFamily="34" charset="-120"/>
              </a:rPr>
              <a:t>بناءً على تحليل SWOT ومراجعة نتائج التقويم الذاتي، حُدِّدت القضايا الملحة التي تستدعي تدخُّلًا عاجلًا وتوجيهًا مباشرًا في برامج الخطة:</a:t>
            </a:r>
            <a:endParaRPr lang="ar-SA" sz="1050" dirty="0"/>
          </a:p>
        </p:txBody>
      </p:sp>
      <p:sp>
        <p:nvSpPr>
          <p:cNvPr id="10" name="Shape 5"/>
          <p:cNvSpPr/>
          <p:nvPr/>
        </p:nvSpPr>
        <p:spPr>
          <a:xfrm>
            <a:off x="6233008" y="1371600"/>
            <a:ext cx="5547208" cy="1188720"/>
          </a:xfrm>
          <a:prstGeom prst="roundRect">
            <a:avLst>
              <a:gd name="adj" fmla="val 5769"/>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1" name="Shape 6"/>
          <p:cNvSpPr/>
          <p:nvPr/>
        </p:nvSpPr>
        <p:spPr>
          <a:xfrm>
            <a:off x="11213287" y="1554480"/>
            <a:ext cx="365760" cy="365760"/>
          </a:xfrm>
          <a:prstGeom prst="roundRect">
            <a:avLst>
              <a:gd name="adj" fmla="val 22000"/>
            </a:avLst>
          </a:prstGeom>
          <a:solidFill>
            <a:srgbClr val="095242"/>
          </a:solidFill>
          <a:ln/>
        </p:spPr>
      </p:sp>
      <p:sp>
        <p:nvSpPr>
          <p:cNvPr id="12" name="Text 7"/>
          <p:cNvSpPr/>
          <p:nvPr/>
        </p:nvSpPr>
        <p:spPr>
          <a:xfrm>
            <a:off x="11213287" y="1540764"/>
            <a:ext cx="365760" cy="36576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١</a:t>
            </a:r>
            <a:endParaRPr lang="ar-SA" sz="1200" dirty="0"/>
          </a:p>
        </p:txBody>
      </p:sp>
      <p:sp>
        <p:nvSpPr>
          <p:cNvPr id="13" name="Text 8"/>
          <p:cNvSpPr/>
          <p:nvPr/>
        </p:nvSpPr>
        <p:spPr>
          <a:xfrm>
            <a:off x="6461608" y="1499616"/>
            <a:ext cx="4587088" cy="530352"/>
          </a:xfrm>
          <a:prstGeom prst="rect">
            <a:avLst/>
          </a:prstGeom>
          <a:noFill/>
          <a:ln/>
        </p:spPr>
        <p:txBody>
          <a:bodyPr wrap="square" lIns="0" tIns="0" rIns="0" bIns="0" rtlCol="0" anchor="ctr"/>
          <a:lstStyle/>
          <a:p>
            <a:pPr rtl="1" algn="r" indent="0" marL="0">
              <a:lnSpc>
                <a:spcPct val="105000"/>
              </a:lnSpc>
              <a:buNone/>
            </a:pPr>
            <a:r>
              <a:rPr lang="ar-SA" altLang="en-US" sz="1100" b="1" dirty="0">
                <a:solidFill>
                  <a:srgbClr val="063E33"/>
                </a:solidFill>
                <a:latin typeface="Tajawal" pitchFamily="34" charset="0"/>
                <a:ea typeface="Tajawal" pitchFamily="34" charset="-122"/>
                <a:cs typeface="Tajawal" pitchFamily="34" charset="-120"/>
              </a:rPr>
              <a:t>تدنّي مستوى الطلاب في التحصيل الدراسي</a:t>
            </a:r>
            <a:endParaRPr lang="ar-SA" sz="1100" dirty="0"/>
          </a:p>
        </p:txBody>
      </p:sp>
      <p:sp>
        <p:nvSpPr>
          <p:cNvPr id="14" name="Text 9"/>
          <p:cNvSpPr/>
          <p:nvPr/>
        </p:nvSpPr>
        <p:spPr>
          <a:xfrm>
            <a:off x="6461608" y="2066544"/>
            <a:ext cx="4587088" cy="457200"/>
          </a:xfrm>
          <a:prstGeom prst="rect">
            <a:avLst/>
          </a:prstGeom>
          <a:noFill/>
          <a:ln/>
        </p:spPr>
        <p:txBody>
          <a:bodyPr wrap="square" lIns="0" tIns="0" rIns="0" bIns="0" rtlCol="0" anchor="t"/>
          <a:lstStyle/>
          <a:p>
            <a:pPr rtl="1" algn="r" indent="0" marL="0">
              <a:lnSpc>
                <a:spcPct val="110000"/>
              </a:lnSpc>
              <a:buNone/>
            </a:pPr>
            <a:r>
              <a:rPr lang="ar-SA" altLang="en-US" sz="880" dirty="0">
                <a:solidFill>
                  <a:srgbClr val="7C8F87"/>
                </a:solidFill>
                <a:latin typeface="Tajawal" pitchFamily="34" charset="0"/>
                <a:ea typeface="Tajawal" pitchFamily="34" charset="-122"/>
                <a:cs typeface="Tajawal" pitchFamily="34" charset="-120"/>
              </a:rPr>
              <a:t>(الاختبارات التحصيلية والقدرات) — تكثيف برامج الدعم الأكاديمي وتقوية المهارات الأساسية.</a:t>
            </a:r>
            <a:endParaRPr lang="ar-SA" sz="880" dirty="0"/>
          </a:p>
        </p:txBody>
      </p:sp>
      <p:sp>
        <p:nvSpPr>
          <p:cNvPr id="15" name="Shape 10"/>
          <p:cNvSpPr/>
          <p:nvPr/>
        </p:nvSpPr>
        <p:spPr>
          <a:xfrm>
            <a:off x="411480" y="1371600"/>
            <a:ext cx="5547208" cy="1188720"/>
          </a:xfrm>
          <a:prstGeom prst="roundRect">
            <a:avLst>
              <a:gd name="adj" fmla="val 5769"/>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6" name="Shape 11"/>
          <p:cNvSpPr/>
          <p:nvPr/>
        </p:nvSpPr>
        <p:spPr>
          <a:xfrm>
            <a:off x="5391760" y="1554480"/>
            <a:ext cx="365760" cy="365760"/>
          </a:xfrm>
          <a:prstGeom prst="roundRect">
            <a:avLst>
              <a:gd name="adj" fmla="val 22000"/>
            </a:avLst>
          </a:prstGeom>
          <a:solidFill>
            <a:srgbClr val="095242"/>
          </a:solidFill>
          <a:ln/>
        </p:spPr>
      </p:sp>
      <p:sp>
        <p:nvSpPr>
          <p:cNvPr id="17" name="Text 12"/>
          <p:cNvSpPr/>
          <p:nvPr/>
        </p:nvSpPr>
        <p:spPr>
          <a:xfrm>
            <a:off x="5391760" y="1540764"/>
            <a:ext cx="365760" cy="36576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٢</a:t>
            </a:r>
            <a:endParaRPr lang="ar-SA" sz="1200" dirty="0"/>
          </a:p>
        </p:txBody>
      </p:sp>
      <p:sp>
        <p:nvSpPr>
          <p:cNvPr id="18" name="Text 13"/>
          <p:cNvSpPr/>
          <p:nvPr/>
        </p:nvSpPr>
        <p:spPr>
          <a:xfrm>
            <a:off x="640080" y="1499616"/>
            <a:ext cx="4587088" cy="530352"/>
          </a:xfrm>
          <a:prstGeom prst="rect">
            <a:avLst/>
          </a:prstGeom>
          <a:noFill/>
          <a:ln/>
        </p:spPr>
        <p:txBody>
          <a:bodyPr wrap="square" lIns="0" tIns="0" rIns="0" bIns="0" rtlCol="0" anchor="ctr"/>
          <a:lstStyle/>
          <a:p>
            <a:pPr rtl="1" algn="r" indent="0" marL="0">
              <a:lnSpc>
                <a:spcPct val="105000"/>
              </a:lnSpc>
              <a:buNone/>
            </a:pPr>
            <a:r>
              <a:rPr lang="ar-SA" altLang="en-US" sz="1100" b="1" dirty="0">
                <a:solidFill>
                  <a:srgbClr val="063E33"/>
                </a:solidFill>
                <a:latin typeface="Tajawal" pitchFamily="34" charset="0"/>
                <a:ea typeface="Tajawal" pitchFamily="34" charset="-122"/>
                <a:cs typeface="Tajawal" pitchFamily="34" charset="-120"/>
              </a:rPr>
              <a:t>ضعف في مستوى الانضباط المدرسي وأثره على العملية التعليمية</a:t>
            </a:r>
            <a:endParaRPr lang="ar-SA" sz="1100" dirty="0"/>
          </a:p>
        </p:txBody>
      </p:sp>
      <p:sp>
        <p:nvSpPr>
          <p:cNvPr id="19" name="Text 14"/>
          <p:cNvSpPr/>
          <p:nvPr/>
        </p:nvSpPr>
        <p:spPr>
          <a:xfrm>
            <a:off x="640080" y="2066544"/>
            <a:ext cx="4587088" cy="457200"/>
          </a:xfrm>
          <a:prstGeom prst="rect">
            <a:avLst/>
          </a:prstGeom>
          <a:noFill/>
          <a:ln/>
        </p:spPr>
        <p:txBody>
          <a:bodyPr wrap="square" lIns="0" tIns="0" rIns="0" bIns="0" rtlCol="0" anchor="t"/>
          <a:lstStyle/>
          <a:p>
            <a:pPr rtl="1" algn="r" indent="0" marL="0">
              <a:lnSpc>
                <a:spcPct val="110000"/>
              </a:lnSpc>
              <a:buNone/>
            </a:pPr>
            <a:r>
              <a:rPr lang="ar-SA" altLang="en-US" sz="880" dirty="0">
                <a:solidFill>
                  <a:srgbClr val="7C8F87"/>
                </a:solidFill>
                <a:latin typeface="Tajawal" pitchFamily="34" charset="0"/>
                <a:ea typeface="Tajawal" pitchFamily="34" charset="-122"/>
                <a:cs typeface="Tajawal" pitchFamily="34" charset="-120"/>
              </a:rPr>
              <a:t>تفعيل لائحة السلوك ومتابعة دقيقة للحالات الفردية مع تعزيز السلوك الإيجابي.</a:t>
            </a:r>
            <a:endParaRPr lang="ar-SA" sz="880" dirty="0"/>
          </a:p>
        </p:txBody>
      </p:sp>
      <p:sp>
        <p:nvSpPr>
          <p:cNvPr id="20" name="Shape 15"/>
          <p:cNvSpPr/>
          <p:nvPr/>
        </p:nvSpPr>
        <p:spPr>
          <a:xfrm>
            <a:off x="6233008" y="2724912"/>
            <a:ext cx="5547208" cy="1188720"/>
          </a:xfrm>
          <a:prstGeom prst="roundRect">
            <a:avLst>
              <a:gd name="adj" fmla="val 5769"/>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21" name="Shape 16"/>
          <p:cNvSpPr/>
          <p:nvPr/>
        </p:nvSpPr>
        <p:spPr>
          <a:xfrm>
            <a:off x="11213287" y="2907792"/>
            <a:ext cx="365760" cy="365760"/>
          </a:xfrm>
          <a:prstGeom prst="roundRect">
            <a:avLst>
              <a:gd name="adj" fmla="val 22000"/>
            </a:avLst>
          </a:prstGeom>
          <a:solidFill>
            <a:srgbClr val="095242"/>
          </a:solidFill>
          <a:ln/>
        </p:spPr>
      </p:sp>
      <p:sp>
        <p:nvSpPr>
          <p:cNvPr id="22" name="Text 17"/>
          <p:cNvSpPr/>
          <p:nvPr/>
        </p:nvSpPr>
        <p:spPr>
          <a:xfrm>
            <a:off x="11213287" y="2894076"/>
            <a:ext cx="365760" cy="36576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٣</a:t>
            </a:r>
            <a:endParaRPr lang="ar-SA" sz="1200" dirty="0"/>
          </a:p>
        </p:txBody>
      </p:sp>
      <p:sp>
        <p:nvSpPr>
          <p:cNvPr id="23" name="Text 18"/>
          <p:cNvSpPr/>
          <p:nvPr/>
        </p:nvSpPr>
        <p:spPr>
          <a:xfrm>
            <a:off x="6461608" y="2852928"/>
            <a:ext cx="4587088" cy="530352"/>
          </a:xfrm>
          <a:prstGeom prst="rect">
            <a:avLst/>
          </a:prstGeom>
          <a:noFill/>
          <a:ln/>
        </p:spPr>
        <p:txBody>
          <a:bodyPr wrap="square" lIns="0" tIns="0" rIns="0" bIns="0" rtlCol="0" anchor="ctr"/>
          <a:lstStyle/>
          <a:p>
            <a:pPr rtl="1" algn="r" indent="0" marL="0">
              <a:lnSpc>
                <a:spcPct val="105000"/>
              </a:lnSpc>
              <a:buNone/>
            </a:pPr>
            <a:r>
              <a:rPr lang="ar-SA" altLang="en-US" sz="1100" b="1" dirty="0">
                <a:solidFill>
                  <a:srgbClr val="063E33"/>
                </a:solidFill>
                <a:latin typeface="Tajawal" pitchFamily="34" charset="0"/>
                <a:ea typeface="Tajawal" pitchFamily="34" charset="-122"/>
                <a:cs typeface="Tajawal" pitchFamily="34" charset="-120"/>
              </a:rPr>
              <a:t>ضعف التواصل بين المدرسة والأسرة والمجتمع</a:t>
            </a:r>
            <a:endParaRPr lang="ar-SA" sz="1100" dirty="0"/>
          </a:p>
        </p:txBody>
      </p:sp>
      <p:sp>
        <p:nvSpPr>
          <p:cNvPr id="24" name="Text 19"/>
          <p:cNvSpPr/>
          <p:nvPr/>
        </p:nvSpPr>
        <p:spPr>
          <a:xfrm>
            <a:off x="6461608" y="3419856"/>
            <a:ext cx="4587088" cy="457200"/>
          </a:xfrm>
          <a:prstGeom prst="rect">
            <a:avLst/>
          </a:prstGeom>
          <a:noFill/>
          <a:ln/>
        </p:spPr>
        <p:txBody>
          <a:bodyPr wrap="square" lIns="0" tIns="0" rIns="0" bIns="0" rtlCol="0" anchor="t"/>
          <a:lstStyle/>
          <a:p>
            <a:pPr rtl="1" algn="r" indent="0" marL="0">
              <a:lnSpc>
                <a:spcPct val="110000"/>
              </a:lnSpc>
              <a:buNone/>
            </a:pPr>
            <a:r>
              <a:rPr lang="ar-SA" altLang="en-US" sz="880" dirty="0">
                <a:solidFill>
                  <a:srgbClr val="7C8F87"/>
                </a:solidFill>
                <a:latin typeface="Tajawal" pitchFamily="34" charset="0"/>
                <a:ea typeface="Tajawal" pitchFamily="34" charset="-122"/>
                <a:cs typeface="Tajawal" pitchFamily="34" charset="-120"/>
              </a:rPr>
              <a:t>تفعيل قنوات التواصل الفعّالة وتنظيم لقاءات دورية مع أولياء الأمور والشركاء.</a:t>
            </a:r>
            <a:endParaRPr lang="ar-SA" sz="880" dirty="0"/>
          </a:p>
        </p:txBody>
      </p:sp>
      <p:sp>
        <p:nvSpPr>
          <p:cNvPr id="25" name="Shape 20"/>
          <p:cNvSpPr/>
          <p:nvPr/>
        </p:nvSpPr>
        <p:spPr>
          <a:xfrm>
            <a:off x="411480" y="2724912"/>
            <a:ext cx="5547208" cy="1188720"/>
          </a:xfrm>
          <a:prstGeom prst="roundRect">
            <a:avLst>
              <a:gd name="adj" fmla="val 5769"/>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26" name="Shape 21"/>
          <p:cNvSpPr/>
          <p:nvPr/>
        </p:nvSpPr>
        <p:spPr>
          <a:xfrm>
            <a:off x="5391760" y="2907792"/>
            <a:ext cx="365760" cy="365760"/>
          </a:xfrm>
          <a:prstGeom prst="roundRect">
            <a:avLst>
              <a:gd name="adj" fmla="val 22000"/>
            </a:avLst>
          </a:prstGeom>
          <a:solidFill>
            <a:srgbClr val="095242"/>
          </a:solidFill>
          <a:ln/>
        </p:spPr>
      </p:sp>
      <p:sp>
        <p:nvSpPr>
          <p:cNvPr id="27" name="Text 22"/>
          <p:cNvSpPr/>
          <p:nvPr/>
        </p:nvSpPr>
        <p:spPr>
          <a:xfrm>
            <a:off x="5391760" y="2894076"/>
            <a:ext cx="365760" cy="36576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٤</a:t>
            </a:r>
            <a:endParaRPr lang="ar-SA" sz="1200" dirty="0"/>
          </a:p>
        </p:txBody>
      </p:sp>
      <p:sp>
        <p:nvSpPr>
          <p:cNvPr id="28" name="Text 23"/>
          <p:cNvSpPr/>
          <p:nvPr/>
        </p:nvSpPr>
        <p:spPr>
          <a:xfrm>
            <a:off x="640080" y="2852928"/>
            <a:ext cx="4587088" cy="530352"/>
          </a:xfrm>
          <a:prstGeom prst="rect">
            <a:avLst/>
          </a:prstGeom>
          <a:noFill/>
          <a:ln/>
        </p:spPr>
        <p:txBody>
          <a:bodyPr wrap="square" lIns="0" tIns="0" rIns="0" bIns="0" rtlCol="0" anchor="ctr"/>
          <a:lstStyle/>
          <a:p>
            <a:pPr rtl="1" algn="r" indent="0" marL="0">
              <a:lnSpc>
                <a:spcPct val="105000"/>
              </a:lnSpc>
              <a:buNone/>
            </a:pPr>
            <a:r>
              <a:rPr lang="ar-SA" altLang="en-US" sz="1100" b="1" dirty="0">
                <a:solidFill>
                  <a:srgbClr val="063E33"/>
                </a:solidFill>
                <a:latin typeface="Tajawal" pitchFamily="34" charset="0"/>
                <a:ea typeface="Tajawal" pitchFamily="34" charset="-122"/>
                <a:cs typeface="Tajawal" pitchFamily="34" charset="-120"/>
              </a:rPr>
              <a:t>عدم توفّر الأنشطة التي تستهدف جميع الطلاب</a:t>
            </a:r>
            <a:endParaRPr lang="ar-SA" sz="1100" dirty="0"/>
          </a:p>
        </p:txBody>
      </p:sp>
      <p:sp>
        <p:nvSpPr>
          <p:cNvPr id="29" name="Text 24"/>
          <p:cNvSpPr/>
          <p:nvPr/>
        </p:nvSpPr>
        <p:spPr>
          <a:xfrm>
            <a:off x="640080" y="3419856"/>
            <a:ext cx="4587088" cy="457200"/>
          </a:xfrm>
          <a:prstGeom prst="rect">
            <a:avLst/>
          </a:prstGeom>
          <a:noFill/>
          <a:ln/>
        </p:spPr>
        <p:txBody>
          <a:bodyPr wrap="square" lIns="0" tIns="0" rIns="0" bIns="0" rtlCol="0" anchor="t"/>
          <a:lstStyle/>
          <a:p>
            <a:pPr rtl="1" algn="r" indent="0" marL="0">
              <a:lnSpc>
                <a:spcPct val="110000"/>
              </a:lnSpc>
              <a:buNone/>
            </a:pPr>
            <a:r>
              <a:rPr lang="ar-SA" altLang="en-US" sz="880" dirty="0">
                <a:solidFill>
                  <a:srgbClr val="7C8F87"/>
                </a:solidFill>
                <a:latin typeface="Tajawal" pitchFamily="34" charset="0"/>
                <a:ea typeface="Tajawal" pitchFamily="34" charset="-122"/>
                <a:cs typeface="Tajawal" pitchFamily="34" charset="-120"/>
              </a:rPr>
              <a:t>توسيع نطاق البرامج الإثرائية للموهوبين والمتعثرين وذوي الاحتياجات الخاصة.</a:t>
            </a:r>
            <a:endParaRPr lang="ar-SA" sz="880" dirty="0"/>
          </a:p>
        </p:txBody>
      </p:sp>
      <p:sp>
        <p:nvSpPr>
          <p:cNvPr id="30" name="Shape 25"/>
          <p:cNvSpPr/>
          <p:nvPr/>
        </p:nvSpPr>
        <p:spPr>
          <a:xfrm>
            <a:off x="6233008" y="4078224"/>
            <a:ext cx="5547208" cy="1188720"/>
          </a:xfrm>
          <a:prstGeom prst="roundRect">
            <a:avLst>
              <a:gd name="adj" fmla="val 5769"/>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31" name="Shape 26"/>
          <p:cNvSpPr/>
          <p:nvPr/>
        </p:nvSpPr>
        <p:spPr>
          <a:xfrm>
            <a:off x="11213287" y="4261104"/>
            <a:ext cx="365760" cy="365760"/>
          </a:xfrm>
          <a:prstGeom prst="roundRect">
            <a:avLst>
              <a:gd name="adj" fmla="val 22000"/>
            </a:avLst>
          </a:prstGeom>
          <a:solidFill>
            <a:srgbClr val="095242"/>
          </a:solidFill>
          <a:ln/>
        </p:spPr>
      </p:sp>
      <p:sp>
        <p:nvSpPr>
          <p:cNvPr id="32" name="Text 27"/>
          <p:cNvSpPr/>
          <p:nvPr/>
        </p:nvSpPr>
        <p:spPr>
          <a:xfrm>
            <a:off x="11213287" y="4247388"/>
            <a:ext cx="365760" cy="36576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٥</a:t>
            </a:r>
            <a:endParaRPr lang="ar-SA" sz="1200" dirty="0"/>
          </a:p>
        </p:txBody>
      </p:sp>
      <p:sp>
        <p:nvSpPr>
          <p:cNvPr id="33" name="Text 28"/>
          <p:cNvSpPr/>
          <p:nvPr/>
        </p:nvSpPr>
        <p:spPr>
          <a:xfrm>
            <a:off x="6461608" y="4206240"/>
            <a:ext cx="4587088" cy="530352"/>
          </a:xfrm>
          <a:prstGeom prst="rect">
            <a:avLst/>
          </a:prstGeom>
          <a:noFill/>
          <a:ln/>
        </p:spPr>
        <p:txBody>
          <a:bodyPr wrap="square" lIns="0" tIns="0" rIns="0" bIns="0" rtlCol="0" anchor="ctr"/>
          <a:lstStyle/>
          <a:p>
            <a:pPr rtl="1" algn="r" indent="0" marL="0">
              <a:lnSpc>
                <a:spcPct val="105000"/>
              </a:lnSpc>
              <a:buNone/>
            </a:pPr>
            <a:r>
              <a:rPr lang="ar-SA" altLang="en-US" sz="1100" b="1" dirty="0">
                <a:solidFill>
                  <a:srgbClr val="063E33"/>
                </a:solidFill>
                <a:latin typeface="Tajawal" pitchFamily="34" charset="0"/>
                <a:ea typeface="Tajawal" pitchFamily="34" charset="-122"/>
                <a:cs typeface="Tajawal" pitchFamily="34" charset="-120"/>
              </a:rPr>
              <a:t>رفع كفاءة منسوبي المدرسة وتعزيز النمو المهني</a:t>
            </a:r>
            <a:endParaRPr lang="ar-SA" sz="1100" dirty="0"/>
          </a:p>
        </p:txBody>
      </p:sp>
      <p:sp>
        <p:nvSpPr>
          <p:cNvPr id="34" name="Text 29"/>
          <p:cNvSpPr/>
          <p:nvPr/>
        </p:nvSpPr>
        <p:spPr>
          <a:xfrm>
            <a:off x="6461608" y="4773168"/>
            <a:ext cx="4587088" cy="457200"/>
          </a:xfrm>
          <a:prstGeom prst="rect">
            <a:avLst/>
          </a:prstGeom>
          <a:noFill/>
          <a:ln/>
        </p:spPr>
        <p:txBody>
          <a:bodyPr wrap="square" lIns="0" tIns="0" rIns="0" bIns="0" rtlCol="0" anchor="t"/>
          <a:lstStyle/>
          <a:p>
            <a:pPr rtl="1" algn="r" indent="0" marL="0">
              <a:lnSpc>
                <a:spcPct val="110000"/>
              </a:lnSpc>
              <a:buNone/>
            </a:pPr>
            <a:r>
              <a:rPr lang="ar-SA" altLang="en-US" sz="880" dirty="0">
                <a:solidFill>
                  <a:srgbClr val="7C8F87"/>
                </a:solidFill>
                <a:latin typeface="Tajawal" pitchFamily="34" charset="0"/>
                <a:ea typeface="Tajawal" pitchFamily="34" charset="-122"/>
                <a:cs typeface="Tajawal" pitchFamily="34" charset="-120"/>
              </a:rPr>
              <a:t>تنفيذ خطة تطوير مهني فصلية مرتبطة بالاحتياجات الفعلية للمعلمين.</a:t>
            </a:r>
            <a:endParaRPr lang="ar-SA" sz="880" dirty="0"/>
          </a:p>
        </p:txBody>
      </p:sp>
      <p:sp>
        <p:nvSpPr>
          <p:cNvPr id="35" name="Shape 30"/>
          <p:cNvSpPr/>
          <p:nvPr/>
        </p:nvSpPr>
        <p:spPr>
          <a:xfrm>
            <a:off x="411480" y="4078224"/>
            <a:ext cx="5547208" cy="1188720"/>
          </a:xfrm>
          <a:prstGeom prst="roundRect">
            <a:avLst>
              <a:gd name="adj" fmla="val 5769"/>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36" name="Shape 31"/>
          <p:cNvSpPr/>
          <p:nvPr/>
        </p:nvSpPr>
        <p:spPr>
          <a:xfrm>
            <a:off x="5391760" y="4261104"/>
            <a:ext cx="365760" cy="365760"/>
          </a:xfrm>
          <a:prstGeom prst="roundRect">
            <a:avLst>
              <a:gd name="adj" fmla="val 22000"/>
            </a:avLst>
          </a:prstGeom>
          <a:solidFill>
            <a:srgbClr val="095242"/>
          </a:solidFill>
          <a:ln/>
        </p:spPr>
      </p:sp>
      <p:sp>
        <p:nvSpPr>
          <p:cNvPr id="37" name="Text 32"/>
          <p:cNvSpPr/>
          <p:nvPr/>
        </p:nvSpPr>
        <p:spPr>
          <a:xfrm>
            <a:off x="5391760" y="4247388"/>
            <a:ext cx="365760" cy="36576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Tajawal" pitchFamily="34" charset="0"/>
                <a:ea typeface="Tajawal" pitchFamily="34" charset="-122"/>
                <a:cs typeface="Tajawal" pitchFamily="34" charset="-120"/>
              </a:rPr>
              <a:t>٦</a:t>
            </a:r>
            <a:endParaRPr lang="ar-SA" sz="1200" dirty="0"/>
          </a:p>
        </p:txBody>
      </p:sp>
      <p:sp>
        <p:nvSpPr>
          <p:cNvPr id="38" name="Text 33"/>
          <p:cNvSpPr/>
          <p:nvPr/>
        </p:nvSpPr>
        <p:spPr>
          <a:xfrm>
            <a:off x="640080" y="4206240"/>
            <a:ext cx="4587088" cy="530352"/>
          </a:xfrm>
          <a:prstGeom prst="rect">
            <a:avLst/>
          </a:prstGeom>
          <a:noFill/>
          <a:ln/>
        </p:spPr>
        <p:txBody>
          <a:bodyPr wrap="square" lIns="0" tIns="0" rIns="0" bIns="0" rtlCol="0" anchor="ctr"/>
          <a:lstStyle/>
          <a:p>
            <a:pPr rtl="1" algn="r" indent="0" marL="0">
              <a:lnSpc>
                <a:spcPct val="105000"/>
              </a:lnSpc>
              <a:buNone/>
            </a:pPr>
            <a:r>
              <a:rPr lang="ar-SA" altLang="en-US" sz="1100" b="1" dirty="0">
                <a:solidFill>
                  <a:srgbClr val="063E33"/>
                </a:solidFill>
                <a:latin typeface="Tajawal" pitchFamily="34" charset="0"/>
                <a:ea typeface="Tajawal" pitchFamily="34" charset="-122"/>
                <a:cs typeface="Tajawal" pitchFamily="34" charset="-120"/>
              </a:rPr>
              <a:t>تعزيز التوظيف الفاعل للتقنيات الرقمية في التعليم</a:t>
            </a:r>
            <a:endParaRPr lang="ar-SA" sz="1100" dirty="0"/>
          </a:p>
        </p:txBody>
      </p:sp>
      <p:sp>
        <p:nvSpPr>
          <p:cNvPr id="39" name="Text 34"/>
          <p:cNvSpPr/>
          <p:nvPr/>
        </p:nvSpPr>
        <p:spPr>
          <a:xfrm>
            <a:off x="640080" y="4773168"/>
            <a:ext cx="4587088" cy="457200"/>
          </a:xfrm>
          <a:prstGeom prst="rect">
            <a:avLst/>
          </a:prstGeom>
          <a:noFill/>
          <a:ln/>
        </p:spPr>
        <p:txBody>
          <a:bodyPr wrap="square" lIns="0" tIns="0" rIns="0" bIns="0" rtlCol="0" anchor="t"/>
          <a:lstStyle/>
          <a:p>
            <a:pPr rtl="1" algn="r" indent="0" marL="0">
              <a:lnSpc>
                <a:spcPct val="110000"/>
              </a:lnSpc>
              <a:buNone/>
            </a:pPr>
            <a:r>
              <a:rPr lang="ar-SA" altLang="en-US" sz="880" dirty="0">
                <a:solidFill>
                  <a:srgbClr val="7C8F87"/>
                </a:solidFill>
                <a:latin typeface="Tajawal" pitchFamily="34" charset="0"/>
                <a:ea typeface="Tajawal" pitchFamily="34" charset="-122"/>
                <a:cs typeface="Tajawal" pitchFamily="34" charset="-120"/>
              </a:rPr>
              <a:t>تدريب المعلمين على المنصّات وتنويع استخدام الأدوات الرقمية داخل الفصل.</a:t>
            </a:r>
            <a:endParaRPr lang="ar-SA" sz="880" dirty="0"/>
          </a:p>
        </p:txBody>
      </p:sp>
      <p:sp>
        <p:nvSpPr>
          <p:cNvPr id="40" name="Shape 35"/>
          <p:cNvSpPr/>
          <p:nvPr/>
        </p:nvSpPr>
        <p:spPr>
          <a:xfrm>
            <a:off x="411480" y="5449824"/>
            <a:ext cx="11368735" cy="868680"/>
          </a:xfrm>
          <a:prstGeom prst="roundRect">
            <a:avLst>
              <a:gd name="adj" fmla="val 7895"/>
            </a:avLst>
          </a:prstGeom>
          <a:solidFill>
            <a:srgbClr val="095242"/>
          </a:solidFill>
          <a:ln/>
          <a:effectLst>
            <a:outerShdw sx="100000" sy="100000" kx="0" ky="0" algn="bl" rotWithShape="0" blurRad="101600" dist="25400" dir="5400000">
              <a:srgbClr val="083528">
                <a:alpha val="25000"/>
              </a:srgbClr>
            </a:outerShdw>
          </a:effectLst>
        </p:spPr>
      </p:sp>
      <p:sp>
        <p:nvSpPr>
          <p:cNvPr id="41" name="Shape 36"/>
          <p:cNvSpPr/>
          <p:nvPr/>
        </p:nvSpPr>
        <p:spPr>
          <a:xfrm>
            <a:off x="11176711" y="5701284"/>
            <a:ext cx="365760" cy="365760"/>
          </a:xfrm>
          <a:prstGeom prst="ellipse">
            <a:avLst/>
          </a:prstGeom>
          <a:solidFill>
            <a:srgbClr val="FFFFFF"/>
          </a:solidFill>
          <a:ln/>
        </p:spPr>
      </p:sp>
      <p:sp>
        <p:nvSpPr>
          <p:cNvPr id="42" name="Text 37"/>
          <p:cNvSpPr/>
          <p:nvPr/>
        </p:nvSpPr>
        <p:spPr>
          <a:xfrm>
            <a:off x="11176711" y="5687568"/>
            <a:ext cx="365760" cy="365760"/>
          </a:xfrm>
          <a:prstGeom prst="rect">
            <a:avLst/>
          </a:prstGeom>
          <a:noFill/>
          <a:ln/>
        </p:spPr>
        <p:txBody>
          <a:bodyPr wrap="square" lIns="0" tIns="0" rIns="0" bIns="0" rtlCol="0" anchor="ctr"/>
          <a:lstStyle/>
          <a:p>
            <a:pPr rtl="1" algn="ctr" indent="0" marL="0">
              <a:buNone/>
            </a:pPr>
            <a:r>
              <a:rPr lang="ar-SA" altLang="en-US" sz="1300" b="1" dirty="0">
                <a:solidFill>
                  <a:srgbClr val="095242"/>
                </a:solidFill>
                <a:latin typeface="Tajawal" pitchFamily="34" charset="0"/>
                <a:ea typeface="Tajawal" pitchFamily="34" charset="-122"/>
                <a:cs typeface="Tajawal" pitchFamily="34" charset="-120"/>
              </a:rPr>
              <a:t>٧</a:t>
            </a:r>
            <a:endParaRPr lang="ar-SA" sz="1300" dirty="0"/>
          </a:p>
        </p:txBody>
      </p:sp>
      <p:sp>
        <p:nvSpPr>
          <p:cNvPr id="43" name="Text 38"/>
          <p:cNvSpPr/>
          <p:nvPr/>
        </p:nvSpPr>
        <p:spPr>
          <a:xfrm>
            <a:off x="731520" y="5577840"/>
            <a:ext cx="10225735" cy="365760"/>
          </a:xfrm>
          <a:prstGeom prst="rect">
            <a:avLst/>
          </a:prstGeom>
          <a:noFill/>
          <a:ln/>
        </p:spPr>
        <p:txBody>
          <a:bodyPr wrap="square" lIns="0" tIns="0" rIns="0" bIns="0" rtlCol="0" anchor="ctr"/>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تحسين بيئة التعلم الصفية والمرافق المدرسية المساندة</a:t>
            </a:r>
            <a:endParaRPr lang="ar-SA" sz="1250" dirty="0"/>
          </a:p>
        </p:txBody>
      </p:sp>
      <p:sp>
        <p:nvSpPr>
          <p:cNvPr id="44" name="Text 39"/>
          <p:cNvSpPr/>
          <p:nvPr/>
        </p:nvSpPr>
        <p:spPr>
          <a:xfrm>
            <a:off x="731520" y="5952744"/>
            <a:ext cx="10225735" cy="320040"/>
          </a:xfrm>
          <a:prstGeom prst="rect">
            <a:avLst/>
          </a:prstGeom>
          <a:noFill/>
          <a:ln/>
        </p:spPr>
        <p:txBody>
          <a:bodyPr wrap="square" lIns="0" tIns="0" rIns="0" bIns="0" rtlCol="0" anchor="t"/>
          <a:lstStyle/>
          <a:p>
            <a:pPr rtl="1" algn="r" indent="0" marL="0">
              <a:buNone/>
            </a:pPr>
            <a:r>
              <a:rPr lang="ar-SA" altLang="en-US" sz="950" dirty="0">
                <a:solidFill>
                  <a:srgbClr val="CFE2DB"/>
                </a:solidFill>
                <a:latin typeface="Tajawal" pitchFamily="34" charset="0"/>
                <a:ea typeface="Tajawal" pitchFamily="34" charset="-122"/>
                <a:cs typeface="Tajawal" pitchFamily="34" charset="-120"/>
              </a:rPr>
              <a:t>صيانة دورية وتحسين التهوية والإضاءة، ورفع جودة الخدمات المساندة.</a:t>
            </a:r>
            <a:endParaRPr lang="ar-SA"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target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الأهداف الاستراتيجية لوزارة التعليم</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١٣</a:t>
            </a:r>
            <a:endParaRPr lang="ar-SA" sz="850" dirty="0"/>
          </a:p>
        </p:txBody>
      </p:sp>
      <p:sp>
        <p:nvSpPr>
          <p:cNvPr id="9" name="Text 4"/>
          <p:cNvSpPr/>
          <p:nvPr/>
        </p:nvSpPr>
        <p:spPr>
          <a:xfrm>
            <a:off x="411480" y="1005840"/>
            <a:ext cx="11368735" cy="384048"/>
          </a:xfrm>
          <a:prstGeom prst="rect">
            <a:avLst/>
          </a:prstGeom>
          <a:noFill/>
          <a:ln/>
        </p:spPr>
        <p:txBody>
          <a:bodyPr wrap="square" lIns="0" tIns="0" rIns="0" bIns="0" rtlCol="0" anchor="t"/>
          <a:lstStyle/>
          <a:p>
            <a:pPr rtl="1" algn="r" indent="0" marL="0">
              <a:buNone/>
            </a:pPr>
            <a:r>
              <a:rPr lang="ar-SA" altLang="en-US" sz="1080" dirty="0">
                <a:solidFill>
                  <a:srgbClr val="33473F"/>
                </a:solidFill>
                <a:latin typeface="Tajawal" pitchFamily="34" charset="0"/>
                <a:ea typeface="Tajawal" pitchFamily="34" charset="-122"/>
                <a:cs typeface="Tajawal" pitchFamily="34" charset="-120"/>
              </a:rPr>
              <a:t>تتوافق الأهداف العامة لخطة المدرسة مع الأهداف الاستراتيجية العشرة لوزارة التعليم، وتتفرّع منها البرامج التشغيلية المرتبطة بمؤشرات الاعتماد المدرسي.</a:t>
            </a:r>
            <a:endParaRPr lang="ar-SA" sz="1080" dirty="0"/>
          </a:p>
        </p:txBody>
      </p:sp>
      <p:sp>
        <p:nvSpPr>
          <p:cNvPr id="10" name="Shape 5"/>
          <p:cNvSpPr/>
          <p:nvPr/>
        </p:nvSpPr>
        <p:spPr>
          <a:xfrm>
            <a:off x="9667403" y="1536192"/>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1" name="Shape 6"/>
          <p:cNvSpPr/>
          <p:nvPr/>
        </p:nvSpPr>
        <p:spPr>
          <a:xfrm>
            <a:off x="10550073" y="1682496"/>
            <a:ext cx="347472" cy="347472"/>
          </a:xfrm>
          <a:prstGeom prst="roundRect">
            <a:avLst>
              <a:gd name="adj" fmla="val 22000"/>
            </a:avLst>
          </a:prstGeom>
          <a:solidFill>
            <a:srgbClr val="095242"/>
          </a:solidFill>
          <a:ln/>
        </p:spPr>
      </p:sp>
      <p:sp>
        <p:nvSpPr>
          <p:cNvPr id="12" name="Text 7"/>
          <p:cNvSpPr/>
          <p:nvPr/>
        </p:nvSpPr>
        <p:spPr>
          <a:xfrm>
            <a:off x="10550073" y="1668780"/>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١</a:t>
            </a:r>
            <a:endParaRPr lang="ar-SA" sz="1150" dirty="0"/>
          </a:p>
        </p:txBody>
      </p:sp>
      <p:sp>
        <p:nvSpPr>
          <p:cNvPr id="13" name="Text 8"/>
          <p:cNvSpPr/>
          <p:nvPr/>
        </p:nvSpPr>
        <p:spPr>
          <a:xfrm>
            <a:off x="9749699" y="2084832"/>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ضمان وصول التعليم للجميع</a:t>
            </a:r>
            <a:endParaRPr lang="ar-SA" sz="930" dirty="0"/>
          </a:p>
        </p:txBody>
      </p:sp>
      <p:sp>
        <p:nvSpPr>
          <p:cNvPr id="14" name="Shape 9"/>
          <p:cNvSpPr/>
          <p:nvPr/>
        </p:nvSpPr>
        <p:spPr>
          <a:xfrm>
            <a:off x="7353422" y="1536192"/>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5" name="Shape 10"/>
          <p:cNvSpPr/>
          <p:nvPr/>
        </p:nvSpPr>
        <p:spPr>
          <a:xfrm>
            <a:off x="8236092" y="1682496"/>
            <a:ext cx="347472" cy="347472"/>
          </a:xfrm>
          <a:prstGeom prst="roundRect">
            <a:avLst>
              <a:gd name="adj" fmla="val 22000"/>
            </a:avLst>
          </a:prstGeom>
          <a:solidFill>
            <a:srgbClr val="095242"/>
          </a:solidFill>
          <a:ln/>
        </p:spPr>
      </p:sp>
      <p:sp>
        <p:nvSpPr>
          <p:cNvPr id="16" name="Text 11"/>
          <p:cNvSpPr/>
          <p:nvPr/>
        </p:nvSpPr>
        <p:spPr>
          <a:xfrm>
            <a:off x="8236092" y="1668780"/>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٢</a:t>
            </a:r>
            <a:endParaRPr lang="ar-SA" sz="1150" dirty="0"/>
          </a:p>
        </p:txBody>
      </p:sp>
      <p:sp>
        <p:nvSpPr>
          <p:cNvPr id="17" name="Text 12"/>
          <p:cNvSpPr/>
          <p:nvPr/>
        </p:nvSpPr>
        <p:spPr>
          <a:xfrm>
            <a:off x="7435718" y="2084832"/>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تطوير بيئة مدرسية آمنة وابتكارية</a:t>
            </a:r>
            <a:endParaRPr lang="ar-SA" sz="930" dirty="0"/>
          </a:p>
        </p:txBody>
      </p:sp>
      <p:sp>
        <p:nvSpPr>
          <p:cNvPr id="18" name="Shape 13"/>
          <p:cNvSpPr/>
          <p:nvPr/>
        </p:nvSpPr>
        <p:spPr>
          <a:xfrm>
            <a:off x="5039441" y="1536192"/>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19" name="Shape 14"/>
          <p:cNvSpPr/>
          <p:nvPr/>
        </p:nvSpPr>
        <p:spPr>
          <a:xfrm>
            <a:off x="5922112" y="1682496"/>
            <a:ext cx="347472" cy="347472"/>
          </a:xfrm>
          <a:prstGeom prst="roundRect">
            <a:avLst>
              <a:gd name="adj" fmla="val 22000"/>
            </a:avLst>
          </a:prstGeom>
          <a:solidFill>
            <a:srgbClr val="095242"/>
          </a:solidFill>
          <a:ln/>
        </p:spPr>
      </p:sp>
      <p:sp>
        <p:nvSpPr>
          <p:cNvPr id="20" name="Text 15"/>
          <p:cNvSpPr/>
          <p:nvPr/>
        </p:nvSpPr>
        <p:spPr>
          <a:xfrm>
            <a:off x="5922112" y="1668780"/>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٣</a:t>
            </a:r>
            <a:endParaRPr lang="ar-SA" sz="1150" dirty="0"/>
          </a:p>
        </p:txBody>
      </p:sp>
      <p:sp>
        <p:nvSpPr>
          <p:cNvPr id="21" name="Text 16"/>
          <p:cNvSpPr/>
          <p:nvPr/>
        </p:nvSpPr>
        <p:spPr>
          <a:xfrm>
            <a:off x="5121737" y="2084832"/>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تعزيز القيم والهوية الوطنية</a:t>
            </a:r>
            <a:endParaRPr lang="ar-SA" sz="930" dirty="0"/>
          </a:p>
        </p:txBody>
      </p:sp>
      <p:sp>
        <p:nvSpPr>
          <p:cNvPr id="22" name="Shape 17"/>
          <p:cNvSpPr/>
          <p:nvPr/>
        </p:nvSpPr>
        <p:spPr>
          <a:xfrm>
            <a:off x="2725461" y="1536192"/>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23" name="Shape 18"/>
          <p:cNvSpPr/>
          <p:nvPr/>
        </p:nvSpPr>
        <p:spPr>
          <a:xfrm>
            <a:off x="3608131" y="1682496"/>
            <a:ext cx="347472" cy="347472"/>
          </a:xfrm>
          <a:prstGeom prst="roundRect">
            <a:avLst>
              <a:gd name="adj" fmla="val 22000"/>
            </a:avLst>
          </a:prstGeom>
          <a:solidFill>
            <a:srgbClr val="095242"/>
          </a:solidFill>
          <a:ln/>
        </p:spPr>
      </p:sp>
      <p:sp>
        <p:nvSpPr>
          <p:cNvPr id="24" name="Text 19"/>
          <p:cNvSpPr/>
          <p:nvPr/>
        </p:nvSpPr>
        <p:spPr>
          <a:xfrm>
            <a:off x="3608131" y="1668780"/>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٤</a:t>
            </a:r>
            <a:endParaRPr lang="ar-SA" sz="1150" dirty="0"/>
          </a:p>
        </p:txBody>
      </p:sp>
      <p:sp>
        <p:nvSpPr>
          <p:cNvPr id="25" name="Text 20"/>
          <p:cNvSpPr/>
          <p:nvPr/>
        </p:nvSpPr>
        <p:spPr>
          <a:xfrm>
            <a:off x="2807757" y="2084832"/>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تحسين تجربة المستفيدين</a:t>
            </a:r>
            <a:endParaRPr lang="ar-SA" sz="930" dirty="0"/>
          </a:p>
        </p:txBody>
      </p:sp>
      <p:sp>
        <p:nvSpPr>
          <p:cNvPr id="26" name="Shape 21"/>
          <p:cNvSpPr/>
          <p:nvPr/>
        </p:nvSpPr>
        <p:spPr>
          <a:xfrm>
            <a:off x="411480" y="1536192"/>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27" name="Shape 22"/>
          <p:cNvSpPr/>
          <p:nvPr/>
        </p:nvSpPr>
        <p:spPr>
          <a:xfrm>
            <a:off x="1294150" y="1682496"/>
            <a:ext cx="347472" cy="347472"/>
          </a:xfrm>
          <a:prstGeom prst="roundRect">
            <a:avLst>
              <a:gd name="adj" fmla="val 22000"/>
            </a:avLst>
          </a:prstGeom>
          <a:solidFill>
            <a:srgbClr val="095242"/>
          </a:solidFill>
          <a:ln/>
        </p:spPr>
      </p:sp>
      <p:sp>
        <p:nvSpPr>
          <p:cNvPr id="28" name="Text 23"/>
          <p:cNvSpPr/>
          <p:nvPr/>
        </p:nvSpPr>
        <p:spPr>
          <a:xfrm>
            <a:off x="1294150" y="1668780"/>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٥</a:t>
            </a:r>
            <a:endParaRPr lang="ar-SA" sz="1150" dirty="0"/>
          </a:p>
        </p:txBody>
      </p:sp>
      <p:sp>
        <p:nvSpPr>
          <p:cNvPr id="29" name="Text 24"/>
          <p:cNvSpPr/>
          <p:nvPr/>
        </p:nvSpPr>
        <p:spPr>
          <a:xfrm>
            <a:off x="493776" y="2084832"/>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الاستثمار في الطلاب والمدارس الأولى بالرعاية</a:t>
            </a:r>
            <a:endParaRPr lang="ar-SA" sz="930" dirty="0"/>
          </a:p>
        </p:txBody>
      </p:sp>
      <p:sp>
        <p:nvSpPr>
          <p:cNvPr id="30" name="Shape 25"/>
          <p:cNvSpPr/>
          <p:nvPr/>
        </p:nvSpPr>
        <p:spPr>
          <a:xfrm>
            <a:off x="9667403" y="3127248"/>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31" name="Shape 26"/>
          <p:cNvSpPr/>
          <p:nvPr/>
        </p:nvSpPr>
        <p:spPr>
          <a:xfrm>
            <a:off x="10550073" y="3273552"/>
            <a:ext cx="347472" cy="347472"/>
          </a:xfrm>
          <a:prstGeom prst="roundRect">
            <a:avLst>
              <a:gd name="adj" fmla="val 22000"/>
            </a:avLst>
          </a:prstGeom>
          <a:solidFill>
            <a:srgbClr val="095242"/>
          </a:solidFill>
          <a:ln/>
        </p:spPr>
      </p:sp>
      <p:sp>
        <p:nvSpPr>
          <p:cNvPr id="32" name="Text 27"/>
          <p:cNvSpPr/>
          <p:nvPr/>
        </p:nvSpPr>
        <p:spPr>
          <a:xfrm>
            <a:off x="10550073" y="3259836"/>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٦</a:t>
            </a:r>
            <a:endParaRPr lang="ar-SA" sz="1150" dirty="0"/>
          </a:p>
        </p:txBody>
      </p:sp>
      <p:sp>
        <p:nvSpPr>
          <p:cNvPr id="33" name="Text 28"/>
          <p:cNvSpPr/>
          <p:nvPr/>
        </p:nvSpPr>
        <p:spPr>
          <a:xfrm>
            <a:off x="9749699" y="3675888"/>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تحسين أداء المدارس وتعزيز شراكتها مع المجتمع</a:t>
            </a:r>
            <a:endParaRPr lang="ar-SA" sz="930" dirty="0"/>
          </a:p>
        </p:txBody>
      </p:sp>
      <p:sp>
        <p:nvSpPr>
          <p:cNvPr id="34" name="Shape 29"/>
          <p:cNvSpPr/>
          <p:nvPr/>
        </p:nvSpPr>
        <p:spPr>
          <a:xfrm>
            <a:off x="7353422" y="3127248"/>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35" name="Shape 30"/>
          <p:cNvSpPr/>
          <p:nvPr/>
        </p:nvSpPr>
        <p:spPr>
          <a:xfrm>
            <a:off x="8236092" y="3273552"/>
            <a:ext cx="347472" cy="347472"/>
          </a:xfrm>
          <a:prstGeom prst="roundRect">
            <a:avLst>
              <a:gd name="adj" fmla="val 22000"/>
            </a:avLst>
          </a:prstGeom>
          <a:solidFill>
            <a:srgbClr val="095242"/>
          </a:solidFill>
          <a:ln/>
        </p:spPr>
      </p:sp>
      <p:sp>
        <p:nvSpPr>
          <p:cNvPr id="36" name="Text 31"/>
          <p:cNvSpPr/>
          <p:nvPr/>
        </p:nvSpPr>
        <p:spPr>
          <a:xfrm>
            <a:off x="8236092" y="3259836"/>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٧</a:t>
            </a:r>
            <a:endParaRPr lang="ar-SA" sz="1150" dirty="0"/>
          </a:p>
        </p:txBody>
      </p:sp>
      <p:sp>
        <p:nvSpPr>
          <p:cNvPr id="37" name="Text 32"/>
          <p:cNvSpPr/>
          <p:nvPr/>
        </p:nvSpPr>
        <p:spPr>
          <a:xfrm>
            <a:off x="7435718" y="3675888"/>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رفع كفاءة الإنفاق وتعزيز الاستدامة المالية</a:t>
            </a:r>
            <a:endParaRPr lang="ar-SA" sz="930" dirty="0"/>
          </a:p>
        </p:txBody>
      </p:sp>
      <p:sp>
        <p:nvSpPr>
          <p:cNvPr id="38" name="Shape 33"/>
          <p:cNvSpPr/>
          <p:nvPr/>
        </p:nvSpPr>
        <p:spPr>
          <a:xfrm>
            <a:off x="5039441" y="3127248"/>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39" name="Shape 34"/>
          <p:cNvSpPr/>
          <p:nvPr/>
        </p:nvSpPr>
        <p:spPr>
          <a:xfrm>
            <a:off x="5922112" y="3273552"/>
            <a:ext cx="347472" cy="347472"/>
          </a:xfrm>
          <a:prstGeom prst="roundRect">
            <a:avLst>
              <a:gd name="adj" fmla="val 22000"/>
            </a:avLst>
          </a:prstGeom>
          <a:solidFill>
            <a:srgbClr val="095242"/>
          </a:solidFill>
          <a:ln/>
        </p:spPr>
      </p:sp>
      <p:sp>
        <p:nvSpPr>
          <p:cNvPr id="40" name="Text 35"/>
          <p:cNvSpPr/>
          <p:nvPr/>
        </p:nvSpPr>
        <p:spPr>
          <a:xfrm>
            <a:off x="5922112" y="3259836"/>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٨</a:t>
            </a:r>
            <a:endParaRPr lang="ar-SA" sz="1150" dirty="0"/>
          </a:p>
        </p:txBody>
      </p:sp>
      <p:sp>
        <p:nvSpPr>
          <p:cNvPr id="41" name="Text 36"/>
          <p:cNvSpPr/>
          <p:nvPr/>
        </p:nvSpPr>
        <p:spPr>
          <a:xfrm>
            <a:off x="5121737" y="3675888"/>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تطوير كفاءات الموارد البشرية وتعزيز الثقافة المؤسسية</a:t>
            </a:r>
            <a:endParaRPr lang="ar-SA" sz="930" dirty="0"/>
          </a:p>
        </p:txBody>
      </p:sp>
      <p:sp>
        <p:nvSpPr>
          <p:cNvPr id="42" name="Shape 37"/>
          <p:cNvSpPr/>
          <p:nvPr/>
        </p:nvSpPr>
        <p:spPr>
          <a:xfrm>
            <a:off x="2725461" y="3127248"/>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43" name="Shape 38"/>
          <p:cNvSpPr/>
          <p:nvPr/>
        </p:nvSpPr>
        <p:spPr>
          <a:xfrm>
            <a:off x="3608131" y="3273552"/>
            <a:ext cx="347472" cy="347472"/>
          </a:xfrm>
          <a:prstGeom prst="roundRect">
            <a:avLst>
              <a:gd name="adj" fmla="val 22000"/>
            </a:avLst>
          </a:prstGeom>
          <a:solidFill>
            <a:srgbClr val="095242"/>
          </a:solidFill>
          <a:ln/>
        </p:spPr>
      </p:sp>
      <p:sp>
        <p:nvSpPr>
          <p:cNvPr id="44" name="Text 39"/>
          <p:cNvSpPr/>
          <p:nvPr/>
        </p:nvSpPr>
        <p:spPr>
          <a:xfrm>
            <a:off x="3608131" y="3259836"/>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٩</a:t>
            </a:r>
            <a:endParaRPr lang="ar-SA" sz="1150" dirty="0"/>
          </a:p>
        </p:txBody>
      </p:sp>
      <p:sp>
        <p:nvSpPr>
          <p:cNvPr id="45" name="Text 40"/>
          <p:cNvSpPr/>
          <p:nvPr/>
        </p:nvSpPr>
        <p:spPr>
          <a:xfrm>
            <a:off x="2807757" y="3675888"/>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الارتقاء بمستوى التجربة الرقمية</a:t>
            </a:r>
            <a:endParaRPr lang="ar-SA" sz="930" dirty="0"/>
          </a:p>
        </p:txBody>
      </p:sp>
      <p:sp>
        <p:nvSpPr>
          <p:cNvPr id="46" name="Shape 41"/>
          <p:cNvSpPr/>
          <p:nvPr/>
        </p:nvSpPr>
        <p:spPr>
          <a:xfrm>
            <a:off x="411480" y="3127248"/>
            <a:ext cx="2112813" cy="1371600"/>
          </a:xfrm>
          <a:prstGeom prst="roundRect">
            <a:avLst>
              <a:gd name="adj" fmla="val 5000"/>
            </a:avLst>
          </a:prstGeom>
          <a:solidFill>
            <a:srgbClr val="FFFFFF"/>
          </a:solidFill>
          <a:ln w="9525">
            <a:solidFill>
              <a:srgbClr val="DCE8E2"/>
            </a:solidFill>
            <a:prstDash val="solid"/>
          </a:ln>
          <a:effectLst>
            <a:outerShdw sx="100000" sy="100000" kx="0" ky="0" algn="bl" rotWithShape="0" blurRad="63500" dist="12700" dir="5400000">
              <a:srgbClr val="0E3B30">
                <a:alpha val="6000"/>
              </a:srgbClr>
            </a:outerShdw>
          </a:effectLst>
        </p:spPr>
      </p:sp>
      <p:sp>
        <p:nvSpPr>
          <p:cNvPr id="47" name="Shape 42"/>
          <p:cNvSpPr/>
          <p:nvPr/>
        </p:nvSpPr>
        <p:spPr>
          <a:xfrm>
            <a:off x="1294150" y="3273552"/>
            <a:ext cx="347472" cy="347472"/>
          </a:xfrm>
          <a:prstGeom prst="roundRect">
            <a:avLst>
              <a:gd name="adj" fmla="val 22000"/>
            </a:avLst>
          </a:prstGeom>
          <a:solidFill>
            <a:srgbClr val="095242"/>
          </a:solidFill>
          <a:ln/>
        </p:spPr>
      </p:sp>
      <p:sp>
        <p:nvSpPr>
          <p:cNvPr id="48" name="Text 43"/>
          <p:cNvSpPr/>
          <p:nvPr/>
        </p:nvSpPr>
        <p:spPr>
          <a:xfrm>
            <a:off x="1294150" y="3259836"/>
            <a:ext cx="347472" cy="347472"/>
          </a:xfrm>
          <a:prstGeom prst="rect">
            <a:avLst/>
          </a:prstGeom>
          <a:noFill/>
          <a:ln/>
        </p:spPr>
        <p:txBody>
          <a:bodyPr wrap="square" lIns="0" tIns="0" rIns="0" bIns="0" rtlCol="0" anchor="ctr"/>
          <a:lstStyle/>
          <a:p>
            <a:pPr rtl="1" algn="ctr" indent="0" marL="0">
              <a:buNone/>
            </a:pPr>
            <a:r>
              <a:rPr lang="ar-SA" altLang="en-US" sz="1150" b="1" dirty="0">
                <a:solidFill>
                  <a:srgbClr val="FFFFFF"/>
                </a:solidFill>
                <a:latin typeface="Tajawal" pitchFamily="34" charset="0"/>
                <a:ea typeface="Tajawal" pitchFamily="34" charset="-122"/>
                <a:cs typeface="Tajawal" pitchFamily="34" charset="-120"/>
              </a:rPr>
              <a:t>١٠</a:t>
            </a:r>
            <a:endParaRPr lang="ar-SA" sz="1150" dirty="0"/>
          </a:p>
        </p:txBody>
      </p:sp>
      <p:sp>
        <p:nvSpPr>
          <p:cNvPr id="49" name="Text 44"/>
          <p:cNvSpPr/>
          <p:nvPr/>
        </p:nvSpPr>
        <p:spPr>
          <a:xfrm>
            <a:off x="493776" y="3675888"/>
            <a:ext cx="1948221" cy="749808"/>
          </a:xfrm>
          <a:prstGeom prst="rect">
            <a:avLst/>
          </a:prstGeom>
          <a:noFill/>
          <a:ln/>
        </p:spPr>
        <p:txBody>
          <a:bodyPr wrap="square" lIns="0" tIns="0" rIns="0" bIns="0" rtlCol="0" anchor="ctr"/>
          <a:lstStyle/>
          <a:p>
            <a:pPr rtl="1" algn="ctr" indent="0" marL="0">
              <a:lnSpc>
                <a:spcPct val="105000"/>
              </a:lnSpc>
              <a:buNone/>
            </a:pPr>
            <a:r>
              <a:rPr lang="ar-SA" altLang="en-US" sz="930" b="1" dirty="0">
                <a:solidFill>
                  <a:srgbClr val="063E33"/>
                </a:solidFill>
                <a:latin typeface="Tajawal" pitchFamily="34" charset="0"/>
                <a:ea typeface="Tajawal" pitchFamily="34" charset="-122"/>
                <a:cs typeface="Tajawal" pitchFamily="34" charset="-120"/>
              </a:rPr>
              <a:t>تعزيز الحوكمة والالتزام وإدارة المخاطر</a:t>
            </a:r>
            <a:endParaRPr lang="ar-SA" sz="930" dirty="0"/>
          </a:p>
        </p:txBody>
      </p:sp>
      <p:sp>
        <p:nvSpPr>
          <p:cNvPr id="50" name="Shape 45"/>
          <p:cNvSpPr/>
          <p:nvPr/>
        </p:nvSpPr>
        <p:spPr>
          <a:xfrm>
            <a:off x="411480" y="4773168"/>
            <a:ext cx="11368735" cy="1700784"/>
          </a:xfrm>
          <a:prstGeom prst="roundRect">
            <a:avLst>
              <a:gd name="adj" fmla="val 4032"/>
            </a:avLst>
          </a:prstGeom>
          <a:solidFill>
            <a:srgbClr val="095242"/>
          </a:solidFill>
          <a:ln/>
        </p:spPr>
      </p:sp>
      <p:pic>
        <p:nvPicPr>
          <p:cNvPr id="51" name="Image 3" descr="/tmp/claude-0/-home-user-Mobile1/ab9bbf47-b054-5f6e-be59-70476e095ce8/scratchpad/assets/dots_white.png">    </p:cNvPr>
          <p:cNvPicPr>
            <a:picLocks noChangeAspect="1"/>
          </p:cNvPicPr>
          <p:nvPr/>
        </p:nvPicPr>
        <p:blipFill>
          <a:blip r:embed="rId4">
            <a:alphaModFix amt="40000"/>
          </a:blip>
          <a:stretch>
            <a:fillRect/>
          </a:stretch>
        </p:blipFill>
        <p:spPr>
          <a:xfrm>
            <a:off x="502920" y="4882896"/>
            <a:ext cx="1508760" cy="1005840"/>
          </a:xfrm>
          <a:prstGeom prst="rect">
            <a:avLst/>
          </a:prstGeom>
        </p:spPr>
      </p:pic>
      <p:sp>
        <p:nvSpPr>
          <p:cNvPr id="52" name="Text 46"/>
          <p:cNvSpPr/>
          <p:nvPr/>
        </p:nvSpPr>
        <p:spPr>
          <a:xfrm>
            <a:off x="731520" y="4882896"/>
            <a:ext cx="10682935" cy="329184"/>
          </a:xfrm>
          <a:prstGeom prst="rect">
            <a:avLst/>
          </a:prstGeom>
          <a:noFill/>
          <a:ln/>
        </p:spPr>
        <p:txBody>
          <a:bodyPr wrap="square" lIns="0" tIns="0" rIns="0" bIns="0" rtlCol="0" anchor="t"/>
          <a:lstStyle/>
          <a:p>
            <a:pPr rtl="1" algn="r" indent="0" marL="0">
              <a:buNone/>
            </a:pPr>
            <a:r>
              <a:rPr lang="ar-SA" altLang="en-US" sz="1250" b="1" dirty="0">
                <a:solidFill>
                  <a:srgbClr val="FFFFFF"/>
                </a:solidFill>
                <a:latin typeface="Tajawal" pitchFamily="34" charset="0"/>
                <a:ea typeface="Tajawal" pitchFamily="34" charset="-122"/>
                <a:cs typeface="Tajawal" pitchFamily="34" charset="-120"/>
              </a:rPr>
              <a:t>مواءمة برامج الخطة مع أهداف الوزارة</a:t>
            </a:r>
            <a:endParaRPr lang="ar-SA" sz="1250" dirty="0"/>
          </a:p>
        </p:txBody>
      </p:sp>
      <p:sp>
        <p:nvSpPr>
          <p:cNvPr id="53" name="Text 47"/>
          <p:cNvSpPr/>
          <p:nvPr/>
        </p:nvSpPr>
        <p:spPr>
          <a:xfrm>
            <a:off x="4983480" y="5248656"/>
            <a:ext cx="6476695" cy="868680"/>
          </a:xfrm>
          <a:prstGeom prst="rect">
            <a:avLst/>
          </a:prstGeom>
          <a:noFill/>
          <a:ln/>
        </p:spPr>
        <p:txBody>
          <a:bodyPr wrap="square" lIns="0" tIns="0" rIns="0" bIns="0" rtlCol="0" anchor="t"/>
          <a:lstStyle/>
          <a:p>
            <a:pPr rtl="1" algn="r" indent="0" marL="0">
              <a:lnSpc>
                <a:spcPct val="118000"/>
              </a:lnSpc>
              <a:buNone/>
            </a:pPr>
            <a:r>
              <a:rPr lang="ar-SA" altLang="en-US" sz="920" dirty="0">
                <a:solidFill>
                  <a:srgbClr val="D3E5DE"/>
                </a:solidFill>
                <a:latin typeface="Tajawal" pitchFamily="34" charset="0"/>
                <a:ea typeface="Tajawal" pitchFamily="34" charset="-122"/>
                <a:cs typeface="Tajawal" pitchFamily="34" charset="-120"/>
              </a:rPr>
              <a:t>تُربط كلّ برامج الخطة التشغيلية بهدف استراتيجي واحد على الأقل من الأهداف العشرة، ولكلّ برنامج رقم مؤشر اعتماد مدرسي يرتبط به ضمانًا للمواءمة الرأسية بين المستوى الميداني والمستوى الاستراتيجي.</a:t>
            </a:r>
            <a:endParaRPr lang="ar-SA" sz="920" dirty="0"/>
          </a:p>
        </p:txBody>
      </p:sp>
      <p:sp>
        <p:nvSpPr>
          <p:cNvPr id="54" name="Shape 48"/>
          <p:cNvSpPr/>
          <p:nvPr/>
        </p:nvSpPr>
        <p:spPr>
          <a:xfrm>
            <a:off x="3438144" y="5248656"/>
            <a:ext cx="1207008" cy="603504"/>
          </a:xfrm>
          <a:prstGeom prst="roundRect">
            <a:avLst>
              <a:gd name="adj" fmla="val 12121"/>
            </a:avLst>
          </a:prstGeom>
          <a:solidFill>
            <a:srgbClr val="FFFFFF">
              <a:alpha val="12000"/>
            </a:srgbClr>
          </a:solidFill>
          <a:ln w="9525">
            <a:solidFill>
              <a:srgbClr val="FFFFFF">
                <a:alpha val="40000"/>
              </a:srgbClr>
            </a:solidFill>
            <a:prstDash val="solid"/>
          </a:ln>
        </p:spPr>
      </p:sp>
      <p:sp>
        <p:nvSpPr>
          <p:cNvPr id="55" name="Text 49"/>
          <p:cNvSpPr/>
          <p:nvPr/>
        </p:nvSpPr>
        <p:spPr>
          <a:xfrm>
            <a:off x="3438144" y="5294376"/>
            <a:ext cx="1207008" cy="274320"/>
          </a:xfrm>
          <a:prstGeom prst="rect">
            <a:avLst/>
          </a:prstGeom>
          <a:noFill/>
          <a:ln/>
        </p:spPr>
        <p:txBody>
          <a:bodyPr wrap="square" lIns="0" tIns="0" rIns="0" bIns="0" rtlCol="0" anchor="t"/>
          <a:lstStyle/>
          <a:p>
            <a:pPr rtl="1" algn="ctr" indent="0" marL="0">
              <a:buNone/>
            </a:pPr>
            <a:r>
              <a:rPr lang="ar-SA" altLang="en-US" sz="1300" dirty="0">
                <a:solidFill>
                  <a:srgbClr val="FFFFFF"/>
                </a:solidFill>
                <a:latin typeface="Tajawal ExtraBold" pitchFamily="34" charset="0"/>
                <a:ea typeface="Tajawal ExtraBold" pitchFamily="34" charset="-122"/>
                <a:cs typeface="Tajawal ExtraBold" pitchFamily="34" charset="-120"/>
              </a:rPr>
              <a:t>١٠</a:t>
            </a:r>
            <a:endParaRPr lang="ar-SA" sz="1300" dirty="0"/>
          </a:p>
        </p:txBody>
      </p:sp>
      <p:sp>
        <p:nvSpPr>
          <p:cNvPr id="56" name="Text 50"/>
          <p:cNvSpPr/>
          <p:nvPr/>
        </p:nvSpPr>
        <p:spPr>
          <a:xfrm>
            <a:off x="3438144" y="5577840"/>
            <a:ext cx="1207008"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Tajawal" pitchFamily="34" charset="0"/>
                <a:ea typeface="Tajawal" pitchFamily="34" charset="-122"/>
                <a:cs typeface="Tajawal" pitchFamily="34" charset="-120"/>
              </a:rPr>
              <a:t>أهداف استراتيجية</a:t>
            </a:r>
            <a:endParaRPr lang="ar-SA" sz="800" dirty="0"/>
          </a:p>
        </p:txBody>
      </p:sp>
      <p:sp>
        <p:nvSpPr>
          <p:cNvPr id="57" name="Shape 51"/>
          <p:cNvSpPr/>
          <p:nvPr/>
        </p:nvSpPr>
        <p:spPr>
          <a:xfrm>
            <a:off x="2084832" y="5248656"/>
            <a:ext cx="1207008" cy="603504"/>
          </a:xfrm>
          <a:prstGeom prst="roundRect">
            <a:avLst>
              <a:gd name="adj" fmla="val 12121"/>
            </a:avLst>
          </a:prstGeom>
          <a:solidFill>
            <a:srgbClr val="FFFFFF">
              <a:alpha val="12000"/>
            </a:srgbClr>
          </a:solidFill>
          <a:ln w="9525">
            <a:solidFill>
              <a:srgbClr val="FFFFFF">
                <a:alpha val="40000"/>
              </a:srgbClr>
            </a:solidFill>
            <a:prstDash val="solid"/>
          </a:ln>
        </p:spPr>
      </p:sp>
      <p:sp>
        <p:nvSpPr>
          <p:cNvPr id="58" name="Text 52"/>
          <p:cNvSpPr/>
          <p:nvPr/>
        </p:nvSpPr>
        <p:spPr>
          <a:xfrm>
            <a:off x="2084832" y="5294376"/>
            <a:ext cx="1207008" cy="274320"/>
          </a:xfrm>
          <a:prstGeom prst="rect">
            <a:avLst/>
          </a:prstGeom>
          <a:noFill/>
          <a:ln/>
        </p:spPr>
        <p:txBody>
          <a:bodyPr wrap="square" lIns="0" tIns="0" rIns="0" bIns="0" rtlCol="0" anchor="t"/>
          <a:lstStyle/>
          <a:p>
            <a:pPr rtl="1" algn="ctr" indent="0" marL="0">
              <a:buNone/>
            </a:pPr>
            <a:r>
              <a:rPr lang="ar-SA" altLang="en-US" sz="1300" dirty="0">
                <a:solidFill>
                  <a:srgbClr val="FFFFFF"/>
                </a:solidFill>
                <a:latin typeface="Tajawal ExtraBold" pitchFamily="34" charset="0"/>
                <a:ea typeface="Tajawal ExtraBold" pitchFamily="34" charset="-122"/>
                <a:cs typeface="Tajawal ExtraBold" pitchFamily="34" charset="-120"/>
              </a:rPr>
              <a:t>١١٢</a:t>
            </a:r>
            <a:endParaRPr lang="ar-SA" sz="1300" dirty="0"/>
          </a:p>
        </p:txBody>
      </p:sp>
      <p:sp>
        <p:nvSpPr>
          <p:cNvPr id="59" name="Text 53"/>
          <p:cNvSpPr/>
          <p:nvPr/>
        </p:nvSpPr>
        <p:spPr>
          <a:xfrm>
            <a:off x="2084832" y="5577840"/>
            <a:ext cx="1207008"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Tajawal" pitchFamily="34" charset="0"/>
                <a:ea typeface="Tajawal" pitchFamily="34" charset="-122"/>
                <a:cs typeface="Tajawal" pitchFamily="34" charset="-120"/>
              </a:rPr>
              <a:t>برنامجًا تشغيليًا</a:t>
            </a:r>
            <a:endParaRPr lang="ar-SA" sz="800" dirty="0"/>
          </a:p>
        </p:txBody>
      </p:sp>
      <p:sp>
        <p:nvSpPr>
          <p:cNvPr id="60" name="Shape 54"/>
          <p:cNvSpPr/>
          <p:nvPr/>
        </p:nvSpPr>
        <p:spPr>
          <a:xfrm>
            <a:off x="731520" y="5248656"/>
            <a:ext cx="1207008" cy="603504"/>
          </a:xfrm>
          <a:prstGeom prst="roundRect">
            <a:avLst>
              <a:gd name="adj" fmla="val 12121"/>
            </a:avLst>
          </a:prstGeom>
          <a:solidFill>
            <a:srgbClr val="FFFFFF">
              <a:alpha val="12000"/>
            </a:srgbClr>
          </a:solidFill>
          <a:ln w="9525">
            <a:solidFill>
              <a:srgbClr val="FFFFFF">
                <a:alpha val="40000"/>
              </a:srgbClr>
            </a:solidFill>
            <a:prstDash val="solid"/>
          </a:ln>
        </p:spPr>
      </p:sp>
      <p:sp>
        <p:nvSpPr>
          <p:cNvPr id="61" name="Text 55"/>
          <p:cNvSpPr/>
          <p:nvPr/>
        </p:nvSpPr>
        <p:spPr>
          <a:xfrm>
            <a:off x="731520" y="5294376"/>
            <a:ext cx="1207008" cy="274320"/>
          </a:xfrm>
          <a:prstGeom prst="rect">
            <a:avLst/>
          </a:prstGeom>
          <a:noFill/>
          <a:ln/>
        </p:spPr>
        <p:txBody>
          <a:bodyPr wrap="square" lIns="0" tIns="0" rIns="0" bIns="0" rtlCol="0" anchor="t"/>
          <a:lstStyle/>
          <a:p>
            <a:pPr rtl="1" algn="ctr" indent="0" marL="0">
              <a:buNone/>
            </a:pPr>
            <a:r>
              <a:rPr lang="ar-SA" altLang="en-US" sz="1300" dirty="0">
                <a:solidFill>
                  <a:srgbClr val="FFFFFF"/>
                </a:solidFill>
                <a:latin typeface="Tajawal ExtraBold" pitchFamily="34" charset="0"/>
                <a:ea typeface="Tajawal ExtraBold" pitchFamily="34" charset="-122"/>
                <a:cs typeface="Tajawal ExtraBold" pitchFamily="34" charset="-120"/>
              </a:rPr>
              <a:t>٦٢</a:t>
            </a:r>
            <a:endParaRPr lang="ar-SA" sz="1300" dirty="0"/>
          </a:p>
        </p:txBody>
      </p:sp>
      <p:sp>
        <p:nvSpPr>
          <p:cNvPr id="62" name="Text 56"/>
          <p:cNvSpPr/>
          <p:nvPr/>
        </p:nvSpPr>
        <p:spPr>
          <a:xfrm>
            <a:off x="731520" y="5577840"/>
            <a:ext cx="1207008" cy="237744"/>
          </a:xfrm>
          <a:prstGeom prst="rect">
            <a:avLst/>
          </a:prstGeom>
          <a:noFill/>
          <a:ln/>
        </p:spPr>
        <p:txBody>
          <a:bodyPr wrap="square" lIns="0" tIns="0" rIns="0" bIns="0" rtlCol="0" anchor="t"/>
          <a:lstStyle/>
          <a:p>
            <a:pPr rtl="1" algn="ctr" indent="0" marL="0">
              <a:buNone/>
            </a:pPr>
            <a:r>
              <a:rPr lang="ar-SA" altLang="en-US" sz="800" dirty="0">
                <a:solidFill>
                  <a:srgbClr val="CFE2DB"/>
                </a:solidFill>
                <a:latin typeface="Tajawal" pitchFamily="34" charset="0"/>
                <a:ea typeface="Tajawal" pitchFamily="34" charset="-122"/>
                <a:cs typeface="Tajawal" pitchFamily="34" charset="-120"/>
              </a:rPr>
              <a:t>مؤشر اعتماد</a:t>
            </a:r>
            <a:endParaRPr lang="ar-SA"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tmp/claude-0/-home-user-Mobile1/ab9bbf47-b054-5f6e-be59-70476e095ce8/scratchpad/assets/moe_green.png">    </p:cNvPr>
          <p:cNvPicPr>
            <a:picLocks noChangeAspect="1"/>
          </p:cNvPicPr>
          <p:nvPr/>
        </p:nvPicPr>
        <p:blipFill>
          <a:blip r:embed="rId2"/>
          <a:stretch>
            <a:fillRect/>
          </a:stretch>
        </p:blipFill>
        <p:spPr>
          <a:xfrm>
            <a:off x="411480" y="219456"/>
            <a:ext cx="786384" cy="608076"/>
          </a:xfrm>
          <a:prstGeom prst="rect">
            <a:avLst/>
          </a:prstGeom>
        </p:spPr>
      </p:pic>
      <p:sp>
        <p:nvSpPr>
          <p:cNvPr id="4" name="Shape 0"/>
          <p:cNvSpPr/>
          <p:nvPr/>
        </p:nvSpPr>
        <p:spPr>
          <a:xfrm>
            <a:off x="11268151" y="274320"/>
            <a:ext cx="512064" cy="512064"/>
          </a:xfrm>
          <a:prstGeom prst="roundRect">
            <a:avLst>
              <a:gd name="adj" fmla="val 21429"/>
            </a:avLst>
          </a:prstGeom>
          <a:solidFill>
            <a:srgbClr val="095242"/>
          </a:solidFill>
          <a:ln/>
        </p:spPr>
      </p:sp>
      <p:pic>
        <p:nvPicPr>
          <p:cNvPr id="5" name="Image 2" descr="/tmp/claude-0/-home-user-Mobile1/ab9bbf47-b054-5f6e-be59-70476e095ce8/scratchpad/assets/icons/pie_white.png">    </p:cNvPr>
          <p:cNvPicPr>
            <a:picLocks noChangeAspect="1"/>
          </p:cNvPicPr>
          <p:nvPr/>
        </p:nvPicPr>
        <p:blipFill>
          <a:blip r:embed="rId3"/>
          <a:stretch>
            <a:fillRect/>
          </a:stretch>
        </p:blipFill>
        <p:spPr>
          <a:xfrm>
            <a:off x="11387023" y="393192"/>
            <a:ext cx="274320" cy="274320"/>
          </a:xfrm>
          <a:prstGeom prst="rect">
            <a:avLst/>
          </a:prstGeom>
        </p:spPr>
      </p:pic>
      <p:sp>
        <p:nvSpPr>
          <p:cNvPr id="6" name="Text 1"/>
          <p:cNvSpPr/>
          <p:nvPr/>
        </p:nvSpPr>
        <p:spPr>
          <a:xfrm>
            <a:off x="2926080" y="274320"/>
            <a:ext cx="8177479" cy="512064"/>
          </a:xfrm>
          <a:prstGeom prst="rect">
            <a:avLst/>
          </a:prstGeom>
          <a:noFill/>
          <a:ln/>
        </p:spPr>
        <p:txBody>
          <a:bodyPr wrap="square" lIns="0" tIns="0" rIns="0" bIns="0" rtlCol="0" anchor="ctr"/>
          <a:lstStyle/>
          <a:p>
            <a:pPr rtl="1" algn="r" indent="0" marL="0">
              <a:buNone/>
            </a:pPr>
            <a:r>
              <a:rPr lang="ar-SA" altLang="en-US" sz="2000" b="1" dirty="0">
                <a:solidFill>
                  <a:srgbClr val="0F2A21"/>
                </a:solidFill>
                <a:latin typeface="Tajawal" pitchFamily="34" charset="0"/>
                <a:ea typeface="Tajawal" pitchFamily="34" charset="-122"/>
                <a:cs typeface="Tajawal" pitchFamily="34" charset="-120"/>
              </a:rPr>
              <a:t>التوزيع الكمي للأهداف</a:t>
            </a:r>
            <a:endParaRPr lang="ar-SA" sz="2000" dirty="0"/>
          </a:p>
        </p:txBody>
      </p:sp>
      <p:sp>
        <p:nvSpPr>
          <p:cNvPr id="7" name="Text 2"/>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8" name="Text 3"/>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١٤</a:t>
            </a:r>
            <a:endParaRPr lang="ar-SA" sz="850" dirty="0"/>
          </a:p>
        </p:txBody>
      </p:sp>
      <p:sp>
        <p:nvSpPr>
          <p:cNvPr id="9" name="Shape 4"/>
          <p:cNvSpPr/>
          <p:nvPr/>
        </p:nvSpPr>
        <p:spPr>
          <a:xfrm>
            <a:off x="9143771" y="1024128"/>
            <a:ext cx="2636444" cy="841248"/>
          </a:xfrm>
          <a:prstGeom prst="roundRect">
            <a:avLst>
              <a:gd name="adj" fmla="val 8152"/>
            </a:avLst>
          </a:prstGeom>
          <a:solidFill>
            <a:srgbClr val="095242"/>
          </a:solidFill>
          <a:ln/>
        </p:spPr>
      </p:sp>
      <p:sp>
        <p:nvSpPr>
          <p:cNvPr id="10" name="Text 5"/>
          <p:cNvSpPr/>
          <p:nvPr/>
        </p:nvSpPr>
        <p:spPr>
          <a:xfrm>
            <a:off x="9326651" y="1024128"/>
            <a:ext cx="1107306" cy="841248"/>
          </a:xfrm>
          <a:prstGeom prst="rect">
            <a:avLst/>
          </a:prstGeom>
          <a:noFill/>
          <a:ln/>
        </p:spPr>
        <p:txBody>
          <a:bodyPr wrap="square" lIns="0" tIns="0" rIns="0" bIns="0" rtlCol="0" anchor="ctr"/>
          <a:lstStyle/>
          <a:p>
            <a:pPr rtl="1" algn="ctr" indent="0" marL="0">
              <a:buNone/>
            </a:pPr>
            <a:r>
              <a:rPr lang="ar-SA" altLang="en-US" sz="2400" dirty="0">
                <a:solidFill>
                  <a:srgbClr val="FFFFFF"/>
                </a:solidFill>
                <a:latin typeface="Tajawal ExtraBold" pitchFamily="34" charset="0"/>
                <a:ea typeface="Tajawal ExtraBold" pitchFamily="34" charset="-122"/>
                <a:cs typeface="Tajawal ExtraBold" pitchFamily="34" charset="-120"/>
              </a:rPr>
              <a:t>١٠</a:t>
            </a:r>
            <a:endParaRPr lang="ar-SA" sz="2400" dirty="0"/>
          </a:p>
        </p:txBody>
      </p:sp>
      <p:sp>
        <p:nvSpPr>
          <p:cNvPr id="11" name="Text 6"/>
          <p:cNvSpPr/>
          <p:nvPr/>
        </p:nvSpPr>
        <p:spPr>
          <a:xfrm>
            <a:off x="10251078" y="1024128"/>
            <a:ext cx="1391977" cy="841248"/>
          </a:xfrm>
          <a:prstGeom prst="rect">
            <a:avLst/>
          </a:prstGeom>
          <a:noFill/>
          <a:ln/>
        </p:spPr>
        <p:txBody>
          <a:bodyPr wrap="square" lIns="0" tIns="0" rIns="0" bIns="0" rtlCol="0" anchor="ctr"/>
          <a:lstStyle/>
          <a:p>
            <a:pPr rtl="1" algn="r" indent="0" marL="0">
              <a:buNone/>
            </a:pPr>
            <a:r>
              <a:rPr lang="ar-SA" altLang="en-US" sz="1100" b="1" dirty="0">
                <a:solidFill>
                  <a:srgbClr val="CFE2DB"/>
                </a:solidFill>
                <a:latin typeface="Tajawal" pitchFamily="34" charset="0"/>
                <a:ea typeface="Tajawal" pitchFamily="34" charset="-122"/>
                <a:cs typeface="Tajawal" pitchFamily="34" charset="-120"/>
              </a:rPr>
              <a:t>إجمالي الأهداف</a:t>
            </a:r>
            <a:endParaRPr lang="ar-SA" sz="1100" dirty="0"/>
          </a:p>
        </p:txBody>
      </p:sp>
      <p:sp>
        <p:nvSpPr>
          <p:cNvPr id="12" name="Shape 7"/>
          <p:cNvSpPr/>
          <p:nvPr/>
        </p:nvSpPr>
        <p:spPr>
          <a:xfrm>
            <a:off x="6233008" y="1024128"/>
            <a:ext cx="2636444" cy="841248"/>
          </a:xfrm>
          <a:prstGeom prst="roundRect">
            <a:avLst>
              <a:gd name="adj" fmla="val 8152"/>
            </a:avLst>
          </a:prstGeom>
          <a:solidFill>
            <a:srgbClr val="FFFFFF"/>
          </a:solidFill>
          <a:ln w="12700">
            <a:solidFill>
              <a:srgbClr val="095242"/>
            </a:solidFill>
            <a:prstDash val="solid"/>
          </a:ln>
        </p:spPr>
      </p:sp>
      <p:sp>
        <p:nvSpPr>
          <p:cNvPr id="13" name="Text 8"/>
          <p:cNvSpPr/>
          <p:nvPr/>
        </p:nvSpPr>
        <p:spPr>
          <a:xfrm>
            <a:off x="6415888" y="1024128"/>
            <a:ext cx="1107306" cy="841248"/>
          </a:xfrm>
          <a:prstGeom prst="rect">
            <a:avLst/>
          </a:prstGeom>
          <a:noFill/>
          <a:ln/>
        </p:spPr>
        <p:txBody>
          <a:bodyPr wrap="square" lIns="0" tIns="0" rIns="0" bIns="0" rtlCol="0" anchor="ctr"/>
          <a:lstStyle/>
          <a:p>
            <a:pPr rtl="1" algn="ctr" indent="0" marL="0">
              <a:buNone/>
            </a:pPr>
            <a:r>
              <a:rPr lang="ar-SA" altLang="en-US" sz="2400" dirty="0">
                <a:solidFill>
                  <a:srgbClr val="095242"/>
                </a:solidFill>
                <a:latin typeface="Tajawal ExtraBold" pitchFamily="34" charset="0"/>
                <a:ea typeface="Tajawal ExtraBold" pitchFamily="34" charset="-122"/>
                <a:cs typeface="Tajawal ExtraBold" pitchFamily="34" charset="-120"/>
              </a:rPr>
              <a:t>٤</a:t>
            </a:r>
            <a:endParaRPr lang="ar-SA" sz="2400" dirty="0"/>
          </a:p>
        </p:txBody>
      </p:sp>
      <p:sp>
        <p:nvSpPr>
          <p:cNvPr id="14" name="Text 9"/>
          <p:cNvSpPr/>
          <p:nvPr/>
        </p:nvSpPr>
        <p:spPr>
          <a:xfrm>
            <a:off x="7340314" y="1024128"/>
            <a:ext cx="1391977" cy="841248"/>
          </a:xfrm>
          <a:prstGeom prst="rect">
            <a:avLst/>
          </a:prstGeom>
          <a:noFill/>
          <a:ln/>
        </p:spPr>
        <p:txBody>
          <a:bodyPr wrap="square" lIns="0" tIns="0" rIns="0" bIns="0" rtlCol="0" anchor="ctr"/>
          <a:lstStyle/>
          <a:p>
            <a:pPr rtl="1" algn="r" indent="0" marL="0">
              <a:buNone/>
            </a:pPr>
            <a:r>
              <a:rPr lang="ar-SA" altLang="en-US" sz="1100" b="1" dirty="0">
                <a:solidFill>
                  <a:srgbClr val="33473F"/>
                </a:solidFill>
                <a:latin typeface="Tajawal" pitchFamily="34" charset="0"/>
                <a:ea typeface="Tajawal" pitchFamily="34" charset="-122"/>
                <a:cs typeface="Tajawal" pitchFamily="34" charset="-120"/>
              </a:rPr>
              <a:t>إجمالي المجالات</a:t>
            </a:r>
            <a:endParaRPr lang="ar-SA" sz="1100" dirty="0"/>
          </a:p>
        </p:txBody>
      </p:sp>
      <p:sp>
        <p:nvSpPr>
          <p:cNvPr id="15" name="Shape 10"/>
          <p:cNvSpPr/>
          <p:nvPr/>
        </p:nvSpPr>
        <p:spPr>
          <a:xfrm>
            <a:off x="3322244" y="1024128"/>
            <a:ext cx="2636444" cy="841248"/>
          </a:xfrm>
          <a:prstGeom prst="roundRect">
            <a:avLst>
              <a:gd name="adj" fmla="val 8152"/>
            </a:avLst>
          </a:prstGeom>
          <a:solidFill>
            <a:srgbClr val="095242"/>
          </a:solidFill>
          <a:ln/>
        </p:spPr>
      </p:sp>
      <p:sp>
        <p:nvSpPr>
          <p:cNvPr id="16" name="Text 11"/>
          <p:cNvSpPr/>
          <p:nvPr/>
        </p:nvSpPr>
        <p:spPr>
          <a:xfrm>
            <a:off x="3505124" y="1024128"/>
            <a:ext cx="1107306" cy="841248"/>
          </a:xfrm>
          <a:prstGeom prst="rect">
            <a:avLst/>
          </a:prstGeom>
          <a:noFill/>
          <a:ln/>
        </p:spPr>
        <p:txBody>
          <a:bodyPr wrap="square" lIns="0" tIns="0" rIns="0" bIns="0" rtlCol="0" anchor="ctr"/>
          <a:lstStyle/>
          <a:p>
            <a:pPr rtl="1" algn="ctr" indent="0" marL="0">
              <a:buNone/>
            </a:pPr>
            <a:r>
              <a:rPr lang="ar-SA" altLang="en-US" sz="2400" dirty="0">
                <a:solidFill>
                  <a:srgbClr val="FFFFFF"/>
                </a:solidFill>
                <a:latin typeface="Tajawal ExtraBold" pitchFamily="34" charset="0"/>
                <a:ea typeface="Tajawal ExtraBold" pitchFamily="34" charset="-122"/>
                <a:cs typeface="Tajawal ExtraBold" pitchFamily="34" charset="-120"/>
              </a:rPr>
              <a:t>٦٢</a:t>
            </a:r>
            <a:endParaRPr lang="ar-SA" sz="2400" dirty="0"/>
          </a:p>
        </p:txBody>
      </p:sp>
      <p:sp>
        <p:nvSpPr>
          <p:cNvPr id="17" name="Text 12"/>
          <p:cNvSpPr/>
          <p:nvPr/>
        </p:nvSpPr>
        <p:spPr>
          <a:xfrm>
            <a:off x="4429550" y="1024128"/>
            <a:ext cx="1391977" cy="841248"/>
          </a:xfrm>
          <a:prstGeom prst="rect">
            <a:avLst/>
          </a:prstGeom>
          <a:noFill/>
          <a:ln/>
        </p:spPr>
        <p:txBody>
          <a:bodyPr wrap="square" lIns="0" tIns="0" rIns="0" bIns="0" rtlCol="0" anchor="ctr"/>
          <a:lstStyle/>
          <a:p>
            <a:pPr rtl="1" algn="r" indent="0" marL="0">
              <a:buNone/>
            </a:pPr>
            <a:r>
              <a:rPr lang="ar-SA" altLang="en-US" sz="1100" b="1" dirty="0">
                <a:solidFill>
                  <a:srgbClr val="CFE2DB"/>
                </a:solidFill>
                <a:latin typeface="Tajawal" pitchFamily="34" charset="0"/>
                <a:ea typeface="Tajawal" pitchFamily="34" charset="-122"/>
                <a:cs typeface="Tajawal" pitchFamily="34" charset="-120"/>
              </a:rPr>
              <a:t>إجمالي المؤشرات</a:t>
            </a:r>
            <a:endParaRPr lang="ar-SA" sz="1100" dirty="0"/>
          </a:p>
        </p:txBody>
      </p:sp>
      <p:sp>
        <p:nvSpPr>
          <p:cNvPr id="18" name="Shape 13"/>
          <p:cNvSpPr/>
          <p:nvPr/>
        </p:nvSpPr>
        <p:spPr>
          <a:xfrm>
            <a:off x="411480" y="1024128"/>
            <a:ext cx="2636444" cy="841248"/>
          </a:xfrm>
          <a:prstGeom prst="roundRect">
            <a:avLst>
              <a:gd name="adj" fmla="val 8152"/>
            </a:avLst>
          </a:prstGeom>
          <a:solidFill>
            <a:srgbClr val="FFFFFF"/>
          </a:solidFill>
          <a:ln w="12700">
            <a:solidFill>
              <a:srgbClr val="095242"/>
            </a:solidFill>
            <a:prstDash val="solid"/>
          </a:ln>
        </p:spPr>
      </p:sp>
      <p:sp>
        <p:nvSpPr>
          <p:cNvPr id="19" name="Text 14"/>
          <p:cNvSpPr/>
          <p:nvPr/>
        </p:nvSpPr>
        <p:spPr>
          <a:xfrm>
            <a:off x="594360" y="1024128"/>
            <a:ext cx="1107306" cy="841248"/>
          </a:xfrm>
          <a:prstGeom prst="rect">
            <a:avLst/>
          </a:prstGeom>
          <a:noFill/>
          <a:ln/>
        </p:spPr>
        <p:txBody>
          <a:bodyPr wrap="square" lIns="0" tIns="0" rIns="0" bIns="0" rtlCol="0" anchor="ctr"/>
          <a:lstStyle/>
          <a:p>
            <a:pPr rtl="1" algn="ctr" indent="0" marL="0">
              <a:buNone/>
            </a:pPr>
            <a:r>
              <a:rPr lang="ar-SA" altLang="en-US" sz="2400" dirty="0">
                <a:solidFill>
                  <a:srgbClr val="095242"/>
                </a:solidFill>
                <a:latin typeface="Tajawal ExtraBold" pitchFamily="34" charset="0"/>
                <a:ea typeface="Tajawal ExtraBold" pitchFamily="34" charset="-122"/>
                <a:cs typeface="Tajawal ExtraBold" pitchFamily="34" charset="-120"/>
              </a:rPr>
              <a:t>١١٢</a:t>
            </a:r>
            <a:endParaRPr lang="ar-SA" sz="2400" dirty="0"/>
          </a:p>
        </p:txBody>
      </p:sp>
      <p:sp>
        <p:nvSpPr>
          <p:cNvPr id="20" name="Text 15"/>
          <p:cNvSpPr/>
          <p:nvPr/>
        </p:nvSpPr>
        <p:spPr>
          <a:xfrm>
            <a:off x="1518786" y="1024128"/>
            <a:ext cx="1391977" cy="841248"/>
          </a:xfrm>
          <a:prstGeom prst="rect">
            <a:avLst/>
          </a:prstGeom>
          <a:noFill/>
          <a:ln/>
        </p:spPr>
        <p:txBody>
          <a:bodyPr wrap="square" lIns="0" tIns="0" rIns="0" bIns="0" rtlCol="0" anchor="ctr"/>
          <a:lstStyle/>
          <a:p>
            <a:pPr rtl="1" algn="r" indent="0" marL="0">
              <a:buNone/>
            </a:pPr>
            <a:r>
              <a:rPr lang="ar-SA" altLang="en-US" sz="1100" b="1" dirty="0">
                <a:solidFill>
                  <a:srgbClr val="33473F"/>
                </a:solidFill>
                <a:latin typeface="Tajawal" pitchFamily="34" charset="0"/>
                <a:ea typeface="Tajawal" pitchFamily="34" charset="-122"/>
                <a:cs typeface="Tajawal" pitchFamily="34" charset="-120"/>
              </a:rPr>
              <a:t>إجمالي البرامج</a:t>
            </a:r>
            <a:endParaRPr lang="ar-SA"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821631" y="2084832"/>
          <a:ext cx="6958584" cy="914400"/>
        </p:xfrm>
        <a:graphic>
          <a:graphicData uri="http://schemas.openxmlformats.org/drawingml/2006/table">
            <a:tbl>
              <a:tblPr/>
              <a:tblGrid>
                <a:gridCol w="914400"/>
                <a:gridCol w="868680"/>
                <a:gridCol w="868680"/>
                <a:gridCol w="1325880"/>
                <a:gridCol w="2651760"/>
                <a:gridCol w="329184"/>
              </a:tblGrid>
              <a:tr h="310896">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النسبة المئوية</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البرامج</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المؤشرات</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المجال</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الهدف الاستراتيجي</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40" b="1" dirty="0">
                          <a:solidFill>
                            <a:srgbClr val="FFFFFF"/>
                          </a:solidFill>
                          <a:latin typeface="Tajawal" pitchFamily="34" charset="0"/>
                          <a:ea typeface="Tajawal" pitchFamily="34" charset="-122"/>
                          <a:cs typeface="Tajawal" pitchFamily="34" charset="-120"/>
                        </a:rPr>
                        <a:t>م</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٩٫٦٪</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١١</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٨</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التعليم والتعلّم</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ضمان وصول التعليم للجميع</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١</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١٠٫٥٪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١٢</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البيئة المدرسية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تطوير بيئة مدرسية آمنة وابتكارية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٢</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١٠٫٥٪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١٢</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القيم والمواطنة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تعزيز القيم والهوية الوطنية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٣</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٨٫٨٪</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الخدمات المساندة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تحسين تجربة المستفيدين</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٤</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١٠٫٥٪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١٢</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التعليم والتعلّم</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الاستثمار في الطلاب والمدارس الأولى بالرعاية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٩٫٦٪</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١١</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الشراكة المجتمعية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تحسين أداء المدارس وتعزيز شراكتها مع المجتمع</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٧٫٩٪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٣</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الموارد والاستدامة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رفع كفاءة الإنفاق وتعزيز الاستدامة المالية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٧</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٨٫٨٪</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الموارد البشرية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تطوير كفاءات الموارد البشرية وتعزيز الثقافة المؤسسية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٨</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٨٫٨٪</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٦</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التحوّل الرقمي</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الارتقاء بمستوى التجربة الرقمية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9184">
                <a:tc>
                  <a:txBody>
                    <a:bodyPr/>
                    <a:lstStyle/>
                    <a:p>
                      <a:pPr rtl="1" algn="ctr" indent="0" marL="0">
                        <a:buNone/>
                      </a:pPr>
                      <a:r>
                        <a:rPr lang="ar-SA" altLang="en-US" sz="820" b="1" dirty="0">
                          <a:solidFill>
                            <a:srgbClr val="095242"/>
                          </a:solidFill>
                          <a:latin typeface="Tajawal" pitchFamily="34" charset="0"/>
                          <a:ea typeface="Tajawal" pitchFamily="34" charset="-122"/>
                          <a:cs typeface="Tajawal" pitchFamily="34" charset="-120"/>
                        </a:rPr>
                        <a:t>١٣٫٢٪</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١٥</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٨</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dirty="0">
                          <a:solidFill>
                            <a:srgbClr val="33473F"/>
                          </a:solidFill>
                          <a:latin typeface="Tajawal" pitchFamily="34" charset="0"/>
                          <a:ea typeface="Tajawal" pitchFamily="34" charset="-122"/>
                          <a:cs typeface="Tajawal" pitchFamily="34" charset="-120"/>
                        </a:rPr>
                        <a:t>الحوكمة والتقويم</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820" dirty="0">
                          <a:solidFill>
                            <a:srgbClr val="063E33"/>
                          </a:solidFill>
                          <a:latin typeface="Tajawal" pitchFamily="34" charset="0"/>
                          <a:ea typeface="Tajawal" pitchFamily="34" charset="-122"/>
                          <a:cs typeface="Tajawal" pitchFamily="34" charset="-120"/>
                        </a:rPr>
                        <a:t>تعزيز الحوكمة والالتزام وإدارة المخاطر</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820" b="1" dirty="0">
                          <a:solidFill>
                            <a:srgbClr val="33473F"/>
                          </a:solidFill>
                          <a:latin typeface="Tajawal" pitchFamily="34" charset="0"/>
                          <a:ea typeface="Tajawal" pitchFamily="34" charset="-122"/>
                          <a:cs typeface="Tajawal" pitchFamily="34" charset="-120"/>
                        </a:rPr>
                        <a:t>١٠</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10896">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١٠٠٪</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١١٢</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٦٢</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3">
                  <a:txBody>
                    <a:bodyPr/>
                    <a:lstStyle/>
                    <a:p>
                      <a:pPr rtl="1" algn="ctr" indent="0" marL="0">
                        <a:buNone/>
                      </a:pPr>
                      <a:r>
                        <a:rPr lang="ar-SA" altLang="en-US" sz="860" b="1" dirty="0">
                          <a:solidFill>
                            <a:srgbClr val="FFFFFF"/>
                          </a:solidFill>
                          <a:latin typeface="Tajawal" pitchFamily="34" charset="0"/>
                          <a:ea typeface="Tajawal" pitchFamily="34" charset="-122"/>
                          <a:cs typeface="Tajawal" pitchFamily="34" charset="-120"/>
                        </a:rPr>
                        <a:t>الإجمالي الكلي</a:t>
                      </a:r>
                      <a:endParaRPr lang="ar-SA" sz="8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hMerge="1">
                  <a:tcPr/>
                </a:tc>
                <a:tc hMerge="1">
                  <a:tcPr/>
                </a:tc>
              </a:tr>
            </a:tbl>
          </a:graphicData>
        </a:graphic>
      </p:graphicFrame>
      <p:sp>
        <p:nvSpPr>
          <p:cNvPr id="22" name="Shape 16"/>
          <p:cNvSpPr/>
          <p:nvPr/>
        </p:nvSpPr>
        <p:spPr>
          <a:xfrm>
            <a:off x="4384548" y="2093976"/>
            <a:ext cx="50292" cy="201168"/>
          </a:xfrm>
          <a:prstGeom prst="rect">
            <a:avLst/>
          </a:prstGeom>
          <a:solidFill>
            <a:srgbClr val="0089A1"/>
          </a:solidFill>
          <a:ln/>
        </p:spPr>
      </p:sp>
      <p:sp>
        <p:nvSpPr>
          <p:cNvPr id="23" name="Text 17"/>
          <p:cNvSpPr/>
          <p:nvPr/>
        </p:nvSpPr>
        <p:spPr>
          <a:xfrm>
            <a:off x="2240280" y="2048256"/>
            <a:ext cx="206654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التوزيع البصري للبرامج</a:t>
            </a:r>
            <a:endParaRPr lang="ar-SA" sz="1250" dirty="0"/>
          </a:p>
        </p:txBody>
      </p:sp>
      <p:graphicFrame>
        <p:nvGraphicFramePr>
          <p:cNvPr id="24" name="Chart 0" descr=""/>
          <p:cNvGraphicFramePr/>
          <p:nvPr/>
        </p:nvGraphicFramePr>
        <p:xfrm>
          <a:off x="411480" y="2395728"/>
          <a:ext cx="4023360" cy="2286000"/>
        </p:xfrm>
        <a:graphic xmlns:a="http://schemas.openxmlformats.org/drawingml/2006/main">
          <a:graphicData uri="http://schemas.openxmlformats.org/drawingml/2006/chart">
            <c:chart xmlns:c="http://schemas.openxmlformats.org/drawingml/2006/chart" r:id="rId4"/>
          </a:graphicData>
        </a:graphic>
      </p:graphicFrame>
      <p:sp>
        <p:nvSpPr>
          <p:cNvPr id="25" name="Shape 18"/>
          <p:cNvSpPr/>
          <p:nvPr/>
        </p:nvSpPr>
        <p:spPr>
          <a:xfrm>
            <a:off x="411480" y="4892040"/>
            <a:ext cx="4023360" cy="1463040"/>
          </a:xfrm>
          <a:prstGeom prst="roundRect">
            <a:avLst>
              <a:gd name="adj" fmla="val 4688"/>
            </a:avLst>
          </a:prstGeom>
          <a:solidFill>
            <a:srgbClr val="095242"/>
          </a:solidFill>
          <a:ln/>
        </p:spPr>
      </p:sp>
      <p:pic>
        <p:nvPicPr>
          <p:cNvPr id="26" name="Image 3" descr="/tmp/claude-0/-home-user-Mobile1/ab9bbf47-b054-5f6e-be59-70476e095ce8/scratchpad/assets/icons/trending_white.png">    </p:cNvPr>
          <p:cNvPicPr>
            <a:picLocks noChangeAspect="1"/>
          </p:cNvPicPr>
          <p:nvPr/>
        </p:nvPicPr>
        <p:blipFill>
          <a:blip r:embed="rId5"/>
          <a:stretch>
            <a:fillRect/>
          </a:stretch>
        </p:blipFill>
        <p:spPr>
          <a:xfrm>
            <a:off x="3931920" y="5056632"/>
            <a:ext cx="256032" cy="256032"/>
          </a:xfrm>
          <a:prstGeom prst="rect">
            <a:avLst/>
          </a:prstGeom>
        </p:spPr>
      </p:pic>
      <p:sp>
        <p:nvSpPr>
          <p:cNvPr id="27" name="Text 19"/>
          <p:cNvSpPr/>
          <p:nvPr/>
        </p:nvSpPr>
        <p:spPr>
          <a:xfrm>
            <a:off x="640080" y="5010912"/>
            <a:ext cx="3200400" cy="310896"/>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قراءة في التوزيع</a:t>
            </a:r>
            <a:endParaRPr lang="ar-SA" sz="1150" dirty="0"/>
          </a:p>
        </p:txBody>
      </p:sp>
      <p:sp>
        <p:nvSpPr>
          <p:cNvPr id="28" name="Text 20"/>
          <p:cNvSpPr/>
          <p:nvPr/>
        </p:nvSpPr>
        <p:spPr>
          <a:xfrm>
            <a:off x="640080" y="5358384"/>
            <a:ext cx="3520440" cy="914400"/>
          </a:xfrm>
          <a:prstGeom prst="rect">
            <a:avLst/>
          </a:prstGeom>
          <a:noFill/>
          <a:ln/>
        </p:spPr>
        <p:txBody>
          <a:bodyPr wrap="square" lIns="0" tIns="0" rIns="0" bIns="0" rtlCol="0" anchor="t"/>
          <a:lstStyle/>
          <a:p>
            <a:pPr rtl="1" algn="r" indent="0" marL="0">
              <a:lnSpc>
                <a:spcPct val="120000"/>
              </a:lnSpc>
              <a:buNone/>
            </a:pPr>
            <a:r>
              <a:rPr lang="ar-SA" altLang="en-US" sz="900" dirty="0">
                <a:solidFill>
                  <a:srgbClr val="D3E5DE"/>
                </a:solidFill>
                <a:latin typeface="Tajawal" pitchFamily="34" charset="0"/>
                <a:ea typeface="Tajawal" pitchFamily="34" charset="-122"/>
                <a:cs typeface="Tajawal" pitchFamily="34" charset="-120"/>
              </a:rPr>
              <a:t>يتصدّر الهدف العاشر (الحوكمة) بـ ١٥ برنامجًا (١٣٫٢٪)، يليه الثاني والثالث والخامس بـ ١٢ برنامجًا، وأقلّها الهدف السابع بـ ٩ برامج لتركّزه على الحوكمة المالية.</a:t>
            </a:r>
            <a:endParaRPr lang="ar-SA"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١٥</a:t>
            </a:r>
            <a:endParaRPr lang="ar-SA" sz="850" dirty="0"/>
          </a:p>
        </p:txBody>
      </p:sp>
      <p:pic>
        <p:nvPicPr>
          <p:cNvPr id="5" name="Image 1" descr="/tmp/claude-0/-home-user-Mobile1/ab9bbf47-b054-5f6e-be59-70476e095ce8/scratchpad/assets/band_goal.png">    </p:cNvPr>
          <p:cNvPicPr>
            <a:picLocks noChangeAspect="1"/>
          </p:cNvPicPr>
          <p:nvPr/>
        </p:nvPicPr>
        <p:blipFill>
          <a:blip r:embed="rId2"/>
          <a:stretch>
            <a:fillRect/>
          </a:stretch>
        </p:blipFill>
        <p:spPr>
          <a:xfrm>
            <a:off x="411480" y="292608"/>
            <a:ext cx="11368735" cy="1344168"/>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795528" y="502920"/>
            <a:ext cx="1170432" cy="905256"/>
          </a:xfrm>
          <a:prstGeom prst="rect">
            <a:avLst/>
          </a:prstGeom>
        </p:spPr>
      </p:pic>
      <p:sp>
        <p:nvSpPr>
          <p:cNvPr id="7" name="Text 2"/>
          <p:cNvSpPr/>
          <p:nvPr/>
        </p:nvSpPr>
        <p:spPr>
          <a:xfrm>
            <a:off x="2377440" y="475488"/>
            <a:ext cx="9128455" cy="329184"/>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١</a:t>
            </a:r>
            <a:endParaRPr lang="ar-SA" sz="1200" dirty="0"/>
          </a:p>
        </p:txBody>
      </p:sp>
      <p:sp>
        <p:nvSpPr>
          <p:cNvPr id="8" name="Text 3"/>
          <p:cNvSpPr/>
          <p:nvPr/>
        </p:nvSpPr>
        <p:spPr>
          <a:xfrm>
            <a:off x="2377440" y="822960"/>
            <a:ext cx="9128455" cy="603504"/>
          </a:xfrm>
          <a:prstGeom prst="rect">
            <a:avLst/>
          </a:prstGeom>
          <a:noFill/>
          <a:ln/>
        </p:spPr>
        <p:txBody>
          <a:bodyPr wrap="square" lIns="0" tIns="0" rIns="0" bIns="0" rtlCol="0" anchor="ctr"/>
          <a:lstStyle/>
          <a:p>
            <a:pPr rtl="1" algn="r" indent="0" marL="0">
              <a:buNone/>
            </a:pPr>
            <a:r>
              <a:rPr lang="ar-SA" altLang="en-US" sz="2300" b="1" dirty="0">
                <a:solidFill>
                  <a:srgbClr val="FFFFFF"/>
                </a:solidFill>
                <a:latin typeface="Tajawal" pitchFamily="34" charset="0"/>
                <a:ea typeface="Tajawal" pitchFamily="34" charset="-122"/>
                <a:cs typeface="Tajawal" pitchFamily="34" charset="-120"/>
              </a:rPr>
              <a:t>ضمان وصول التعليم للجميع</a:t>
            </a:r>
            <a:endParaRPr lang="ar-SA" sz="2300" dirty="0"/>
          </a:p>
        </p:txBody>
      </p:sp>
      <p:sp>
        <p:nvSpPr>
          <p:cNvPr id="9" name="Shape 4"/>
          <p:cNvSpPr/>
          <p:nvPr/>
        </p:nvSpPr>
        <p:spPr>
          <a:xfrm>
            <a:off x="8173517" y="1828800"/>
            <a:ext cx="3606698" cy="914400"/>
          </a:xfrm>
          <a:prstGeom prst="roundRect">
            <a:avLst>
              <a:gd name="adj" fmla="val 7500"/>
            </a:avLst>
          </a:prstGeom>
          <a:solidFill>
            <a:srgbClr val="FFFFFF"/>
          </a:solidFill>
          <a:ln w="12700">
            <a:solidFill>
              <a:srgbClr val="095242"/>
            </a:solidFill>
            <a:prstDash val="solid"/>
          </a:ln>
        </p:spPr>
      </p:sp>
      <p:sp>
        <p:nvSpPr>
          <p:cNvPr id="10" name="Text 5"/>
          <p:cNvSpPr/>
          <p:nvPr/>
        </p:nvSpPr>
        <p:spPr>
          <a:xfrm>
            <a:off x="8310677"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١١</a:t>
            </a:r>
            <a:endParaRPr lang="ar-SA" sz="2600" dirty="0"/>
          </a:p>
        </p:txBody>
      </p:sp>
      <p:sp>
        <p:nvSpPr>
          <p:cNvPr id="11" name="Text 6"/>
          <p:cNvSpPr/>
          <p:nvPr/>
        </p:nvSpPr>
        <p:spPr>
          <a:xfrm>
            <a:off x="9545117"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عدد البرامج التشغيلية</a:t>
            </a:r>
            <a:endParaRPr lang="ar-SA" sz="1150" dirty="0"/>
          </a:p>
        </p:txBody>
      </p:sp>
      <p:sp>
        <p:nvSpPr>
          <p:cNvPr id="12" name="Shape 7"/>
          <p:cNvSpPr/>
          <p:nvPr/>
        </p:nvSpPr>
        <p:spPr>
          <a:xfrm>
            <a:off x="4292498" y="1828800"/>
            <a:ext cx="3606698" cy="914400"/>
          </a:xfrm>
          <a:prstGeom prst="roundRect">
            <a:avLst>
              <a:gd name="adj" fmla="val 7500"/>
            </a:avLst>
          </a:prstGeom>
          <a:solidFill>
            <a:srgbClr val="095242"/>
          </a:solidFill>
          <a:ln/>
          <a:effectLst>
            <a:outerShdw sx="100000" sy="100000" kx="0" ky="0" algn="bl" rotWithShape="0" blurRad="88900" dist="25400" dir="5400000">
              <a:srgbClr val="083528">
                <a:alpha val="22000"/>
              </a:srgbClr>
            </a:outerShdw>
          </a:effectLst>
        </p:spPr>
      </p:sp>
      <p:sp>
        <p:nvSpPr>
          <p:cNvPr id="13" name="Text 8"/>
          <p:cNvSpPr/>
          <p:nvPr/>
        </p:nvSpPr>
        <p:spPr>
          <a:xfrm>
            <a:off x="4429658"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FFFFFF"/>
                </a:solidFill>
                <a:latin typeface="Tajawal ExtraBold" pitchFamily="34" charset="0"/>
                <a:ea typeface="Tajawal ExtraBold" pitchFamily="34" charset="-122"/>
                <a:cs typeface="Tajawal ExtraBold" pitchFamily="34" charset="-120"/>
              </a:rPr>
              <a:t>٨</a:t>
            </a:r>
            <a:endParaRPr lang="ar-SA" sz="2600" dirty="0"/>
          </a:p>
        </p:txBody>
      </p:sp>
      <p:sp>
        <p:nvSpPr>
          <p:cNvPr id="14" name="Text 9"/>
          <p:cNvSpPr/>
          <p:nvPr/>
        </p:nvSpPr>
        <p:spPr>
          <a:xfrm>
            <a:off x="5664098"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CFE2DB"/>
                </a:solidFill>
                <a:latin typeface="Tajawal" pitchFamily="34" charset="0"/>
                <a:ea typeface="Tajawal" pitchFamily="34" charset="-122"/>
                <a:cs typeface="Tajawal" pitchFamily="34" charset="-120"/>
              </a:rPr>
              <a:t>عدد مؤشرات الاعتماد المرتبطة</a:t>
            </a:r>
            <a:endParaRPr lang="ar-SA" sz="1150" dirty="0"/>
          </a:p>
        </p:txBody>
      </p:sp>
      <p:sp>
        <p:nvSpPr>
          <p:cNvPr id="15" name="Shape 10"/>
          <p:cNvSpPr/>
          <p:nvPr/>
        </p:nvSpPr>
        <p:spPr>
          <a:xfrm>
            <a:off x="411480" y="1828800"/>
            <a:ext cx="3606698" cy="914400"/>
          </a:xfrm>
          <a:prstGeom prst="roundRect">
            <a:avLst>
              <a:gd name="adj" fmla="val 7500"/>
            </a:avLst>
          </a:prstGeom>
          <a:solidFill>
            <a:srgbClr val="FFFFFF"/>
          </a:solidFill>
          <a:ln w="12700">
            <a:solidFill>
              <a:srgbClr val="095242"/>
            </a:solidFill>
            <a:prstDash val="solid"/>
          </a:ln>
        </p:spPr>
      </p:sp>
      <p:sp>
        <p:nvSpPr>
          <p:cNvPr id="16" name="Text 11"/>
          <p:cNvSpPr/>
          <p:nvPr/>
        </p:nvSpPr>
        <p:spPr>
          <a:xfrm>
            <a:off x="548640"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٨٠٪</a:t>
            </a:r>
            <a:endParaRPr lang="ar-SA" sz="2600" dirty="0"/>
          </a:p>
        </p:txBody>
      </p:sp>
      <p:sp>
        <p:nvSpPr>
          <p:cNvPr id="17" name="Text 12"/>
          <p:cNvSpPr/>
          <p:nvPr/>
        </p:nvSpPr>
        <p:spPr>
          <a:xfrm>
            <a:off x="1783080"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نسبة التحقّق المستهدفة</a:t>
            </a:r>
            <a:endParaRPr lang="ar-SA" sz="1150" dirty="0"/>
          </a:p>
        </p:txBody>
      </p:sp>
      <p:sp>
        <p:nvSpPr>
          <p:cNvPr id="18" name="Shape 13"/>
          <p:cNvSpPr/>
          <p:nvPr/>
        </p:nvSpPr>
        <p:spPr>
          <a:xfrm>
            <a:off x="11729923" y="3044952"/>
            <a:ext cx="50292" cy="201168"/>
          </a:xfrm>
          <a:prstGeom prst="rect">
            <a:avLst/>
          </a:prstGeom>
          <a:solidFill>
            <a:srgbClr val="0089A1"/>
          </a:solidFill>
          <a:ln/>
        </p:spPr>
      </p:sp>
      <p:sp>
        <p:nvSpPr>
          <p:cNvPr id="19" name="Text 14"/>
          <p:cNvSpPr/>
          <p:nvPr/>
        </p:nvSpPr>
        <p:spPr>
          <a:xfrm>
            <a:off x="8488375" y="2999232"/>
            <a:ext cx="316382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0" name="Shape 15"/>
          <p:cNvSpPr/>
          <p:nvPr/>
        </p:nvSpPr>
        <p:spPr>
          <a:xfrm>
            <a:off x="9075191" y="3383280"/>
            <a:ext cx="2705024" cy="438912"/>
          </a:xfrm>
          <a:prstGeom prst="roundRect">
            <a:avLst>
              <a:gd name="adj" fmla="val 18750"/>
            </a:avLst>
          </a:prstGeom>
          <a:solidFill>
            <a:srgbClr val="F1F7F4"/>
          </a:solidFill>
          <a:ln w="9525">
            <a:solidFill>
              <a:srgbClr val="DCE8E2"/>
            </a:solidFill>
            <a:prstDash val="solid"/>
          </a:ln>
        </p:spPr>
      </p:sp>
      <p:sp>
        <p:nvSpPr>
          <p:cNvPr id="21" name="Shape 16"/>
          <p:cNvSpPr/>
          <p:nvPr/>
        </p:nvSpPr>
        <p:spPr>
          <a:xfrm>
            <a:off x="11505895" y="3557016"/>
            <a:ext cx="100584" cy="100584"/>
          </a:xfrm>
          <a:prstGeom prst="roundRect">
            <a:avLst>
              <a:gd name="adj" fmla="val 18182"/>
            </a:avLst>
          </a:prstGeom>
          <a:solidFill>
            <a:srgbClr val="0089A1"/>
          </a:solidFill>
          <a:ln/>
        </p:spPr>
      </p:sp>
      <p:sp>
        <p:nvSpPr>
          <p:cNvPr id="22" name="Text 17"/>
          <p:cNvSpPr/>
          <p:nvPr/>
        </p:nvSpPr>
        <p:spPr>
          <a:xfrm>
            <a:off x="9203207"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تكافؤ الفرص التعليمية</a:t>
            </a:r>
            <a:endParaRPr lang="ar-SA" sz="1000" dirty="0"/>
          </a:p>
        </p:txBody>
      </p:sp>
      <p:sp>
        <p:nvSpPr>
          <p:cNvPr id="23" name="Shape 18"/>
          <p:cNvSpPr/>
          <p:nvPr/>
        </p:nvSpPr>
        <p:spPr>
          <a:xfrm>
            <a:off x="6187288" y="3383280"/>
            <a:ext cx="2705024" cy="438912"/>
          </a:xfrm>
          <a:prstGeom prst="roundRect">
            <a:avLst>
              <a:gd name="adj" fmla="val 18750"/>
            </a:avLst>
          </a:prstGeom>
          <a:solidFill>
            <a:srgbClr val="F1F7F4"/>
          </a:solidFill>
          <a:ln w="9525">
            <a:solidFill>
              <a:srgbClr val="DCE8E2"/>
            </a:solidFill>
            <a:prstDash val="solid"/>
          </a:ln>
        </p:spPr>
      </p:sp>
      <p:sp>
        <p:nvSpPr>
          <p:cNvPr id="24" name="Shape 19"/>
          <p:cNvSpPr/>
          <p:nvPr/>
        </p:nvSpPr>
        <p:spPr>
          <a:xfrm>
            <a:off x="8617991" y="3557016"/>
            <a:ext cx="100584" cy="100584"/>
          </a:xfrm>
          <a:prstGeom prst="roundRect">
            <a:avLst>
              <a:gd name="adj" fmla="val 18182"/>
            </a:avLst>
          </a:prstGeom>
          <a:solidFill>
            <a:srgbClr val="0089A1"/>
          </a:solidFill>
          <a:ln/>
        </p:spPr>
      </p:sp>
      <p:sp>
        <p:nvSpPr>
          <p:cNvPr id="25" name="Text 20"/>
          <p:cNvSpPr/>
          <p:nvPr/>
        </p:nvSpPr>
        <p:spPr>
          <a:xfrm>
            <a:off x="6315304"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دمج ذوي الإعاقة</a:t>
            </a:r>
            <a:endParaRPr lang="ar-SA" sz="1000" dirty="0"/>
          </a:p>
        </p:txBody>
      </p:sp>
      <p:sp>
        <p:nvSpPr>
          <p:cNvPr id="26" name="Shape 21"/>
          <p:cNvSpPr/>
          <p:nvPr/>
        </p:nvSpPr>
        <p:spPr>
          <a:xfrm>
            <a:off x="3299384" y="3383280"/>
            <a:ext cx="2705024" cy="438912"/>
          </a:xfrm>
          <a:prstGeom prst="roundRect">
            <a:avLst>
              <a:gd name="adj" fmla="val 18750"/>
            </a:avLst>
          </a:prstGeom>
          <a:solidFill>
            <a:srgbClr val="F1F7F4"/>
          </a:solidFill>
          <a:ln w="9525">
            <a:solidFill>
              <a:srgbClr val="DCE8E2"/>
            </a:solidFill>
            <a:prstDash val="solid"/>
          </a:ln>
        </p:spPr>
      </p:sp>
      <p:sp>
        <p:nvSpPr>
          <p:cNvPr id="27" name="Shape 22"/>
          <p:cNvSpPr/>
          <p:nvPr/>
        </p:nvSpPr>
        <p:spPr>
          <a:xfrm>
            <a:off x="5730088" y="3557016"/>
            <a:ext cx="100584" cy="100584"/>
          </a:xfrm>
          <a:prstGeom prst="roundRect">
            <a:avLst>
              <a:gd name="adj" fmla="val 18182"/>
            </a:avLst>
          </a:prstGeom>
          <a:solidFill>
            <a:srgbClr val="0089A1"/>
          </a:solidFill>
          <a:ln/>
        </p:spPr>
      </p:sp>
      <p:sp>
        <p:nvSpPr>
          <p:cNvPr id="28" name="Text 23"/>
          <p:cNvSpPr/>
          <p:nvPr/>
        </p:nvSpPr>
        <p:spPr>
          <a:xfrm>
            <a:off x="3427400"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تهيئة البيئة لذوي الإعاقة</a:t>
            </a:r>
            <a:endParaRPr lang="ar-SA" sz="1000" dirty="0"/>
          </a:p>
        </p:txBody>
      </p:sp>
      <p:sp>
        <p:nvSpPr>
          <p:cNvPr id="29" name="Shape 24"/>
          <p:cNvSpPr/>
          <p:nvPr/>
        </p:nvSpPr>
        <p:spPr>
          <a:xfrm>
            <a:off x="411480" y="3383280"/>
            <a:ext cx="2705024" cy="438912"/>
          </a:xfrm>
          <a:prstGeom prst="roundRect">
            <a:avLst>
              <a:gd name="adj" fmla="val 18750"/>
            </a:avLst>
          </a:prstGeom>
          <a:solidFill>
            <a:srgbClr val="F1F7F4"/>
          </a:solidFill>
          <a:ln w="9525">
            <a:solidFill>
              <a:srgbClr val="DCE8E2"/>
            </a:solidFill>
            <a:prstDash val="solid"/>
          </a:ln>
        </p:spPr>
      </p:sp>
      <p:sp>
        <p:nvSpPr>
          <p:cNvPr id="30" name="Shape 25"/>
          <p:cNvSpPr/>
          <p:nvPr/>
        </p:nvSpPr>
        <p:spPr>
          <a:xfrm>
            <a:off x="2842184" y="3557016"/>
            <a:ext cx="100584" cy="100584"/>
          </a:xfrm>
          <a:prstGeom prst="roundRect">
            <a:avLst>
              <a:gd name="adj" fmla="val 18182"/>
            </a:avLst>
          </a:prstGeom>
          <a:solidFill>
            <a:srgbClr val="0089A1"/>
          </a:solidFill>
          <a:ln/>
        </p:spPr>
      </p:sp>
      <p:sp>
        <p:nvSpPr>
          <p:cNvPr id="31" name="Text 26"/>
          <p:cNvSpPr/>
          <p:nvPr/>
        </p:nvSpPr>
        <p:spPr>
          <a:xfrm>
            <a:off x="539496"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مواءمة دورات المياه</a:t>
            </a:r>
            <a:endParaRPr lang="ar-SA" sz="1000" dirty="0"/>
          </a:p>
        </p:txBody>
      </p:sp>
      <p:sp>
        <p:nvSpPr>
          <p:cNvPr id="32" name="Shape 27"/>
          <p:cNvSpPr/>
          <p:nvPr/>
        </p:nvSpPr>
        <p:spPr>
          <a:xfrm>
            <a:off x="9075191" y="3950208"/>
            <a:ext cx="2705024" cy="438912"/>
          </a:xfrm>
          <a:prstGeom prst="roundRect">
            <a:avLst>
              <a:gd name="adj" fmla="val 18750"/>
            </a:avLst>
          </a:prstGeom>
          <a:solidFill>
            <a:srgbClr val="F1F7F4"/>
          </a:solidFill>
          <a:ln w="9525">
            <a:solidFill>
              <a:srgbClr val="DCE8E2"/>
            </a:solidFill>
            <a:prstDash val="solid"/>
          </a:ln>
        </p:spPr>
      </p:sp>
      <p:sp>
        <p:nvSpPr>
          <p:cNvPr id="33" name="Shape 28"/>
          <p:cNvSpPr/>
          <p:nvPr/>
        </p:nvSpPr>
        <p:spPr>
          <a:xfrm>
            <a:off x="11505895" y="4123944"/>
            <a:ext cx="100584" cy="100584"/>
          </a:xfrm>
          <a:prstGeom prst="roundRect">
            <a:avLst>
              <a:gd name="adj" fmla="val 18182"/>
            </a:avLst>
          </a:prstGeom>
          <a:solidFill>
            <a:srgbClr val="0089A1"/>
          </a:solidFill>
          <a:ln/>
        </p:spPr>
      </p:sp>
      <p:sp>
        <p:nvSpPr>
          <p:cNvPr id="34" name="Text 29"/>
          <p:cNvSpPr/>
          <p:nvPr/>
        </p:nvSpPr>
        <p:spPr>
          <a:xfrm>
            <a:off x="9203207"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تسهيل التنقل بين المرافق</a:t>
            </a:r>
            <a:endParaRPr lang="ar-SA" sz="1000" dirty="0"/>
          </a:p>
        </p:txBody>
      </p:sp>
      <p:sp>
        <p:nvSpPr>
          <p:cNvPr id="35" name="Shape 30"/>
          <p:cNvSpPr/>
          <p:nvPr/>
        </p:nvSpPr>
        <p:spPr>
          <a:xfrm>
            <a:off x="6187288" y="3950208"/>
            <a:ext cx="2705024" cy="438912"/>
          </a:xfrm>
          <a:prstGeom prst="roundRect">
            <a:avLst>
              <a:gd name="adj" fmla="val 18750"/>
            </a:avLst>
          </a:prstGeom>
          <a:solidFill>
            <a:srgbClr val="F1F7F4"/>
          </a:solidFill>
          <a:ln w="9525">
            <a:solidFill>
              <a:srgbClr val="DCE8E2"/>
            </a:solidFill>
            <a:prstDash val="solid"/>
          </a:ln>
        </p:spPr>
      </p:sp>
      <p:sp>
        <p:nvSpPr>
          <p:cNvPr id="36" name="Shape 31"/>
          <p:cNvSpPr/>
          <p:nvPr/>
        </p:nvSpPr>
        <p:spPr>
          <a:xfrm>
            <a:off x="8617991" y="4123944"/>
            <a:ext cx="100584" cy="100584"/>
          </a:xfrm>
          <a:prstGeom prst="roundRect">
            <a:avLst>
              <a:gd name="adj" fmla="val 18182"/>
            </a:avLst>
          </a:prstGeom>
          <a:solidFill>
            <a:srgbClr val="0089A1"/>
          </a:solidFill>
          <a:ln/>
        </p:spPr>
      </p:sp>
      <p:sp>
        <p:nvSpPr>
          <p:cNvPr id="37" name="Text 32"/>
          <p:cNvSpPr/>
          <p:nvPr/>
        </p:nvSpPr>
        <p:spPr>
          <a:xfrm>
            <a:off x="6315304"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تجهيز الفصول والمعامل</a:t>
            </a:r>
            <a:endParaRPr lang="ar-SA" sz="1000" dirty="0"/>
          </a:p>
        </p:txBody>
      </p:sp>
      <p:sp>
        <p:nvSpPr>
          <p:cNvPr id="38" name="Shape 33"/>
          <p:cNvSpPr/>
          <p:nvPr/>
        </p:nvSpPr>
        <p:spPr>
          <a:xfrm>
            <a:off x="3299384" y="3950208"/>
            <a:ext cx="2705024" cy="438912"/>
          </a:xfrm>
          <a:prstGeom prst="roundRect">
            <a:avLst>
              <a:gd name="adj" fmla="val 18750"/>
            </a:avLst>
          </a:prstGeom>
          <a:solidFill>
            <a:srgbClr val="F1F7F4"/>
          </a:solidFill>
          <a:ln w="9525">
            <a:solidFill>
              <a:srgbClr val="DCE8E2"/>
            </a:solidFill>
            <a:prstDash val="solid"/>
          </a:ln>
        </p:spPr>
      </p:sp>
      <p:sp>
        <p:nvSpPr>
          <p:cNvPr id="39" name="Shape 34"/>
          <p:cNvSpPr/>
          <p:nvPr/>
        </p:nvSpPr>
        <p:spPr>
          <a:xfrm>
            <a:off x="5730088" y="4123944"/>
            <a:ext cx="100584" cy="100584"/>
          </a:xfrm>
          <a:prstGeom prst="roundRect">
            <a:avLst>
              <a:gd name="adj" fmla="val 18182"/>
            </a:avLst>
          </a:prstGeom>
          <a:solidFill>
            <a:srgbClr val="0089A1"/>
          </a:solidFill>
          <a:ln/>
        </p:spPr>
      </p:sp>
      <p:sp>
        <p:nvSpPr>
          <p:cNvPr id="40" name="Text 35"/>
          <p:cNvSpPr/>
          <p:nvPr/>
        </p:nvSpPr>
        <p:spPr>
          <a:xfrm>
            <a:off x="3427400"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توفير مصادر التعلم</a:t>
            </a:r>
            <a:endParaRPr lang="ar-SA" sz="1000" dirty="0"/>
          </a:p>
        </p:txBody>
      </p:sp>
      <p:sp>
        <p:nvSpPr>
          <p:cNvPr id="41" name="Shape 36"/>
          <p:cNvSpPr/>
          <p:nvPr/>
        </p:nvSpPr>
        <p:spPr>
          <a:xfrm>
            <a:off x="411480" y="3950208"/>
            <a:ext cx="2705024" cy="438912"/>
          </a:xfrm>
          <a:prstGeom prst="roundRect">
            <a:avLst>
              <a:gd name="adj" fmla="val 18750"/>
            </a:avLst>
          </a:prstGeom>
          <a:solidFill>
            <a:srgbClr val="F1F7F4"/>
          </a:solidFill>
          <a:ln w="9525">
            <a:solidFill>
              <a:srgbClr val="DCE8E2"/>
            </a:solidFill>
            <a:prstDash val="solid"/>
          </a:ln>
        </p:spPr>
      </p:sp>
      <p:sp>
        <p:nvSpPr>
          <p:cNvPr id="42" name="Shape 37"/>
          <p:cNvSpPr/>
          <p:nvPr/>
        </p:nvSpPr>
        <p:spPr>
          <a:xfrm>
            <a:off x="2842184" y="4123944"/>
            <a:ext cx="100584" cy="100584"/>
          </a:xfrm>
          <a:prstGeom prst="roundRect">
            <a:avLst>
              <a:gd name="adj" fmla="val 18182"/>
            </a:avLst>
          </a:prstGeom>
          <a:solidFill>
            <a:srgbClr val="0089A1"/>
          </a:solidFill>
          <a:ln/>
        </p:spPr>
      </p:sp>
      <p:sp>
        <p:nvSpPr>
          <p:cNvPr id="43" name="Text 38"/>
          <p:cNvSpPr/>
          <p:nvPr/>
        </p:nvSpPr>
        <p:spPr>
          <a:xfrm>
            <a:off x="539496"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برامج دعم القراءة</a:t>
            </a:r>
            <a:endParaRPr lang="ar-SA" sz="1000" dirty="0"/>
          </a:p>
        </p:txBody>
      </p:sp>
      <p:sp>
        <p:nvSpPr>
          <p:cNvPr id="44" name="Shape 39"/>
          <p:cNvSpPr/>
          <p:nvPr/>
        </p:nvSpPr>
        <p:spPr>
          <a:xfrm>
            <a:off x="9075191" y="4517136"/>
            <a:ext cx="2705024" cy="438912"/>
          </a:xfrm>
          <a:prstGeom prst="roundRect">
            <a:avLst>
              <a:gd name="adj" fmla="val 18750"/>
            </a:avLst>
          </a:prstGeom>
          <a:solidFill>
            <a:srgbClr val="F1F7F4"/>
          </a:solidFill>
          <a:ln w="9525">
            <a:solidFill>
              <a:srgbClr val="DCE8E2"/>
            </a:solidFill>
            <a:prstDash val="solid"/>
          </a:ln>
        </p:spPr>
      </p:sp>
      <p:sp>
        <p:nvSpPr>
          <p:cNvPr id="45" name="Shape 40"/>
          <p:cNvSpPr/>
          <p:nvPr/>
        </p:nvSpPr>
        <p:spPr>
          <a:xfrm>
            <a:off x="11505895" y="4690872"/>
            <a:ext cx="100584" cy="100584"/>
          </a:xfrm>
          <a:prstGeom prst="roundRect">
            <a:avLst>
              <a:gd name="adj" fmla="val 18182"/>
            </a:avLst>
          </a:prstGeom>
          <a:solidFill>
            <a:srgbClr val="0089A1"/>
          </a:solidFill>
          <a:ln/>
        </p:spPr>
      </p:sp>
      <p:sp>
        <p:nvSpPr>
          <p:cNvPr id="46" name="Text 41"/>
          <p:cNvSpPr/>
          <p:nvPr/>
        </p:nvSpPr>
        <p:spPr>
          <a:xfrm>
            <a:off x="9203207"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برامج دعم الرياضيات</a:t>
            </a:r>
            <a:endParaRPr lang="ar-SA" sz="1000" dirty="0"/>
          </a:p>
        </p:txBody>
      </p:sp>
      <p:sp>
        <p:nvSpPr>
          <p:cNvPr id="47" name="Shape 42"/>
          <p:cNvSpPr/>
          <p:nvPr/>
        </p:nvSpPr>
        <p:spPr>
          <a:xfrm>
            <a:off x="6187288" y="4517136"/>
            <a:ext cx="2705024" cy="438912"/>
          </a:xfrm>
          <a:prstGeom prst="roundRect">
            <a:avLst>
              <a:gd name="adj" fmla="val 18750"/>
            </a:avLst>
          </a:prstGeom>
          <a:solidFill>
            <a:srgbClr val="F1F7F4"/>
          </a:solidFill>
          <a:ln w="9525">
            <a:solidFill>
              <a:srgbClr val="DCE8E2"/>
            </a:solidFill>
            <a:prstDash val="solid"/>
          </a:ln>
        </p:spPr>
      </p:sp>
      <p:sp>
        <p:nvSpPr>
          <p:cNvPr id="48" name="Shape 43"/>
          <p:cNvSpPr/>
          <p:nvPr/>
        </p:nvSpPr>
        <p:spPr>
          <a:xfrm>
            <a:off x="8617991" y="4690872"/>
            <a:ext cx="100584" cy="100584"/>
          </a:xfrm>
          <a:prstGeom prst="roundRect">
            <a:avLst>
              <a:gd name="adj" fmla="val 18182"/>
            </a:avLst>
          </a:prstGeom>
          <a:solidFill>
            <a:srgbClr val="0089A1"/>
          </a:solidFill>
          <a:ln/>
        </p:spPr>
      </p:sp>
      <p:sp>
        <p:nvSpPr>
          <p:cNvPr id="49" name="Text 44"/>
          <p:cNvSpPr/>
          <p:nvPr/>
        </p:nvSpPr>
        <p:spPr>
          <a:xfrm>
            <a:off x="6315304"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برامج دعم العلوم</a:t>
            </a:r>
            <a:endParaRPr lang="ar-SA" sz="1000" dirty="0"/>
          </a:p>
        </p:txBody>
      </p:sp>
      <p:sp>
        <p:nvSpPr>
          <p:cNvPr id="50" name="Shape 45"/>
          <p:cNvSpPr/>
          <p:nvPr/>
        </p:nvSpPr>
        <p:spPr>
          <a:xfrm>
            <a:off x="3299384" y="4517136"/>
            <a:ext cx="2705024" cy="438912"/>
          </a:xfrm>
          <a:prstGeom prst="roundRect">
            <a:avLst>
              <a:gd name="adj" fmla="val 18750"/>
            </a:avLst>
          </a:prstGeom>
          <a:solidFill>
            <a:srgbClr val="F1F7F4"/>
          </a:solidFill>
          <a:ln w="9525">
            <a:solidFill>
              <a:srgbClr val="DCE8E2"/>
            </a:solidFill>
            <a:prstDash val="solid"/>
          </a:ln>
        </p:spPr>
      </p:sp>
      <p:sp>
        <p:nvSpPr>
          <p:cNvPr id="51" name="Shape 46"/>
          <p:cNvSpPr/>
          <p:nvPr/>
        </p:nvSpPr>
        <p:spPr>
          <a:xfrm>
            <a:off x="5730088" y="4690872"/>
            <a:ext cx="100584" cy="100584"/>
          </a:xfrm>
          <a:prstGeom prst="roundRect">
            <a:avLst>
              <a:gd name="adj" fmla="val 18182"/>
            </a:avLst>
          </a:prstGeom>
          <a:solidFill>
            <a:srgbClr val="0089A1"/>
          </a:solidFill>
          <a:ln/>
        </p:spPr>
      </p:sp>
      <p:sp>
        <p:nvSpPr>
          <p:cNvPr id="52" name="Text 47"/>
          <p:cNvSpPr/>
          <p:nvPr/>
        </p:nvSpPr>
        <p:spPr>
          <a:xfrm>
            <a:off x="3427400"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خطط الدعم الفردية</a:t>
            </a:r>
            <a:endParaRPr lang="ar-SA" sz="1000" dirty="0"/>
          </a:p>
        </p:txBody>
      </p:sp>
      <p:sp>
        <p:nvSpPr>
          <p:cNvPr id="53" name="Shape 48"/>
          <p:cNvSpPr/>
          <p:nvPr/>
        </p:nvSpPr>
        <p:spPr>
          <a:xfrm>
            <a:off x="7802575" y="5193792"/>
            <a:ext cx="3977640" cy="1261872"/>
          </a:xfrm>
          <a:prstGeom prst="roundRect">
            <a:avLst>
              <a:gd name="adj" fmla="val 5435"/>
            </a:avLst>
          </a:prstGeom>
          <a:solidFill>
            <a:srgbClr val="FFFFFF"/>
          </a:solidFill>
          <a:ln w="9525">
            <a:solidFill>
              <a:srgbClr val="DCE8E2"/>
            </a:solidFill>
            <a:prstDash val="solid"/>
          </a:ln>
        </p:spPr>
      </p:sp>
      <p:sp>
        <p:nvSpPr>
          <p:cNvPr id="54" name="Text 49"/>
          <p:cNvSpPr/>
          <p:nvPr/>
        </p:nvSpPr>
        <p:spPr>
          <a:xfrm>
            <a:off x="8031175" y="5285232"/>
            <a:ext cx="3520440" cy="292608"/>
          </a:xfrm>
          <a:prstGeom prst="rect">
            <a:avLst/>
          </a:prstGeom>
          <a:noFill/>
          <a:ln/>
        </p:spPr>
        <p:txBody>
          <a:bodyPr wrap="square" lIns="0" tIns="0" rIns="0" bIns="0" rtlCol="0" anchor="t"/>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مؤشرات الاعتماد المدرسي</a:t>
            </a:r>
            <a:endParaRPr lang="ar-SA" sz="1050" dirty="0"/>
          </a:p>
        </p:txBody>
      </p:sp>
      <p:sp>
        <p:nvSpPr>
          <p:cNvPr id="55" name="Shape 50"/>
          <p:cNvSpPr/>
          <p:nvPr/>
        </p:nvSpPr>
        <p:spPr>
          <a:xfrm>
            <a:off x="10893247" y="5632704"/>
            <a:ext cx="658368" cy="274320"/>
          </a:xfrm>
          <a:prstGeom prst="roundRect">
            <a:avLst>
              <a:gd name="adj" fmla="val 20000"/>
            </a:avLst>
          </a:prstGeom>
          <a:solidFill>
            <a:srgbClr val="FFFFFF"/>
          </a:solidFill>
          <a:ln w="9525">
            <a:solidFill>
              <a:srgbClr val="095242"/>
            </a:solidFill>
            <a:prstDash val="solid"/>
          </a:ln>
        </p:spPr>
      </p:sp>
      <p:sp>
        <p:nvSpPr>
          <p:cNvPr id="56" name="Text 51"/>
          <p:cNvSpPr/>
          <p:nvPr/>
        </p:nvSpPr>
        <p:spPr>
          <a:xfrm>
            <a:off x="10893247"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‎2-1-1-1‎</a:t>
            </a:r>
            <a:endParaRPr lang="ar-SA" sz="800" dirty="0"/>
          </a:p>
        </p:txBody>
      </p:sp>
      <p:sp>
        <p:nvSpPr>
          <p:cNvPr id="57" name="Shape 52"/>
          <p:cNvSpPr/>
          <p:nvPr/>
        </p:nvSpPr>
        <p:spPr>
          <a:xfrm>
            <a:off x="10125151" y="5632704"/>
            <a:ext cx="658368" cy="274320"/>
          </a:xfrm>
          <a:prstGeom prst="roundRect">
            <a:avLst>
              <a:gd name="adj" fmla="val 20000"/>
            </a:avLst>
          </a:prstGeom>
          <a:solidFill>
            <a:srgbClr val="FFFFFF"/>
          </a:solidFill>
          <a:ln w="9525">
            <a:solidFill>
              <a:srgbClr val="095242"/>
            </a:solidFill>
            <a:prstDash val="solid"/>
          </a:ln>
        </p:spPr>
      </p:sp>
      <p:sp>
        <p:nvSpPr>
          <p:cNvPr id="58" name="Text 53"/>
          <p:cNvSpPr/>
          <p:nvPr/>
        </p:nvSpPr>
        <p:spPr>
          <a:xfrm>
            <a:off x="10125151"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‎2-1-1-2‎</a:t>
            </a:r>
            <a:endParaRPr lang="ar-SA" sz="800" dirty="0"/>
          </a:p>
        </p:txBody>
      </p:sp>
      <p:sp>
        <p:nvSpPr>
          <p:cNvPr id="59" name="Shape 54"/>
          <p:cNvSpPr/>
          <p:nvPr/>
        </p:nvSpPr>
        <p:spPr>
          <a:xfrm>
            <a:off x="9357055" y="5632704"/>
            <a:ext cx="658368" cy="274320"/>
          </a:xfrm>
          <a:prstGeom prst="roundRect">
            <a:avLst>
              <a:gd name="adj" fmla="val 20000"/>
            </a:avLst>
          </a:prstGeom>
          <a:solidFill>
            <a:srgbClr val="FFFFFF"/>
          </a:solidFill>
          <a:ln w="9525">
            <a:solidFill>
              <a:srgbClr val="095242"/>
            </a:solidFill>
            <a:prstDash val="solid"/>
          </a:ln>
        </p:spPr>
      </p:sp>
      <p:sp>
        <p:nvSpPr>
          <p:cNvPr id="60" name="Text 55"/>
          <p:cNvSpPr/>
          <p:nvPr/>
        </p:nvSpPr>
        <p:spPr>
          <a:xfrm>
            <a:off x="9357055"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‎3-1-1-1‎</a:t>
            </a:r>
            <a:endParaRPr lang="ar-SA" sz="800" dirty="0"/>
          </a:p>
        </p:txBody>
      </p:sp>
      <p:sp>
        <p:nvSpPr>
          <p:cNvPr id="61" name="Shape 56"/>
          <p:cNvSpPr/>
          <p:nvPr/>
        </p:nvSpPr>
        <p:spPr>
          <a:xfrm>
            <a:off x="8588959" y="5632704"/>
            <a:ext cx="658368" cy="274320"/>
          </a:xfrm>
          <a:prstGeom prst="roundRect">
            <a:avLst>
              <a:gd name="adj" fmla="val 20000"/>
            </a:avLst>
          </a:prstGeom>
          <a:solidFill>
            <a:srgbClr val="FFFFFF"/>
          </a:solidFill>
          <a:ln w="9525">
            <a:solidFill>
              <a:srgbClr val="095242"/>
            </a:solidFill>
            <a:prstDash val="solid"/>
          </a:ln>
        </p:spPr>
      </p:sp>
      <p:sp>
        <p:nvSpPr>
          <p:cNvPr id="62" name="Text 57"/>
          <p:cNvSpPr/>
          <p:nvPr/>
        </p:nvSpPr>
        <p:spPr>
          <a:xfrm>
            <a:off x="8588959"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‎3-1-1-2‎</a:t>
            </a:r>
            <a:endParaRPr lang="ar-SA" sz="800" dirty="0"/>
          </a:p>
        </p:txBody>
      </p:sp>
      <p:sp>
        <p:nvSpPr>
          <p:cNvPr id="63" name="Shape 58"/>
          <p:cNvSpPr/>
          <p:nvPr/>
        </p:nvSpPr>
        <p:spPr>
          <a:xfrm>
            <a:off x="7820863" y="5632704"/>
            <a:ext cx="658368" cy="274320"/>
          </a:xfrm>
          <a:prstGeom prst="roundRect">
            <a:avLst>
              <a:gd name="adj" fmla="val 20000"/>
            </a:avLst>
          </a:prstGeom>
          <a:solidFill>
            <a:srgbClr val="FFFFFF"/>
          </a:solidFill>
          <a:ln w="9525">
            <a:solidFill>
              <a:srgbClr val="095242"/>
            </a:solidFill>
            <a:prstDash val="solid"/>
          </a:ln>
        </p:spPr>
      </p:sp>
      <p:sp>
        <p:nvSpPr>
          <p:cNvPr id="64" name="Text 59"/>
          <p:cNvSpPr/>
          <p:nvPr/>
        </p:nvSpPr>
        <p:spPr>
          <a:xfrm>
            <a:off x="7820863"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‎3-1-1-3‎</a:t>
            </a:r>
            <a:endParaRPr lang="ar-SA" sz="800" dirty="0"/>
          </a:p>
        </p:txBody>
      </p:sp>
      <p:sp>
        <p:nvSpPr>
          <p:cNvPr id="65" name="Shape 60"/>
          <p:cNvSpPr/>
          <p:nvPr/>
        </p:nvSpPr>
        <p:spPr>
          <a:xfrm>
            <a:off x="10893247" y="5998464"/>
            <a:ext cx="658368" cy="274320"/>
          </a:xfrm>
          <a:prstGeom prst="roundRect">
            <a:avLst>
              <a:gd name="adj" fmla="val 20000"/>
            </a:avLst>
          </a:prstGeom>
          <a:solidFill>
            <a:srgbClr val="FFFFFF"/>
          </a:solidFill>
          <a:ln w="9525">
            <a:solidFill>
              <a:srgbClr val="095242"/>
            </a:solidFill>
            <a:prstDash val="solid"/>
          </a:ln>
        </p:spPr>
      </p:sp>
      <p:sp>
        <p:nvSpPr>
          <p:cNvPr id="66" name="Text 61"/>
          <p:cNvSpPr/>
          <p:nvPr/>
        </p:nvSpPr>
        <p:spPr>
          <a:xfrm>
            <a:off x="10893247"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‎4-1-1-2‎</a:t>
            </a:r>
            <a:endParaRPr lang="ar-SA" sz="800" dirty="0"/>
          </a:p>
        </p:txBody>
      </p:sp>
      <p:sp>
        <p:nvSpPr>
          <p:cNvPr id="67" name="Shape 62"/>
          <p:cNvSpPr/>
          <p:nvPr/>
        </p:nvSpPr>
        <p:spPr>
          <a:xfrm>
            <a:off x="10125151" y="5998464"/>
            <a:ext cx="658368" cy="274320"/>
          </a:xfrm>
          <a:prstGeom prst="roundRect">
            <a:avLst>
              <a:gd name="adj" fmla="val 20000"/>
            </a:avLst>
          </a:prstGeom>
          <a:solidFill>
            <a:srgbClr val="FFFFFF"/>
          </a:solidFill>
          <a:ln w="9525">
            <a:solidFill>
              <a:srgbClr val="095242"/>
            </a:solidFill>
            <a:prstDash val="solid"/>
          </a:ln>
        </p:spPr>
      </p:sp>
      <p:sp>
        <p:nvSpPr>
          <p:cNvPr id="68" name="Text 63"/>
          <p:cNvSpPr/>
          <p:nvPr/>
        </p:nvSpPr>
        <p:spPr>
          <a:xfrm>
            <a:off x="10125151"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‎4-1-1-3‎</a:t>
            </a:r>
            <a:endParaRPr lang="ar-SA" sz="800" dirty="0"/>
          </a:p>
        </p:txBody>
      </p:sp>
      <p:sp>
        <p:nvSpPr>
          <p:cNvPr id="69" name="Shape 64"/>
          <p:cNvSpPr/>
          <p:nvPr/>
        </p:nvSpPr>
        <p:spPr>
          <a:xfrm>
            <a:off x="9357055" y="5998464"/>
            <a:ext cx="658368" cy="274320"/>
          </a:xfrm>
          <a:prstGeom prst="roundRect">
            <a:avLst>
              <a:gd name="adj" fmla="val 20000"/>
            </a:avLst>
          </a:prstGeom>
          <a:solidFill>
            <a:srgbClr val="FFFFFF"/>
          </a:solidFill>
          <a:ln w="9525">
            <a:solidFill>
              <a:srgbClr val="095242"/>
            </a:solidFill>
            <a:prstDash val="solid"/>
          </a:ln>
        </p:spPr>
      </p:sp>
      <p:sp>
        <p:nvSpPr>
          <p:cNvPr id="70" name="Text 65"/>
          <p:cNvSpPr/>
          <p:nvPr/>
        </p:nvSpPr>
        <p:spPr>
          <a:xfrm>
            <a:off x="9357055"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‎4-1-1-4‎</a:t>
            </a:r>
            <a:endParaRPr lang="ar-SA" sz="800" dirty="0"/>
          </a:p>
        </p:txBody>
      </p:sp>
      <p:sp>
        <p:nvSpPr>
          <p:cNvPr id="71" name="Shape 66"/>
          <p:cNvSpPr/>
          <p:nvPr/>
        </p:nvSpPr>
        <p:spPr>
          <a:xfrm>
            <a:off x="411480" y="5193792"/>
            <a:ext cx="7116775" cy="1261872"/>
          </a:xfrm>
          <a:prstGeom prst="roundRect">
            <a:avLst>
              <a:gd name="adj" fmla="val 5435"/>
            </a:avLst>
          </a:prstGeom>
          <a:solidFill>
            <a:srgbClr val="095242"/>
          </a:solidFill>
          <a:ln/>
          <a:effectLst>
            <a:outerShdw sx="100000" sy="100000" kx="0" ky="0" algn="bl" rotWithShape="0" blurRad="88900" dist="25400" dir="5400000">
              <a:srgbClr val="083528">
                <a:alpha val="22000"/>
              </a:srgbClr>
            </a:outerShdw>
          </a:effectLst>
        </p:spPr>
      </p:sp>
      <p:pic>
        <p:nvPicPr>
          <p:cNvPr id="72" name="Image 3" descr="/tmp/claude-0/-home-user-Mobile1/ab9bbf47-b054-5f6e-be59-70476e095ce8/scratchpad/assets/icons/sparkles_white.png">    </p:cNvPr>
          <p:cNvPicPr>
            <a:picLocks noChangeAspect="1"/>
          </p:cNvPicPr>
          <p:nvPr/>
        </p:nvPicPr>
        <p:blipFill>
          <a:blip r:embed="rId4"/>
          <a:stretch>
            <a:fillRect/>
          </a:stretch>
        </p:blipFill>
        <p:spPr>
          <a:xfrm>
            <a:off x="7052767" y="5303520"/>
            <a:ext cx="256032" cy="256032"/>
          </a:xfrm>
          <a:prstGeom prst="rect">
            <a:avLst/>
          </a:prstGeom>
        </p:spPr>
      </p:pic>
      <p:sp>
        <p:nvSpPr>
          <p:cNvPr id="73" name="Text 67"/>
          <p:cNvSpPr/>
          <p:nvPr/>
        </p:nvSpPr>
        <p:spPr>
          <a:xfrm>
            <a:off x="685800" y="5285232"/>
            <a:ext cx="6248095" cy="292608"/>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74" name="Text 68"/>
          <p:cNvSpPr/>
          <p:nvPr/>
        </p:nvSpPr>
        <p:spPr>
          <a:xfrm>
            <a:off x="685800" y="5614416"/>
            <a:ext cx="6549847" cy="749808"/>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9E9E3"/>
                </a:solidFill>
                <a:latin typeface="Tajawal" pitchFamily="34" charset="0"/>
                <a:ea typeface="Tajawal" pitchFamily="34" charset="-122"/>
                <a:cs typeface="Tajawal" pitchFamily="34" charset="-120"/>
              </a:rPr>
              <a:t>ارتفاع نسبة الفصول المهيّأة لذوي الإعاقة • زيادة المستفيدين من برامج الدعم بنسبة لا تقل عن ٢٠٪ • تنوّع مصادر التعلّم وتغطية المهارات الأساسية.</a:t>
            </a:r>
            <a:endParaRPr lang="ar-SA" sz="9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١٦</a:t>
            </a:r>
            <a:endParaRPr lang="ar-SA" sz="850" dirty="0"/>
          </a:p>
        </p:txBody>
      </p:sp>
      <p:sp>
        <p:nvSpPr>
          <p:cNvPr id="5" name="Shape 2"/>
          <p:cNvSpPr/>
          <p:nvPr/>
        </p:nvSpPr>
        <p:spPr>
          <a:xfrm>
            <a:off x="411480" y="274320"/>
            <a:ext cx="11368735" cy="548640"/>
          </a:xfrm>
          <a:prstGeom prst="roundRect">
            <a:avLst>
              <a:gd name="adj" fmla="val 15000"/>
            </a:avLst>
          </a:prstGeom>
          <a:solidFill>
            <a:srgbClr val="095242"/>
          </a:solidFill>
          <a:ln/>
        </p:spPr>
      </p:sp>
      <p:sp>
        <p:nvSpPr>
          <p:cNvPr id="6" name="Shape 3"/>
          <p:cNvSpPr/>
          <p:nvPr/>
        </p:nvSpPr>
        <p:spPr>
          <a:xfrm>
            <a:off x="576072" y="379476"/>
            <a:ext cx="137160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576072" y="370332"/>
            <a:ext cx="137160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194560" y="274320"/>
            <a:ext cx="931133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١ — ضمان وصول التعليم للجميع</a:t>
            </a:r>
            <a:endParaRPr lang="ar-SA" sz="15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14400"/>
        </p:xfrm>
        <a:graphic>
          <a:graphicData uri="http://schemas.openxmlformats.org/drawingml/2006/table">
            <a:tbl>
              <a:tblPr/>
              <a:tblGrid>
                <a:gridCol w="9631375"/>
                <a:gridCol w="1737360"/>
              </a:tblGrid>
              <a:tr h="274320">
                <a:tc>
                  <a:txBody>
                    <a:bodyPr/>
                    <a:lstStyle/>
                    <a:p>
                      <a:pPr rtl="1" algn="r" indent="0" marL="0">
                        <a:buNone/>
                      </a:pPr>
                      <a:r>
                        <a:rPr lang="ar-SA" altLang="en-US" sz="940" b="1" dirty="0">
                          <a:solidFill>
                            <a:srgbClr val="063E33"/>
                          </a:solidFill>
                          <a:latin typeface="Tajawal" pitchFamily="34" charset="0"/>
                          <a:ea typeface="Tajawal" pitchFamily="34" charset="-122"/>
                          <a:cs typeface="Tajawal" pitchFamily="34" charset="-120"/>
                        </a:rPr>
                        <a:t>ضمان وصول التعليم للجميع</a:t>
                      </a:r>
                      <a:endParaRPr lang="ar-SA" sz="9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548640">
                <a:tc>
                  <a:txBody>
                    <a:bodyPr/>
                    <a:lstStyle/>
                    <a:p>
                      <a:pPr rtl="1" algn="r" indent="0" marL="0">
                        <a:buNone/>
                      </a:pPr>
                      <a:r>
                        <a:rPr lang="ar-SA" altLang="en-US" sz="820" dirty="0">
                          <a:solidFill>
                            <a:srgbClr val="33473F"/>
                          </a:solidFill>
                          <a:latin typeface="Tajawal" pitchFamily="34" charset="0"/>
                          <a:ea typeface="Tajawal" pitchFamily="34" charset="-122"/>
                          <a:cs typeface="Tajawal" pitchFamily="34" charset="-120"/>
                        </a:rPr>
                        <a:t>يهدف هذا المحور إلى ضمان حصول جميع الطلاب على فرص تعليمية متكافئة وشاملة، وتوفير بيئات تعليمية داعمة تراعي الفروق الفردية والاحتياجات التعليمية المتنوعة، بما يسهم في تحسين جودة التعليم وتعزيز نواتج التعلم وتحقيق مبادئ العدالة وتكافؤ الفرص.</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(١-١)</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المستفيدين من برامج الدعم والتهيئة لذوي الإعاقة والموهوبين خلال العام — رفع نسبة الفرص التعليمية المتكافئة للطلاب جميعًا بنسبة ٨٠٪ خلال العام.</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11480" y="2286000"/>
          <a:ext cx="1136873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vMerge="1">
                  <a:tcPr/>
                </a:tc>
                <a:tc vMerge="1">
                  <a:tcPr/>
                </a:tc>
                <a:tc vMerge="1">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حصر — خطط — تنفيذ</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قاعدة بيانات + موارد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٣-٥</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تكافؤ الفرص التعليمية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برامج فردية تأهيلية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 الدمج</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مركز التأهيل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التربية الخاصة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تربية خاصة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٦-١٥</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دمج ذوي الإعاقة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جولات — تقييم — تطوير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دعم فني وميزانية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١-٤</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تهيئة البيئة لذوي الإعاقة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٣</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صيانة — تجهيز</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مقاول صيانة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٢-٣</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مواءمة دورات المياه</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٤</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منحدرات — لوحات إرشادية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معدات تنقّل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تسهيل التنقل بين المرافق</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٥</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تجهيز — صيانة دورية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الفصول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أثاث + أجهزة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١-٤</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تجهيز الفصول والمعامل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٦</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مكتبة — مصادر رقمية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منصة مدرستي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أمين مصادر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منصات وأجهزة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١-٣٠</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توفير مصادر التعلّم</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٧</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حصص علاجية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المتعثرون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اللغة العربية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قراءة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٤-٢٥</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برامج دعم القراءة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٨</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حصص وأنشطة علاجية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المتعثرون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الرياضيات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وسائل وأدوات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٤-٢٥</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برامج دعم الرياضيات</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تجارب وأنشطة تطبيقية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المتعثرون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محضر المختبر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العلوم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معامل ومواد تعليمية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٦-٢٢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برامج دعم العلوم</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١٠</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27521">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فردية موثقة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 المحتاجون للدعم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سجل متابعة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١-٣٠</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خطط الدعم الفردية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١٧</a:t>
            </a:r>
            <a:endParaRPr lang="ar-SA" sz="850" dirty="0"/>
          </a:p>
        </p:txBody>
      </p:sp>
      <p:pic>
        <p:nvPicPr>
          <p:cNvPr id="5" name="Image 1" descr="/tmp/claude-0/-home-user-Mobile1/ab9bbf47-b054-5f6e-be59-70476e095ce8/scratchpad/assets/band_goal.png">    </p:cNvPr>
          <p:cNvPicPr>
            <a:picLocks noChangeAspect="1"/>
          </p:cNvPicPr>
          <p:nvPr/>
        </p:nvPicPr>
        <p:blipFill>
          <a:blip r:embed="rId2"/>
          <a:stretch>
            <a:fillRect/>
          </a:stretch>
        </p:blipFill>
        <p:spPr>
          <a:xfrm>
            <a:off x="411480" y="292608"/>
            <a:ext cx="11368735" cy="1344168"/>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795528" y="502920"/>
            <a:ext cx="1170432" cy="905256"/>
          </a:xfrm>
          <a:prstGeom prst="rect">
            <a:avLst/>
          </a:prstGeom>
        </p:spPr>
      </p:pic>
      <p:sp>
        <p:nvSpPr>
          <p:cNvPr id="7" name="Text 2"/>
          <p:cNvSpPr/>
          <p:nvPr/>
        </p:nvSpPr>
        <p:spPr>
          <a:xfrm>
            <a:off x="2377440" y="475488"/>
            <a:ext cx="9128455" cy="329184"/>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٢</a:t>
            </a:r>
            <a:endParaRPr lang="ar-SA" sz="1200" dirty="0"/>
          </a:p>
        </p:txBody>
      </p:sp>
      <p:sp>
        <p:nvSpPr>
          <p:cNvPr id="8" name="Text 3"/>
          <p:cNvSpPr/>
          <p:nvPr/>
        </p:nvSpPr>
        <p:spPr>
          <a:xfrm>
            <a:off x="2377440" y="822960"/>
            <a:ext cx="9128455" cy="603504"/>
          </a:xfrm>
          <a:prstGeom prst="rect">
            <a:avLst/>
          </a:prstGeom>
          <a:noFill/>
          <a:ln/>
        </p:spPr>
        <p:txBody>
          <a:bodyPr wrap="square" lIns="0" tIns="0" rIns="0" bIns="0" rtlCol="0" anchor="ctr"/>
          <a:lstStyle/>
          <a:p>
            <a:pPr rtl="1" algn="r" indent="0" marL="0">
              <a:buNone/>
            </a:pPr>
            <a:r>
              <a:rPr lang="ar-SA" altLang="en-US" sz="2300" b="1" dirty="0">
                <a:solidFill>
                  <a:srgbClr val="FFFFFF"/>
                </a:solidFill>
                <a:latin typeface="Tajawal" pitchFamily="34" charset="0"/>
                <a:ea typeface="Tajawal" pitchFamily="34" charset="-122"/>
                <a:cs typeface="Tajawal" pitchFamily="34" charset="-120"/>
              </a:rPr>
              <a:t>تطوير بيئة مدرسية آمنة وابتكارية</a:t>
            </a:r>
            <a:endParaRPr lang="ar-SA" sz="2300" dirty="0"/>
          </a:p>
        </p:txBody>
      </p:sp>
      <p:sp>
        <p:nvSpPr>
          <p:cNvPr id="9" name="Shape 4"/>
          <p:cNvSpPr/>
          <p:nvPr/>
        </p:nvSpPr>
        <p:spPr>
          <a:xfrm>
            <a:off x="8173517" y="1828800"/>
            <a:ext cx="3606698" cy="914400"/>
          </a:xfrm>
          <a:prstGeom prst="roundRect">
            <a:avLst>
              <a:gd name="adj" fmla="val 7500"/>
            </a:avLst>
          </a:prstGeom>
          <a:solidFill>
            <a:srgbClr val="FFFFFF"/>
          </a:solidFill>
          <a:ln w="12700">
            <a:solidFill>
              <a:srgbClr val="095242"/>
            </a:solidFill>
            <a:prstDash val="solid"/>
          </a:ln>
        </p:spPr>
      </p:sp>
      <p:sp>
        <p:nvSpPr>
          <p:cNvPr id="10" name="Text 5"/>
          <p:cNvSpPr/>
          <p:nvPr/>
        </p:nvSpPr>
        <p:spPr>
          <a:xfrm>
            <a:off x="8310677"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١٢</a:t>
            </a:r>
            <a:endParaRPr lang="ar-SA" sz="2600" dirty="0"/>
          </a:p>
        </p:txBody>
      </p:sp>
      <p:sp>
        <p:nvSpPr>
          <p:cNvPr id="11" name="Text 6"/>
          <p:cNvSpPr/>
          <p:nvPr/>
        </p:nvSpPr>
        <p:spPr>
          <a:xfrm>
            <a:off x="9545117"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عدد البرامج التشغيلية</a:t>
            </a:r>
            <a:endParaRPr lang="ar-SA" sz="1150" dirty="0"/>
          </a:p>
        </p:txBody>
      </p:sp>
      <p:sp>
        <p:nvSpPr>
          <p:cNvPr id="12" name="Shape 7"/>
          <p:cNvSpPr/>
          <p:nvPr/>
        </p:nvSpPr>
        <p:spPr>
          <a:xfrm>
            <a:off x="4292498" y="1828800"/>
            <a:ext cx="3606698" cy="914400"/>
          </a:xfrm>
          <a:prstGeom prst="roundRect">
            <a:avLst>
              <a:gd name="adj" fmla="val 7500"/>
            </a:avLst>
          </a:prstGeom>
          <a:solidFill>
            <a:srgbClr val="095242"/>
          </a:solidFill>
          <a:ln/>
          <a:effectLst>
            <a:outerShdw sx="100000" sy="100000" kx="0" ky="0" algn="bl" rotWithShape="0" blurRad="88900" dist="25400" dir="5400000">
              <a:srgbClr val="083528">
                <a:alpha val="22000"/>
              </a:srgbClr>
            </a:outerShdw>
          </a:effectLst>
        </p:spPr>
      </p:sp>
      <p:sp>
        <p:nvSpPr>
          <p:cNvPr id="13" name="Text 8"/>
          <p:cNvSpPr/>
          <p:nvPr/>
        </p:nvSpPr>
        <p:spPr>
          <a:xfrm>
            <a:off x="4429658"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FFFFFF"/>
                </a:solidFill>
                <a:latin typeface="Tajawal ExtraBold" pitchFamily="34" charset="0"/>
                <a:ea typeface="Tajawal ExtraBold" pitchFamily="34" charset="-122"/>
                <a:cs typeface="Tajawal ExtraBold" pitchFamily="34" charset="-120"/>
              </a:rPr>
              <a:t>١٠</a:t>
            </a:r>
            <a:endParaRPr lang="ar-SA" sz="2600" dirty="0"/>
          </a:p>
        </p:txBody>
      </p:sp>
      <p:sp>
        <p:nvSpPr>
          <p:cNvPr id="14" name="Text 9"/>
          <p:cNvSpPr/>
          <p:nvPr/>
        </p:nvSpPr>
        <p:spPr>
          <a:xfrm>
            <a:off x="5664098"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CFE2DB"/>
                </a:solidFill>
                <a:latin typeface="Tajawal" pitchFamily="34" charset="0"/>
                <a:ea typeface="Tajawal" pitchFamily="34" charset="-122"/>
                <a:cs typeface="Tajawal" pitchFamily="34" charset="-120"/>
              </a:rPr>
              <a:t>عدد مؤشرات الاعتماد المرتبطة</a:t>
            </a:r>
            <a:endParaRPr lang="ar-SA" sz="1150" dirty="0"/>
          </a:p>
        </p:txBody>
      </p:sp>
      <p:sp>
        <p:nvSpPr>
          <p:cNvPr id="15" name="Shape 10"/>
          <p:cNvSpPr/>
          <p:nvPr/>
        </p:nvSpPr>
        <p:spPr>
          <a:xfrm>
            <a:off x="411480" y="1828800"/>
            <a:ext cx="3606698" cy="914400"/>
          </a:xfrm>
          <a:prstGeom prst="roundRect">
            <a:avLst>
              <a:gd name="adj" fmla="val 7500"/>
            </a:avLst>
          </a:prstGeom>
          <a:solidFill>
            <a:srgbClr val="FFFFFF"/>
          </a:solidFill>
          <a:ln w="12700">
            <a:solidFill>
              <a:srgbClr val="095242"/>
            </a:solidFill>
            <a:prstDash val="solid"/>
          </a:ln>
        </p:spPr>
      </p:sp>
      <p:sp>
        <p:nvSpPr>
          <p:cNvPr id="16" name="Text 11"/>
          <p:cNvSpPr/>
          <p:nvPr/>
        </p:nvSpPr>
        <p:spPr>
          <a:xfrm>
            <a:off x="548640"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٨٥٪</a:t>
            </a:r>
            <a:endParaRPr lang="ar-SA" sz="2600" dirty="0"/>
          </a:p>
        </p:txBody>
      </p:sp>
      <p:sp>
        <p:nvSpPr>
          <p:cNvPr id="17" name="Text 12"/>
          <p:cNvSpPr/>
          <p:nvPr/>
        </p:nvSpPr>
        <p:spPr>
          <a:xfrm>
            <a:off x="1783080"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نسبة التحقّق المستهدفة</a:t>
            </a:r>
            <a:endParaRPr lang="ar-SA" sz="1150" dirty="0"/>
          </a:p>
        </p:txBody>
      </p:sp>
      <p:sp>
        <p:nvSpPr>
          <p:cNvPr id="18" name="Shape 13"/>
          <p:cNvSpPr/>
          <p:nvPr/>
        </p:nvSpPr>
        <p:spPr>
          <a:xfrm>
            <a:off x="11729923" y="3044952"/>
            <a:ext cx="50292" cy="201168"/>
          </a:xfrm>
          <a:prstGeom prst="rect">
            <a:avLst/>
          </a:prstGeom>
          <a:solidFill>
            <a:srgbClr val="0089A1"/>
          </a:solidFill>
          <a:ln/>
        </p:spPr>
      </p:sp>
      <p:sp>
        <p:nvSpPr>
          <p:cNvPr id="19" name="Text 14"/>
          <p:cNvSpPr/>
          <p:nvPr/>
        </p:nvSpPr>
        <p:spPr>
          <a:xfrm>
            <a:off x="8488375" y="2999232"/>
            <a:ext cx="316382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0" name="Shape 15"/>
          <p:cNvSpPr/>
          <p:nvPr/>
        </p:nvSpPr>
        <p:spPr>
          <a:xfrm>
            <a:off x="9075191" y="3383280"/>
            <a:ext cx="2705024" cy="438912"/>
          </a:xfrm>
          <a:prstGeom prst="roundRect">
            <a:avLst>
              <a:gd name="adj" fmla="val 18750"/>
            </a:avLst>
          </a:prstGeom>
          <a:solidFill>
            <a:srgbClr val="F1F7F4"/>
          </a:solidFill>
          <a:ln w="9525">
            <a:solidFill>
              <a:srgbClr val="DCE8E2"/>
            </a:solidFill>
            <a:prstDash val="solid"/>
          </a:ln>
        </p:spPr>
      </p:sp>
      <p:sp>
        <p:nvSpPr>
          <p:cNvPr id="21" name="Shape 16"/>
          <p:cNvSpPr/>
          <p:nvPr/>
        </p:nvSpPr>
        <p:spPr>
          <a:xfrm>
            <a:off x="11505895" y="3557016"/>
            <a:ext cx="100584" cy="100584"/>
          </a:xfrm>
          <a:prstGeom prst="roundRect">
            <a:avLst>
              <a:gd name="adj" fmla="val 18182"/>
            </a:avLst>
          </a:prstGeom>
          <a:solidFill>
            <a:srgbClr val="0089A1"/>
          </a:solidFill>
          <a:ln/>
        </p:spPr>
      </p:sp>
      <p:sp>
        <p:nvSpPr>
          <p:cNvPr id="22" name="Text 17"/>
          <p:cNvSpPr/>
          <p:nvPr/>
        </p:nvSpPr>
        <p:spPr>
          <a:xfrm>
            <a:off x="9203207"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الأمن والسلامة المدرسية</a:t>
            </a:r>
            <a:endParaRPr lang="ar-SA" sz="1000" dirty="0"/>
          </a:p>
        </p:txBody>
      </p:sp>
      <p:sp>
        <p:nvSpPr>
          <p:cNvPr id="23" name="Shape 18"/>
          <p:cNvSpPr/>
          <p:nvPr/>
        </p:nvSpPr>
        <p:spPr>
          <a:xfrm>
            <a:off x="6187288" y="3383280"/>
            <a:ext cx="2705024" cy="438912"/>
          </a:xfrm>
          <a:prstGeom prst="roundRect">
            <a:avLst>
              <a:gd name="adj" fmla="val 18750"/>
            </a:avLst>
          </a:prstGeom>
          <a:solidFill>
            <a:srgbClr val="F1F7F4"/>
          </a:solidFill>
          <a:ln w="9525">
            <a:solidFill>
              <a:srgbClr val="DCE8E2"/>
            </a:solidFill>
            <a:prstDash val="solid"/>
          </a:ln>
        </p:spPr>
      </p:sp>
      <p:sp>
        <p:nvSpPr>
          <p:cNvPr id="24" name="Shape 19"/>
          <p:cNvSpPr/>
          <p:nvPr/>
        </p:nvSpPr>
        <p:spPr>
          <a:xfrm>
            <a:off x="8617991" y="3557016"/>
            <a:ext cx="100584" cy="100584"/>
          </a:xfrm>
          <a:prstGeom prst="roundRect">
            <a:avLst>
              <a:gd name="adj" fmla="val 18182"/>
            </a:avLst>
          </a:prstGeom>
          <a:solidFill>
            <a:srgbClr val="0089A1"/>
          </a:solidFill>
          <a:ln/>
        </p:spPr>
      </p:sp>
      <p:sp>
        <p:nvSpPr>
          <p:cNvPr id="25" name="Text 20"/>
          <p:cNvSpPr/>
          <p:nvPr/>
        </p:nvSpPr>
        <p:spPr>
          <a:xfrm>
            <a:off x="6315304"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خطة الإخلاء والطوارئ</a:t>
            </a:r>
            <a:endParaRPr lang="ar-SA" sz="1000" dirty="0"/>
          </a:p>
        </p:txBody>
      </p:sp>
      <p:sp>
        <p:nvSpPr>
          <p:cNvPr id="26" name="Shape 21"/>
          <p:cNvSpPr/>
          <p:nvPr/>
        </p:nvSpPr>
        <p:spPr>
          <a:xfrm>
            <a:off x="3299384" y="3383280"/>
            <a:ext cx="2705024" cy="438912"/>
          </a:xfrm>
          <a:prstGeom prst="roundRect">
            <a:avLst>
              <a:gd name="adj" fmla="val 18750"/>
            </a:avLst>
          </a:prstGeom>
          <a:solidFill>
            <a:srgbClr val="F1F7F4"/>
          </a:solidFill>
          <a:ln w="9525">
            <a:solidFill>
              <a:srgbClr val="DCE8E2"/>
            </a:solidFill>
            <a:prstDash val="solid"/>
          </a:ln>
        </p:spPr>
      </p:sp>
      <p:sp>
        <p:nvSpPr>
          <p:cNvPr id="27" name="Shape 22"/>
          <p:cNvSpPr/>
          <p:nvPr/>
        </p:nvSpPr>
        <p:spPr>
          <a:xfrm>
            <a:off x="5730088" y="3557016"/>
            <a:ext cx="100584" cy="100584"/>
          </a:xfrm>
          <a:prstGeom prst="roundRect">
            <a:avLst>
              <a:gd name="adj" fmla="val 18182"/>
            </a:avLst>
          </a:prstGeom>
          <a:solidFill>
            <a:srgbClr val="0089A1"/>
          </a:solidFill>
          <a:ln/>
        </p:spPr>
      </p:sp>
      <p:sp>
        <p:nvSpPr>
          <p:cNvPr id="28" name="Text 23"/>
          <p:cNvSpPr/>
          <p:nvPr/>
        </p:nvSpPr>
        <p:spPr>
          <a:xfrm>
            <a:off x="3427400"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تحسين بيئة الفصول</a:t>
            </a:r>
            <a:endParaRPr lang="ar-SA" sz="1000" dirty="0"/>
          </a:p>
        </p:txBody>
      </p:sp>
      <p:sp>
        <p:nvSpPr>
          <p:cNvPr id="29" name="Shape 24"/>
          <p:cNvSpPr/>
          <p:nvPr/>
        </p:nvSpPr>
        <p:spPr>
          <a:xfrm>
            <a:off x="411480" y="3383280"/>
            <a:ext cx="2705024" cy="438912"/>
          </a:xfrm>
          <a:prstGeom prst="roundRect">
            <a:avLst>
              <a:gd name="adj" fmla="val 18750"/>
            </a:avLst>
          </a:prstGeom>
          <a:solidFill>
            <a:srgbClr val="F1F7F4"/>
          </a:solidFill>
          <a:ln w="9525">
            <a:solidFill>
              <a:srgbClr val="DCE8E2"/>
            </a:solidFill>
            <a:prstDash val="solid"/>
          </a:ln>
        </p:spPr>
      </p:sp>
      <p:sp>
        <p:nvSpPr>
          <p:cNvPr id="30" name="Shape 25"/>
          <p:cNvSpPr/>
          <p:nvPr/>
        </p:nvSpPr>
        <p:spPr>
          <a:xfrm>
            <a:off x="2842184" y="3557016"/>
            <a:ext cx="100584" cy="100584"/>
          </a:xfrm>
          <a:prstGeom prst="roundRect">
            <a:avLst>
              <a:gd name="adj" fmla="val 18182"/>
            </a:avLst>
          </a:prstGeom>
          <a:solidFill>
            <a:srgbClr val="0089A1"/>
          </a:solidFill>
          <a:ln/>
        </p:spPr>
      </p:sp>
      <p:sp>
        <p:nvSpPr>
          <p:cNvPr id="31" name="Text 26"/>
          <p:cNvSpPr/>
          <p:nvPr/>
        </p:nvSpPr>
        <p:spPr>
          <a:xfrm>
            <a:off x="539496"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تجهيز المعامل</a:t>
            </a:r>
            <a:endParaRPr lang="ar-SA" sz="1000" dirty="0"/>
          </a:p>
        </p:txBody>
      </p:sp>
      <p:sp>
        <p:nvSpPr>
          <p:cNvPr id="32" name="Shape 27"/>
          <p:cNvSpPr/>
          <p:nvPr/>
        </p:nvSpPr>
        <p:spPr>
          <a:xfrm>
            <a:off x="9075191" y="3950208"/>
            <a:ext cx="2705024" cy="438912"/>
          </a:xfrm>
          <a:prstGeom prst="roundRect">
            <a:avLst>
              <a:gd name="adj" fmla="val 18750"/>
            </a:avLst>
          </a:prstGeom>
          <a:solidFill>
            <a:srgbClr val="F1F7F4"/>
          </a:solidFill>
          <a:ln w="9525">
            <a:solidFill>
              <a:srgbClr val="DCE8E2"/>
            </a:solidFill>
            <a:prstDash val="solid"/>
          </a:ln>
        </p:spPr>
      </p:sp>
      <p:sp>
        <p:nvSpPr>
          <p:cNvPr id="33" name="Shape 28"/>
          <p:cNvSpPr/>
          <p:nvPr/>
        </p:nvSpPr>
        <p:spPr>
          <a:xfrm>
            <a:off x="11505895" y="4123944"/>
            <a:ext cx="100584" cy="100584"/>
          </a:xfrm>
          <a:prstGeom prst="roundRect">
            <a:avLst>
              <a:gd name="adj" fmla="val 18182"/>
            </a:avLst>
          </a:prstGeom>
          <a:solidFill>
            <a:srgbClr val="0089A1"/>
          </a:solidFill>
          <a:ln/>
        </p:spPr>
      </p:sp>
      <p:sp>
        <p:nvSpPr>
          <p:cNvPr id="34" name="Text 29"/>
          <p:cNvSpPr/>
          <p:nvPr/>
        </p:nvSpPr>
        <p:spPr>
          <a:xfrm>
            <a:off x="9203207"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تحسين التهوية والإضاءة</a:t>
            </a:r>
            <a:endParaRPr lang="ar-SA" sz="1000" dirty="0"/>
          </a:p>
        </p:txBody>
      </p:sp>
      <p:sp>
        <p:nvSpPr>
          <p:cNvPr id="35" name="Shape 30"/>
          <p:cNvSpPr/>
          <p:nvPr/>
        </p:nvSpPr>
        <p:spPr>
          <a:xfrm>
            <a:off x="6187288" y="3950208"/>
            <a:ext cx="2705024" cy="438912"/>
          </a:xfrm>
          <a:prstGeom prst="roundRect">
            <a:avLst>
              <a:gd name="adj" fmla="val 18750"/>
            </a:avLst>
          </a:prstGeom>
          <a:solidFill>
            <a:srgbClr val="F1F7F4"/>
          </a:solidFill>
          <a:ln w="9525">
            <a:solidFill>
              <a:srgbClr val="DCE8E2"/>
            </a:solidFill>
            <a:prstDash val="solid"/>
          </a:ln>
        </p:spPr>
      </p:sp>
      <p:sp>
        <p:nvSpPr>
          <p:cNvPr id="36" name="Shape 31"/>
          <p:cNvSpPr/>
          <p:nvPr/>
        </p:nvSpPr>
        <p:spPr>
          <a:xfrm>
            <a:off x="8617991" y="4123944"/>
            <a:ext cx="100584" cy="100584"/>
          </a:xfrm>
          <a:prstGeom prst="roundRect">
            <a:avLst>
              <a:gd name="adj" fmla="val 18182"/>
            </a:avLst>
          </a:prstGeom>
          <a:solidFill>
            <a:srgbClr val="0089A1"/>
          </a:solidFill>
          <a:ln/>
        </p:spPr>
      </p:sp>
      <p:sp>
        <p:nvSpPr>
          <p:cNvPr id="37" name="Text 32"/>
          <p:cNvSpPr/>
          <p:nvPr/>
        </p:nvSpPr>
        <p:spPr>
          <a:xfrm>
            <a:off x="6315304"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صيانة الأثاث</a:t>
            </a:r>
            <a:endParaRPr lang="ar-SA" sz="1000" dirty="0"/>
          </a:p>
        </p:txBody>
      </p:sp>
      <p:sp>
        <p:nvSpPr>
          <p:cNvPr id="38" name="Shape 33"/>
          <p:cNvSpPr/>
          <p:nvPr/>
        </p:nvSpPr>
        <p:spPr>
          <a:xfrm>
            <a:off x="3299384" y="3950208"/>
            <a:ext cx="2705024" cy="438912"/>
          </a:xfrm>
          <a:prstGeom prst="roundRect">
            <a:avLst>
              <a:gd name="adj" fmla="val 18750"/>
            </a:avLst>
          </a:prstGeom>
          <a:solidFill>
            <a:srgbClr val="F1F7F4"/>
          </a:solidFill>
          <a:ln w="9525">
            <a:solidFill>
              <a:srgbClr val="DCE8E2"/>
            </a:solidFill>
            <a:prstDash val="solid"/>
          </a:ln>
        </p:spPr>
      </p:sp>
      <p:sp>
        <p:nvSpPr>
          <p:cNvPr id="39" name="Shape 34"/>
          <p:cNvSpPr/>
          <p:nvPr/>
        </p:nvSpPr>
        <p:spPr>
          <a:xfrm>
            <a:off x="5730088" y="4123944"/>
            <a:ext cx="100584" cy="100584"/>
          </a:xfrm>
          <a:prstGeom prst="roundRect">
            <a:avLst>
              <a:gd name="adj" fmla="val 18182"/>
            </a:avLst>
          </a:prstGeom>
          <a:solidFill>
            <a:srgbClr val="0089A1"/>
          </a:solidFill>
          <a:ln/>
        </p:spPr>
      </p:sp>
      <p:sp>
        <p:nvSpPr>
          <p:cNvPr id="40" name="Text 35"/>
          <p:cNvSpPr/>
          <p:nvPr/>
        </p:nvSpPr>
        <p:spPr>
          <a:xfrm>
            <a:off x="3427400"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تحسين الساحات المدرسية</a:t>
            </a:r>
            <a:endParaRPr lang="ar-SA" sz="1000" dirty="0"/>
          </a:p>
        </p:txBody>
      </p:sp>
      <p:sp>
        <p:nvSpPr>
          <p:cNvPr id="41" name="Shape 36"/>
          <p:cNvSpPr/>
          <p:nvPr/>
        </p:nvSpPr>
        <p:spPr>
          <a:xfrm>
            <a:off x="411480" y="3950208"/>
            <a:ext cx="2705024" cy="438912"/>
          </a:xfrm>
          <a:prstGeom prst="roundRect">
            <a:avLst>
              <a:gd name="adj" fmla="val 18750"/>
            </a:avLst>
          </a:prstGeom>
          <a:solidFill>
            <a:srgbClr val="F1F7F4"/>
          </a:solidFill>
          <a:ln w="9525">
            <a:solidFill>
              <a:srgbClr val="DCE8E2"/>
            </a:solidFill>
            <a:prstDash val="solid"/>
          </a:ln>
        </p:spPr>
      </p:sp>
      <p:sp>
        <p:nvSpPr>
          <p:cNvPr id="42" name="Shape 37"/>
          <p:cNvSpPr/>
          <p:nvPr/>
        </p:nvSpPr>
        <p:spPr>
          <a:xfrm>
            <a:off x="2842184" y="4123944"/>
            <a:ext cx="100584" cy="100584"/>
          </a:xfrm>
          <a:prstGeom prst="roundRect">
            <a:avLst>
              <a:gd name="adj" fmla="val 18182"/>
            </a:avLst>
          </a:prstGeom>
          <a:solidFill>
            <a:srgbClr val="0089A1"/>
          </a:solidFill>
          <a:ln/>
        </p:spPr>
      </p:sp>
      <p:sp>
        <p:nvSpPr>
          <p:cNvPr id="43" name="Text 38"/>
          <p:cNvSpPr/>
          <p:nvPr/>
        </p:nvSpPr>
        <p:spPr>
          <a:xfrm>
            <a:off x="539496"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تطوير المقصف المدرسي</a:t>
            </a:r>
            <a:endParaRPr lang="ar-SA" sz="1000" dirty="0"/>
          </a:p>
        </p:txBody>
      </p:sp>
      <p:sp>
        <p:nvSpPr>
          <p:cNvPr id="44" name="Shape 39"/>
          <p:cNvSpPr/>
          <p:nvPr/>
        </p:nvSpPr>
        <p:spPr>
          <a:xfrm>
            <a:off x="9075191" y="4517136"/>
            <a:ext cx="2705024" cy="438912"/>
          </a:xfrm>
          <a:prstGeom prst="roundRect">
            <a:avLst>
              <a:gd name="adj" fmla="val 18750"/>
            </a:avLst>
          </a:prstGeom>
          <a:solidFill>
            <a:srgbClr val="F1F7F4"/>
          </a:solidFill>
          <a:ln w="9525">
            <a:solidFill>
              <a:srgbClr val="DCE8E2"/>
            </a:solidFill>
            <a:prstDash val="solid"/>
          </a:ln>
        </p:spPr>
      </p:sp>
      <p:sp>
        <p:nvSpPr>
          <p:cNvPr id="45" name="Shape 40"/>
          <p:cNvSpPr/>
          <p:nvPr/>
        </p:nvSpPr>
        <p:spPr>
          <a:xfrm>
            <a:off x="11505895" y="4690872"/>
            <a:ext cx="100584" cy="100584"/>
          </a:xfrm>
          <a:prstGeom prst="roundRect">
            <a:avLst>
              <a:gd name="adj" fmla="val 18182"/>
            </a:avLst>
          </a:prstGeom>
          <a:solidFill>
            <a:srgbClr val="0089A1"/>
          </a:solidFill>
          <a:ln/>
        </p:spPr>
      </p:sp>
      <p:sp>
        <p:nvSpPr>
          <p:cNvPr id="46" name="Text 41"/>
          <p:cNvSpPr/>
          <p:nvPr/>
        </p:nvSpPr>
        <p:spPr>
          <a:xfrm>
            <a:off x="9203207"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النشاط البدني المدرسي</a:t>
            </a:r>
            <a:endParaRPr lang="ar-SA" sz="1000" dirty="0"/>
          </a:p>
        </p:txBody>
      </p:sp>
      <p:sp>
        <p:nvSpPr>
          <p:cNvPr id="47" name="Shape 42"/>
          <p:cNvSpPr/>
          <p:nvPr/>
        </p:nvSpPr>
        <p:spPr>
          <a:xfrm>
            <a:off x="6187288" y="4517136"/>
            <a:ext cx="2705024" cy="438912"/>
          </a:xfrm>
          <a:prstGeom prst="roundRect">
            <a:avLst>
              <a:gd name="adj" fmla="val 18750"/>
            </a:avLst>
          </a:prstGeom>
          <a:solidFill>
            <a:srgbClr val="F1F7F4"/>
          </a:solidFill>
          <a:ln w="9525">
            <a:solidFill>
              <a:srgbClr val="DCE8E2"/>
            </a:solidFill>
            <a:prstDash val="solid"/>
          </a:ln>
        </p:spPr>
      </p:sp>
      <p:sp>
        <p:nvSpPr>
          <p:cNvPr id="48" name="Shape 43"/>
          <p:cNvSpPr/>
          <p:nvPr/>
        </p:nvSpPr>
        <p:spPr>
          <a:xfrm>
            <a:off x="8617991" y="4690872"/>
            <a:ext cx="100584" cy="100584"/>
          </a:xfrm>
          <a:prstGeom prst="roundRect">
            <a:avLst>
              <a:gd name="adj" fmla="val 18182"/>
            </a:avLst>
          </a:prstGeom>
          <a:solidFill>
            <a:srgbClr val="0089A1"/>
          </a:solidFill>
          <a:ln/>
        </p:spPr>
      </p:sp>
      <p:sp>
        <p:nvSpPr>
          <p:cNvPr id="49" name="Text 44"/>
          <p:cNvSpPr/>
          <p:nvPr/>
        </p:nvSpPr>
        <p:spPr>
          <a:xfrm>
            <a:off x="6315304"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الصيانة الوقائية</a:t>
            </a:r>
            <a:endParaRPr lang="ar-SA" sz="1000" dirty="0"/>
          </a:p>
        </p:txBody>
      </p:sp>
      <p:sp>
        <p:nvSpPr>
          <p:cNvPr id="50" name="Shape 45"/>
          <p:cNvSpPr/>
          <p:nvPr/>
        </p:nvSpPr>
        <p:spPr>
          <a:xfrm>
            <a:off x="3299384" y="4517136"/>
            <a:ext cx="2705024" cy="438912"/>
          </a:xfrm>
          <a:prstGeom prst="roundRect">
            <a:avLst>
              <a:gd name="adj" fmla="val 18750"/>
            </a:avLst>
          </a:prstGeom>
          <a:solidFill>
            <a:srgbClr val="F1F7F4"/>
          </a:solidFill>
          <a:ln w="9525">
            <a:solidFill>
              <a:srgbClr val="DCE8E2"/>
            </a:solidFill>
            <a:prstDash val="solid"/>
          </a:ln>
        </p:spPr>
      </p:sp>
      <p:sp>
        <p:nvSpPr>
          <p:cNvPr id="51" name="Shape 46"/>
          <p:cNvSpPr/>
          <p:nvPr/>
        </p:nvSpPr>
        <p:spPr>
          <a:xfrm>
            <a:off x="5730088" y="4690872"/>
            <a:ext cx="100584" cy="100584"/>
          </a:xfrm>
          <a:prstGeom prst="roundRect">
            <a:avLst>
              <a:gd name="adj" fmla="val 18182"/>
            </a:avLst>
          </a:prstGeom>
          <a:solidFill>
            <a:srgbClr val="0089A1"/>
          </a:solidFill>
          <a:ln/>
        </p:spPr>
      </p:sp>
      <p:sp>
        <p:nvSpPr>
          <p:cNvPr id="52" name="Text 47"/>
          <p:cNvSpPr/>
          <p:nvPr/>
        </p:nvSpPr>
        <p:spPr>
          <a:xfrm>
            <a:off x="3427400"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النظافة المدرسية</a:t>
            </a:r>
            <a:endParaRPr lang="ar-SA" sz="1000" dirty="0"/>
          </a:p>
        </p:txBody>
      </p:sp>
      <p:sp>
        <p:nvSpPr>
          <p:cNvPr id="53" name="Shape 48"/>
          <p:cNvSpPr/>
          <p:nvPr/>
        </p:nvSpPr>
        <p:spPr>
          <a:xfrm>
            <a:off x="411480" y="4517136"/>
            <a:ext cx="2705024" cy="438912"/>
          </a:xfrm>
          <a:prstGeom prst="roundRect">
            <a:avLst>
              <a:gd name="adj" fmla="val 18750"/>
            </a:avLst>
          </a:prstGeom>
          <a:solidFill>
            <a:srgbClr val="F1F7F4"/>
          </a:solidFill>
          <a:ln w="9525">
            <a:solidFill>
              <a:srgbClr val="DCE8E2"/>
            </a:solidFill>
            <a:prstDash val="solid"/>
          </a:ln>
        </p:spPr>
      </p:sp>
      <p:sp>
        <p:nvSpPr>
          <p:cNvPr id="54" name="Shape 49"/>
          <p:cNvSpPr/>
          <p:nvPr/>
        </p:nvSpPr>
        <p:spPr>
          <a:xfrm>
            <a:off x="2842184" y="4690872"/>
            <a:ext cx="100584" cy="100584"/>
          </a:xfrm>
          <a:prstGeom prst="roundRect">
            <a:avLst>
              <a:gd name="adj" fmla="val 18182"/>
            </a:avLst>
          </a:prstGeom>
          <a:solidFill>
            <a:srgbClr val="0089A1"/>
          </a:solidFill>
          <a:ln/>
        </p:spPr>
      </p:sp>
      <p:sp>
        <p:nvSpPr>
          <p:cNvPr id="55" name="Text 50"/>
          <p:cNvSpPr/>
          <p:nvPr/>
        </p:nvSpPr>
        <p:spPr>
          <a:xfrm>
            <a:off x="539496"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إدارة المخاطر</a:t>
            </a:r>
            <a:endParaRPr lang="ar-SA" sz="1000" dirty="0"/>
          </a:p>
        </p:txBody>
      </p:sp>
      <p:sp>
        <p:nvSpPr>
          <p:cNvPr id="56" name="Shape 51"/>
          <p:cNvSpPr/>
          <p:nvPr/>
        </p:nvSpPr>
        <p:spPr>
          <a:xfrm>
            <a:off x="7802575" y="5193792"/>
            <a:ext cx="3977640" cy="1261872"/>
          </a:xfrm>
          <a:prstGeom prst="roundRect">
            <a:avLst>
              <a:gd name="adj" fmla="val 5435"/>
            </a:avLst>
          </a:prstGeom>
          <a:solidFill>
            <a:srgbClr val="FFFFFF"/>
          </a:solidFill>
          <a:ln w="9525">
            <a:solidFill>
              <a:srgbClr val="DCE8E2"/>
            </a:solidFill>
            <a:prstDash val="solid"/>
          </a:ln>
        </p:spPr>
      </p:sp>
      <p:sp>
        <p:nvSpPr>
          <p:cNvPr id="57" name="Text 52"/>
          <p:cNvSpPr/>
          <p:nvPr/>
        </p:nvSpPr>
        <p:spPr>
          <a:xfrm>
            <a:off x="8031175" y="5285232"/>
            <a:ext cx="3520440" cy="292608"/>
          </a:xfrm>
          <a:prstGeom prst="rect">
            <a:avLst/>
          </a:prstGeom>
          <a:noFill/>
          <a:ln/>
        </p:spPr>
        <p:txBody>
          <a:bodyPr wrap="square" lIns="0" tIns="0" rIns="0" bIns="0" rtlCol="0" anchor="t"/>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مؤشرات الاعتماد المدرسي</a:t>
            </a:r>
            <a:endParaRPr lang="ar-SA" sz="1050" dirty="0"/>
          </a:p>
        </p:txBody>
      </p:sp>
      <p:sp>
        <p:nvSpPr>
          <p:cNvPr id="58" name="Shape 53"/>
          <p:cNvSpPr/>
          <p:nvPr/>
        </p:nvSpPr>
        <p:spPr>
          <a:xfrm>
            <a:off x="10893247" y="5632704"/>
            <a:ext cx="658368" cy="274320"/>
          </a:xfrm>
          <a:prstGeom prst="roundRect">
            <a:avLst>
              <a:gd name="adj" fmla="val 20000"/>
            </a:avLst>
          </a:prstGeom>
          <a:solidFill>
            <a:srgbClr val="FFFFFF"/>
          </a:solidFill>
          <a:ln w="9525">
            <a:solidFill>
              <a:srgbClr val="095242"/>
            </a:solidFill>
            <a:prstDash val="solid"/>
          </a:ln>
        </p:spPr>
      </p:sp>
      <p:sp>
        <p:nvSpPr>
          <p:cNvPr id="59" name="Text 54"/>
          <p:cNvSpPr/>
          <p:nvPr/>
        </p:nvSpPr>
        <p:spPr>
          <a:xfrm>
            <a:off x="10893247"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‎1-1-1-1‎</a:t>
            </a:r>
            <a:endParaRPr lang="ar-SA" sz="800" dirty="0"/>
          </a:p>
        </p:txBody>
      </p:sp>
      <p:sp>
        <p:nvSpPr>
          <p:cNvPr id="60" name="Shape 55"/>
          <p:cNvSpPr/>
          <p:nvPr/>
        </p:nvSpPr>
        <p:spPr>
          <a:xfrm>
            <a:off x="10125151" y="5632704"/>
            <a:ext cx="658368" cy="274320"/>
          </a:xfrm>
          <a:prstGeom prst="roundRect">
            <a:avLst>
              <a:gd name="adj" fmla="val 20000"/>
            </a:avLst>
          </a:prstGeom>
          <a:solidFill>
            <a:srgbClr val="FFFFFF"/>
          </a:solidFill>
          <a:ln w="9525">
            <a:solidFill>
              <a:srgbClr val="095242"/>
            </a:solidFill>
            <a:prstDash val="solid"/>
          </a:ln>
        </p:spPr>
      </p:sp>
      <p:sp>
        <p:nvSpPr>
          <p:cNvPr id="61" name="Text 56"/>
          <p:cNvSpPr/>
          <p:nvPr/>
        </p:nvSpPr>
        <p:spPr>
          <a:xfrm>
            <a:off x="10125151"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‎1-4-1-7‎</a:t>
            </a:r>
            <a:endParaRPr lang="ar-SA" sz="800" dirty="0"/>
          </a:p>
        </p:txBody>
      </p:sp>
      <p:sp>
        <p:nvSpPr>
          <p:cNvPr id="62" name="Shape 57"/>
          <p:cNvSpPr/>
          <p:nvPr/>
        </p:nvSpPr>
        <p:spPr>
          <a:xfrm>
            <a:off x="9357055" y="5632704"/>
            <a:ext cx="658368" cy="274320"/>
          </a:xfrm>
          <a:prstGeom prst="roundRect">
            <a:avLst>
              <a:gd name="adj" fmla="val 20000"/>
            </a:avLst>
          </a:prstGeom>
          <a:solidFill>
            <a:srgbClr val="FFFFFF"/>
          </a:solidFill>
          <a:ln w="9525">
            <a:solidFill>
              <a:srgbClr val="095242"/>
            </a:solidFill>
            <a:prstDash val="solid"/>
          </a:ln>
        </p:spPr>
      </p:sp>
      <p:sp>
        <p:nvSpPr>
          <p:cNvPr id="63" name="Text 58"/>
          <p:cNvSpPr/>
          <p:nvPr/>
        </p:nvSpPr>
        <p:spPr>
          <a:xfrm>
            <a:off x="9357055"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‎3-2-1-3‎</a:t>
            </a:r>
            <a:endParaRPr lang="ar-SA" sz="800" dirty="0"/>
          </a:p>
        </p:txBody>
      </p:sp>
      <p:sp>
        <p:nvSpPr>
          <p:cNvPr id="64" name="Shape 59"/>
          <p:cNvSpPr/>
          <p:nvPr/>
        </p:nvSpPr>
        <p:spPr>
          <a:xfrm>
            <a:off x="8588959" y="5632704"/>
            <a:ext cx="658368" cy="274320"/>
          </a:xfrm>
          <a:prstGeom prst="roundRect">
            <a:avLst>
              <a:gd name="adj" fmla="val 20000"/>
            </a:avLst>
          </a:prstGeom>
          <a:solidFill>
            <a:srgbClr val="FFFFFF"/>
          </a:solidFill>
          <a:ln w="9525">
            <a:solidFill>
              <a:srgbClr val="095242"/>
            </a:solidFill>
            <a:prstDash val="solid"/>
          </a:ln>
        </p:spPr>
      </p:sp>
      <p:sp>
        <p:nvSpPr>
          <p:cNvPr id="65" name="Text 60"/>
          <p:cNvSpPr/>
          <p:nvPr/>
        </p:nvSpPr>
        <p:spPr>
          <a:xfrm>
            <a:off x="8588959"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‎4-1-1-1‎</a:t>
            </a:r>
            <a:endParaRPr lang="ar-SA" sz="800" dirty="0"/>
          </a:p>
        </p:txBody>
      </p:sp>
      <p:sp>
        <p:nvSpPr>
          <p:cNvPr id="66" name="Shape 61"/>
          <p:cNvSpPr/>
          <p:nvPr/>
        </p:nvSpPr>
        <p:spPr>
          <a:xfrm>
            <a:off x="7820863" y="5632704"/>
            <a:ext cx="658368" cy="274320"/>
          </a:xfrm>
          <a:prstGeom prst="roundRect">
            <a:avLst>
              <a:gd name="adj" fmla="val 20000"/>
            </a:avLst>
          </a:prstGeom>
          <a:solidFill>
            <a:srgbClr val="FFFFFF"/>
          </a:solidFill>
          <a:ln w="9525">
            <a:solidFill>
              <a:srgbClr val="095242"/>
            </a:solidFill>
            <a:prstDash val="solid"/>
          </a:ln>
        </p:spPr>
      </p:sp>
      <p:sp>
        <p:nvSpPr>
          <p:cNvPr id="67" name="Text 62"/>
          <p:cNvSpPr/>
          <p:nvPr/>
        </p:nvSpPr>
        <p:spPr>
          <a:xfrm>
            <a:off x="7820863"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‎4-1-1-2‎</a:t>
            </a:r>
            <a:endParaRPr lang="ar-SA" sz="800" dirty="0"/>
          </a:p>
        </p:txBody>
      </p:sp>
      <p:sp>
        <p:nvSpPr>
          <p:cNvPr id="68" name="Shape 63"/>
          <p:cNvSpPr/>
          <p:nvPr/>
        </p:nvSpPr>
        <p:spPr>
          <a:xfrm>
            <a:off x="10893247" y="5998464"/>
            <a:ext cx="658368" cy="274320"/>
          </a:xfrm>
          <a:prstGeom prst="roundRect">
            <a:avLst>
              <a:gd name="adj" fmla="val 20000"/>
            </a:avLst>
          </a:prstGeom>
          <a:solidFill>
            <a:srgbClr val="FFFFFF"/>
          </a:solidFill>
          <a:ln w="9525">
            <a:solidFill>
              <a:srgbClr val="095242"/>
            </a:solidFill>
            <a:prstDash val="solid"/>
          </a:ln>
        </p:spPr>
      </p:sp>
      <p:sp>
        <p:nvSpPr>
          <p:cNvPr id="69" name="Text 64"/>
          <p:cNvSpPr/>
          <p:nvPr/>
        </p:nvSpPr>
        <p:spPr>
          <a:xfrm>
            <a:off x="10893247"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‎4-1-1-3‎</a:t>
            </a:r>
            <a:endParaRPr lang="ar-SA" sz="800" dirty="0"/>
          </a:p>
        </p:txBody>
      </p:sp>
      <p:sp>
        <p:nvSpPr>
          <p:cNvPr id="70" name="Shape 65"/>
          <p:cNvSpPr/>
          <p:nvPr/>
        </p:nvSpPr>
        <p:spPr>
          <a:xfrm>
            <a:off x="10125151" y="5998464"/>
            <a:ext cx="658368" cy="274320"/>
          </a:xfrm>
          <a:prstGeom prst="roundRect">
            <a:avLst>
              <a:gd name="adj" fmla="val 20000"/>
            </a:avLst>
          </a:prstGeom>
          <a:solidFill>
            <a:srgbClr val="FFFFFF"/>
          </a:solidFill>
          <a:ln w="9525">
            <a:solidFill>
              <a:srgbClr val="095242"/>
            </a:solidFill>
            <a:prstDash val="solid"/>
          </a:ln>
        </p:spPr>
      </p:sp>
      <p:sp>
        <p:nvSpPr>
          <p:cNvPr id="71" name="Text 66"/>
          <p:cNvSpPr/>
          <p:nvPr/>
        </p:nvSpPr>
        <p:spPr>
          <a:xfrm>
            <a:off x="10125151"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‎4-1-1-4‎</a:t>
            </a:r>
            <a:endParaRPr lang="ar-SA" sz="800" dirty="0"/>
          </a:p>
        </p:txBody>
      </p:sp>
      <p:sp>
        <p:nvSpPr>
          <p:cNvPr id="72" name="Shape 67"/>
          <p:cNvSpPr/>
          <p:nvPr/>
        </p:nvSpPr>
        <p:spPr>
          <a:xfrm>
            <a:off x="9357055" y="5998464"/>
            <a:ext cx="658368" cy="274320"/>
          </a:xfrm>
          <a:prstGeom prst="roundRect">
            <a:avLst>
              <a:gd name="adj" fmla="val 20000"/>
            </a:avLst>
          </a:prstGeom>
          <a:solidFill>
            <a:srgbClr val="FFFFFF"/>
          </a:solidFill>
          <a:ln w="9525">
            <a:solidFill>
              <a:srgbClr val="095242"/>
            </a:solidFill>
            <a:prstDash val="solid"/>
          </a:ln>
        </p:spPr>
      </p:sp>
      <p:sp>
        <p:nvSpPr>
          <p:cNvPr id="73" name="Text 68"/>
          <p:cNvSpPr/>
          <p:nvPr/>
        </p:nvSpPr>
        <p:spPr>
          <a:xfrm>
            <a:off x="9357055"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‎4-2-1-1‎</a:t>
            </a:r>
            <a:endParaRPr lang="ar-SA" sz="800" dirty="0"/>
          </a:p>
        </p:txBody>
      </p:sp>
      <p:sp>
        <p:nvSpPr>
          <p:cNvPr id="74" name="Shape 69"/>
          <p:cNvSpPr/>
          <p:nvPr/>
        </p:nvSpPr>
        <p:spPr>
          <a:xfrm>
            <a:off x="8588959" y="5998464"/>
            <a:ext cx="658368" cy="274320"/>
          </a:xfrm>
          <a:prstGeom prst="roundRect">
            <a:avLst>
              <a:gd name="adj" fmla="val 20000"/>
            </a:avLst>
          </a:prstGeom>
          <a:solidFill>
            <a:srgbClr val="FFFFFF"/>
          </a:solidFill>
          <a:ln w="9525">
            <a:solidFill>
              <a:srgbClr val="095242"/>
            </a:solidFill>
            <a:prstDash val="solid"/>
          </a:ln>
        </p:spPr>
      </p:sp>
      <p:sp>
        <p:nvSpPr>
          <p:cNvPr id="75" name="Text 70"/>
          <p:cNvSpPr/>
          <p:nvPr/>
        </p:nvSpPr>
        <p:spPr>
          <a:xfrm>
            <a:off x="8588959"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‎4-2-1-2‎</a:t>
            </a:r>
            <a:endParaRPr lang="ar-SA" sz="800" dirty="0"/>
          </a:p>
        </p:txBody>
      </p:sp>
      <p:sp>
        <p:nvSpPr>
          <p:cNvPr id="76" name="Shape 71"/>
          <p:cNvSpPr/>
          <p:nvPr/>
        </p:nvSpPr>
        <p:spPr>
          <a:xfrm>
            <a:off x="7820863" y="5998464"/>
            <a:ext cx="658368" cy="274320"/>
          </a:xfrm>
          <a:prstGeom prst="roundRect">
            <a:avLst>
              <a:gd name="adj" fmla="val 20000"/>
            </a:avLst>
          </a:prstGeom>
          <a:solidFill>
            <a:srgbClr val="FFFFFF"/>
          </a:solidFill>
          <a:ln w="9525">
            <a:solidFill>
              <a:srgbClr val="095242"/>
            </a:solidFill>
            <a:prstDash val="solid"/>
          </a:ln>
        </p:spPr>
      </p:sp>
      <p:sp>
        <p:nvSpPr>
          <p:cNvPr id="77" name="Text 72"/>
          <p:cNvSpPr/>
          <p:nvPr/>
        </p:nvSpPr>
        <p:spPr>
          <a:xfrm>
            <a:off x="7820863"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‎4-2-1-3‎</a:t>
            </a:r>
            <a:endParaRPr lang="ar-SA" sz="800" dirty="0"/>
          </a:p>
        </p:txBody>
      </p:sp>
      <p:sp>
        <p:nvSpPr>
          <p:cNvPr id="78" name="Shape 73"/>
          <p:cNvSpPr/>
          <p:nvPr/>
        </p:nvSpPr>
        <p:spPr>
          <a:xfrm>
            <a:off x="411480" y="5193792"/>
            <a:ext cx="7116775" cy="1261872"/>
          </a:xfrm>
          <a:prstGeom prst="roundRect">
            <a:avLst>
              <a:gd name="adj" fmla="val 5435"/>
            </a:avLst>
          </a:prstGeom>
          <a:solidFill>
            <a:srgbClr val="095242"/>
          </a:solidFill>
          <a:ln/>
          <a:effectLst>
            <a:outerShdw sx="100000" sy="100000" kx="0" ky="0" algn="bl" rotWithShape="0" blurRad="88900" dist="25400" dir="5400000">
              <a:srgbClr val="083528">
                <a:alpha val="22000"/>
              </a:srgbClr>
            </a:outerShdw>
          </a:effectLst>
        </p:spPr>
      </p:sp>
      <p:pic>
        <p:nvPicPr>
          <p:cNvPr id="79" name="Image 3" descr="/tmp/claude-0/-home-user-Mobile1/ab9bbf47-b054-5f6e-be59-70476e095ce8/scratchpad/assets/icons/sparkles_white.png">    </p:cNvPr>
          <p:cNvPicPr>
            <a:picLocks noChangeAspect="1"/>
          </p:cNvPicPr>
          <p:nvPr/>
        </p:nvPicPr>
        <p:blipFill>
          <a:blip r:embed="rId4"/>
          <a:stretch>
            <a:fillRect/>
          </a:stretch>
        </p:blipFill>
        <p:spPr>
          <a:xfrm>
            <a:off x="7052767" y="5303520"/>
            <a:ext cx="256032" cy="256032"/>
          </a:xfrm>
          <a:prstGeom prst="rect">
            <a:avLst/>
          </a:prstGeom>
        </p:spPr>
      </p:pic>
      <p:sp>
        <p:nvSpPr>
          <p:cNvPr id="80" name="Text 74"/>
          <p:cNvSpPr/>
          <p:nvPr/>
        </p:nvSpPr>
        <p:spPr>
          <a:xfrm>
            <a:off x="685800" y="5285232"/>
            <a:ext cx="6248095" cy="292608"/>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81" name="Text 75"/>
          <p:cNvSpPr/>
          <p:nvPr/>
        </p:nvSpPr>
        <p:spPr>
          <a:xfrm>
            <a:off x="685800" y="5614416"/>
            <a:ext cx="6549847" cy="749808"/>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9E9E3"/>
                </a:solidFill>
                <a:latin typeface="Tajawal" pitchFamily="34" charset="0"/>
                <a:ea typeface="Tajawal" pitchFamily="34" charset="-122"/>
                <a:cs typeface="Tajawal" pitchFamily="34" charset="-120"/>
              </a:rPr>
              <a:t>بيئة مدرسية صحيّة ومنظّمة • فصول ومعامل مجهّزة بمعايير السلامة • انخفاض في حوادث الإصابة • صيانة وقائية موثّقة.</a:t>
            </a:r>
            <a:endParaRPr lang="ar-SA" sz="9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١٨</a:t>
            </a:r>
            <a:endParaRPr lang="ar-SA" sz="850" dirty="0"/>
          </a:p>
        </p:txBody>
      </p:sp>
      <p:sp>
        <p:nvSpPr>
          <p:cNvPr id="5" name="Shape 2"/>
          <p:cNvSpPr/>
          <p:nvPr/>
        </p:nvSpPr>
        <p:spPr>
          <a:xfrm>
            <a:off x="411480" y="274320"/>
            <a:ext cx="11368735" cy="548640"/>
          </a:xfrm>
          <a:prstGeom prst="roundRect">
            <a:avLst>
              <a:gd name="adj" fmla="val 15000"/>
            </a:avLst>
          </a:prstGeom>
          <a:solidFill>
            <a:srgbClr val="095242"/>
          </a:solidFill>
          <a:ln/>
        </p:spPr>
      </p:sp>
      <p:sp>
        <p:nvSpPr>
          <p:cNvPr id="6" name="Shape 3"/>
          <p:cNvSpPr/>
          <p:nvPr/>
        </p:nvSpPr>
        <p:spPr>
          <a:xfrm>
            <a:off x="576072" y="379476"/>
            <a:ext cx="137160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576072" y="370332"/>
            <a:ext cx="137160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194560" y="274320"/>
            <a:ext cx="931133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٢ — تطوير بيئة مدرسية آمنة وابتكارية</a:t>
            </a:r>
            <a:endParaRPr lang="ar-SA" sz="15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14400"/>
        </p:xfrm>
        <a:graphic>
          <a:graphicData uri="http://schemas.openxmlformats.org/drawingml/2006/table">
            <a:tbl>
              <a:tblPr/>
              <a:tblGrid>
                <a:gridCol w="9631375"/>
                <a:gridCol w="1737360"/>
              </a:tblGrid>
              <a:tr h="274320">
                <a:tc>
                  <a:txBody>
                    <a:bodyPr/>
                    <a:lstStyle/>
                    <a:p>
                      <a:pPr rtl="1" algn="r" indent="0" marL="0">
                        <a:buNone/>
                      </a:pPr>
                      <a:r>
                        <a:rPr lang="ar-SA" altLang="en-US" sz="940" b="1" dirty="0">
                          <a:solidFill>
                            <a:srgbClr val="063E33"/>
                          </a:solidFill>
                          <a:latin typeface="Tajawal" pitchFamily="34" charset="0"/>
                          <a:ea typeface="Tajawal" pitchFamily="34" charset="-122"/>
                          <a:cs typeface="Tajawal" pitchFamily="34" charset="-120"/>
                        </a:rPr>
                        <a:t>تطوير بيئة مدرسية آمنة وابتكارية</a:t>
                      </a:r>
                      <a:endParaRPr lang="ar-SA" sz="9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548640">
                <a:tc>
                  <a:txBody>
                    <a:bodyPr/>
                    <a:lstStyle/>
                    <a:p>
                      <a:pPr rtl="1" algn="r" indent="0" marL="0">
                        <a:buNone/>
                      </a:pPr>
                      <a:r>
                        <a:rPr lang="ar-SA" altLang="en-US" sz="820" dirty="0">
                          <a:solidFill>
                            <a:srgbClr val="33473F"/>
                          </a:solidFill>
                          <a:latin typeface="Tajawal" pitchFamily="34" charset="0"/>
                          <a:ea typeface="Tajawal" pitchFamily="34" charset="-122"/>
                          <a:cs typeface="Tajawal" pitchFamily="34" charset="-120"/>
                        </a:rPr>
                        <a:t>يهدف هذا المحور إلى توفير بيئة مدرسية آمنة وجاذبة ومحفزة للتعلم والإبداع، من خلال تعزيز معايير الأمن والسلامة، وتحسين المرافق والتجهيزات المدرسية، ودعم الصحة المدرسية والأنشطة البدنية، بما يسهم في رفع جودة الحياة المدرسية وتحقيق رضا المستفيدين.</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(٢-١)</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المرافق المدرسية المهيأة وفق معايير السلامة ومستوى رضا المستفيدين — تطوير بيئة المدرسة لتكون آمنة ومحفزة للإبداع بنسبة ٨٥٪ خلال العام.</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11480" y="2286000"/>
          <a:ext cx="1136873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جولات — توعية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 منسوبي المدرسة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الدفاع المدني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منسق الأمن والسلامة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 معدات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الأمن والسلامة المدرسية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تدريب — محاكاة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 منسوبي المدرسة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الدفاع المدني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منسق الأمن والسلامة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معتمدة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٤، ٢٠</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خطة الإخلاء والطوارئ</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تنظيم — تجميل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الفصول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أثاث + لوحات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٣-٢٥</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تحسين بيئة الفصول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٣</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تجهيز — صيانة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المعامل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العلوم ومحضر المختبر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مواد ومعدات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٣-٥</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تجهيز المعامل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٤</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صيانة — استبدال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المبنى</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لجنة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عقد صيانة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١-٣</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تحسين التهوية والإضاءة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٥</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صيانة دورية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الأثاث</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لجنة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عقد صيانة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صيانة الأثاث</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٦</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تنظيم — تجميل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الساحات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رائد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معدات وأدوات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٢-١٨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تحسين الساحات المدرسية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٧</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مراجعة الوجبات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المقصف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الجهات الصحية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لجنة الصحة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عقد + شروط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تطوير المقصف المدرسي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٨</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أنشطة — مسابقات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النشاط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التربية البدنية ورائد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معدات رياضية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النشاط البدني المدرسي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جدول — تنفيذ</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المبنى</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لجنة المرافق</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جدول صيانة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الصيانة الوقائية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١٠</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جداول — متابعة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المبنى</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شركة النظافة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مشرف الخدمات والسلامة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عمال نظافة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يومي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النظافة المدرسية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سجل + معالجة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المدرسة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لجنة إدارة المخاطر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نموذج سجل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إدارة المخاطر</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١٩</a:t>
            </a:r>
            <a:endParaRPr lang="ar-SA" sz="850" dirty="0"/>
          </a:p>
        </p:txBody>
      </p:sp>
      <p:pic>
        <p:nvPicPr>
          <p:cNvPr id="5" name="Image 1" descr="/tmp/claude-0/-home-user-Mobile1/ab9bbf47-b054-5f6e-be59-70476e095ce8/scratchpad/assets/band_goal.png">    </p:cNvPr>
          <p:cNvPicPr>
            <a:picLocks noChangeAspect="1"/>
          </p:cNvPicPr>
          <p:nvPr/>
        </p:nvPicPr>
        <p:blipFill>
          <a:blip r:embed="rId2"/>
          <a:stretch>
            <a:fillRect/>
          </a:stretch>
        </p:blipFill>
        <p:spPr>
          <a:xfrm>
            <a:off x="411480" y="292608"/>
            <a:ext cx="11368735" cy="1344168"/>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795528" y="502920"/>
            <a:ext cx="1170432" cy="905256"/>
          </a:xfrm>
          <a:prstGeom prst="rect">
            <a:avLst/>
          </a:prstGeom>
        </p:spPr>
      </p:pic>
      <p:sp>
        <p:nvSpPr>
          <p:cNvPr id="7" name="Text 2"/>
          <p:cNvSpPr/>
          <p:nvPr/>
        </p:nvSpPr>
        <p:spPr>
          <a:xfrm>
            <a:off x="2377440" y="475488"/>
            <a:ext cx="9128455" cy="329184"/>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٣</a:t>
            </a:r>
            <a:endParaRPr lang="ar-SA" sz="1200" dirty="0"/>
          </a:p>
        </p:txBody>
      </p:sp>
      <p:sp>
        <p:nvSpPr>
          <p:cNvPr id="8" name="Text 3"/>
          <p:cNvSpPr/>
          <p:nvPr/>
        </p:nvSpPr>
        <p:spPr>
          <a:xfrm>
            <a:off x="2377440" y="822960"/>
            <a:ext cx="9128455" cy="603504"/>
          </a:xfrm>
          <a:prstGeom prst="rect">
            <a:avLst/>
          </a:prstGeom>
          <a:noFill/>
          <a:ln/>
        </p:spPr>
        <p:txBody>
          <a:bodyPr wrap="square" lIns="0" tIns="0" rIns="0" bIns="0" rtlCol="0" anchor="ctr"/>
          <a:lstStyle/>
          <a:p>
            <a:pPr rtl="1" algn="r" indent="0" marL="0">
              <a:buNone/>
            </a:pPr>
            <a:r>
              <a:rPr lang="ar-SA" altLang="en-US" sz="2300" b="1" dirty="0">
                <a:solidFill>
                  <a:srgbClr val="FFFFFF"/>
                </a:solidFill>
                <a:latin typeface="Tajawal" pitchFamily="34" charset="0"/>
                <a:ea typeface="Tajawal" pitchFamily="34" charset="-122"/>
                <a:cs typeface="Tajawal" pitchFamily="34" charset="-120"/>
              </a:rPr>
              <a:t>تعزيز القيم والهوية الوطنية</a:t>
            </a:r>
            <a:endParaRPr lang="ar-SA" sz="2300" dirty="0"/>
          </a:p>
        </p:txBody>
      </p:sp>
      <p:sp>
        <p:nvSpPr>
          <p:cNvPr id="9" name="Shape 4"/>
          <p:cNvSpPr/>
          <p:nvPr/>
        </p:nvSpPr>
        <p:spPr>
          <a:xfrm>
            <a:off x="8173517" y="1828800"/>
            <a:ext cx="3606698" cy="914400"/>
          </a:xfrm>
          <a:prstGeom prst="roundRect">
            <a:avLst>
              <a:gd name="adj" fmla="val 7500"/>
            </a:avLst>
          </a:prstGeom>
          <a:solidFill>
            <a:srgbClr val="FFFFFF"/>
          </a:solidFill>
          <a:ln w="12700">
            <a:solidFill>
              <a:srgbClr val="095242"/>
            </a:solidFill>
            <a:prstDash val="solid"/>
          </a:ln>
        </p:spPr>
      </p:sp>
      <p:sp>
        <p:nvSpPr>
          <p:cNvPr id="10" name="Text 5"/>
          <p:cNvSpPr/>
          <p:nvPr/>
        </p:nvSpPr>
        <p:spPr>
          <a:xfrm>
            <a:off x="8310677"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١٢</a:t>
            </a:r>
            <a:endParaRPr lang="ar-SA" sz="2600" dirty="0"/>
          </a:p>
        </p:txBody>
      </p:sp>
      <p:sp>
        <p:nvSpPr>
          <p:cNvPr id="11" name="Text 6"/>
          <p:cNvSpPr/>
          <p:nvPr/>
        </p:nvSpPr>
        <p:spPr>
          <a:xfrm>
            <a:off x="9545117"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عدد البرامج التشغيلية</a:t>
            </a:r>
            <a:endParaRPr lang="ar-SA" sz="1150" dirty="0"/>
          </a:p>
        </p:txBody>
      </p:sp>
      <p:sp>
        <p:nvSpPr>
          <p:cNvPr id="12" name="Shape 7"/>
          <p:cNvSpPr/>
          <p:nvPr/>
        </p:nvSpPr>
        <p:spPr>
          <a:xfrm>
            <a:off x="4292498" y="1828800"/>
            <a:ext cx="3606698" cy="914400"/>
          </a:xfrm>
          <a:prstGeom prst="roundRect">
            <a:avLst>
              <a:gd name="adj" fmla="val 7500"/>
            </a:avLst>
          </a:prstGeom>
          <a:solidFill>
            <a:srgbClr val="095242"/>
          </a:solidFill>
          <a:ln/>
          <a:effectLst>
            <a:outerShdw sx="100000" sy="100000" kx="0" ky="0" algn="bl" rotWithShape="0" blurRad="88900" dist="25400" dir="5400000">
              <a:srgbClr val="083528">
                <a:alpha val="22000"/>
              </a:srgbClr>
            </a:outerShdw>
          </a:effectLst>
        </p:spPr>
      </p:sp>
      <p:sp>
        <p:nvSpPr>
          <p:cNvPr id="13" name="Text 8"/>
          <p:cNvSpPr/>
          <p:nvPr/>
        </p:nvSpPr>
        <p:spPr>
          <a:xfrm>
            <a:off x="4429658"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FFFFFF"/>
                </a:solidFill>
                <a:latin typeface="Tajawal ExtraBold" pitchFamily="34" charset="0"/>
                <a:ea typeface="Tajawal ExtraBold" pitchFamily="34" charset="-122"/>
                <a:cs typeface="Tajawal ExtraBold" pitchFamily="34" charset="-120"/>
              </a:rPr>
              <a:t>٦</a:t>
            </a:r>
            <a:endParaRPr lang="ar-SA" sz="2600" dirty="0"/>
          </a:p>
        </p:txBody>
      </p:sp>
      <p:sp>
        <p:nvSpPr>
          <p:cNvPr id="14" name="Text 9"/>
          <p:cNvSpPr/>
          <p:nvPr/>
        </p:nvSpPr>
        <p:spPr>
          <a:xfrm>
            <a:off x="5664098"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CFE2DB"/>
                </a:solidFill>
                <a:latin typeface="Tajawal" pitchFamily="34" charset="0"/>
                <a:ea typeface="Tajawal" pitchFamily="34" charset="-122"/>
                <a:cs typeface="Tajawal" pitchFamily="34" charset="-120"/>
              </a:rPr>
              <a:t>عدد مؤشرات الاعتماد المرتبطة</a:t>
            </a:r>
            <a:endParaRPr lang="ar-SA" sz="1150" dirty="0"/>
          </a:p>
        </p:txBody>
      </p:sp>
      <p:sp>
        <p:nvSpPr>
          <p:cNvPr id="15" name="Shape 10"/>
          <p:cNvSpPr/>
          <p:nvPr/>
        </p:nvSpPr>
        <p:spPr>
          <a:xfrm>
            <a:off x="411480" y="1828800"/>
            <a:ext cx="3606698" cy="914400"/>
          </a:xfrm>
          <a:prstGeom prst="roundRect">
            <a:avLst>
              <a:gd name="adj" fmla="val 7500"/>
            </a:avLst>
          </a:prstGeom>
          <a:solidFill>
            <a:srgbClr val="FFFFFF"/>
          </a:solidFill>
          <a:ln w="12700">
            <a:solidFill>
              <a:srgbClr val="095242"/>
            </a:solidFill>
            <a:prstDash val="solid"/>
          </a:ln>
        </p:spPr>
      </p:sp>
      <p:sp>
        <p:nvSpPr>
          <p:cNvPr id="16" name="Text 11"/>
          <p:cNvSpPr/>
          <p:nvPr/>
        </p:nvSpPr>
        <p:spPr>
          <a:xfrm>
            <a:off x="548640"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٩٠٪</a:t>
            </a:r>
            <a:endParaRPr lang="ar-SA" sz="2600" dirty="0"/>
          </a:p>
        </p:txBody>
      </p:sp>
      <p:sp>
        <p:nvSpPr>
          <p:cNvPr id="17" name="Text 12"/>
          <p:cNvSpPr/>
          <p:nvPr/>
        </p:nvSpPr>
        <p:spPr>
          <a:xfrm>
            <a:off x="1783080"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نسبة التحقّق المستهدفة</a:t>
            </a:r>
            <a:endParaRPr lang="ar-SA" sz="1150" dirty="0"/>
          </a:p>
        </p:txBody>
      </p:sp>
      <p:sp>
        <p:nvSpPr>
          <p:cNvPr id="18" name="Shape 13"/>
          <p:cNvSpPr/>
          <p:nvPr/>
        </p:nvSpPr>
        <p:spPr>
          <a:xfrm>
            <a:off x="11729923" y="3044952"/>
            <a:ext cx="50292" cy="201168"/>
          </a:xfrm>
          <a:prstGeom prst="rect">
            <a:avLst/>
          </a:prstGeom>
          <a:solidFill>
            <a:srgbClr val="0089A1"/>
          </a:solidFill>
          <a:ln/>
        </p:spPr>
      </p:sp>
      <p:sp>
        <p:nvSpPr>
          <p:cNvPr id="19" name="Text 14"/>
          <p:cNvSpPr/>
          <p:nvPr/>
        </p:nvSpPr>
        <p:spPr>
          <a:xfrm>
            <a:off x="8488375" y="2999232"/>
            <a:ext cx="316382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0" name="Shape 15"/>
          <p:cNvSpPr/>
          <p:nvPr/>
        </p:nvSpPr>
        <p:spPr>
          <a:xfrm>
            <a:off x="9075191" y="3383280"/>
            <a:ext cx="2705024" cy="438912"/>
          </a:xfrm>
          <a:prstGeom prst="roundRect">
            <a:avLst>
              <a:gd name="adj" fmla="val 18750"/>
            </a:avLst>
          </a:prstGeom>
          <a:solidFill>
            <a:srgbClr val="F1F7F4"/>
          </a:solidFill>
          <a:ln w="9525">
            <a:solidFill>
              <a:srgbClr val="DCE8E2"/>
            </a:solidFill>
            <a:prstDash val="solid"/>
          </a:ln>
        </p:spPr>
      </p:sp>
      <p:sp>
        <p:nvSpPr>
          <p:cNvPr id="21" name="Shape 16"/>
          <p:cNvSpPr/>
          <p:nvPr/>
        </p:nvSpPr>
        <p:spPr>
          <a:xfrm>
            <a:off x="11505895" y="3557016"/>
            <a:ext cx="100584" cy="100584"/>
          </a:xfrm>
          <a:prstGeom prst="roundRect">
            <a:avLst>
              <a:gd name="adj" fmla="val 18182"/>
            </a:avLst>
          </a:prstGeom>
          <a:solidFill>
            <a:srgbClr val="0089A1"/>
          </a:solidFill>
          <a:ln/>
        </p:spPr>
      </p:sp>
      <p:sp>
        <p:nvSpPr>
          <p:cNvPr id="22" name="Text 17"/>
          <p:cNvSpPr/>
          <p:nvPr/>
        </p:nvSpPr>
        <p:spPr>
          <a:xfrm>
            <a:off x="9203207"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تعزيز الهوية الوطنية</a:t>
            </a:r>
            <a:endParaRPr lang="ar-SA" sz="1000" dirty="0"/>
          </a:p>
        </p:txBody>
      </p:sp>
      <p:sp>
        <p:nvSpPr>
          <p:cNvPr id="23" name="Shape 18"/>
          <p:cNvSpPr/>
          <p:nvPr/>
        </p:nvSpPr>
        <p:spPr>
          <a:xfrm>
            <a:off x="6187288" y="3383280"/>
            <a:ext cx="2705024" cy="438912"/>
          </a:xfrm>
          <a:prstGeom prst="roundRect">
            <a:avLst>
              <a:gd name="adj" fmla="val 18750"/>
            </a:avLst>
          </a:prstGeom>
          <a:solidFill>
            <a:srgbClr val="F1F7F4"/>
          </a:solidFill>
          <a:ln w="9525">
            <a:solidFill>
              <a:srgbClr val="DCE8E2"/>
            </a:solidFill>
            <a:prstDash val="solid"/>
          </a:ln>
        </p:spPr>
      </p:sp>
      <p:sp>
        <p:nvSpPr>
          <p:cNvPr id="24" name="Shape 19"/>
          <p:cNvSpPr/>
          <p:nvPr/>
        </p:nvSpPr>
        <p:spPr>
          <a:xfrm>
            <a:off x="8617991" y="3557016"/>
            <a:ext cx="100584" cy="100584"/>
          </a:xfrm>
          <a:prstGeom prst="roundRect">
            <a:avLst>
              <a:gd name="adj" fmla="val 18182"/>
            </a:avLst>
          </a:prstGeom>
          <a:solidFill>
            <a:srgbClr val="0089A1"/>
          </a:solidFill>
          <a:ln/>
        </p:spPr>
      </p:sp>
      <p:sp>
        <p:nvSpPr>
          <p:cNvPr id="25" name="Text 20"/>
          <p:cNvSpPr/>
          <p:nvPr/>
        </p:nvSpPr>
        <p:spPr>
          <a:xfrm>
            <a:off x="6315304"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القيم الإسلامية</a:t>
            </a:r>
            <a:endParaRPr lang="ar-SA" sz="1000" dirty="0"/>
          </a:p>
        </p:txBody>
      </p:sp>
      <p:sp>
        <p:nvSpPr>
          <p:cNvPr id="26" name="Shape 21"/>
          <p:cNvSpPr/>
          <p:nvPr/>
        </p:nvSpPr>
        <p:spPr>
          <a:xfrm>
            <a:off x="3299384" y="3383280"/>
            <a:ext cx="2705024" cy="438912"/>
          </a:xfrm>
          <a:prstGeom prst="roundRect">
            <a:avLst>
              <a:gd name="adj" fmla="val 18750"/>
            </a:avLst>
          </a:prstGeom>
          <a:solidFill>
            <a:srgbClr val="F1F7F4"/>
          </a:solidFill>
          <a:ln w="9525">
            <a:solidFill>
              <a:srgbClr val="DCE8E2"/>
            </a:solidFill>
            <a:prstDash val="solid"/>
          </a:ln>
        </p:spPr>
      </p:sp>
      <p:sp>
        <p:nvSpPr>
          <p:cNvPr id="27" name="Shape 22"/>
          <p:cNvSpPr/>
          <p:nvPr/>
        </p:nvSpPr>
        <p:spPr>
          <a:xfrm>
            <a:off x="5730088" y="3557016"/>
            <a:ext cx="100584" cy="100584"/>
          </a:xfrm>
          <a:prstGeom prst="roundRect">
            <a:avLst>
              <a:gd name="adj" fmla="val 18182"/>
            </a:avLst>
          </a:prstGeom>
          <a:solidFill>
            <a:srgbClr val="0089A1"/>
          </a:solidFill>
          <a:ln/>
        </p:spPr>
      </p:sp>
      <p:sp>
        <p:nvSpPr>
          <p:cNvPr id="28" name="Text 23"/>
          <p:cNvSpPr/>
          <p:nvPr/>
        </p:nvSpPr>
        <p:spPr>
          <a:xfrm>
            <a:off x="3427400"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يوم التأسيس</a:t>
            </a:r>
            <a:endParaRPr lang="ar-SA" sz="1000" dirty="0"/>
          </a:p>
        </p:txBody>
      </p:sp>
      <p:sp>
        <p:nvSpPr>
          <p:cNvPr id="29" name="Shape 24"/>
          <p:cNvSpPr/>
          <p:nvPr/>
        </p:nvSpPr>
        <p:spPr>
          <a:xfrm>
            <a:off x="411480" y="3383280"/>
            <a:ext cx="2705024" cy="438912"/>
          </a:xfrm>
          <a:prstGeom prst="roundRect">
            <a:avLst>
              <a:gd name="adj" fmla="val 18750"/>
            </a:avLst>
          </a:prstGeom>
          <a:solidFill>
            <a:srgbClr val="F1F7F4"/>
          </a:solidFill>
          <a:ln w="9525">
            <a:solidFill>
              <a:srgbClr val="DCE8E2"/>
            </a:solidFill>
            <a:prstDash val="solid"/>
          </a:ln>
        </p:spPr>
      </p:sp>
      <p:sp>
        <p:nvSpPr>
          <p:cNvPr id="30" name="Shape 25"/>
          <p:cNvSpPr/>
          <p:nvPr/>
        </p:nvSpPr>
        <p:spPr>
          <a:xfrm>
            <a:off x="2842184" y="3557016"/>
            <a:ext cx="100584" cy="100584"/>
          </a:xfrm>
          <a:prstGeom prst="roundRect">
            <a:avLst>
              <a:gd name="adj" fmla="val 18182"/>
            </a:avLst>
          </a:prstGeom>
          <a:solidFill>
            <a:srgbClr val="0089A1"/>
          </a:solidFill>
          <a:ln/>
        </p:spPr>
      </p:sp>
      <p:sp>
        <p:nvSpPr>
          <p:cNvPr id="31" name="Text 26"/>
          <p:cNvSpPr/>
          <p:nvPr/>
        </p:nvSpPr>
        <p:spPr>
          <a:xfrm>
            <a:off x="539496"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اليوم الوطني</a:t>
            </a:r>
            <a:endParaRPr lang="ar-SA" sz="1000" dirty="0"/>
          </a:p>
        </p:txBody>
      </p:sp>
      <p:sp>
        <p:nvSpPr>
          <p:cNvPr id="32" name="Shape 27"/>
          <p:cNvSpPr/>
          <p:nvPr/>
        </p:nvSpPr>
        <p:spPr>
          <a:xfrm>
            <a:off x="9075191" y="3950208"/>
            <a:ext cx="2705024" cy="438912"/>
          </a:xfrm>
          <a:prstGeom prst="roundRect">
            <a:avLst>
              <a:gd name="adj" fmla="val 18750"/>
            </a:avLst>
          </a:prstGeom>
          <a:solidFill>
            <a:srgbClr val="F1F7F4"/>
          </a:solidFill>
          <a:ln w="9525">
            <a:solidFill>
              <a:srgbClr val="DCE8E2"/>
            </a:solidFill>
            <a:prstDash val="solid"/>
          </a:ln>
        </p:spPr>
      </p:sp>
      <p:sp>
        <p:nvSpPr>
          <p:cNvPr id="33" name="Shape 28"/>
          <p:cNvSpPr/>
          <p:nvPr/>
        </p:nvSpPr>
        <p:spPr>
          <a:xfrm>
            <a:off x="11505895" y="4123944"/>
            <a:ext cx="100584" cy="100584"/>
          </a:xfrm>
          <a:prstGeom prst="roundRect">
            <a:avLst>
              <a:gd name="adj" fmla="val 18182"/>
            </a:avLst>
          </a:prstGeom>
          <a:solidFill>
            <a:srgbClr val="0089A1"/>
          </a:solidFill>
          <a:ln/>
        </p:spPr>
      </p:sp>
      <p:sp>
        <p:nvSpPr>
          <p:cNvPr id="34" name="Text 29"/>
          <p:cNvSpPr/>
          <p:nvPr/>
        </p:nvSpPr>
        <p:spPr>
          <a:xfrm>
            <a:off x="9203207"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المواطنة الرقمية</a:t>
            </a:r>
            <a:endParaRPr lang="ar-SA" sz="1000" dirty="0"/>
          </a:p>
        </p:txBody>
      </p:sp>
      <p:sp>
        <p:nvSpPr>
          <p:cNvPr id="35" name="Shape 30"/>
          <p:cNvSpPr/>
          <p:nvPr/>
        </p:nvSpPr>
        <p:spPr>
          <a:xfrm>
            <a:off x="6187288" y="3950208"/>
            <a:ext cx="2705024" cy="438912"/>
          </a:xfrm>
          <a:prstGeom prst="roundRect">
            <a:avLst>
              <a:gd name="adj" fmla="val 18750"/>
            </a:avLst>
          </a:prstGeom>
          <a:solidFill>
            <a:srgbClr val="F1F7F4"/>
          </a:solidFill>
          <a:ln w="9525">
            <a:solidFill>
              <a:srgbClr val="DCE8E2"/>
            </a:solidFill>
            <a:prstDash val="solid"/>
          </a:ln>
        </p:spPr>
      </p:sp>
      <p:sp>
        <p:nvSpPr>
          <p:cNvPr id="36" name="Shape 31"/>
          <p:cNvSpPr/>
          <p:nvPr/>
        </p:nvSpPr>
        <p:spPr>
          <a:xfrm>
            <a:off x="8617991" y="4123944"/>
            <a:ext cx="100584" cy="100584"/>
          </a:xfrm>
          <a:prstGeom prst="roundRect">
            <a:avLst>
              <a:gd name="adj" fmla="val 18182"/>
            </a:avLst>
          </a:prstGeom>
          <a:solidFill>
            <a:srgbClr val="0089A1"/>
          </a:solidFill>
          <a:ln/>
        </p:spPr>
      </p:sp>
      <p:sp>
        <p:nvSpPr>
          <p:cNvPr id="37" name="Text 32"/>
          <p:cNvSpPr/>
          <p:nvPr/>
        </p:nvSpPr>
        <p:spPr>
          <a:xfrm>
            <a:off x="6315304"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سفراء القيم</a:t>
            </a:r>
            <a:endParaRPr lang="ar-SA" sz="1000" dirty="0"/>
          </a:p>
        </p:txBody>
      </p:sp>
      <p:sp>
        <p:nvSpPr>
          <p:cNvPr id="38" name="Shape 33"/>
          <p:cNvSpPr/>
          <p:nvPr/>
        </p:nvSpPr>
        <p:spPr>
          <a:xfrm>
            <a:off x="3299384" y="3950208"/>
            <a:ext cx="2705024" cy="438912"/>
          </a:xfrm>
          <a:prstGeom prst="roundRect">
            <a:avLst>
              <a:gd name="adj" fmla="val 18750"/>
            </a:avLst>
          </a:prstGeom>
          <a:solidFill>
            <a:srgbClr val="F1F7F4"/>
          </a:solidFill>
          <a:ln w="9525">
            <a:solidFill>
              <a:srgbClr val="DCE8E2"/>
            </a:solidFill>
            <a:prstDash val="solid"/>
          </a:ln>
        </p:spPr>
      </p:sp>
      <p:sp>
        <p:nvSpPr>
          <p:cNvPr id="39" name="Shape 34"/>
          <p:cNvSpPr/>
          <p:nvPr/>
        </p:nvSpPr>
        <p:spPr>
          <a:xfrm>
            <a:off x="5730088" y="4123944"/>
            <a:ext cx="100584" cy="100584"/>
          </a:xfrm>
          <a:prstGeom prst="roundRect">
            <a:avLst>
              <a:gd name="adj" fmla="val 18182"/>
            </a:avLst>
          </a:prstGeom>
          <a:solidFill>
            <a:srgbClr val="0089A1"/>
          </a:solidFill>
          <a:ln/>
        </p:spPr>
      </p:sp>
      <p:sp>
        <p:nvSpPr>
          <p:cNvPr id="40" name="Text 35"/>
          <p:cNvSpPr/>
          <p:nvPr/>
        </p:nvSpPr>
        <p:spPr>
          <a:xfrm>
            <a:off x="3427400"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القيم المهنية</a:t>
            </a:r>
            <a:endParaRPr lang="ar-SA" sz="1000" dirty="0"/>
          </a:p>
        </p:txBody>
      </p:sp>
      <p:sp>
        <p:nvSpPr>
          <p:cNvPr id="41" name="Shape 36"/>
          <p:cNvSpPr/>
          <p:nvPr/>
        </p:nvSpPr>
        <p:spPr>
          <a:xfrm>
            <a:off x="411480" y="3950208"/>
            <a:ext cx="2705024" cy="438912"/>
          </a:xfrm>
          <a:prstGeom prst="roundRect">
            <a:avLst>
              <a:gd name="adj" fmla="val 18750"/>
            </a:avLst>
          </a:prstGeom>
          <a:solidFill>
            <a:srgbClr val="F1F7F4"/>
          </a:solidFill>
          <a:ln w="9525">
            <a:solidFill>
              <a:srgbClr val="DCE8E2"/>
            </a:solidFill>
            <a:prstDash val="solid"/>
          </a:ln>
        </p:spPr>
      </p:sp>
      <p:sp>
        <p:nvSpPr>
          <p:cNvPr id="42" name="Shape 37"/>
          <p:cNvSpPr/>
          <p:nvPr/>
        </p:nvSpPr>
        <p:spPr>
          <a:xfrm>
            <a:off x="2842184" y="4123944"/>
            <a:ext cx="100584" cy="100584"/>
          </a:xfrm>
          <a:prstGeom prst="roundRect">
            <a:avLst>
              <a:gd name="adj" fmla="val 18182"/>
            </a:avLst>
          </a:prstGeom>
          <a:solidFill>
            <a:srgbClr val="0089A1"/>
          </a:solidFill>
          <a:ln/>
        </p:spPr>
      </p:sp>
      <p:sp>
        <p:nvSpPr>
          <p:cNvPr id="43" name="Text 38"/>
          <p:cNvSpPr/>
          <p:nvPr/>
        </p:nvSpPr>
        <p:spPr>
          <a:xfrm>
            <a:off x="539496"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الانضباط المدرسي</a:t>
            </a:r>
            <a:endParaRPr lang="ar-SA" sz="1000" dirty="0"/>
          </a:p>
        </p:txBody>
      </p:sp>
      <p:sp>
        <p:nvSpPr>
          <p:cNvPr id="44" name="Shape 39"/>
          <p:cNvSpPr/>
          <p:nvPr/>
        </p:nvSpPr>
        <p:spPr>
          <a:xfrm>
            <a:off x="9075191" y="4517136"/>
            <a:ext cx="2705024" cy="438912"/>
          </a:xfrm>
          <a:prstGeom prst="roundRect">
            <a:avLst>
              <a:gd name="adj" fmla="val 18750"/>
            </a:avLst>
          </a:prstGeom>
          <a:solidFill>
            <a:srgbClr val="F1F7F4"/>
          </a:solidFill>
          <a:ln w="9525">
            <a:solidFill>
              <a:srgbClr val="DCE8E2"/>
            </a:solidFill>
            <a:prstDash val="solid"/>
          </a:ln>
        </p:spPr>
      </p:sp>
      <p:sp>
        <p:nvSpPr>
          <p:cNvPr id="45" name="Shape 40"/>
          <p:cNvSpPr/>
          <p:nvPr/>
        </p:nvSpPr>
        <p:spPr>
          <a:xfrm>
            <a:off x="11505895" y="4690872"/>
            <a:ext cx="100584" cy="100584"/>
          </a:xfrm>
          <a:prstGeom prst="roundRect">
            <a:avLst>
              <a:gd name="adj" fmla="val 18182"/>
            </a:avLst>
          </a:prstGeom>
          <a:solidFill>
            <a:srgbClr val="0089A1"/>
          </a:solidFill>
          <a:ln/>
        </p:spPr>
      </p:sp>
      <p:sp>
        <p:nvSpPr>
          <p:cNvPr id="46" name="Text 41"/>
          <p:cNvSpPr/>
          <p:nvPr/>
        </p:nvSpPr>
        <p:spPr>
          <a:xfrm>
            <a:off x="9203207"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السلوك الإيجابي</a:t>
            </a:r>
            <a:endParaRPr lang="ar-SA" sz="1000" dirty="0"/>
          </a:p>
        </p:txBody>
      </p:sp>
      <p:sp>
        <p:nvSpPr>
          <p:cNvPr id="47" name="Shape 42"/>
          <p:cNvSpPr/>
          <p:nvPr/>
        </p:nvSpPr>
        <p:spPr>
          <a:xfrm>
            <a:off x="6187288" y="4517136"/>
            <a:ext cx="2705024" cy="438912"/>
          </a:xfrm>
          <a:prstGeom prst="roundRect">
            <a:avLst>
              <a:gd name="adj" fmla="val 18750"/>
            </a:avLst>
          </a:prstGeom>
          <a:solidFill>
            <a:srgbClr val="F1F7F4"/>
          </a:solidFill>
          <a:ln w="9525">
            <a:solidFill>
              <a:srgbClr val="DCE8E2"/>
            </a:solidFill>
            <a:prstDash val="solid"/>
          </a:ln>
        </p:spPr>
      </p:sp>
      <p:sp>
        <p:nvSpPr>
          <p:cNvPr id="48" name="Shape 43"/>
          <p:cNvSpPr/>
          <p:nvPr/>
        </p:nvSpPr>
        <p:spPr>
          <a:xfrm>
            <a:off x="8617991" y="4690872"/>
            <a:ext cx="100584" cy="100584"/>
          </a:xfrm>
          <a:prstGeom prst="roundRect">
            <a:avLst>
              <a:gd name="adj" fmla="val 18182"/>
            </a:avLst>
          </a:prstGeom>
          <a:solidFill>
            <a:srgbClr val="0089A1"/>
          </a:solidFill>
          <a:ln/>
        </p:spPr>
      </p:sp>
      <p:sp>
        <p:nvSpPr>
          <p:cNvPr id="49" name="Text 44"/>
          <p:cNvSpPr/>
          <p:nvPr/>
        </p:nvSpPr>
        <p:spPr>
          <a:xfrm>
            <a:off x="6315304"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الاعتزاز بالهوية</a:t>
            </a:r>
            <a:endParaRPr lang="ar-SA" sz="1000" dirty="0"/>
          </a:p>
        </p:txBody>
      </p:sp>
      <p:sp>
        <p:nvSpPr>
          <p:cNvPr id="50" name="Shape 45"/>
          <p:cNvSpPr/>
          <p:nvPr/>
        </p:nvSpPr>
        <p:spPr>
          <a:xfrm>
            <a:off x="3299384" y="4517136"/>
            <a:ext cx="2705024" cy="438912"/>
          </a:xfrm>
          <a:prstGeom prst="roundRect">
            <a:avLst>
              <a:gd name="adj" fmla="val 18750"/>
            </a:avLst>
          </a:prstGeom>
          <a:solidFill>
            <a:srgbClr val="F1F7F4"/>
          </a:solidFill>
          <a:ln w="9525">
            <a:solidFill>
              <a:srgbClr val="DCE8E2"/>
            </a:solidFill>
            <a:prstDash val="solid"/>
          </a:ln>
        </p:spPr>
      </p:sp>
      <p:sp>
        <p:nvSpPr>
          <p:cNvPr id="51" name="Shape 46"/>
          <p:cNvSpPr/>
          <p:nvPr/>
        </p:nvSpPr>
        <p:spPr>
          <a:xfrm>
            <a:off x="5730088" y="4690872"/>
            <a:ext cx="100584" cy="100584"/>
          </a:xfrm>
          <a:prstGeom prst="roundRect">
            <a:avLst>
              <a:gd name="adj" fmla="val 18182"/>
            </a:avLst>
          </a:prstGeom>
          <a:solidFill>
            <a:srgbClr val="0089A1"/>
          </a:solidFill>
          <a:ln/>
        </p:spPr>
      </p:sp>
      <p:sp>
        <p:nvSpPr>
          <p:cNvPr id="52" name="Text 47"/>
          <p:cNvSpPr/>
          <p:nvPr/>
        </p:nvSpPr>
        <p:spPr>
          <a:xfrm>
            <a:off x="3427400"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المحافظة على المرافق</a:t>
            </a:r>
            <a:endParaRPr lang="ar-SA" sz="1000" dirty="0"/>
          </a:p>
        </p:txBody>
      </p:sp>
      <p:sp>
        <p:nvSpPr>
          <p:cNvPr id="53" name="Shape 48"/>
          <p:cNvSpPr/>
          <p:nvPr/>
        </p:nvSpPr>
        <p:spPr>
          <a:xfrm>
            <a:off x="411480" y="4517136"/>
            <a:ext cx="2705024" cy="438912"/>
          </a:xfrm>
          <a:prstGeom prst="roundRect">
            <a:avLst>
              <a:gd name="adj" fmla="val 18750"/>
            </a:avLst>
          </a:prstGeom>
          <a:solidFill>
            <a:srgbClr val="F1F7F4"/>
          </a:solidFill>
          <a:ln w="9525">
            <a:solidFill>
              <a:srgbClr val="DCE8E2"/>
            </a:solidFill>
            <a:prstDash val="solid"/>
          </a:ln>
        </p:spPr>
      </p:sp>
      <p:sp>
        <p:nvSpPr>
          <p:cNvPr id="54" name="Shape 49"/>
          <p:cNvSpPr/>
          <p:nvPr/>
        </p:nvSpPr>
        <p:spPr>
          <a:xfrm>
            <a:off x="2842184" y="4690872"/>
            <a:ext cx="100584" cy="100584"/>
          </a:xfrm>
          <a:prstGeom prst="roundRect">
            <a:avLst>
              <a:gd name="adj" fmla="val 18182"/>
            </a:avLst>
          </a:prstGeom>
          <a:solidFill>
            <a:srgbClr val="0089A1"/>
          </a:solidFill>
          <a:ln/>
        </p:spPr>
      </p:sp>
      <p:sp>
        <p:nvSpPr>
          <p:cNvPr id="55" name="Text 50"/>
          <p:cNvSpPr/>
          <p:nvPr/>
        </p:nvSpPr>
        <p:spPr>
          <a:xfrm>
            <a:off x="539496"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احترام التنوع الثقافي</a:t>
            </a:r>
            <a:endParaRPr lang="ar-SA" sz="1000" dirty="0"/>
          </a:p>
        </p:txBody>
      </p:sp>
      <p:sp>
        <p:nvSpPr>
          <p:cNvPr id="56" name="Shape 51"/>
          <p:cNvSpPr/>
          <p:nvPr/>
        </p:nvSpPr>
        <p:spPr>
          <a:xfrm>
            <a:off x="7802575" y="5193792"/>
            <a:ext cx="3977640" cy="1261872"/>
          </a:xfrm>
          <a:prstGeom prst="roundRect">
            <a:avLst>
              <a:gd name="adj" fmla="val 5435"/>
            </a:avLst>
          </a:prstGeom>
          <a:solidFill>
            <a:srgbClr val="FFFFFF"/>
          </a:solidFill>
          <a:ln w="9525">
            <a:solidFill>
              <a:srgbClr val="DCE8E2"/>
            </a:solidFill>
            <a:prstDash val="solid"/>
          </a:ln>
        </p:spPr>
      </p:sp>
      <p:sp>
        <p:nvSpPr>
          <p:cNvPr id="57" name="Text 52"/>
          <p:cNvSpPr/>
          <p:nvPr/>
        </p:nvSpPr>
        <p:spPr>
          <a:xfrm>
            <a:off x="8031175" y="5285232"/>
            <a:ext cx="3520440" cy="292608"/>
          </a:xfrm>
          <a:prstGeom prst="rect">
            <a:avLst/>
          </a:prstGeom>
          <a:noFill/>
          <a:ln/>
        </p:spPr>
        <p:txBody>
          <a:bodyPr wrap="square" lIns="0" tIns="0" rIns="0" bIns="0" rtlCol="0" anchor="t"/>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مؤشرات الاعتماد المدرسي</a:t>
            </a:r>
            <a:endParaRPr lang="ar-SA" sz="1050" dirty="0"/>
          </a:p>
        </p:txBody>
      </p:sp>
      <p:sp>
        <p:nvSpPr>
          <p:cNvPr id="58" name="Shape 53"/>
          <p:cNvSpPr/>
          <p:nvPr/>
        </p:nvSpPr>
        <p:spPr>
          <a:xfrm>
            <a:off x="10893247" y="5632704"/>
            <a:ext cx="658368" cy="274320"/>
          </a:xfrm>
          <a:prstGeom prst="roundRect">
            <a:avLst>
              <a:gd name="adj" fmla="val 20000"/>
            </a:avLst>
          </a:prstGeom>
          <a:solidFill>
            <a:srgbClr val="FFFFFF"/>
          </a:solidFill>
          <a:ln w="9525">
            <a:solidFill>
              <a:srgbClr val="095242"/>
            </a:solidFill>
            <a:prstDash val="solid"/>
          </a:ln>
        </p:spPr>
      </p:sp>
      <p:sp>
        <p:nvSpPr>
          <p:cNvPr id="59" name="Text 54"/>
          <p:cNvSpPr/>
          <p:nvPr/>
        </p:nvSpPr>
        <p:spPr>
          <a:xfrm>
            <a:off x="10893247"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‎1-2-1-1‎</a:t>
            </a:r>
            <a:endParaRPr lang="ar-SA" sz="800" dirty="0"/>
          </a:p>
        </p:txBody>
      </p:sp>
      <p:sp>
        <p:nvSpPr>
          <p:cNvPr id="60" name="Shape 55"/>
          <p:cNvSpPr/>
          <p:nvPr/>
        </p:nvSpPr>
        <p:spPr>
          <a:xfrm>
            <a:off x="10125151" y="5632704"/>
            <a:ext cx="658368" cy="274320"/>
          </a:xfrm>
          <a:prstGeom prst="roundRect">
            <a:avLst>
              <a:gd name="adj" fmla="val 20000"/>
            </a:avLst>
          </a:prstGeom>
          <a:solidFill>
            <a:srgbClr val="FFFFFF"/>
          </a:solidFill>
          <a:ln w="9525">
            <a:solidFill>
              <a:srgbClr val="095242"/>
            </a:solidFill>
            <a:prstDash val="solid"/>
          </a:ln>
        </p:spPr>
      </p:sp>
      <p:sp>
        <p:nvSpPr>
          <p:cNvPr id="61" name="Text 56"/>
          <p:cNvSpPr/>
          <p:nvPr/>
        </p:nvSpPr>
        <p:spPr>
          <a:xfrm>
            <a:off x="10125151"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‎1-2-1-2‎</a:t>
            </a:r>
            <a:endParaRPr lang="ar-SA" sz="800" dirty="0"/>
          </a:p>
        </p:txBody>
      </p:sp>
      <p:sp>
        <p:nvSpPr>
          <p:cNvPr id="62" name="Shape 57"/>
          <p:cNvSpPr/>
          <p:nvPr/>
        </p:nvSpPr>
        <p:spPr>
          <a:xfrm>
            <a:off x="9357055" y="5632704"/>
            <a:ext cx="658368" cy="274320"/>
          </a:xfrm>
          <a:prstGeom prst="roundRect">
            <a:avLst>
              <a:gd name="adj" fmla="val 20000"/>
            </a:avLst>
          </a:prstGeom>
          <a:solidFill>
            <a:srgbClr val="FFFFFF"/>
          </a:solidFill>
          <a:ln w="9525">
            <a:solidFill>
              <a:srgbClr val="095242"/>
            </a:solidFill>
            <a:prstDash val="solid"/>
          </a:ln>
        </p:spPr>
      </p:sp>
      <p:sp>
        <p:nvSpPr>
          <p:cNvPr id="63" name="Text 58"/>
          <p:cNvSpPr/>
          <p:nvPr/>
        </p:nvSpPr>
        <p:spPr>
          <a:xfrm>
            <a:off x="9357055"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‎1-2-1-3‎</a:t>
            </a:r>
            <a:endParaRPr lang="ar-SA" sz="800" dirty="0"/>
          </a:p>
        </p:txBody>
      </p:sp>
      <p:sp>
        <p:nvSpPr>
          <p:cNvPr id="64" name="Shape 59"/>
          <p:cNvSpPr/>
          <p:nvPr/>
        </p:nvSpPr>
        <p:spPr>
          <a:xfrm>
            <a:off x="8588959" y="5632704"/>
            <a:ext cx="658368" cy="274320"/>
          </a:xfrm>
          <a:prstGeom prst="roundRect">
            <a:avLst>
              <a:gd name="adj" fmla="val 20000"/>
            </a:avLst>
          </a:prstGeom>
          <a:solidFill>
            <a:srgbClr val="FFFFFF"/>
          </a:solidFill>
          <a:ln w="9525">
            <a:solidFill>
              <a:srgbClr val="095242"/>
            </a:solidFill>
            <a:prstDash val="solid"/>
          </a:ln>
        </p:spPr>
      </p:sp>
      <p:sp>
        <p:nvSpPr>
          <p:cNvPr id="65" name="Text 60"/>
          <p:cNvSpPr/>
          <p:nvPr/>
        </p:nvSpPr>
        <p:spPr>
          <a:xfrm>
            <a:off x="8588959"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‎1-2-1-4‎</a:t>
            </a:r>
            <a:endParaRPr lang="ar-SA" sz="800" dirty="0"/>
          </a:p>
        </p:txBody>
      </p:sp>
      <p:sp>
        <p:nvSpPr>
          <p:cNvPr id="66" name="Shape 61"/>
          <p:cNvSpPr/>
          <p:nvPr/>
        </p:nvSpPr>
        <p:spPr>
          <a:xfrm>
            <a:off x="7820863" y="5632704"/>
            <a:ext cx="658368" cy="274320"/>
          </a:xfrm>
          <a:prstGeom prst="roundRect">
            <a:avLst>
              <a:gd name="adj" fmla="val 20000"/>
            </a:avLst>
          </a:prstGeom>
          <a:solidFill>
            <a:srgbClr val="FFFFFF"/>
          </a:solidFill>
          <a:ln w="9525">
            <a:solidFill>
              <a:srgbClr val="095242"/>
            </a:solidFill>
            <a:prstDash val="solid"/>
          </a:ln>
        </p:spPr>
      </p:sp>
      <p:sp>
        <p:nvSpPr>
          <p:cNvPr id="67" name="Text 62"/>
          <p:cNvSpPr/>
          <p:nvPr/>
        </p:nvSpPr>
        <p:spPr>
          <a:xfrm>
            <a:off x="7820863"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‎3-2-1-1‎</a:t>
            </a:r>
            <a:endParaRPr lang="ar-SA" sz="800" dirty="0"/>
          </a:p>
        </p:txBody>
      </p:sp>
      <p:sp>
        <p:nvSpPr>
          <p:cNvPr id="68" name="Shape 63"/>
          <p:cNvSpPr/>
          <p:nvPr/>
        </p:nvSpPr>
        <p:spPr>
          <a:xfrm>
            <a:off x="10893247" y="5998464"/>
            <a:ext cx="658368" cy="274320"/>
          </a:xfrm>
          <a:prstGeom prst="roundRect">
            <a:avLst>
              <a:gd name="adj" fmla="val 20000"/>
            </a:avLst>
          </a:prstGeom>
          <a:solidFill>
            <a:srgbClr val="FFFFFF"/>
          </a:solidFill>
          <a:ln w="9525">
            <a:solidFill>
              <a:srgbClr val="095242"/>
            </a:solidFill>
            <a:prstDash val="solid"/>
          </a:ln>
        </p:spPr>
      </p:sp>
      <p:sp>
        <p:nvSpPr>
          <p:cNvPr id="69" name="Text 64"/>
          <p:cNvSpPr/>
          <p:nvPr/>
        </p:nvSpPr>
        <p:spPr>
          <a:xfrm>
            <a:off x="10893247"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‎3-2-1-7‎</a:t>
            </a:r>
            <a:endParaRPr lang="ar-SA" sz="800" dirty="0"/>
          </a:p>
        </p:txBody>
      </p:sp>
      <p:sp>
        <p:nvSpPr>
          <p:cNvPr id="70" name="Shape 65"/>
          <p:cNvSpPr/>
          <p:nvPr/>
        </p:nvSpPr>
        <p:spPr>
          <a:xfrm>
            <a:off x="411480" y="5193792"/>
            <a:ext cx="7116775" cy="1261872"/>
          </a:xfrm>
          <a:prstGeom prst="roundRect">
            <a:avLst>
              <a:gd name="adj" fmla="val 5435"/>
            </a:avLst>
          </a:prstGeom>
          <a:solidFill>
            <a:srgbClr val="095242"/>
          </a:solidFill>
          <a:ln/>
          <a:effectLst>
            <a:outerShdw sx="100000" sy="100000" kx="0" ky="0" algn="bl" rotWithShape="0" blurRad="88900" dist="25400" dir="5400000">
              <a:srgbClr val="083528">
                <a:alpha val="22000"/>
              </a:srgbClr>
            </a:outerShdw>
          </a:effectLst>
        </p:spPr>
      </p:sp>
      <p:pic>
        <p:nvPicPr>
          <p:cNvPr id="71" name="Image 3" descr="/tmp/claude-0/-home-user-Mobile1/ab9bbf47-b054-5f6e-be59-70476e095ce8/scratchpad/assets/icons/sparkles_white.png">    </p:cNvPr>
          <p:cNvPicPr>
            <a:picLocks noChangeAspect="1"/>
          </p:cNvPicPr>
          <p:nvPr/>
        </p:nvPicPr>
        <p:blipFill>
          <a:blip r:embed="rId4"/>
          <a:stretch>
            <a:fillRect/>
          </a:stretch>
        </p:blipFill>
        <p:spPr>
          <a:xfrm>
            <a:off x="7052767" y="5303520"/>
            <a:ext cx="256032" cy="256032"/>
          </a:xfrm>
          <a:prstGeom prst="rect">
            <a:avLst/>
          </a:prstGeom>
        </p:spPr>
      </p:pic>
      <p:sp>
        <p:nvSpPr>
          <p:cNvPr id="72" name="Text 66"/>
          <p:cNvSpPr/>
          <p:nvPr/>
        </p:nvSpPr>
        <p:spPr>
          <a:xfrm>
            <a:off x="685800" y="5285232"/>
            <a:ext cx="6248095" cy="292608"/>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73" name="Text 67"/>
          <p:cNvSpPr/>
          <p:nvPr/>
        </p:nvSpPr>
        <p:spPr>
          <a:xfrm>
            <a:off x="685800" y="5614416"/>
            <a:ext cx="6549847" cy="749808"/>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9E9E3"/>
                </a:solidFill>
                <a:latin typeface="Tajawal" pitchFamily="34" charset="0"/>
                <a:ea typeface="Tajawal" pitchFamily="34" charset="-122"/>
                <a:cs typeface="Tajawal" pitchFamily="34" charset="-120"/>
              </a:rPr>
              <a:t>انغراس قيم المواطنة في الممارسة اليومية • مشاركة فاعلة في المناسبات الوطنية • انضباط مدرسي مرتفع • سلوك إيجابي في تعاملات الطلاب.</a:t>
            </a:r>
            <a:endParaRPr lang="ar-SA" sz="9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٢٠</a:t>
            </a:r>
            <a:endParaRPr lang="ar-SA" sz="850" dirty="0"/>
          </a:p>
        </p:txBody>
      </p:sp>
      <p:sp>
        <p:nvSpPr>
          <p:cNvPr id="5" name="Shape 2"/>
          <p:cNvSpPr/>
          <p:nvPr/>
        </p:nvSpPr>
        <p:spPr>
          <a:xfrm>
            <a:off x="411480" y="274320"/>
            <a:ext cx="11368735" cy="548640"/>
          </a:xfrm>
          <a:prstGeom prst="roundRect">
            <a:avLst>
              <a:gd name="adj" fmla="val 15000"/>
            </a:avLst>
          </a:prstGeom>
          <a:solidFill>
            <a:srgbClr val="095242"/>
          </a:solidFill>
          <a:ln/>
        </p:spPr>
      </p:sp>
      <p:sp>
        <p:nvSpPr>
          <p:cNvPr id="6" name="Shape 3"/>
          <p:cNvSpPr/>
          <p:nvPr/>
        </p:nvSpPr>
        <p:spPr>
          <a:xfrm>
            <a:off x="576072" y="379476"/>
            <a:ext cx="137160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576072" y="370332"/>
            <a:ext cx="137160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194560" y="274320"/>
            <a:ext cx="931133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٣ — تعزيز القيم والهوية الوطنية</a:t>
            </a:r>
            <a:endParaRPr lang="ar-SA" sz="15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14400"/>
        </p:xfrm>
        <a:graphic>
          <a:graphicData uri="http://schemas.openxmlformats.org/drawingml/2006/table">
            <a:tbl>
              <a:tblPr/>
              <a:tblGrid>
                <a:gridCol w="9631375"/>
                <a:gridCol w="1737360"/>
              </a:tblGrid>
              <a:tr h="274320">
                <a:tc>
                  <a:txBody>
                    <a:bodyPr/>
                    <a:lstStyle/>
                    <a:p>
                      <a:pPr rtl="1" algn="r" indent="0" marL="0">
                        <a:buNone/>
                      </a:pPr>
                      <a:r>
                        <a:rPr lang="ar-SA" altLang="en-US" sz="940" b="1" dirty="0">
                          <a:solidFill>
                            <a:srgbClr val="063E33"/>
                          </a:solidFill>
                          <a:latin typeface="Tajawal" pitchFamily="34" charset="0"/>
                          <a:ea typeface="Tajawal" pitchFamily="34" charset="-122"/>
                          <a:cs typeface="Tajawal" pitchFamily="34" charset="-120"/>
                        </a:rPr>
                        <a:t>تعزيز القيم والهوية الوطنية</a:t>
                      </a:r>
                      <a:endParaRPr lang="ar-SA" sz="9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548640">
                <a:tc>
                  <a:txBody>
                    <a:bodyPr/>
                    <a:lstStyle/>
                    <a:p>
                      <a:pPr rtl="1" algn="r" indent="0" marL="0">
                        <a:buNone/>
                      </a:pPr>
                      <a:r>
                        <a:rPr lang="ar-SA" altLang="en-US" sz="820" dirty="0">
                          <a:solidFill>
                            <a:srgbClr val="33473F"/>
                          </a:solidFill>
                          <a:latin typeface="Tajawal" pitchFamily="34" charset="0"/>
                          <a:ea typeface="Tajawal" pitchFamily="34" charset="-122"/>
                          <a:cs typeface="Tajawal" pitchFamily="34" charset="-120"/>
                        </a:rPr>
                        <a:t>يهدف هذا المحور إلى ترسيخ القيم الإسلامية والوطنية في نفوس الطلاب، وتعزيز الانتماء والولاء للوطن وقيادته، وتنمية السلوك الإيجابي والمواطنة المسؤولة، من خلال البرامج والأنشطة التربوية والمناسبات الوطنية التي تسهم في بناء الشخصية المتوازنة والهوية الوطنية الراسخة.</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(٣-١)</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مشاركة الطلاب والمعلمين في برامج تعزيز القيم والمناسبات الوطنية والأنشطة الداعمة للهوية الوطنية والإسلامية — غرس القيم الوطنية والإسلامية وتعزيز الهوية بنسبة ٩٠٪ خلال العام.</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bl>
          </a:graphicData>
        </a:graphic>
      </p:graphicFrame>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411480" y="2286000"/>
          <a:ext cx="1136873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إذاعة — لقاءات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الكل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الجميع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 والمرشد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سنوية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تعزيز الهوية الوطنية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حلقات — أنشطة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التوجيه</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الدين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وسائل دعوية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القيم الإسلامية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احتفال — مسابقات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تجهيز قاعة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١٢-١٤</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يوم التأسيس</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٣</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احتفال — مسابقات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تجهيزات + جوائز</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٥-٧</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اليوم الوطني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٤</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محاضرات — ورش</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الحاسب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محتوى رقمي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المواطنة الرقمية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٥</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تدريب — مبادرات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ميثاق + جوائز</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سفراء القيم</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٦</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لقاءات — تطوير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اللجان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ميثاق مهني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القيم المهنية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٧</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متابعة — لوائح</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لائحة + سجلات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يومي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الانضباط المدرسي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٨</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تعزيز — جوائز</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نموذج تعزيز</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السلوك الإيجابي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أنشطة — مناسبات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موارد إعلامية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الاعتزاز بالهوية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١٠</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توعية — متابعة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لوحات إرشاد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يومي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المحافظة على المرافق</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ورش — مبادرات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محتوى تثقيفي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احترام التنوع الثقافي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٢١</a:t>
            </a:r>
            <a:endParaRPr lang="ar-SA" sz="850" dirty="0"/>
          </a:p>
        </p:txBody>
      </p:sp>
      <p:pic>
        <p:nvPicPr>
          <p:cNvPr id="5" name="Image 1" descr="/tmp/claude-0/-home-user-Mobile1/ab9bbf47-b054-5f6e-be59-70476e095ce8/scratchpad/assets/band_goal.png">    </p:cNvPr>
          <p:cNvPicPr>
            <a:picLocks noChangeAspect="1"/>
          </p:cNvPicPr>
          <p:nvPr/>
        </p:nvPicPr>
        <p:blipFill>
          <a:blip r:embed="rId2"/>
          <a:stretch>
            <a:fillRect/>
          </a:stretch>
        </p:blipFill>
        <p:spPr>
          <a:xfrm>
            <a:off x="411480" y="292608"/>
            <a:ext cx="11368735" cy="1344168"/>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795528" y="502920"/>
            <a:ext cx="1170432" cy="905256"/>
          </a:xfrm>
          <a:prstGeom prst="rect">
            <a:avLst/>
          </a:prstGeom>
        </p:spPr>
      </p:pic>
      <p:sp>
        <p:nvSpPr>
          <p:cNvPr id="7" name="Text 2"/>
          <p:cNvSpPr/>
          <p:nvPr/>
        </p:nvSpPr>
        <p:spPr>
          <a:xfrm>
            <a:off x="2377440" y="475488"/>
            <a:ext cx="9128455" cy="329184"/>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٤</a:t>
            </a:r>
            <a:endParaRPr lang="ar-SA" sz="1200" dirty="0"/>
          </a:p>
        </p:txBody>
      </p:sp>
      <p:sp>
        <p:nvSpPr>
          <p:cNvPr id="8" name="Text 3"/>
          <p:cNvSpPr/>
          <p:nvPr/>
        </p:nvSpPr>
        <p:spPr>
          <a:xfrm>
            <a:off x="2377440" y="822960"/>
            <a:ext cx="9128455" cy="603504"/>
          </a:xfrm>
          <a:prstGeom prst="rect">
            <a:avLst/>
          </a:prstGeom>
          <a:noFill/>
          <a:ln/>
        </p:spPr>
        <p:txBody>
          <a:bodyPr wrap="square" lIns="0" tIns="0" rIns="0" bIns="0" rtlCol="0" anchor="ctr"/>
          <a:lstStyle/>
          <a:p>
            <a:pPr rtl="1" algn="r" indent="0" marL="0">
              <a:buNone/>
            </a:pPr>
            <a:r>
              <a:rPr lang="ar-SA" altLang="en-US" sz="2300" b="1" dirty="0">
                <a:solidFill>
                  <a:srgbClr val="FFFFFF"/>
                </a:solidFill>
                <a:latin typeface="Tajawal" pitchFamily="34" charset="0"/>
                <a:ea typeface="Tajawal" pitchFamily="34" charset="-122"/>
                <a:cs typeface="Tajawal" pitchFamily="34" charset="-120"/>
              </a:rPr>
              <a:t>تحسين تجربة المستفيدين</a:t>
            </a:r>
            <a:endParaRPr lang="ar-SA" sz="2300" dirty="0"/>
          </a:p>
        </p:txBody>
      </p:sp>
      <p:sp>
        <p:nvSpPr>
          <p:cNvPr id="9" name="Shape 4"/>
          <p:cNvSpPr/>
          <p:nvPr/>
        </p:nvSpPr>
        <p:spPr>
          <a:xfrm>
            <a:off x="8173517" y="1828800"/>
            <a:ext cx="3606698" cy="914400"/>
          </a:xfrm>
          <a:prstGeom prst="roundRect">
            <a:avLst>
              <a:gd name="adj" fmla="val 7500"/>
            </a:avLst>
          </a:prstGeom>
          <a:solidFill>
            <a:srgbClr val="FFFFFF"/>
          </a:solidFill>
          <a:ln w="12700">
            <a:solidFill>
              <a:srgbClr val="095242"/>
            </a:solidFill>
            <a:prstDash val="solid"/>
          </a:ln>
        </p:spPr>
      </p:sp>
      <p:sp>
        <p:nvSpPr>
          <p:cNvPr id="10" name="Text 5"/>
          <p:cNvSpPr/>
          <p:nvPr/>
        </p:nvSpPr>
        <p:spPr>
          <a:xfrm>
            <a:off x="8310677"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١٠</a:t>
            </a:r>
            <a:endParaRPr lang="ar-SA" sz="2600" dirty="0"/>
          </a:p>
        </p:txBody>
      </p:sp>
      <p:sp>
        <p:nvSpPr>
          <p:cNvPr id="11" name="Text 6"/>
          <p:cNvSpPr/>
          <p:nvPr/>
        </p:nvSpPr>
        <p:spPr>
          <a:xfrm>
            <a:off x="9545117"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عدد البرامج التشغيلية</a:t>
            </a:r>
            <a:endParaRPr lang="ar-SA" sz="1150" dirty="0"/>
          </a:p>
        </p:txBody>
      </p:sp>
      <p:sp>
        <p:nvSpPr>
          <p:cNvPr id="12" name="Shape 7"/>
          <p:cNvSpPr/>
          <p:nvPr/>
        </p:nvSpPr>
        <p:spPr>
          <a:xfrm>
            <a:off x="4292498" y="1828800"/>
            <a:ext cx="3606698" cy="914400"/>
          </a:xfrm>
          <a:prstGeom prst="roundRect">
            <a:avLst>
              <a:gd name="adj" fmla="val 7500"/>
            </a:avLst>
          </a:prstGeom>
          <a:solidFill>
            <a:srgbClr val="095242"/>
          </a:solidFill>
          <a:ln/>
          <a:effectLst>
            <a:outerShdw sx="100000" sy="100000" kx="0" ky="0" algn="bl" rotWithShape="0" blurRad="88900" dist="25400" dir="5400000">
              <a:srgbClr val="083528">
                <a:alpha val="22000"/>
              </a:srgbClr>
            </a:outerShdw>
          </a:effectLst>
        </p:spPr>
      </p:sp>
      <p:sp>
        <p:nvSpPr>
          <p:cNvPr id="13" name="Text 8"/>
          <p:cNvSpPr/>
          <p:nvPr/>
        </p:nvSpPr>
        <p:spPr>
          <a:xfrm>
            <a:off x="4429658"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FFFFFF"/>
                </a:solidFill>
                <a:latin typeface="Tajawal ExtraBold" pitchFamily="34" charset="0"/>
                <a:ea typeface="Tajawal ExtraBold" pitchFamily="34" charset="-122"/>
                <a:cs typeface="Tajawal ExtraBold" pitchFamily="34" charset="-120"/>
              </a:rPr>
              <a:t>٥</a:t>
            </a:r>
            <a:endParaRPr lang="ar-SA" sz="2600" dirty="0"/>
          </a:p>
        </p:txBody>
      </p:sp>
      <p:sp>
        <p:nvSpPr>
          <p:cNvPr id="14" name="Text 9"/>
          <p:cNvSpPr/>
          <p:nvPr/>
        </p:nvSpPr>
        <p:spPr>
          <a:xfrm>
            <a:off x="5664098"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CFE2DB"/>
                </a:solidFill>
                <a:latin typeface="Tajawal" pitchFamily="34" charset="0"/>
                <a:ea typeface="Tajawal" pitchFamily="34" charset="-122"/>
                <a:cs typeface="Tajawal" pitchFamily="34" charset="-120"/>
              </a:rPr>
              <a:t>عدد مؤشرات الاعتماد المرتبطة</a:t>
            </a:r>
            <a:endParaRPr lang="ar-SA" sz="1150" dirty="0"/>
          </a:p>
        </p:txBody>
      </p:sp>
      <p:sp>
        <p:nvSpPr>
          <p:cNvPr id="15" name="Shape 10"/>
          <p:cNvSpPr/>
          <p:nvPr/>
        </p:nvSpPr>
        <p:spPr>
          <a:xfrm>
            <a:off x="411480" y="1828800"/>
            <a:ext cx="3606698" cy="914400"/>
          </a:xfrm>
          <a:prstGeom prst="roundRect">
            <a:avLst>
              <a:gd name="adj" fmla="val 7500"/>
            </a:avLst>
          </a:prstGeom>
          <a:solidFill>
            <a:srgbClr val="FFFFFF"/>
          </a:solidFill>
          <a:ln w="12700">
            <a:solidFill>
              <a:srgbClr val="095242"/>
            </a:solidFill>
            <a:prstDash val="solid"/>
          </a:ln>
        </p:spPr>
      </p:sp>
      <p:sp>
        <p:nvSpPr>
          <p:cNvPr id="16" name="Text 11"/>
          <p:cNvSpPr/>
          <p:nvPr/>
        </p:nvSpPr>
        <p:spPr>
          <a:xfrm>
            <a:off x="548640"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٨٥٪</a:t>
            </a:r>
            <a:endParaRPr lang="ar-SA" sz="2600" dirty="0"/>
          </a:p>
        </p:txBody>
      </p:sp>
      <p:sp>
        <p:nvSpPr>
          <p:cNvPr id="17" name="Text 12"/>
          <p:cNvSpPr/>
          <p:nvPr/>
        </p:nvSpPr>
        <p:spPr>
          <a:xfrm>
            <a:off x="1783080"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نسبة التحقّق المستهدفة</a:t>
            </a:r>
            <a:endParaRPr lang="ar-SA" sz="1150" dirty="0"/>
          </a:p>
        </p:txBody>
      </p:sp>
      <p:sp>
        <p:nvSpPr>
          <p:cNvPr id="18" name="Shape 13"/>
          <p:cNvSpPr/>
          <p:nvPr/>
        </p:nvSpPr>
        <p:spPr>
          <a:xfrm>
            <a:off x="11729923" y="3044952"/>
            <a:ext cx="50292" cy="201168"/>
          </a:xfrm>
          <a:prstGeom prst="rect">
            <a:avLst/>
          </a:prstGeom>
          <a:solidFill>
            <a:srgbClr val="0089A1"/>
          </a:solidFill>
          <a:ln/>
        </p:spPr>
      </p:sp>
      <p:sp>
        <p:nvSpPr>
          <p:cNvPr id="19" name="Text 14"/>
          <p:cNvSpPr/>
          <p:nvPr/>
        </p:nvSpPr>
        <p:spPr>
          <a:xfrm>
            <a:off x="8488375" y="2999232"/>
            <a:ext cx="316382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0" name="Shape 15"/>
          <p:cNvSpPr/>
          <p:nvPr/>
        </p:nvSpPr>
        <p:spPr>
          <a:xfrm>
            <a:off x="9075191" y="3383280"/>
            <a:ext cx="2705024" cy="438912"/>
          </a:xfrm>
          <a:prstGeom prst="roundRect">
            <a:avLst>
              <a:gd name="adj" fmla="val 18750"/>
            </a:avLst>
          </a:prstGeom>
          <a:solidFill>
            <a:srgbClr val="F1F7F4"/>
          </a:solidFill>
          <a:ln w="9525">
            <a:solidFill>
              <a:srgbClr val="DCE8E2"/>
            </a:solidFill>
            <a:prstDash val="solid"/>
          </a:ln>
        </p:spPr>
      </p:sp>
      <p:sp>
        <p:nvSpPr>
          <p:cNvPr id="21" name="Shape 16"/>
          <p:cNvSpPr/>
          <p:nvPr/>
        </p:nvSpPr>
        <p:spPr>
          <a:xfrm>
            <a:off x="11505895" y="3557016"/>
            <a:ext cx="100584" cy="100584"/>
          </a:xfrm>
          <a:prstGeom prst="roundRect">
            <a:avLst>
              <a:gd name="adj" fmla="val 18182"/>
            </a:avLst>
          </a:prstGeom>
          <a:solidFill>
            <a:srgbClr val="0089A1"/>
          </a:solidFill>
          <a:ln/>
        </p:spPr>
      </p:sp>
      <p:sp>
        <p:nvSpPr>
          <p:cNvPr id="22" name="Text 17"/>
          <p:cNvSpPr/>
          <p:nvPr/>
        </p:nvSpPr>
        <p:spPr>
          <a:xfrm>
            <a:off x="9203207"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التغذية الراجعة</a:t>
            </a:r>
            <a:endParaRPr lang="ar-SA" sz="1000" dirty="0"/>
          </a:p>
        </p:txBody>
      </p:sp>
      <p:sp>
        <p:nvSpPr>
          <p:cNvPr id="23" name="Shape 18"/>
          <p:cNvSpPr/>
          <p:nvPr/>
        </p:nvSpPr>
        <p:spPr>
          <a:xfrm>
            <a:off x="6187288" y="3383280"/>
            <a:ext cx="2705024" cy="438912"/>
          </a:xfrm>
          <a:prstGeom prst="roundRect">
            <a:avLst>
              <a:gd name="adj" fmla="val 18750"/>
            </a:avLst>
          </a:prstGeom>
          <a:solidFill>
            <a:srgbClr val="F1F7F4"/>
          </a:solidFill>
          <a:ln w="9525">
            <a:solidFill>
              <a:srgbClr val="DCE8E2"/>
            </a:solidFill>
            <a:prstDash val="solid"/>
          </a:ln>
        </p:spPr>
      </p:sp>
      <p:sp>
        <p:nvSpPr>
          <p:cNvPr id="24" name="Shape 19"/>
          <p:cNvSpPr/>
          <p:nvPr/>
        </p:nvSpPr>
        <p:spPr>
          <a:xfrm>
            <a:off x="8617991" y="3557016"/>
            <a:ext cx="100584" cy="100584"/>
          </a:xfrm>
          <a:prstGeom prst="roundRect">
            <a:avLst>
              <a:gd name="adj" fmla="val 18182"/>
            </a:avLst>
          </a:prstGeom>
          <a:solidFill>
            <a:srgbClr val="0089A1"/>
          </a:solidFill>
          <a:ln/>
        </p:spPr>
      </p:sp>
      <p:sp>
        <p:nvSpPr>
          <p:cNvPr id="25" name="Text 20"/>
          <p:cNvSpPr/>
          <p:nvPr/>
        </p:nvSpPr>
        <p:spPr>
          <a:xfrm>
            <a:off x="6315304"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قياس رضا المستفيدين</a:t>
            </a:r>
            <a:endParaRPr lang="ar-SA" sz="1000" dirty="0"/>
          </a:p>
        </p:txBody>
      </p:sp>
      <p:sp>
        <p:nvSpPr>
          <p:cNvPr id="26" name="Shape 21"/>
          <p:cNvSpPr/>
          <p:nvPr/>
        </p:nvSpPr>
        <p:spPr>
          <a:xfrm>
            <a:off x="3299384" y="3383280"/>
            <a:ext cx="2705024" cy="438912"/>
          </a:xfrm>
          <a:prstGeom prst="roundRect">
            <a:avLst>
              <a:gd name="adj" fmla="val 18750"/>
            </a:avLst>
          </a:prstGeom>
          <a:solidFill>
            <a:srgbClr val="F1F7F4"/>
          </a:solidFill>
          <a:ln w="9525">
            <a:solidFill>
              <a:srgbClr val="DCE8E2"/>
            </a:solidFill>
            <a:prstDash val="solid"/>
          </a:ln>
        </p:spPr>
      </p:sp>
      <p:sp>
        <p:nvSpPr>
          <p:cNvPr id="27" name="Shape 22"/>
          <p:cNvSpPr/>
          <p:nvPr/>
        </p:nvSpPr>
        <p:spPr>
          <a:xfrm>
            <a:off x="5730088" y="3557016"/>
            <a:ext cx="100584" cy="100584"/>
          </a:xfrm>
          <a:prstGeom prst="roundRect">
            <a:avLst>
              <a:gd name="adj" fmla="val 18182"/>
            </a:avLst>
          </a:prstGeom>
          <a:solidFill>
            <a:srgbClr val="0089A1"/>
          </a:solidFill>
          <a:ln/>
        </p:spPr>
      </p:sp>
      <p:sp>
        <p:nvSpPr>
          <p:cNvPr id="28" name="Text 23"/>
          <p:cNvSpPr/>
          <p:nvPr/>
        </p:nvSpPr>
        <p:spPr>
          <a:xfrm>
            <a:off x="3427400"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تحسين بيئة التعلم</a:t>
            </a:r>
            <a:endParaRPr lang="ar-SA" sz="1000" dirty="0"/>
          </a:p>
        </p:txBody>
      </p:sp>
      <p:sp>
        <p:nvSpPr>
          <p:cNvPr id="29" name="Shape 24"/>
          <p:cNvSpPr/>
          <p:nvPr/>
        </p:nvSpPr>
        <p:spPr>
          <a:xfrm>
            <a:off x="411480" y="3383280"/>
            <a:ext cx="2705024" cy="438912"/>
          </a:xfrm>
          <a:prstGeom prst="roundRect">
            <a:avLst>
              <a:gd name="adj" fmla="val 18750"/>
            </a:avLst>
          </a:prstGeom>
          <a:solidFill>
            <a:srgbClr val="F1F7F4"/>
          </a:solidFill>
          <a:ln w="9525">
            <a:solidFill>
              <a:srgbClr val="DCE8E2"/>
            </a:solidFill>
            <a:prstDash val="solid"/>
          </a:ln>
        </p:spPr>
      </p:sp>
      <p:sp>
        <p:nvSpPr>
          <p:cNvPr id="30" name="Shape 25"/>
          <p:cNvSpPr/>
          <p:nvPr/>
        </p:nvSpPr>
        <p:spPr>
          <a:xfrm>
            <a:off x="2842184" y="3557016"/>
            <a:ext cx="100584" cy="100584"/>
          </a:xfrm>
          <a:prstGeom prst="roundRect">
            <a:avLst>
              <a:gd name="adj" fmla="val 18182"/>
            </a:avLst>
          </a:prstGeom>
          <a:solidFill>
            <a:srgbClr val="0089A1"/>
          </a:solidFill>
          <a:ln/>
        </p:spPr>
      </p:sp>
      <p:sp>
        <p:nvSpPr>
          <p:cNvPr id="31" name="Text 26"/>
          <p:cNvSpPr/>
          <p:nvPr/>
        </p:nvSpPr>
        <p:spPr>
          <a:xfrm>
            <a:off x="539496"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تحسين المقصف المدرسي</a:t>
            </a:r>
            <a:endParaRPr lang="ar-SA" sz="1000" dirty="0"/>
          </a:p>
        </p:txBody>
      </p:sp>
      <p:sp>
        <p:nvSpPr>
          <p:cNvPr id="32" name="Shape 27"/>
          <p:cNvSpPr/>
          <p:nvPr/>
        </p:nvSpPr>
        <p:spPr>
          <a:xfrm>
            <a:off x="9075191" y="3950208"/>
            <a:ext cx="2705024" cy="438912"/>
          </a:xfrm>
          <a:prstGeom prst="roundRect">
            <a:avLst>
              <a:gd name="adj" fmla="val 18750"/>
            </a:avLst>
          </a:prstGeom>
          <a:solidFill>
            <a:srgbClr val="F1F7F4"/>
          </a:solidFill>
          <a:ln w="9525">
            <a:solidFill>
              <a:srgbClr val="DCE8E2"/>
            </a:solidFill>
            <a:prstDash val="solid"/>
          </a:ln>
        </p:spPr>
      </p:sp>
      <p:sp>
        <p:nvSpPr>
          <p:cNvPr id="33" name="Shape 28"/>
          <p:cNvSpPr/>
          <p:nvPr/>
        </p:nvSpPr>
        <p:spPr>
          <a:xfrm>
            <a:off x="11505895" y="4123944"/>
            <a:ext cx="100584" cy="100584"/>
          </a:xfrm>
          <a:prstGeom prst="roundRect">
            <a:avLst>
              <a:gd name="adj" fmla="val 18182"/>
            </a:avLst>
          </a:prstGeom>
          <a:solidFill>
            <a:srgbClr val="0089A1"/>
          </a:solidFill>
          <a:ln/>
        </p:spPr>
      </p:sp>
      <p:sp>
        <p:nvSpPr>
          <p:cNvPr id="34" name="Text 29"/>
          <p:cNvSpPr/>
          <p:nvPr/>
        </p:nvSpPr>
        <p:spPr>
          <a:xfrm>
            <a:off x="9203207"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تحسين ساحة الاصطفاف</a:t>
            </a:r>
            <a:endParaRPr lang="ar-SA" sz="1000" dirty="0"/>
          </a:p>
        </p:txBody>
      </p:sp>
      <p:sp>
        <p:nvSpPr>
          <p:cNvPr id="35" name="Shape 30"/>
          <p:cNvSpPr/>
          <p:nvPr/>
        </p:nvSpPr>
        <p:spPr>
          <a:xfrm>
            <a:off x="6187288" y="3950208"/>
            <a:ext cx="2705024" cy="438912"/>
          </a:xfrm>
          <a:prstGeom prst="roundRect">
            <a:avLst>
              <a:gd name="adj" fmla="val 18750"/>
            </a:avLst>
          </a:prstGeom>
          <a:solidFill>
            <a:srgbClr val="F1F7F4"/>
          </a:solidFill>
          <a:ln w="9525">
            <a:solidFill>
              <a:srgbClr val="DCE8E2"/>
            </a:solidFill>
            <a:prstDash val="solid"/>
          </a:ln>
        </p:spPr>
      </p:sp>
      <p:sp>
        <p:nvSpPr>
          <p:cNvPr id="36" name="Shape 31"/>
          <p:cNvSpPr/>
          <p:nvPr/>
        </p:nvSpPr>
        <p:spPr>
          <a:xfrm>
            <a:off x="8617991" y="4123944"/>
            <a:ext cx="100584" cy="100584"/>
          </a:xfrm>
          <a:prstGeom prst="roundRect">
            <a:avLst>
              <a:gd name="adj" fmla="val 18182"/>
            </a:avLst>
          </a:prstGeom>
          <a:solidFill>
            <a:srgbClr val="0089A1"/>
          </a:solidFill>
          <a:ln/>
        </p:spPr>
      </p:sp>
      <p:sp>
        <p:nvSpPr>
          <p:cNvPr id="37" name="Text 32"/>
          <p:cNvSpPr/>
          <p:nvPr/>
        </p:nvSpPr>
        <p:spPr>
          <a:xfrm>
            <a:off x="6315304"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تحسين الخدمات المساندة</a:t>
            </a:r>
            <a:endParaRPr lang="ar-SA" sz="1000" dirty="0"/>
          </a:p>
        </p:txBody>
      </p:sp>
      <p:sp>
        <p:nvSpPr>
          <p:cNvPr id="38" name="Shape 33"/>
          <p:cNvSpPr/>
          <p:nvPr/>
        </p:nvSpPr>
        <p:spPr>
          <a:xfrm>
            <a:off x="3299384" y="3950208"/>
            <a:ext cx="2705024" cy="438912"/>
          </a:xfrm>
          <a:prstGeom prst="roundRect">
            <a:avLst>
              <a:gd name="adj" fmla="val 18750"/>
            </a:avLst>
          </a:prstGeom>
          <a:solidFill>
            <a:srgbClr val="F1F7F4"/>
          </a:solidFill>
          <a:ln w="9525">
            <a:solidFill>
              <a:srgbClr val="DCE8E2"/>
            </a:solidFill>
            <a:prstDash val="solid"/>
          </a:ln>
        </p:spPr>
      </p:sp>
      <p:sp>
        <p:nvSpPr>
          <p:cNvPr id="39" name="Shape 34"/>
          <p:cNvSpPr/>
          <p:nvPr/>
        </p:nvSpPr>
        <p:spPr>
          <a:xfrm>
            <a:off x="5730088" y="4123944"/>
            <a:ext cx="100584" cy="100584"/>
          </a:xfrm>
          <a:prstGeom prst="roundRect">
            <a:avLst>
              <a:gd name="adj" fmla="val 18182"/>
            </a:avLst>
          </a:prstGeom>
          <a:solidFill>
            <a:srgbClr val="0089A1"/>
          </a:solidFill>
          <a:ln/>
        </p:spPr>
      </p:sp>
      <p:sp>
        <p:nvSpPr>
          <p:cNvPr id="40" name="Text 35"/>
          <p:cNvSpPr/>
          <p:nvPr/>
        </p:nvSpPr>
        <p:spPr>
          <a:xfrm>
            <a:off x="3427400"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برامج الصحة المدرسية</a:t>
            </a:r>
            <a:endParaRPr lang="ar-SA" sz="1000" dirty="0"/>
          </a:p>
        </p:txBody>
      </p:sp>
      <p:sp>
        <p:nvSpPr>
          <p:cNvPr id="41" name="Shape 36"/>
          <p:cNvSpPr/>
          <p:nvPr/>
        </p:nvSpPr>
        <p:spPr>
          <a:xfrm>
            <a:off x="411480" y="3950208"/>
            <a:ext cx="2705024" cy="438912"/>
          </a:xfrm>
          <a:prstGeom prst="roundRect">
            <a:avLst>
              <a:gd name="adj" fmla="val 18750"/>
            </a:avLst>
          </a:prstGeom>
          <a:solidFill>
            <a:srgbClr val="F1F7F4"/>
          </a:solidFill>
          <a:ln w="9525">
            <a:solidFill>
              <a:srgbClr val="DCE8E2"/>
            </a:solidFill>
            <a:prstDash val="solid"/>
          </a:ln>
        </p:spPr>
      </p:sp>
      <p:sp>
        <p:nvSpPr>
          <p:cNvPr id="42" name="Shape 37"/>
          <p:cNvSpPr/>
          <p:nvPr/>
        </p:nvSpPr>
        <p:spPr>
          <a:xfrm>
            <a:off x="2842184" y="4123944"/>
            <a:ext cx="100584" cy="100584"/>
          </a:xfrm>
          <a:prstGeom prst="roundRect">
            <a:avLst>
              <a:gd name="adj" fmla="val 18182"/>
            </a:avLst>
          </a:prstGeom>
          <a:solidFill>
            <a:srgbClr val="0089A1"/>
          </a:solidFill>
          <a:ln/>
        </p:spPr>
      </p:sp>
      <p:sp>
        <p:nvSpPr>
          <p:cNvPr id="43" name="Text 38"/>
          <p:cNvSpPr/>
          <p:nvPr/>
        </p:nvSpPr>
        <p:spPr>
          <a:xfrm>
            <a:off x="539496"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وجبتي الصحية</a:t>
            </a:r>
            <a:endParaRPr lang="ar-SA" sz="1000" dirty="0"/>
          </a:p>
        </p:txBody>
      </p:sp>
      <p:sp>
        <p:nvSpPr>
          <p:cNvPr id="44" name="Shape 39"/>
          <p:cNvSpPr/>
          <p:nvPr/>
        </p:nvSpPr>
        <p:spPr>
          <a:xfrm>
            <a:off x="9075191" y="4517136"/>
            <a:ext cx="2705024" cy="438912"/>
          </a:xfrm>
          <a:prstGeom prst="roundRect">
            <a:avLst>
              <a:gd name="adj" fmla="val 18750"/>
            </a:avLst>
          </a:prstGeom>
          <a:solidFill>
            <a:srgbClr val="F1F7F4"/>
          </a:solidFill>
          <a:ln w="9525">
            <a:solidFill>
              <a:srgbClr val="DCE8E2"/>
            </a:solidFill>
            <a:prstDash val="solid"/>
          </a:ln>
        </p:spPr>
      </p:sp>
      <p:sp>
        <p:nvSpPr>
          <p:cNvPr id="45" name="Shape 40"/>
          <p:cNvSpPr/>
          <p:nvPr/>
        </p:nvSpPr>
        <p:spPr>
          <a:xfrm>
            <a:off x="11505895" y="4690872"/>
            <a:ext cx="100584" cy="100584"/>
          </a:xfrm>
          <a:prstGeom prst="roundRect">
            <a:avLst>
              <a:gd name="adj" fmla="val 18182"/>
            </a:avLst>
          </a:prstGeom>
          <a:solidFill>
            <a:srgbClr val="0089A1"/>
          </a:solidFill>
          <a:ln/>
        </p:spPr>
      </p:sp>
      <p:sp>
        <p:nvSpPr>
          <p:cNvPr id="46" name="Text 41"/>
          <p:cNvSpPr/>
          <p:nvPr/>
        </p:nvSpPr>
        <p:spPr>
          <a:xfrm>
            <a:off x="9203207"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صحتي مسؤوليتي</a:t>
            </a:r>
            <a:endParaRPr lang="ar-SA" sz="1000" dirty="0"/>
          </a:p>
        </p:txBody>
      </p:sp>
      <p:sp>
        <p:nvSpPr>
          <p:cNvPr id="47" name="Shape 42"/>
          <p:cNvSpPr/>
          <p:nvPr/>
        </p:nvSpPr>
        <p:spPr>
          <a:xfrm>
            <a:off x="6187288" y="4517136"/>
            <a:ext cx="2705024" cy="438912"/>
          </a:xfrm>
          <a:prstGeom prst="roundRect">
            <a:avLst>
              <a:gd name="adj" fmla="val 18750"/>
            </a:avLst>
          </a:prstGeom>
          <a:solidFill>
            <a:srgbClr val="F1F7F4"/>
          </a:solidFill>
          <a:ln w="9525">
            <a:solidFill>
              <a:srgbClr val="DCE8E2"/>
            </a:solidFill>
            <a:prstDash val="solid"/>
          </a:ln>
        </p:spPr>
      </p:sp>
      <p:sp>
        <p:nvSpPr>
          <p:cNvPr id="48" name="Shape 43"/>
          <p:cNvSpPr/>
          <p:nvPr/>
        </p:nvSpPr>
        <p:spPr>
          <a:xfrm>
            <a:off x="8617991" y="4690872"/>
            <a:ext cx="100584" cy="100584"/>
          </a:xfrm>
          <a:prstGeom prst="roundRect">
            <a:avLst>
              <a:gd name="adj" fmla="val 18182"/>
            </a:avLst>
          </a:prstGeom>
          <a:solidFill>
            <a:srgbClr val="0089A1"/>
          </a:solidFill>
          <a:ln/>
        </p:spPr>
      </p:sp>
      <p:sp>
        <p:nvSpPr>
          <p:cNvPr id="49" name="Text 44"/>
          <p:cNvSpPr/>
          <p:nvPr/>
        </p:nvSpPr>
        <p:spPr>
          <a:xfrm>
            <a:off x="6315304"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المناخ الآمن نفسيًا واجتماعيًا</a:t>
            </a:r>
            <a:endParaRPr lang="ar-SA" sz="1000" dirty="0"/>
          </a:p>
        </p:txBody>
      </p:sp>
      <p:sp>
        <p:nvSpPr>
          <p:cNvPr id="50" name="Shape 45"/>
          <p:cNvSpPr/>
          <p:nvPr/>
        </p:nvSpPr>
        <p:spPr>
          <a:xfrm>
            <a:off x="7802575" y="5193792"/>
            <a:ext cx="3977640" cy="1261872"/>
          </a:xfrm>
          <a:prstGeom prst="roundRect">
            <a:avLst>
              <a:gd name="adj" fmla="val 5435"/>
            </a:avLst>
          </a:prstGeom>
          <a:solidFill>
            <a:srgbClr val="FFFFFF"/>
          </a:solidFill>
          <a:ln w="9525">
            <a:solidFill>
              <a:srgbClr val="DCE8E2"/>
            </a:solidFill>
            <a:prstDash val="solid"/>
          </a:ln>
        </p:spPr>
      </p:sp>
      <p:sp>
        <p:nvSpPr>
          <p:cNvPr id="51" name="Text 46"/>
          <p:cNvSpPr/>
          <p:nvPr/>
        </p:nvSpPr>
        <p:spPr>
          <a:xfrm>
            <a:off x="8031175" y="5285232"/>
            <a:ext cx="3520440" cy="292608"/>
          </a:xfrm>
          <a:prstGeom prst="rect">
            <a:avLst/>
          </a:prstGeom>
          <a:noFill/>
          <a:ln/>
        </p:spPr>
        <p:txBody>
          <a:bodyPr wrap="square" lIns="0" tIns="0" rIns="0" bIns="0" rtlCol="0" anchor="t"/>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مؤشرات الاعتماد المدرسي</a:t>
            </a:r>
            <a:endParaRPr lang="ar-SA" sz="1050" dirty="0"/>
          </a:p>
        </p:txBody>
      </p:sp>
      <p:sp>
        <p:nvSpPr>
          <p:cNvPr id="52" name="Shape 47"/>
          <p:cNvSpPr/>
          <p:nvPr/>
        </p:nvSpPr>
        <p:spPr>
          <a:xfrm>
            <a:off x="10893247" y="5632704"/>
            <a:ext cx="658368" cy="274320"/>
          </a:xfrm>
          <a:prstGeom prst="roundRect">
            <a:avLst>
              <a:gd name="adj" fmla="val 20000"/>
            </a:avLst>
          </a:prstGeom>
          <a:solidFill>
            <a:srgbClr val="FFFFFF"/>
          </a:solidFill>
          <a:ln w="9525">
            <a:solidFill>
              <a:srgbClr val="095242"/>
            </a:solidFill>
            <a:prstDash val="solid"/>
          </a:ln>
        </p:spPr>
      </p:sp>
      <p:sp>
        <p:nvSpPr>
          <p:cNvPr id="53" name="Text 48"/>
          <p:cNvSpPr/>
          <p:nvPr/>
        </p:nvSpPr>
        <p:spPr>
          <a:xfrm>
            <a:off x="10893247"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‎1-5-1-2‎</a:t>
            </a:r>
            <a:endParaRPr lang="ar-SA" sz="800" dirty="0"/>
          </a:p>
        </p:txBody>
      </p:sp>
      <p:sp>
        <p:nvSpPr>
          <p:cNvPr id="54" name="Shape 49"/>
          <p:cNvSpPr/>
          <p:nvPr/>
        </p:nvSpPr>
        <p:spPr>
          <a:xfrm>
            <a:off x="10125151" y="5632704"/>
            <a:ext cx="658368" cy="274320"/>
          </a:xfrm>
          <a:prstGeom prst="roundRect">
            <a:avLst>
              <a:gd name="adj" fmla="val 20000"/>
            </a:avLst>
          </a:prstGeom>
          <a:solidFill>
            <a:srgbClr val="FFFFFF"/>
          </a:solidFill>
          <a:ln w="9525">
            <a:solidFill>
              <a:srgbClr val="095242"/>
            </a:solidFill>
            <a:prstDash val="solid"/>
          </a:ln>
        </p:spPr>
      </p:sp>
      <p:sp>
        <p:nvSpPr>
          <p:cNvPr id="55" name="Text 50"/>
          <p:cNvSpPr/>
          <p:nvPr/>
        </p:nvSpPr>
        <p:spPr>
          <a:xfrm>
            <a:off x="10125151"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‎2-2-1-4‎</a:t>
            </a:r>
            <a:endParaRPr lang="ar-SA" sz="800" dirty="0"/>
          </a:p>
        </p:txBody>
      </p:sp>
      <p:sp>
        <p:nvSpPr>
          <p:cNvPr id="56" name="Shape 51"/>
          <p:cNvSpPr/>
          <p:nvPr/>
        </p:nvSpPr>
        <p:spPr>
          <a:xfrm>
            <a:off x="9357055" y="5632704"/>
            <a:ext cx="658368" cy="274320"/>
          </a:xfrm>
          <a:prstGeom prst="roundRect">
            <a:avLst>
              <a:gd name="adj" fmla="val 20000"/>
            </a:avLst>
          </a:prstGeom>
          <a:solidFill>
            <a:srgbClr val="FFFFFF"/>
          </a:solidFill>
          <a:ln w="9525">
            <a:solidFill>
              <a:srgbClr val="095242"/>
            </a:solidFill>
            <a:prstDash val="solid"/>
          </a:ln>
        </p:spPr>
      </p:sp>
      <p:sp>
        <p:nvSpPr>
          <p:cNvPr id="57" name="Text 52"/>
          <p:cNvSpPr/>
          <p:nvPr/>
        </p:nvSpPr>
        <p:spPr>
          <a:xfrm>
            <a:off x="9357055"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‎3-2-1-3‎</a:t>
            </a:r>
            <a:endParaRPr lang="ar-SA" sz="800" dirty="0"/>
          </a:p>
        </p:txBody>
      </p:sp>
      <p:sp>
        <p:nvSpPr>
          <p:cNvPr id="58" name="Shape 53"/>
          <p:cNvSpPr/>
          <p:nvPr/>
        </p:nvSpPr>
        <p:spPr>
          <a:xfrm>
            <a:off x="8588959" y="5632704"/>
            <a:ext cx="658368" cy="274320"/>
          </a:xfrm>
          <a:prstGeom prst="roundRect">
            <a:avLst>
              <a:gd name="adj" fmla="val 20000"/>
            </a:avLst>
          </a:prstGeom>
          <a:solidFill>
            <a:srgbClr val="FFFFFF"/>
          </a:solidFill>
          <a:ln w="9525">
            <a:solidFill>
              <a:srgbClr val="095242"/>
            </a:solidFill>
            <a:prstDash val="solid"/>
          </a:ln>
        </p:spPr>
      </p:sp>
      <p:sp>
        <p:nvSpPr>
          <p:cNvPr id="59" name="Text 54"/>
          <p:cNvSpPr/>
          <p:nvPr/>
        </p:nvSpPr>
        <p:spPr>
          <a:xfrm>
            <a:off x="8588959"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‎4-1-1-2‎</a:t>
            </a:r>
            <a:endParaRPr lang="ar-SA" sz="800" dirty="0"/>
          </a:p>
        </p:txBody>
      </p:sp>
      <p:sp>
        <p:nvSpPr>
          <p:cNvPr id="60" name="Shape 55"/>
          <p:cNvSpPr/>
          <p:nvPr/>
        </p:nvSpPr>
        <p:spPr>
          <a:xfrm>
            <a:off x="7820863" y="5632704"/>
            <a:ext cx="658368" cy="274320"/>
          </a:xfrm>
          <a:prstGeom prst="roundRect">
            <a:avLst>
              <a:gd name="adj" fmla="val 20000"/>
            </a:avLst>
          </a:prstGeom>
          <a:solidFill>
            <a:srgbClr val="FFFFFF"/>
          </a:solidFill>
          <a:ln w="9525">
            <a:solidFill>
              <a:srgbClr val="095242"/>
            </a:solidFill>
            <a:prstDash val="solid"/>
          </a:ln>
        </p:spPr>
      </p:sp>
      <p:sp>
        <p:nvSpPr>
          <p:cNvPr id="61" name="Text 56"/>
          <p:cNvSpPr/>
          <p:nvPr/>
        </p:nvSpPr>
        <p:spPr>
          <a:xfrm>
            <a:off x="7820863"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‎4-1-1-4‎</a:t>
            </a:r>
            <a:endParaRPr lang="ar-SA" sz="800" dirty="0"/>
          </a:p>
        </p:txBody>
      </p:sp>
      <p:sp>
        <p:nvSpPr>
          <p:cNvPr id="62" name="Shape 57"/>
          <p:cNvSpPr/>
          <p:nvPr/>
        </p:nvSpPr>
        <p:spPr>
          <a:xfrm>
            <a:off x="411480" y="5193792"/>
            <a:ext cx="7116775" cy="1261872"/>
          </a:xfrm>
          <a:prstGeom prst="roundRect">
            <a:avLst>
              <a:gd name="adj" fmla="val 5435"/>
            </a:avLst>
          </a:prstGeom>
          <a:solidFill>
            <a:srgbClr val="095242"/>
          </a:solidFill>
          <a:ln/>
          <a:effectLst>
            <a:outerShdw sx="100000" sy="100000" kx="0" ky="0" algn="bl" rotWithShape="0" blurRad="88900" dist="25400" dir="5400000">
              <a:srgbClr val="083528">
                <a:alpha val="22000"/>
              </a:srgbClr>
            </a:outerShdw>
          </a:effectLst>
        </p:spPr>
      </p:sp>
      <p:pic>
        <p:nvPicPr>
          <p:cNvPr id="63" name="Image 3" descr="/tmp/claude-0/-home-user-Mobile1/ab9bbf47-b054-5f6e-be59-70476e095ce8/scratchpad/assets/icons/sparkles_white.png">    </p:cNvPr>
          <p:cNvPicPr>
            <a:picLocks noChangeAspect="1"/>
          </p:cNvPicPr>
          <p:nvPr/>
        </p:nvPicPr>
        <p:blipFill>
          <a:blip r:embed="rId4"/>
          <a:stretch>
            <a:fillRect/>
          </a:stretch>
        </p:blipFill>
        <p:spPr>
          <a:xfrm>
            <a:off x="7052767" y="5303520"/>
            <a:ext cx="256032" cy="256032"/>
          </a:xfrm>
          <a:prstGeom prst="rect">
            <a:avLst/>
          </a:prstGeom>
        </p:spPr>
      </p:pic>
      <p:sp>
        <p:nvSpPr>
          <p:cNvPr id="64" name="Text 58"/>
          <p:cNvSpPr/>
          <p:nvPr/>
        </p:nvSpPr>
        <p:spPr>
          <a:xfrm>
            <a:off x="685800" y="5285232"/>
            <a:ext cx="6248095" cy="292608"/>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65" name="Text 59"/>
          <p:cNvSpPr/>
          <p:nvPr/>
        </p:nvSpPr>
        <p:spPr>
          <a:xfrm>
            <a:off x="685800" y="5614416"/>
            <a:ext cx="6549847" cy="749808"/>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9E9E3"/>
                </a:solidFill>
                <a:latin typeface="Tajawal" pitchFamily="34" charset="0"/>
                <a:ea typeface="Tajawal" pitchFamily="34" charset="-122"/>
                <a:cs typeface="Tajawal" pitchFamily="34" charset="-120"/>
              </a:rPr>
              <a:t>ارتفاع مؤشرات رضا الطلاب وأولياء الأمور • تحسّن جودة الخدمات المساندة • مقصف صحي معتمد • مناخ نفسي إيجابي.</a:t>
            </a:r>
            <a:endParaRPr lang="ar-SA" sz="9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٢٢</a:t>
            </a:r>
            <a:endParaRPr lang="ar-SA" sz="850" dirty="0"/>
          </a:p>
        </p:txBody>
      </p:sp>
      <p:sp>
        <p:nvSpPr>
          <p:cNvPr id="5" name="Shape 2"/>
          <p:cNvSpPr/>
          <p:nvPr/>
        </p:nvSpPr>
        <p:spPr>
          <a:xfrm>
            <a:off x="411480" y="274320"/>
            <a:ext cx="11368735" cy="548640"/>
          </a:xfrm>
          <a:prstGeom prst="roundRect">
            <a:avLst>
              <a:gd name="adj" fmla="val 15000"/>
            </a:avLst>
          </a:prstGeom>
          <a:solidFill>
            <a:srgbClr val="095242"/>
          </a:solidFill>
          <a:ln/>
        </p:spPr>
      </p:sp>
      <p:sp>
        <p:nvSpPr>
          <p:cNvPr id="6" name="Shape 3"/>
          <p:cNvSpPr/>
          <p:nvPr/>
        </p:nvSpPr>
        <p:spPr>
          <a:xfrm>
            <a:off x="576072" y="379476"/>
            <a:ext cx="137160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576072" y="370332"/>
            <a:ext cx="137160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194560" y="274320"/>
            <a:ext cx="931133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٤ — تحسين تجربة المستفيدين</a:t>
            </a:r>
            <a:endParaRPr lang="ar-SA" sz="15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14400"/>
        </p:xfrm>
        <a:graphic>
          <a:graphicData uri="http://schemas.openxmlformats.org/drawingml/2006/table">
            <a:tbl>
              <a:tblPr/>
              <a:tblGrid>
                <a:gridCol w="9631375"/>
                <a:gridCol w="1737360"/>
              </a:tblGrid>
              <a:tr h="274320">
                <a:tc>
                  <a:txBody>
                    <a:bodyPr/>
                    <a:lstStyle/>
                    <a:p>
                      <a:pPr rtl="1" algn="r" indent="0" marL="0">
                        <a:buNone/>
                      </a:pPr>
                      <a:r>
                        <a:rPr lang="ar-SA" altLang="en-US" sz="940" b="1" dirty="0">
                          <a:solidFill>
                            <a:srgbClr val="063E33"/>
                          </a:solidFill>
                          <a:latin typeface="Tajawal" pitchFamily="34" charset="0"/>
                          <a:ea typeface="Tajawal" pitchFamily="34" charset="-122"/>
                          <a:cs typeface="Tajawal" pitchFamily="34" charset="-120"/>
                        </a:rPr>
                        <a:t>تحسين تجربة المستفيدين</a:t>
                      </a:r>
                      <a:endParaRPr lang="ar-SA" sz="9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548640">
                <a:tc>
                  <a:txBody>
                    <a:bodyPr/>
                    <a:lstStyle/>
                    <a:p>
                      <a:pPr rtl="1" algn="r" indent="0" marL="0">
                        <a:buNone/>
                      </a:pPr>
                      <a:r>
                        <a:rPr lang="ar-SA" altLang="en-US" sz="820" dirty="0">
                          <a:solidFill>
                            <a:srgbClr val="33473F"/>
                          </a:solidFill>
                          <a:latin typeface="Tajawal" pitchFamily="34" charset="0"/>
                          <a:ea typeface="Tajawal" pitchFamily="34" charset="-122"/>
                          <a:cs typeface="Tajawal" pitchFamily="34" charset="-120"/>
                        </a:rPr>
                        <a:t>يهدف هذا المحور إلى تطوير الخدمات المساندة ورفع جودتها بما يسهم في تحسين تجربة المستفيدين، وتعزيز رضا الطلاب وأولياء الأمور ومنسوبي المدرسة عن الخدمات التعليمية والإدارية والصحية والبيئية المقدمة، وفق معايير الجودة والاعتماد المدرسي.</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(٤-١)</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رضا الطلاب وأولياء الأمور عن الخدمات التعليمية والأكاديمية والخدمات المساندة المقدمة في المدرسة — رفع نسبة رضا المستفيدين عن الخدمات المدرسية إلى ٨٥٪ خلال العام الدراسي.</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11480" y="2286000"/>
          <a:ext cx="1136873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vMerge="1">
                  <a:tcPr/>
                </a:tc>
                <a:tc vMerge="1">
                  <a:tcPr/>
                </a:tc>
                <a:tc vMerge="1">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استبانات ولقاءات دورية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أدوات استبانة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التغذية الراجعة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استبانة موحدة وتحليل النتائج</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فريق الجودة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نموذج معتمد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نهاية الفصل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قياس رضا المستفيدين</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تطوير وصيانة بيئة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المرافق والصيانة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ميزانية تشغيل وتجهيزات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تحسين بيئة التعلم</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٣</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توفير وجبات صحية ومتابعة الجودة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الجهات الصحية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لجنة السلامة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موردون معتمدون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تحسين المقصف المدرسي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٤</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تنظيم وتجميل ساحة الاصطفاف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المرافق والصيانة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رائد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مظلات ولوحات إرشادية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خلال الفصل</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تحسين ساحة الاصطفاف</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٥</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مراجعة الخدمات وتطويرها</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اللجان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تحسين معتمدة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دوري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تحسين الخدمات المساندة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٦</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فحوصات صحية وبرامج توعوية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الصحة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كادر صحي ومواد توعوية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برامج الصحة المدرسية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٧</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حملات توعوية ومسابقات غذائية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الجهات الصحية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مواد توعوية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وجبتي الصحية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٨</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ورش عمل ومبادرات صحية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الجهات الصحية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موارد توعوية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صحتي مسؤوليتي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60274">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برامج إرشادية ومبادرات داعمة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جميع المستفيدين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الجهات المختصة بالصحة النفسية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الإدارة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أدوات قياس وبرامج إرشادية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المناخ الآمن نفسيًا واجتماعيًا</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١٠</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٢٣</a:t>
            </a:r>
            <a:endParaRPr lang="ar-SA" sz="850" dirty="0"/>
          </a:p>
        </p:txBody>
      </p:sp>
      <p:pic>
        <p:nvPicPr>
          <p:cNvPr id="5" name="Image 1" descr="/tmp/claude-0/-home-user-Mobile1/ab9bbf47-b054-5f6e-be59-70476e095ce8/scratchpad/assets/band_goal.png">    </p:cNvPr>
          <p:cNvPicPr>
            <a:picLocks noChangeAspect="1"/>
          </p:cNvPicPr>
          <p:nvPr/>
        </p:nvPicPr>
        <p:blipFill>
          <a:blip r:embed="rId2"/>
          <a:stretch>
            <a:fillRect/>
          </a:stretch>
        </p:blipFill>
        <p:spPr>
          <a:xfrm>
            <a:off x="411480" y="292608"/>
            <a:ext cx="11368735" cy="1344168"/>
          </a:xfrm>
          <a:prstGeom prst="rect">
            <a:avLst/>
          </a:prstGeom>
        </p:spPr>
      </p:pic>
      <p:pic>
        <p:nvPicPr>
          <p:cNvPr id="6" name="Image 2" descr="/tmp/claude-0/-home-user-Mobile1/ab9bbf47-b054-5f6e-be59-70476e095ce8/scratchpad/assets/moe_white.png">    </p:cNvPr>
          <p:cNvPicPr>
            <a:picLocks noChangeAspect="1"/>
          </p:cNvPicPr>
          <p:nvPr/>
        </p:nvPicPr>
        <p:blipFill>
          <a:blip r:embed="rId3"/>
          <a:stretch>
            <a:fillRect/>
          </a:stretch>
        </p:blipFill>
        <p:spPr>
          <a:xfrm>
            <a:off x="795528" y="502920"/>
            <a:ext cx="1170432" cy="905256"/>
          </a:xfrm>
          <a:prstGeom prst="rect">
            <a:avLst/>
          </a:prstGeom>
        </p:spPr>
      </p:pic>
      <p:sp>
        <p:nvSpPr>
          <p:cNvPr id="7" name="Text 2"/>
          <p:cNvSpPr/>
          <p:nvPr/>
        </p:nvSpPr>
        <p:spPr>
          <a:xfrm>
            <a:off x="2377440" y="475488"/>
            <a:ext cx="9128455" cy="329184"/>
          </a:xfrm>
          <a:prstGeom prst="rect">
            <a:avLst/>
          </a:prstGeom>
          <a:noFill/>
          <a:ln/>
        </p:spPr>
        <p:txBody>
          <a:bodyPr wrap="square" lIns="0" tIns="0" rIns="0" bIns="0" rtlCol="0" anchor="t"/>
          <a:lstStyle/>
          <a:p>
            <a:pPr rtl="1" algn="r" indent="0" marL="0">
              <a:buNone/>
            </a:pPr>
            <a:r>
              <a:rPr lang="ar-SA" altLang="en-US" sz="1200" b="1" dirty="0">
                <a:solidFill>
                  <a:srgbClr val="C9A45C"/>
                </a:solidFill>
                <a:latin typeface="Tajawal" pitchFamily="34" charset="0"/>
                <a:ea typeface="Tajawal" pitchFamily="34" charset="-122"/>
                <a:cs typeface="Tajawal" pitchFamily="34" charset="-120"/>
              </a:rPr>
              <a:t>الهدف الاستراتيجي رقم ٥</a:t>
            </a:r>
            <a:endParaRPr lang="ar-SA" sz="1200" dirty="0"/>
          </a:p>
        </p:txBody>
      </p:sp>
      <p:sp>
        <p:nvSpPr>
          <p:cNvPr id="8" name="Text 3"/>
          <p:cNvSpPr/>
          <p:nvPr/>
        </p:nvSpPr>
        <p:spPr>
          <a:xfrm>
            <a:off x="2377440" y="822960"/>
            <a:ext cx="9128455" cy="603504"/>
          </a:xfrm>
          <a:prstGeom prst="rect">
            <a:avLst/>
          </a:prstGeom>
          <a:noFill/>
          <a:ln/>
        </p:spPr>
        <p:txBody>
          <a:bodyPr wrap="square" lIns="0" tIns="0" rIns="0" bIns="0" rtlCol="0" anchor="ctr"/>
          <a:lstStyle/>
          <a:p>
            <a:pPr rtl="1" algn="r" indent="0" marL="0">
              <a:buNone/>
            </a:pPr>
            <a:r>
              <a:rPr lang="ar-SA" altLang="en-US" sz="2300" b="1" dirty="0">
                <a:solidFill>
                  <a:srgbClr val="FFFFFF"/>
                </a:solidFill>
                <a:latin typeface="Tajawal" pitchFamily="34" charset="0"/>
                <a:ea typeface="Tajawal" pitchFamily="34" charset="-122"/>
                <a:cs typeface="Tajawal" pitchFamily="34" charset="-120"/>
              </a:rPr>
              <a:t>الاستثمار في الطلاب والمدارس الأولى بالرعاية</a:t>
            </a:r>
            <a:endParaRPr lang="ar-SA" sz="2300" dirty="0"/>
          </a:p>
        </p:txBody>
      </p:sp>
      <p:sp>
        <p:nvSpPr>
          <p:cNvPr id="9" name="Shape 4"/>
          <p:cNvSpPr/>
          <p:nvPr/>
        </p:nvSpPr>
        <p:spPr>
          <a:xfrm>
            <a:off x="8173517" y="1828800"/>
            <a:ext cx="3606698" cy="914400"/>
          </a:xfrm>
          <a:prstGeom prst="roundRect">
            <a:avLst>
              <a:gd name="adj" fmla="val 7500"/>
            </a:avLst>
          </a:prstGeom>
          <a:solidFill>
            <a:srgbClr val="FFFFFF"/>
          </a:solidFill>
          <a:ln w="12700">
            <a:solidFill>
              <a:srgbClr val="095242"/>
            </a:solidFill>
            <a:prstDash val="solid"/>
          </a:ln>
        </p:spPr>
      </p:sp>
      <p:sp>
        <p:nvSpPr>
          <p:cNvPr id="10" name="Text 5"/>
          <p:cNvSpPr/>
          <p:nvPr/>
        </p:nvSpPr>
        <p:spPr>
          <a:xfrm>
            <a:off x="8310677"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١٢</a:t>
            </a:r>
            <a:endParaRPr lang="ar-SA" sz="2600" dirty="0"/>
          </a:p>
        </p:txBody>
      </p:sp>
      <p:sp>
        <p:nvSpPr>
          <p:cNvPr id="11" name="Text 6"/>
          <p:cNvSpPr/>
          <p:nvPr/>
        </p:nvSpPr>
        <p:spPr>
          <a:xfrm>
            <a:off x="9545117"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عدد البرامج التشغيلية</a:t>
            </a:r>
            <a:endParaRPr lang="ar-SA" sz="1150" dirty="0"/>
          </a:p>
        </p:txBody>
      </p:sp>
      <p:sp>
        <p:nvSpPr>
          <p:cNvPr id="12" name="Shape 7"/>
          <p:cNvSpPr/>
          <p:nvPr/>
        </p:nvSpPr>
        <p:spPr>
          <a:xfrm>
            <a:off x="4292498" y="1828800"/>
            <a:ext cx="3606698" cy="914400"/>
          </a:xfrm>
          <a:prstGeom prst="roundRect">
            <a:avLst>
              <a:gd name="adj" fmla="val 7500"/>
            </a:avLst>
          </a:prstGeom>
          <a:solidFill>
            <a:srgbClr val="095242"/>
          </a:solidFill>
          <a:ln/>
          <a:effectLst>
            <a:outerShdw sx="100000" sy="100000" kx="0" ky="0" algn="bl" rotWithShape="0" blurRad="88900" dist="25400" dir="5400000">
              <a:srgbClr val="083528">
                <a:alpha val="22000"/>
              </a:srgbClr>
            </a:outerShdw>
          </a:effectLst>
        </p:spPr>
      </p:sp>
      <p:sp>
        <p:nvSpPr>
          <p:cNvPr id="13" name="Text 8"/>
          <p:cNvSpPr/>
          <p:nvPr/>
        </p:nvSpPr>
        <p:spPr>
          <a:xfrm>
            <a:off x="4429658"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FFFFFF"/>
                </a:solidFill>
                <a:latin typeface="Tajawal ExtraBold" pitchFamily="34" charset="0"/>
                <a:ea typeface="Tajawal ExtraBold" pitchFamily="34" charset="-122"/>
                <a:cs typeface="Tajawal ExtraBold" pitchFamily="34" charset="-120"/>
              </a:rPr>
              <a:t>٦</a:t>
            </a:r>
            <a:endParaRPr lang="ar-SA" sz="2600" dirty="0"/>
          </a:p>
        </p:txBody>
      </p:sp>
      <p:sp>
        <p:nvSpPr>
          <p:cNvPr id="14" name="Text 9"/>
          <p:cNvSpPr/>
          <p:nvPr/>
        </p:nvSpPr>
        <p:spPr>
          <a:xfrm>
            <a:off x="5664098"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CFE2DB"/>
                </a:solidFill>
                <a:latin typeface="Tajawal" pitchFamily="34" charset="0"/>
                <a:ea typeface="Tajawal" pitchFamily="34" charset="-122"/>
                <a:cs typeface="Tajawal" pitchFamily="34" charset="-120"/>
              </a:rPr>
              <a:t>عدد مؤشرات الاعتماد المرتبطة</a:t>
            </a:r>
            <a:endParaRPr lang="ar-SA" sz="1150" dirty="0"/>
          </a:p>
        </p:txBody>
      </p:sp>
      <p:sp>
        <p:nvSpPr>
          <p:cNvPr id="15" name="Shape 10"/>
          <p:cNvSpPr/>
          <p:nvPr/>
        </p:nvSpPr>
        <p:spPr>
          <a:xfrm>
            <a:off x="411480" y="1828800"/>
            <a:ext cx="3606698" cy="914400"/>
          </a:xfrm>
          <a:prstGeom prst="roundRect">
            <a:avLst>
              <a:gd name="adj" fmla="val 7500"/>
            </a:avLst>
          </a:prstGeom>
          <a:solidFill>
            <a:srgbClr val="FFFFFF"/>
          </a:solidFill>
          <a:ln w="12700">
            <a:solidFill>
              <a:srgbClr val="095242"/>
            </a:solidFill>
            <a:prstDash val="solid"/>
          </a:ln>
        </p:spPr>
      </p:sp>
      <p:sp>
        <p:nvSpPr>
          <p:cNvPr id="16" name="Text 11"/>
          <p:cNvSpPr/>
          <p:nvPr/>
        </p:nvSpPr>
        <p:spPr>
          <a:xfrm>
            <a:off x="548640" y="1828800"/>
            <a:ext cx="1234440" cy="914400"/>
          </a:xfrm>
          <a:prstGeom prst="rect">
            <a:avLst/>
          </a:prstGeom>
          <a:noFill/>
          <a:ln/>
        </p:spPr>
        <p:txBody>
          <a:bodyPr wrap="square" lIns="0" tIns="0" rIns="0" bIns="0" rtlCol="0" anchor="ctr"/>
          <a:lstStyle/>
          <a:p>
            <a:pPr rtl="1" algn="ctr" indent="0" marL="0">
              <a:buNone/>
            </a:pPr>
            <a:r>
              <a:rPr lang="ar-SA" altLang="en-US" sz="2600" dirty="0">
                <a:solidFill>
                  <a:srgbClr val="095242"/>
                </a:solidFill>
                <a:latin typeface="Tajawal ExtraBold" pitchFamily="34" charset="0"/>
                <a:ea typeface="Tajawal ExtraBold" pitchFamily="34" charset="-122"/>
                <a:cs typeface="Tajawal ExtraBold" pitchFamily="34" charset="-120"/>
              </a:rPr>
              <a:t>٨٠٪</a:t>
            </a:r>
            <a:endParaRPr lang="ar-SA" sz="2600" dirty="0"/>
          </a:p>
        </p:txBody>
      </p:sp>
      <p:sp>
        <p:nvSpPr>
          <p:cNvPr id="17" name="Text 12"/>
          <p:cNvSpPr/>
          <p:nvPr/>
        </p:nvSpPr>
        <p:spPr>
          <a:xfrm>
            <a:off x="1783080" y="1828800"/>
            <a:ext cx="2052218" cy="914400"/>
          </a:xfrm>
          <a:prstGeom prst="rect">
            <a:avLst/>
          </a:prstGeom>
          <a:noFill/>
          <a:ln/>
        </p:spPr>
        <p:txBody>
          <a:bodyPr wrap="square" lIns="0" tIns="0" rIns="0" bIns="0" rtlCol="0" anchor="ctr"/>
          <a:lstStyle/>
          <a:p>
            <a:pPr rtl="1" algn="r" indent="0" marL="0">
              <a:buNone/>
            </a:pPr>
            <a:r>
              <a:rPr lang="ar-SA" altLang="en-US" sz="1150" b="1" dirty="0">
                <a:solidFill>
                  <a:srgbClr val="33473F"/>
                </a:solidFill>
                <a:latin typeface="Tajawal" pitchFamily="34" charset="0"/>
                <a:ea typeface="Tajawal" pitchFamily="34" charset="-122"/>
                <a:cs typeface="Tajawal" pitchFamily="34" charset="-120"/>
              </a:rPr>
              <a:t>نسبة التحقّق المستهدفة</a:t>
            </a:r>
            <a:endParaRPr lang="ar-SA" sz="1150" dirty="0"/>
          </a:p>
        </p:txBody>
      </p:sp>
      <p:sp>
        <p:nvSpPr>
          <p:cNvPr id="18" name="Shape 13"/>
          <p:cNvSpPr/>
          <p:nvPr/>
        </p:nvSpPr>
        <p:spPr>
          <a:xfrm>
            <a:off x="11729923" y="3044952"/>
            <a:ext cx="50292" cy="201168"/>
          </a:xfrm>
          <a:prstGeom prst="rect">
            <a:avLst/>
          </a:prstGeom>
          <a:solidFill>
            <a:srgbClr val="0089A1"/>
          </a:solidFill>
          <a:ln/>
        </p:spPr>
      </p:sp>
      <p:sp>
        <p:nvSpPr>
          <p:cNvPr id="19" name="Text 14"/>
          <p:cNvSpPr/>
          <p:nvPr/>
        </p:nvSpPr>
        <p:spPr>
          <a:xfrm>
            <a:off x="8488375" y="2999232"/>
            <a:ext cx="3163824" cy="292608"/>
          </a:xfrm>
          <a:prstGeom prst="rect">
            <a:avLst/>
          </a:prstGeom>
          <a:noFill/>
          <a:ln/>
        </p:spPr>
        <p:txBody>
          <a:bodyPr wrap="square" lIns="0" tIns="0" rIns="0" bIns="0" rtlCol="0" anchor="ctr"/>
          <a:lstStyle/>
          <a:p>
            <a:pPr rtl="1" algn="r" indent="0" marL="0">
              <a:buNone/>
            </a:pPr>
            <a:r>
              <a:rPr lang="ar-SA" altLang="en-US" sz="1250" b="1" dirty="0">
                <a:solidFill>
                  <a:srgbClr val="095242"/>
                </a:solidFill>
                <a:latin typeface="Tajawal" pitchFamily="34" charset="0"/>
                <a:ea typeface="Tajawal" pitchFamily="34" charset="-122"/>
                <a:cs typeface="Tajawal" pitchFamily="34" charset="-120"/>
              </a:rPr>
              <a:t>البرامج التشغيلية ضمن هذا الهدف</a:t>
            </a:r>
            <a:endParaRPr lang="ar-SA" sz="1250" dirty="0"/>
          </a:p>
        </p:txBody>
      </p:sp>
      <p:sp>
        <p:nvSpPr>
          <p:cNvPr id="20" name="Shape 15"/>
          <p:cNvSpPr/>
          <p:nvPr/>
        </p:nvSpPr>
        <p:spPr>
          <a:xfrm>
            <a:off x="9075191" y="3383280"/>
            <a:ext cx="2705024" cy="438912"/>
          </a:xfrm>
          <a:prstGeom prst="roundRect">
            <a:avLst>
              <a:gd name="adj" fmla="val 18750"/>
            </a:avLst>
          </a:prstGeom>
          <a:solidFill>
            <a:srgbClr val="F1F7F4"/>
          </a:solidFill>
          <a:ln w="9525">
            <a:solidFill>
              <a:srgbClr val="DCE8E2"/>
            </a:solidFill>
            <a:prstDash val="solid"/>
          </a:ln>
        </p:spPr>
      </p:sp>
      <p:sp>
        <p:nvSpPr>
          <p:cNvPr id="21" name="Shape 16"/>
          <p:cNvSpPr/>
          <p:nvPr/>
        </p:nvSpPr>
        <p:spPr>
          <a:xfrm>
            <a:off x="11505895" y="3557016"/>
            <a:ext cx="100584" cy="100584"/>
          </a:xfrm>
          <a:prstGeom prst="roundRect">
            <a:avLst>
              <a:gd name="adj" fmla="val 18182"/>
            </a:avLst>
          </a:prstGeom>
          <a:solidFill>
            <a:srgbClr val="0089A1"/>
          </a:solidFill>
          <a:ln/>
        </p:spPr>
      </p:sp>
      <p:sp>
        <p:nvSpPr>
          <p:cNvPr id="22" name="Text 17"/>
          <p:cNvSpPr/>
          <p:nvPr/>
        </p:nvSpPr>
        <p:spPr>
          <a:xfrm>
            <a:off x="9203207"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البرامج الإثرائية</a:t>
            </a:r>
            <a:endParaRPr lang="ar-SA" sz="1000" dirty="0"/>
          </a:p>
        </p:txBody>
      </p:sp>
      <p:sp>
        <p:nvSpPr>
          <p:cNvPr id="23" name="Shape 18"/>
          <p:cNvSpPr/>
          <p:nvPr/>
        </p:nvSpPr>
        <p:spPr>
          <a:xfrm>
            <a:off x="6187288" y="3383280"/>
            <a:ext cx="2705024" cy="438912"/>
          </a:xfrm>
          <a:prstGeom prst="roundRect">
            <a:avLst>
              <a:gd name="adj" fmla="val 18750"/>
            </a:avLst>
          </a:prstGeom>
          <a:solidFill>
            <a:srgbClr val="F1F7F4"/>
          </a:solidFill>
          <a:ln w="9525">
            <a:solidFill>
              <a:srgbClr val="DCE8E2"/>
            </a:solidFill>
            <a:prstDash val="solid"/>
          </a:ln>
        </p:spPr>
      </p:sp>
      <p:sp>
        <p:nvSpPr>
          <p:cNvPr id="24" name="Shape 19"/>
          <p:cNvSpPr/>
          <p:nvPr/>
        </p:nvSpPr>
        <p:spPr>
          <a:xfrm>
            <a:off x="8617991" y="3557016"/>
            <a:ext cx="100584" cy="100584"/>
          </a:xfrm>
          <a:prstGeom prst="roundRect">
            <a:avLst>
              <a:gd name="adj" fmla="val 18182"/>
            </a:avLst>
          </a:prstGeom>
          <a:solidFill>
            <a:srgbClr val="0089A1"/>
          </a:solidFill>
          <a:ln/>
        </p:spPr>
      </p:sp>
      <p:sp>
        <p:nvSpPr>
          <p:cNvPr id="25" name="Text 20"/>
          <p:cNvSpPr/>
          <p:nvPr/>
        </p:nvSpPr>
        <p:spPr>
          <a:xfrm>
            <a:off x="6315304"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رعاية الموهوبين</a:t>
            </a:r>
            <a:endParaRPr lang="ar-SA" sz="1000" dirty="0"/>
          </a:p>
        </p:txBody>
      </p:sp>
      <p:sp>
        <p:nvSpPr>
          <p:cNvPr id="26" name="Shape 21"/>
          <p:cNvSpPr/>
          <p:nvPr/>
        </p:nvSpPr>
        <p:spPr>
          <a:xfrm>
            <a:off x="3299384" y="3383280"/>
            <a:ext cx="2705024" cy="438912"/>
          </a:xfrm>
          <a:prstGeom prst="roundRect">
            <a:avLst>
              <a:gd name="adj" fmla="val 18750"/>
            </a:avLst>
          </a:prstGeom>
          <a:solidFill>
            <a:srgbClr val="F1F7F4"/>
          </a:solidFill>
          <a:ln w="9525">
            <a:solidFill>
              <a:srgbClr val="DCE8E2"/>
            </a:solidFill>
            <a:prstDash val="solid"/>
          </a:ln>
        </p:spPr>
      </p:sp>
      <p:sp>
        <p:nvSpPr>
          <p:cNvPr id="27" name="Shape 22"/>
          <p:cNvSpPr/>
          <p:nvPr/>
        </p:nvSpPr>
        <p:spPr>
          <a:xfrm>
            <a:off x="5730088" y="3557016"/>
            <a:ext cx="100584" cy="100584"/>
          </a:xfrm>
          <a:prstGeom prst="roundRect">
            <a:avLst>
              <a:gd name="adj" fmla="val 18182"/>
            </a:avLst>
          </a:prstGeom>
          <a:solidFill>
            <a:srgbClr val="0089A1"/>
          </a:solidFill>
          <a:ln/>
        </p:spPr>
      </p:sp>
      <p:sp>
        <p:nvSpPr>
          <p:cNvPr id="28" name="Text 23"/>
          <p:cNvSpPr/>
          <p:nvPr/>
        </p:nvSpPr>
        <p:spPr>
          <a:xfrm>
            <a:off x="3427400"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تنمية التفكير والابتكار</a:t>
            </a:r>
            <a:endParaRPr lang="ar-SA" sz="1000" dirty="0"/>
          </a:p>
        </p:txBody>
      </p:sp>
      <p:sp>
        <p:nvSpPr>
          <p:cNvPr id="29" name="Shape 24"/>
          <p:cNvSpPr/>
          <p:nvPr/>
        </p:nvSpPr>
        <p:spPr>
          <a:xfrm>
            <a:off x="411480" y="3383280"/>
            <a:ext cx="2705024" cy="438912"/>
          </a:xfrm>
          <a:prstGeom prst="roundRect">
            <a:avLst>
              <a:gd name="adj" fmla="val 18750"/>
            </a:avLst>
          </a:prstGeom>
          <a:solidFill>
            <a:srgbClr val="F1F7F4"/>
          </a:solidFill>
          <a:ln w="9525">
            <a:solidFill>
              <a:srgbClr val="DCE8E2"/>
            </a:solidFill>
            <a:prstDash val="solid"/>
          </a:ln>
        </p:spPr>
      </p:sp>
      <p:sp>
        <p:nvSpPr>
          <p:cNvPr id="30" name="Shape 25"/>
          <p:cNvSpPr/>
          <p:nvPr/>
        </p:nvSpPr>
        <p:spPr>
          <a:xfrm>
            <a:off x="2842184" y="3557016"/>
            <a:ext cx="100584" cy="100584"/>
          </a:xfrm>
          <a:prstGeom prst="roundRect">
            <a:avLst>
              <a:gd name="adj" fmla="val 18182"/>
            </a:avLst>
          </a:prstGeom>
          <a:solidFill>
            <a:srgbClr val="0089A1"/>
          </a:solidFill>
          <a:ln/>
        </p:spPr>
      </p:sp>
      <p:sp>
        <p:nvSpPr>
          <p:cNvPr id="31" name="Text 26"/>
          <p:cNvSpPr/>
          <p:nvPr/>
        </p:nvSpPr>
        <p:spPr>
          <a:xfrm>
            <a:off x="539496" y="3383280"/>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تنمية المهارات القرائية</a:t>
            </a:r>
            <a:endParaRPr lang="ar-SA" sz="1000" dirty="0"/>
          </a:p>
        </p:txBody>
      </p:sp>
      <p:sp>
        <p:nvSpPr>
          <p:cNvPr id="32" name="Shape 27"/>
          <p:cNvSpPr/>
          <p:nvPr/>
        </p:nvSpPr>
        <p:spPr>
          <a:xfrm>
            <a:off x="9075191" y="3950208"/>
            <a:ext cx="2705024" cy="438912"/>
          </a:xfrm>
          <a:prstGeom prst="roundRect">
            <a:avLst>
              <a:gd name="adj" fmla="val 18750"/>
            </a:avLst>
          </a:prstGeom>
          <a:solidFill>
            <a:srgbClr val="F1F7F4"/>
          </a:solidFill>
          <a:ln w="9525">
            <a:solidFill>
              <a:srgbClr val="DCE8E2"/>
            </a:solidFill>
            <a:prstDash val="solid"/>
          </a:ln>
        </p:spPr>
      </p:sp>
      <p:sp>
        <p:nvSpPr>
          <p:cNvPr id="33" name="Shape 28"/>
          <p:cNvSpPr/>
          <p:nvPr/>
        </p:nvSpPr>
        <p:spPr>
          <a:xfrm>
            <a:off x="11505895" y="4123944"/>
            <a:ext cx="100584" cy="100584"/>
          </a:xfrm>
          <a:prstGeom prst="roundRect">
            <a:avLst>
              <a:gd name="adj" fmla="val 18182"/>
            </a:avLst>
          </a:prstGeom>
          <a:solidFill>
            <a:srgbClr val="0089A1"/>
          </a:solidFill>
          <a:ln/>
        </p:spPr>
      </p:sp>
      <p:sp>
        <p:nvSpPr>
          <p:cNvPr id="34" name="Text 29"/>
          <p:cNvSpPr/>
          <p:nvPr/>
        </p:nvSpPr>
        <p:spPr>
          <a:xfrm>
            <a:off x="9203207"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التعلم الذاتي</a:t>
            </a:r>
            <a:endParaRPr lang="ar-SA" sz="1000" dirty="0"/>
          </a:p>
        </p:txBody>
      </p:sp>
      <p:sp>
        <p:nvSpPr>
          <p:cNvPr id="35" name="Shape 30"/>
          <p:cNvSpPr/>
          <p:nvPr/>
        </p:nvSpPr>
        <p:spPr>
          <a:xfrm>
            <a:off x="6187288" y="3950208"/>
            <a:ext cx="2705024" cy="438912"/>
          </a:xfrm>
          <a:prstGeom prst="roundRect">
            <a:avLst>
              <a:gd name="adj" fmla="val 18750"/>
            </a:avLst>
          </a:prstGeom>
          <a:solidFill>
            <a:srgbClr val="F1F7F4"/>
          </a:solidFill>
          <a:ln w="9525">
            <a:solidFill>
              <a:srgbClr val="DCE8E2"/>
            </a:solidFill>
            <a:prstDash val="solid"/>
          </a:ln>
        </p:spPr>
      </p:sp>
      <p:sp>
        <p:nvSpPr>
          <p:cNvPr id="36" name="Shape 31"/>
          <p:cNvSpPr/>
          <p:nvPr/>
        </p:nvSpPr>
        <p:spPr>
          <a:xfrm>
            <a:off x="8617991" y="4123944"/>
            <a:ext cx="100584" cy="100584"/>
          </a:xfrm>
          <a:prstGeom prst="roundRect">
            <a:avLst>
              <a:gd name="adj" fmla="val 18182"/>
            </a:avLst>
          </a:prstGeom>
          <a:solidFill>
            <a:srgbClr val="0089A1"/>
          </a:solidFill>
          <a:ln/>
        </p:spPr>
      </p:sp>
      <p:sp>
        <p:nvSpPr>
          <p:cNvPr id="37" name="Text 32"/>
          <p:cNvSpPr/>
          <p:nvPr/>
        </p:nvSpPr>
        <p:spPr>
          <a:xfrm>
            <a:off x="6315304"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المشاريع التطبيقية</a:t>
            </a:r>
            <a:endParaRPr lang="ar-SA" sz="1000" dirty="0"/>
          </a:p>
        </p:txBody>
      </p:sp>
      <p:sp>
        <p:nvSpPr>
          <p:cNvPr id="38" name="Shape 33"/>
          <p:cNvSpPr/>
          <p:nvPr/>
        </p:nvSpPr>
        <p:spPr>
          <a:xfrm>
            <a:off x="3299384" y="3950208"/>
            <a:ext cx="2705024" cy="438912"/>
          </a:xfrm>
          <a:prstGeom prst="roundRect">
            <a:avLst>
              <a:gd name="adj" fmla="val 18750"/>
            </a:avLst>
          </a:prstGeom>
          <a:solidFill>
            <a:srgbClr val="F1F7F4"/>
          </a:solidFill>
          <a:ln w="9525">
            <a:solidFill>
              <a:srgbClr val="DCE8E2"/>
            </a:solidFill>
            <a:prstDash val="solid"/>
          </a:ln>
        </p:spPr>
      </p:sp>
      <p:sp>
        <p:nvSpPr>
          <p:cNvPr id="39" name="Shape 34"/>
          <p:cNvSpPr/>
          <p:nvPr/>
        </p:nvSpPr>
        <p:spPr>
          <a:xfrm>
            <a:off x="5730088" y="4123944"/>
            <a:ext cx="100584" cy="100584"/>
          </a:xfrm>
          <a:prstGeom prst="roundRect">
            <a:avLst>
              <a:gd name="adj" fmla="val 18182"/>
            </a:avLst>
          </a:prstGeom>
          <a:solidFill>
            <a:srgbClr val="0089A1"/>
          </a:solidFill>
          <a:ln/>
        </p:spPr>
      </p:sp>
      <p:sp>
        <p:nvSpPr>
          <p:cNvPr id="40" name="Text 35"/>
          <p:cNvSpPr/>
          <p:nvPr/>
        </p:nvSpPr>
        <p:spPr>
          <a:xfrm>
            <a:off x="3427400"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البحث العلمي</a:t>
            </a:r>
            <a:endParaRPr lang="ar-SA" sz="1000" dirty="0"/>
          </a:p>
        </p:txBody>
      </p:sp>
      <p:sp>
        <p:nvSpPr>
          <p:cNvPr id="41" name="Shape 36"/>
          <p:cNvSpPr/>
          <p:nvPr/>
        </p:nvSpPr>
        <p:spPr>
          <a:xfrm>
            <a:off x="411480" y="3950208"/>
            <a:ext cx="2705024" cy="438912"/>
          </a:xfrm>
          <a:prstGeom prst="roundRect">
            <a:avLst>
              <a:gd name="adj" fmla="val 18750"/>
            </a:avLst>
          </a:prstGeom>
          <a:solidFill>
            <a:srgbClr val="F1F7F4"/>
          </a:solidFill>
          <a:ln w="9525">
            <a:solidFill>
              <a:srgbClr val="DCE8E2"/>
            </a:solidFill>
            <a:prstDash val="solid"/>
          </a:ln>
        </p:spPr>
      </p:sp>
      <p:sp>
        <p:nvSpPr>
          <p:cNvPr id="42" name="Shape 37"/>
          <p:cNvSpPr/>
          <p:nvPr/>
        </p:nvSpPr>
        <p:spPr>
          <a:xfrm>
            <a:off x="2842184" y="4123944"/>
            <a:ext cx="100584" cy="100584"/>
          </a:xfrm>
          <a:prstGeom prst="roundRect">
            <a:avLst>
              <a:gd name="adj" fmla="val 18182"/>
            </a:avLst>
          </a:prstGeom>
          <a:solidFill>
            <a:srgbClr val="0089A1"/>
          </a:solidFill>
          <a:ln/>
        </p:spPr>
      </p:sp>
      <p:sp>
        <p:nvSpPr>
          <p:cNvPr id="43" name="Text 38"/>
          <p:cNvSpPr/>
          <p:nvPr/>
        </p:nvSpPr>
        <p:spPr>
          <a:xfrm>
            <a:off x="539496" y="3950208"/>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STEM</a:t>
            </a:r>
            <a:endParaRPr lang="ar-SA" sz="1000" dirty="0"/>
          </a:p>
        </p:txBody>
      </p:sp>
      <p:sp>
        <p:nvSpPr>
          <p:cNvPr id="44" name="Shape 39"/>
          <p:cNvSpPr/>
          <p:nvPr/>
        </p:nvSpPr>
        <p:spPr>
          <a:xfrm>
            <a:off x="9075191" y="4517136"/>
            <a:ext cx="2705024" cy="438912"/>
          </a:xfrm>
          <a:prstGeom prst="roundRect">
            <a:avLst>
              <a:gd name="adj" fmla="val 18750"/>
            </a:avLst>
          </a:prstGeom>
          <a:solidFill>
            <a:srgbClr val="F1F7F4"/>
          </a:solidFill>
          <a:ln w="9525">
            <a:solidFill>
              <a:srgbClr val="DCE8E2"/>
            </a:solidFill>
            <a:prstDash val="solid"/>
          </a:ln>
        </p:spPr>
      </p:sp>
      <p:sp>
        <p:nvSpPr>
          <p:cNvPr id="45" name="Shape 40"/>
          <p:cNvSpPr/>
          <p:nvPr/>
        </p:nvSpPr>
        <p:spPr>
          <a:xfrm>
            <a:off x="11505895" y="4690872"/>
            <a:ext cx="100584" cy="100584"/>
          </a:xfrm>
          <a:prstGeom prst="roundRect">
            <a:avLst>
              <a:gd name="adj" fmla="val 18182"/>
            </a:avLst>
          </a:prstGeom>
          <a:solidFill>
            <a:srgbClr val="0089A1"/>
          </a:solidFill>
          <a:ln/>
        </p:spPr>
      </p:sp>
      <p:sp>
        <p:nvSpPr>
          <p:cNvPr id="46" name="Text 41"/>
          <p:cNvSpPr/>
          <p:nvPr/>
        </p:nvSpPr>
        <p:spPr>
          <a:xfrm>
            <a:off x="9203207"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البرمجة والذكاء الاصطناعي</a:t>
            </a:r>
            <a:endParaRPr lang="ar-SA" sz="1000" dirty="0"/>
          </a:p>
        </p:txBody>
      </p:sp>
      <p:sp>
        <p:nvSpPr>
          <p:cNvPr id="47" name="Shape 42"/>
          <p:cNvSpPr/>
          <p:nvPr/>
        </p:nvSpPr>
        <p:spPr>
          <a:xfrm>
            <a:off x="6187288" y="4517136"/>
            <a:ext cx="2705024" cy="438912"/>
          </a:xfrm>
          <a:prstGeom prst="roundRect">
            <a:avLst>
              <a:gd name="adj" fmla="val 18750"/>
            </a:avLst>
          </a:prstGeom>
          <a:solidFill>
            <a:srgbClr val="F1F7F4"/>
          </a:solidFill>
          <a:ln w="9525">
            <a:solidFill>
              <a:srgbClr val="DCE8E2"/>
            </a:solidFill>
            <a:prstDash val="solid"/>
          </a:ln>
        </p:spPr>
      </p:sp>
      <p:sp>
        <p:nvSpPr>
          <p:cNvPr id="48" name="Shape 43"/>
          <p:cNvSpPr/>
          <p:nvPr/>
        </p:nvSpPr>
        <p:spPr>
          <a:xfrm>
            <a:off x="8617991" y="4690872"/>
            <a:ext cx="100584" cy="100584"/>
          </a:xfrm>
          <a:prstGeom prst="roundRect">
            <a:avLst>
              <a:gd name="adj" fmla="val 18182"/>
            </a:avLst>
          </a:prstGeom>
          <a:solidFill>
            <a:srgbClr val="0089A1"/>
          </a:solidFill>
          <a:ln/>
        </p:spPr>
      </p:sp>
      <p:sp>
        <p:nvSpPr>
          <p:cNvPr id="49" name="Text 44"/>
          <p:cNvSpPr/>
          <p:nvPr/>
        </p:nvSpPr>
        <p:spPr>
          <a:xfrm>
            <a:off x="6315304"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أندية القراءة</a:t>
            </a:r>
            <a:endParaRPr lang="ar-SA" sz="1000" dirty="0"/>
          </a:p>
        </p:txBody>
      </p:sp>
      <p:sp>
        <p:nvSpPr>
          <p:cNvPr id="50" name="Shape 45"/>
          <p:cNvSpPr/>
          <p:nvPr/>
        </p:nvSpPr>
        <p:spPr>
          <a:xfrm>
            <a:off x="3299384" y="4517136"/>
            <a:ext cx="2705024" cy="438912"/>
          </a:xfrm>
          <a:prstGeom prst="roundRect">
            <a:avLst>
              <a:gd name="adj" fmla="val 18750"/>
            </a:avLst>
          </a:prstGeom>
          <a:solidFill>
            <a:srgbClr val="F1F7F4"/>
          </a:solidFill>
          <a:ln w="9525">
            <a:solidFill>
              <a:srgbClr val="DCE8E2"/>
            </a:solidFill>
            <a:prstDash val="solid"/>
          </a:ln>
        </p:spPr>
      </p:sp>
      <p:sp>
        <p:nvSpPr>
          <p:cNvPr id="51" name="Shape 46"/>
          <p:cNvSpPr/>
          <p:nvPr/>
        </p:nvSpPr>
        <p:spPr>
          <a:xfrm>
            <a:off x="5730088" y="4690872"/>
            <a:ext cx="100584" cy="100584"/>
          </a:xfrm>
          <a:prstGeom prst="roundRect">
            <a:avLst>
              <a:gd name="adj" fmla="val 18182"/>
            </a:avLst>
          </a:prstGeom>
          <a:solidFill>
            <a:srgbClr val="0089A1"/>
          </a:solidFill>
          <a:ln/>
        </p:spPr>
      </p:sp>
      <p:sp>
        <p:nvSpPr>
          <p:cNvPr id="52" name="Text 47"/>
          <p:cNvSpPr/>
          <p:nvPr/>
        </p:nvSpPr>
        <p:spPr>
          <a:xfrm>
            <a:off x="3427400"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الأولمبيادات والمسابقات</a:t>
            </a:r>
            <a:endParaRPr lang="ar-SA" sz="1000" dirty="0"/>
          </a:p>
        </p:txBody>
      </p:sp>
      <p:sp>
        <p:nvSpPr>
          <p:cNvPr id="53" name="Shape 48"/>
          <p:cNvSpPr/>
          <p:nvPr/>
        </p:nvSpPr>
        <p:spPr>
          <a:xfrm>
            <a:off x="411480" y="4517136"/>
            <a:ext cx="2705024" cy="438912"/>
          </a:xfrm>
          <a:prstGeom prst="roundRect">
            <a:avLst>
              <a:gd name="adj" fmla="val 18750"/>
            </a:avLst>
          </a:prstGeom>
          <a:solidFill>
            <a:srgbClr val="F1F7F4"/>
          </a:solidFill>
          <a:ln w="9525">
            <a:solidFill>
              <a:srgbClr val="DCE8E2"/>
            </a:solidFill>
            <a:prstDash val="solid"/>
          </a:ln>
        </p:spPr>
      </p:sp>
      <p:sp>
        <p:nvSpPr>
          <p:cNvPr id="54" name="Shape 49"/>
          <p:cNvSpPr/>
          <p:nvPr/>
        </p:nvSpPr>
        <p:spPr>
          <a:xfrm>
            <a:off x="2842184" y="4690872"/>
            <a:ext cx="100584" cy="100584"/>
          </a:xfrm>
          <a:prstGeom prst="roundRect">
            <a:avLst>
              <a:gd name="adj" fmla="val 18182"/>
            </a:avLst>
          </a:prstGeom>
          <a:solidFill>
            <a:srgbClr val="0089A1"/>
          </a:solidFill>
          <a:ln/>
        </p:spPr>
      </p:sp>
      <p:sp>
        <p:nvSpPr>
          <p:cNvPr id="55" name="Text 50"/>
          <p:cNvSpPr/>
          <p:nvPr/>
        </p:nvSpPr>
        <p:spPr>
          <a:xfrm>
            <a:off x="539496" y="4517136"/>
            <a:ext cx="2229536" cy="438912"/>
          </a:xfrm>
          <a:prstGeom prst="rect">
            <a:avLst/>
          </a:prstGeom>
          <a:noFill/>
          <a:ln/>
        </p:spPr>
        <p:txBody>
          <a:bodyPr wrap="square" lIns="0" tIns="0" rIns="0" bIns="0" rtlCol="0" anchor="ctr"/>
          <a:lstStyle/>
          <a:p>
            <a:pPr rtl="1" algn="r" indent="0" marL="0">
              <a:buNone/>
            </a:pPr>
            <a:r>
              <a:rPr lang="ar-SA" altLang="en-US" sz="1000" b="1" dirty="0">
                <a:solidFill>
                  <a:srgbClr val="063E33"/>
                </a:solidFill>
                <a:latin typeface="Tajawal" pitchFamily="34" charset="0"/>
                <a:ea typeface="Tajawal" pitchFamily="34" charset="-122"/>
                <a:cs typeface="Tajawal" pitchFamily="34" charset="-120"/>
              </a:rPr>
              <a:t>المهارات العاطفية والاجتماعية</a:t>
            </a:r>
            <a:endParaRPr lang="ar-SA" sz="1000" dirty="0"/>
          </a:p>
        </p:txBody>
      </p:sp>
      <p:sp>
        <p:nvSpPr>
          <p:cNvPr id="56" name="Shape 51"/>
          <p:cNvSpPr/>
          <p:nvPr/>
        </p:nvSpPr>
        <p:spPr>
          <a:xfrm>
            <a:off x="7802575" y="5193792"/>
            <a:ext cx="3977640" cy="1261872"/>
          </a:xfrm>
          <a:prstGeom prst="roundRect">
            <a:avLst>
              <a:gd name="adj" fmla="val 5435"/>
            </a:avLst>
          </a:prstGeom>
          <a:solidFill>
            <a:srgbClr val="FFFFFF"/>
          </a:solidFill>
          <a:ln w="9525">
            <a:solidFill>
              <a:srgbClr val="DCE8E2"/>
            </a:solidFill>
            <a:prstDash val="solid"/>
          </a:ln>
        </p:spPr>
      </p:sp>
      <p:sp>
        <p:nvSpPr>
          <p:cNvPr id="57" name="Text 52"/>
          <p:cNvSpPr/>
          <p:nvPr/>
        </p:nvSpPr>
        <p:spPr>
          <a:xfrm>
            <a:off x="8031175" y="5285232"/>
            <a:ext cx="3520440" cy="292608"/>
          </a:xfrm>
          <a:prstGeom prst="rect">
            <a:avLst/>
          </a:prstGeom>
          <a:noFill/>
          <a:ln/>
        </p:spPr>
        <p:txBody>
          <a:bodyPr wrap="square" lIns="0" tIns="0" rIns="0" bIns="0" rtlCol="0" anchor="t"/>
          <a:lstStyle/>
          <a:p>
            <a:pPr rtl="1" algn="r" indent="0" marL="0">
              <a:buNone/>
            </a:pPr>
            <a:r>
              <a:rPr lang="ar-SA" altLang="en-US" sz="1050" b="1" dirty="0">
                <a:solidFill>
                  <a:srgbClr val="063E33"/>
                </a:solidFill>
                <a:latin typeface="Tajawal" pitchFamily="34" charset="0"/>
                <a:ea typeface="Tajawal" pitchFamily="34" charset="-122"/>
                <a:cs typeface="Tajawal" pitchFamily="34" charset="-120"/>
              </a:rPr>
              <a:t>مؤشرات الاعتماد المدرسي</a:t>
            </a:r>
            <a:endParaRPr lang="ar-SA" sz="1050" dirty="0"/>
          </a:p>
        </p:txBody>
      </p:sp>
      <p:sp>
        <p:nvSpPr>
          <p:cNvPr id="58" name="Shape 53"/>
          <p:cNvSpPr/>
          <p:nvPr/>
        </p:nvSpPr>
        <p:spPr>
          <a:xfrm>
            <a:off x="10893247" y="5632704"/>
            <a:ext cx="658368" cy="274320"/>
          </a:xfrm>
          <a:prstGeom prst="roundRect">
            <a:avLst>
              <a:gd name="adj" fmla="val 20000"/>
            </a:avLst>
          </a:prstGeom>
          <a:solidFill>
            <a:srgbClr val="FFFFFF"/>
          </a:solidFill>
          <a:ln w="9525">
            <a:solidFill>
              <a:srgbClr val="095242"/>
            </a:solidFill>
            <a:prstDash val="solid"/>
          </a:ln>
        </p:spPr>
      </p:sp>
      <p:sp>
        <p:nvSpPr>
          <p:cNvPr id="59" name="Text 54"/>
          <p:cNvSpPr/>
          <p:nvPr/>
        </p:nvSpPr>
        <p:spPr>
          <a:xfrm>
            <a:off x="10893247"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‎1-2-1-5‎</a:t>
            </a:r>
            <a:endParaRPr lang="ar-SA" sz="800" dirty="0"/>
          </a:p>
        </p:txBody>
      </p:sp>
      <p:sp>
        <p:nvSpPr>
          <p:cNvPr id="60" name="Shape 55"/>
          <p:cNvSpPr/>
          <p:nvPr/>
        </p:nvSpPr>
        <p:spPr>
          <a:xfrm>
            <a:off x="10125151" y="5632704"/>
            <a:ext cx="658368" cy="274320"/>
          </a:xfrm>
          <a:prstGeom prst="roundRect">
            <a:avLst>
              <a:gd name="adj" fmla="val 20000"/>
            </a:avLst>
          </a:prstGeom>
          <a:solidFill>
            <a:srgbClr val="FFFFFF"/>
          </a:solidFill>
          <a:ln w="9525">
            <a:solidFill>
              <a:srgbClr val="095242"/>
            </a:solidFill>
            <a:prstDash val="solid"/>
          </a:ln>
        </p:spPr>
      </p:sp>
      <p:sp>
        <p:nvSpPr>
          <p:cNvPr id="61" name="Text 56"/>
          <p:cNvSpPr/>
          <p:nvPr/>
        </p:nvSpPr>
        <p:spPr>
          <a:xfrm>
            <a:off x="10125151"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‎2-1-1-5‎</a:t>
            </a:r>
            <a:endParaRPr lang="ar-SA" sz="800" dirty="0"/>
          </a:p>
        </p:txBody>
      </p:sp>
      <p:sp>
        <p:nvSpPr>
          <p:cNvPr id="62" name="Shape 57"/>
          <p:cNvSpPr/>
          <p:nvPr/>
        </p:nvSpPr>
        <p:spPr>
          <a:xfrm>
            <a:off x="9357055" y="5632704"/>
            <a:ext cx="658368" cy="274320"/>
          </a:xfrm>
          <a:prstGeom prst="roundRect">
            <a:avLst>
              <a:gd name="adj" fmla="val 20000"/>
            </a:avLst>
          </a:prstGeom>
          <a:solidFill>
            <a:srgbClr val="FFFFFF"/>
          </a:solidFill>
          <a:ln w="9525">
            <a:solidFill>
              <a:srgbClr val="095242"/>
            </a:solidFill>
            <a:prstDash val="solid"/>
          </a:ln>
        </p:spPr>
      </p:sp>
      <p:sp>
        <p:nvSpPr>
          <p:cNvPr id="63" name="Text 58"/>
          <p:cNvSpPr/>
          <p:nvPr/>
        </p:nvSpPr>
        <p:spPr>
          <a:xfrm>
            <a:off x="9357055"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‎2-1-1-6‎</a:t>
            </a:r>
            <a:endParaRPr lang="ar-SA" sz="800" dirty="0"/>
          </a:p>
        </p:txBody>
      </p:sp>
      <p:sp>
        <p:nvSpPr>
          <p:cNvPr id="64" name="Shape 59"/>
          <p:cNvSpPr/>
          <p:nvPr/>
        </p:nvSpPr>
        <p:spPr>
          <a:xfrm>
            <a:off x="8588959" y="5632704"/>
            <a:ext cx="658368" cy="274320"/>
          </a:xfrm>
          <a:prstGeom prst="roundRect">
            <a:avLst>
              <a:gd name="adj" fmla="val 20000"/>
            </a:avLst>
          </a:prstGeom>
          <a:solidFill>
            <a:srgbClr val="FFFFFF"/>
          </a:solidFill>
          <a:ln w="9525">
            <a:solidFill>
              <a:srgbClr val="095242"/>
            </a:solidFill>
            <a:prstDash val="solid"/>
          </a:ln>
        </p:spPr>
      </p:sp>
      <p:sp>
        <p:nvSpPr>
          <p:cNvPr id="65" name="Text 60"/>
          <p:cNvSpPr/>
          <p:nvPr/>
        </p:nvSpPr>
        <p:spPr>
          <a:xfrm>
            <a:off x="8588959"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‎2-1-1-7‎</a:t>
            </a:r>
            <a:endParaRPr lang="ar-SA" sz="800" dirty="0"/>
          </a:p>
        </p:txBody>
      </p:sp>
      <p:sp>
        <p:nvSpPr>
          <p:cNvPr id="66" name="Shape 61"/>
          <p:cNvSpPr/>
          <p:nvPr/>
        </p:nvSpPr>
        <p:spPr>
          <a:xfrm>
            <a:off x="7820863" y="5632704"/>
            <a:ext cx="658368" cy="274320"/>
          </a:xfrm>
          <a:prstGeom prst="roundRect">
            <a:avLst>
              <a:gd name="adj" fmla="val 20000"/>
            </a:avLst>
          </a:prstGeom>
          <a:solidFill>
            <a:srgbClr val="FFFFFF"/>
          </a:solidFill>
          <a:ln w="9525">
            <a:solidFill>
              <a:srgbClr val="095242"/>
            </a:solidFill>
            <a:prstDash val="solid"/>
          </a:ln>
        </p:spPr>
      </p:sp>
      <p:sp>
        <p:nvSpPr>
          <p:cNvPr id="67" name="Text 62"/>
          <p:cNvSpPr/>
          <p:nvPr/>
        </p:nvSpPr>
        <p:spPr>
          <a:xfrm>
            <a:off x="7820863" y="562356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‎2-1-1-8‎</a:t>
            </a:r>
            <a:endParaRPr lang="ar-SA" sz="800" dirty="0"/>
          </a:p>
        </p:txBody>
      </p:sp>
      <p:sp>
        <p:nvSpPr>
          <p:cNvPr id="68" name="Shape 63"/>
          <p:cNvSpPr/>
          <p:nvPr/>
        </p:nvSpPr>
        <p:spPr>
          <a:xfrm>
            <a:off x="10893247" y="5998464"/>
            <a:ext cx="658368" cy="274320"/>
          </a:xfrm>
          <a:prstGeom prst="roundRect">
            <a:avLst>
              <a:gd name="adj" fmla="val 20000"/>
            </a:avLst>
          </a:prstGeom>
          <a:solidFill>
            <a:srgbClr val="FFFFFF"/>
          </a:solidFill>
          <a:ln w="9525">
            <a:solidFill>
              <a:srgbClr val="095242"/>
            </a:solidFill>
            <a:prstDash val="solid"/>
          </a:ln>
        </p:spPr>
      </p:sp>
      <p:sp>
        <p:nvSpPr>
          <p:cNvPr id="69" name="Text 64"/>
          <p:cNvSpPr/>
          <p:nvPr/>
        </p:nvSpPr>
        <p:spPr>
          <a:xfrm>
            <a:off x="10893247" y="5989320"/>
            <a:ext cx="658368" cy="274320"/>
          </a:xfrm>
          <a:prstGeom prst="rect">
            <a:avLst/>
          </a:prstGeom>
          <a:noFill/>
          <a:ln/>
        </p:spPr>
        <p:txBody>
          <a:bodyPr wrap="square" lIns="0" tIns="0" rIns="0" bIns="0" rtlCol="0" anchor="ctr"/>
          <a:lstStyle/>
          <a:p>
            <a:pPr rtl="1" algn="ctr" indent="0" marL="0">
              <a:buNone/>
            </a:pPr>
            <a:r>
              <a:rPr lang="ar-SA" altLang="en-US" sz="800" b="1" dirty="0">
                <a:solidFill>
                  <a:srgbClr val="063E33"/>
                </a:solidFill>
                <a:latin typeface="Tajawal" pitchFamily="34" charset="0"/>
                <a:ea typeface="Tajawal" pitchFamily="34" charset="-122"/>
                <a:cs typeface="Tajawal" pitchFamily="34" charset="-120"/>
              </a:rPr>
              <a:t>‎3-2-1-6‎</a:t>
            </a:r>
            <a:endParaRPr lang="ar-SA" sz="800" dirty="0"/>
          </a:p>
        </p:txBody>
      </p:sp>
      <p:sp>
        <p:nvSpPr>
          <p:cNvPr id="70" name="Shape 65"/>
          <p:cNvSpPr/>
          <p:nvPr/>
        </p:nvSpPr>
        <p:spPr>
          <a:xfrm>
            <a:off x="411480" y="5193792"/>
            <a:ext cx="7116775" cy="1261872"/>
          </a:xfrm>
          <a:prstGeom prst="roundRect">
            <a:avLst>
              <a:gd name="adj" fmla="val 5435"/>
            </a:avLst>
          </a:prstGeom>
          <a:solidFill>
            <a:srgbClr val="095242"/>
          </a:solidFill>
          <a:ln/>
          <a:effectLst>
            <a:outerShdw sx="100000" sy="100000" kx="0" ky="0" algn="bl" rotWithShape="0" blurRad="88900" dist="25400" dir="5400000">
              <a:srgbClr val="083528">
                <a:alpha val="22000"/>
              </a:srgbClr>
            </a:outerShdw>
          </a:effectLst>
        </p:spPr>
      </p:sp>
      <p:pic>
        <p:nvPicPr>
          <p:cNvPr id="71" name="Image 3" descr="/tmp/claude-0/-home-user-Mobile1/ab9bbf47-b054-5f6e-be59-70476e095ce8/scratchpad/assets/icons/sparkles_white.png">    </p:cNvPr>
          <p:cNvPicPr>
            <a:picLocks noChangeAspect="1"/>
          </p:cNvPicPr>
          <p:nvPr/>
        </p:nvPicPr>
        <p:blipFill>
          <a:blip r:embed="rId4"/>
          <a:stretch>
            <a:fillRect/>
          </a:stretch>
        </p:blipFill>
        <p:spPr>
          <a:xfrm>
            <a:off x="7052767" y="5303520"/>
            <a:ext cx="256032" cy="256032"/>
          </a:xfrm>
          <a:prstGeom prst="rect">
            <a:avLst/>
          </a:prstGeom>
        </p:spPr>
      </p:pic>
      <p:sp>
        <p:nvSpPr>
          <p:cNvPr id="72" name="Text 66"/>
          <p:cNvSpPr/>
          <p:nvPr/>
        </p:nvSpPr>
        <p:spPr>
          <a:xfrm>
            <a:off x="685800" y="5285232"/>
            <a:ext cx="6248095" cy="292608"/>
          </a:xfrm>
          <a:prstGeom prst="rect">
            <a:avLst/>
          </a:prstGeom>
          <a:noFill/>
          <a:ln/>
        </p:spPr>
        <p:txBody>
          <a:bodyPr wrap="square" lIns="0" tIns="0" rIns="0" bIns="0" rtlCol="0" anchor="t"/>
          <a:lstStyle/>
          <a:p>
            <a:pPr rtl="1" algn="r" indent="0" marL="0">
              <a:buNone/>
            </a:pPr>
            <a:r>
              <a:rPr lang="ar-SA" altLang="en-US" sz="1150" b="1" dirty="0">
                <a:solidFill>
                  <a:srgbClr val="FFFFFF"/>
                </a:solidFill>
                <a:latin typeface="Tajawal" pitchFamily="34" charset="0"/>
                <a:ea typeface="Tajawal" pitchFamily="34" charset="-122"/>
                <a:cs typeface="Tajawal" pitchFamily="34" charset="-120"/>
              </a:rPr>
              <a:t>المخرجات المتوقّعة</a:t>
            </a:r>
            <a:endParaRPr lang="ar-SA" sz="1150" dirty="0"/>
          </a:p>
        </p:txBody>
      </p:sp>
      <p:sp>
        <p:nvSpPr>
          <p:cNvPr id="73" name="Text 67"/>
          <p:cNvSpPr/>
          <p:nvPr/>
        </p:nvSpPr>
        <p:spPr>
          <a:xfrm>
            <a:off x="685800" y="5614416"/>
            <a:ext cx="6549847" cy="749808"/>
          </a:xfrm>
          <a:prstGeom prst="rect">
            <a:avLst/>
          </a:prstGeom>
          <a:noFill/>
          <a:ln/>
        </p:spPr>
        <p:txBody>
          <a:bodyPr wrap="square" lIns="0" tIns="0" rIns="0" bIns="0" rtlCol="0" anchor="t"/>
          <a:lstStyle/>
          <a:p>
            <a:pPr rtl="1" algn="r" indent="0" marL="0">
              <a:lnSpc>
                <a:spcPct val="120000"/>
              </a:lnSpc>
              <a:buNone/>
            </a:pPr>
            <a:r>
              <a:rPr lang="ar-SA" altLang="en-US" sz="960" dirty="0">
                <a:solidFill>
                  <a:srgbClr val="D9E9E3"/>
                </a:solidFill>
                <a:latin typeface="Tajawal" pitchFamily="34" charset="0"/>
                <a:ea typeface="Tajawal" pitchFamily="34" charset="-122"/>
                <a:cs typeface="Tajawal" pitchFamily="34" charset="-120"/>
              </a:rPr>
              <a:t>رفع نسبة المشاركة في المسابقات والأولمبيادات • أندية علمية ومشاريع طلابية موثّقة • تنمية مهارات التفكير العليا والبحث العلمي.</a:t>
            </a:r>
            <a:endParaRPr lang="ar-SA" sz="9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tmp/claude-0/-home-user-Mobile1/ab9bbf47-b054-5f6e-be59-70476e095ce8/scratchpad/assets/bg_content.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665415" y="6519672"/>
            <a:ext cx="4114800" cy="274320"/>
          </a:xfrm>
          <a:prstGeom prst="rect">
            <a:avLst/>
          </a:prstGeom>
          <a:noFill/>
          <a:ln/>
        </p:spPr>
        <p:txBody>
          <a:bodyPr wrap="square" lIns="0" tIns="0" rIns="0" bIns="0" rtlCol="0" anchor="t"/>
          <a:lstStyle/>
          <a:p>
            <a:pPr rtl="1" algn="r" indent="0" marL="0">
              <a:buNone/>
            </a:pPr>
            <a:r>
              <a:rPr lang="ar-SA" altLang="en-US" sz="800" dirty="0">
                <a:solidFill>
                  <a:srgbClr val="7C8F87"/>
                </a:solidFill>
                <a:latin typeface="Tajawal" pitchFamily="34" charset="0"/>
                <a:ea typeface="Tajawal" pitchFamily="34" charset="-122"/>
                <a:cs typeface="Tajawal" pitchFamily="34" charset="-120"/>
              </a:rPr>
              <a:t>الخطة التشغيلية · ١٤٤٨هـ</a:t>
            </a:r>
            <a:endParaRPr lang="ar-SA" sz="800" dirty="0"/>
          </a:p>
        </p:txBody>
      </p:sp>
      <p:sp>
        <p:nvSpPr>
          <p:cNvPr id="4" name="Text 1"/>
          <p:cNvSpPr/>
          <p:nvPr/>
        </p:nvSpPr>
        <p:spPr>
          <a:xfrm>
            <a:off x="411480" y="6519672"/>
            <a:ext cx="914400" cy="274320"/>
          </a:xfrm>
          <a:prstGeom prst="rect">
            <a:avLst/>
          </a:prstGeom>
          <a:noFill/>
          <a:ln/>
        </p:spPr>
        <p:txBody>
          <a:bodyPr wrap="square" lIns="0" tIns="0" rIns="0" bIns="0" rtlCol="0" anchor="t"/>
          <a:lstStyle/>
          <a:p>
            <a:pPr rtl="1" algn="l" indent="0" marL="0">
              <a:buNone/>
            </a:pPr>
            <a:r>
              <a:rPr lang="ar-SA" altLang="en-US" sz="850" b="1" dirty="0">
                <a:solidFill>
                  <a:srgbClr val="7C8F87"/>
                </a:solidFill>
                <a:latin typeface="Tajawal" pitchFamily="34" charset="0"/>
                <a:ea typeface="Tajawal" pitchFamily="34" charset="-122"/>
                <a:cs typeface="Tajawal" pitchFamily="34" charset="-120"/>
              </a:rPr>
              <a:t>٢٤</a:t>
            </a:r>
            <a:endParaRPr lang="ar-SA" sz="850" dirty="0"/>
          </a:p>
        </p:txBody>
      </p:sp>
      <p:sp>
        <p:nvSpPr>
          <p:cNvPr id="5" name="Shape 2"/>
          <p:cNvSpPr/>
          <p:nvPr/>
        </p:nvSpPr>
        <p:spPr>
          <a:xfrm>
            <a:off x="411480" y="274320"/>
            <a:ext cx="11368735" cy="548640"/>
          </a:xfrm>
          <a:prstGeom prst="roundRect">
            <a:avLst>
              <a:gd name="adj" fmla="val 15000"/>
            </a:avLst>
          </a:prstGeom>
          <a:solidFill>
            <a:srgbClr val="095242"/>
          </a:solidFill>
          <a:ln/>
        </p:spPr>
      </p:sp>
      <p:sp>
        <p:nvSpPr>
          <p:cNvPr id="6" name="Shape 3"/>
          <p:cNvSpPr/>
          <p:nvPr/>
        </p:nvSpPr>
        <p:spPr>
          <a:xfrm>
            <a:off x="576072" y="379476"/>
            <a:ext cx="1371600" cy="338328"/>
          </a:xfrm>
          <a:prstGeom prst="roundRect">
            <a:avLst>
              <a:gd name="adj" fmla="val 18919"/>
            </a:avLst>
          </a:prstGeom>
          <a:solidFill>
            <a:srgbClr val="FFFFFF">
              <a:alpha val="14000"/>
            </a:srgbClr>
          </a:solidFill>
          <a:ln w="6350">
            <a:solidFill>
              <a:srgbClr val="FFFFFF">
                <a:alpha val="45000"/>
              </a:srgbClr>
            </a:solidFill>
            <a:prstDash val="solid"/>
          </a:ln>
        </p:spPr>
      </p:sp>
      <p:sp>
        <p:nvSpPr>
          <p:cNvPr id="7" name="Text 4"/>
          <p:cNvSpPr/>
          <p:nvPr/>
        </p:nvSpPr>
        <p:spPr>
          <a:xfrm>
            <a:off x="576072" y="370332"/>
            <a:ext cx="1371600" cy="338328"/>
          </a:xfrm>
          <a:prstGeom prst="rect">
            <a:avLst/>
          </a:prstGeom>
          <a:noFill/>
          <a:ln/>
        </p:spPr>
        <p:txBody>
          <a:bodyPr wrap="square" lIns="0" tIns="0" rIns="0" bIns="0" rtlCol="0" anchor="ctr"/>
          <a:lstStyle/>
          <a:p>
            <a:pPr rtl="1" algn="ctr" indent="0" marL="0">
              <a:buNone/>
            </a:pPr>
            <a:r>
              <a:rPr lang="ar-SA" altLang="en-US" sz="950" b="1" dirty="0">
                <a:solidFill>
                  <a:srgbClr val="FFFFFF"/>
                </a:solidFill>
                <a:latin typeface="Tajawal" pitchFamily="34" charset="0"/>
                <a:ea typeface="Tajawal" pitchFamily="34" charset="-122"/>
                <a:cs typeface="Tajawal" pitchFamily="34" charset="-120"/>
              </a:rPr>
              <a:t>البرامج التفصيلية</a:t>
            </a:r>
            <a:endParaRPr lang="ar-SA" sz="950" dirty="0"/>
          </a:p>
        </p:txBody>
      </p:sp>
      <p:sp>
        <p:nvSpPr>
          <p:cNvPr id="8" name="Text 5"/>
          <p:cNvSpPr/>
          <p:nvPr/>
        </p:nvSpPr>
        <p:spPr>
          <a:xfrm>
            <a:off x="2194560" y="274320"/>
            <a:ext cx="9311335" cy="548640"/>
          </a:xfrm>
          <a:prstGeom prst="rect">
            <a:avLst/>
          </a:prstGeom>
          <a:noFill/>
          <a:ln/>
        </p:spPr>
        <p:txBody>
          <a:bodyPr wrap="square" lIns="0" tIns="0" rIns="0" bIns="0" rtlCol="0" anchor="ctr"/>
          <a:lstStyle/>
          <a:p>
            <a:pPr rtl="1" algn="r" indent="0" marL="0">
              <a:buNone/>
            </a:pPr>
            <a:r>
              <a:rPr lang="ar-SA" altLang="en-US" sz="1550" b="1" dirty="0">
                <a:solidFill>
                  <a:srgbClr val="FFFFFF"/>
                </a:solidFill>
                <a:latin typeface="Tajawal" pitchFamily="34" charset="0"/>
                <a:ea typeface="Tajawal" pitchFamily="34" charset="-122"/>
                <a:cs typeface="Tajawal" pitchFamily="34" charset="-120"/>
              </a:rPr>
              <a:t>الهدف الاستراتيجي العام ٥ — الاستثمار في الطلاب والمدارس الأولى بالرعاية</a:t>
            </a:r>
            <a:endParaRPr lang="ar-SA" sz="15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14400"/>
        </p:xfrm>
        <a:graphic>
          <a:graphicData uri="http://schemas.openxmlformats.org/drawingml/2006/table">
            <a:tbl>
              <a:tblPr/>
              <a:tblGrid>
                <a:gridCol w="9631375"/>
                <a:gridCol w="1737360"/>
              </a:tblGrid>
              <a:tr h="274320">
                <a:tc>
                  <a:txBody>
                    <a:bodyPr/>
                    <a:lstStyle/>
                    <a:p>
                      <a:pPr rtl="1" algn="r" indent="0" marL="0">
                        <a:buNone/>
                      </a:pPr>
                      <a:r>
                        <a:rPr lang="ar-SA" altLang="en-US" sz="940" b="1" dirty="0">
                          <a:solidFill>
                            <a:srgbClr val="063E33"/>
                          </a:solidFill>
                          <a:latin typeface="Tajawal" pitchFamily="34" charset="0"/>
                          <a:ea typeface="Tajawal" pitchFamily="34" charset="-122"/>
                          <a:cs typeface="Tajawal" pitchFamily="34" charset="-120"/>
                        </a:rPr>
                        <a:t>رعاية الموهوبين وتنمية القدرات</a:t>
                      </a:r>
                      <a:endParaRPr lang="ar-SA" sz="9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المحور الاستراتيجي</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548640">
                <a:tc>
                  <a:txBody>
                    <a:bodyPr/>
                    <a:lstStyle/>
                    <a:p>
                      <a:pPr rtl="1" algn="r" indent="0" marL="0">
                        <a:buNone/>
                      </a:pPr>
                      <a:r>
                        <a:rPr lang="ar-SA" altLang="en-US" sz="820" dirty="0">
                          <a:solidFill>
                            <a:srgbClr val="33473F"/>
                          </a:solidFill>
                          <a:latin typeface="Tajawal" pitchFamily="34" charset="0"/>
                          <a:ea typeface="Tajawal" pitchFamily="34" charset="-122"/>
                          <a:cs typeface="Tajawal" pitchFamily="34" charset="-120"/>
                        </a:rPr>
                        <a:t>يهدف هذا المحور إلى اكتشاف الطلاب الموهوبين والمتميزين ورعايتهم، وتنمية قدراتهم ومهاراتهم من خلال البرامج الإثرائية والمسابقات العلمية والابتكارية، وتوفير بيئة تعليمية داعمة تسهم في تعزيز التميز والإبداع وتحقيق أقصى إمكاناتهم.</a:t>
                      </a:r>
                      <a:endParaRPr lang="ar-SA" sz="82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الهدف التفصيلي (٥-١)</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r h="420624">
                <a:tc>
                  <a:txBody>
                    <a:bodyPr/>
                    <a:lstStyle/>
                    <a:p>
                      <a:pPr rtl="1" algn="r" indent="0" marL="0">
                        <a:buNone/>
                      </a:pPr>
                      <a:r>
                        <a:rPr lang="ar-SA" altLang="en-US" sz="840" b="1" dirty="0">
                          <a:solidFill>
                            <a:srgbClr val="0B4A56"/>
                          </a:solidFill>
                          <a:latin typeface="Tajawal" pitchFamily="34" charset="0"/>
                          <a:ea typeface="Tajawal" pitchFamily="34" charset="-122"/>
                          <a:cs typeface="Tajawal" pitchFamily="34" charset="-120"/>
                        </a:rPr>
                        <a:t>نسبة الطلاب الموهوبين المستفيدين من البرامج الإثرائية والمسابقات — تنمية مهارات الموهوبين والمتميزين بنسبة ٨٠٪ خلال العام الدراسي ١٤٤٨هـ.</a:t>
                      </a:r>
                      <a:endParaRPr lang="ar-SA" sz="8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tcPr>
                </a:tc>
                <a:tc>
                  <a:txBody>
                    <a:bodyPr/>
                    <a:lstStyle/>
                    <a:p>
                      <a:pPr rtl="1" algn="ctr" indent="0" marL="0">
                        <a:buNone/>
                      </a:pPr>
                      <a:r>
                        <a:rPr lang="ar-SA" altLang="en-US" sz="900" b="1" dirty="0">
                          <a:solidFill>
                            <a:srgbClr val="FFFFFF"/>
                          </a:solidFill>
                          <a:latin typeface="Tajawal" pitchFamily="34" charset="0"/>
                          <a:ea typeface="Tajawal" pitchFamily="34" charset="-122"/>
                          <a:cs typeface="Tajawal" pitchFamily="34" charset="-120"/>
                        </a:rPr>
                        <a:t>مؤشر قياس الأداء (المستهدف)</a:t>
                      </a: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B5E4C"/>
                    </a:solidFill>
                  </a:tcPr>
                </a:tc>
              </a:tr>
            </a:tbl>
          </a:graphicData>
        </a:graphic>
      </p:graphicFrame>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411480" y="2286000"/>
          <a:ext cx="11368735" cy="914400"/>
        </p:xfrm>
        <a:graphic>
          <a:graphicData uri="http://schemas.openxmlformats.org/drawingml/2006/table">
            <a:tbl>
              <a:tblPr/>
              <a:tblGrid>
                <a:gridCol w="859536"/>
                <a:gridCol w="1243584"/>
                <a:gridCol w="941832"/>
                <a:gridCol w="960120"/>
                <a:gridCol w="914400"/>
                <a:gridCol w="1051560"/>
                <a:gridCol w="1097280"/>
                <a:gridCol w="548640"/>
                <a:gridCol w="365760"/>
                <a:gridCol w="914400"/>
                <a:gridCol w="1371600"/>
                <a:gridCol w="804672"/>
                <a:gridCol w="292608"/>
              </a:tblGrid>
              <a:tr h="274320">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مؤشر تحقق الهدف</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أسلوب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الفئة المستهدفة</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3">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جهة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المتطلبات</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grid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زمن التنفيذ</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63E33"/>
                    </a:solidFill>
                  </a:tcPr>
                </a:tc>
                <a:tc hMerge="1">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مصدر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اسم المشروع / البرنامج</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المجال</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rowSpan="2">
                  <a:txBody>
                    <a:bodyPr/>
                    <a:lstStyle/>
                    <a:p>
                      <a:pPr rtl="1" algn="ctr" indent="0" marL="0">
                        <a:buNone/>
                      </a:pPr>
                      <a:r>
                        <a:rPr lang="ar-SA" altLang="en-US" sz="800" b="1" dirty="0">
                          <a:solidFill>
                            <a:srgbClr val="FFFFFF"/>
                          </a:solidFill>
                          <a:latin typeface="Tajawal" pitchFamily="34" charset="0"/>
                          <a:ea typeface="Tajawal" pitchFamily="34" charset="-122"/>
                          <a:cs typeface="Tajawal" pitchFamily="34" charset="-120"/>
                        </a:rPr>
                        <a:t>م</a:t>
                      </a:r>
                      <a:endParaRPr lang="ar-SA" sz="8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r>
              <a:tr h="292608">
                <a:tc vMerge="1">
                  <a:tcPr/>
                </a:tc>
                <a:tc vMerge="1">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الدعم الخارجي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المساندة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الرئيسة وفريق العمل</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الأسبوع</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a:txBody>
                    <a:bodyPr/>
                    <a:lstStyle/>
                    <a:p>
                      <a:pPr rtl="1" algn="ctr" indent="0" marL="0">
                        <a:buNone/>
                      </a:pPr>
                      <a:r>
                        <a:rPr lang="ar-SA" altLang="en-US" sz="760" b="1" dirty="0">
                          <a:solidFill>
                            <a:srgbClr val="FFFFFF"/>
                          </a:solidFill>
                          <a:latin typeface="Tajawal" pitchFamily="34" charset="0"/>
                          <a:ea typeface="Tajawal" pitchFamily="34" charset="-122"/>
                          <a:cs typeface="Tajawal" pitchFamily="34" charset="-120"/>
                        </a:rPr>
                        <a:t>ف</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095242"/>
                    </a:solidFill>
                  </a:tcPr>
                </a:tc>
                <a:tc vMerge="1">
                  <a:tcPr/>
                </a:tc>
                <a:tc vMerge="1">
                  <a:tcPr/>
                </a:tc>
                <a:tc vMerge="1">
                  <a:tcPr/>
                </a:tc>
                <a:tc vMerge="1">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ورش — مشاريع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موهوبون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موهبة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موارد إثرائية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البرامج الإثرائية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خطط فردية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موهوبون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موهبة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مرشد موهبة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رعاية الموهوبين</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ورش — تحديات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أدوات تفكير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تنمية التفكير والابتكار</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٣</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أنشطة قرائية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المصادر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العربية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مكتبة + موارد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تنمية المهارات القرائية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نواتج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٤</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ملفات إنجاز</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المصادر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منصات 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مستمر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التحسين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التعلم الذاتي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نواتج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٥</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مشاريع — عرض</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ورش وأدوات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شهري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المشاريع التطبيقية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نواتج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٦</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أبحاث — تحكيم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المصادر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إشراف بحثي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فصلي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البحث العلمي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نواتج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٧</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تجارب — مشاريع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الإشراف</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الحاسب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العلوم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معامل + أدوات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STEM</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٨</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ورش — مشاريع</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إدارة التعليم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معلم الحاسب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أجهزة + منصات</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البرمجة والذكاء الاصطناعي</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التعليم والتعلم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جلسات — مناقشة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وزارة الثقافة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أمين المصادر</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كتب + قاعة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أندية القراءة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نواتج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١٠</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تأهيل — مشاركة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متفوقون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موهبة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مدربون</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موسمي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الأولمبيادات والمسابقات</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نواتج التعلم</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١١</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FFFFF"/>
                    </a:solidFill>
                  </a:tcPr>
                </a:tc>
              </a:tr>
              <a:tr h="300228">
                <a:tc>
                  <a:txBody>
                    <a:bodyPr/>
                    <a:lstStyle/>
                    <a:p>
                      <a:pPr rtl="1" algn="ctr" indent="0" marL="0">
                        <a:buNone/>
                      </a:pPr>
                      <a:endParaRPr lang="ar-SA" sz="90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ورش — أنشطة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طلاب</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الصحة النفسية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النشاط</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المرشد</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اختصاصي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أسبوعي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١-٢</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خطة التوجيه الطلابي</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r" indent="0" marL="0">
                        <a:buNone/>
                      </a:pPr>
                      <a:r>
                        <a:rPr lang="ar-SA" altLang="en-US" sz="760" b="1" dirty="0">
                          <a:solidFill>
                            <a:srgbClr val="063E33"/>
                          </a:solidFill>
                          <a:latin typeface="Tajawal" pitchFamily="34" charset="0"/>
                          <a:ea typeface="Tajawal" pitchFamily="34" charset="-122"/>
                          <a:cs typeface="Tajawal" pitchFamily="34" charset="-120"/>
                        </a:rPr>
                        <a:t>المهارات العاطفية والاجتماعية</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40" dirty="0">
                          <a:solidFill>
                            <a:srgbClr val="33473F"/>
                          </a:solidFill>
                          <a:latin typeface="Tajawal" pitchFamily="34" charset="0"/>
                          <a:ea typeface="Tajawal" pitchFamily="34" charset="-122"/>
                          <a:cs typeface="Tajawal" pitchFamily="34" charset="-120"/>
                        </a:rPr>
                        <a:t>البيئة المدرسية</a:t>
                      </a:r>
                      <a:endParaRPr lang="ar-SA" sz="74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c>
                  <a:txBody>
                    <a:bodyPr/>
                    <a:lstStyle/>
                    <a:p>
                      <a:pPr rtl="1" algn="ctr" indent="0" marL="0">
                        <a:buNone/>
                      </a:pPr>
                      <a:r>
                        <a:rPr lang="ar-SA" altLang="en-US" sz="760" dirty="0">
                          <a:solidFill>
                            <a:srgbClr val="33473F"/>
                          </a:solidFill>
                          <a:latin typeface="Tajawal" pitchFamily="34" charset="0"/>
                          <a:ea typeface="Tajawal" pitchFamily="34" charset="-122"/>
                          <a:cs typeface="Tajawal" pitchFamily="34" charset="-120"/>
                        </a:rPr>
                        <a:t>١٢</a:t>
                      </a:r>
                      <a:endParaRPr lang="ar-SA" sz="760" dirty="0">
                        <a:latin typeface="Tajawal" charset="0"/>
                        <a:ea typeface="Tajawal" charset="0"/>
                        <a:cs typeface="Tajawal" charset="0"/>
                      </a:endParaRPr>
                    </a:p>
                  </a:txBody>
                  <a:tcPr marL="36576" marR="36576" marT="36576" marB="36576" anchor="ctr">
                    <a:lnL w="6350" cap="flat" cmpd="sng" algn="ctr">
                      <a:solidFill>
                        <a:srgbClr val="DCE8E2"/>
                      </a:solidFill>
                      <a:prstDash val="solid"/>
                      <a:round/>
                      <a:headEnd type="none" w="med" len="med"/>
                      <a:tailEnd type="none" w="med" len="med"/>
                    </a:lnL>
                    <a:lnR w="6350" cap="flat" cmpd="sng" algn="ctr">
                      <a:solidFill>
                        <a:srgbClr val="DCE8E2"/>
                      </a:solidFill>
                      <a:prstDash val="solid"/>
                      <a:round/>
                      <a:headEnd type="none" w="med" len="med"/>
                      <a:tailEnd type="none" w="med" len="med"/>
                    </a:lnR>
                    <a:lnT w="6350" cap="flat" cmpd="sng" algn="ctr">
                      <a:solidFill>
                        <a:srgbClr val="DCE8E2"/>
                      </a:solidFill>
                      <a:prstDash val="solid"/>
                      <a:round/>
                      <a:headEnd type="none" w="med" len="med"/>
                      <a:tailEnd type="none" w="med" len="med"/>
                    </a:lnT>
                    <a:lnB w="6350" cap="flat" cmpd="sng" algn="ctr">
                      <a:solidFill>
                        <a:srgbClr val="DCE8E2"/>
                      </a:solidFill>
                      <a:prstDash val="solid"/>
                      <a:round/>
                      <a:headEnd type="none" w="med" len="med"/>
                      <a:tailEnd type="none" w="med" len="med"/>
                    </a:lnB>
                    <a:solidFill>
                      <a:srgbClr val="F1F7F4"/>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الخطة التشغيلية للعام الدراسي ١٤٤٨هـ</dc:title>
  <dc:subject>PptxGenJS Presentation</dc:subject>
  <dc:creator>وزارة التعليم</dc:creator>
  <cp:lastModifiedBy>وزارة التعليم</cp:lastModifiedBy>
  <cp:revision>1</cp:revision>
  <dcterms:created xsi:type="dcterms:W3CDTF">2026-08-02T09:34:18Z</dcterms:created>
  <dcterms:modified xsi:type="dcterms:W3CDTF">2026-08-02T09:34:18Z</dcterms:modified>
</cp:coreProperties>
</file>