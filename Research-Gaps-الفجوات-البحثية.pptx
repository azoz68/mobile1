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شريحة العنوان: هذا العرض نسخة موسّعة ومعاد تصميمها من ورشة عمل «الفجوات البحثية» للدكتورة هناء حسين الأهيمر. الهدف: تزويد الباحث بدليل عملي متكامل لاكتشاف الفجوات البحثية وصياغتها باحترافية، بدءاً من المفهوم ومروراً بالأنواع والأدوات والاستراتيجيات، وانتهاءً بخارطة طريق عملية وقالب صياغة جاهز.</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محاور العرض السبعة: نبدأ بالمفهوم ثم الأهمية، وننتقل إلى الأنواع الستة مع أمثلة تطبيقية، ثم أدوات الذكاء الاصطناعي المساعدة، فاستراتيجيات الباحثين المحترفين والتفكير النقدي، ونختم بكيفية التمييز بين الفجوة القوية والضعيفة وخطوات عملية للوصول إلى صياغة فجوة بحثية جاهزة للاستخدام في المقترح البحثي.</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التعريف: الفجوة البحثية هي منطقة معرفية لم تُدرس أو دُرست بشكل ناقص. تظهر بأربع صور رئيسية: (1) الغياب الكلي: لم يتناول الموضوعَ أحد إطلاقاً، وهي أندر الحالات وأعلاها قيمة. (2) الدراسة الجزئية: الموضوع مدروس من زاوية واحدة فقط (مثلاً: أثر تقني دون الأثر النفسي). (3) تناقض النتائج: دراسات متضاربة تحتاج دراسة حاسمة. (4) السياق الجغرافي/الثقافي: نتائج مثبتة في مجتمعات أخرى لكنها غير مختبرة في مجتمعك — وهذه أكثر الفجوات شيوعاً وواقعية للباحث العربي.</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ستة أسباب تجعل تحديد الفجوة أهم خطوة في البحث: (1) توجيه البحث: بوصلة تحدد وجهة الرسالة وتوفر شهوراً من التخبط. (2) الأصالة: شرط القبول في الدراسات العليا والمجلات — بحث بلا فجوة = تكرار. (3) التبرير: أول سؤال تطرحه لجنة المناقشة: «لماذا هذا البحث؟» والفجوة الموثقة هي الجواب. (4) ربط الأدبيات: تُظهر تمكنك من المجال وقراءتك النقدية. (5) النشر: المحكّمون يبحثون عن عبارة «تسد هذه الدراسة فجوة…» في المقدمة. (6) التمويل: الممولون يستثمرون في الجديد المؤثر لا في المكرر.</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الأنواع الستة: (1) فجوة المعرفة: غياب معلومة كلياً — الأكثر كلاسيكية. (2) فجوة الممارسة/التطبيق: العلم يقول شيئاً والواقع يفعل غيره؛ مثالية للتخصصات المهنية كالتمريض والتعليم والإدارة. (3) فجوة الأدلة: توصيات شائعة دون تجارب مضبوطة تدعمها. (4) فجوة السكان: فئات مهمَلة (نساء، كبار سن، مجتمعات عربية…). (5) فجوة المنهجية: الموضوع دُرس كمياً فقط أو نوعياً فقط، وتغيير المنهج قد يقلب الصورة. (6) فجوة الزمن: نتائج ما قبل تحولات كبرى (الجائحة، الذكاء الاصطناعي) تحتاج إعادة اختبار. احفظ السؤال المفتاحي لكل نوع — فهو أسرع طريقة لاستدعائها عند القراءة.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أمثلة واقعية توضح كل نوع: لاحظ أن كل مثال يحدد (الموضوع + السياق + سبب كونه فجوة). مثال المعرفة: الذكاء الاصطناعي والقرارات الأخلاقية في الصحة العربية — موضوع حديث لم يُبحث. مثال الممارسة: بروتوكولات التمريض معروفة عالمياً لكنها لا تُطبق إقليمياً — الفجوة في التطبيق لا المعرفة. مثال الأدلة: التعلم المصغّر يُوصى به دون تجارب مضبوطة. مثال السكان: عينات غربية لا تمثل الشباب العربي. مثال المنهجية: الاقتصار على الكمي يحجب التفاصيل النوعية. مثال الزمن: بيانات ما قبل 2020 لم تعد تعكس واقع التجارة الإلكترونية. استخدم البنية نفسها عند صياغة فجوتك.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ثماني أدوات ذكاء اصطناعي تخدم مراحل مختلفة: للاستطلاع السريع وتلخيص الأدلة: Elicit وConsensus. لرسم خريطة المجال بصرياً واكتشاف العناقيد والفراغات: Research Rabbit وConnected Papers. لفحص جودة الأدلة واتجاهها: Scite.ai يميز الاقتباسات الداعمة من المعارضة — ممتاز لاكتشاف التناقضات. للبحث العميق: Semantic Scholar محرك دلالي أكاديمي. للتحليل والحوار النقدي وصياغة الفجوات: Claude وChatGPT. سير عمل مقترح: ابدأ بـ Semantic Scholar لجمع الأوراق، ثم Connected Papers للخريطة، ثم Elicit لاستخراج النتائج، واختم بحوار نقدي مع Claude لصياغة الفجوة. وتذكّر: الأداة تقترح والباحث يتحقق ويقرر.</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أربع استراتيجيات ميدانية يعتمدها المحترفون: (1) خاتمات الدراسات: قسم Limitations &amp; Future Research هو منجم فجوات جاهزة أوصى بها أصحابها — أسرع طريق للمبتدئين. (2) خريطة الأدبيات: جدول «مصفوفة الأدبيات» بأعمدة السكان/المنهج/البلد/الزمن يجعل الفراغ بصرياً لا تخمينياً. (3) التناقضات: عندما تجد دراسة تقول (نعم) وأخرى تقول (لا)، فهناك متغير وسيط لم يُكتشف — فرصتك. (4) سؤال «ماذا لو»: أداة توليد الأفكار الأقوى؛ بدّل السياق أو الفئة أو المنهج واختبر منطقية السؤال الجديد. النصيحة الذهبية: قراءة آخر 20 ورقة في المجلة المستهدفة تكشف ذوق المجلة واتجاهاتها والفراغات التي يتحدث عنها الجميع.</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إطار عمل التفكير النقدي عند قراءة أي دراسة: اطرح الأسئلة الستة الذهبية — مَن دُرس (هل العينة تشبه مجتمعك؟)، ماذا قيس (هل هناك متغيرات مُهملة؟)، أين أُجري (هل السياق مختلف عن سياقك؟)، متى نُشر (هل تجاوزتها الأحداث؟)، كيف بُحث (هل يصلح منهج آخر؟)، لماذا توقفت الدراسة عند هذا الحد (ماذا تقول حدودها؟). وأثناء القراءة التقط العبارات المؤشرة على فجوة قابلة للبحث: «لم يُدرس»، «نتائج متضاربة»، «العينة لا تمثل»، «تجاهلت متغير…». كل عبارة منها بذرة سؤال بحثي جديد. اجعل هذه الأسئلة قائمة فحص ثابتة بجوارك عند مراجعة الأدبيات.</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معيار الجودة: الفجوة القوية موثقة (تستند إلى مراجعة أدبيات فعلية)، محددة (موضوع + فئة + سياق + إطار زمني)، مهمة (سدها يغير فهماً علمياً أو ممارسة عملية)، قابلة للمعالجة بمنهجية واقعية، ومرتبطة بسياق واضح. الفجوة الضعيفة عكس ذلك: فضفاضة، انطباعية، تدّعي «لم يدرسها أحد» دون دليل — وهذه العبارة تحديداً خطيرة لأن أي عضو لجنة يجد دراسة واحدة مضادة يهدم بها مصداقيتك. لاحظ الفرق في المثال المقارن: العبارة الضعيفة عامة بلا حدود، بينما القوية تحدد المتغير (القلق) والفئة (طلاب الجامعات العربية) والسياق (الدراسة عن بعد) والزمن (بعد 2020) — جاهزة لتتحول إلى سؤال بحثي مباشرة.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خارطة طريق تنفيذية من سبع خطوات (إضافة توسعية على محتوى الورشة): (1) تضييق المجال — كلما ضاق التخصص سهُل حصر أدبياته. (2) جمع 20–30 دراسة حديثة (آخر 5 سنوات) لضمان مواكبة الحالة الراهنة للمعرفة. (3) قراءة الخاتمات وحدود الدراسات أولاً — اختصار هائل للوقت. (4) بناء مصفوفة أدبيات: صفوف = الدراسات، أعمدة = العينة/السياق/المنهج/الزمن/النتائج. (5) تظليل الفراغات والتناقضات في المصفوفة — الفجوة تظهر بصرياً. (6) التحقق بالأدوات الذكية أن الفجوة ما زالت قائمة ولم تُسد بدراسة حديثة. (7) الصياغة النهائية بجملة محددة. المدة الواقعية للعملية كاملة: 2–4 أسابيع من العمل المنتظم.</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الصياغة هي المرحلة التي تتحول فيها الملاحظة إلى فجوة علمية رسمية. القالب المعياري يتكون من أربعة عناصر: (X) ما تناولته الدراسات فعلاً — يثبت اطلاعك، (Y) الجانب الغائب — جوهر الفجوة، (Z) السياق المحدد — يمنح الفجوة حدوداً واقعية، ثم نوع الدراسة المقترحة — يحولها إلى خطة عمل. المثال المطبق يوضح كيف تُملأ الفراغات بمحتوى حقيقي. قبل الاعتماد النهائي مرر فجوتك على قائمة الفحص الخماسية: موثقة، محددة، مهمة، قابلة للمعالجة، وجديدة (لم تسدها دراسة أحدث). إن اجتازت الخمسة فهي جاهزة لتتصدر مقدمة مقترحك البحثي.</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الخلاصة في أربع رسائل: (1) الفجوة البحثية ليست ترفاً أكاديمياً بل شرط الأصالة وبوابة القبول والنشر والتمويل. (2) الأنواع الستة إطار عملي — استحضر السؤال المفتاحي لكل نوع أثناء القراءة. (3) أدوات الذكاء الاصطناعي مساعد قوي لكنها لا تعفيك من التحقق من المصادر الأصلية ومن إعمال تفكيرك النقدي. (4) قبل اعتماد أي فجوة: تأكد أنها محددة وموثقة ومهمة وقابلة للمعالجة، واستخدم قالب الصياغة وقائمة الفحص. بالتوفيق في رحلتك البحثية!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463040" y="-1920240"/>
            <a:ext cx="4206240" cy="4206240"/>
          </a:xfrm>
          <a:prstGeom prst="ellipse">
            <a:avLst/>
          </a:prstGeom>
          <a:solidFill>
            <a:srgbClr val="0E9F8C">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41280" y="4206240"/>
            <a:ext cx="4389120" cy="4389120"/>
          </a:xfrm>
          <a:prstGeom prst="ellipse">
            <a:avLst/>
          </a:prstGeom>
          <a:solidFill>
            <a:srgbClr val="6C63D8">
              <a:alpha val="1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509760" y="-1280160"/>
            <a:ext cx="2560320" cy="2560320"/>
          </a:xfrm>
          <a:prstGeom prst="ellipse">
            <a:avLst/>
          </a:prstGeom>
          <a:solidFill>
            <a:srgbClr val="DD9F33">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05840" y="5120640"/>
            <a:ext cx="1371600" cy="1371600"/>
          </a:xfrm>
          <a:prstGeom prst="ellipse">
            <a:avLst/>
          </a:prstGeom>
          <a:solidFill>
            <a:srgbClr val="E45A44">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926080" y="960120"/>
            <a:ext cx="310896" cy="310896"/>
          </a:xfrm>
          <a:prstGeom prst="ellipse">
            <a:avLst/>
          </a:prstGeom>
          <a:solidFill>
            <a:srgbClr val="DD9F33">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006840" y="1143000"/>
            <a:ext cx="182880" cy="182880"/>
          </a:xfrm>
          <a:prstGeom prst="ellipse">
            <a:avLst/>
          </a:prstGeom>
          <a:solidFill>
            <a:srgbClr val="0E9F8C">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1600200"/>
            <a:ext cx="9448495" cy="1234440"/>
          </a:xfrm>
          <a:prstGeom prst="rect">
            <a:avLst/>
          </a:prstGeom>
          <a:noFill/>
        </p:spPr>
        <p:txBody>
          <a:bodyPr wrap="square" anchor="t" lIns="0" rIns="0" tIns="0" bIns="0">
            <a:spAutoFit/>
          </a:bodyPr>
          <a:lstStyle/>
          <a:p>
            <a:pPr algn="ctr" rtl="1">
              <a:lnSpc>
                <a:spcPct val="112000"/>
              </a:lnSpc>
              <a:spcBef>
                <a:spcPts val="0"/>
              </a:spcBef>
              <a:spcAft>
                <a:spcPts val="400"/>
              </a:spcAft>
            </a:pPr>
            <a:r>
              <a:rPr sz="5600" b="1" i="0">
                <a:solidFill>
                  <a:srgbClr val="DD9F33"/>
                </a:solidFill>
                <a:latin typeface="Dubai"/>
                <a:cs typeface="Dubai"/>
                <a:ea typeface="Dubai"/>
              </a:rPr>
              <a:t>الفجوات البحثية</a:t>
            </a:r>
          </a:p>
        </p:txBody>
      </p:sp>
      <p:sp>
        <p:nvSpPr>
          <p:cNvPr id="10" name="TextBox 9"/>
          <p:cNvSpPr txBox="1"/>
          <p:nvPr/>
        </p:nvSpPr>
        <p:spPr>
          <a:xfrm>
            <a:off x="1371600" y="2788920"/>
            <a:ext cx="9448495" cy="548640"/>
          </a:xfrm>
          <a:prstGeom prst="rect">
            <a:avLst/>
          </a:prstGeom>
          <a:noFill/>
        </p:spPr>
        <p:txBody>
          <a:bodyPr wrap="square" anchor="t" lIns="0" rIns="0" tIns="0" bIns="0">
            <a:spAutoFit/>
          </a:bodyPr>
          <a:lstStyle/>
          <a:p>
            <a:pPr algn="ctr">
              <a:lnSpc>
                <a:spcPct val="112000"/>
              </a:lnSpc>
              <a:spcBef>
                <a:spcPts val="0"/>
              </a:spcBef>
              <a:spcAft>
                <a:spcPts val="400"/>
              </a:spcAft>
            </a:pPr>
            <a:r>
              <a:rPr sz="1900" b="0" i="0">
                <a:solidFill>
                  <a:srgbClr val="FFFFFF"/>
                </a:solidFill>
                <a:latin typeface="Dubai"/>
                <a:cs typeface="Dubai"/>
                <a:ea typeface="Dubai"/>
              </a:rPr>
              <a:t>R E S E A R C H   G A P S</a:t>
            </a:r>
          </a:p>
        </p:txBody>
      </p:sp>
      <p:sp>
        <p:nvSpPr>
          <p:cNvPr id="11" name="Rectangle 10"/>
          <p:cNvSpPr/>
          <p:nvPr/>
        </p:nvSpPr>
        <p:spPr>
          <a:xfrm>
            <a:off x="5364784" y="3456432"/>
            <a:ext cx="1463040" cy="41148"/>
          </a:xfrm>
          <a:prstGeom prst="rect">
            <a:avLst/>
          </a:prstGeom>
          <a:solidFill>
            <a:srgbClr val="DD9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3657600"/>
            <a:ext cx="9448495" cy="502920"/>
          </a:xfrm>
          <a:prstGeom prst="rect">
            <a:avLst/>
          </a:prstGeom>
          <a:noFill/>
        </p:spPr>
        <p:txBody>
          <a:bodyPr wrap="square" anchor="t" lIns="0" rIns="0" tIns="0" bIns="0">
            <a:spAutoFit/>
          </a:bodyPr>
          <a:lstStyle/>
          <a:p>
            <a:pPr algn="ctr" rtl="1">
              <a:lnSpc>
                <a:spcPct val="112000"/>
              </a:lnSpc>
              <a:spcBef>
                <a:spcPts val="0"/>
              </a:spcBef>
              <a:spcAft>
                <a:spcPts val="400"/>
              </a:spcAft>
            </a:pPr>
            <a:r>
              <a:rPr sz="1700" b="0" i="0">
                <a:solidFill>
                  <a:srgbClr val="FFFFFF"/>
                </a:solidFill>
                <a:latin typeface="Dubai"/>
                <a:cs typeface="Dubai"/>
                <a:ea typeface="Dubai"/>
              </a:rPr>
              <a:t>دليلك الشامل لاكتشاف الفجوات البحثية بذكاء واحترافية</a:t>
            </a:r>
          </a:p>
        </p:txBody>
      </p:sp>
      <p:sp>
        <p:nvSpPr>
          <p:cNvPr id="13" name="Rounded Rectangle 12"/>
          <p:cNvSpPr/>
          <p:nvPr/>
        </p:nvSpPr>
        <p:spPr>
          <a:xfrm>
            <a:off x="4379976" y="4343400"/>
            <a:ext cx="3429000" cy="475488"/>
          </a:xfrm>
          <a:prstGeom prst="roundRect">
            <a:avLst>
              <a:gd name="adj" fmla="val 50000"/>
            </a:avLst>
          </a:prstGeom>
          <a:solidFill>
            <a:srgbClr val="1B2D55"/>
          </a:solidFill>
          <a:ln w="12700">
            <a:solidFill>
              <a:srgbClr val="0E9F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rtl="1"/>
            <a:r>
              <a:rPr sz="1250" b="1" i="0">
                <a:solidFill>
                  <a:srgbClr val="0E9F8C"/>
                </a:solidFill>
                <a:latin typeface="Dubai"/>
                <a:cs typeface="Dubai"/>
                <a:ea typeface="Dubai"/>
              </a:rPr>
              <a:t>نسخة موسّعة بشرح تفصيلي وتصميم عصري</a:t>
            </a:r>
          </a:p>
        </p:txBody>
      </p:sp>
      <p:sp>
        <p:nvSpPr>
          <p:cNvPr id="14" name="TextBox 13"/>
          <p:cNvSpPr txBox="1"/>
          <p:nvPr/>
        </p:nvSpPr>
        <p:spPr>
          <a:xfrm>
            <a:off x="1371600" y="5257800"/>
            <a:ext cx="9448495" cy="411480"/>
          </a:xfrm>
          <a:prstGeom prst="rect">
            <a:avLst/>
          </a:prstGeom>
          <a:noFill/>
        </p:spPr>
        <p:txBody>
          <a:bodyPr wrap="square" anchor="t" lIns="0" rIns="0" tIns="0" bIns="0">
            <a:spAutoFit/>
          </a:bodyPr>
          <a:lstStyle/>
          <a:p>
            <a:pPr algn="ctr" rtl="1">
              <a:lnSpc>
                <a:spcPct val="112000"/>
              </a:lnSpc>
              <a:spcBef>
                <a:spcPts val="0"/>
              </a:spcBef>
              <a:spcAft>
                <a:spcPts val="400"/>
              </a:spcAft>
            </a:pPr>
            <a:r>
              <a:rPr sz="1300" b="0" i="0">
                <a:solidFill>
                  <a:srgbClr val="FFFFFF"/>
                </a:solidFill>
                <a:latin typeface="Dubai"/>
                <a:cs typeface="Dubai"/>
                <a:ea typeface="Dubai"/>
              </a:rPr>
              <a:t>المحتوى العلمي: </a:t>
            </a:r>
            <a:r>
              <a:rPr sz="1300" b="1" i="0">
                <a:solidFill>
                  <a:srgbClr val="DD9F33"/>
                </a:solidFill>
                <a:latin typeface="Dubai"/>
                <a:cs typeface="Dubai"/>
                <a:ea typeface="Dubai"/>
              </a:rPr>
              <a:t>Dr. Hana Hossen Elahemer</a:t>
            </a:r>
          </a:p>
        </p:txBody>
      </p:sp>
      <p:sp>
        <p:nvSpPr>
          <p:cNvPr id="15" name="TextBox 14"/>
          <p:cNvSpPr txBox="1"/>
          <p:nvPr/>
        </p:nvSpPr>
        <p:spPr>
          <a:xfrm>
            <a:off x="1371600" y="5715000"/>
            <a:ext cx="9448495" cy="365760"/>
          </a:xfrm>
          <a:prstGeom prst="rect">
            <a:avLst/>
          </a:prstGeom>
          <a:noFill/>
        </p:spPr>
        <p:txBody>
          <a:bodyPr wrap="square" anchor="t" lIns="0" rIns="0" tIns="0" bIns="0">
            <a:spAutoFit/>
          </a:bodyPr>
          <a:lstStyle/>
          <a:p>
            <a:pPr algn="ctr" rtl="1">
              <a:lnSpc>
                <a:spcPct val="112000"/>
              </a:lnSpc>
              <a:spcBef>
                <a:spcPts val="0"/>
              </a:spcBef>
              <a:spcAft>
                <a:spcPts val="400"/>
              </a:spcAft>
            </a:pPr>
            <a:r>
              <a:rPr sz="1100" b="0" i="0">
                <a:solidFill>
                  <a:srgbClr val="62748A"/>
                </a:solidFill>
                <a:latin typeface="Dubai"/>
                <a:cs typeface="Dubai"/>
                <a:ea typeface="Dubai"/>
              </a:rPr>
              <a:t>ورشة عمل أكاديمية متخصصة • Academic Workshop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DD9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865815" y="411480"/>
            <a:ext cx="822960" cy="822960"/>
          </a:xfrm>
          <a:prstGeom prst="roundRect">
            <a:avLst>
              <a:gd name="adj" fmla="val 28000"/>
            </a:avLst>
          </a:prstGeom>
          <a:solidFill>
            <a:srgbClr val="FAF1E2"/>
          </a:solidFill>
          <a:ln w="15240">
            <a:solidFill>
              <a:srgbClr val="DD9F33"/>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3000" b="0" i="0">
                <a:solidFill>
                  <a:srgbClr val="DD9F33"/>
                </a:solidFill>
                <a:latin typeface="Dubai"/>
                <a:cs typeface="Dubai"/>
                <a:ea typeface="Dubai"/>
              </a:rPr>
              <a:t>🗂</a:t>
            </a:r>
          </a:p>
        </p:txBody>
      </p:sp>
      <p:sp>
        <p:nvSpPr>
          <p:cNvPr id="5" name="TextBox 4"/>
          <p:cNvSpPr txBox="1"/>
          <p:nvPr/>
        </p:nvSpPr>
        <p:spPr>
          <a:xfrm>
            <a:off x="502920" y="365760"/>
            <a:ext cx="10180015" cy="566928"/>
          </a:xfrm>
          <a:prstGeom prst="rect">
            <a:avLst/>
          </a:prstGeom>
          <a:noFill/>
        </p:spPr>
        <p:txBody>
          <a:bodyPr wrap="square" anchor="t" lIns="0" rIns="0" tIns="0" bIns="0">
            <a:spAutoFit/>
          </a:bodyPr>
          <a:lstStyle/>
          <a:p>
            <a:pPr algn="r" rtl="1">
              <a:lnSpc>
                <a:spcPct val="112000"/>
              </a:lnSpc>
              <a:spcBef>
                <a:spcPts val="0"/>
              </a:spcBef>
              <a:spcAft>
                <a:spcPts val="400"/>
              </a:spcAft>
            </a:pPr>
            <a:r>
              <a:rPr sz="2700" b="1" i="0">
                <a:solidFill>
                  <a:srgbClr val="18263B"/>
                </a:solidFill>
                <a:latin typeface="Dubai"/>
                <a:cs typeface="Dubai"/>
                <a:ea typeface="Dubai"/>
              </a:rPr>
              <a:t>محاور العرض</a:t>
            </a:r>
          </a:p>
        </p:txBody>
      </p:sp>
      <p:sp>
        <p:nvSpPr>
          <p:cNvPr id="6" name="TextBox 5"/>
          <p:cNvSpPr txBox="1"/>
          <p:nvPr/>
        </p:nvSpPr>
        <p:spPr>
          <a:xfrm>
            <a:off x="502920" y="969264"/>
            <a:ext cx="10180015" cy="365760"/>
          </a:xfrm>
          <a:prstGeom prst="rect">
            <a:avLst/>
          </a:prstGeom>
          <a:noFill/>
        </p:spPr>
        <p:txBody>
          <a:bodyPr wrap="square" anchor="t" lIns="0" rIns="0" tIns="0" bIns="0">
            <a:spAutoFit/>
          </a:bodyPr>
          <a:lstStyle/>
          <a:p>
            <a:pPr algn="r">
              <a:lnSpc>
                <a:spcPct val="112000"/>
              </a:lnSpc>
              <a:spcBef>
                <a:spcPts val="0"/>
              </a:spcBef>
              <a:spcAft>
                <a:spcPts val="400"/>
              </a:spcAft>
            </a:pPr>
            <a:r>
              <a:rPr sz="1250" b="0" i="1">
                <a:solidFill>
                  <a:srgbClr val="DD9F33"/>
                </a:solidFill>
                <a:latin typeface="Dubai"/>
                <a:cs typeface="Dubai"/>
                <a:ea typeface="Dubai"/>
              </a:rPr>
              <a:t>Agenda — What you will learn</a:t>
            </a:r>
          </a:p>
        </p:txBody>
      </p:sp>
      <p:sp>
        <p:nvSpPr>
          <p:cNvPr id="7" name="Rectangle 6"/>
          <p:cNvSpPr/>
          <p:nvPr/>
        </p:nvSpPr>
        <p:spPr>
          <a:xfrm>
            <a:off x="9128455" y="1389888"/>
            <a:ext cx="1554480" cy="45720"/>
          </a:xfrm>
          <a:prstGeom prst="rect">
            <a:avLst/>
          </a:prstGeom>
          <a:solidFill>
            <a:srgbClr val="DD9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3200400" cy="274320"/>
          </a:xfrm>
          <a:prstGeom prst="rect">
            <a:avLst/>
          </a:prstGeom>
          <a:noFill/>
        </p:spPr>
        <p:txBody>
          <a:bodyPr wrap="square" anchor="t" lIns="0" rIns="0" tIns="0" bIns="0">
            <a:spAutoFit/>
          </a:bodyPr>
          <a:lstStyle/>
          <a:p>
            <a:pPr algn="l">
              <a:lnSpc>
                <a:spcPct val="112000"/>
              </a:lnSpc>
              <a:spcBef>
                <a:spcPts val="0"/>
              </a:spcBef>
              <a:spcAft>
                <a:spcPts val="400"/>
              </a:spcAft>
            </a:pPr>
            <a:r>
              <a:rPr sz="1050" b="1" i="0">
                <a:solidFill>
                  <a:srgbClr val="DD9F33"/>
                </a:solidFill>
                <a:latin typeface="Dubai"/>
                <a:cs typeface="Dubai"/>
                <a:ea typeface="Dubai"/>
              </a:rPr>
              <a:t>02</a:t>
            </a:r>
            <a:r>
              <a:rPr sz="900" b="0" i="0">
                <a:solidFill>
                  <a:srgbClr val="62748A"/>
                </a:solidFill>
                <a:latin typeface="Dubai"/>
                <a:cs typeface="Dubai"/>
                <a:ea typeface="Dubai"/>
              </a:rPr>
              <a:t>   Research Gaps — Dr. Hana Hossen Elahemer</a:t>
            </a:r>
          </a:p>
        </p:txBody>
      </p:sp>
      <p:sp>
        <p:nvSpPr>
          <p:cNvPr id="9" name="TextBox 8"/>
          <p:cNvSpPr txBox="1"/>
          <p:nvPr/>
        </p:nvSpPr>
        <p:spPr>
          <a:xfrm>
            <a:off x="8488375" y="6455664"/>
            <a:ext cx="3200400"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00" b="0" i="0">
                <a:solidFill>
                  <a:srgbClr val="62748A"/>
                </a:solidFill>
                <a:latin typeface="Dubai"/>
                <a:cs typeface="Dubai"/>
                <a:ea typeface="Dubai"/>
              </a:rPr>
              <a:t>الفجوات البحثية • ورشة عمل أكاديمية</a:t>
            </a:r>
          </a:p>
        </p:txBody>
      </p:sp>
      <p:sp>
        <p:nvSpPr>
          <p:cNvPr id="10" name="Rounded Rectangle 9"/>
          <p:cNvSpPr/>
          <p:nvPr/>
        </p:nvSpPr>
        <p:spPr>
          <a:xfrm>
            <a:off x="6324447" y="1691640"/>
            <a:ext cx="5364327" cy="1005840"/>
          </a:xfrm>
          <a:prstGeom prst="roundRect">
            <a:avLst>
              <a:gd name="adj" fmla="val 1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02975" y="1911095"/>
            <a:ext cx="566928" cy="566928"/>
          </a:xfrm>
          <a:prstGeom prst="ellipse">
            <a:avLst/>
          </a:prstGeom>
          <a:solidFill>
            <a:srgbClr val="F5E2EA"/>
          </a:solidFill>
          <a:ln w="12700">
            <a:solidFill>
              <a:srgbClr val="C23E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C23E77"/>
                </a:solidFill>
                <a:latin typeface="Dubai"/>
                <a:cs typeface="Dubai"/>
                <a:ea typeface="Dubai"/>
              </a:rPr>
              <a:t>١</a:t>
            </a:r>
          </a:p>
        </p:txBody>
      </p:sp>
      <p:sp>
        <p:nvSpPr>
          <p:cNvPr id="12" name="TextBox 11"/>
          <p:cNvSpPr txBox="1"/>
          <p:nvPr/>
        </p:nvSpPr>
        <p:spPr>
          <a:xfrm>
            <a:off x="6553047" y="1810512"/>
            <a:ext cx="43127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450" b="1" i="0">
                <a:solidFill>
                  <a:srgbClr val="18263B"/>
                </a:solidFill>
                <a:latin typeface="Dubai"/>
                <a:cs typeface="Dubai"/>
                <a:ea typeface="Dubai"/>
              </a:rPr>
              <a:t>مفهوم الفجوة البحثية</a:t>
            </a:r>
          </a:p>
        </p:txBody>
      </p:sp>
      <p:sp>
        <p:nvSpPr>
          <p:cNvPr id="13" name="TextBox 12"/>
          <p:cNvSpPr txBox="1"/>
          <p:nvPr/>
        </p:nvSpPr>
        <p:spPr>
          <a:xfrm>
            <a:off x="6553047" y="2221992"/>
            <a:ext cx="43127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050" b="0" i="0">
                <a:solidFill>
                  <a:srgbClr val="62748A"/>
                </a:solidFill>
                <a:latin typeface="Dubai"/>
                <a:cs typeface="Dubai"/>
                <a:ea typeface="Dubai"/>
              </a:rPr>
              <a:t>التعريف الدقيق والصور الأربع التي تظهر بها الفجوات</a:t>
            </a:r>
          </a:p>
        </p:txBody>
      </p:sp>
      <p:sp>
        <p:nvSpPr>
          <p:cNvPr id="14" name="Rounded Rectangle 13"/>
          <p:cNvSpPr/>
          <p:nvPr/>
        </p:nvSpPr>
        <p:spPr>
          <a:xfrm>
            <a:off x="6324447" y="2843784"/>
            <a:ext cx="5364327" cy="1005840"/>
          </a:xfrm>
          <a:prstGeom prst="roundRect">
            <a:avLst>
              <a:gd name="adj" fmla="val 1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02975" y="3063240"/>
            <a:ext cx="566928" cy="566928"/>
          </a:xfrm>
          <a:prstGeom prst="ellipse">
            <a:avLst/>
          </a:prstGeom>
          <a:solidFill>
            <a:srgbClr val="F9F0E0"/>
          </a:solidFill>
          <a:ln w="12700">
            <a:solidFill>
              <a:srgbClr val="DD9F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DD9F33"/>
                </a:solidFill>
                <a:latin typeface="Dubai"/>
                <a:cs typeface="Dubai"/>
                <a:ea typeface="Dubai"/>
              </a:rPr>
              <a:t>٢</a:t>
            </a:r>
          </a:p>
        </p:txBody>
      </p:sp>
      <p:sp>
        <p:nvSpPr>
          <p:cNvPr id="16" name="TextBox 15"/>
          <p:cNvSpPr txBox="1"/>
          <p:nvPr/>
        </p:nvSpPr>
        <p:spPr>
          <a:xfrm>
            <a:off x="6553047" y="2962656"/>
            <a:ext cx="43127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450" b="1" i="0">
                <a:solidFill>
                  <a:srgbClr val="18263B"/>
                </a:solidFill>
                <a:latin typeface="Dubai"/>
                <a:cs typeface="Dubai"/>
                <a:ea typeface="Dubai"/>
              </a:rPr>
              <a:t>لماذا تهمّنا الفجوات؟</a:t>
            </a:r>
          </a:p>
        </p:txBody>
      </p:sp>
      <p:sp>
        <p:nvSpPr>
          <p:cNvPr id="17" name="TextBox 16"/>
          <p:cNvSpPr txBox="1"/>
          <p:nvPr/>
        </p:nvSpPr>
        <p:spPr>
          <a:xfrm>
            <a:off x="6553047" y="3374136"/>
            <a:ext cx="43127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050" b="0" i="0">
                <a:solidFill>
                  <a:srgbClr val="62748A"/>
                </a:solidFill>
                <a:latin typeface="Dubai"/>
                <a:cs typeface="Dubai"/>
                <a:ea typeface="Dubai"/>
              </a:rPr>
              <a:t>ستة أسباب تجعلها حجر الأساس في أي بحث ناجح</a:t>
            </a:r>
          </a:p>
        </p:txBody>
      </p:sp>
      <p:sp>
        <p:nvSpPr>
          <p:cNvPr id="18" name="Rounded Rectangle 17"/>
          <p:cNvSpPr/>
          <p:nvPr/>
        </p:nvSpPr>
        <p:spPr>
          <a:xfrm>
            <a:off x="6324447" y="3995928"/>
            <a:ext cx="5364327" cy="1005840"/>
          </a:xfrm>
          <a:prstGeom prst="roundRect">
            <a:avLst>
              <a:gd name="adj" fmla="val 1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02975" y="4215384"/>
            <a:ext cx="566928" cy="566928"/>
          </a:xfrm>
          <a:prstGeom prst="ellipse">
            <a:avLst/>
          </a:prstGeom>
          <a:solidFill>
            <a:srgbClr val="DAF0ED"/>
          </a:solidFill>
          <a:ln w="12700">
            <a:solidFill>
              <a:srgbClr val="0E9F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0E9F8C"/>
                </a:solidFill>
                <a:latin typeface="Dubai"/>
                <a:cs typeface="Dubai"/>
                <a:ea typeface="Dubai"/>
              </a:rPr>
              <a:t>٣</a:t>
            </a:r>
          </a:p>
        </p:txBody>
      </p:sp>
      <p:sp>
        <p:nvSpPr>
          <p:cNvPr id="20" name="TextBox 19"/>
          <p:cNvSpPr txBox="1"/>
          <p:nvPr/>
        </p:nvSpPr>
        <p:spPr>
          <a:xfrm>
            <a:off x="6553047" y="4114800"/>
            <a:ext cx="43127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450" b="1" i="0">
                <a:solidFill>
                  <a:srgbClr val="18263B"/>
                </a:solidFill>
                <a:latin typeface="Dubai"/>
                <a:cs typeface="Dubai"/>
                <a:ea typeface="Dubai"/>
              </a:rPr>
              <a:t>الأنواع الستة للفجوات</a:t>
            </a:r>
          </a:p>
        </p:txBody>
      </p:sp>
      <p:sp>
        <p:nvSpPr>
          <p:cNvPr id="21" name="TextBox 20"/>
          <p:cNvSpPr txBox="1"/>
          <p:nvPr/>
        </p:nvSpPr>
        <p:spPr>
          <a:xfrm>
            <a:off x="6553047" y="4526280"/>
            <a:ext cx="43127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050" b="0" i="0">
                <a:solidFill>
                  <a:srgbClr val="62748A"/>
                </a:solidFill>
                <a:latin typeface="Dubai"/>
                <a:cs typeface="Dubai"/>
                <a:ea typeface="Dubai"/>
              </a:rPr>
              <a:t>من فجوة المعرفة إلى فجوة الزمن — مع سؤال مفتاحي لكل نوع</a:t>
            </a:r>
          </a:p>
        </p:txBody>
      </p:sp>
      <p:sp>
        <p:nvSpPr>
          <p:cNvPr id="22" name="Rounded Rectangle 21"/>
          <p:cNvSpPr/>
          <p:nvPr/>
        </p:nvSpPr>
        <p:spPr>
          <a:xfrm>
            <a:off x="6324447" y="5148072"/>
            <a:ext cx="5364327" cy="1005840"/>
          </a:xfrm>
          <a:prstGeom prst="roundRect">
            <a:avLst>
              <a:gd name="adj" fmla="val 1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002975" y="5367528"/>
            <a:ext cx="566928" cy="566928"/>
          </a:xfrm>
          <a:prstGeom prst="ellipse">
            <a:avLst/>
          </a:prstGeom>
          <a:solidFill>
            <a:srgbClr val="E8E7F9"/>
          </a:solidFill>
          <a:ln w="12700">
            <a:solidFill>
              <a:srgbClr val="6C63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6C63D8"/>
                </a:solidFill>
                <a:latin typeface="Dubai"/>
                <a:cs typeface="Dubai"/>
                <a:ea typeface="Dubai"/>
              </a:rPr>
              <a:t>٤</a:t>
            </a:r>
          </a:p>
        </p:txBody>
      </p:sp>
      <p:sp>
        <p:nvSpPr>
          <p:cNvPr id="24" name="TextBox 23"/>
          <p:cNvSpPr txBox="1"/>
          <p:nvPr/>
        </p:nvSpPr>
        <p:spPr>
          <a:xfrm>
            <a:off x="6553047" y="5266944"/>
            <a:ext cx="43127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450" b="1" i="0">
                <a:solidFill>
                  <a:srgbClr val="18263B"/>
                </a:solidFill>
                <a:latin typeface="Dubai"/>
                <a:cs typeface="Dubai"/>
                <a:ea typeface="Dubai"/>
              </a:rPr>
              <a:t>أمثلة تطبيقية واقعية</a:t>
            </a:r>
          </a:p>
        </p:txBody>
      </p:sp>
      <p:sp>
        <p:nvSpPr>
          <p:cNvPr id="25" name="TextBox 24"/>
          <p:cNvSpPr txBox="1"/>
          <p:nvPr/>
        </p:nvSpPr>
        <p:spPr>
          <a:xfrm>
            <a:off x="6553047" y="5678424"/>
            <a:ext cx="43127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050" b="0" i="0">
                <a:solidFill>
                  <a:srgbClr val="62748A"/>
                </a:solidFill>
                <a:latin typeface="Dubai"/>
                <a:cs typeface="Dubai"/>
                <a:ea typeface="Dubai"/>
              </a:rPr>
              <a:t>مثال عملي ملموس على كل نوع من الأنواع الستة</a:t>
            </a:r>
          </a:p>
        </p:txBody>
      </p:sp>
      <p:sp>
        <p:nvSpPr>
          <p:cNvPr id="26" name="Rounded Rectangle 25"/>
          <p:cNvSpPr/>
          <p:nvPr/>
        </p:nvSpPr>
        <p:spPr>
          <a:xfrm>
            <a:off x="502920" y="1691640"/>
            <a:ext cx="5364327" cy="1005840"/>
          </a:xfrm>
          <a:prstGeom prst="roundRect">
            <a:avLst>
              <a:gd name="adj" fmla="val 1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181447" y="1911095"/>
            <a:ext cx="566928" cy="566928"/>
          </a:xfrm>
          <a:prstGeom prst="ellipse">
            <a:avLst/>
          </a:prstGeom>
          <a:solidFill>
            <a:srgbClr val="FAE6E2"/>
          </a:solidFill>
          <a:ln w="12700">
            <a:solidFill>
              <a:srgbClr val="E45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E45A44"/>
                </a:solidFill>
                <a:latin typeface="Dubai"/>
                <a:cs typeface="Dubai"/>
                <a:ea typeface="Dubai"/>
              </a:rPr>
              <a:t>٥</a:t>
            </a:r>
          </a:p>
        </p:txBody>
      </p:sp>
      <p:sp>
        <p:nvSpPr>
          <p:cNvPr id="28" name="TextBox 27"/>
          <p:cNvSpPr txBox="1"/>
          <p:nvPr/>
        </p:nvSpPr>
        <p:spPr>
          <a:xfrm>
            <a:off x="731520" y="1810512"/>
            <a:ext cx="43127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450" b="1" i="0">
                <a:solidFill>
                  <a:srgbClr val="18263B"/>
                </a:solidFill>
                <a:latin typeface="Dubai"/>
                <a:cs typeface="Dubai"/>
                <a:ea typeface="Dubai"/>
              </a:rPr>
              <a:t>أدوات الذكاء الاصطناعي</a:t>
            </a:r>
          </a:p>
        </p:txBody>
      </p:sp>
      <p:sp>
        <p:nvSpPr>
          <p:cNvPr id="29" name="TextBox 28"/>
          <p:cNvSpPr txBox="1"/>
          <p:nvPr/>
        </p:nvSpPr>
        <p:spPr>
          <a:xfrm>
            <a:off x="731520" y="2221992"/>
            <a:ext cx="43127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050" b="0" i="0">
                <a:solidFill>
                  <a:srgbClr val="62748A"/>
                </a:solidFill>
                <a:latin typeface="Dubai"/>
                <a:cs typeface="Dubai"/>
                <a:ea typeface="Dubai"/>
              </a:rPr>
              <a:t>ثماني أدوات ذكية تسرّع اكتشاف الفجوات وتوثيقها</a:t>
            </a:r>
          </a:p>
        </p:txBody>
      </p:sp>
      <p:sp>
        <p:nvSpPr>
          <p:cNvPr id="30" name="Rounded Rectangle 29"/>
          <p:cNvSpPr/>
          <p:nvPr/>
        </p:nvSpPr>
        <p:spPr>
          <a:xfrm>
            <a:off x="502920" y="2843784"/>
            <a:ext cx="5364327" cy="1005840"/>
          </a:xfrm>
          <a:prstGeom prst="roundRect">
            <a:avLst>
              <a:gd name="adj" fmla="val 1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181447" y="3063240"/>
            <a:ext cx="566928" cy="566928"/>
          </a:xfrm>
          <a:prstGeom prst="ellipse">
            <a:avLst/>
          </a:prstGeom>
          <a:solidFill>
            <a:srgbClr val="E2EEE6"/>
          </a:solidFill>
          <a:ln w="12700">
            <a:solidFill>
              <a:srgbClr val="3E8E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3E8E5A"/>
                </a:solidFill>
                <a:latin typeface="Dubai"/>
                <a:cs typeface="Dubai"/>
                <a:ea typeface="Dubai"/>
              </a:rPr>
              <a:t>٦</a:t>
            </a:r>
          </a:p>
        </p:txBody>
      </p:sp>
      <p:sp>
        <p:nvSpPr>
          <p:cNvPr id="32" name="TextBox 31"/>
          <p:cNvSpPr txBox="1"/>
          <p:nvPr/>
        </p:nvSpPr>
        <p:spPr>
          <a:xfrm>
            <a:off x="731520" y="2962656"/>
            <a:ext cx="43127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450" b="1" i="0">
                <a:solidFill>
                  <a:srgbClr val="18263B"/>
                </a:solidFill>
                <a:latin typeface="Dubai"/>
                <a:cs typeface="Dubai"/>
                <a:ea typeface="Dubai"/>
              </a:rPr>
              <a:t>استراتيجيات المحترفين</a:t>
            </a:r>
          </a:p>
        </p:txBody>
      </p:sp>
      <p:sp>
        <p:nvSpPr>
          <p:cNvPr id="33" name="TextBox 32"/>
          <p:cNvSpPr txBox="1"/>
          <p:nvPr/>
        </p:nvSpPr>
        <p:spPr>
          <a:xfrm>
            <a:off x="731520" y="3374136"/>
            <a:ext cx="43127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050" b="0" i="0">
                <a:solidFill>
                  <a:srgbClr val="62748A"/>
                </a:solidFill>
                <a:latin typeface="Dubai"/>
                <a:cs typeface="Dubai"/>
                <a:ea typeface="Dubai"/>
              </a:rPr>
              <a:t>أربع استراتيجيات ميدانية + التفكير النقدي عند التحليل</a:t>
            </a:r>
          </a:p>
        </p:txBody>
      </p:sp>
      <p:sp>
        <p:nvSpPr>
          <p:cNvPr id="34" name="Rounded Rectangle 33"/>
          <p:cNvSpPr/>
          <p:nvPr/>
        </p:nvSpPr>
        <p:spPr>
          <a:xfrm>
            <a:off x="502920" y="3995928"/>
            <a:ext cx="5364327" cy="1005840"/>
          </a:xfrm>
          <a:prstGeom prst="roundRect">
            <a:avLst>
              <a:gd name="adj" fmla="val 1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181447" y="4215384"/>
            <a:ext cx="566928" cy="566928"/>
          </a:xfrm>
          <a:prstGeom prst="ellipse">
            <a:avLst/>
          </a:prstGeom>
          <a:solidFill>
            <a:srgbClr val="DFE9F3"/>
          </a:solidFill>
          <a:ln w="12700">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2F6FB5"/>
                </a:solidFill>
                <a:latin typeface="Dubai"/>
                <a:cs typeface="Dubai"/>
                <a:ea typeface="Dubai"/>
              </a:rPr>
              <a:t>٧</a:t>
            </a:r>
          </a:p>
        </p:txBody>
      </p:sp>
      <p:sp>
        <p:nvSpPr>
          <p:cNvPr id="36" name="TextBox 35"/>
          <p:cNvSpPr txBox="1"/>
          <p:nvPr/>
        </p:nvSpPr>
        <p:spPr>
          <a:xfrm>
            <a:off x="731520" y="4114800"/>
            <a:ext cx="43127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450" b="1" i="0">
                <a:solidFill>
                  <a:srgbClr val="18263B"/>
                </a:solidFill>
                <a:latin typeface="Dubai"/>
                <a:cs typeface="Dubai"/>
                <a:ea typeface="Dubai"/>
              </a:rPr>
              <a:t>من الفجوة إلى الصياغة</a:t>
            </a:r>
          </a:p>
        </p:txBody>
      </p:sp>
      <p:sp>
        <p:nvSpPr>
          <p:cNvPr id="37" name="TextBox 36"/>
          <p:cNvSpPr txBox="1"/>
          <p:nvPr/>
        </p:nvSpPr>
        <p:spPr>
          <a:xfrm>
            <a:off x="731520" y="4526280"/>
            <a:ext cx="43127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050" b="0" i="0">
                <a:solidFill>
                  <a:srgbClr val="62748A"/>
                </a:solidFill>
                <a:latin typeface="Dubai"/>
                <a:cs typeface="Dubai"/>
                <a:ea typeface="Dubai"/>
              </a:rPr>
              <a:t>تمييز الفجوة القوية، خارطة طريق عملية، وقالب صياغة جاهز</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C23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865815" y="411480"/>
            <a:ext cx="822960" cy="822960"/>
          </a:xfrm>
          <a:prstGeom prst="roundRect">
            <a:avLst>
              <a:gd name="adj" fmla="val 28000"/>
            </a:avLst>
          </a:prstGeom>
          <a:solidFill>
            <a:srgbClr val="F6E3EB"/>
          </a:solidFill>
          <a:ln w="15240">
            <a:solidFill>
              <a:srgbClr val="C23E77"/>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3000" b="0" i="0">
                <a:solidFill>
                  <a:srgbClr val="C23E77"/>
                </a:solidFill>
                <a:latin typeface="Dubai"/>
                <a:cs typeface="Dubai"/>
                <a:ea typeface="Dubai"/>
              </a:rPr>
              <a:t>🧠</a:t>
            </a:r>
          </a:p>
        </p:txBody>
      </p:sp>
      <p:sp>
        <p:nvSpPr>
          <p:cNvPr id="5" name="TextBox 4"/>
          <p:cNvSpPr txBox="1"/>
          <p:nvPr/>
        </p:nvSpPr>
        <p:spPr>
          <a:xfrm>
            <a:off x="502920" y="365760"/>
            <a:ext cx="10180015" cy="566928"/>
          </a:xfrm>
          <a:prstGeom prst="rect">
            <a:avLst/>
          </a:prstGeom>
          <a:noFill/>
        </p:spPr>
        <p:txBody>
          <a:bodyPr wrap="square" anchor="t" lIns="0" rIns="0" tIns="0" bIns="0">
            <a:spAutoFit/>
          </a:bodyPr>
          <a:lstStyle/>
          <a:p>
            <a:pPr algn="r" rtl="1">
              <a:lnSpc>
                <a:spcPct val="112000"/>
              </a:lnSpc>
              <a:spcBef>
                <a:spcPts val="0"/>
              </a:spcBef>
              <a:spcAft>
                <a:spcPts val="400"/>
              </a:spcAft>
            </a:pPr>
            <a:r>
              <a:rPr sz="2700" b="1" i="0">
                <a:solidFill>
                  <a:srgbClr val="18263B"/>
                </a:solidFill>
                <a:latin typeface="Dubai"/>
                <a:cs typeface="Dubai"/>
                <a:ea typeface="Dubai"/>
              </a:rPr>
              <a:t>ما هي الفجوة البحثية؟</a:t>
            </a:r>
          </a:p>
        </p:txBody>
      </p:sp>
      <p:sp>
        <p:nvSpPr>
          <p:cNvPr id="6" name="TextBox 5"/>
          <p:cNvSpPr txBox="1"/>
          <p:nvPr/>
        </p:nvSpPr>
        <p:spPr>
          <a:xfrm>
            <a:off x="502920" y="969264"/>
            <a:ext cx="10180015" cy="365760"/>
          </a:xfrm>
          <a:prstGeom prst="rect">
            <a:avLst/>
          </a:prstGeom>
          <a:noFill/>
        </p:spPr>
        <p:txBody>
          <a:bodyPr wrap="square" anchor="t" lIns="0" rIns="0" tIns="0" bIns="0">
            <a:spAutoFit/>
          </a:bodyPr>
          <a:lstStyle/>
          <a:p>
            <a:pPr algn="r">
              <a:lnSpc>
                <a:spcPct val="112000"/>
              </a:lnSpc>
              <a:spcBef>
                <a:spcPts val="0"/>
              </a:spcBef>
              <a:spcAft>
                <a:spcPts val="400"/>
              </a:spcAft>
            </a:pPr>
            <a:r>
              <a:rPr sz="1250" b="0" i="1">
                <a:solidFill>
                  <a:srgbClr val="C23E77"/>
                </a:solidFill>
                <a:latin typeface="Dubai"/>
                <a:cs typeface="Dubai"/>
                <a:ea typeface="Dubai"/>
              </a:rPr>
              <a:t>What is a Research Gap?</a:t>
            </a:r>
          </a:p>
        </p:txBody>
      </p:sp>
      <p:sp>
        <p:nvSpPr>
          <p:cNvPr id="7" name="Rectangle 6"/>
          <p:cNvSpPr/>
          <p:nvPr/>
        </p:nvSpPr>
        <p:spPr>
          <a:xfrm>
            <a:off x="9128455" y="1389888"/>
            <a:ext cx="1554480" cy="45720"/>
          </a:xfrm>
          <a:prstGeom prst="rect">
            <a:avLst/>
          </a:prstGeom>
          <a:solidFill>
            <a:srgbClr val="C23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3200400" cy="274320"/>
          </a:xfrm>
          <a:prstGeom prst="rect">
            <a:avLst/>
          </a:prstGeom>
          <a:noFill/>
        </p:spPr>
        <p:txBody>
          <a:bodyPr wrap="square" anchor="t" lIns="0" rIns="0" tIns="0" bIns="0">
            <a:spAutoFit/>
          </a:bodyPr>
          <a:lstStyle/>
          <a:p>
            <a:pPr algn="l">
              <a:lnSpc>
                <a:spcPct val="112000"/>
              </a:lnSpc>
              <a:spcBef>
                <a:spcPts val="0"/>
              </a:spcBef>
              <a:spcAft>
                <a:spcPts val="400"/>
              </a:spcAft>
            </a:pPr>
            <a:r>
              <a:rPr sz="1050" b="1" i="0">
                <a:solidFill>
                  <a:srgbClr val="C23E77"/>
                </a:solidFill>
                <a:latin typeface="Dubai"/>
                <a:cs typeface="Dubai"/>
                <a:ea typeface="Dubai"/>
              </a:rPr>
              <a:t>03</a:t>
            </a:r>
            <a:r>
              <a:rPr sz="900" b="0" i="0">
                <a:solidFill>
                  <a:srgbClr val="62748A"/>
                </a:solidFill>
                <a:latin typeface="Dubai"/>
                <a:cs typeface="Dubai"/>
                <a:ea typeface="Dubai"/>
              </a:rPr>
              <a:t>   Research Gaps — Dr. Hana Hossen Elahemer</a:t>
            </a:r>
          </a:p>
        </p:txBody>
      </p:sp>
      <p:sp>
        <p:nvSpPr>
          <p:cNvPr id="9" name="TextBox 8"/>
          <p:cNvSpPr txBox="1"/>
          <p:nvPr/>
        </p:nvSpPr>
        <p:spPr>
          <a:xfrm>
            <a:off x="8488375" y="6455664"/>
            <a:ext cx="3200400"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00" b="0" i="0">
                <a:solidFill>
                  <a:srgbClr val="62748A"/>
                </a:solidFill>
                <a:latin typeface="Dubai"/>
                <a:cs typeface="Dubai"/>
                <a:ea typeface="Dubai"/>
              </a:rPr>
              <a:t>الفجوات البحثية • ورشة عمل أكاديمية</a:t>
            </a:r>
          </a:p>
        </p:txBody>
      </p:sp>
      <p:sp>
        <p:nvSpPr>
          <p:cNvPr id="10" name="Rounded Rectangle 9"/>
          <p:cNvSpPr/>
          <p:nvPr/>
        </p:nvSpPr>
        <p:spPr>
          <a:xfrm>
            <a:off x="502920" y="1645920"/>
            <a:ext cx="11185855" cy="1572768"/>
          </a:xfrm>
          <a:prstGeom prst="roundRect">
            <a:avLst>
              <a:gd name="adj" fmla="val 12000"/>
            </a:avLst>
          </a:prstGeom>
          <a:solidFill>
            <a:srgbClr val="F3F2FB"/>
          </a:solidFill>
          <a:ln w="15240">
            <a:solidFill>
              <a:srgbClr val="6C63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783080"/>
            <a:ext cx="10545775" cy="1371600"/>
          </a:xfrm>
          <a:prstGeom prst="rect">
            <a:avLst/>
          </a:prstGeom>
          <a:noFill/>
        </p:spPr>
        <p:txBody>
          <a:bodyPr wrap="square" anchor="t" lIns="0" rIns="0" tIns="0" bIns="0">
            <a:spAutoFit/>
          </a:bodyPr>
          <a:lstStyle/>
          <a:p>
            <a:pPr algn="r" rtl="1">
              <a:lnSpc>
                <a:spcPct val="125000"/>
              </a:lnSpc>
              <a:spcBef>
                <a:spcPts val="0"/>
              </a:spcBef>
              <a:spcAft>
                <a:spcPts val="700"/>
              </a:spcAft>
            </a:pPr>
            <a:r>
              <a:rPr sz="1500" b="1" i="0">
                <a:solidFill>
                  <a:srgbClr val="6C63D8"/>
                </a:solidFill>
                <a:latin typeface="Dubai"/>
                <a:cs typeface="Dubai"/>
                <a:ea typeface="Dubai"/>
              </a:rPr>
              <a:t>الفجوة البحثية (Research Gap): </a:t>
            </a:r>
            <a:r>
              <a:rPr sz="1350" b="0" i="0">
                <a:solidFill>
                  <a:srgbClr val="18263B"/>
                </a:solidFill>
                <a:latin typeface="Dubai"/>
                <a:cs typeface="Dubai"/>
                <a:ea typeface="Dubai"/>
              </a:rPr>
              <a:t>هي المنطقة أو المشكلة في مجال معرفي لم تُدرس بعد، أو دُرست بصورة غير كافية، أو تحتاج إلى مزيد من الاستكشاف والتعمق من قِبل الباحثين.</a:t>
            </a:r>
          </a:p>
          <a:p>
            <a:pPr algn="r" rtl="1">
              <a:lnSpc>
                <a:spcPct val="125000"/>
              </a:lnSpc>
              <a:spcBef>
                <a:spcPts val="0"/>
              </a:spcBef>
              <a:spcAft>
                <a:spcPts val="400"/>
              </a:spcAft>
            </a:pPr>
            <a:r>
              <a:rPr sz="1250" b="1" i="0">
                <a:solidFill>
                  <a:srgbClr val="C23E77"/>
                </a:solidFill>
                <a:latin typeface="Dubai"/>
                <a:cs typeface="Dubai"/>
                <a:ea typeface="Dubai"/>
              </a:rPr>
              <a:t>بعبارة أبسط: </a:t>
            </a:r>
            <a:r>
              <a:rPr sz="1250" b="0" i="0">
                <a:solidFill>
                  <a:srgbClr val="18263B"/>
                </a:solidFill>
                <a:latin typeface="Dubai"/>
                <a:cs typeface="Dubai"/>
                <a:ea typeface="Dubai"/>
              </a:rPr>
              <a:t>هي «المساحة الفارغة» بين ما تعرفه البشرية اليوم وما تحتاج إلى معرفته غداً — وسدّ هذه المساحة هو جوهر أي بحث علمي أصيل.</a:t>
            </a:r>
          </a:p>
        </p:txBody>
      </p:sp>
      <p:sp>
        <p:nvSpPr>
          <p:cNvPr id="12" name="Rounded Rectangle 11"/>
          <p:cNvSpPr/>
          <p:nvPr/>
        </p:nvSpPr>
        <p:spPr>
          <a:xfrm>
            <a:off x="9084335" y="3429000"/>
            <a:ext cx="2604439" cy="274320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84335" y="3429000"/>
            <a:ext cx="2604439" cy="128016"/>
          </a:xfrm>
          <a:prstGeom prst="roundRect">
            <a:avLst>
              <a:gd name="adj" fmla="val 100000"/>
            </a:avLst>
          </a:prstGeom>
          <a:solidFill>
            <a:srgbClr val="C23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21495" y="3749039"/>
            <a:ext cx="2330119" cy="548640"/>
          </a:xfrm>
          <a:prstGeom prst="rect">
            <a:avLst/>
          </a:prstGeom>
          <a:noFill/>
        </p:spPr>
        <p:txBody>
          <a:bodyPr wrap="square" anchor="t" lIns="0" rIns="0" tIns="0" bIns="0">
            <a:spAutoFit/>
          </a:bodyPr>
          <a:lstStyle/>
          <a:p>
            <a:pPr algn="ctr">
              <a:lnSpc>
                <a:spcPct val="112000"/>
              </a:lnSpc>
              <a:spcBef>
                <a:spcPts val="0"/>
              </a:spcBef>
              <a:spcAft>
                <a:spcPts val="400"/>
              </a:spcAft>
            </a:pPr>
            <a:r>
              <a:rPr sz="2400" b="0" i="0">
                <a:solidFill>
                  <a:srgbClr val="C23E77"/>
                </a:solidFill>
                <a:latin typeface="Dubai"/>
                <a:cs typeface="Dubai"/>
                <a:ea typeface="Dubai"/>
              </a:rPr>
              <a:t>🔍</a:t>
            </a:r>
          </a:p>
        </p:txBody>
      </p:sp>
      <p:sp>
        <p:nvSpPr>
          <p:cNvPr id="15" name="TextBox 14"/>
          <p:cNvSpPr txBox="1"/>
          <p:nvPr/>
        </p:nvSpPr>
        <p:spPr>
          <a:xfrm>
            <a:off x="9221495" y="4343400"/>
            <a:ext cx="2330119" cy="457200"/>
          </a:xfrm>
          <a:prstGeom prst="rect">
            <a:avLst/>
          </a:prstGeom>
          <a:noFill/>
        </p:spPr>
        <p:txBody>
          <a:bodyPr wrap="square" anchor="t" lIns="0" rIns="0" tIns="0" bIns="0">
            <a:spAutoFit/>
          </a:bodyPr>
          <a:lstStyle/>
          <a:p>
            <a:pPr algn="ctr" rtl="1">
              <a:lnSpc>
                <a:spcPct val="112000"/>
              </a:lnSpc>
              <a:spcBef>
                <a:spcPts val="0"/>
              </a:spcBef>
              <a:spcAft>
                <a:spcPts val="400"/>
              </a:spcAft>
            </a:pPr>
            <a:r>
              <a:rPr sz="1500" b="1" i="0">
                <a:solidFill>
                  <a:srgbClr val="C23E77"/>
                </a:solidFill>
                <a:latin typeface="Dubai"/>
                <a:cs typeface="Dubai"/>
                <a:ea typeface="Dubai"/>
              </a:rPr>
              <a:t>الغياب الكلّي</a:t>
            </a:r>
          </a:p>
        </p:txBody>
      </p:sp>
      <p:sp>
        <p:nvSpPr>
          <p:cNvPr id="16" name="TextBox 15"/>
          <p:cNvSpPr txBox="1"/>
          <p:nvPr/>
        </p:nvSpPr>
        <p:spPr>
          <a:xfrm>
            <a:off x="9267215" y="4846320"/>
            <a:ext cx="2238679" cy="1188720"/>
          </a:xfrm>
          <a:prstGeom prst="rect">
            <a:avLst/>
          </a:prstGeom>
          <a:noFill/>
        </p:spPr>
        <p:txBody>
          <a:bodyPr wrap="square" anchor="t" lIns="0" rIns="0" tIns="0" bIns="0">
            <a:spAutoFit/>
          </a:bodyPr>
          <a:lstStyle/>
          <a:p>
            <a:pPr algn="ctr" rtl="1">
              <a:lnSpc>
                <a:spcPct val="122000"/>
              </a:lnSpc>
              <a:spcBef>
                <a:spcPts val="0"/>
              </a:spcBef>
              <a:spcAft>
                <a:spcPts val="400"/>
              </a:spcAft>
            </a:pPr>
            <a:r>
              <a:rPr sz="1100" b="0" i="0">
                <a:solidFill>
                  <a:srgbClr val="18263B"/>
                </a:solidFill>
                <a:latin typeface="Dubai"/>
                <a:cs typeface="Dubai"/>
                <a:ea typeface="Dubai"/>
              </a:rPr>
              <a:t>موضوع لم يتناوله أي باحث من قبل — أندر الصور وأثمنها متى كان الموضوع مهماً</a:t>
            </a:r>
          </a:p>
        </p:txBody>
      </p:sp>
      <p:sp>
        <p:nvSpPr>
          <p:cNvPr id="17" name="Rounded Rectangle 16"/>
          <p:cNvSpPr/>
          <p:nvPr/>
        </p:nvSpPr>
        <p:spPr>
          <a:xfrm>
            <a:off x="6223863" y="3429000"/>
            <a:ext cx="2604439" cy="274320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23863" y="3429000"/>
            <a:ext cx="2604439" cy="128016"/>
          </a:xfrm>
          <a:prstGeom prst="roundRect">
            <a:avLst>
              <a:gd name="adj" fmla="val 100000"/>
            </a:avLst>
          </a:prstGeom>
          <a:solidFill>
            <a:srgbClr val="DD9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1023" y="3749039"/>
            <a:ext cx="2330119" cy="548640"/>
          </a:xfrm>
          <a:prstGeom prst="rect">
            <a:avLst/>
          </a:prstGeom>
          <a:noFill/>
        </p:spPr>
        <p:txBody>
          <a:bodyPr wrap="square" anchor="t" lIns="0" rIns="0" tIns="0" bIns="0">
            <a:spAutoFit/>
          </a:bodyPr>
          <a:lstStyle/>
          <a:p>
            <a:pPr algn="ctr">
              <a:lnSpc>
                <a:spcPct val="112000"/>
              </a:lnSpc>
              <a:spcBef>
                <a:spcPts val="0"/>
              </a:spcBef>
              <a:spcAft>
                <a:spcPts val="400"/>
              </a:spcAft>
            </a:pPr>
            <a:r>
              <a:rPr sz="2400" b="0" i="0">
                <a:solidFill>
                  <a:srgbClr val="DD9F33"/>
                </a:solidFill>
                <a:latin typeface="Dubai"/>
                <a:cs typeface="Dubai"/>
                <a:ea typeface="Dubai"/>
              </a:rPr>
              <a:t>⚡</a:t>
            </a:r>
          </a:p>
        </p:txBody>
      </p:sp>
      <p:sp>
        <p:nvSpPr>
          <p:cNvPr id="20" name="TextBox 19"/>
          <p:cNvSpPr txBox="1"/>
          <p:nvPr/>
        </p:nvSpPr>
        <p:spPr>
          <a:xfrm>
            <a:off x="6361023" y="4343400"/>
            <a:ext cx="2330119" cy="457200"/>
          </a:xfrm>
          <a:prstGeom prst="rect">
            <a:avLst/>
          </a:prstGeom>
          <a:noFill/>
        </p:spPr>
        <p:txBody>
          <a:bodyPr wrap="square" anchor="t" lIns="0" rIns="0" tIns="0" bIns="0">
            <a:spAutoFit/>
          </a:bodyPr>
          <a:lstStyle/>
          <a:p>
            <a:pPr algn="ctr" rtl="1">
              <a:lnSpc>
                <a:spcPct val="112000"/>
              </a:lnSpc>
              <a:spcBef>
                <a:spcPts val="0"/>
              </a:spcBef>
              <a:spcAft>
                <a:spcPts val="400"/>
              </a:spcAft>
            </a:pPr>
            <a:r>
              <a:rPr sz="1500" b="1" i="0">
                <a:solidFill>
                  <a:srgbClr val="DD9F33"/>
                </a:solidFill>
                <a:latin typeface="Dubai"/>
                <a:cs typeface="Dubai"/>
                <a:ea typeface="Dubai"/>
              </a:rPr>
              <a:t>الدراسة الجزئية</a:t>
            </a:r>
          </a:p>
        </p:txBody>
      </p:sp>
      <p:sp>
        <p:nvSpPr>
          <p:cNvPr id="21" name="TextBox 20"/>
          <p:cNvSpPr txBox="1"/>
          <p:nvPr/>
        </p:nvSpPr>
        <p:spPr>
          <a:xfrm>
            <a:off x="6406743" y="4846320"/>
            <a:ext cx="2238679" cy="1188720"/>
          </a:xfrm>
          <a:prstGeom prst="rect">
            <a:avLst/>
          </a:prstGeom>
          <a:noFill/>
        </p:spPr>
        <p:txBody>
          <a:bodyPr wrap="square" anchor="t" lIns="0" rIns="0" tIns="0" bIns="0">
            <a:spAutoFit/>
          </a:bodyPr>
          <a:lstStyle/>
          <a:p>
            <a:pPr algn="ctr" rtl="1">
              <a:lnSpc>
                <a:spcPct val="122000"/>
              </a:lnSpc>
              <a:spcBef>
                <a:spcPts val="0"/>
              </a:spcBef>
              <a:spcAft>
                <a:spcPts val="400"/>
              </a:spcAft>
            </a:pPr>
            <a:r>
              <a:rPr sz="1100" b="0" i="0">
                <a:solidFill>
                  <a:srgbClr val="18263B"/>
                </a:solidFill>
                <a:latin typeface="Dubai"/>
                <a:cs typeface="Dubai"/>
                <a:ea typeface="Dubai"/>
              </a:rPr>
              <a:t>موضوع دُرس من زاوية واحدة فقط بينما أُهملت زواياه الأخرى</a:t>
            </a:r>
          </a:p>
        </p:txBody>
      </p:sp>
      <p:sp>
        <p:nvSpPr>
          <p:cNvPr id="22" name="Rounded Rectangle 21"/>
          <p:cNvSpPr/>
          <p:nvPr/>
        </p:nvSpPr>
        <p:spPr>
          <a:xfrm>
            <a:off x="3363391" y="3429000"/>
            <a:ext cx="2604439" cy="274320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363391" y="3429000"/>
            <a:ext cx="2604439" cy="128016"/>
          </a:xfrm>
          <a:prstGeom prst="roundRect">
            <a:avLst>
              <a:gd name="adj" fmla="val 100000"/>
            </a:avLst>
          </a:prstGeom>
          <a:solidFill>
            <a:srgbClr val="0E9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00551" y="3749039"/>
            <a:ext cx="2330119" cy="548640"/>
          </a:xfrm>
          <a:prstGeom prst="rect">
            <a:avLst/>
          </a:prstGeom>
          <a:noFill/>
        </p:spPr>
        <p:txBody>
          <a:bodyPr wrap="square" anchor="t" lIns="0" rIns="0" tIns="0" bIns="0">
            <a:spAutoFit/>
          </a:bodyPr>
          <a:lstStyle/>
          <a:p>
            <a:pPr algn="ctr">
              <a:lnSpc>
                <a:spcPct val="112000"/>
              </a:lnSpc>
              <a:spcBef>
                <a:spcPts val="0"/>
              </a:spcBef>
              <a:spcAft>
                <a:spcPts val="400"/>
              </a:spcAft>
            </a:pPr>
            <a:r>
              <a:rPr sz="2400" b="0" i="0">
                <a:solidFill>
                  <a:srgbClr val="0E9F8C"/>
                </a:solidFill>
                <a:latin typeface="Dubai"/>
                <a:cs typeface="Dubai"/>
                <a:ea typeface="Dubai"/>
              </a:rPr>
              <a:t>🔄</a:t>
            </a:r>
          </a:p>
        </p:txBody>
      </p:sp>
      <p:sp>
        <p:nvSpPr>
          <p:cNvPr id="25" name="TextBox 24"/>
          <p:cNvSpPr txBox="1"/>
          <p:nvPr/>
        </p:nvSpPr>
        <p:spPr>
          <a:xfrm>
            <a:off x="3500551" y="4343400"/>
            <a:ext cx="2330119" cy="457200"/>
          </a:xfrm>
          <a:prstGeom prst="rect">
            <a:avLst/>
          </a:prstGeom>
          <a:noFill/>
        </p:spPr>
        <p:txBody>
          <a:bodyPr wrap="square" anchor="t" lIns="0" rIns="0" tIns="0" bIns="0">
            <a:spAutoFit/>
          </a:bodyPr>
          <a:lstStyle/>
          <a:p>
            <a:pPr algn="ctr" rtl="1">
              <a:lnSpc>
                <a:spcPct val="112000"/>
              </a:lnSpc>
              <a:spcBef>
                <a:spcPts val="0"/>
              </a:spcBef>
              <a:spcAft>
                <a:spcPts val="400"/>
              </a:spcAft>
            </a:pPr>
            <a:r>
              <a:rPr sz="1500" b="1" i="0">
                <a:solidFill>
                  <a:srgbClr val="0E9F8C"/>
                </a:solidFill>
                <a:latin typeface="Dubai"/>
                <a:cs typeface="Dubai"/>
                <a:ea typeface="Dubai"/>
              </a:rPr>
              <a:t>تناقض النتائج</a:t>
            </a:r>
          </a:p>
        </p:txBody>
      </p:sp>
      <p:sp>
        <p:nvSpPr>
          <p:cNvPr id="26" name="TextBox 25"/>
          <p:cNvSpPr txBox="1"/>
          <p:nvPr/>
        </p:nvSpPr>
        <p:spPr>
          <a:xfrm>
            <a:off x="3546271" y="4846320"/>
            <a:ext cx="2238679" cy="1188720"/>
          </a:xfrm>
          <a:prstGeom prst="rect">
            <a:avLst/>
          </a:prstGeom>
          <a:noFill/>
        </p:spPr>
        <p:txBody>
          <a:bodyPr wrap="square" anchor="t" lIns="0" rIns="0" tIns="0" bIns="0">
            <a:spAutoFit/>
          </a:bodyPr>
          <a:lstStyle/>
          <a:p>
            <a:pPr algn="ctr" rtl="1">
              <a:lnSpc>
                <a:spcPct val="122000"/>
              </a:lnSpc>
              <a:spcBef>
                <a:spcPts val="0"/>
              </a:spcBef>
              <a:spcAft>
                <a:spcPts val="400"/>
              </a:spcAft>
            </a:pPr>
            <a:r>
              <a:rPr sz="1100" b="0" i="0">
                <a:solidFill>
                  <a:srgbClr val="18263B"/>
                </a:solidFill>
                <a:latin typeface="Dubai"/>
                <a:cs typeface="Dubai"/>
                <a:ea typeface="Dubai"/>
              </a:rPr>
              <a:t>دراسات وصلت إلى نتائج متضاربة تستدعي التحقيق والحسم</a:t>
            </a:r>
          </a:p>
        </p:txBody>
      </p:sp>
      <p:sp>
        <p:nvSpPr>
          <p:cNvPr id="27" name="Rounded Rectangle 26"/>
          <p:cNvSpPr/>
          <p:nvPr/>
        </p:nvSpPr>
        <p:spPr>
          <a:xfrm>
            <a:off x="502919" y="3429000"/>
            <a:ext cx="2604439" cy="274320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2919" y="3429000"/>
            <a:ext cx="2604439" cy="128016"/>
          </a:xfrm>
          <a:prstGeom prst="roundRect">
            <a:avLst>
              <a:gd name="adj" fmla="val 100000"/>
            </a:avLst>
          </a:prstGeom>
          <a:solidFill>
            <a:srgbClr val="3E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79" y="3749039"/>
            <a:ext cx="2330119" cy="548640"/>
          </a:xfrm>
          <a:prstGeom prst="rect">
            <a:avLst/>
          </a:prstGeom>
          <a:noFill/>
        </p:spPr>
        <p:txBody>
          <a:bodyPr wrap="square" anchor="t" lIns="0" rIns="0" tIns="0" bIns="0">
            <a:spAutoFit/>
          </a:bodyPr>
          <a:lstStyle/>
          <a:p>
            <a:pPr algn="ctr">
              <a:lnSpc>
                <a:spcPct val="112000"/>
              </a:lnSpc>
              <a:spcBef>
                <a:spcPts val="0"/>
              </a:spcBef>
              <a:spcAft>
                <a:spcPts val="400"/>
              </a:spcAft>
            </a:pPr>
            <a:r>
              <a:rPr sz="2400" b="0" i="0">
                <a:solidFill>
                  <a:srgbClr val="3E8E5A"/>
                </a:solidFill>
                <a:latin typeface="Dubai"/>
                <a:cs typeface="Dubai"/>
                <a:ea typeface="Dubai"/>
              </a:rPr>
              <a:t>🌍</a:t>
            </a:r>
          </a:p>
        </p:txBody>
      </p:sp>
      <p:sp>
        <p:nvSpPr>
          <p:cNvPr id="30" name="TextBox 29"/>
          <p:cNvSpPr txBox="1"/>
          <p:nvPr/>
        </p:nvSpPr>
        <p:spPr>
          <a:xfrm>
            <a:off x="640079" y="4343400"/>
            <a:ext cx="2330119" cy="457200"/>
          </a:xfrm>
          <a:prstGeom prst="rect">
            <a:avLst/>
          </a:prstGeom>
          <a:noFill/>
        </p:spPr>
        <p:txBody>
          <a:bodyPr wrap="square" anchor="t" lIns="0" rIns="0" tIns="0" bIns="0">
            <a:spAutoFit/>
          </a:bodyPr>
          <a:lstStyle/>
          <a:p>
            <a:pPr algn="ctr" rtl="1">
              <a:lnSpc>
                <a:spcPct val="112000"/>
              </a:lnSpc>
              <a:spcBef>
                <a:spcPts val="0"/>
              </a:spcBef>
              <a:spcAft>
                <a:spcPts val="400"/>
              </a:spcAft>
            </a:pPr>
            <a:r>
              <a:rPr sz="1500" b="1" i="0">
                <a:solidFill>
                  <a:srgbClr val="3E8E5A"/>
                </a:solidFill>
                <a:latin typeface="Dubai"/>
                <a:cs typeface="Dubai"/>
                <a:ea typeface="Dubai"/>
              </a:rPr>
              <a:t>السياق الجغرافي</a:t>
            </a:r>
          </a:p>
        </p:txBody>
      </p:sp>
      <p:sp>
        <p:nvSpPr>
          <p:cNvPr id="31" name="TextBox 30"/>
          <p:cNvSpPr txBox="1"/>
          <p:nvPr/>
        </p:nvSpPr>
        <p:spPr>
          <a:xfrm>
            <a:off x="685799" y="4846320"/>
            <a:ext cx="2238679" cy="1188720"/>
          </a:xfrm>
          <a:prstGeom prst="rect">
            <a:avLst/>
          </a:prstGeom>
          <a:noFill/>
        </p:spPr>
        <p:txBody>
          <a:bodyPr wrap="square" anchor="t" lIns="0" rIns="0" tIns="0" bIns="0">
            <a:spAutoFit/>
          </a:bodyPr>
          <a:lstStyle/>
          <a:p>
            <a:pPr algn="ctr" rtl="1">
              <a:lnSpc>
                <a:spcPct val="122000"/>
              </a:lnSpc>
              <a:spcBef>
                <a:spcPts val="0"/>
              </a:spcBef>
              <a:spcAft>
                <a:spcPts val="400"/>
              </a:spcAft>
            </a:pPr>
            <a:r>
              <a:rPr sz="1100" b="0" i="0">
                <a:solidFill>
                  <a:srgbClr val="18263B"/>
                </a:solidFill>
                <a:latin typeface="Dubai"/>
                <a:cs typeface="Dubai"/>
                <a:ea typeface="Dubai"/>
              </a:rPr>
              <a:t>نتائج لم تُختبر في بيئتك أو مجتمعك أو ثقافتك المحلية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DD9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865815" y="411480"/>
            <a:ext cx="822960" cy="822960"/>
          </a:xfrm>
          <a:prstGeom prst="roundRect">
            <a:avLst>
              <a:gd name="adj" fmla="val 28000"/>
            </a:avLst>
          </a:prstGeom>
          <a:solidFill>
            <a:srgbClr val="FAF1E2"/>
          </a:solidFill>
          <a:ln w="15240">
            <a:solidFill>
              <a:srgbClr val="DD9F33"/>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3000" b="0" i="0">
                <a:solidFill>
                  <a:srgbClr val="DD9F33"/>
                </a:solidFill>
                <a:latin typeface="Dubai"/>
                <a:cs typeface="Dubai"/>
                <a:ea typeface="Dubai"/>
              </a:rPr>
              <a:t>⚙️</a:t>
            </a:r>
          </a:p>
        </p:txBody>
      </p:sp>
      <p:sp>
        <p:nvSpPr>
          <p:cNvPr id="5" name="TextBox 4"/>
          <p:cNvSpPr txBox="1"/>
          <p:nvPr/>
        </p:nvSpPr>
        <p:spPr>
          <a:xfrm>
            <a:off x="502920" y="365760"/>
            <a:ext cx="10180015" cy="566928"/>
          </a:xfrm>
          <a:prstGeom prst="rect">
            <a:avLst/>
          </a:prstGeom>
          <a:noFill/>
        </p:spPr>
        <p:txBody>
          <a:bodyPr wrap="square" anchor="t" lIns="0" rIns="0" tIns="0" bIns="0">
            <a:spAutoFit/>
          </a:bodyPr>
          <a:lstStyle/>
          <a:p>
            <a:pPr algn="r" rtl="1">
              <a:lnSpc>
                <a:spcPct val="112000"/>
              </a:lnSpc>
              <a:spcBef>
                <a:spcPts val="0"/>
              </a:spcBef>
              <a:spcAft>
                <a:spcPts val="400"/>
              </a:spcAft>
            </a:pPr>
            <a:r>
              <a:rPr sz="2700" b="1" i="0">
                <a:solidFill>
                  <a:srgbClr val="18263B"/>
                </a:solidFill>
                <a:latin typeface="Dubai"/>
                <a:cs typeface="Dubai"/>
                <a:ea typeface="Dubai"/>
              </a:rPr>
              <a:t>لماذا تهمّنا الفجوات البحثية؟</a:t>
            </a:r>
          </a:p>
        </p:txBody>
      </p:sp>
      <p:sp>
        <p:nvSpPr>
          <p:cNvPr id="6" name="TextBox 5"/>
          <p:cNvSpPr txBox="1"/>
          <p:nvPr/>
        </p:nvSpPr>
        <p:spPr>
          <a:xfrm>
            <a:off x="502920" y="969264"/>
            <a:ext cx="10180015" cy="365760"/>
          </a:xfrm>
          <a:prstGeom prst="rect">
            <a:avLst/>
          </a:prstGeom>
          <a:noFill/>
        </p:spPr>
        <p:txBody>
          <a:bodyPr wrap="square" anchor="t" lIns="0" rIns="0" tIns="0" bIns="0">
            <a:spAutoFit/>
          </a:bodyPr>
          <a:lstStyle/>
          <a:p>
            <a:pPr algn="r">
              <a:lnSpc>
                <a:spcPct val="112000"/>
              </a:lnSpc>
              <a:spcBef>
                <a:spcPts val="0"/>
              </a:spcBef>
              <a:spcAft>
                <a:spcPts val="400"/>
              </a:spcAft>
            </a:pPr>
            <a:r>
              <a:rPr sz="1250" b="0" i="1">
                <a:solidFill>
                  <a:srgbClr val="DD9F33"/>
                </a:solidFill>
                <a:latin typeface="Dubai"/>
                <a:cs typeface="Dubai"/>
                <a:ea typeface="Dubai"/>
              </a:rPr>
              <a:t>Why Research Gaps Matter</a:t>
            </a:r>
          </a:p>
        </p:txBody>
      </p:sp>
      <p:sp>
        <p:nvSpPr>
          <p:cNvPr id="7" name="Rectangle 6"/>
          <p:cNvSpPr/>
          <p:nvPr/>
        </p:nvSpPr>
        <p:spPr>
          <a:xfrm>
            <a:off x="9128455" y="1389888"/>
            <a:ext cx="1554480" cy="45720"/>
          </a:xfrm>
          <a:prstGeom prst="rect">
            <a:avLst/>
          </a:prstGeom>
          <a:solidFill>
            <a:srgbClr val="DD9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3200400" cy="274320"/>
          </a:xfrm>
          <a:prstGeom prst="rect">
            <a:avLst/>
          </a:prstGeom>
          <a:noFill/>
        </p:spPr>
        <p:txBody>
          <a:bodyPr wrap="square" anchor="t" lIns="0" rIns="0" tIns="0" bIns="0">
            <a:spAutoFit/>
          </a:bodyPr>
          <a:lstStyle/>
          <a:p>
            <a:pPr algn="l">
              <a:lnSpc>
                <a:spcPct val="112000"/>
              </a:lnSpc>
              <a:spcBef>
                <a:spcPts val="0"/>
              </a:spcBef>
              <a:spcAft>
                <a:spcPts val="400"/>
              </a:spcAft>
            </a:pPr>
            <a:r>
              <a:rPr sz="1050" b="1" i="0">
                <a:solidFill>
                  <a:srgbClr val="DD9F33"/>
                </a:solidFill>
                <a:latin typeface="Dubai"/>
                <a:cs typeface="Dubai"/>
                <a:ea typeface="Dubai"/>
              </a:rPr>
              <a:t>04</a:t>
            </a:r>
            <a:r>
              <a:rPr sz="900" b="0" i="0">
                <a:solidFill>
                  <a:srgbClr val="62748A"/>
                </a:solidFill>
                <a:latin typeface="Dubai"/>
                <a:cs typeface="Dubai"/>
                <a:ea typeface="Dubai"/>
              </a:rPr>
              <a:t>   Research Gaps — Dr. Hana Hossen Elahemer</a:t>
            </a:r>
          </a:p>
        </p:txBody>
      </p:sp>
      <p:sp>
        <p:nvSpPr>
          <p:cNvPr id="9" name="TextBox 8"/>
          <p:cNvSpPr txBox="1"/>
          <p:nvPr/>
        </p:nvSpPr>
        <p:spPr>
          <a:xfrm>
            <a:off x="8488375" y="6455664"/>
            <a:ext cx="3200400"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00" b="0" i="0">
                <a:solidFill>
                  <a:srgbClr val="62748A"/>
                </a:solidFill>
                <a:latin typeface="Dubai"/>
                <a:cs typeface="Dubai"/>
                <a:ea typeface="Dubai"/>
              </a:rPr>
              <a:t>الفجوات البحثية • ورشة عمل أكاديمية</a:t>
            </a:r>
          </a:p>
        </p:txBody>
      </p:sp>
      <p:sp>
        <p:nvSpPr>
          <p:cNvPr id="10" name="Rounded Rectangle 9"/>
          <p:cNvSpPr/>
          <p:nvPr/>
        </p:nvSpPr>
        <p:spPr>
          <a:xfrm>
            <a:off x="8130844" y="1691640"/>
            <a:ext cx="3557930" cy="2176272"/>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606479" y="1920240"/>
            <a:ext cx="82296" cy="1737360"/>
          </a:xfrm>
          <a:prstGeom prst="rect">
            <a:avLst/>
          </a:prstGeom>
          <a:solidFill>
            <a:srgbClr val="C23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59444" y="1892808"/>
            <a:ext cx="3055010" cy="457200"/>
          </a:xfrm>
          <a:prstGeom prst="rect">
            <a:avLst/>
          </a:prstGeom>
          <a:noFill/>
        </p:spPr>
        <p:txBody>
          <a:bodyPr wrap="square" anchor="t" lIns="0" rIns="0" tIns="0" bIns="0">
            <a:spAutoFit/>
          </a:bodyPr>
          <a:lstStyle/>
          <a:p>
            <a:pPr algn="r" rtl="1">
              <a:lnSpc>
                <a:spcPct val="112000"/>
              </a:lnSpc>
              <a:spcBef>
                <a:spcPts val="0"/>
              </a:spcBef>
              <a:spcAft>
                <a:spcPts val="400"/>
              </a:spcAft>
            </a:pPr>
            <a:r>
              <a:rPr sz="1450" b="1" i="0">
                <a:solidFill>
                  <a:srgbClr val="C23E77"/>
                </a:solidFill>
                <a:latin typeface="Dubai"/>
                <a:cs typeface="Dubai"/>
                <a:ea typeface="Dubai"/>
              </a:rPr>
              <a:t>توجيه البحث  </a:t>
            </a:r>
            <a:r>
              <a:rPr sz="1300" b="0" i="0">
                <a:solidFill>
                  <a:srgbClr val="C23E77"/>
                </a:solidFill>
                <a:latin typeface="Dubai"/>
                <a:cs typeface="Dubai"/>
                <a:ea typeface="Dubai"/>
              </a:rPr>
              <a:t>🧭</a:t>
            </a:r>
          </a:p>
        </p:txBody>
      </p:sp>
      <p:sp>
        <p:nvSpPr>
          <p:cNvPr id="13" name="TextBox 12"/>
          <p:cNvSpPr txBox="1"/>
          <p:nvPr/>
        </p:nvSpPr>
        <p:spPr>
          <a:xfrm>
            <a:off x="8359444" y="2404872"/>
            <a:ext cx="3055010" cy="1325880"/>
          </a:xfrm>
          <a:prstGeom prst="rect">
            <a:avLst/>
          </a:prstGeom>
          <a:noFill/>
        </p:spPr>
        <p:txBody>
          <a:bodyPr wrap="square" anchor="t" lIns="0" rIns="0" tIns="0" bIns="0">
            <a:spAutoFit/>
          </a:bodyPr>
          <a:lstStyle/>
          <a:p>
            <a:pPr algn="r" rtl="1">
              <a:lnSpc>
                <a:spcPct val="128000"/>
              </a:lnSpc>
              <a:spcBef>
                <a:spcPts val="0"/>
              </a:spcBef>
              <a:spcAft>
                <a:spcPts val="400"/>
              </a:spcAft>
            </a:pPr>
            <a:r>
              <a:rPr sz="1150" b="0" i="0">
                <a:solidFill>
                  <a:srgbClr val="18263B"/>
                </a:solidFill>
                <a:latin typeface="Dubai"/>
                <a:cs typeface="Dubai"/>
                <a:ea typeface="Dubai"/>
              </a:rPr>
              <a:t>تمنحك اتجاهاً واضحاً لرسالتك أو أطروحتك بدلاً من التخبط بين مواضيع مكررة ومستهلكة</a:t>
            </a:r>
          </a:p>
        </p:txBody>
      </p:sp>
      <p:sp>
        <p:nvSpPr>
          <p:cNvPr id="14" name="Rounded Rectangle 13"/>
          <p:cNvSpPr/>
          <p:nvPr/>
        </p:nvSpPr>
        <p:spPr>
          <a:xfrm>
            <a:off x="4316882" y="1691640"/>
            <a:ext cx="3557930" cy="2176272"/>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92516" y="1920240"/>
            <a:ext cx="82296" cy="1737360"/>
          </a:xfrm>
          <a:prstGeom prst="rect">
            <a:avLst/>
          </a:prstGeom>
          <a:solidFill>
            <a:srgbClr val="DD9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45482" y="1892808"/>
            <a:ext cx="3055010" cy="457200"/>
          </a:xfrm>
          <a:prstGeom prst="rect">
            <a:avLst/>
          </a:prstGeom>
          <a:noFill/>
        </p:spPr>
        <p:txBody>
          <a:bodyPr wrap="square" anchor="t" lIns="0" rIns="0" tIns="0" bIns="0">
            <a:spAutoFit/>
          </a:bodyPr>
          <a:lstStyle/>
          <a:p>
            <a:pPr algn="r" rtl="1">
              <a:lnSpc>
                <a:spcPct val="112000"/>
              </a:lnSpc>
              <a:spcBef>
                <a:spcPts val="0"/>
              </a:spcBef>
              <a:spcAft>
                <a:spcPts val="400"/>
              </a:spcAft>
            </a:pPr>
            <a:r>
              <a:rPr sz="1450" b="1" i="0">
                <a:solidFill>
                  <a:srgbClr val="DD9F33"/>
                </a:solidFill>
                <a:latin typeface="Dubai"/>
                <a:cs typeface="Dubai"/>
                <a:ea typeface="Dubai"/>
              </a:rPr>
              <a:t>الأصالة العلمية  </a:t>
            </a:r>
            <a:r>
              <a:rPr sz="1300" b="0" i="0">
                <a:solidFill>
                  <a:srgbClr val="DD9F33"/>
                </a:solidFill>
                <a:latin typeface="Dubai"/>
                <a:cs typeface="Dubai"/>
                <a:ea typeface="Dubai"/>
              </a:rPr>
              <a:t>🏆</a:t>
            </a:r>
          </a:p>
        </p:txBody>
      </p:sp>
      <p:sp>
        <p:nvSpPr>
          <p:cNvPr id="17" name="TextBox 16"/>
          <p:cNvSpPr txBox="1"/>
          <p:nvPr/>
        </p:nvSpPr>
        <p:spPr>
          <a:xfrm>
            <a:off x="4545482" y="2404872"/>
            <a:ext cx="3055010" cy="1325880"/>
          </a:xfrm>
          <a:prstGeom prst="rect">
            <a:avLst/>
          </a:prstGeom>
          <a:noFill/>
        </p:spPr>
        <p:txBody>
          <a:bodyPr wrap="square" anchor="t" lIns="0" rIns="0" tIns="0" bIns="0">
            <a:spAutoFit/>
          </a:bodyPr>
          <a:lstStyle/>
          <a:p>
            <a:pPr algn="r" rtl="1">
              <a:lnSpc>
                <a:spcPct val="128000"/>
              </a:lnSpc>
              <a:spcBef>
                <a:spcPts val="0"/>
              </a:spcBef>
              <a:spcAft>
                <a:spcPts val="400"/>
              </a:spcAft>
            </a:pPr>
            <a:r>
              <a:rPr sz="1150" b="0" i="0">
                <a:solidFill>
                  <a:srgbClr val="18263B"/>
                </a:solidFill>
                <a:latin typeface="Dubai"/>
                <a:cs typeface="Dubai"/>
                <a:ea typeface="Dubai"/>
              </a:rPr>
              <a:t>تضمن أن بحثك يُضيف جديداً حقيقياً للمعرفة ولا يعيد إنتاج ما هو موجود أصلاً</a:t>
            </a:r>
          </a:p>
        </p:txBody>
      </p:sp>
      <p:sp>
        <p:nvSpPr>
          <p:cNvPr id="18" name="Rounded Rectangle 17"/>
          <p:cNvSpPr/>
          <p:nvPr/>
        </p:nvSpPr>
        <p:spPr>
          <a:xfrm>
            <a:off x="502919" y="1691640"/>
            <a:ext cx="3557930" cy="2176272"/>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978554" y="1920240"/>
            <a:ext cx="82296" cy="1737360"/>
          </a:xfrm>
          <a:prstGeom prst="rect">
            <a:avLst/>
          </a:prstGeom>
          <a:solidFill>
            <a:srgbClr val="6C6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1892808"/>
            <a:ext cx="3055010" cy="457200"/>
          </a:xfrm>
          <a:prstGeom prst="rect">
            <a:avLst/>
          </a:prstGeom>
          <a:noFill/>
        </p:spPr>
        <p:txBody>
          <a:bodyPr wrap="square" anchor="t" lIns="0" rIns="0" tIns="0" bIns="0">
            <a:spAutoFit/>
          </a:bodyPr>
          <a:lstStyle/>
          <a:p>
            <a:pPr algn="r" rtl="1">
              <a:lnSpc>
                <a:spcPct val="112000"/>
              </a:lnSpc>
              <a:spcBef>
                <a:spcPts val="0"/>
              </a:spcBef>
              <a:spcAft>
                <a:spcPts val="400"/>
              </a:spcAft>
            </a:pPr>
            <a:r>
              <a:rPr sz="1450" b="1" i="0">
                <a:solidFill>
                  <a:srgbClr val="6C63D8"/>
                </a:solidFill>
                <a:latin typeface="Dubai"/>
                <a:cs typeface="Dubai"/>
                <a:ea typeface="Dubai"/>
              </a:rPr>
              <a:t>تبرير الدراسة  </a:t>
            </a:r>
            <a:r>
              <a:rPr sz="1300" b="0" i="0">
                <a:solidFill>
                  <a:srgbClr val="6C63D8"/>
                </a:solidFill>
                <a:latin typeface="Dubai"/>
                <a:cs typeface="Dubai"/>
                <a:ea typeface="Dubai"/>
              </a:rPr>
              <a:t>⚖️</a:t>
            </a:r>
          </a:p>
        </p:txBody>
      </p:sp>
      <p:sp>
        <p:nvSpPr>
          <p:cNvPr id="21" name="TextBox 20"/>
          <p:cNvSpPr txBox="1"/>
          <p:nvPr/>
        </p:nvSpPr>
        <p:spPr>
          <a:xfrm>
            <a:off x="731519" y="2404872"/>
            <a:ext cx="3055010" cy="1325880"/>
          </a:xfrm>
          <a:prstGeom prst="rect">
            <a:avLst/>
          </a:prstGeom>
          <a:noFill/>
        </p:spPr>
        <p:txBody>
          <a:bodyPr wrap="square" anchor="t" lIns="0" rIns="0" tIns="0" bIns="0">
            <a:spAutoFit/>
          </a:bodyPr>
          <a:lstStyle/>
          <a:p>
            <a:pPr algn="r" rtl="1">
              <a:lnSpc>
                <a:spcPct val="128000"/>
              </a:lnSpc>
              <a:spcBef>
                <a:spcPts val="0"/>
              </a:spcBef>
              <a:spcAft>
                <a:spcPts val="400"/>
              </a:spcAft>
            </a:pPr>
            <a:r>
              <a:rPr sz="1150" b="0" i="0">
                <a:solidFill>
                  <a:srgbClr val="18263B"/>
                </a:solidFill>
                <a:latin typeface="Dubai"/>
                <a:cs typeface="Dubai"/>
                <a:ea typeface="Dubai"/>
              </a:rPr>
              <a:t>حجّتك الأقوى لإقناع اللجنة العلمية والمشرفين بقيمة بحثك وجدوى إجرائه</a:t>
            </a:r>
          </a:p>
        </p:txBody>
      </p:sp>
      <p:sp>
        <p:nvSpPr>
          <p:cNvPr id="22" name="Rounded Rectangle 21"/>
          <p:cNvSpPr/>
          <p:nvPr/>
        </p:nvSpPr>
        <p:spPr>
          <a:xfrm>
            <a:off x="8130844" y="4069080"/>
            <a:ext cx="3557930" cy="2176272"/>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606479" y="4297680"/>
            <a:ext cx="82296" cy="1737360"/>
          </a:xfrm>
          <a:prstGeom prst="rect">
            <a:avLst/>
          </a:prstGeom>
          <a:solidFill>
            <a:srgbClr val="0E9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59444" y="4270248"/>
            <a:ext cx="3055010" cy="457200"/>
          </a:xfrm>
          <a:prstGeom prst="rect">
            <a:avLst/>
          </a:prstGeom>
          <a:noFill/>
        </p:spPr>
        <p:txBody>
          <a:bodyPr wrap="square" anchor="t" lIns="0" rIns="0" tIns="0" bIns="0">
            <a:spAutoFit/>
          </a:bodyPr>
          <a:lstStyle/>
          <a:p>
            <a:pPr algn="r" rtl="1">
              <a:lnSpc>
                <a:spcPct val="112000"/>
              </a:lnSpc>
              <a:spcBef>
                <a:spcPts val="0"/>
              </a:spcBef>
              <a:spcAft>
                <a:spcPts val="400"/>
              </a:spcAft>
            </a:pPr>
            <a:r>
              <a:rPr sz="1450" b="1" i="0">
                <a:solidFill>
                  <a:srgbClr val="0E9F8C"/>
                </a:solidFill>
                <a:latin typeface="Dubai"/>
                <a:cs typeface="Dubai"/>
                <a:ea typeface="Dubai"/>
              </a:rPr>
              <a:t>ربط الأدبيات  </a:t>
            </a:r>
            <a:r>
              <a:rPr sz="1300" b="0" i="0">
                <a:solidFill>
                  <a:srgbClr val="0E9F8C"/>
                </a:solidFill>
                <a:latin typeface="Dubai"/>
                <a:cs typeface="Dubai"/>
                <a:ea typeface="Dubai"/>
              </a:rPr>
              <a:t>🔗</a:t>
            </a:r>
          </a:p>
        </p:txBody>
      </p:sp>
      <p:sp>
        <p:nvSpPr>
          <p:cNvPr id="25" name="TextBox 24"/>
          <p:cNvSpPr txBox="1"/>
          <p:nvPr/>
        </p:nvSpPr>
        <p:spPr>
          <a:xfrm>
            <a:off x="8359444" y="4782312"/>
            <a:ext cx="3055010" cy="1325880"/>
          </a:xfrm>
          <a:prstGeom prst="rect">
            <a:avLst/>
          </a:prstGeom>
          <a:noFill/>
        </p:spPr>
        <p:txBody>
          <a:bodyPr wrap="square" anchor="t" lIns="0" rIns="0" tIns="0" bIns="0">
            <a:spAutoFit/>
          </a:bodyPr>
          <a:lstStyle/>
          <a:p>
            <a:pPr algn="r" rtl="1">
              <a:lnSpc>
                <a:spcPct val="128000"/>
              </a:lnSpc>
              <a:spcBef>
                <a:spcPts val="0"/>
              </a:spcBef>
              <a:spcAft>
                <a:spcPts val="400"/>
              </a:spcAft>
            </a:pPr>
            <a:r>
              <a:rPr sz="1150" b="0" i="0">
                <a:solidFill>
                  <a:srgbClr val="18263B"/>
                </a:solidFill>
                <a:latin typeface="Dubai"/>
                <a:cs typeface="Dubai"/>
                <a:ea typeface="Dubai"/>
              </a:rPr>
              <a:t>تبني جسراً منطقياً بين ما هو موجود في الأدبيات وما تطمح لاكتشافه بنفسك</a:t>
            </a:r>
          </a:p>
        </p:txBody>
      </p:sp>
      <p:sp>
        <p:nvSpPr>
          <p:cNvPr id="26" name="Rounded Rectangle 25"/>
          <p:cNvSpPr/>
          <p:nvPr/>
        </p:nvSpPr>
        <p:spPr>
          <a:xfrm>
            <a:off x="4316882" y="4069080"/>
            <a:ext cx="3557930" cy="2176272"/>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92516" y="4297680"/>
            <a:ext cx="82296" cy="1737360"/>
          </a:xfrm>
          <a:prstGeom prst="rect">
            <a:avLst/>
          </a:prstGeom>
          <a:solidFill>
            <a:srgbClr val="3E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45482" y="4270248"/>
            <a:ext cx="3055010" cy="457200"/>
          </a:xfrm>
          <a:prstGeom prst="rect">
            <a:avLst/>
          </a:prstGeom>
          <a:noFill/>
        </p:spPr>
        <p:txBody>
          <a:bodyPr wrap="square" anchor="t" lIns="0" rIns="0" tIns="0" bIns="0">
            <a:spAutoFit/>
          </a:bodyPr>
          <a:lstStyle/>
          <a:p>
            <a:pPr algn="r" rtl="1">
              <a:lnSpc>
                <a:spcPct val="112000"/>
              </a:lnSpc>
              <a:spcBef>
                <a:spcPts val="0"/>
              </a:spcBef>
              <a:spcAft>
                <a:spcPts val="400"/>
              </a:spcAft>
            </a:pPr>
            <a:r>
              <a:rPr sz="1450" b="1" i="0">
                <a:solidFill>
                  <a:srgbClr val="3E8E5A"/>
                </a:solidFill>
                <a:latin typeface="Dubai"/>
                <a:cs typeface="Dubai"/>
                <a:ea typeface="Dubai"/>
              </a:rPr>
              <a:t>النشر الأكاديمي  </a:t>
            </a:r>
            <a:r>
              <a:rPr sz="1300" b="0" i="0">
                <a:solidFill>
                  <a:srgbClr val="3E8E5A"/>
                </a:solidFill>
                <a:latin typeface="Dubai"/>
                <a:cs typeface="Dubai"/>
                <a:ea typeface="Dubai"/>
              </a:rPr>
              <a:t>📰</a:t>
            </a:r>
          </a:p>
        </p:txBody>
      </p:sp>
      <p:sp>
        <p:nvSpPr>
          <p:cNvPr id="29" name="TextBox 28"/>
          <p:cNvSpPr txBox="1"/>
          <p:nvPr/>
        </p:nvSpPr>
        <p:spPr>
          <a:xfrm>
            <a:off x="4545482" y="4782312"/>
            <a:ext cx="3055010" cy="1325880"/>
          </a:xfrm>
          <a:prstGeom prst="rect">
            <a:avLst/>
          </a:prstGeom>
          <a:noFill/>
        </p:spPr>
        <p:txBody>
          <a:bodyPr wrap="square" anchor="t" lIns="0" rIns="0" tIns="0" bIns="0">
            <a:spAutoFit/>
          </a:bodyPr>
          <a:lstStyle/>
          <a:p>
            <a:pPr algn="r" rtl="1">
              <a:lnSpc>
                <a:spcPct val="128000"/>
              </a:lnSpc>
              <a:spcBef>
                <a:spcPts val="0"/>
              </a:spcBef>
              <a:spcAft>
                <a:spcPts val="400"/>
              </a:spcAft>
            </a:pPr>
            <a:r>
              <a:rPr sz="1150" b="0" i="0">
                <a:solidFill>
                  <a:srgbClr val="18263B"/>
                </a:solidFill>
                <a:latin typeface="Dubai"/>
                <a:cs typeface="Dubai"/>
                <a:ea typeface="Dubai"/>
              </a:rPr>
              <a:t>المجلات المحكّمة تفضّل الأبحاث التي تعالج فجوات واضحة ومعلَنة منذ المقدمة</a:t>
            </a:r>
          </a:p>
        </p:txBody>
      </p:sp>
      <p:sp>
        <p:nvSpPr>
          <p:cNvPr id="30" name="Rounded Rectangle 29"/>
          <p:cNvSpPr/>
          <p:nvPr/>
        </p:nvSpPr>
        <p:spPr>
          <a:xfrm>
            <a:off x="502919" y="4069080"/>
            <a:ext cx="3557930" cy="2176272"/>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978554" y="4297680"/>
            <a:ext cx="82296" cy="1737360"/>
          </a:xfrm>
          <a:prstGeom prst="rect">
            <a:avLst/>
          </a:prstGeom>
          <a:solidFill>
            <a:srgbClr val="E4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19" y="4270248"/>
            <a:ext cx="3055010" cy="457200"/>
          </a:xfrm>
          <a:prstGeom prst="rect">
            <a:avLst/>
          </a:prstGeom>
          <a:noFill/>
        </p:spPr>
        <p:txBody>
          <a:bodyPr wrap="square" anchor="t" lIns="0" rIns="0" tIns="0" bIns="0">
            <a:spAutoFit/>
          </a:bodyPr>
          <a:lstStyle/>
          <a:p>
            <a:pPr algn="r" rtl="1">
              <a:lnSpc>
                <a:spcPct val="112000"/>
              </a:lnSpc>
              <a:spcBef>
                <a:spcPts val="0"/>
              </a:spcBef>
              <a:spcAft>
                <a:spcPts val="400"/>
              </a:spcAft>
            </a:pPr>
            <a:r>
              <a:rPr sz="1450" b="1" i="0">
                <a:solidFill>
                  <a:srgbClr val="E45A44"/>
                </a:solidFill>
                <a:latin typeface="Dubai"/>
                <a:cs typeface="Dubai"/>
                <a:ea typeface="Dubai"/>
              </a:rPr>
              <a:t>التمويل البحثي  </a:t>
            </a:r>
            <a:r>
              <a:rPr sz="1300" b="0" i="0">
                <a:solidFill>
                  <a:srgbClr val="E45A44"/>
                </a:solidFill>
                <a:latin typeface="Dubai"/>
                <a:cs typeface="Dubai"/>
                <a:ea typeface="Dubai"/>
              </a:rPr>
              <a:t>💰</a:t>
            </a:r>
          </a:p>
        </p:txBody>
      </p:sp>
      <p:sp>
        <p:nvSpPr>
          <p:cNvPr id="33" name="TextBox 32"/>
          <p:cNvSpPr txBox="1"/>
          <p:nvPr/>
        </p:nvSpPr>
        <p:spPr>
          <a:xfrm>
            <a:off x="731519" y="4782312"/>
            <a:ext cx="3055010" cy="1325880"/>
          </a:xfrm>
          <a:prstGeom prst="rect">
            <a:avLst/>
          </a:prstGeom>
          <a:noFill/>
        </p:spPr>
        <p:txBody>
          <a:bodyPr wrap="square" anchor="t" lIns="0" rIns="0" tIns="0" bIns="0">
            <a:spAutoFit/>
          </a:bodyPr>
          <a:lstStyle/>
          <a:p>
            <a:pPr algn="r" rtl="1">
              <a:lnSpc>
                <a:spcPct val="128000"/>
              </a:lnSpc>
              <a:spcBef>
                <a:spcPts val="0"/>
              </a:spcBef>
              <a:spcAft>
                <a:spcPts val="400"/>
              </a:spcAft>
            </a:pPr>
            <a:r>
              <a:rPr sz="1150" b="0" i="0">
                <a:solidFill>
                  <a:srgbClr val="18263B"/>
                </a:solidFill>
                <a:latin typeface="Dubai"/>
                <a:cs typeface="Dubai"/>
                <a:ea typeface="Dubai"/>
              </a:rPr>
              <a:t>الجهات الممولة تبحث عن مقترحات تسدّ فجوات حقيقية ذات أثر ملموس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0E9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865815" y="411480"/>
            <a:ext cx="822960" cy="822960"/>
          </a:xfrm>
          <a:prstGeom prst="roundRect">
            <a:avLst>
              <a:gd name="adj" fmla="val 28000"/>
            </a:avLst>
          </a:prstGeom>
          <a:solidFill>
            <a:srgbClr val="DDF1EE"/>
          </a:solidFill>
          <a:ln w="15240">
            <a:solidFill>
              <a:srgbClr val="0E9F8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3000" b="0" i="0">
                <a:solidFill>
                  <a:srgbClr val="0E9F8C"/>
                </a:solidFill>
                <a:latin typeface="Dubai"/>
                <a:cs typeface="Dubai"/>
                <a:ea typeface="Dubai"/>
              </a:rPr>
              <a:t>🔎</a:t>
            </a:r>
          </a:p>
        </p:txBody>
      </p:sp>
      <p:sp>
        <p:nvSpPr>
          <p:cNvPr id="5" name="TextBox 4"/>
          <p:cNvSpPr txBox="1"/>
          <p:nvPr/>
        </p:nvSpPr>
        <p:spPr>
          <a:xfrm>
            <a:off x="502920" y="365760"/>
            <a:ext cx="10180015" cy="566928"/>
          </a:xfrm>
          <a:prstGeom prst="rect">
            <a:avLst/>
          </a:prstGeom>
          <a:noFill/>
        </p:spPr>
        <p:txBody>
          <a:bodyPr wrap="square" anchor="t" lIns="0" rIns="0" tIns="0" bIns="0">
            <a:spAutoFit/>
          </a:bodyPr>
          <a:lstStyle/>
          <a:p>
            <a:pPr algn="r" rtl="1">
              <a:lnSpc>
                <a:spcPct val="112000"/>
              </a:lnSpc>
              <a:spcBef>
                <a:spcPts val="0"/>
              </a:spcBef>
              <a:spcAft>
                <a:spcPts val="400"/>
              </a:spcAft>
            </a:pPr>
            <a:r>
              <a:rPr sz="2700" b="1" i="0">
                <a:solidFill>
                  <a:srgbClr val="18263B"/>
                </a:solidFill>
                <a:latin typeface="Dubai"/>
                <a:cs typeface="Dubai"/>
                <a:ea typeface="Dubai"/>
              </a:rPr>
              <a:t>الأنواع الستة للفجوات البحثية</a:t>
            </a:r>
          </a:p>
        </p:txBody>
      </p:sp>
      <p:sp>
        <p:nvSpPr>
          <p:cNvPr id="6" name="TextBox 5"/>
          <p:cNvSpPr txBox="1"/>
          <p:nvPr/>
        </p:nvSpPr>
        <p:spPr>
          <a:xfrm>
            <a:off x="502920" y="969264"/>
            <a:ext cx="10180015" cy="365760"/>
          </a:xfrm>
          <a:prstGeom prst="rect">
            <a:avLst/>
          </a:prstGeom>
          <a:noFill/>
        </p:spPr>
        <p:txBody>
          <a:bodyPr wrap="square" anchor="t" lIns="0" rIns="0" tIns="0" bIns="0">
            <a:spAutoFit/>
          </a:bodyPr>
          <a:lstStyle/>
          <a:p>
            <a:pPr algn="r">
              <a:lnSpc>
                <a:spcPct val="112000"/>
              </a:lnSpc>
              <a:spcBef>
                <a:spcPts val="0"/>
              </a:spcBef>
              <a:spcAft>
                <a:spcPts val="400"/>
              </a:spcAft>
            </a:pPr>
            <a:r>
              <a:rPr sz="1250" b="0" i="1">
                <a:solidFill>
                  <a:srgbClr val="0E9F8C"/>
                </a:solidFill>
                <a:latin typeface="Dubai"/>
                <a:cs typeface="Dubai"/>
                <a:ea typeface="Dubai"/>
              </a:rPr>
              <a:t>Six Types of Research Gaps</a:t>
            </a:r>
          </a:p>
        </p:txBody>
      </p:sp>
      <p:sp>
        <p:nvSpPr>
          <p:cNvPr id="7" name="Rectangle 6"/>
          <p:cNvSpPr/>
          <p:nvPr/>
        </p:nvSpPr>
        <p:spPr>
          <a:xfrm>
            <a:off x="9128455" y="1389888"/>
            <a:ext cx="1554480" cy="45720"/>
          </a:xfrm>
          <a:prstGeom prst="rect">
            <a:avLst/>
          </a:prstGeom>
          <a:solidFill>
            <a:srgbClr val="0E9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3200400" cy="274320"/>
          </a:xfrm>
          <a:prstGeom prst="rect">
            <a:avLst/>
          </a:prstGeom>
          <a:noFill/>
        </p:spPr>
        <p:txBody>
          <a:bodyPr wrap="square" anchor="t" lIns="0" rIns="0" tIns="0" bIns="0">
            <a:spAutoFit/>
          </a:bodyPr>
          <a:lstStyle/>
          <a:p>
            <a:pPr algn="l">
              <a:lnSpc>
                <a:spcPct val="112000"/>
              </a:lnSpc>
              <a:spcBef>
                <a:spcPts val="0"/>
              </a:spcBef>
              <a:spcAft>
                <a:spcPts val="400"/>
              </a:spcAft>
            </a:pPr>
            <a:r>
              <a:rPr sz="1050" b="1" i="0">
                <a:solidFill>
                  <a:srgbClr val="0E9F8C"/>
                </a:solidFill>
                <a:latin typeface="Dubai"/>
                <a:cs typeface="Dubai"/>
                <a:ea typeface="Dubai"/>
              </a:rPr>
              <a:t>05</a:t>
            </a:r>
            <a:r>
              <a:rPr sz="900" b="0" i="0">
                <a:solidFill>
                  <a:srgbClr val="62748A"/>
                </a:solidFill>
                <a:latin typeface="Dubai"/>
                <a:cs typeface="Dubai"/>
                <a:ea typeface="Dubai"/>
              </a:rPr>
              <a:t>   Research Gaps — Dr. Hana Hossen Elahemer</a:t>
            </a:r>
          </a:p>
        </p:txBody>
      </p:sp>
      <p:sp>
        <p:nvSpPr>
          <p:cNvPr id="9" name="TextBox 8"/>
          <p:cNvSpPr txBox="1"/>
          <p:nvPr/>
        </p:nvSpPr>
        <p:spPr>
          <a:xfrm>
            <a:off x="8488375" y="6455664"/>
            <a:ext cx="3200400"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00" b="0" i="0">
                <a:solidFill>
                  <a:srgbClr val="62748A"/>
                </a:solidFill>
                <a:latin typeface="Dubai"/>
                <a:cs typeface="Dubai"/>
                <a:ea typeface="Dubai"/>
              </a:rPr>
              <a:t>الفجوات البحثية • ورشة عمل أكاديمية</a:t>
            </a:r>
          </a:p>
        </p:txBody>
      </p:sp>
      <p:sp>
        <p:nvSpPr>
          <p:cNvPr id="10" name="Rounded Rectangle 9"/>
          <p:cNvSpPr/>
          <p:nvPr/>
        </p:nvSpPr>
        <p:spPr>
          <a:xfrm>
            <a:off x="8130844" y="1691640"/>
            <a:ext cx="3557930" cy="2176272"/>
          </a:xfrm>
          <a:prstGeom prst="roundRect">
            <a:avLst>
              <a:gd name="adj" fmla="val 10000"/>
            </a:avLst>
          </a:prstGeom>
          <a:solidFill>
            <a:srgbClr val="FAF1F5"/>
          </a:solidFill>
          <a:ln w="13970">
            <a:solidFill>
              <a:srgbClr val="C23E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407" y="1874520"/>
            <a:ext cx="475488" cy="475488"/>
          </a:xfrm>
          <a:prstGeom prst="ellipse">
            <a:avLst/>
          </a:prstGeom>
          <a:solidFill>
            <a:srgbClr val="C23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FFFFF"/>
                </a:solidFill>
                <a:latin typeface="Dubai"/>
                <a:cs typeface="Dubai"/>
                <a:ea typeface="Dubai"/>
              </a:rPr>
              <a:t>١</a:t>
            </a:r>
          </a:p>
        </p:txBody>
      </p:sp>
      <p:sp>
        <p:nvSpPr>
          <p:cNvPr id="12" name="TextBox 11"/>
          <p:cNvSpPr txBox="1"/>
          <p:nvPr/>
        </p:nvSpPr>
        <p:spPr>
          <a:xfrm>
            <a:off x="8332012" y="1837944"/>
            <a:ext cx="2643530" cy="384048"/>
          </a:xfrm>
          <a:prstGeom prst="rect">
            <a:avLst/>
          </a:prstGeom>
          <a:noFill/>
        </p:spPr>
        <p:txBody>
          <a:bodyPr wrap="square" anchor="t" lIns="0" rIns="0" tIns="0" bIns="0">
            <a:spAutoFit/>
          </a:bodyPr>
          <a:lstStyle/>
          <a:p>
            <a:pPr algn="r" rtl="1">
              <a:lnSpc>
                <a:spcPct val="112000"/>
              </a:lnSpc>
              <a:spcBef>
                <a:spcPts val="0"/>
              </a:spcBef>
              <a:spcAft>
                <a:spcPts val="400"/>
              </a:spcAft>
            </a:pPr>
            <a:r>
              <a:rPr sz="1400" b="1" i="0">
                <a:solidFill>
                  <a:srgbClr val="C23E77"/>
                </a:solidFill>
                <a:latin typeface="Dubai"/>
                <a:cs typeface="Dubai"/>
                <a:ea typeface="Dubai"/>
              </a:rPr>
              <a:t>فجوة المعرفة</a:t>
            </a:r>
          </a:p>
        </p:txBody>
      </p:sp>
      <p:sp>
        <p:nvSpPr>
          <p:cNvPr id="13" name="TextBox 12"/>
          <p:cNvSpPr txBox="1"/>
          <p:nvPr/>
        </p:nvSpPr>
        <p:spPr>
          <a:xfrm>
            <a:off x="8332012" y="2221992"/>
            <a:ext cx="2643530" cy="292608"/>
          </a:xfrm>
          <a:prstGeom prst="rect">
            <a:avLst/>
          </a:prstGeom>
          <a:noFill/>
        </p:spPr>
        <p:txBody>
          <a:bodyPr wrap="square" anchor="t" lIns="0" rIns="0" tIns="0" bIns="0">
            <a:spAutoFit/>
          </a:bodyPr>
          <a:lstStyle/>
          <a:p>
            <a:pPr algn="r">
              <a:lnSpc>
                <a:spcPct val="112000"/>
              </a:lnSpc>
              <a:spcBef>
                <a:spcPts val="0"/>
              </a:spcBef>
              <a:spcAft>
                <a:spcPts val="400"/>
              </a:spcAft>
            </a:pPr>
            <a:r>
              <a:rPr sz="1050" b="0" i="1">
                <a:solidFill>
                  <a:srgbClr val="62748A"/>
                </a:solidFill>
                <a:latin typeface="Dubai"/>
                <a:cs typeface="Dubai"/>
                <a:ea typeface="Dubai"/>
              </a:rPr>
              <a:t>Knowledge Gap  💡</a:t>
            </a:r>
          </a:p>
        </p:txBody>
      </p:sp>
      <p:sp>
        <p:nvSpPr>
          <p:cNvPr id="14" name="TextBox 13"/>
          <p:cNvSpPr txBox="1"/>
          <p:nvPr/>
        </p:nvSpPr>
        <p:spPr>
          <a:xfrm>
            <a:off x="8350300" y="2587752"/>
            <a:ext cx="3119018" cy="777240"/>
          </a:xfrm>
          <a:prstGeom prst="rect">
            <a:avLst/>
          </a:prstGeom>
          <a:noFill/>
        </p:spPr>
        <p:txBody>
          <a:bodyPr wrap="square" anchor="t" lIns="0" rIns="0" tIns="0" bIns="0">
            <a:spAutoFit/>
          </a:bodyPr>
          <a:lstStyle/>
          <a:p>
            <a:pPr algn="r" rtl="1">
              <a:lnSpc>
                <a:spcPct val="122000"/>
              </a:lnSpc>
              <a:spcBef>
                <a:spcPts val="0"/>
              </a:spcBef>
              <a:spcAft>
                <a:spcPts val="400"/>
              </a:spcAft>
            </a:pPr>
            <a:r>
              <a:rPr sz="1100" b="0" i="0">
                <a:solidFill>
                  <a:srgbClr val="18263B"/>
                </a:solidFill>
                <a:latin typeface="Dubai"/>
                <a:cs typeface="Dubai"/>
                <a:ea typeface="Dubai"/>
              </a:rPr>
              <a:t>معلومة أو ظاهرة لا يعرفها العلم بعد في مجال معيّن</a:t>
            </a:r>
          </a:p>
        </p:txBody>
      </p:sp>
      <p:sp>
        <p:nvSpPr>
          <p:cNvPr id="15" name="TextBox 14"/>
          <p:cNvSpPr txBox="1"/>
          <p:nvPr/>
        </p:nvSpPr>
        <p:spPr>
          <a:xfrm>
            <a:off x="8350300" y="3410712"/>
            <a:ext cx="3119018" cy="384048"/>
          </a:xfrm>
          <a:prstGeom prst="rect">
            <a:avLst/>
          </a:prstGeom>
          <a:noFill/>
        </p:spPr>
        <p:txBody>
          <a:bodyPr wrap="square" anchor="t" lIns="0" rIns="0" tIns="0" bIns="0">
            <a:spAutoFit/>
          </a:bodyPr>
          <a:lstStyle/>
          <a:p>
            <a:pPr algn="r" rtl="1">
              <a:lnSpc>
                <a:spcPct val="112000"/>
              </a:lnSpc>
              <a:spcBef>
                <a:spcPts val="0"/>
              </a:spcBef>
              <a:spcAft>
                <a:spcPts val="400"/>
              </a:spcAft>
            </a:pPr>
            <a:r>
              <a:rPr sz="1050" b="1" i="0">
                <a:solidFill>
                  <a:srgbClr val="C23E77"/>
                </a:solidFill>
                <a:latin typeface="Dubai"/>
                <a:cs typeface="Dubai"/>
                <a:ea typeface="Dubai"/>
              </a:rPr>
              <a:t>السؤال: ماذا لا نعرف بعد؟</a:t>
            </a:r>
          </a:p>
        </p:txBody>
      </p:sp>
      <p:sp>
        <p:nvSpPr>
          <p:cNvPr id="16" name="Rounded Rectangle 15"/>
          <p:cNvSpPr/>
          <p:nvPr/>
        </p:nvSpPr>
        <p:spPr>
          <a:xfrm>
            <a:off x="4316882" y="1691640"/>
            <a:ext cx="3557930" cy="2176272"/>
          </a:xfrm>
          <a:prstGeom prst="roundRect">
            <a:avLst>
              <a:gd name="adj" fmla="val 10000"/>
            </a:avLst>
          </a:prstGeom>
          <a:solidFill>
            <a:srgbClr val="FCF8F0"/>
          </a:solidFill>
          <a:ln w="13970">
            <a:solidFill>
              <a:srgbClr val="DD9F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16444" y="1874520"/>
            <a:ext cx="475488" cy="475488"/>
          </a:xfrm>
          <a:prstGeom prst="ellipse">
            <a:avLst/>
          </a:prstGeom>
          <a:solidFill>
            <a:srgbClr val="DD9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FFFFF"/>
                </a:solidFill>
                <a:latin typeface="Dubai"/>
                <a:cs typeface="Dubai"/>
                <a:ea typeface="Dubai"/>
              </a:rPr>
              <a:t>٢</a:t>
            </a:r>
          </a:p>
        </p:txBody>
      </p:sp>
      <p:sp>
        <p:nvSpPr>
          <p:cNvPr id="18" name="TextBox 17"/>
          <p:cNvSpPr txBox="1"/>
          <p:nvPr/>
        </p:nvSpPr>
        <p:spPr>
          <a:xfrm>
            <a:off x="4518050" y="1837944"/>
            <a:ext cx="2643530" cy="384048"/>
          </a:xfrm>
          <a:prstGeom prst="rect">
            <a:avLst/>
          </a:prstGeom>
          <a:noFill/>
        </p:spPr>
        <p:txBody>
          <a:bodyPr wrap="square" anchor="t" lIns="0" rIns="0" tIns="0" bIns="0">
            <a:spAutoFit/>
          </a:bodyPr>
          <a:lstStyle/>
          <a:p>
            <a:pPr algn="r" rtl="1">
              <a:lnSpc>
                <a:spcPct val="112000"/>
              </a:lnSpc>
              <a:spcBef>
                <a:spcPts val="0"/>
              </a:spcBef>
              <a:spcAft>
                <a:spcPts val="400"/>
              </a:spcAft>
            </a:pPr>
            <a:r>
              <a:rPr sz="1400" b="1" i="0">
                <a:solidFill>
                  <a:srgbClr val="DD9F33"/>
                </a:solidFill>
                <a:latin typeface="Dubai"/>
                <a:cs typeface="Dubai"/>
                <a:ea typeface="Dubai"/>
              </a:rPr>
              <a:t>فجوة الممارسة</a:t>
            </a:r>
          </a:p>
        </p:txBody>
      </p:sp>
      <p:sp>
        <p:nvSpPr>
          <p:cNvPr id="19" name="TextBox 18"/>
          <p:cNvSpPr txBox="1"/>
          <p:nvPr/>
        </p:nvSpPr>
        <p:spPr>
          <a:xfrm>
            <a:off x="4518050" y="2221992"/>
            <a:ext cx="2643530" cy="292608"/>
          </a:xfrm>
          <a:prstGeom prst="rect">
            <a:avLst/>
          </a:prstGeom>
          <a:noFill/>
        </p:spPr>
        <p:txBody>
          <a:bodyPr wrap="square" anchor="t" lIns="0" rIns="0" tIns="0" bIns="0">
            <a:spAutoFit/>
          </a:bodyPr>
          <a:lstStyle/>
          <a:p>
            <a:pPr algn="r">
              <a:lnSpc>
                <a:spcPct val="112000"/>
              </a:lnSpc>
              <a:spcBef>
                <a:spcPts val="0"/>
              </a:spcBef>
              <a:spcAft>
                <a:spcPts val="400"/>
              </a:spcAft>
            </a:pPr>
            <a:r>
              <a:rPr sz="1050" b="0" i="1">
                <a:solidFill>
                  <a:srgbClr val="62748A"/>
                </a:solidFill>
                <a:latin typeface="Dubai"/>
                <a:cs typeface="Dubai"/>
                <a:ea typeface="Dubai"/>
              </a:rPr>
              <a:t>Practice Gap  ⚙️</a:t>
            </a:r>
          </a:p>
        </p:txBody>
      </p:sp>
      <p:sp>
        <p:nvSpPr>
          <p:cNvPr id="20" name="TextBox 19"/>
          <p:cNvSpPr txBox="1"/>
          <p:nvPr/>
        </p:nvSpPr>
        <p:spPr>
          <a:xfrm>
            <a:off x="4536338" y="2587752"/>
            <a:ext cx="3119018" cy="777240"/>
          </a:xfrm>
          <a:prstGeom prst="rect">
            <a:avLst/>
          </a:prstGeom>
          <a:noFill/>
        </p:spPr>
        <p:txBody>
          <a:bodyPr wrap="square" anchor="t" lIns="0" rIns="0" tIns="0" bIns="0">
            <a:spAutoFit/>
          </a:bodyPr>
          <a:lstStyle/>
          <a:p>
            <a:pPr algn="r" rtl="1">
              <a:lnSpc>
                <a:spcPct val="122000"/>
              </a:lnSpc>
              <a:spcBef>
                <a:spcPts val="0"/>
              </a:spcBef>
              <a:spcAft>
                <a:spcPts val="400"/>
              </a:spcAft>
            </a:pPr>
            <a:r>
              <a:rPr sz="1100" b="0" i="0">
                <a:solidFill>
                  <a:srgbClr val="18263B"/>
                </a:solidFill>
                <a:latin typeface="Dubai"/>
                <a:cs typeface="Dubai"/>
                <a:ea typeface="Dubai"/>
              </a:rPr>
              <a:t>الفجوة بين ما تقوله الأبحاث وما يحدث فعلاً في الميدان</a:t>
            </a:r>
          </a:p>
        </p:txBody>
      </p:sp>
      <p:sp>
        <p:nvSpPr>
          <p:cNvPr id="21" name="TextBox 20"/>
          <p:cNvSpPr txBox="1"/>
          <p:nvPr/>
        </p:nvSpPr>
        <p:spPr>
          <a:xfrm>
            <a:off x="4536338" y="3410712"/>
            <a:ext cx="3119018" cy="384048"/>
          </a:xfrm>
          <a:prstGeom prst="rect">
            <a:avLst/>
          </a:prstGeom>
          <a:noFill/>
        </p:spPr>
        <p:txBody>
          <a:bodyPr wrap="square" anchor="t" lIns="0" rIns="0" tIns="0" bIns="0">
            <a:spAutoFit/>
          </a:bodyPr>
          <a:lstStyle/>
          <a:p>
            <a:pPr algn="r" rtl="1">
              <a:lnSpc>
                <a:spcPct val="112000"/>
              </a:lnSpc>
              <a:spcBef>
                <a:spcPts val="0"/>
              </a:spcBef>
              <a:spcAft>
                <a:spcPts val="400"/>
              </a:spcAft>
            </a:pPr>
            <a:r>
              <a:rPr sz="1050" b="1" i="0">
                <a:solidFill>
                  <a:srgbClr val="DD9F33"/>
                </a:solidFill>
                <a:latin typeface="Dubai"/>
                <a:cs typeface="Dubai"/>
                <a:ea typeface="Dubai"/>
              </a:rPr>
              <a:t>السؤال: لماذا لا يُطبَّق ما نعرفه؟</a:t>
            </a:r>
          </a:p>
        </p:txBody>
      </p:sp>
      <p:sp>
        <p:nvSpPr>
          <p:cNvPr id="22" name="Rounded Rectangle 21"/>
          <p:cNvSpPr/>
          <p:nvPr/>
        </p:nvSpPr>
        <p:spPr>
          <a:xfrm>
            <a:off x="502919" y="1691640"/>
            <a:ext cx="3557930" cy="2176272"/>
          </a:xfrm>
          <a:prstGeom prst="roundRect">
            <a:avLst>
              <a:gd name="adj" fmla="val 10000"/>
            </a:avLst>
          </a:prstGeom>
          <a:solidFill>
            <a:srgbClr val="EEF8F6"/>
          </a:solidFill>
          <a:ln w="13970">
            <a:solidFill>
              <a:srgbClr val="0E9F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402482" y="1874520"/>
            <a:ext cx="475488" cy="475488"/>
          </a:xfrm>
          <a:prstGeom prst="ellipse">
            <a:avLst/>
          </a:prstGeom>
          <a:solidFill>
            <a:srgbClr val="0E9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FFFFF"/>
                </a:solidFill>
                <a:latin typeface="Dubai"/>
                <a:cs typeface="Dubai"/>
                <a:ea typeface="Dubai"/>
              </a:rPr>
              <a:t>٣</a:t>
            </a:r>
          </a:p>
        </p:txBody>
      </p:sp>
      <p:sp>
        <p:nvSpPr>
          <p:cNvPr id="24" name="TextBox 23"/>
          <p:cNvSpPr txBox="1"/>
          <p:nvPr/>
        </p:nvSpPr>
        <p:spPr>
          <a:xfrm>
            <a:off x="704087" y="1837944"/>
            <a:ext cx="2643530" cy="384048"/>
          </a:xfrm>
          <a:prstGeom prst="rect">
            <a:avLst/>
          </a:prstGeom>
          <a:noFill/>
        </p:spPr>
        <p:txBody>
          <a:bodyPr wrap="square" anchor="t" lIns="0" rIns="0" tIns="0" bIns="0">
            <a:spAutoFit/>
          </a:bodyPr>
          <a:lstStyle/>
          <a:p>
            <a:pPr algn="r" rtl="1">
              <a:lnSpc>
                <a:spcPct val="112000"/>
              </a:lnSpc>
              <a:spcBef>
                <a:spcPts val="0"/>
              </a:spcBef>
              <a:spcAft>
                <a:spcPts val="400"/>
              </a:spcAft>
            </a:pPr>
            <a:r>
              <a:rPr sz="1400" b="1" i="0">
                <a:solidFill>
                  <a:srgbClr val="0E9F8C"/>
                </a:solidFill>
                <a:latin typeface="Dubai"/>
                <a:cs typeface="Dubai"/>
                <a:ea typeface="Dubai"/>
              </a:rPr>
              <a:t>فجوة الأدلة</a:t>
            </a:r>
          </a:p>
        </p:txBody>
      </p:sp>
      <p:sp>
        <p:nvSpPr>
          <p:cNvPr id="25" name="TextBox 24"/>
          <p:cNvSpPr txBox="1"/>
          <p:nvPr/>
        </p:nvSpPr>
        <p:spPr>
          <a:xfrm>
            <a:off x="704087" y="2221992"/>
            <a:ext cx="2643530" cy="292608"/>
          </a:xfrm>
          <a:prstGeom prst="rect">
            <a:avLst/>
          </a:prstGeom>
          <a:noFill/>
        </p:spPr>
        <p:txBody>
          <a:bodyPr wrap="square" anchor="t" lIns="0" rIns="0" tIns="0" bIns="0">
            <a:spAutoFit/>
          </a:bodyPr>
          <a:lstStyle/>
          <a:p>
            <a:pPr algn="r">
              <a:lnSpc>
                <a:spcPct val="112000"/>
              </a:lnSpc>
              <a:spcBef>
                <a:spcPts val="0"/>
              </a:spcBef>
              <a:spcAft>
                <a:spcPts val="400"/>
              </a:spcAft>
            </a:pPr>
            <a:r>
              <a:rPr sz="1050" b="0" i="1">
                <a:solidFill>
                  <a:srgbClr val="62748A"/>
                </a:solidFill>
                <a:latin typeface="Dubai"/>
                <a:cs typeface="Dubai"/>
                <a:ea typeface="Dubai"/>
              </a:rPr>
              <a:t>Evidence Gap  🧪</a:t>
            </a:r>
          </a:p>
        </p:txBody>
      </p:sp>
      <p:sp>
        <p:nvSpPr>
          <p:cNvPr id="26" name="TextBox 25"/>
          <p:cNvSpPr txBox="1"/>
          <p:nvPr/>
        </p:nvSpPr>
        <p:spPr>
          <a:xfrm>
            <a:off x="722375" y="2587752"/>
            <a:ext cx="3119018" cy="777240"/>
          </a:xfrm>
          <a:prstGeom prst="rect">
            <a:avLst/>
          </a:prstGeom>
          <a:noFill/>
        </p:spPr>
        <p:txBody>
          <a:bodyPr wrap="square" anchor="t" lIns="0" rIns="0" tIns="0" bIns="0">
            <a:spAutoFit/>
          </a:bodyPr>
          <a:lstStyle/>
          <a:p>
            <a:pPr algn="r" rtl="1">
              <a:lnSpc>
                <a:spcPct val="122000"/>
              </a:lnSpc>
              <a:spcBef>
                <a:spcPts val="0"/>
              </a:spcBef>
              <a:spcAft>
                <a:spcPts val="400"/>
              </a:spcAft>
            </a:pPr>
            <a:r>
              <a:rPr sz="1100" b="0" i="0">
                <a:solidFill>
                  <a:srgbClr val="18263B"/>
                </a:solidFill>
                <a:latin typeface="Dubai"/>
                <a:cs typeface="Dubai"/>
                <a:ea typeface="Dubai"/>
              </a:rPr>
              <a:t>نقص الأدلة التجريبية اللازمة لدعم فرضية أو ادعاء معيّن</a:t>
            </a:r>
          </a:p>
        </p:txBody>
      </p:sp>
      <p:sp>
        <p:nvSpPr>
          <p:cNvPr id="27" name="TextBox 26"/>
          <p:cNvSpPr txBox="1"/>
          <p:nvPr/>
        </p:nvSpPr>
        <p:spPr>
          <a:xfrm>
            <a:off x="722375" y="3410712"/>
            <a:ext cx="3119018" cy="384048"/>
          </a:xfrm>
          <a:prstGeom prst="rect">
            <a:avLst/>
          </a:prstGeom>
          <a:noFill/>
        </p:spPr>
        <p:txBody>
          <a:bodyPr wrap="square" anchor="t" lIns="0" rIns="0" tIns="0" bIns="0">
            <a:spAutoFit/>
          </a:bodyPr>
          <a:lstStyle/>
          <a:p>
            <a:pPr algn="r" rtl="1">
              <a:lnSpc>
                <a:spcPct val="112000"/>
              </a:lnSpc>
              <a:spcBef>
                <a:spcPts val="0"/>
              </a:spcBef>
              <a:spcAft>
                <a:spcPts val="400"/>
              </a:spcAft>
            </a:pPr>
            <a:r>
              <a:rPr sz="1050" b="1" i="0">
                <a:solidFill>
                  <a:srgbClr val="0E9F8C"/>
                </a:solidFill>
                <a:latin typeface="Dubai"/>
                <a:cs typeface="Dubai"/>
                <a:ea typeface="Dubai"/>
              </a:rPr>
              <a:t>السؤال: أين الدليل العلمي؟</a:t>
            </a:r>
          </a:p>
        </p:txBody>
      </p:sp>
      <p:sp>
        <p:nvSpPr>
          <p:cNvPr id="28" name="Rounded Rectangle 27"/>
          <p:cNvSpPr/>
          <p:nvPr/>
        </p:nvSpPr>
        <p:spPr>
          <a:xfrm>
            <a:off x="8130844" y="4069080"/>
            <a:ext cx="3557930" cy="2176272"/>
          </a:xfrm>
          <a:prstGeom prst="roundRect">
            <a:avLst>
              <a:gd name="adj" fmla="val 10000"/>
            </a:avLst>
          </a:prstGeom>
          <a:solidFill>
            <a:srgbClr val="F4F4FC"/>
          </a:solidFill>
          <a:ln w="13970">
            <a:solidFill>
              <a:srgbClr val="6C63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1030407" y="4251960"/>
            <a:ext cx="475488" cy="475488"/>
          </a:xfrm>
          <a:prstGeom prst="ellipse">
            <a:avLst/>
          </a:prstGeom>
          <a:solidFill>
            <a:srgbClr val="6C6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FFFFF"/>
                </a:solidFill>
                <a:latin typeface="Dubai"/>
                <a:cs typeface="Dubai"/>
                <a:ea typeface="Dubai"/>
              </a:rPr>
              <a:t>٤</a:t>
            </a:r>
          </a:p>
        </p:txBody>
      </p:sp>
      <p:sp>
        <p:nvSpPr>
          <p:cNvPr id="30" name="TextBox 29"/>
          <p:cNvSpPr txBox="1"/>
          <p:nvPr/>
        </p:nvSpPr>
        <p:spPr>
          <a:xfrm>
            <a:off x="8332012" y="4215384"/>
            <a:ext cx="2643530" cy="384048"/>
          </a:xfrm>
          <a:prstGeom prst="rect">
            <a:avLst/>
          </a:prstGeom>
          <a:noFill/>
        </p:spPr>
        <p:txBody>
          <a:bodyPr wrap="square" anchor="t" lIns="0" rIns="0" tIns="0" bIns="0">
            <a:spAutoFit/>
          </a:bodyPr>
          <a:lstStyle/>
          <a:p>
            <a:pPr algn="r" rtl="1">
              <a:lnSpc>
                <a:spcPct val="112000"/>
              </a:lnSpc>
              <a:spcBef>
                <a:spcPts val="0"/>
              </a:spcBef>
              <a:spcAft>
                <a:spcPts val="400"/>
              </a:spcAft>
            </a:pPr>
            <a:r>
              <a:rPr sz="1400" b="1" i="0">
                <a:solidFill>
                  <a:srgbClr val="6C63D8"/>
                </a:solidFill>
                <a:latin typeface="Dubai"/>
                <a:cs typeface="Dubai"/>
                <a:ea typeface="Dubai"/>
              </a:rPr>
              <a:t>فجوة السكان</a:t>
            </a:r>
          </a:p>
        </p:txBody>
      </p:sp>
      <p:sp>
        <p:nvSpPr>
          <p:cNvPr id="31" name="TextBox 30"/>
          <p:cNvSpPr txBox="1"/>
          <p:nvPr/>
        </p:nvSpPr>
        <p:spPr>
          <a:xfrm>
            <a:off x="8332012" y="4599432"/>
            <a:ext cx="2643530" cy="292608"/>
          </a:xfrm>
          <a:prstGeom prst="rect">
            <a:avLst/>
          </a:prstGeom>
          <a:noFill/>
        </p:spPr>
        <p:txBody>
          <a:bodyPr wrap="square" anchor="t" lIns="0" rIns="0" tIns="0" bIns="0">
            <a:spAutoFit/>
          </a:bodyPr>
          <a:lstStyle/>
          <a:p>
            <a:pPr algn="r">
              <a:lnSpc>
                <a:spcPct val="112000"/>
              </a:lnSpc>
              <a:spcBef>
                <a:spcPts val="0"/>
              </a:spcBef>
              <a:spcAft>
                <a:spcPts val="400"/>
              </a:spcAft>
            </a:pPr>
            <a:r>
              <a:rPr sz="1050" b="0" i="1">
                <a:solidFill>
                  <a:srgbClr val="62748A"/>
                </a:solidFill>
                <a:latin typeface="Dubai"/>
                <a:cs typeface="Dubai"/>
                <a:ea typeface="Dubai"/>
              </a:rPr>
              <a:t>Population Gap  👥</a:t>
            </a:r>
          </a:p>
        </p:txBody>
      </p:sp>
      <p:sp>
        <p:nvSpPr>
          <p:cNvPr id="32" name="TextBox 31"/>
          <p:cNvSpPr txBox="1"/>
          <p:nvPr/>
        </p:nvSpPr>
        <p:spPr>
          <a:xfrm>
            <a:off x="8350300" y="4965192"/>
            <a:ext cx="3119018" cy="777240"/>
          </a:xfrm>
          <a:prstGeom prst="rect">
            <a:avLst/>
          </a:prstGeom>
          <a:noFill/>
        </p:spPr>
        <p:txBody>
          <a:bodyPr wrap="square" anchor="t" lIns="0" rIns="0" tIns="0" bIns="0">
            <a:spAutoFit/>
          </a:bodyPr>
          <a:lstStyle/>
          <a:p>
            <a:pPr algn="r" rtl="1">
              <a:lnSpc>
                <a:spcPct val="122000"/>
              </a:lnSpc>
              <a:spcBef>
                <a:spcPts val="0"/>
              </a:spcBef>
              <a:spcAft>
                <a:spcPts val="400"/>
              </a:spcAft>
            </a:pPr>
            <a:r>
              <a:rPr sz="1100" b="0" i="0">
                <a:solidFill>
                  <a:srgbClr val="18263B"/>
                </a:solidFill>
                <a:latin typeface="Dubai"/>
                <a:cs typeface="Dubai"/>
                <a:ea typeface="Dubai"/>
              </a:rPr>
              <a:t>مجموعة لم تُدرس بكفاية: جنس، عمر، ثقافة، أو فئة مهنية</a:t>
            </a:r>
          </a:p>
        </p:txBody>
      </p:sp>
      <p:sp>
        <p:nvSpPr>
          <p:cNvPr id="33" name="TextBox 32"/>
          <p:cNvSpPr txBox="1"/>
          <p:nvPr/>
        </p:nvSpPr>
        <p:spPr>
          <a:xfrm>
            <a:off x="8350300" y="5788152"/>
            <a:ext cx="3119018" cy="384048"/>
          </a:xfrm>
          <a:prstGeom prst="rect">
            <a:avLst/>
          </a:prstGeom>
          <a:noFill/>
        </p:spPr>
        <p:txBody>
          <a:bodyPr wrap="square" anchor="t" lIns="0" rIns="0" tIns="0" bIns="0">
            <a:spAutoFit/>
          </a:bodyPr>
          <a:lstStyle/>
          <a:p>
            <a:pPr algn="r" rtl="1">
              <a:lnSpc>
                <a:spcPct val="112000"/>
              </a:lnSpc>
              <a:spcBef>
                <a:spcPts val="0"/>
              </a:spcBef>
              <a:spcAft>
                <a:spcPts val="400"/>
              </a:spcAft>
            </a:pPr>
            <a:r>
              <a:rPr sz="1050" b="1" i="0">
                <a:solidFill>
                  <a:srgbClr val="6C63D8"/>
                </a:solidFill>
                <a:latin typeface="Dubai"/>
                <a:cs typeface="Dubai"/>
                <a:ea typeface="Dubai"/>
              </a:rPr>
              <a:t>السؤال: مَن الذي أُهمل من الدراسة؟</a:t>
            </a:r>
          </a:p>
        </p:txBody>
      </p:sp>
      <p:sp>
        <p:nvSpPr>
          <p:cNvPr id="34" name="Rounded Rectangle 33"/>
          <p:cNvSpPr/>
          <p:nvPr/>
        </p:nvSpPr>
        <p:spPr>
          <a:xfrm>
            <a:off x="4316882" y="4069080"/>
            <a:ext cx="3557930" cy="2176272"/>
          </a:xfrm>
          <a:prstGeom prst="roundRect">
            <a:avLst>
              <a:gd name="adj" fmla="val 10000"/>
            </a:avLst>
          </a:prstGeom>
          <a:solidFill>
            <a:srgbClr val="FDF3F1"/>
          </a:solidFill>
          <a:ln w="13970">
            <a:solidFill>
              <a:srgbClr val="E45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216444" y="4251960"/>
            <a:ext cx="475488" cy="475488"/>
          </a:xfrm>
          <a:prstGeom prst="ellipse">
            <a:avLst/>
          </a:prstGeom>
          <a:solidFill>
            <a:srgbClr val="E4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FFFFF"/>
                </a:solidFill>
                <a:latin typeface="Dubai"/>
                <a:cs typeface="Dubai"/>
                <a:ea typeface="Dubai"/>
              </a:rPr>
              <a:t>٥</a:t>
            </a:r>
          </a:p>
        </p:txBody>
      </p:sp>
      <p:sp>
        <p:nvSpPr>
          <p:cNvPr id="36" name="TextBox 35"/>
          <p:cNvSpPr txBox="1"/>
          <p:nvPr/>
        </p:nvSpPr>
        <p:spPr>
          <a:xfrm>
            <a:off x="4518050" y="4215384"/>
            <a:ext cx="2643530" cy="384048"/>
          </a:xfrm>
          <a:prstGeom prst="rect">
            <a:avLst/>
          </a:prstGeom>
          <a:noFill/>
        </p:spPr>
        <p:txBody>
          <a:bodyPr wrap="square" anchor="t" lIns="0" rIns="0" tIns="0" bIns="0">
            <a:spAutoFit/>
          </a:bodyPr>
          <a:lstStyle/>
          <a:p>
            <a:pPr algn="r" rtl="1">
              <a:lnSpc>
                <a:spcPct val="112000"/>
              </a:lnSpc>
              <a:spcBef>
                <a:spcPts val="0"/>
              </a:spcBef>
              <a:spcAft>
                <a:spcPts val="400"/>
              </a:spcAft>
            </a:pPr>
            <a:r>
              <a:rPr sz="1400" b="1" i="0">
                <a:solidFill>
                  <a:srgbClr val="E45A44"/>
                </a:solidFill>
                <a:latin typeface="Dubai"/>
                <a:cs typeface="Dubai"/>
                <a:ea typeface="Dubai"/>
              </a:rPr>
              <a:t>فجوة المنهجية</a:t>
            </a:r>
          </a:p>
        </p:txBody>
      </p:sp>
      <p:sp>
        <p:nvSpPr>
          <p:cNvPr id="37" name="TextBox 36"/>
          <p:cNvSpPr txBox="1"/>
          <p:nvPr/>
        </p:nvSpPr>
        <p:spPr>
          <a:xfrm>
            <a:off x="4518050" y="4599432"/>
            <a:ext cx="2643530" cy="292608"/>
          </a:xfrm>
          <a:prstGeom prst="rect">
            <a:avLst/>
          </a:prstGeom>
          <a:noFill/>
        </p:spPr>
        <p:txBody>
          <a:bodyPr wrap="square" anchor="t" lIns="0" rIns="0" tIns="0" bIns="0">
            <a:spAutoFit/>
          </a:bodyPr>
          <a:lstStyle/>
          <a:p>
            <a:pPr algn="r">
              <a:lnSpc>
                <a:spcPct val="112000"/>
              </a:lnSpc>
              <a:spcBef>
                <a:spcPts val="0"/>
              </a:spcBef>
              <a:spcAft>
                <a:spcPts val="400"/>
              </a:spcAft>
            </a:pPr>
            <a:r>
              <a:rPr sz="1050" b="0" i="1">
                <a:solidFill>
                  <a:srgbClr val="62748A"/>
                </a:solidFill>
                <a:latin typeface="Dubai"/>
                <a:cs typeface="Dubai"/>
                <a:ea typeface="Dubai"/>
              </a:rPr>
              <a:t>Methodological Gap  🧩</a:t>
            </a:r>
          </a:p>
        </p:txBody>
      </p:sp>
      <p:sp>
        <p:nvSpPr>
          <p:cNvPr id="38" name="TextBox 37"/>
          <p:cNvSpPr txBox="1"/>
          <p:nvPr/>
        </p:nvSpPr>
        <p:spPr>
          <a:xfrm>
            <a:off x="4536338" y="4965192"/>
            <a:ext cx="3119018" cy="777240"/>
          </a:xfrm>
          <a:prstGeom prst="rect">
            <a:avLst/>
          </a:prstGeom>
          <a:noFill/>
        </p:spPr>
        <p:txBody>
          <a:bodyPr wrap="square" anchor="t" lIns="0" rIns="0" tIns="0" bIns="0">
            <a:spAutoFit/>
          </a:bodyPr>
          <a:lstStyle/>
          <a:p>
            <a:pPr algn="r" rtl="1">
              <a:lnSpc>
                <a:spcPct val="122000"/>
              </a:lnSpc>
              <a:spcBef>
                <a:spcPts val="0"/>
              </a:spcBef>
              <a:spcAft>
                <a:spcPts val="400"/>
              </a:spcAft>
            </a:pPr>
            <a:r>
              <a:rPr sz="1100" b="0" i="0">
                <a:solidFill>
                  <a:srgbClr val="18263B"/>
                </a:solidFill>
                <a:latin typeface="Dubai"/>
                <a:cs typeface="Dubai"/>
                <a:ea typeface="Dubai"/>
              </a:rPr>
              <a:t>مناهج مختلفة قد تكشف نتائج جديدة تماماً عن نفس الموضوع</a:t>
            </a:r>
          </a:p>
        </p:txBody>
      </p:sp>
      <p:sp>
        <p:nvSpPr>
          <p:cNvPr id="39" name="TextBox 38"/>
          <p:cNvSpPr txBox="1"/>
          <p:nvPr/>
        </p:nvSpPr>
        <p:spPr>
          <a:xfrm>
            <a:off x="4536338" y="5788152"/>
            <a:ext cx="3119018" cy="384048"/>
          </a:xfrm>
          <a:prstGeom prst="rect">
            <a:avLst/>
          </a:prstGeom>
          <a:noFill/>
        </p:spPr>
        <p:txBody>
          <a:bodyPr wrap="square" anchor="t" lIns="0" rIns="0" tIns="0" bIns="0">
            <a:spAutoFit/>
          </a:bodyPr>
          <a:lstStyle/>
          <a:p>
            <a:pPr algn="r" rtl="1">
              <a:lnSpc>
                <a:spcPct val="112000"/>
              </a:lnSpc>
              <a:spcBef>
                <a:spcPts val="0"/>
              </a:spcBef>
              <a:spcAft>
                <a:spcPts val="400"/>
              </a:spcAft>
            </a:pPr>
            <a:r>
              <a:rPr sz="1050" b="1" i="0">
                <a:solidFill>
                  <a:srgbClr val="E45A44"/>
                </a:solidFill>
                <a:latin typeface="Dubai"/>
                <a:cs typeface="Dubai"/>
                <a:ea typeface="Dubai"/>
              </a:rPr>
              <a:t>السؤال: ماذا لو بحثنا بطريقة أخرى؟</a:t>
            </a:r>
          </a:p>
        </p:txBody>
      </p:sp>
      <p:sp>
        <p:nvSpPr>
          <p:cNvPr id="40" name="Rounded Rectangle 39"/>
          <p:cNvSpPr/>
          <p:nvPr/>
        </p:nvSpPr>
        <p:spPr>
          <a:xfrm>
            <a:off x="502919" y="4069080"/>
            <a:ext cx="3557930" cy="2176272"/>
          </a:xfrm>
          <a:prstGeom prst="roundRect">
            <a:avLst>
              <a:gd name="adj" fmla="val 10000"/>
            </a:avLst>
          </a:prstGeom>
          <a:solidFill>
            <a:srgbClr val="F1F7F3"/>
          </a:solidFill>
          <a:ln w="13970">
            <a:solidFill>
              <a:srgbClr val="3E8E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402482" y="4251960"/>
            <a:ext cx="475488" cy="475488"/>
          </a:xfrm>
          <a:prstGeom prst="ellipse">
            <a:avLst/>
          </a:prstGeom>
          <a:solidFill>
            <a:srgbClr val="3E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FFFFF"/>
                </a:solidFill>
                <a:latin typeface="Dubai"/>
                <a:cs typeface="Dubai"/>
                <a:ea typeface="Dubai"/>
              </a:rPr>
              <a:t>٦</a:t>
            </a:r>
          </a:p>
        </p:txBody>
      </p:sp>
      <p:sp>
        <p:nvSpPr>
          <p:cNvPr id="42" name="TextBox 41"/>
          <p:cNvSpPr txBox="1"/>
          <p:nvPr/>
        </p:nvSpPr>
        <p:spPr>
          <a:xfrm>
            <a:off x="704087" y="4215384"/>
            <a:ext cx="2643530" cy="384048"/>
          </a:xfrm>
          <a:prstGeom prst="rect">
            <a:avLst/>
          </a:prstGeom>
          <a:noFill/>
        </p:spPr>
        <p:txBody>
          <a:bodyPr wrap="square" anchor="t" lIns="0" rIns="0" tIns="0" bIns="0">
            <a:spAutoFit/>
          </a:bodyPr>
          <a:lstStyle/>
          <a:p>
            <a:pPr algn="r" rtl="1">
              <a:lnSpc>
                <a:spcPct val="112000"/>
              </a:lnSpc>
              <a:spcBef>
                <a:spcPts val="0"/>
              </a:spcBef>
              <a:spcAft>
                <a:spcPts val="400"/>
              </a:spcAft>
            </a:pPr>
            <a:r>
              <a:rPr sz="1400" b="1" i="0">
                <a:solidFill>
                  <a:srgbClr val="3E8E5A"/>
                </a:solidFill>
                <a:latin typeface="Dubai"/>
                <a:cs typeface="Dubai"/>
                <a:ea typeface="Dubai"/>
              </a:rPr>
              <a:t>فجوة الزمن</a:t>
            </a:r>
          </a:p>
        </p:txBody>
      </p:sp>
      <p:sp>
        <p:nvSpPr>
          <p:cNvPr id="43" name="TextBox 42"/>
          <p:cNvSpPr txBox="1"/>
          <p:nvPr/>
        </p:nvSpPr>
        <p:spPr>
          <a:xfrm>
            <a:off x="704087" y="4599432"/>
            <a:ext cx="2643530" cy="292608"/>
          </a:xfrm>
          <a:prstGeom prst="rect">
            <a:avLst/>
          </a:prstGeom>
          <a:noFill/>
        </p:spPr>
        <p:txBody>
          <a:bodyPr wrap="square" anchor="t" lIns="0" rIns="0" tIns="0" bIns="0">
            <a:spAutoFit/>
          </a:bodyPr>
          <a:lstStyle/>
          <a:p>
            <a:pPr algn="r">
              <a:lnSpc>
                <a:spcPct val="112000"/>
              </a:lnSpc>
              <a:spcBef>
                <a:spcPts val="0"/>
              </a:spcBef>
              <a:spcAft>
                <a:spcPts val="400"/>
              </a:spcAft>
            </a:pPr>
            <a:r>
              <a:rPr sz="1050" b="0" i="1">
                <a:solidFill>
                  <a:srgbClr val="62748A"/>
                </a:solidFill>
                <a:latin typeface="Dubai"/>
                <a:cs typeface="Dubai"/>
                <a:ea typeface="Dubai"/>
              </a:rPr>
              <a:t>Temporal Gap  ⏳</a:t>
            </a:r>
          </a:p>
        </p:txBody>
      </p:sp>
      <p:sp>
        <p:nvSpPr>
          <p:cNvPr id="44" name="TextBox 43"/>
          <p:cNvSpPr txBox="1"/>
          <p:nvPr/>
        </p:nvSpPr>
        <p:spPr>
          <a:xfrm>
            <a:off x="722375" y="4965192"/>
            <a:ext cx="3119018" cy="777240"/>
          </a:xfrm>
          <a:prstGeom prst="rect">
            <a:avLst/>
          </a:prstGeom>
          <a:noFill/>
        </p:spPr>
        <p:txBody>
          <a:bodyPr wrap="square" anchor="t" lIns="0" rIns="0" tIns="0" bIns="0">
            <a:spAutoFit/>
          </a:bodyPr>
          <a:lstStyle/>
          <a:p>
            <a:pPr algn="r" rtl="1">
              <a:lnSpc>
                <a:spcPct val="122000"/>
              </a:lnSpc>
              <a:spcBef>
                <a:spcPts val="0"/>
              </a:spcBef>
              <a:spcAft>
                <a:spcPts val="400"/>
              </a:spcAft>
            </a:pPr>
            <a:r>
              <a:rPr sz="1100" b="0" i="0">
                <a:solidFill>
                  <a:srgbClr val="18263B"/>
                </a:solidFill>
                <a:latin typeface="Dubai"/>
                <a:cs typeface="Dubai"/>
                <a:ea typeface="Dubai"/>
              </a:rPr>
              <a:t>دراسات قديمة لم تعد تواكب التغيرات والمستجدات الحديثة</a:t>
            </a:r>
          </a:p>
        </p:txBody>
      </p:sp>
      <p:sp>
        <p:nvSpPr>
          <p:cNvPr id="45" name="TextBox 44"/>
          <p:cNvSpPr txBox="1"/>
          <p:nvPr/>
        </p:nvSpPr>
        <p:spPr>
          <a:xfrm>
            <a:off x="722375" y="5788152"/>
            <a:ext cx="3119018" cy="384048"/>
          </a:xfrm>
          <a:prstGeom prst="rect">
            <a:avLst/>
          </a:prstGeom>
          <a:noFill/>
        </p:spPr>
        <p:txBody>
          <a:bodyPr wrap="square" anchor="t" lIns="0" rIns="0" tIns="0" bIns="0">
            <a:spAutoFit/>
          </a:bodyPr>
          <a:lstStyle/>
          <a:p>
            <a:pPr algn="r" rtl="1">
              <a:lnSpc>
                <a:spcPct val="112000"/>
              </a:lnSpc>
              <a:spcBef>
                <a:spcPts val="0"/>
              </a:spcBef>
              <a:spcAft>
                <a:spcPts val="400"/>
              </a:spcAft>
            </a:pPr>
            <a:r>
              <a:rPr sz="1050" b="1" i="0">
                <a:solidFill>
                  <a:srgbClr val="3E8E5A"/>
                </a:solidFill>
                <a:latin typeface="Dubai"/>
                <a:cs typeface="Dubai"/>
                <a:ea typeface="Dubai"/>
              </a:rPr>
              <a:t>السؤال: هل ما زالت النتائج صحيحة اليوم؟</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6C6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865815" y="411480"/>
            <a:ext cx="822960" cy="822960"/>
          </a:xfrm>
          <a:prstGeom prst="roundRect">
            <a:avLst>
              <a:gd name="adj" fmla="val 28000"/>
            </a:avLst>
          </a:prstGeom>
          <a:solidFill>
            <a:srgbClr val="EAE9F9"/>
          </a:solidFill>
          <a:ln w="15240">
            <a:solidFill>
              <a:srgbClr val="6C63D8"/>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3000" b="0" i="0">
                <a:solidFill>
                  <a:srgbClr val="6C63D8"/>
                </a:solidFill>
                <a:latin typeface="Dubai"/>
                <a:cs typeface="Dubai"/>
                <a:ea typeface="Dubai"/>
              </a:rPr>
              <a:t>📚</a:t>
            </a:r>
          </a:p>
        </p:txBody>
      </p:sp>
      <p:sp>
        <p:nvSpPr>
          <p:cNvPr id="5" name="TextBox 4"/>
          <p:cNvSpPr txBox="1"/>
          <p:nvPr/>
        </p:nvSpPr>
        <p:spPr>
          <a:xfrm>
            <a:off x="502920" y="365760"/>
            <a:ext cx="10180015" cy="566928"/>
          </a:xfrm>
          <a:prstGeom prst="rect">
            <a:avLst/>
          </a:prstGeom>
          <a:noFill/>
        </p:spPr>
        <p:txBody>
          <a:bodyPr wrap="square" anchor="t" lIns="0" rIns="0" tIns="0" bIns="0">
            <a:spAutoFit/>
          </a:bodyPr>
          <a:lstStyle/>
          <a:p>
            <a:pPr algn="r" rtl="1">
              <a:lnSpc>
                <a:spcPct val="112000"/>
              </a:lnSpc>
              <a:spcBef>
                <a:spcPts val="0"/>
              </a:spcBef>
              <a:spcAft>
                <a:spcPts val="400"/>
              </a:spcAft>
            </a:pPr>
            <a:r>
              <a:rPr sz="2700" b="1" i="0">
                <a:solidFill>
                  <a:srgbClr val="18263B"/>
                </a:solidFill>
                <a:latin typeface="Dubai"/>
                <a:cs typeface="Dubai"/>
                <a:ea typeface="Dubai"/>
              </a:rPr>
              <a:t>أمثلة تطبيقية لكل نوع من الفجوات</a:t>
            </a:r>
          </a:p>
        </p:txBody>
      </p:sp>
      <p:sp>
        <p:nvSpPr>
          <p:cNvPr id="6" name="TextBox 5"/>
          <p:cNvSpPr txBox="1"/>
          <p:nvPr/>
        </p:nvSpPr>
        <p:spPr>
          <a:xfrm>
            <a:off x="502920" y="969264"/>
            <a:ext cx="10180015" cy="365760"/>
          </a:xfrm>
          <a:prstGeom prst="rect">
            <a:avLst/>
          </a:prstGeom>
          <a:noFill/>
        </p:spPr>
        <p:txBody>
          <a:bodyPr wrap="square" anchor="t" lIns="0" rIns="0" tIns="0" bIns="0">
            <a:spAutoFit/>
          </a:bodyPr>
          <a:lstStyle/>
          <a:p>
            <a:pPr algn="r">
              <a:lnSpc>
                <a:spcPct val="112000"/>
              </a:lnSpc>
              <a:spcBef>
                <a:spcPts val="0"/>
              </a:spcBef>
              <a:spcAft>
                <a:spcPts val="400"/>
              </a:spcAft>
            </a:pPr>
            <a:r>
              <a:rPr sz="1250" b="0" i="1">
                <a:solidFill>
                  <a:srgbClr val="6C63D8"/>
                </a:solidFill>
                <a:latin typeface="Dubai"/>
                <a:cs typeface="Dubai"/>
                <a:ea typeface="Dubai"/>
              </a:rPr>
              <a:t>Practical, Real-World Examples</a:t>
            </a:r>
          </a:p>
        </p:txBody>
      </p:sp>
      <p:sp>
        <p:nvSpPr>
          <p:cNvPr id="7" name="Rectangle 6"/>
          <p:cNvSpPr/>
          <p:nvPr/>
        </p:nvSpPr>
        <p:spPr>
          <a:xfrm>
            <a:off x="9128455" y="1389888"/>
            <a:ext cx="1554480" cy="45720"/>
          </a:xfrm>
          <a:prstGeom prst="rect">
            <a:avLst/>
          </a:prstGeom>
          <a:solidFill>
            <a:srgbClr val="6C6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3200400" cy="274320"/>
          </a:xfrm>
          <a:prstGeom prst="rect">
            <a:avLst/>
          </a:prstGeom>
          <a:noFill/>
        </p:spPr>
        <p:txBody>
          <a:bodyPr wrap="square" anchor="t" lIns="0" rIns="0" tIns="0" bIns="0">
            <a:spAutoFit/>
          </a:bodyPr>
          <a:lstStyle/>
          <a:p>
            <a:pPr algn="l">
              <a:lnSpc>
                <a:spcPct val="112000"/>
              </a:lnSpc>
              <a:spcBef>
                <a:spcPts val="0"/>
              </a:spcBef>
              <a:spcAft>
                <a:spcPts val="400"/>
              </a:spcAft>
            </a:pPr>
            <a:r>
              <a:rPr sz="1050" b="1" i="0">
                <a:solidFill>
                  <a:srgbClr val="6C63D8"/>
                </a:solidFill>
                <a:latin typeface="Dubai"/>
                <a:cs typeface="Dubai"/>
                <a:ea typeface="Dubai"/>
              </a:rPr>
              <a:t>06</a:t>
            </a:r>
            <a:r>
              <a:rPr sz="900" b="0" i="0">
                <a:solidFill>
                  <a:srgbClr val="62748A"/>
                </a:solidFill>
                <a:latin typeface="Dubai"/>
                <a:cs typeface="Dubai"/>
                <a:ea typeface="Dubai"/>
              </a:rPr>
              <a:t>   Research Gaps — Dr. Hana Hossen Elahemer</a:t>
            </a:r>
          </a:p>
        </p:txBody>
      </p:sp>
      <p:sp>
        <p:nvSpPr>
          <p:cNvPr id="9" name="TextBox 8"/>
          <p:cNvSpPr txBox="1"/>
          <p:nvPr/>
        </p:nvSpPr>
        <p:spPr>
          <a:xfrm>
            <a:off x="8488375" y="6455664"/>
            <a:ext cx="3200400"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00" b="0" i="0">
                <a:solidFill>
                  <a:srgbClr val="62748A"/>
                </a:solidFill>
                <a:latin typeface="Dubai"/>
                <a:cs typeface="Dubai"/>
                <a:ea typeface="Dubai"/>
              </a:rPr>
              <a:t>الفجوات البحثية • ورشة عمل أكاديمية</a:t>
            </a:r>
          </a:p>
        </p:txBody>
      </p:sp>
      <p:sp>
        <p:nvSpPr>
          <p:cNvPr id="10" name="Rounded Rectangle 9"/>
          <p:cNvSpPr/>
          <p:nvPr/>
        </p:nvSpPr>
        <p:spPr>
          <a:xfrm>
            <a:off x="502920" y="1664208"/>
            <a:ext cx="11185855" cy="685800"/>
          </a:xfrm>
          <a:prstGeom prst="roundRect">
            <a:avLst>
              <a:gd name="adj" fmla="val 22000"/>
            </a:avLst>
          </a:prstGeom>
          <a:solidFill>
            <a:srgbClr val="FBF3F6"/>
          </a:solidFill>
          <a:ln w="12700">
            <a:solidFill>
              <a:srgbClr val="DD9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454335" y="1783080"/>
            <a:ext cx="1097280" cy="448056"/>
          </a:xfrm>
          <a:prstGeom prst="roundRect">
            <a:avLst>
              <a:gd name="adj" fmla="val 50000"/>
            </a:avLst>
          </a:prstGeom>
          <a:solidFill>
            <a:srgbClr val="C23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rtl="1"/>
            <a:r>
              <a:rPr sz="1150" b="1" i="0">
                <a:solidFill>
                  <a:srgbClr val="FFFFFF"/>
                </a:solidFill>
                <a:latin typeface="Dubai"/>
                <a:cs typeface="Dubai"/>
                <a:ea typeface="Dubai"/>
              </a:rPr>
              <a:t>معرفة</a:t>
            </a:r>
          </a:p>
        </p:txBody>
      </p:sp>
      <p:sp>
        <p:nvSpPr>
          <p:cNvPr id="12" name="TextBox 11"/>
          <p:cNvSpPr txBox="1"/>
          <p:nvPr/>
        </p:nvSpPr>
        <p:spPr>
          <a:xfrm>
            <a:off x="777240" y="1732788"/>
            <a:ext cx="9402775" cy="320040"/>
          </a:xfrm>
          <a:prstGeom prst="rect">
            <a:avLst/>
          </a:prstGeom>
          <a:noFill/>
        </p:spPr>
        <p:txBody>
          <a:bodyPr wrap="square" anchor="t" lIns="0" rIns="0" tIns="0" bIns="0">
            <a:spAutoFit/>
          </a:bodyPr>
          <a:lstStyle/>
          <a:p>
            <a:pPr algn="r" rtl="1">
              <a:lnSpc>
                <a:spcPct val="112000"/>
              </a:lnSpc>
              <a:spcBef>
                <a:spcPts val="0"/>
              </a:spcBef>
              <a:spcAft>
                <a:spcPts val="400"/>
              </a:spcAft>
            </a:pPr>
            <a:r>
              <a:rPr sz="1150" b="1" i="0">
                <a:solidFill>
                  <a:srgbClr val="18263B"/>
                </a:solidFill>
                <a:latin typeface="Dubai"/>
                <a:cs typeface="Dubai"/>
                <a:ea typeface="Dubai"/>
              </a:rPr>
              <a:t>لم تُدرس تأثيرات الذكاء الاصطناعي على القرارات الأخلاقية في القطاع الصحي العربي</a:t>
            </a:r>
          </a:p>
        </p:txBody>
      </p:sp>
      <p:sp>
        <p:nvSpPr>
          <p:cNvPr id="13" name="TextBox 12"/>
          <p:cNvSpPr txBox="1"/>
          <p:nvPr/>
        </p:nvSpPr>
        <p:spPr>
          <a:xfrm>
            <a:off x="777240" y="2048256"/>
            <a:ext cx="9402775"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50" b="1" i="0">
                <a:solidFill>
                  <a:srgbClr val="C23E77"/>
                </a:solidFill>
                <a:latin typeface="Dubai"/>
                <a:cs typeface="Dubai"/>
                <a:ea typeface="Dubai"/>
              </a:rPr>
              <a:t>لماذا هي فجوة؟  </a:t>
            </a:r>
            <a:r>
              <a:rPr sz="950" b="0" i="0">
                <a:solidFill>
                  <a:srgbClr val="62748A"/>
                </a:solidFill>
                <a:latin typeface="Dubai"/>
                <a:cs typeface="Dubai"/>
                <a:ea typeface="Dubai"/>
              </a:rPr>
              <a:t>غياب كامل لمعرفة مطلوبة في مجال حسّاس وحديث</a:t>
            </a:r>
          </a:p>
        </p:txBody>
      </p:sp>
      <p:sp>
        <p:nvSpPr>
          <p:cNvPr id="14" name="Rounded Rectangle 13"/>
          <p:cNvSpPr/>
          <p:nvPr/>
        </p:nvSpPr>
        <p:spPr>
          <a:xfrm>
            <a:off x="502920" y="2459736"/>
            <a:ext cx="11185855" cy="685800"/>
          </a:xfrm>
          <a:prstGeom prst="roundRect">
            <a:avLst>
              <a:gd name="adj" fmla="val 22000"/>
            </a:avLst>
          </a:prstGeom>
          <a:solidFill>
            <a:srgbClr val="FCF9F2"/>
          </a:solidFill>
          <a:ln w="12700">
            <a:solidFill>
              <a:srgbClr val="ECCA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454335" y="2578608"/>
            <a:ext cx="1097280" cy="448056"/>
          </a:xfrm>
          <a:prstGeom prst="roundRect">
            <a:avLst>
              <a:gd name="adj" fmla="val 50000"/>
            </a:avLst>
          </a:prstGeom>
          <a:solidFill>
            <a:srgbClr val="DD9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rtl="1"/>
            <a:r>
              <a:rPr sz="1150" b="1" i="0">
                <a:solidFill>
                  <a:srgbClr val="FFFFFF"/>
                </a:solidFill>
                <a:latin typeface="Dubai"/>
                <a:cs typeface="Dubai"/>
                <a:ea typeface="Dubai"/>
              </a:rPr>
              <a:t>ممارسة</a:t>
            </a:r>
          </a:p>
        </p:txBody>
      </p:sp>
      <p:sp>
        <p:nvSpPr>
          <p:cNvPr id="16" name="TextBox 15"/>
          <p:cNvSpPr txBox="1"/>
          <p:nvPr/>
        </p:nvSpPr>
        <p:spPr>
          <a:xfrm>
            <a:off x="777240" y="2528316"/>
            <a:ext cx="9402775" cy="320040"/>
          </a:xfrm>
          <a:prstGeom prst="rect">
            <a:avLst/>
          </a:prstGeom>
          <a:noFill/>
        </p:spPr>
        <p:txBody>
          <a:bodyPr wrap="square" anchor="t" lIns="0" rIns="0" tIns="0" bIns="0">
            <a:spAutoFit/>
          </a:bodyPr>
          <a:lstStyle/>
          <a:p>
            <a:pPr algn="r" rtl="1">
              <a:lnSpc>
                <a:spcPct val="112000"/>
              </a:lnSpc>
              <a:spcBef>
                <a:spcPts val="0"/>
              </a:spcBef>
              <a:spcAft>
                <a:spcPts val="400"/>
              </a:spcAft>
            </a:pPr>
            <a:r>
              <a:rPr sz="1150" b="1" i="0">
                <a:solidFill>
                  <a:srgbClr val="18263B"/>
                </a:solidFill>
                <a:latin typeface="Dubai"/>
                <a:cs typeface="Dubai"/>
                <a:ea typeface="Dubai"/>
              </a:rPr>
              <a:t>البروتوكولات الدولية للتمريض لا تُطبَّق كما ينبغي في المستشفيات الإقليمية</a:t>
            </a:r>
          </a:p>
        </p:txBody>
      </p:sp>
      <p:sp>
        <p:nvSpPr>
          <p:cNvPr id="17" name="TextBox 16"/>
          <p:cNvSpPr txBox="1"/>
          <p:nvPr/>
        </p:nvSpPr>
        <p:spPr>
          <a:xfrm>
            <a:off x="777240" y="2843784"/>
            <a:ext cx="9402775"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50" b="1" i="0">
                <a:solidFill>
                  <a:srgbClr val="DD9F33"/>
                </a:solidFill>
                <a:latin typeface="Dubai"/>
                <a:cs typeface="Dubai"/>
                <a:ea typeface="Dubai"/>
              </a:rPr>
              <a:t>لماذا هي فجوة؟  </a:t>
            </a:r>
            <a:r>
              <a:rPr sz="950" b="0" i="0">
                <a:solidFill>
                  <a:srgbClr val="62748A"/>
                </a:solidFill>
                <a:latin typeface="Dubai"/>
                <a:cs typeface="Dubai"/>
                <a:ea typeface="Dubai"/>
              </a:rPr>
              <a:t>المعرفة موجودة لكن التطبيق الميداني غائب أو مشوَّه</a:t>
            </a:r>
          </a:p>
        </p:txBody>
      </p:sp>
      <p:sp>
        <p:nvSpPr>
          <p:cNvPr id="18" name="Rounded Rectangle 17"/>
          <p:cNvSpPr/>
          <p:nvPr/>
        </p:nvSpPr>
        <p:spPr>
          <a:xfrm>
            <a:off x="502920" y="3255264"/>
            <a:ext cx="11185855" cy="685800"/>
          </a:xfrm>
          <a:prstGeom prst="roundRect">
            <a:avLst>
              <a:gd name="adj" fmla="val 22000"/>
            </a:avLst>
          </a:prstGeom>
          <a:solidFill>
            <a:srgbClr val="F0F9F8"/>
          </a:solidFill>
          <a:ln w="12700">
            <a:solidFill>
              <a:srgbClr val="7ACA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454335" y="3374136"/>
            <a:ext cx="1097280" cy="448056"/>
          </a:xfrm>
          <a:prstGeom prst="roundRect">
            <a:avLst>
              <a:gd name="adj" fmla="val 50000"/>
            </a:avLst>
          </a:prstGeom>
          <a:solidFill>
            <a:srgbClr val="0E9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rtl="1"/>
            <a:r>
              <a:rPr sz="1150" b="1" i="0">
                <a:solidFill>
                  <a:srgbClr val="FFFFFF"/>
                </a:solidFill>
                <a:latin typeface="Dubai"/>
                <a:cs typeface="Dubai"/>
                <a:ea typeface="Dubai"/>
              </a:rPr>
              <a:t>أدلة</a:t>
            </a:r>
          </a:p>
        </p:txBody>
      </p:sp>
      <p:sp>
        <p:nvSpPr>
          <p:cNvPr id="20" name="TextBox 19"/>
          <p:cNvSpPr txBox="1"/>
          <p:nvPr/>
        </p:nvSpPr>
        <p:spPr>
          <a:xfrm>
            <a:off x="777240" y="3323844"/>
            <a:ext cx="9402775" cy="320040"/>
          </a:xfrm>
          <a:prstGeom prst="rect">
            <a:avLst/>
          </a:prstGeom>
          <a:noFill/>
        </p:spPr>
        <p:txBody>
          <a:bodyPr wrap="square" anchor="t" lIns="0" rIns="0" tIns="0" bIns="0">
            <a:spAutoFit/>
          </a:bodyPr>
          <a:lstStyle/>
          <a:p>
            <a:pPr algn="r" rtl="1">
              <a:lnSpc>
                <a:spcPct val="112000"/>
              </a:lnSpc>
              <a:spcBef>
                <a:spcPts val="0"/>
              </a:spcBef>
              <a:spcAft>
                <a:spcPts val="400"/>
              </a:spcAft>
            </a:pPr>
            <a:r>
              <a:rPr sz="1150" b="1" i="0">
                <a:solidFill>
                  <a:srgbClr val="18263B"/>
                </a:solidFill>
                <a:latin typeface="Dubai"/>
                <a:cs typeface="Dubai"/>
                <a:ea typeface="Dubai"/>
              </a:rPr>
              <a:t>توصيات كثيرة بدمج التعلم المصغّر في التدريب دون تجارب مضبوطة تُثبت فاعليته</a:t>
            </a:r>
          </a:p>
        </p:txBody>
      </p:sp>
      <p:sp>
        <p:nvSpPr>
          <p:cNvPr id="21" name="TextBox 20"/>
          <p:cNvSpPr txBox="1"/>
          <p:nvPr/>
        </p:nvSpPr>
        <p:spPr>
          <a:xfrm>
            <a:off x="777240" y="3639312"/>
            <a:ext cx="9402775"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50" b="1" i="0">
                <a:solidFill>
                  <a:srgbClr val="0E9F8C"/>
                </a:solidFill>
                <a:latin typeface="Dubai"/>
                <a:cs typeface="Dubai"/>
                <a:ea typeface="Dubai"/>
              </a:rPr>
              <a:t>لماذا هي فجوة؟  </a:t>
            </a:r>
            <a:r>
              <a:rPr sz="950" b="0" i="0">
                <a:solidFill>
                  <a:srgbClr val="62748A"/>
                </a:solidFill>
                <a:latin typeface="Dubai"/>
                <a:cs typeface="Dubai"/>
                <a:ea typeface="Dubai"/>
              </a:rPr>
              <a:t>ادعاء شائع ينقصه الدليل التجريبي الصارم</a:t>
            </a:r>
          </a:p>
        </p:txBody>
      </p:sp>
      <p:sp>
        <p:nvSpPr>
          <p:cNvPr id="22" name="Rounded Rectangle 21"/>
          <p:cNvSpPr/>
          <p:nvPr/>
        </p:nvSpPr>
        <p:spPr>
          <a:xfrm>
            <a:off x="502920" y="4050791"/>
            <a:ext cx="11185855" cy="685800"/>
          </a:xfrm>
          <a:prstGeom prst="roundRect">
            <a:avLst>
              <a:gd name="adj" fmla="val 22000"/>
            </a:avLst>
          </a:prstGeom>
          <a:solidFill>
            <a:srgbClr val="F6F5FC"/>
          </a:solidFill>
          <a:ln w="12700">
            <a:solidFill>
              <a:srgbClr val="AEA9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454335" y="4169663"/>
            <a:ext cx="1097280" cy="448056"/>
          </a:xfrm>
          <a:prstGeom prst="roundRect">
            <a:avLst>
              <a:gd name="adj" fmla="val 50000"/>
            </a:avLst>
          </a:prstGeom>
          <a:solidFill>
            <a:srgbClr val="6C6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rtl="1"/>
            <a:r>
              <a:rPr sz="1150" b="1" i="0">
                <a:solidFill>
                  <a:srgbClr val="FFFFFF"/>
                </a:solidFill>
                <a:latin typeface="Dubai"/>
                <a:cs typeface="Dubai"/>
                <a:ea typeface="Dubai"/>
              </a:rPr>
              <a:t>سكانية</a:t>
            </a:r>
          </a:p>
        </p:txBody>
      </p:sp>
      <p:sp>
        <p:nvSpPr>
          <p:cNvPr id="24" name="TextBox 23"/>
          <p:cNvSpPr txBox="1"/>
          <p:nvPr/>
        </p:nvSpPr>
        <p:spPr>
          <a:xfrm>
            <a:off x="777240" y="4119372"/>
            <a:ext cx="9402775" cy="320040"/>
          </a:xfrm>
          <a:prstGeom prst="rect">
            <a:avLst/>
          </a:prstGeom>
          <a:noFill/>
        </p:spPr>
        <p:txBody>
          <a:bodyPr wrap="square" anchor="t" lIns="0" rIns="0" tIns="0" bIns="0">
            <a:spAutoFit/>
          </a:bodyPr>
          <a:lstStyle/>
          <a:p>
            <a:pPr algn="r" rtl="1">
              <a:lnSpc>
                <a:spcPct val="112000"/>
              </a:lnSpc>
              <a:spcBef>
                <a:spcPts val="0"/>
              </a:spcBef>
              <a:spcAft>
                <a:spcPts val="400"/>
              </a:spcAft>
            </a:pPr>
            <a:r>
              <a:rPr sz="1150" b="1" i="0">
                <a:solidFill>
                  <a:srgbClr val="18263B"/>
                </a:solidFill>
                <a:latin typeface="Dubai"/>
                <a:cs typeface="Dubai"/>
                <a:ea typeface="Dubai"/>
              </a:rPr>
              <a:t>معظم دراسات القلق الاجتماعي أُجريت على طلاب غربيين ولا تمثّل الشباب العربي</a:t>
            </a:r>
          </a:p>
        </p:txBody>
      </p:sp>
      <p:sp>
        <p:nvSpPr>
          <p:cNvPr id="25" name="TextBox 24"/>
          <p:cNvSpPr txBox="1"/>
          <p:nvPr/>
        </p:nvSpPr>
        <p:spPr>
          <a:xfrm>
            <a:off x="777240" y="4434840"/>
            <a:ext cx="9402775"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50" b="1" i="0">
                <a:solidFill>
                  <a:srgbClr val="6C63D8"/>
                </a:solidFill>
                <a:latin typeface="Dubai"/>
                <a:cs typeface="Dubai"/>
                <a:ea typeface="Dubai"/>
              </a:rPr>
              <a:t>لماذا هي فجوة؟  </a:t>
            </a:r>
            <a:r>
              <a:rPr sz="950" b="0" i="0">
                <a:solidFill>
                  <a:srgbClr val="62748A"/>
                </a:solidFill>
                <a:latin typeface="Dubai"/>
                <a:cs typeface="Dubai"/>
                <a:ea typeface="Dubai"/>
              </a:rPr>
              <a:t>العينات المدروسة لا تعكس مجتمعك المستهدف</a:t>
            </a:r>
          </a:p>
        </p:txBody>
      </p:sp>
      <p:sp>
        <p:nvSpPr>
          <p:cNvPr id="26" name="Rounded Rectangle 25"/>
          <p:cNvSpPr/>
          <p:nvPr/>
        </p:nvSpPr>
        <p:spPr>
          <a:xfrm>
            <a:off x="502920" y="4846320"/>
            <a:ext cx="11185855" cy="685800"/>
          </a:xfrm>
          <a:prstGeom prst="roundRect">
            <a:avLst>
              <a:gd name="adj" fmla="val 22000"/>
            </a:avLst>
          </a:prstGeom>
          <a:solidFill>
            <a:srgbClr val="FDF5F3"/>
          </a:solidFill>
          <a:ln w="12700">
            <a:solidFill>
              <a:srgbClr val="F0A49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454335" y="4965192"/>
            <a:ext cx="1097280" cy="448056"/>
          </a:xfrm>
          <a:prstGeom prst="roundRect">
            <a:avLst>
              <a:gd name="adj" fmla="val 50000"/>
            </a:avLst>
          </a:prstGeom>
          <a:solidFill>
            <a:srgbClr val="E4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rtl="1"/>
            <a:r>
              <a:rPr sz="1150" b="1" i="0">
                <a:solidFill>
                  <a:srgbClr val="FFFFFF"/>
                </a:solidFill>
                <a:latin typeface="Dubai"/>
                <a:cs typeface="Dubai"/>
                <a:ea typeface="Dubai"/>
              </a:rPr>
              <a:t>منهجية</a:t>
            </a:r>
          </a:p>
        </p:txBody>
      </p:sp>
      <p:sp>
        <p:nvSpPr>
          <p:cNvPr id="28" name="TextBox 27"/>
          <p:cNvSpPr txBox="1"/>
          <p:nvPr/>
        </p:nvSpPr>
        <p:spPr>
          <a:xfrm>
            <a:off x="777240" y="4914900"/>
            <a:ext cx="9402775" cy="320040"/>
          </a:xfrm>
          <a:prstGeom prst="rect">
            <a:avLst/>
          </a:prstGeom>
          <a:noFill/>
        </p:spPr>
        <p:txBody>
          <a:bodyPr wrap="square" anchor="t" lIns="0" rIns="0" tIns="0" bIns="0">
            <a:spAutoFit/>
          </a:bodyPr>
          <a:lstStyle/>
          <a:p>
            <a:pPr algn="r" rtl="1">
              <a:lnSpc>
                <a:spcPct val="112000"/>
              </a:lnSpc>
              <a:spcBef>
                <a:spcPts val="0"/>
              </a:spcBef>
              <a:spcAft>
                <a:spcPts val="400"/>
              </a:spcAft>
            </a:pPr>
            <a:r>
              <a:rPr sz="1150" b="1" i="0">
                <a:solidFill>
                  <a:srgbClr val="18263B"/>
                </a:solidFill>
                <a:latin typeface="Dubai"/>
                <a:cs typeface="Dubai"/>
                <a:ea typeface="Dubai"/>
              </a:rPr>
              <a:t>الدراسات استخدمت المنهج الكمي فقط؛ والمنهج النوعي قد يكشف تفاصيل أعمق بكثير</a:t>
            </a:r>
          </a:p>
        </p:txBody>
      </p:sp>
      <p:sp>
        <p:nvSpPr>
          <p:cNvPr id="29" name="TextBox 28"/>
          <p:cNvSpPr txBox="1"/>
          <p:nvPr/>
        </p:nvSpPr>
        <p:spPr>
          <a:xfrm>
            <a:off x="777240" y="5230368"/>
            <a:ext cx="9402775"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50" b="1" i="0">
                <a:solidFill>
                  <a:srgbClr val="E45A44"/>
                </a:solidFill>
                <a:latin typeface="Dubai"/>
                <a:cs typeface="Dubai"/>
                <a:ea typeface="Dubai"/>
              </a:rPr>
              <a:t>لماذا هي فجوة؟  </a:t>
            </a:r>
            <a:r>
              <a:rPr sz="950" b="0" i="0">
                <a:solidFill>
                  <a:srgbClr val="62748A"/>
                </a:solidFill>
                <a:latin typeface="Dubai"/>
                <a:cs typeface="Dubai"/>
                <a:ea typeface="Dubai"/>
              </a:rPr>
              <a:t>تغيير أسلوب البحث يفتح نافذة جديدة على الظاهرة</a:t>
            </a:r>
          </a:p>
        </p:txBody>
      </p:sp>
      <p:sp>
        <p:nvSpPr>
          <p:cNvPr id="30" name="Rounded Rectangle 29"/>
          <p:cNvSpPr/>
          <p:nvPr/>
        </p:nvSpPr>
        <p:spPr>
          <a:xfrm>
            <a:off x="502920" y="5641848"/>
            <a:ext cx="11185855" cy="685800"/>
          </a:xfrm>
          <a:prstGeom prst="roundRect">
            <a:avLst>
              <a:gd name="adj" fmla="val 22000"/>
            </a:avLst>
          </a:prstGeom>
          <a:solidFill>
            <a:srgbClr val="F3F8F5"/>
          </a:solidFill>
          <a:ln w="12700">
            <a:solidFill>
              <a:srgbClr val="94C0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454335" y="5760720"/>
            <a:ext cx="1097280" cy="448056"/>
          </a:xfrm>
          <a:prstGeom prst="roundRect">
            <a:avLst>
              <a:gd name="adj" fmla="val 50000"/>
            </a:avLst>
          </a:prstGeom>
          <a:solidFill>
            <a:srgbClr val="3E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rtl="1"/>
            <a:r>
              <a:rPr sz="1150" b="1" i="0">
                <a:solidFill>
                  <a:srgbClr val="FFFFFF"/>
                </a:solidFill>
                <a:latin typeface="Dubai"/>
                <a:cs typeface="Dubai"/>
                <a:ea typeface="Dubai"/>
              </a:rPr>
              <a:t>زمنية</a:t>
            </a:r>
          </a:p>
        </p:txBody>
      </p:sp>
      <p:sp>
        <p:nvSpPr>
          <p:cNvPr id="32" name="TextBox 31"/>
          <p:cNvSpPr txBox="1"/>
          <p:nvPr/>
        </p:nvSpPr>
        <p:spPr>
          <a:xfrm>
            <a:off x="777240" y="5710428"/>
            <a:ext cx="9402775" cy="320040"/>
          </a:xfrm>
          <a:prstGeom prst="rect">
            <a:avLst/>
          </a:prstGeom>
          <a:noFill/>
        </p:spPr>
        <p:txBody>
          <a:bodyPr wrap="square" anchor="t" lIns="0" rIns="0" tIns="0" bIns="0">
            <a:spAutoFit/>
          </a:bodyPr>
          <a:lstStyle/>
          <a:p>
            <a:pPr algn="r" rtl="1">
              <a:lnSpc>
                <a:spcPct val="112000"/>
              </a:lnSpc>
              <a:spcBef>
                <a:spcPts val="0"/>
              </a:spcBef>
              <a:spcAft>
                <a:spcPts val="400"/>
              </a:spcAft>
            </a:pPr>
            <a:r>
              <a:rPr sz="1150" b="1" i="0">
                <a:solidFill>
                  <a:srgbClr val="18263B"/>
                </a:solidFill>
                <a:latin typeface="Dubai"/>
                <a:cs typeface="Dubai"/>
                <a:ea typeface="Dubai"/>
              </a:rPr>
              <a:t>أبحاث التجارة الإلكترونية المتاحة تعود لما قبل 2020 ولا تعكس أثر الجائحة</a:t>
            </a:r>
          </a:p>
        </p:txBody>
      </p:sp>
      <p:sp>
        <p:nvSpPr>
          <p:cNvPr id="33" name="TextBox 32"/>
          <p:cNvSpPr txBox="1"/>
          <p:nvPr/>
        </p:nvSpPr>
        <p:spPr>
          <a:xfrm>
            <a:off x="777240" y="6025896"/>
            <a:ext cx="9402775"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50" b="1" i="0">
                <a:solidFill>
                  <a:srgbClr val="3E8E5A"/>
                </a:solidFill>
                <a:latin typeface="Dubai"/>
                <a:cs typeface="Dubai"/>
                <a:ea typeface="Dubai"/>
              </a:rPr>
              <a:t>لماذا هي فجوة؟  </a:t>
            </a:r>
            <a:r>
              <a:rPr sz="950" b="0" i="0">
                <a:solidFill>
                  <a:srgbClr val="62748A"/>
                </a:solidFill>
                <a:latin typeface="Dubai"/>
                <a:cs typeface="Dubai"/>
                <a:ea typeface="Dubai"/>
              </a:rPr>
              <a:t>الواقع تغيّر جذرياً والدراسات لم تلحق به بعد</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E4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865815" y="411480"/>
            <a:ext cx="822960" cy="822960"/>
          </a:xfrm>
          <a:prstGeom prst="roundRect">
            <a:avLst>
              <a:gd name="adj" fmla="val 28000"/>
            </a:avLst>
          </a:prstGeom>
          <a:solidFill>
            <a:srgbClr val="FBE7E4"/>
          </a:solidFill>
          <a:ln w="15240">
            <a:solidFill>
              <a:srgbClr val="E45A44"/>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3000" b="0" i="0">
                <a:solidFill>
                  <a:srgbClr val="E45A44"/>
                </a:solidFill>
                <a:latin typeface="Dubai"/>
                <a:cs typeface="Dubai"/>
                <a:ea typeface="Dubai"/>
              </a:rPr>
              <a:t>🤖</a:t>
            </a:r>
          </a:p>
        </p:txBody>
      </p:sp>
      <p:sp>
        <p:nvSpPr>
          <p:cNvPr id="5" name="TextBox 4"/>
          <p:cNvSpPr txBox="1"/>
          <p:nvPr/>
        </p:nvSpPr>
        <p:spPr>
          <a:xfrm>
            <a:off x="502920" y="365760"/>
            <a:ext cx="10180015" cy="566928"/>
          </a:xfrm>
          <a:prstGeom prst="rect">
            <a:avLst/>
          </a:prstGeom>
          <a:noFill/>
        </p:spPr>
        <p:txBody>
          <a:bodyPr wrap="square" anchor="t" lIns="0" rIns="0" tIns="0" bIns="0">
            <a:spAutoFit/>
          </a:bodyPr>
          <a:lstStyle/>
          <a:p>
            <a:pPr algn="r" rtl="1">
              <a:lnSpc>
                <a:spcPct val="112000"/>
              </a:lnSpc>
              <a:spcBef>
                <a:spcPts val="0"/>
              </a:spcBef>
              <a:spcAft>
                <a:spcPts val="400"/>
              </a:spcAft>
            </a:pPr>
            <a:r>
              <a:rPr sz="2700" b="1" i="0">
                <a:solidFill>
                  <a:srgbClr val="18263B"/>
                </a:solidFill>
                <a:latin typeface="Dubai"/>
                <a:cs typeface="Dubai"/>
                <a:ea typeface="Dubai"/>
              </a:rPr>
              <a:t>أدوات الذكاء الاصطناعي لاكتشاف الفجوات</a:t>
            </a:r>
          </a:p>
        </p:txBody>
      </p:sp>
      <p:sp>
        <p:nvSpPr>
          <p:cNvPr id="6" name="TextBox 5"/>
          <p:cNvSpPr txBox="1"/>
          <p:nvPr/>
        </p:nvSpPr>
        <p:spPr>
          <a:xfrm>
            <a:off x="502920" y="969264"/>
            <a:ext cx="10180015" cy="365760"/>
          </a:xfrm>
          <a:prstGeom prst="rect">
            <a:avLst/>
          </a:prstGeom>
          <a:noFill/>
        </p:spPr>
        <p:txBody>
          <a:bodyPr wrap="square" anchor="t" lIns="0" rIns="0" tIns="0" bIns="0">
            <a:spAutoFit/>
          </a:bodyPr>
          <a:lstStyle/>
          <a:p>
            <a:pPr algn="r">
              <a:lnSpc>
                <a:spcPct val="112000"/>
              </a:lnSpc>
              <a:spcBef>
                <a:spcPts val="0"/>
              </a:spcBef>
              <a:spcAft>
                <a:spcPts val="400"/>
              </a:spcAft>
            </a:pPr>
            <a:r>
              <a:rPr sz="1250" b="0" i="1">
                <a:solidFill>
                  <a:srgbClr val="E45A44"/>
                </a:solidFill>
                <a:latin typeface="Dubai"/>
                <a:cs typeface="Dubai"/>
                <a:ea typeface="Dubai"/>
              </a:rPr>
              <a:t>AI Tools for Discovering Research Gaps</a:t>
            </a:r>
          </a:p>
        </p:txBody>
      </p:sp>
      <p:sp>
        <p:nvSpPr>
          <p:cNvPr id="7" name="Rectangle 6"/>
          <p:cNvSpPr/>
          <p:nvPr/>
        </p:nvSpPr>
        <p:spPr>
          <a:xfrm>
            <a:off x="9128455" y="1389888"/>
            <a:ext cx="1554480" cy="45720"/>
          </a:xfrm>
          <a:prstGeom prst="rect">
            <a:avLst/>
          </a:prstGeom>
          <a:solidFill>
            <a:srgbClr val="E4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3200400" cy="274320"/>
          </a:xfrm>
          <a:prstGeom prst="rect">
            <a:avLst/>
          </a:prstGeom>
          <a:noFill/>
        </p:spPr>
        <p:txBody>
          <a:bodyPr wrap="square" anchor="t" lIns="0" rIns="0" tIns="0" bIns="0">
            <a:spAutoFit/>
          </a:bodyPr>
          <a:lstStyle/>
          <a:p>
            <a:pPr algn="l">
              <a:lnSpc>
                <a:spcPct val="112000"/>
              </a:lnSpc>
              <a:spcBef>
                <a:spcPts val="0"/>
              </a:spcBef>
              <a:spcAft>
                <a:spcPts val="400"/>
              </a:spcAft>
            </a:pPr>
            <a:r>
              <a:rPr sz="1050" b="1" i="0">
                <a:solidFill>
                  <a:srgbClr val="E45A44"/>
                </a:solidFill>
                <a:latin typeface="Dubai"/>
                <a:cs typeface="Dubai"/>
                <a:ea typeface="Dubai"/>
              </a:rPr>
              <a:t>07</a:t>
            </a:r>
            <a:r>
              <a:rPr sz="900" b="0" i="0">
                <a:solidFill>
                  <a:srgbClr val="62748A"/>
                </a:solidFill>
                <a:latin typeface="Dubai"/>
                <a:cs typeface="Dubai"/>
                <a:ea typeface="Dubai"/>
              </a:rPr>
              <a:t>   Research Gaps — Dr. Hana Hossen Elahemer</a:t>
            </a:r>
          </a:p>
        </p:txBody>
      </p:sp>
      <p:sp>
        <p:nvSpPr>
          <p:cNvPr id="9" name="TextBox 8"/>
          <p:cNvSpPr txBox="1"/>
          <p:nvPr/>
        </p:nvSpPr>
        <p:spPr>
          <a:xfrm>
            <a:off x="8488375" y="6455664"/>
            <a:ext cx="3200400"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00" b="0" i="0">
                <a:solidFill>
                  <a:srgbClr val="62748A"/>
                </a:solidFill>
                <a:latin typeface="Dubai"/>
                <a:cs typeface="Dubai"/>
                <a:ea typeface="Dubai"/>
              </a:rPr>
              <a:t>الفجوات البحثية • ورشة عمل أكاديمية</a:t>
            </a:r>
          </a:p>
        </p:txBody>
      </p:sp>
      <p:sp>
        <p:nvSpPr>
          <p:cNvPr id="10" name="Rounded Rectangle 9"/>
          <p:cNvSpPr/>
          <p:nvPr/>
        </p:nvSpPr>
        <p:spPr>
          <a:xfrm>
            <a:off x="9056903" y="1664208"/>
            <a:ext cx="2631871" cy="1783080"/>
          </a:xfrm>
          <a:prstGeom prst="roundRect">
            <a:avLst>
              <a:gd name="adj" fmla="val 11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056903" y="1664208"/>
            <a:ext cx="2631871" cy="109728"/>
          </a:xfrm>
          <a:prstGeom prst="roundRect">
            <a:avLst>
              <a:gd name="adj" fmla="val 100000"/>
            </a:avLst>
          </a:prstGeom>
          <a:solidFill>
            <a:srgbClr val="C23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94063" y="1883664"/>
            <a:ext cx="2357551" cy="384048"/>
          </a:xfrm>
          <a:prstGeom prst="rect">
            <a:avLst/>
          </a:prstGeom>
          <a:noFill/>
        </p:spPr>
        <p:txBody>
          <a:bodyPr wrap="square" anchor="t" lIns="0" rIns="0" tIns="0" bIns="0">
            <a:spAutoFit/>
          </a:bodyPr>
          <a:lstStyle/>
          <a:p>
            <a:pPr algn="ctr">
              <a:lnSpc>
                <a:spcPct val="112000"/>
              </a:lnSpc>
              <a:spcBef>
                <a:spcPts val="0"/>
              </a:spcBef>
              <a:spcAft>
                <a:spcPts val="400"/>
              </a:spcAft>
            </a:pPr>
            <a:r>
              <a:rPr sz="1350" b="1" i="0">
                <a:solidFill>
                  <a:srgbClr val="C23E77"/>
                </a:solidFill>
                <a:latin typeface="Dubai"/>
                <a:cs typeface="Dubai"/>
                <a:ea typeface="Dubai"/>
              </a:rPr>
              <a:t>🔍  Elicit</a:t>
            </a:r>
          </a:p>
        </p:txBody>
      </p:sp>
      <p:sp>
        <p:nvSpPr>
          <p:cNvPr id="13" name="TextBox 12"/>
          <p:cNvSpPr txBox="1"/>
          <p:nvPr/>
        </p:nvSpPr>
        <p:spPr>
          <a:xfrm>
            <a:off x="9221495" y="2322576"/>
            <a:ext cx="2302687" cy="1051560"/>
          </a:xfrm>
          <a:prstGeom prst="rect">
            <a:avLst/>
          </a:prstGeom>
          <a:noFill/>
        </p:spPr>
        <p:txBody>
          <a:bodyPr wrap="square" anchor="t" lIns="0" rIns="0" tIns="0" bIns="0">
            <a:spAutoFit/>
          </a:bodyPr>
          <a:lstStyle/>
          <a:p>
            <a:pPr algn="ctr" rtl="1">
              <a:lnSpc>
                <a:spcPct val="120000"/>
              </a:lnSpc>
              <a:spcBef>
                <a:spcPts val="0"/>
              </a:spcBef>
              <a:spcAft>
                <a:spcPts val="400"/>
              </a:spcAft>
            </a:pPr>
            <a:r>
              <a:rPr sz="1000" b="0" i="0">
                <a:solidFill>
                  <a:srgbClr val="18263B"/>
                </a:solidFill>
                <a:latin typeface="Dubai"/>
                <a:cs typeface="Dubai"/>
                <a:ea typeface="Dubai"/>
              </a:rPr>
              <a:t>يلخّص الأبحاث ويستخرج النتائج والجداول بسؤال مباشر بلغة طبيعية</a:t>
            </a:r>
          </a:p>
        </p:txBody>
      </p:sp>
      <p:sp>
        <p:nvSpPr>
          <p:cNvPr id="14" name="Rounded Rectangle 13"/>
          <p:cNvSpPr/>
          <p:nvPr/>
        </p:nvSpPr>
        <p:spPr>
          <a:xfrm>
            <a:off x="6205575" y="1664208"/>
            <a:ext cx="2631871" cy="1783080"/>
          </a:xfrm>
          <a:prstGeom prst="roundRect">
            <a:avLst>
              <a:gd name="adj" fmla="val 11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05575" y="1664208"/>
            <a:ext cx="2631871" cy="109728"/>
          </a:xfrm>
          <a:prstGeom prst="roundRect">
            <a:avLst>
              <a:gd name="adj" fmla="val 100000"/>
            </a:avLst>
          </a:prstGeom>
          <a:solidFill>
            <a:srgbClr val="0E9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2735" y="1883664"/>
            <a:ext cx="2357551" cy="384048"/>
          </a:xfrm>
          <a:prstGeom prst="rect">
            <a:avLst/>
          </a:prstGeom>
          <a:noFill/>
        </p:spPr>
        <p:txBody>
          <a:bodyPr wrap="square" anchor="t" lIns="0" rIns="0" tIns="0" bIns="0">
            <a:spAutoFit/>
          </a:bodyPr>
          <a:lstStyle/>
          <a:p>
            <a:pPr algn="ctr">
              <a:lnSpc>
                <a:spcPct val="112000"/>
              </a:lnSpc>
              <a:spcBef>
                <a:spcPts val="0"/>
              </a:spcBef>
              <a:spcAft>
                <a:spcPts val="400"/>
              </a:spcAft>
            </a:pPr>
            <a:r>
              <a:rPr sz="1350" b="1" i="0">
                <a:solidFill>
                  <a:srgbClr val="0E9F8C"/>
                </a:solidFill>
                <a:latin typeface="Dubai"/>
                <a:cs typeface="Dubai"/>
                <a:ea typeface="Dubai"/>
              </a:rPr>
              <a:t>🤝  Consensus</a:t>
            </a:r>
          </a:p>
        </p:txBody>
      </p:sp>
      <p:sp>
        <p:nvSpPr>
          <p:cNvPr id="17" name="TextBox 16"/>
          <p:cNvSpPr txBox="1"/>
          <p:nvPr/>
        </p:nvSpPr>
        <p:spPr>
          <a:xfrm>
            <a:off x="6370167" y="2322576"/>
            <a:ext cx="2302687" cy="1051560"/>
          </a:xfrm>
          <a:prstGeom prst="rect">
            <a:avLst/>
          </a:prstGeom>
          <a:noFill/>
        </p:spPr>
        <p:txBody>
          <a:bodyPr wrap="square" anchor="t" lIns="0" rIns="0" tIns="0" bIns="0">
            <a:spAutoFit/>
          </a:bodyPr>
          <a:lstStyle/>
          <a:p>
            <a:pPr algn="ctr" rtl="1">
              <a:lnSpc>
                <a:spcPct val="120000"/>
              </a:lnSpc>
              <a:spcBef>
                <a:spcPts val="0"/>
              </a:spcBef>
              <a:spcAft>
                <a:spcPts val="400"/>
              </a:spcAft>
            </a:pPr>
            <a:r>
              <a:rPr sz="1000" b="0" i="0">
                <a:solidFill>
                  <a:srgbClr val="18263B"/>
                </a:solidFill>
                <a:latin typeface="Dubai"/>
                <a:cs typeface="Dubai"/>
                <a:ea typeface="Dubai"/>
              </a:rPr>
              <a:t>يرصد إجماع الأبحاث حول سؤال علمي محدد ويُظهر اتجاه الأدلة</a:t>
            </a:r>
          </a:p>
        </p:txBody>
      </p:sp>
      <p:sp>
        <p:nvSpPr>
          <p:cNvPr id="18" name="Rounded Rectangle 17"/>
          <p:cNvSpPr/>
          <p:nvPr/>
        </p:nvSpPr>
        <p:spPr>
          <a:xfrm>
            <a:off x="3354247" y="1664208"/>
            <a:ext cx="2631871" cy="1783080"/>
          </a:xfrm>
          <a:prstGeom prst="roundRect">
            <a:avLst>
              <a:gd name="adj" fmla="val 11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54247" y="1664208"/>
            <a:ext cx="2631871" cy="109728"/>
          </a:xfrm>
          <a:prstGeom prst="roundRect">
            <a:avLst>
              <a:gd name="adj" fmla="val 100000"/>
            </a:avLst>
          </a:prstGeom>
          <a:solidFill>
            <a:srgbClr val="DD9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91407" y="1883664"/>
            <a:ext cx="2357551" cy="384048"/>
          </a:xfrm>
          <a:prstGeom prst="rect">
            <a:avLst/>
          </a:prstGeom>
          <a:noFill/>
        </p:spPr>
        <p:txBody>
          <a:bodyPr wrap="square" anchor="t" lIns="0" rIns="0" tIns="0" bIns="0">
            <a:spAutoFit/>
          </a:bodyPr>
          <a:lstStyle/>
          <a:p>
            <a:pPr algn="ctr">
              <a:lnSpc>
                <a:spcPct val="112000"/>
              </a:lnSpc>
              <a:spcBef>
                <a:spcPts val="0"/>
              </a:spcBef>
              <a:spcAft>
                <a:spcPts val="400"/>
              </a:spcAft>
            </a:pPr>
            <a:r>
              <a:rPr sz="1350" b="1" i="0">
                <a:solidFill>
                  <a:srgbClr val="DD9F33"/>
                </a:solidFill>
                <a:latin typeface="Dubai"/>
                <a:cs typeface="Dubai"/>
                <a:ea typeface="Dubai"/>
              </a:rPr>
              <a:t>🐇  Research Rabbit</a:t>
            </a:r>
          </a:p>
        </p:txBody>
      </p:sp>
      <p:sp>
        <p:nvSpPr>
          <p:cNvPr id="21" name="TextBox 20"/>
          <p:cNvSpPr txBox="1"/>
          <p:nvPr/>
        </p:nvSpPr>
        <p:spPr>
          <a:xfrm>
            <a:off x="3518839" y="2322576"/>
            <a:ext cx="2302687" cy="1051560"/>
          </a:xfrm>
          <a:prstGeom prst="rect">
            <a:avLst/>
          </a:prstGeom>
          <a:noFill/>
        </p:spPr>
        <p:txBody>
          <a:bodyPr wrap="square" anchor="t" lIns="0" rIns="0" tIns="0" bIns="0">
            <a:spAutoFit/>
          </a:bodyPr>
          <a:lstStyle/>
          <a:p>
            <a:pPr algn="ctr" rtl="1">
              <a:lnSpc>
                <a:spcPct val="120000"/>
              </a:lnSpc>
              <a:spcBef>
                <a:spcPts val="0"/>
              </a:spcBef>
              <a:spcAft>
                <a:spcPts val="400"/>
              </a:spcAft>
            </a:pPr>
            <a:r>
              <a:rPr sz="1000" b="0" i="0">
                <a:solidFill>
                  <a:srgbClr val="18263B"/>
                </a:solidFill>
                <a:latin typeface="Dubai"/>
                <a:cs typeface="Dubai"/>
                <a:ea typeface="Dubai"/>
              </a:rPr>
              <a:t>يرسم خريطة علاقات المقالات والباحثين بصرياً لتتبع تطور المجال</a:t>
            </a:r>
          </a:p>
        </p:txBody>
      </p:sp>
      <p:sp>
        <p:nvSpPr>
          <p:cNvPr id="22" name="Rounded Rectangle 21"/>
          <p:cNvSpPr/>
          <p:nvPr/>
        </p:nvSpPr>
        <p:spPr>
          <a:xfrm>
            <a:off x="502920" y="1664208"/>
            <a:ext cx="2631871" cy="1783080"/>
          </a:xfrm>
          <a:prstGeom prst="roundRect">
            <a:avLst>
              <a:gd name="adj" fmla="val 11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664208"/>
            <a:ext cx="2631871" cy="109728"/>
          </a:xfrm>
          <a:prstGeom prst="roundRect">
            <a:avLst>
              <a:gd name="adj" fmla="val 100000"/>
            </a:avLst>
          </a:prstGeom>
          <a:solidFill>
            <a:srgbClr val="6C6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1883664"/>
            <a:ext cx="2357551" cy="384048"/>
          </a:xfrm>
          <a:prstGeom prst="rect">
            <a:avLst/>
          </a:prstGeom>
          <a:noFill/>
        </p:spPr>
        <p:txBody>
          <a:bodyPr wrap="square" anchor="t" lIns="0" rIns="0" tIns="0" bIns="0">
            <a:spAutoFit/>
          </a:bodyPr>
          <a:lstStyle/>
          <a:p>
            <a:pPr algn="ctr">
              <a:lnSpc>
                <a:spcPct val="112000"/>
              </a:lnSpc>
              <a:spcBef>
                <a:spcPts val="0"/>
              </a:spcBef>
              <a:spcAft>
                <a:spcPts val="400"/>
              </a:spcAft>
            </a:pPr>
            <a:r>
              <a:rPr sz="1350" b="1" i="0">
                <a:solidFill>
                  <a:srgbClr val="6C63D8"/>
                </a:solidFill>
                <a:latin typeface="Dubai"/>
                <a:cs typeface="Dubai"/>
                <a:ea typeface="Dubai"/>
              </a:rPr>
              <a:t>🕸  Connected Papers</a:t>
            </a:r>
          </a:p>
        </p:txBody>
      </p:sp>
      <p:sp>
        <p:nvSpPr>
          <p:cNvPr id="25" name="TextBox 24"/>
          <p:cNvSpPr txBox="1"/>
          <p:nvPr/>
        </p:nvSpPr>
        <p:spPr>
          <a:xfrm>
            <a:off x="667512" y="2322576"/>
            <a:ext cx="2302687" cy="1051560"/>
          </a:xfrm>
          <a:prstGeom prst="rect">
            <a:avLst/>
          </a:prstGeom>
          <a:noFill/>
        </p:spPr>
        <p:txBody>
          <a:bodyPr wrap="square" anchor="t" lIns="0" rIns="0" tIns="0" bIns="0">
            <a:spAutoFit/>
          </a:bodyPr>
          <a:lstStyle/>
          <a:p>
            <a:pPr algn="ctr" rtl="1">
              <a:lnSpc>
                <a:spcPct val="120000"/>
              </a:lnSpc>
              <a:spcBef>
                <a:spcPts val="0"/>
              </a:spcBef>
              <a:spcAft>
                <a:spcPts val="400"/>
              </a:spcAft>
            </a:pPr>
            <a:r>
              <a:rPr sz="1000" b="0" i="0">
                <a:solidFill>
                  <a:srgbClr val="18263B"/>
                </a:solidFill>
                <a:latin typeface="Dubai"/>
                <a:cs typeface="Dubai"/>
                <a:ea typeface="Dubai"/>
              </a:rPr>
              <a:t>شبكة بصرية للاقتباسات تكشف الدراسات المرتبطة ببحثك المحوري</a:t>
            </a:r>
          </a:p>
        </p:txBody>
      </p:sp>
      <p:sp>
        <p:nvSpPr>
          <p:cNvPr id="26" name="Rounded Rectangle 25"/>
          <p:cNvSpPr/>
          <p:nvPr/>
        </p:nvSpPr>
        <p:spPr>
          <a:xfrm>
            <a:off x="9056903" y="3602736"/>
            <a:ext cx="2631871" cy="1783080"/>
          </a:xfrm>
          <a:prstGeom prst="roundRect">
            <a:avLst>
              <a:gd name="adj" fmla="val 11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56903" y="3602736"/>
            <a:ext cx="2631871" cy="109728"/>
          </a:xfrm>
          <a:prstGeom prst="roundRect">
            <a:avLst>
              <a:gd name="adj" fmla="val 100000"/>
            </a:avLst>
          </a:prstGeom>
          <a:solidFill>
            <a:srgbClr val="E4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4063" y="3822192"/>
            <a:ext cx="2357551" cy="384048"/>
          </a:xfrm>
          <a:prstGeom prst="rect">
            <a:avLst/>
          </a:prstGeom>
          <a:noFill/>
        </p:spPr>
        <p:txBody>
          <a:bodyPr wrap="square" anchor="t" lIns="0" rIns="0" tIns="0" bIns="0">
            <a:spAutoFit/>
          </a:bodyPr>
          <a:lstStyle/>
          <a:p>
            <a:pPr algn="ctr">
              <a:lnSpc>
                <a:spcPct val="112000"/>
              </a:lnSpc>
              <a:spcBef>
                <a:spcPts val="0"/>
              </a:spcBef>
              <a:spcAft>
                <a:spcPts val="400"/>
              </a:spcAft>
            </a:pPr>
            <a:r>
              <a:rPr sz="1350" b="1" i="0">
                <a:solidFill>
                  <a:srgbClr val="E45A44"/>
                </a:solidFill>
                <a:latin typeface="Dubai"/>
                <a:cs typeface="Dubai"/>
                <a:ea typeface="Dubai"/>
              </a:rPr>
              <a:t>📊  Scite.ai</a:t>
            </a:r>
          </a:p>
        </p:txBody>
      </p:sp>
      <p:sp>
        <p:nvSpPr>
          <p:cNvPr id="29" name="TextBox 28"/>
          <p:cNvSpPr txBox="1"/>
          <p:nvPr/>
        </p:nvSpPr>
        <p:spPr>
          <a:xfrm>
            <a:off x="9221495" y="4261104"/>
            <a:ext cx="2302687" cy="1051560"/>
          </a:xfrm>
          <a:prstGeom prst="rect">
            <a:avLst/>
          </a:prstGeom>
          <a:noFill/>
        </p:spPr>
        <p:txBody>
          <a:bodyPr wrap="square" anchor="t" lIns="0" rIns="0" tIns="0" bIns="0">
            <a:spAutoFit/>
          </a:bodyPr>
          <a:lstStyle/>
          <a:p>
            <a:pPr algn="ctr" rtl="1">
              <a:lnSpc>
                <a:spcPct val="120000"/>
              </a:lnSpc>
              <a:spcBef>
                <a:spcPts val="0"/>
              </a:spcBef>
              <a:spcAft>
                <a:spcPts val="400"/>
              </a:spcAft>
            </a:pPr>
            <a:r>
              <a:rPr sz="1000" b="0" i="0">
                <a:solidFill>
                  <a:srgbClr val="18263B"/>
                </a:solidFill>
                <a:latin typeface="Dubai"/>
                <a:cs typeface="Dubai"/>
                <a:ea typeface="Dubai"/>
              </a:rPr>
              <a:t>يميّز الأبحاث الداعمة والمعارضة لأي ادعاء علمي (اقتباسات ذكية)</a:t>
            </a:r>
          </a:p>
        </p:txBody>
      </p:sp>
      <p:sp>
        <p:nvSpPr>
          <p:cNvPr id="30" name="Rounded Rectangle 29"/>
          <p:cNvSpPr/>
          <p:nvPr/>
        </p:nvSpPr>
        <p:spPr>
          <a:xfrm>
            <a:off x="6205575" y="3602736"/>
            <a:ext cx="2631871" cy="1783080"/>
          </a:xfrm>
          <a:prstGeom prst="roundRect">
            <a:avLst>
              <a:gd name="adj" fmla="val 11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05575" y="3602736"/>
            <a:ext cx="2631871" cy="109728"/>
          </a:xfrm>
          <a:prstGeom prst="roundRect">
            <a:avLst>
              <a:gd name="adj" fmla="val 100000"/>
            </a:avLst>
          </a:prstGeom>
          <a:solidFill>
            <a:srgbClr val="3E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2735" y="3822192"/>
            <a:ext cx="2357551" cy="384048"/>
          </a:xfrm>
          <a:prstGeom prst="rect">
            <a:avLst/>
          </a:prstGeom>
          <a:noFill/>
        </p:spPr>
        <p:txBody>
          <a:bodyPr wrap="square" anchor="t" lIns="0" rIns="0" tIns="0" bIns="0">
            <a:spAutoFit/>
          </a:bodyPr>
          <a:lstStyle/>
          <a:p>
            <a:pPr algn="ctr">
              <a:lnSpc>
                <a:spcPct val="112000"/>
              </a:lnSpc>
              <a:spcBef>
                <a:spcPts val="0"/>
              </a:spcBef>
              <a:spcAft>
                <a:spcPts val="400"/>
              </a:spcAft>
            </a:pPr>
            <a:r>
              <a:rPr sz="1350" b="1" i="0">
                <a:solidFill>
                  <a:srgbClr val="3E8E5A"/>
                </a:solidFill>
                <a:latin typeface="Dubai"/>
                <a:cs typeface="Dubai"/>
                <a:ea typeface="Dubai"/>
              </a:rPr>
              <a:t>🧠  Semantic Scholar</a:t>
            </a:r>
          </a:p>
        </p:txBody>
      </p:sp>
      <p:sp>
        <p:nvSpPr>
          <p:cNvPr id="33" name="TextBox 32"/>
          <p:cNvSpPr txBox="1"/>
          <p:nvPr/>
        </p:nvSpPr>
        <p:spPr>
          <a:xfrm>
            <a:off x="6370167" y="4261104"/>
            <a:ext cx="2302687" cy="1051560"/>
          </a:xfrm>
          <a:prstGeom prst="rect">
            <a:avLst/>
          </a:prstGeom>
          <a:noFill/>
        </p:spPr>
        <p:txBody>
          <a:bodyPr wrap="square" anchor="t" lIns="0" rIns="0" tIns="0" bIns="0">
            <a:spAutoFit/>
          </a:bodyPr>
          <a:lstStyle/>
          <a:p>
            <a:pPr algn="ctr" rtl="1">
              <a:lnSpc>
                <a:spcPct val="120000"/>
              </a:lnSpc>
              <a:spcBef>
                <a:spcPts val="0"/>
              </a:spcBef>
              <a:spcAft>
                <a:spcPts val="400"/>
              </a:spcAft>
            </a:pPr>
            <a:r>
              <a:rPr sz="1000" b="0" i="0">
                <a:solidFill>
                  <a:srgbClr val="18263B"/>
                </a:solidFill>
                <a:latin typeface="Dubai"/>
                <a:cs typeface="Dubai"/>
                <a:ea typeface="Dubai"/>
              </a:rPr>
              <a:t>محرك بحث دلالي يفهم المعنى والسياق لا الكلمات المفتاحية فقط</a:t>
            </a:r>
          </a:p>
        </p:txBody>
      </p:sp>
      <p:sp>
        <p:nvSpPr>
          <p:cNvPr id="34" name="Rounded Rectangle 33"/>
          <p:cNvSpPr/>
          <p:nvPr/>
        </p:nvSpPr>
        <p:spPr>
          <a:xfrm>
            <a:off x="3354247" y="3602736"/>
            <a:ext cx="2631871" cy="1783080"/>
          </a:xfrm>
          <a:prstGeom prst="roundRect">
            <a:avLst>
              <a:gd name="adj" fmla="val 11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354247" y="3602736"/>
            <a:ext cx="2631871" cy="109728"/>
          </a:xfrm>
          <a:prstGeom prst="roundRect">
            <a:avLst>
              <a:gd name="adj" fmla="val 100000"/>
            </a:avLst>
          </a:prstGeom>
          <a:solidFill>
            <a:srgbClr val="1B2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491407" y="3822192"/>
            <a:ext cx="2357551" cy="384048"/>
          </a:xfrm>
          <a:prstGeom prst="rect">
            <a:avLst/>
          </a:prstGeom>
          <a:noFill/>
        </p:spPr>
        <p:txBody>
          <a:bodyPr wrap="square" anchor="t" lIns="0" rIns="0" tIns="0" bIns="0">
            <a:spAutoFit/>
          </a:bodyPr>
          <a:lstStyle/>
          <a:p>
            <a:pPr algn="ctr">
              <a:lnSpc>
                <a:spcPct val="112000"/>
              </a:lnSpc>
              <a:spcBef>
                <a:spcPts val="0"/>
              </a:spcBef>
              <a:spcAft>
                <a:spcPts val="400"/>
              </a:spcAft>
            </a:pPr>
            <a:r>
              <a:rPr sz="1350" b="1" i="0">
                <a:solidFill>
                  <a:srgbClr val="1B2D55"/>
                </a:solidFill>
                <a:latin typeface="Dubai"/>
                <a:cs typeface="Dubai"/>
                <a:ea typeface="Dubai"/>
              </a:rPr>
              <a:t>⭐  Claude</a:t>
            </a:r>
          </a:p>
        </p:txBody>
      </p:sp>
      <p:sp>
        <p:nvSpPr>
          <p:cNvPr id="37" name="TextBox 36"/>
          <p:cNvSpPr txBox="1"/>
          <p:nvPr/>
        </p:nvSpPr>
        <p:spPr>
          <a:xfrm>
            <a:off x="3518839" y="4261104"/>
            <a:ext cx="2302687" cy="1051560"/>
          </a:xfrm>
          <a:prstGeom prst="rect">
            <a:avLst/>
          </a:prstGeom>
          <a:noFill/>
        </p:spPr>
        <p:txBody>
          <a:bodyPr wrap="square" anchor="t" lIns="0" rIns="0" tIns="0" bIns="0">
            <a:spAutoFit/>
          </a:bodyPr>
          <a:lstStyle/>
          <a:p>
            <a:pPr algn="ctr" rtl="1">
              <a:lnSpc>
                <a:spcPct val="120000"/>
              </a:lnSpc>
              <a:spcBef>
                <a:spcPts val="0"/>
              </a:spcBef>
              <a:spcAft>
                <a:spcPts val="400"/>
              </a:spcAft>
            </a:pPr>
            <a:r>
              <a:rPr sz="1000" b="0" i="0">
                <a:solidFill>
                  <a:srgbClr val="18263B"/>
                </a:solidFill>
                <a:latin typeface="Dubai"/>
                <a:cs typeface="Dubai"/>
                <a:ea typeface="Dubai"/>
              </a:rPr>
              <a:t>يحلّل الأدبيات بعمق ويقترح فجوات محتملة عبر حوار نقدي متدرج</a:t>
            </a:r>
          </a:p>
        </p:txBody>
      </p:sp>
      <p:sp>
        <p:nvSpPr>
          <p:cNvPr id="38" name="Rounded Rectangle 37"/>
          <p:cNvSpPr/>
          <p:nvPr/>
        </p:nvSpPr>
        <p:spPr>
          <a:xfrm>
            <a:off x="502920" y="3602736"/>
            <a:ext cx="2631871" cy="1783080"/>
          </a:xfrm>
          <a:prstGeom prst="roundRect">
            <a:avLst>
              <a:gd name="adj" fmla="val 11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02920" y="3602736"/>
            <a:ext cx="2631871" cy="109728"/>
          </a:xfrm>
          <a:prstGeom prst="roundRect">
            <a:avLst>
              <a:gd name="adj" fmla="val 100000"/>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3822192"/>
            <a:ext cx="2357551" cy="384048"/>
          </a:xfrm>
          <a:prstGeom prst="rect">
            <a:avLst/>
          </a:prstGeom>
          <a:noFill/>
        </p:spPr>
        <p:txBody>
          <a:bodyPr wrap="square" anchor="t" lIns="0" rIns="0" tIns="0" bIns="0">
            <a:spAutoFit/>
          </a:bodyPr>
          <a:lstStyle/>
          <a:p>
            <a:pPr algn="ctr">
              <a:lnSpc>
                <a:spcPct val="112000"/>
              </a:lnSpc>
              <a:spcBef>
                <a:spcPts val="0"/>
              </a:spcBef>
              <a:spcAft>
                <a:spcPts val="400"/>
              </a:spcAft>
            </a:pPr>
            <a:r>
              <a:rPr sz="1350" b="1" i="0">
                <a:solidFill>
                  <a:srgbClr val="2F6FB5"/>
                </a:solidFill>
                <a:latin typeface="Dubai"/>
                <a:cs typeface="Dubai"/>
                <a:ea typeface="Dubai"/>
              </a:rPr>
              <a:t>💬  ChatGPT</a:t>
            </a:r>
          </a:p>
        </p:txBody>
      </p:sp>
      <p:sp>
        <p:nvSpPr>
          <p:cNvPr id="41" name="TextBox 40"/>
          <p:cNvSpPr txBox="1"/>
          <p:nvPr/>
        </p:nvSpPr>
        <p:spPr>
          <a:xfrm>
            <a:off x="667512" y="4261104"/>
            <a:ext cx="2302687" cy="1051560"/>
          </a:xfrm>
          <a:prstGeom prst="rect">
            <a:avLst/>
          </a:prstGeom>
          <a:noFill/>
        </p:spPr>
        <p:txBody>
          <a:bodyPr wrap="square" anchor="t" lIns="0" rIns="0" tIns="0" bIns="0">
            <a:spAutoFit/>
          </a:bodyPr>
          <a:lstStyle/>
          <a:p>
            <a:pPr algn="ctr" rtl="1">
              <a:lnSpc>
                <a:spcPct val="120000"/>
              </a:lnSpc>
              <a:spcBef>
                <a:spcPts val="0"/>
              </a:spcBef>
              <a:spcAft>
                <a:spcPts val="400"/>
              </a:spcAft>
            </a:pPr>
            <a:r>
              <a:rPr sz="1000" b="0" i="0">
                <a:solidFill>
                  <a:srgbClr val="18263B"/>
                </a:solidFill>
                <a:latin typeface="Dubai"/>
                <a:cs typeface="Dubai"/>
                <a:ea typeface="Dubai"/>
              </a:rPr>
              <a:t>يساعد في صياغة أسئلة البحث واكتشاف المحاور الغائبة في خطتك</a:t>
            </a:r>
          </a:p>
        </p:txBody>
      </p:sp>
      <p:sp>
        <p:nvSpPr>
          <p:cNvPr id="42" name="Rounded Rectangle 41"/>
          <p:cNvSpPr/>
          <p:nvPr/>
        </p:nvSpPr>
        <p:spPr>
          <a:xfrm>
            <a:off x="502920" y="5623560"/>
            <a:ext cx="11185855" cy="566928"/>
          </a:xfrm>
          <a:prstGeom prst="roundRect">
            <a:avLst>
              <a:gd name="adj" fmla="val 30000"/>
            </a:avLst>
          </a:prstGeom>
          <a:solidFill>
            <a:srgbClr val="FAF3E6"/>
          </a:solidFill>
          <a:ln w="13970">
            <a:solidFill>
              <a:srgbClr val="DD9F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733288"/>
            <a:ext cx="10637215" cy="365760"/>
          </a:xfrm>
          <a:prstGeom prst="rect">
            <a:avLst/>
          </a:prstGeom>
          <a:noFill/>
        </p:spPr>
        <p:txBody>
          <a:bodyPr wrap="square" anchor="t" lIns="0" rIns="0" tIns="0" bIns="0">
            <a:spAutoFit/>
          </a:bodyPr>
          <a:lstStyle/>
          <a:p>
            <a:pPr algn="ctr" rtl="1">
              <a:lnSpc>
                <a:spcPct val="112000"/>
              </a:lnSpc>
              <a:spcBef>
                <a:spcPts val="0"/>
              </a:spcBef>
              <a:spcAft>
                <a:spcPts val="400"/>
              </a:spcAft>
            </a:pPr>
            <a:r>
              <a:rPr sz="1200" b="1" i="0">
                <a:solidFill>
                  <a:srgbClr val="DD9F33"/>
                </a:solidFill>
                <a:latin typeface="Dubai"/>
                <a:cs typeface="Dubai"/>
                <a:ea typeface="Dubai"/>
              </a:rPr>
              <a:t>💡 قاعدة ذهبية: </a:t>
            </a:r>
            <a:r>
              <a:rPr sz="1150" b="0" i="0">
                <a:solidFill>
                  <a:srgbClr val="18263B"/>
                </a:solidFill>
                <a:latin typeface="Dubai"/>
                <a:cs typeface="Dubai"/>
                <a:ea typeface="Dubai"/>
              </a:rPr>
              <a:t>هذه الأدوات نقطة انطلاق تسرّع البحث، وليست حكماً نهائياً — تحقّق دائماً من المصادر الأصلية قبل الاستشهاد بأي نتيجة.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E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865815" y="411480"/>
            <a:ext cx="822960" cy="822960"/>
          </a:xfrm>
          <a:prstGeom prst="roundRect">
            <a:avLst>
              <a:gd name="adj" fmla="val 28000"/>
            </a:avLst>
          </a:prstGeom>
          <a:solidFill>
            <a:srgbClr val="E3EFE7"/>
          </a:solidFill>
          <a:ln w="15240">
            <a:solidFill>
              <a:srgbClr val="3E8E5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3000" b="0" i="0">
                <a:solidFill>
                  <a:srgbClr val="3E8E5A"/>
                </a:solidFill>
                <a:latin typeface="Dubai"/>
                <a:cs typeface="Dubai"/>
                <a:ea typeface="Dubai"/>
              </a:rPr>
              <a:t>🗞</a:t>
            </a:r>
          </a:p>
        </p:txBody>
      </p:sp>
      <p:sp>
        <p:nvSpPr>
          <p:cNvPr id="5" name="TextBox 4"/>
          <p:cNvSpPr txBox="1"/>
          <p:nvPr/>
        </p:nvSpPr>
        <p:spPr>
          <a:xfrm>
            <a:off x="502920" y="365760"/>
            <a:ext cx="10180015" cy="566928"/>
          </a:xfrm>
          <a:prstGeom prst="rect">
            <a:avLst/>
          </a:prstGeom>
          <a:noFill/>
        </p:spPr>
        <p:txBody>
          <a:bodyPr wrap="square" anchor="t" lIns="0" rIns="0" tIns="0" bIns="0">
            <a:spAutoFit/>
          </a:bodyPr>
          <a:lstStyle/>
          <a:p>
            <a:pPr algn="r" rtl="1">
              <a:lnSpc>
                <a:spcPct val="112000"/>
              </a:lnSpc>
              <a:spcBef>
                <a:spcPts val="0"/>
              </a:spcBef>
              <a:spcAft>
                <a:spcPts val="400"/>
              </a:spcAft>
            </a:pPr>
            <a:r>
              <a:rPr sz="2700" b="1" i="0">
                <a:solidFill>
                  <a:srgbClr val="18263B"/>
                </a:solidFill>
                <a:latin typeface="Dubai"/>
                <a:cs typeface="Dubai"/>
                <a:ea typeface="Dubai"/>
              </a:rPr>
              <a:t>استراتيجيات الباحثين المحترفين</a:t>
            </a:r>
          </a:p>
        </p:txBody>
      </p:sp>
      <p:sp>
        <p:nvSpPr>
          <p:cNvPr id="6" name="TextBox 5"/>
          <p:cNvSpPr txBox="1"/>
          <p:nvPr/>
        </p:nvSpPr>
        <p:spPr>
          <a:xfrm>
            <a:off x="502920" y="969264"/>
            <a:ext cx="10180015" cy="365760"/>
          </a:xfrm>
          <a:prstGeom prst="rect">
            <a:avLst/>
          </a:prstGeom>
          <a:noFill/>
        </p:spPr>
        <p:txBody>
          <a:bodyPr wrap="square" anchor="t" lIns="0" rIns="0" tIns="0" bIns="0">
            <a:spAutoFit/>
          </a:bodyPr>
          <a:lstStyle/>
          <a:p>
            <a:pPr algn="r">
              <a:lnSpc>
                <a:spcPct val="112000"/>
              </a:lnSpc>
              <a:spcBef>
                <a:spcPts val="0"/>
              </a:spcBef>
              <a:spcAft>
                <a:spcPts val="400"/>
              </a:spcAft>
            </a:pPr>
            <a:r>
              <a:rPr sz="1250" b="0" i="1">
                <a:solidFill>
                  <a:srgbClr val="3E8E5A"/>
                </a:solidFill>
                <a:latin typeface="Dubai"/>
                <a:cs typeface="Dubai"/>
                <a:ea typeface="Dubai"/>
              </a:rPr>
              <a:t>Expert Researcher Strategies</a:t>
            </a:r>
          </a:p>
        </p:txBody>
      </p:sp>
      <p:sp>
        <p:nvSpPr>
          <p:cNvPr id="7" name="Rectangle 6"/>
          <p:cNvSpPr/>
          <p:nvPr/>
        </p:nvSpPr>
        <p:spPr>
          <a:xfrm>
            <a:off x="9128455" y="1389888"/>
            <a:ext cx="1554480" cy="45720"/>
          </a:xfrm>
          <a:prstGeom prst="rect">
            <a:avLst/>
          </a:prstGeom>
          <a:solidFill>
            <a:srgbClr val="3E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3200400" cy="274320"/>
          </a:xfrm>
          <a:prstGeom prst="rect">
            <a:avLst/>
          </a:prstGeom>
          <a:noFill/>
        </p:spPr>
        <p:txBody>
          <a:bodyPr wrap="square" anchor="t" lIns="0" rIns="0" tIns="0" bIns="0">
            <a:spAutoFit/>
          </a:bodyPr>
          <a:lstStyle/>
          <a:p>
            <a:pPr algn="l">
              <a:lnSpc>
                <a:spcPct val="112000"/>
              </a:lnSpc>
              <a:spcBef>
                <a:spcPts val="0"/>
              </a:spcBef>
              <a:spcAft>
                <a:spcPts val="400"/>
              </a:spcAft>
            </a:pPr>
            <a:r>
              <a:rPr sz="1050" b="1" i="0">
                <a:solidFill>
                  <a:srgbClr val="3E8E5A"/>
                </a:solidFill>
                <a:latin typeface="Dubai"/>
                <a:cs typeface="Dubai"/>
                <a:ea typeface="Dubai"/>
              </a:rPr>
              <a:t>08</a:t>
            </a:r>
            <a:r>
              <a:rPr sz="900" b="0" i="0">
                <a:solidFill>
                  <a:srgbClr val="62748A"/>
                </a:solidFill>
                <a:latin typeface="Dubai"/>
                <a:cs typeface="Dubai"/>
                <a:ea typeface="Dubai"/>
              </a:rPr>
              <a:t>   Research Gaps — Dr. Hana Hossen Elahemer</a:t>
            </a:r>
          </a:p>
        </p:txBody>
      </p:sp>
      <p:sp>
        <p:nvSpPr>
          <p:cNvPr id="9" name="TextBox 8"/>
          <p:cNvSpPr txBox="1"/>
          <p:nvPr/>
        </p:nvSpPr>
        <p:spPr>
          <a:xfrm>
            <a:off x="8488375" y="6455664"/>
            <a:ext cx="3200400"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00" b="0" i="0">
                <a:solidFill>
                  <a:srgbClr val="62748A"/>
                </a:solidFill>
                <a:latin typeface="Dubai"/>
                <a:cs typeface="Dubai"/>
                <a:ea typeface="Dubai"/>
              </a:rPr>
              <a:t>الفجوات البحثية • ورشة عمل أكاديمية</a:t>
            </a:r>
          </a:p>
        </p:txBody>
      </p:sp>
      <p:sp>
        <p:nvSpPr>
          <p:cNvPr id="10" name="Rounded Rectangle 9"/>
          <p:cNvSpPr/>
          <p:nvPr/>
        </p:nvSpPr>
        <p:spPr>
          <a:xfrm>
            <a:off x="502920" y="1664208"/>
            <a:ext cx="11185855" cy="850392"/>
          </a:xfrm>
          <a:prstGeom prst="roundRect">
            <a:avLst>
              <a:gd name="adj" fmla="val 16000"/>
            </a:avLst>
          </a:prstGeom>
          <a:solidFill>
            <a:srgbClr val="F4F4FC"/>
          </a:solidFill>
          <a:ln w="13970">
            <a:solidFill>
              <a:srgbClr val="6C63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911535" y="1810512"/>
            <a:ext cx="566928" cy="566928"/>
          </a:xfrm>
          <a:prstGeom prst="ellipse">
            <a:avLst/>
          </a:prstGeom>
          <a:solidFill>
            <a:srgbClr val="6C6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0" i="0">
                <a:solidFill>
                  <a:srgbClr val="FFFFFF"/>
                </a:solidFill>
                <a:latin typeface="Dubai"/>
                <a:cs typeface="Dubai"/>
                <a:ea typeface="Dubai"/>
              </a:rPr>
              <a:t>📄</a:t>
            </a:r>
          </a:p>
        </p:txBody>
      </p:sp>
      <p:sp>
        <p:nvSpPr>
          <p:cNvPr id="12" name="TextBox 11"/>
          <p:cNvSpPr txBox="1"/>
          <p:nvPr/>
        </p:nvSpPr>
        <p:spPr>
          <a:xfrm>
            <a:off x="777240" y="1737360"/>
            <a:ext cx="9951415"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350" b="1" i="0">
                <a:solidFill>
                  <a:srgbClr val="6C63D8"/>
                </a:solidFill>
                <a:latin typeface="Dubai"/>
                <a:cs typeface="Dubai"/>
                <a:ea typeface="Dubai"/>
              </a:rPr>
              <a:t>قراءة خاتمات الدراسات</a:t>
            </a:r>
          </a:p>
        </p:txBody>
      </p:sp>
      <p:sp>
        <p:nvSpPr>
          <p:cNvPr id="13" name="TextBox 12"/>
          <p:cNvSpPr txBox="1"/>
          <p:nvPr/>
        </p:nvSpPr>
        <p:spPr>
          <a:xfrm>
            <a:off x="777240" y="2093976"/>
            <a:ext cx="9951415" cy="384048"/>
          </a:xfrm>
          <a:prstGeom prst="rect">
            <a:avLst/>
          </a:prstGeom>
          <a:noFill/>
        </p:spPr>
        <p:txBody>
          <a:bodyPr wrap="square" anchor="t" lIns="0" rIns="0" tIns="0" bIns="0">
            <a:spAutoFit/>
          </a:bodyPr>
          <a:lstStyle/>
          <a:p>
            <a:pPr algn="r" rtl="1">
              <a:lnSpc>
                <a:spcPct val="115000"/>
              </a:lnSpc>
              <a:spcBef>
                <a:spcPts val="0"/>
              </a:spcBef>
              <a:spcAft>
                <a:spcPts val="400"/>
              </a:spcAft>
            </a:pPr>
            <a:r>
              <a:rPr sz="1080" b="0" i="0">
                <a:solidFill>
                  <a:srgbClr val="18263B"/>
                </a:solidFill>
                <a:latin typeface="Dubai"/>
                <a:cs typeface="Dubai"/>
                <a:ea typeface="Dubai"/>
              </a:rPr>
              <a:t>الباحثون يوصون بفجوات مستقبلية في نهاية أبحاثهم ضمن قسم «حدود الدراسة والبحوث المقترحة» — استثمرها فهي فجوات جاهزة وموثّقة!</a:t>
            </a:r>
          </a:p>
        </p:txBody>
      </p:sp>
      <p:sp>
        <p:nvSpPr>
          <p:cNvPr id="14" name="Rounded Rectangle 13"/>
          <p:cNvSpPr/>
          <p:nvPr/>
        </p:nvSpPr>
        <p:spPr>
          <a:xfrm>
            <a:off x="502920" y="2633472"/>
            <a:ext cx="11185855" cy="850392"/>
          </a:xfrm>
          <a:prstGeom prst="roundRect">
            <a:avLst>
              <a:gd name="adj" fmla="val 16000"/>
            </a:avLst>
          </a:prstGeom>
          <a:solidFill>
            <a:srgbClr val="EEF8F6"/>
          </a:solidFill>
          <a:ln w="13970">
            <a:solidFill>
              <a:srgbClr val="0E9F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911535" y="2779776"/>
            <a:ext cx="566928" cy="566928"/>
          </a:xfrm>
          <a:prstGeom prst="ellipse">
            <a:avLst/>
          </a:prstGeom>
          <a:solidFill>
            <a:srgbClr val="0E9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0" i="0">
                <a:solidFill>
                  <a:srgbClr val="FFFFFF"/>
                </a:solidFill>
                <a:latin typeface="Dubai"/>
                <a:cs typeface="Dubai"/>
                <a:ea typeface="Dubai"/>
              </a:rPr>
              <a:t>🗺</a:t>
            </a:r>
          </a:p>
        </p:txBody>
      </p:sp>
      <p:sp>
        <p:nvSpPr>
          <p:cNvPr id="16" name="TextBox 15"/>
          <p:cNvSpPr txBox="1"/>
          <p:nvPr/>
        </p:nvSpPr>
        <p:spPr>
          <a:xfrm>
            <a:off x="777240" y="2706624"/>
            <a:ext cx="9951415"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350" b="1" i="0">
                <a:solidFill>
                  <a:srgbClr val="0E9F8C"/>
                </a:solidFill>
                <a:latin typeface="Dubai"/>
                <a:cs typeface="Dubai"/>
                <a:ea typeface="Dubai"/>
              </a:rPr>
              <a:t>رسم خريطة الأدبيات</a:t>
            </a:r>
          </a:p>
        </p:txBody>
      </p:sp>
      <p:sp>
        <p:nvSpPr>
          <p:cNvPr id="17" name="TextBox 16"/>
          <p:cNvSpPr txBox="1"/>
          <p:nvPr/>
        </p:nvSpPr>
        <p:spPr>
          <a:xfrm>
            <a:off x="777240" y="3063239"/>
            <a:ext cx="9951415" cy="384048"/>
          </a:xfrm>
          <a:prstGeom prst="rect">
            <a:avLst/>
          </a:prstGeom>
          <a:noFill/>
        </p:spPr>
        <p:txBody>
          <a:bodyPr wrap="square" anchor="t" lIns="0" rIns="0" tIns="0" bIns="0">
            <a:spAutoFit/>
          </a:bodyPr>
          <a:lstStyle/>
          <a:p>
            <a:pPr algn="r" rtl="1">
              <a:lnSpc>
                <a:spcPct val="115000"/>
              </a:lnSpc>
              <a:spcBef>
                <a:spcPts val="0"/>
              </a:spcBef>
              <a:spcAft>
                <a:spcPts val="400"/>
              </a:spcAft>
            </a:pPr>
            <a:r>
              <a:rPr sz="1080" b="0" i="0">
                <a:solidFill>
                  <a:srgbClr val="18263B"/>
                </a:solidFill>
                <a:latin typeface="Dubai"/>
                <a:cs typeface="Dubai"/>
                <a:ea typeface="Dubai"/>
              </a:rPr>
              <a:t>صنّف الدراسات في جدول: السكان، المنهج، البلد، الزمن — ستظهر الخانات الفارغة جليّاً وكل خانة فارغة فجوة محتملة.</a:t>
            </a:r>
          </a:p>
        </p:txBody>
      </p:sp>
      <p:sp>
        <p:nvSpPr>
          <p:cNvPr id="18" name="Rounded Rectangle 17"/>
          <p:cNvSpPr/>
          <p:nvPr/>
        </p:nvSpPr>
        <p:spPr>
          <a:xfrm>
            <a:off x="502920" y="3602736"/>
            <a:ext cx="11185855" cy="850392"/>
          </a:xfrm>
          <a:prstGeom prst="roundRect">
            <a:avLst>
              <a:gd name="adj" fmla="val 16000"/>
            </a:avLst>
          </a:prstGeom>
          <a:solidFill>
            <a:srgbClr val="FAF1F5"/>
          </a:solidFill>
          <a:ln w="13970">
            <a:solidFill>
              <a:srgbClr val="C23E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911535" y="3749040"/>
            <a:ext cx="566928" cy="566928"/>
          </a:xfrm>
          <a:prstGeom prst="ellipse">
            <a:avLst/>
          </a:prstGeom>
          <a:solidFill>
            <a:srgbClr val="C23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0" i="0">
                <a:solidFill>
                  <a:srgbClr val="FFFFFF"/>
                </a:solidFill>
                <a:latin typeface="Dubai"/>
                <a:cs typeface="Dubai"/>
                <a:ea typeface="Dubai"/>
              </a:rPr>
              <a:t>⚖️</a:t>
            </a:r>
          </a:p>
        </p:txBody>
      </p:sp>
      <p:sp>
        <p:nvSpPr>
          <p:cNvPr id="20" name="TextBox 19"/>
          <p:cNvSpPr txBox="1"/>
          <p:nvPr/>
        </p:nvSpPr>
        <p:spPr>
          <a:xfrm>
            <a:off x="777240" y="3675888"/>
            <a:ext cx="9951415"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350" b="1" i="0">
                <a:solidFill>
                  <a:srgbClr val="C23E77"/>
                </a:solidFill>
                <a:latin typeface="Dubai"/>
                <a:cs typeface="Dubai"/>
                <a:ea typeface="Dubai"/>
              </a:rPr>
              <a:t>البحث في التناقضات</a:t>
            </a:r>
          </a:p>
        </p:txBody>
      </p:sp>
      <p:sp>
        <p:nvSpPr>
          <p:cNvPr id="21" name="TextBox 20"/>
          <p:cNvSpPr txBox="1"/>
          <p:nvPr/>
        </p:nvSpPr>
        <p:spPr>
          <a:xfrm>
            <a:off x="777240" y="4032504"/>
            <a:ext cx="9951415" cy="384048"/>
          </a:xfrm>
          <a:prstGeom prst="rect">
            <a:avLst/>
          </a:prstGeom>
          <a:noFill/>
        </p:spPr>
        <p:txBody>
          <a:bodyPr wrap="square" anchor="t" lIns="0" rIns="0" tIns="0" bIns="0">
            <a:spAutoFit/>
          </a:bodyPr>
          <a:lstStyle/>
          <a:p>
            <a:pPr algn="r" rtl="1">
              <a:lnSpc>
                <a:spcPct val="115000"/>
              </a:lnSpc>
              <a:spcBef>
                <a:spcPts val="0"/>
              </a:spcBef>
              <a:spcAft>
                <a:spcPts val="400"/>
              </a:spcAft>
            </a:pPr>
            <a:r>
              <a:rPr sz="1080" b="0" i="0">
                <a:solidFill>
                  <a:srgbClr val="18263B"/>
                </a:solidFill>
                <a:latin typeface="Dubai"/>
                <a:cs typeface="Dubai"/>
                <a:ea typeface="Dubai"/>
              </a:rPr>
              <a:t>التضارب بين نتائج الدراسات = فجوة قوية وفرصة بحثية ذهبية؛ دراستك قد تكون الحكم الذي يحسم الخلاف العلمي.</a:t>
            </a:r>
          </a:p>
        </p:txBody>
      </p:sp>
      <p:sp>
        <p:nvSpPr>
          <p:cNvPr id="22" name="Rounded Rectangle 21"/>
          <p:cNvSpPr/>
          <p:nvPr/>
        </p:nvSpPr>
        <p:spPr>
          <a:xfrm>
            <a:off x="502920" y="4572000"/>
            <a:ext cx="11185855" cy="850392"/>
          </a:xfrm>
          <a:prstGeom prst="roundRect">
            <a:avLst>
              <a:gd name="adj" fmla="val 16000"/>
            </a:avLst>
          </a:prstGeom>
          <a:solidFill>
            <a:srgbClr val="FCF8F0"/>
          </a:solidFill>
          <a:ln w="13970">
            <a:solidFill>
              <a:srgbClr val="DD9F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911535" y="4718304"/>
            <a:ext cx="566928" cy="566928"/>
          </a:xfrm>
          <a:prstGeom prst="ellipse">
            <a:avLst/>
          </a:prstGeom>
          <a:solidFill>
            <a:srgbClr val="DD9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0" i="0">
                <a:solidFill>
                  <a:srgbClr val="FFFFFF"/>
                </a:solidFill>
                <a:latin typeface="Dubai"/>
                <a:cs typeface="Dubai"/>
                <a:ea typeface="Dubai"/>
              </a:rPr>
              <a:t>❓</a:t>
            </a:r>
          </a:p>
        </p:txBody>
      </p:sp>
      <p:sp>
        <p:nvSpPr>
          <p:cNvPr id="24" name="TextBox 23"/>
          <p:cNvSpPr txBox="1"/>
          <p:nvPr/>
        </p:nvSpPr>
        <p:spPr>
          <a:xfrm>
            <a:off x="777240" y="4645152"/>
            <a:ext cx="9951415"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350" b="1" i="0">
                <a:solidFill>
                  <a:srgbClr val="DD9F33"/>
                </a:solidFill>
                <a:latin typeface="Dubai"/>
                <a:cs typeface="Dubai"/>
                <a:ea typeface="Dubai"/>
              </a:rPr>
              <a:t>اسأل: ماذا لو؟</a:t>
            </a:r>
          </a:p>
        </p:txBody>
      </p:sp>
      <p:sp>
        <p:nvSpPr>
          <p:cNvPr id="25" name="TextBox 24"/>
          <p:cNvSpPr txBox="1"/>
          <p:nvPr/>
        </p:nvSpPr>
        <p:spPr>
          <a:xfrm>
            <a:off x="777240" y="5001768"/>
            <a:ext cx="9951415" cy="384048"/>
          </a:xfrm>
          <a:prstGeom prst="rect">
            <a:avLst/>
          </a:prstGeom>
          <a:noFill/>
        </p:spPr>
        <p:txBody>
          <a:bodyPr wrap="square" anchor="t" lIns="0" rIns="0" tIns="0" bIns="0">
            <a:spAutoFit/>
          </a:bodyPr>
          <a:lstStyle/>
          <a:p>
            <a:pPr algn="r" rtl="1">
              <a:lnSpc>
                <a:spcPct val="115000"/>
              </a:lnSpc>
              <a:spcBef>
                <a:spcPts val="0"/>
              </a:spcBef>
              <a:spcAft>
                <a:spcPts val="400"/>
              </a:spcAft>
            </a:pPr>
            <a:r>
              <a:rPr sz="1080" b="0" i="0">
                <a:solidFill>
                  <a:srgbClr val="18263B"/>
                </a:solidFill>
                <a:latin typeface="Dubai"/>
                <a:cs typeface="Dubai"/>
                <a:ea typeface="Dubai"/>
              </a:rPr>
              <a:t>ماذا لو طبّقنا هذه الدراسة على سياق مختلف أو فئة عمرية أخرى أو بمنهج مغاير؟ كل إجابة مقنعة قد تكون بحثاً جديداً.</a:t>
            </a:r>
          </a:p>
        </p:txBody>
      </p:sp>
      <p:sp>
        <p:nvSpPr>
          <p:cNvPr id="26" name="Rounded Rectangle 25"/>
          <p:cNvSpPr/>
          <p:nvPr/>
        </p:nvSpPr>
        <p:spPr>
          <a:xfrm>
            <a:off x="502920" y="5596128"/>
            <a:ext cx="11185855" cy="594360"/>
          </a:xfrm>
          <a:prstGeom prst="roundRect">
            <a:avLst>
              <a:gd name="adj" fmla="val 30000"/>
            </a:avLst>
          </a:prstGeom>
          <a:solidFill>
            <a:srgbClr val="101E3C"/>
          </a:solidFill>
          <a:ln w="15240">
            <a:solidFill>
              <a:srgbClr val="DD9F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5715000"/>
            <a:ext cx="10637215" cy="384048"/>
          </a:xfrm>
          <a:prstGeom prst="rect">
            <a:avLst/>
          </a:prstGeom>
          <a:noFill/>
        </p:spPr>
        <p:txBody>
          <a:bodyPr wrap="square" anchor="t" lIns="0" rIns="0" tIns="0" bIns="0">
            <a:spAutoFit/>
          </a:bodyPr>
          <a:lstStyle/>
          <a:p>
            <a:pPr algn="ctr" rtl="1">
              <a:lnSpc>
                <a:spcPct val="112000"/>
              </a:lnSpc>
              <a:spcBef>
                <a:spcPts val="0"/>
              </a:spcBef>
              <a:spcAft>
                <a:spcPts val="400"/>
              </a:spcAft>
            </a:pPr>
            <a:r>
              <a:rPr sz="1250" b="1" i="0">
                <a:solidFill>
                  <a:srgbClr val="DD9F33"/>
                </a:solidFill>
                <a:latin typeface="Dubai"/>
                <a:cs typeface="Dubai"/>
                <a:ea typeface="Dubai"/>
              </a:rPr>
              <a:t>💡 نصيحة ذهبية: </a:t>
            </a:r>
            <a:r>
              <a:rPr sz="1200" b="0" i="0">
                <a:solidFill>
                  <a:srgbClr val="FFFFFF"/>
                </a:solidFill>
                <a:latin typeface="Dubai"/>
                <a:cs typeface="Dubai"/>
                <a:ea typeface="Dubai"/>
              </a:rPr>
              <a:t>اقرأ آخر ٢٠ ورقة في مجلتك المستهدفة — الأنماط المتكررة ستكشف الفراغات بوضوح تام.</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865815" y="411480"/>
            <a:ext cx="822960" cy="822960"/>
          </a:xfrm>
          <a:prstGeom prst="roundRect">
            <a:avLst>
              <a:gd name="adj" fmla="val 28000"/>
            </a:avLst>
          </a:prstGeom>
          <a:solidFill>
            <a:srgbClr val="E1EAF4"/>
          </a:solidFill>
          <a:ln w="15240">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3000" b="0" i="0">
                <a:solidFill>
                  <a:srgbClr val="2F6FB5"/>
                </a:solidFill>
                <a:latin typeface="Dubai"/>
                <a:cs typeface="Dubai"/>
                <a:ea typeface="Dubai"/>
              </a:rPr>
              <a:t>💡</a:t>
            </a:r>
          </a:p>
        </p:txBody>
      </p:sp>
      <p:sp>
        <p:nvSpPr>
          <p:cNvPr id="5" name="TextBox 4"/>
          <p:cNvSpPr txBox="1"/>
          <p:nvPr/>
        </p:nvSpPr>
        <p:spPr>
          <a:xfrm>
            <a:off x="502920" y="365760"/>
            <a:ext cx="10180015" cy="566928"/>
          </a:xfrm>
          <a:prstGeom prst="rect">
            <a:avLst/>
          </a:prstGeom>
          <a:noFill/>
        </p:spPr>
        <p:txBody>
          <a:bodyPr wrap="square" anchor="t" lIns="0" rIns="0" tIns="0" bIns="0">
            <a:spAutoFit/>
          </a:bodyPr>
          <a:lstStyle/>
          <a:p>
            <a:pPr algn="r" rtl="1">
              <a:lnSpc>
                <a:spcPct val="112000"/>
              </a:lnSpc>
              <a:spcBef>
                <a:spcPts val="0"/>
              </a:spcBef>
              <a:spcAft>
                <a:spcPts val="400"/>
              </a:spcAft>
            </a:pPr>
            <a:r>
              <a:rPr sz="2700" b="1" i="0">
                <a:solidFill>
                  <a:srgbClr val="18263B"/>
                </a:solidFill>
                <a:latin typeface="Dubai"/>
                <a:cs typeface="Dubai"/>
                <a:ea typeface="Dubai"/>
              </a:rPr>
              <a:t>التفكير النقدي عند تحليل الدراسات</a:t>
            </a:r>
          </a:p>
        </p:txBody>
      </p:sp>
      <p:sp>
        <p:nvSpPr>
          <p:cNvPr id="6" name="TextBox 5"/>
          <p:cNvSpPr txBox="1"/>
          <p:nvPr/>
        </p:nvSpPr>
        <p:spPr>
          <a:xfrm>
            <a:off x="502920" y="969264"/>
            <a:ext cx="10180015" cy="365760"/>
          </a:xfrm>
          <a:prstGeom prst="rect">
            <a:avLst/>
          </a:prstGeom>
          <a:noFill/>
        </p:spPr>
        <p:txBody>
          <a:bodyPr wrap="square" anchor="t" lIns="0" rIns="0" tIns="0" bIns="0">
            <a:spAutoFit/>
          </a:bodyPr>
          <a:lstStyle/>
          <a:p>
            <a:pPr algn="r">
              <a:lnSpc>
                <a:spcPct val="112000"/>
              </a:lnSpc>
              <a:spcBef>
                <a:spcPts val="0"/>
              </a:spcBef>
              <a:spcAft>
                <a:spcPts val="400"/>
              </a:spcAft>
            </a:pPr>
            <a:r>
              <a:rPr sz="1250" b="0" i="1">
                <a:solidFill>
                  <a:srgbClr val="2F6FB5"/>
                </a:solidFill>
                <a:latin typeface="Dubai"/>
                <a:cs typeface="Dubai"/>
                <a:ea typeface="Dubai"/>
              </a:rPr>
              <a:t>Critical Thinking Framework</a:t>
            </a:r>
          </a:p>
        </p:txBody>
      </p:sp>
      <p:sp>
        <p:nvSpPr>
          <p:cNvPr id="7" name="Rectangle 6"/>
          <p:cNvSpPr/>
          <p:nvPr/>
        </p:nvSpPr>
        <p:spPr>
          <a:xfrm>
            <a:off x="9128455" y="1389888"/>
            <a:ext cx="1554480" cy="45720"/>
          </a:xfrm>
          <a:prstGeom prst="rect">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3200400" cy="274320"/>
          </a:xfrm>
          <a:prstGeom prst="rect">
            <a:avLst/>
          </a:prstGeom>
          <a:noFill/>
        </p:spPr>
        <p:txBody>
          <a:bodyPr wrap="square" anchor="t" lIns="0" rIns="0" tIns="0" bIns="0">
            <a:spAutoFit/>
          </a:bodyPr>
          <a:lstStyle/>
          <a:p>
            <a:pPr algn="l">
              <a:lnSpc>
                <a:spcPct val="112000"/>
              </a:lnSpc>
              <a:spcBef>
                <a:spcPts val="0"/>
              </a:spcBef>
              <a:spcAft>
                <a:spcPts val="400"/>
              </a:spcAft>
            </a:pPr>
            <a:r>
              <a:rPr sz="1050" b="1" i="0">
                <a:solidFill>
                  <a:srgbClr val="2F6FB5"/>
                </a:solidFill>
                <a:latin typeface="Dubai"/>
                <a:cs typeface="Dubai"/>
                <a:ea typeface="Dubai"/>
              </a:rPr>
              <a:t>09</a:t>
            </a:r>
            <a:r>
              <a:rPr sz="900" b="0" i="0">
                <a:solidFill>
                  <a:srgbClr val="62748A"/>
                </a:solidFill>
                <a:latin typeface="Dubai"/>
                <a:cs typeface="Dubai"/>
                <a:ea typeface="Dubai"/>
              </a:rPr>
              <a:t>   Research Gaps — Dr. Hana Hossen Elahemer</a:t>
            </a:r>
          </a:p>
        </p:txBody>
      </p:sp>
      <p:sp>
        <p:nvSpPr>
          <p:cNvPr id="9" name="TextBox 8"/>
          <p:cNvSpPr txBox="1"/>
          <p:nvPr/>
        </p:nvSpPr>
        <p:spPr>
          <a:xfrm>
            <a:off x="8488375" y="6455664"/>
            <a:ext cx="3200400"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00" b="0" i="0">
                <a:solidFill>
                  <a:srgbClr val="62748A"/>
                </a:solidFill>
                <a:latin typeface="Dubai"/>
                <a:cs typeface="Dubai"/>
                <a:ea typeface="Dubai"/>
              </a:rPr>
              <a:t>الفجوات البحثية • ورشة عمل أكاديمية</a:t>
            </a:r>
          </a:p>
        </p:txBody>
      </p:sp>
      <p:sp>
        <p:nvSpPr>
          <p:cNvPr id="10" name="Rounded Rectangle 9"/>
          <p:cNvSpPr/>
          <p:nvPr/>
        </p:nvSpPr>
        <p:spPr>
          <a:xfrm>
            <a:off x="6255867" y="1664208"/>
            <a:ext cx="5432907" cy="3794760"/>
          </a:xfrm>
          <a:prstGeom prst="roundRect">
            <a:avLst>
              <a:gd name="adj" fmla="val 8000"/>
            </a:avLst>
          </a:prstGeom>
          <a:solidFill>
            <a:srgbClr val="F4F4FC"/>
          </a:solidFill>
          <a:ln w="13970">
            <a:solidFill>
              <a:srgbClr val="6C63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0187" y="1810512"/>
            <a:ext cx="48842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500" b="1" i="0">
                <a:solidFill>
                  <a:srgbClr val="6C63D8"/>
                </a:solidFill>
                <a:latin typeface="Dubai"/>
                <a:cs typeface="Dubai"/>
                <a:ea typeface="Dubai"/>
              </a:rPr>
              <a:t>❓ الأسئلة الستة الذهبية</a:t>
            </a:r>
          </a:p>
        </p:txBody>
      </p:sp>
      <p:sp>
        <p:nvSpPr>
          <p:cNvPr id="12" name="TextBox 11"/>
          <p:cNvSpPr txBox="1"/>
          <p:nvPr/>
        </p:nvSpPr>
        <p:spPr>
          <a:xfrm>
            <a:off x="6575907" y="2331720"/>
            <a:ext cx="4792827" cy="3017520"/>
          </a:xfrm>
          <a:prstGeom prst="rect">
            <a:avLst/>
          </a:prstGeom>
          <a:noFill/>
        </p:spPr>
        <p:txBody>
          <a:bodyPr wrap="square" anchor="t" lIns="0" rIns="0" tIns="0" bIns="0">
            <a:spAutoFit/>
          </a:bodyPr>
          <a:lstStyle/>
          <a:p>
            <a:pPr algn="r" rtl="1">
              <a:lnSpc>
                <a:spcPct val="115000"/>
              </a:lnSpc>
              <a:spcBef>
                <a:spcPts val="0"/>
              </a:spcBef>
              <a:spcAft>
                <a:spcPts val="900"/>
              </a:spcAft>
            </a:pPr>
            <a:r>
              <a:rPr sz="1100" b="0" i="0">
                <a:solidFill>
                  <a:srgbClr val="C23E77"/>
                </a:solidFill>
                <a:latin typeface="Dubai"/>
                <a:cs typeface="Dubai"/>
                <a:ea typeface="Dubai"/>
              </a:rPr>
              <a:t>●  </a:t>
            </a:r>
            <a:r>
              <a:rPr sz="1250" b="1" i="0">
                <a:solidFill>
                  <a:srgbClr val="C23E77"/>
                </a:solidFill>
                <a:latin typeface="Dubai"/>
                <a:cs typeface="Dubai"/>
                <a:ea typeface="Dubai"/>
              </a:rPr>
              <a:t>مَن </a:t>
            </a:r>
            <a:r>
              <a:rPr sz="1200" b="0" i="0">
                <a:solidFill>
                  <a:srgbClr val="18263B"/>
                </a:solidFill>
                <a:latin typeface="Dubai"/>
                <a:cs typeface="Dubai"/>
                <a:ea typeface="Dubai"/>
              </a:rPr>
              <a:t>دُرس؟ (السكان والعينة)</a:t>
            </a:r>
          </a:p>
          <a:p>
            <a:pPr algn="r" rtl="1">
              <a:lnSpc>
                <a:spcPct val="115000"/>
              </a:lnSpc>
              <a:spcBef>
                <a:spcPts val="0"/>
              </a:spcBef>
              <a:spcAft>
                <a:spcPts val="900"/>
              </a:spcAft>
            </a:pPr>
            <a:r>
              <a:rPr sz="1100" b="0" i="0">
                <a:solidFill>
                  <a:srgbClr val="DD9F33"/>
                </a:solidFill>
                <a:latin typeface="Dubai"/>
                <a:cs typeface="Dubai"/>
                <a:ea typeface="Dubai"/>
              </a:rPr>
              <a:t>●  </a:t>
            </a:r>
            <a:r>
              <a:rPr sz="1250" b="1" i="0">
                <a:solidFill>
                  <a:srgbClr val="DD9F33"/>
                </a:solidFill>
                <a:latin typeface="Dubai"/>
                <a:cs typeface="Dubai"/>
                <a:ea typeface="Dubai"/>
              </a:rPr>
              <a:t>ماذا </a:t>
            </a:r>
            <a:r>
              <a:rPr sz="1200" b="0" i="0">
                <a:solidFill>
                  <a:srgbClr val="18263B"/>
                </a:solidFill>
                <a:latin typeface="Dubai"/>
                <a:cs typeface="Dubai"/>
                <a:ea typeface="Dubai"/>
              </a:rPr>
              <a:t>قِيس؟ (المتغيرات والأدوات)</a:t>
            </a:r>
          </a:p>
          <a:p>
            <a:pPr algn="r" rtl="1">
              <a:lnSpc>
                <a:spcPct val="115000"/>
              </a:lnSpc>
              <a:spcBef>
                <a:spcPts val="0"/>
              </a:spcBef>
              <a:spcAft>
                <a:spcPts val="900"/>
              </a:spcAft>
            </a:pPr>
            <a:r>
              <a:rPr sz="1100" b="0" i="0">
                <a:solidFill>
                  <a:srgbClr val="0E9F8C"/>
                </a:solidFill>
                <a:latin typeface="Dubai"/>
                <a:cs typeface="Dubai"/>
                <a:ea typeface="Dubai"/>
              </a:rPr>
              <a:t>●  </a:t>
            </a:r>
            <a:r>
              <a:rPr sz="1250" b="1" i="0">
                <a:solidFill>
                  <a:srgbClr val="0E9F8C"/>
                </a:solidFill>
                <a:latin typeface="Dubai"/>
                <a:cs typeface="Dubai"/>
                <a:ea typeface="Dubai"/>
              </a:rPr>
              <a:t>أين </a:t>
            </a:r>
            <a:r>
              <a:rPr sz="1200" b="0" i="0">
                <a:solidFill>
                  <a:srgbClr val="18263B"/>
                </a:solidFill>
                <a:latin typeface="Dubai"/>
                <a:cs typeface="Dubai"/>
                <a:ea typeface="Dubai"/>
              </a:rPr>
              <a:t>أُجري؟ (السياق الجغرافي والثقافي)</a:t>
            </a:r>
          </a:p>
          <a:p>
            <a:pPr algn="r" rtl="1">
              <a:lnSpc>
                <a:spcPct val="115000"/>
              </a:lnSpc>
              <a:spcBef>
                <a:spcPts val="0"/>
              </a:spcBef>
              <a:spcAft>
                <a:spcPts val="900"/>
              </a:spcAft>
            </a:pPr>
            <a:r>
              <a:rPr sz="1100" b="0" i="0">
                <a:solidFill>
                  <a:srgbClr val="6C63D8"/>
                </a:solidFill>
                <a:latin typeface="Dubai"/>
                <a:cs typeface="Dubai"/>
                <a:ea typeface="Dubai"/>
              </a:rPr>
              <a:t>●  </a:t>
            </a:r>
            <a:r>
              <a:rPr sz="1250" b="1" i="0">
                <a:solidFill>
                  <a:srgbClr val="6C63D8"/>
                </a:solidFill>
                <a:latin typeface="Dubai"/>
                <a:cs typeface="Dubai"/>
                <a:ea typeface="Dubai"/>
              </a:rPr>
              <a:t>متى </a:t>
            </a:r>
            <a:r>
              <a:rPr sz="1200" b="0" i="0">
                <a:solidFill>
                  <a:srgbClr val="18263B"/>
                </a:solidFill>
                <a:latin typeface="Dubai"/>
                <a:cs typeface="Dubai"/>
                <a:ea typeface="Dubai"/>
              </a:rPr>
              <a:t>نُشر؟ (الزمن ومدى الحداثة)</a:t>
            </a:r>
          </a:p>
          <a:p>
            <a:pPr algn="r" rtl="1">
              <a:lnSpc>
                <a:spcPct val="115000"/>
              </a:lnSpc>
              <a:spcBef>
                <a:spcPts val="0"/>
              </a:spcBef>
              <a:spcAft>
                <a:spcPts val="900"/>
              </a:spcAft>
            </a:pPr>
            <a:r>
              <a:rPr sz="1100" b="0" i="0">
                <a:solidFill>
                  <a:srgbClr val="3E8E5A"/>
                </a:solidFill>
                <a:latin typeface="Dubai"/>
                <a:cs typeface="Dubai"/>
                <a:ea typeface="Dubai"/>
              </a:rPr>
              <a:t>●  </a:t>
            </a:r>
            <a:r>
              <a:rPr sz="1250" b="1" i="0">
                <a:solidFill>
                  <a:srgbClr val="3E8E5A"/>
                </a:solidFill>
                <a:latin typeface="Dubai"/>
                <a:cs typeface="Dubai"/>
                <a:ea typeface="Dubai"/>
              </a:rPr>
              <a:t>كيف </a:t>
            </a:r>
            <a:r>
              <a:rPr sz="1200" b="0" i="0">
                <a:solidFill>
                  <a:srgbClr val="18263B"/>
                </a:solidFill>
                <a:latin typeface="Dubai"/>
                <a:cs typeface="Dubai"/>
                <a:ea typeface="Dubai"/>
              </a:rPr>
              <a:t>بُحث؟ (المنهجية والتصميم)</a:t>
            </a:r>
          </a:p>
          <a:p>
            <a:pPr algn="r" rtl="1">
              <a:lnSpc>
                <a:spcPct val="115000"/>
              </a:lnSpc>
              <a:spcBef>
                <a:spcPts val="0"/>
              </a:spcBef>
              <a:spcAft>
                <a:spcPts val="900"/>
              </a:spcAft>
            </a:pPr>
            <a:r>
              <a:rPr sz="1100" b="0" i="0">
                <a:solidFill>
                  <a:srgbClr val="E45A44"/>
                </a:solidFill>
                <a:latin typeface="Dubai"/>
                <a:cs typeface="Dubai"/>
                <a:ea typeface="Dubai"/>
              </a:rPr>
              <a:t>●  </a:t>
            </a:r>
            <a:r>
              <a:rPr sz="1250" b="1" i="0">
                <a:solidFill>
                  <a:srgbClr val="E45A44"/>
                </a:solidFill>
                <a:latin typeface="Dubai"/>
                <a:cs typeface="Dubai"/>
                <a:ea typeface="Dubai"/>
              </a:rPr>
              <a:t>لماذا </a:t>
            </a:r>
            <a:r>
              <a:rPr sz="1200" b="0" i="0">
                <a:solidFill>
                  <a:srgbClr val="18263B"/>
                </a:solidFill>
                <a:latin typeface="Dubai"/>
                <a:cs typeface="Dubai"/>
                <a:ea typeface="Dubai"/>
              </a:rPr>
              <a:t>توقّف؟ (حدود الدراسة المعلنة)</a:t>
            </a:r>
          </a:p>
        </p:txBody>
      </p:sp>
      <p:sp>
        <p:nvSpPr>
          <p:cNvPr id="13" name="Rounded Rectangle 12"/>
          <p:cNvSpPr/>
          <p:nvPr/>
        </p:nvSpPr>
        <p:spPr>
          <a:xfrm>
            <a:off x="502920" y="1664208"/>
            <a:ext cx="5432907" cy="3794760"/>
          </a:xfrm>
          <a:prstGeom prst="roundRect">
            <a:avLst>
              <a:gd name="adj" fmla="val 8000"/>
            </a:avLst>
          </a:prstGeom>
          <a:solidFill>
            <a:srgbClr val="EEF8F6"/>
          </a:solidFill>
          <a:ln w="13970">
            <a:solidFill>
              <a:srgbClr val="0E9F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810512"/>
            <a:ext cx="48842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500" b="1" i="0">
                <a:solidFill>
                  <a:srgbClr val="0E9F8C"/>
                </a:solidFill>
                <a:latin typeface="Dubai"/>
                <a:cs typeface="Dubai"/>
                <a:ea typeface="Dubai"/>
              </a:rPr>
              <a:t>🔎 مؤشرات الفجوة القابلة للبحث</a:t>
            </a:r>
          </a:p>
        </p:txBody>
      </p:sp>
      <p:sp>
        <p:nvSpPr>
          <p:cNvPr id="15" name="TextBox 14"/>
          <p:cNvSpPr txBox="1"/>
          <p:nvPr/>
        </p:nvSpPr>
        <p:spPr>
          <a:xfrm>
            <a:off x="822960" y="2331720"/>
            <a:ext cx="4792827" cy="3017520"/>
          </a:xfrm>
          <a:prstGeom prst="rect">
            <a:avLst/>
          </a:prstGeom>
          <a:noFill/>
        </p:spPr>
        <p:txBody>
          <a:bodyPr wrap="square" anchor="t" lIns="0" rIns="0" tIns="0" bIns="0">
            <a:spAutoFit/>
          </a:bodyPr>
          <a:lstStyle/>
          <a:p>
            <a:pPr algn="r" rtl="1">
              <a:lnSpc>
                <a:spcPct val="115000"/>
              </a:lnSpc>
              <a:spcBef>
                <a:spcPts val="0"/>
              </a:spcBef>
              <a:spcAft>
                <a:spcPts val="900"/>
              </a:spcAft>
            </a:pPr>
            <a:r>
              <a:rPr sz="1150" b="1" i="0">
                <a:solidFill>
                  <a:srgbClr val="0E9F8C"/>
                </a:solidFill>
                <a:latin typeface="Dubai"/>
                <a:cs typeface="Dubai"/>
                <a:ea typeface="Dubai"/>
              </a:rPr>
              <a:t>✔  </a:t>
            </a:r>
            <a:r>
              <a:rPr sz="1150" b="0" i="0">
                <a:solidFill>
                  <a:srgbClr val="18263B"/>
                </a:solidFill>
                <a:latin typeface="Dubai"/>
                <a:cs typeface="Dubai"/>
                <a:ea typeface="Dubai"/>
              </a:rPr>
              <a:t>«لم يُدرَس هذا في …» — غياب صريح يذكره الباحثون</a:t>
            </a:r>
          </a:p>
          <a:p>
            <a:pPr algn="r" rtl="1">
              <a:lnSpc>
                <a:spcPct val="115000"/>
              </a:lnSpc>
              <a:spcBef>
                <a:spcPts val="0"/>
              </a:spcBef>
              <a:spcAft>
                <a:spcPts val="900"/>
              </a:spcAft>
            </a:pPr>
            <a:r>
              <a:rPr sz="1150" b="1" i="0">
                <a:solidFill>
                  <a:srgbClr val="0E9F8C"/>
                </a:solidFill>
                <a:latin typeface="Dubai"/>
                <a:cs typeface="Dubai"/>
                <a:ea typeface="Dubai"/>
              </a:rPr>
              <a:t>✔  </a:t>
            </a:r>
            <a:r>
              <a:rPr sz="1150" b="0" i="0">
                <a:solidFill>
                  <a:srgbClr val="18263B"/>
                </a:solidFill>
                <a:latin typeface="Dubai"/>
                <a:cs typeface="Dubai"/>
                <a:ea typeface="Dubai"/>
              </a:rPr>
              <a:t>«الأبحاث تفترض ولم تختبر …» — ادعاء بلا دليل</a:t>
            </a:r>
          </a:p>
          <a:p>
            <a:pPr algn="r" rtl="1">
              <a:lnSpc>
                <a:spcPct val="115000"/>
              </a:lnSpc>
              <a:spcBef>
                <a:spcPts val="0"/>
              </a:spcBef>
              <a:spcAft>
                <a:spcPts val="900"/>
              </a:spcAft>
            </a:pPr>
            <a:r>
              <a:rPr sz="1150" b="1" i="0">
                <a:solidFill>
                  <a:srgbClr val="0E9F8C"/>
                </a:solidFill>
                <a:latin typeface="Dubai"/>
                <a:cs typeface="Dubai"/>
                <a:ea typeface="Dubai"/>
              </a:rPr>
              <a:t>✔  </a:t>
            </a:r>
            <a:r>
              <a:rPr sz="1150" b="0" i="0">
                <a:solidFill>
                  <a:srgbClr val="18263B"/>
                </a:solidFill>
                <a:latin typeface="Dubai"/>
                <a:cs typeface="Dubai"/>
                <a:ea typeface="Dubai"/>
              </a:rPr>
              <a:t>«النتائج متضاربة حول …» — تناقض يستدعي الحسم</a:t>
            </a:r>
          </a:p>
          <a:p>
            <a:pPr algn="r" rtl="1">
              <a:lnSpc>
                <a:spcPct val="115000"/>
              </a:lnSpc>
              <a:spcBef>
                <a:spcPts val="0"/>
              </a:spcBef>
              <a:spcAft>
                <a:spcPts val="900"/>
              </a:spcAft>
            </a:pPr>
            <a:r>
              <a:rPr sz="1150" b="1" i="0">
                <a:solidFill>
                  <a:srgbClr val="0E9F8C"/>
                </a:solidFill>
                <a:latin typeface="Dubai"/>
                <a:cs typeface="Dubai"/>
                <a:ea typeface="Dubai"/>
              </a:rPr>
              <a:t>✔  </a:t>
            </a:r>
            <a:r>
              <a:rPr sz="1150" b="0" i="0">
                <a:solidFill>
                  <a:srgbClr val="18263B"/>
                </a:solidFill>
                <a:latin typeface="Dubai"/>
                <a:cs typeface="Dubai"/>
                <a:ea typeface="Dubai"/>
              </a:rPr>
              <a:t>«العينة لا تمثّل …» — قصور في التعميم</a:t>
            </a:r>
          </a:p>
          <a:p>
            <a:pPr algn="r" rtl="1">
              <a:lnSpc>
                <a:spcPct val="115000"/>
              </a:lnSpc>
              <a:spcBef>
                <a:spcPts val="0"/>
              </a:spcBef>
              <a:spcAft>
                <a:spcPts val="900"/>
              </a:spcAft>
            </a:pPr>
            <a:r>
              <a:rPr sz="1150" b="1" i="0">
                <a:solidFill>
                  <a:srgbClr val="0E9F8C"/>
                </a:solidFill>
                <a:latin typeface="Dubai"/>
                <a:cs typeface="Dubai"/>
                <a:ea typeface="Dubai"/>
              </a:rPr>
              <a:t>✔  </a:t>
            </a:r>
            <a:r>
              <a:rPr sz="1150" b="0" i="0">
                <a:solidFill>
                  <a:srgbClr val="18263B"/>
                </a:solidFill>
                <a:latin typeface="Dubai"/>
                <a:cs typeface="Dubai"/>
                <a:ea typeface="Dubai"/>
              </a:rPr>
              <a:t>«المنهج الكمي وحده لا يكفي …» — حاجة منهجية</a:t>
            </a:r>
          </a:p>
          <a:p>
            <a:pPr algn="r" rtl="1">
              <a:lnSpc>
                <a:spcPct val="115000"/>
              </a:lnSpc>
              <a:spcBef>
                <a:spcPts val="0"/>
              </a:spcBef>
              <a:spcAft>
                <a:spcPts val="900"/>
              </a:spcAft>
            </a:pPr>
            <a:r>
              <a:rPr sz="1150" b="1" i="0">
                <a:solidFill>
                  <a:srgbClr val="0E9F8C"/>
                </a:solidFill>
                <a:latin typeface="Dubai"/>
                <a:cs typeface="Dubai"/>
                <a:ea typeface="Dubai"/>
              </a:rPr>
              <a:t>✔  </a:t>
            </a:r>
            <a:r>
              <a:rPr sz="1150" b="0" i="0">
                <a:solidFill>
                  <a:srgbClr val="18263B"/>
                </a:solidFill>
                <a:latin typeface="Dubai"/>
                <a:cs typeface="Dubai"/>
                <a:ea typeface="Dubai"/>
              </a:rPr>
              <a:t>«الدراسات تجاهلت متغير …» — عامل مفقود من النموذج</a:t>
            </a:r>
          </a:p>
        </p:txBody>
      </p:sp>
      <p:sp>
        <p:nvSpPr>
          <p:cNvPr id="16" name="Rounded Rectangle 15"/>
          <p:cNvSpPr/>
          <p:nvPr/>
        </p:nvSpPr>
        <p:spPr>
          <a:xfrm>
            <a:off x="502920" y="5669280"/>
            <a:ext cx="11185855" cy="530352"/>
          </a:xfrm>
          <a:prstGeom prst="roundRect">
            <a:avLst>
              <a:gd name="adj" fmla="val 30000"/>
            </a:avLst>
          </a:prstGeom>
          <a:solidFill>
            <a:srgbClr val="F8EBF1"/>
          </a:solidFill>
          <a:ln w="12700">
            <a:solidFill>
              <a:srgbClr val="C23E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769864"/>
            <a:ext cx="10637215" cy="347472"/>
          </a:xfrm>
          <a:prstGeom prst="rect">
            <a:avLst/>
          </a:prstGeom>
          <a:noFill/>
        </p:spPr>
        <p:txBody>
          <a:bodyPr wrap="square" anchor="t" lIns="0" rIns="0" tIns="0" bIns="0">
            <a:spAutoFit/>
          </a:bodyPr>
          <a:lstStyle/>
          <a:p>
            <a:pPr algn="ctr" rtl="1">
              <a:lnSpc>
                <a:spcPct val="112000"/>
              </a:lnSpc>
              <a:spcBef>
                <a:spcPts val="0"/>
              </a:spcBef>
              <a:spcAft>
                <a:spcPts val="400"/>
              </a:spcAft>
            </a:pPr>
            <a:r>
              <a:rPr sz="1250" b="1" i="0">
                <a:solidFill>
                  <a:srgbClr val="C23E77"/>
                </a:solidFill>
                <a:latin typeface="Dubai"/>
                <a:cs typeface="Dubai"/>
                <a:ea typeface="Dubai"/>
              </a:rPr>
              <a:t>«التفكير النقدي هو البناء على أكتاف العمالقة لرؤية ما وراء الأفق»</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0E9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865815" y="411480"/>
            <a:ext cx="822960" cy="822960"/>
          </a:xfrm>
          <a:prstGeom prst="roundRect">
            <a:avLst>
              <a:gd name="adj" fmla="val 28000"/>
            </a:avLst>
          </a:prstGeom>
          <a:solidFill>
            <a:srgbClr val="DDF1EE"/>
          </a:solidFill>
          <a:ln w="15240">
            <a:solidFill>
              <a:srgbClr val="0E9F8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3000" b="0" i="0">
                <a:solidFill>
                  <a:srgbClr val="0E9F8C"/>
                </a:solidFill>
                <a:latin typeface="Dubai"/>
                <a:cs typeface="Dubai"/>
                <a:ea typeface="Dubai"/>
              </a:rPr>
              <a:t>⚖️</a:t>
            </a:r>
          </a:p>
        </p:txBody>
      </p:sp>
      <p:sp>
        <p:nvSpPr>
          <p:cNvPr id="5" name="TextBox 4"/>
          <p:cNvSpPr txBox="1"/>
          <p:nvPr/>
        </p:nvSpPr>
        <p:spPr>
          <a:xfrm>
            <a:off x="502920" y="365760"/>
            <a:ext cx="10180015" cy="566928"/>
          </a:xfrm>
          <a:prstGeom prst="rect">
            <a:avLst/>
          </a:prstGeom>
          <a:noFill/>
        </p:spPr>
        <p:txBody>
          <a:bodyPr wrap="square" anchor="t" lIns="0" rIns="0" tIns="0" bIns="0">
            <a:spAutoFit/>
          </a:bodyPr>
          <a:lstStyle/>
          <a:p>
            <a:pPr algn="r" rtl="1">
              <a:lnSpc>
                <a:spcPct val="112000"/>
              </a:lnSpc>
              <a:spcBef>
                <a:spcPts val="0"/>
              </a:spcBef>
              <a:spcAft>
                <a:spcPts val="400"/>
              </a:spcAft>
            </a:pPr>
            <a:r>
              <a:rPr sz="2700" b="1" i="0">
                <a:solidFill>
                  <a:srgbClr val="18263B"/>
                </a:solidFill>
                <a:latin typeface="Dubai"/>
                <a:cs typeface="Dubai"/>
                <a:ea typeface="Dubai"/>
              </a:rPr>
              <a:t>كيف تميّز الفجوة القوية من الضعيفة؟</a:t>
            </a:r>
          </a:p>
        </p:txBody>
      </p:sp>
      <p:sp>
        <p:nvSpPr>
          <p:cNvPr id="6" name="TextBox 5"/>
          <p:cNvSpPr txBox="1"/>
          <p:nvPr/>
        </p:nvSpPr>
        <p:spPr>
          <a:xfrm>
            <a:off x="502920" y="969264"/>
            <a:ext cx="10180015" cy="365760"/>
          </a:xfrm>
          <a:prstGeom prst="rect">
            <a:avLst/>
          </a:prstGeom>
          <a:noFill/>
        </p:spPr>
        <p:txBody>
          <a:bodyPr wrap="square" anchor="t" lIns="0" rIns="0" tIns="0" bIns="0">
            <a:spAutoFit/>
          </a:bodyPr>
          <a:lstStyle/>
          <a:p>
            <a:pPr algn="r">
              <a:lnSpc>
                <a:spcPct val="112000"/>
              </a:lnSpc>
              <a:spcBef>
                <a:spcPts val="0"/>
              </a:spcBef>
              <a:spcAft>
                <a:spcPts val="400"/>
              </a:spcAft>
            </a:pPr>
            <a:r>
              <a:rPr sz="1250" b="0" i="1">
                <a:solidFill>
                  <a:srgbClr val="0E9F8C"/>
                </a:solidFill>
                <a:latin typeface="Dubai"/>
                <a:cs typeface="Dubai"/>
                <a:ea typeface="Dubai"/>
              </a:rPr>
              <a:t>Strong Gap vs. Weak Gap</a:t>
            </a:r>
          </a:p>
        </p:txBody>
      </p:sp>
      <p:sp>
        <p:nvSpPr>
          <p:cNvPr id="7" name="Rectangle 6"/>
          <p:cNvSpPr/>
          <p:nvPr/>
        </p:nvSpPr>
        <p:spPr>
          <a:xfrm>
            <a:off x="9128455" y="1389888"/>
            <a:ext cx="1554480" cy="45720"/>
          </a:xfrm>
          <a:prstGeom prst="rect">
            <a:avLst/>
          </a:prstGeom>
          <a:solidFill>
            <a:srgbClr val="0E9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3200400" cy="274320"/>
          </a:xfrm>
          <a:prstGeom prst="rect">
            <a:avLst/>
          </a:prstGeom>
          <a:noFill/>
        </p:spPr>
        <p:txBody>
          <a:bodyPr wrap="square" anchor="t" lIns="0" rIns="0" tIns="0" bIns="0">
            <a:spAutoFit/>
          </a:bodyPr>
          <a:lstStyle/>
          <a:p>
            <a:pPr algn="l">
              <a:lnSpc>
                <a:spcPct val="112000"/>
              </a:lnSpc>
              <a:spcBef>
                <a:spcPts val="0"/>
              </a:spcBef>
              <a:spcAft>
                <a:spcPts val="400"/>
              </a:spcAft>
            </a:pPr>
            <a:r>
              <a:rPr sz="1050" b="1" i="0">
                <a:solidFill>
                  <a:srgbClr val="0E9F8C"/>
                </a:solidFill>
                <a:latin typeface="Dubai"/>
                <a:cs typeface="Dubai"/>
                <a:ea typeface="Dubai"/>
              </a:rPr>
              <a:t>10</a:t>
            </a:r>
            <a:r>
              <a:rPr sz="900" b="0" i="0">
                <a:solidFill>
                  <a:srgbClr val="62748A"/>
                </a:solidFill>
                <a:latin typeface="Dubai"/>
                <a:cs typeface="Dubai"/>
                <a:ea typeface="Dubai"/>
              </a:rPr>
              <a:t>   Research Gaps — Dr. Hana Hossen Elahemer</a:t>
            </a:r>
          </a:p>
        </p:txBody>
      </p:sp>
      <p:sp>
        <p:nvSpPr>
          <p:cNvPr id="9" name="TextBox 8"/>
          <p:cNvSpPr txBox="1"/>
          <p:nvPr/>
        </p:nvSpPr>
        <p:spPr>
          <a:xfrm>
            <a:off x="8488375" y="6455664"/>
            <a:ext cx="3200400"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00" b="0" i="0">
                <a:solidFill>
                  <a:srgbClr val="62748A"/>
                </a:solidFill>
                <a:latin typeface="Dubai"/>
                <a:cs typeface="Dubai"/>
                <a:ea typeface="Dubai"/>
              </a:rPr>
              <a:t>الفجوات البحثية • ورشة عمل أكاديمية</a:t>
            </a:r>
          </a:p>
        </p:txBody>
      </p:sp>
      <p:sp>
        <p:nvSpPr>
          <p:cNvPr id="10" name="Rounded Rectangle 9"/>
          <p:cNvSpPr/>
          <p:nvPr/>
        </p:nvSpPr>
        <p:spPr>
          <a:xfrm>
            <a:off x="6255867" y="1664208"/>
            <a:ext cx="5432907" cy="3611880"/>
          </a:xfrm>
          <a:prstGeom prst="roundRect">
            <a:avLst>
              <a:gd name="adj" fmla="val 8000"/>
            </a:avLst>
          </a:prstGeom>
          <a:solidFill>
            <a:srgbClr val="EEF8F6"/>
          </a:solidFill>
          <a:ln w="15240">
            <a:solidFill>
              <a:srgbClr val="0E9F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0187" y="1810512"/>
            <a:ext cx="48842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550" b="1" i="0">
                <a:solidFill>
                  <a:srgbClr val="0E9F8C"/>
                </a:solidFill>
                <a:latin typeface="Dubai"/>
                <a:cs typeface="Dubai"/>
                <a:ea typeface="Dubai"/>
              </a:rPr>
              <a:t>💪 الفجوة القوية</a:t>
            </a:r>
          </a:p>
        </p:txBody>
      </p:sp>
      <p:sp>
        <p:nvSpPr>
          <p:cNvPr id="12" name="TextBox 11"/>
          <p:cNvSpPr txBox="1"/>
          <p:nvPr/>
        </p:nvSpPr>
        <p:spPr>
          <a:xfrm>
            <a:off x="6575907" y="2331720"/>
            <a:ext cx="4792827" cy="2834640"/>
          </a:xfrm>
          <a:prstGeom prst="rect">
            <a:avLst/>
          </a:prstGeom>
          <a:noFill/>
        </p:spPr>
        <p:txBody>
          <a:bodyPr wrap="square" anchor="t" lIns="0" rIns="0" tIns="0" bIns="0">
            <a:spAutoFit/>
          </a:bodyPr>
          <a:lstStyle/>
          <a:p>
            <a:pPr algn="r" rtl="1">
              <a:lnSpc>
                <a:spcPct val="115000"/>
              </a:lnSpc>
              <a:spcBef>
                <a:spcPts val="0"/>
              </a:spcBef>
              <a:spcAft>
                <a:spcPts val="800"/>
              </a:spcAft>
            </a:pPr>
            <a:r>
              <a:rPr sz="1200" b="1" i="0">
                <a:solidFill>
                  <a:srgbClr val="0E9F8C"/>
                </a:solidFill>
                <a:latin typeface="Dubai"/>
                <a:cs typeface="Dubai"/>
                <a:ea typeface="Dubai"/>
              </a:rPr>
              <a:t>✔  </a:t>
            </a:r>
            <a:r>
              <a:rPr sz="1200" b="1" i="0">
                <a:solidFill>
                  <a:srgbClr val="18263B"/>
                </a:solidFill>
                <a:latin typeface="Dubai"/>
                <a:cs typeface="Dubai"/>
                <a:ea typeface="Dubai"/>
              </a:rPr>
              <a:t>مدعومة بأدلة من الأدبيات</a:t>
            </a:r>
            <a:r>
              <a:rPr sz="1050" b="0" i="0">
                <a:solidFill>
                  <a:srgbClr val="62748A"/>
                </a:solidFill>
                <a:latin typeface="Dubai"/>
                <a:cs typeface="Dubai"/>
                <a:ea typeface="Dubai"/>
              </a:rPr>
              <a:t>  —  تستشهد بدراسات حقيقية تثبت الغياب</a:t>
            </a:r>
          </a:p>
          <a:p>
            <a:pPr algn="r" rtl="1">
              <a:lnSpc>
                <a:spcPct val="115000"/>
              </a:lnSpc>
              <a:spcBef>
                <a:spcPts val="0"/>
              </a:spcBef>
              <a:spcAft>
                <a:spcPts val="800"/>
              </a:spcAft>
            </a:pPr>
            <a:r>
              <a:rPr sz="1200" b="1" i="0">
                <a:solidFill>
                  <a:srgbClr val="0E9F8C"/>
                </a:solidFill>
                <a:latin typeface="Dubai"/>
                <a:cs typeface="Dubai"/>
                <a:ea typeface="Dubai"/>
              </a:rPr>
              <a:t>✔  </a:t>
            </a:r>
            <a:r>
              <a:rPr sz="1200" b="1" i="0">
                <a:solidFill>
                  <a:srgbClr val="18263B"/>
                </a:solidFill>
                <a:latin typeface="Dubai"/>
                <a:cs typeface="Dubai"/>
                <a:ea typeface="Dubai"/>
              </a:rPr>
              <a:t>محددة وقابلة للقياس</a:t>
            </a:r>
            <a:r>
              <a:rPr sz="1050" b="0" i="0">
                <a:solidFill>
                  <a:srgbClr val="62748A"/>
                </a:solidFill>
                <a:latin typeface="Dubai"/>
                <a:cs typeface="Dubai"/>
                <a:ea typeface="Dubai"/>
              </a:rPr>
              <a:t>  —  موضوع + فئة + سياق + زمن واضح</a:t>
            </a:r>
          </a:p>
          <a:p>
            <a:pPr algn="r" rtl="1">
              <a:lnSpc>
                <a:spcPct val="115000"/>
              </a:lnSpc>
              <a:spcBef>
                <a:spcPts val="0"/>
              </a:spcBef>
              <a:spcAft>
                <a:spcPts val="800"/>
              </a:spcAft>
            </a:pPr>
            <a:r>
              <a:rPr sz="1200" b="1" i="0">
                <a:solidFill>
                  <a:srgbClr val="0E9F8C"/>
                </a:solidFill>
                <a:latin typeface="Dubai"/>
                <a:cs typeface="Dubai"/>
                <a:ea typeface="Dubai"/>
              </a:rPr>
              <a:t>✔  </a:t>
            </a:r>
            <a:r>
              <a:rPr sz="1200" b="1" i="0">
                <a:solidFill>
                  <a:srgbClr val="18263B"/>
                </a:solidFill>
                <a:latin typeface="Dubai"/>
                <a:cs typeface="Dubai"/>
                <a:ea typeface="Dubai"/>
              </a:rPr>
              <a:t>ذات أهمية علمية وعملية</a:t>
            </a:r>
            <a:r>
              <a:rPr sz="1050" b="0" i="0">
                <a:solidFill>
                  <a:srgbClr val="62748A"/>
                </a:solidFill>
                <a:latin typeface="Dubai"/>
                <a:cs typeface="Dubai"/>
                <a:ea typeface="Dubai"/>
              </a:rPr>
              <a:t>  —  سدّها يغيّر فهماً أو ممارسة</a:t>
            </a:r>
          </a:p>
          <a:p>
            <a:pPr algn="r" rtl="1">
              <a:lnSpc>
                <a:spcPct val="115000"/>
              </a:lnSpc>
              <a:spcBef>
                <a:spcPts val="0"/>
              </a:spcBef>
              <a:spcAft>
                <a:spcPts val="800"/>
              </a:spcAft>
            </a:pPr>
            <a:r>
              <a:rPr sz="1200" b="1" i="0">
                <a:solidFill>
                  <a:srgbClr val="0E9F8C"/>
                </a:solidFill>
                <a:latin typeface="Dubai"/>
                <a:cs typeface="Dubai"/>
                <a:ea typeface="Dubai"/>
              </a:rPr>
              <a:t>✔  </a:t>
            </a:r>
            <a:r>
              <a:rPr sz="1200" b="1" i="0">
                <a:solidFill>
                  <a:srgbClr val="18263B"/>
                </a:solidFill>
                <a:latin typeface="Dubai"/>
                <a:cs typeface="Dubai"/>
                <a:ea typeface="Dubai"/>
              </a:rPr>
              <a:t>معالجتها ممكنة بمنهجية واضحة</a:t>
            </a:r>
            <a:r>
              <a:rPr sz="1050" b="0" i="0">
                <a:solidFill>
                  <a:srgbClr val="62748A"/>
                </a:solidFill>
                <a:latin typeface="Dubai"/>
                <a:cs typeface="Dubai"/>
                <a:ea typeface="Dubai"/>
              </a:rPr>
              <a:t>  —  تصميم بحثي واقعي وقابل للتنفيذ</a:t>
            </a:r>
          </a:p>
          <a:p>
            <a:pPr algn="r" rtl="1">
              <a:lnSpc>
                <a:spcPct val="115000"/>
              </a:lnSpc>
              <a:spcBef>
                <a:spcPts val="0"/>
              </a:spcBef>
              <a:spcAft>
                <a:spcPts val="800"/>
              </a:spcAft>
            </a:pPr>
            <a:r>
              <a:rPr sz="1200" b="1" i="0">
                <a:solidFill>
                  <a:srgbClr val="0E9F8C"/>
                </a:solidFill>
                <a:latin typeface="Dubai"/>
                <a:cs typeface="Dubai"/>
                <a:ea typeface="Dubai"/>
              </a:rPr>
              <a:t>✔  </a:t>
            </a:r>
            <a:r>
              <a:rPr sz="1200" b="1" i="0">
                <a:solidFill>
                  <a:srgbClr val="18263B"/>
                </a:solidFill>
                <a:latin typeface="Dubai"/>
                <a:cs typeface="Dubai"/>
                <a:ea typeface="Dubai"/>
              </a:rPr>
              <a:t>مرتبطة بسياق محدد</a:t>
            </a:r>
            <a:r>
              <a:rPr sz="1050" b="0" i="0">
                <a:solidFill>
                  <a:srgbClr val="62748A"/>
                </a:solidFill>
                <a:latin typeface="Dubai"/>
                <a:cs typeface="Dubai"/>
                <a:ea typeface="Dubai"/>
              </a:rPr>
              <a:t>  —  بيئة أو مجتمع أو قطاع معيّن</a:t>
            </a:r>
          </a:p>
        </p:txBody>
      </p:sp>
      <p:sp>
        <p:nvSpPr>
          <p:cNvPr id="13" name="Rounded Rectangle 12"/>
          <p:cNvSpPr/>
          <p:nvPr/>
        </p:nvSpPr>
        <p:spPr>
          <a:xfrm>
            <a:off x="502920" y="1664208"/>
            <a:ext cx="5432907" cy="3611880"/>
          </a:xfrm>
          <a:prstGeom prst="roundRect">
            <a:avLst>
              <a:gd name="adj" fmla="val 8000"/>
            </a:avLst>
          </a:prstGeom>
          <a:solidFill>
            <a:srgbClr val="FDF3F1"/>
          </a:solidFill>
          <a:ln w="15240">
            <a:solidFill>
              <a:srgbClr val="E45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810512"/>
            <a:ext cx="4884267" cy="411480"/>
          </a:xfrm>
          <a:prstGeom prst="rect">
            <a:avLst/>
          </a:prstGeom>
          <a:noFill/>
        </p:spPr>
        <p:txBody>
          <a:bodyPr wrap="square" anchor="t" lIns="0" rIns="0" tIns="0" bIns="0">
            <a:spAutoFit/>
          </a:bodyPr>
          <a:lstStyle/>
          <a:p>
            <a:pPr algn="r" rtl="1">
              <a:lnSpc>
                <a:spcPct val="112000"/>
              </a:lnSpc>
              <a:spcBef>
                <a:spcPts val="0"/>
              </a:spcBef>
              <a:spcAft>
                <a:spcPts val="400"/>
              </a:spcAft>
            </a:pPr>
            <a:r>
              <a:rPr sz="1550" b="1" i="0">
                <a:solidFill>
                  <a:srgbClr val="E45A44"/>
                </a:solidFill>
                <a:latin typeface="Dubai"/>
                <a:cs typeface="Dubai"/>
                <a:ea typeface="Dubai"/>
              </a:rPr>
              <a:t>⚠️ الفجوة الضعيفة</a:t>
            </a:r>
          </a:p>
        </p:txBody>
      </p:sp>
      <p:sp>
        <p:nvSpPr>
          <p:cNvPr id="15" name="TextBox 14"/>
          <p:cNvSpPr txBox="1"/>
          <p:nvPr/>
        </p:nvSpPr>
        <p:spPr>
          <a:xfrm>
            <a:off x="822960" y="2331720"/>
            <a:ext cx="4792827" cy="2834640"/>
          </a:xfrm>
          <a:prstGeom prst="rect">
            <a:avLst/>
          </a:prstGeom>
          <a:noFill/>
        </p:spPr>
        <p:txBody>
          <a:bodyPr wrap="square" anchor="t" lIns="0" rIns="0" tIns="0" bIns="0">
            <a:spAutoFit/>
          </a:bodyPr>
          <a:lstStyle/>
          <a:p>
            <a:pPr algn="r" rtl="1">
              <a:lnSpc>
                <a:spcPct val="115000"/>
              </a:lnSpc>
              <a:spcBef>
                <a:spcPts val="0"/>
              </a:spcBef>
              <a:spcAft>
                <a:spcPts val="800"/>
              </a:spcAft>
            </a:pPr>
            <a:r>
              <a:rPr sz="1200" b="1" i="0">
                <a:solidFill>
                  <a:srgbClr val="E45A44"/>
                </a:solidFill>
                <a:latin typeface="Dubai"/>
                <a:cs typeface="Dubai"/>
                <a:ea typeface="Dubai"/>
              </a:rPr>
              <a:t>✘  </a:t>
            </a:r>
            <a:r>
              <a:rPr sz="1200" b="1" i="0">
                <a:solidFill>
                  <a:srgbClr val="18263B"/>
                </a:solidFill>
                <a:latin typeface="Dubai"/>
                <a:cs typeface="Dubai"/>
                <a:ea typeface="Dubai"/>
              </a:rPr>
              <a:t>عامة وفضفاضة جداً</a:t>
            </a:r>
            <a:r>
              <a:rPr sz="1050" b="0" i="0">
                <a:solidFill>
                  <a:srgbClr val="62748A"/>
                </a:solidFill>
                <a:latin typeface="Dubai"/>
                <a:cs typeface="Dubai"/>
                <a:ea typeface="Dubai"/>
              </a:rPr>
              <a:t>  —  بلا موضوع محدد أو سياق واضح</a:t>
            </a:r>
          </a:p>
          <a:p>
            <a:pPr algn="r" rtl="1">
              <a:lnSpc>
                <a:spcPct val="115000"/>
              </a:lnSpc>
              <a:spcBef>
                <a:spcPts val="0"/>
              </a:spcBef>
              <a:spcAft>
                <a:spcPts val="800"/>
              </a:spcAft>
            </a:pPr>
            <a:r>
              <a:rPr sz="1200" b="1" i="0">
                <a:solidFill>
                  <a:srgbClr val="E45A44"/>
                </a:solidFill>
                <a:latin typeface="Dubai"/>
                <a:cs typeface="Dubai"/>
                <a:ea typeface="Dubai"/>
              </a:rPr>
              <a:t>✘  </a:t>
            </a:r>
            <a:r>
              <a:rPr sz="1200" b="1" i="0">
                <a:solidFill>
                  <a:srgbClr val="18263B"/>
                </a:solidFill>
                <a:latin typeface="Dubai"/>
                <a:cs typeface="Dubai"/>
                <a:ea typeface="Dubai"/>
              </a:rPr>
              <a:t>غير مدعومة بمراجعة كافية</a:t>
            </a:r>
            <a:r>
              <a:rPr sz="1050" b="0" i="0">
                <a:solidFill>
                  <a:srgbClr val="62748A"/>
                </a:solidFill>
                <a:latin typeface="Dubai"/>
                <a:cs typeface="Dubai"/>
                <a:ea typeface="Dubai"/>
              </a:rPr>
              <a:t>  —  انطباع شخصي لا مسح منهجي</a:t>
            </a:r>
          </a:p>
          <a:p>
            <a:pPr algn="r" rtl="1">
              <a:lnSpc>
                <a:spcPct val="115000"/>
              </a:lnSpc>
              <a:spcBef>
                <a:spcPts val="0"/>
              </a:spcBef>
              <a:spcAft>
                <a:spcPts val="800"/>
              </a:spcAft>
            </a:pPr>
            <a:r>
              <a:rPr sz="1200" b="1" i="0">
                <a:solidFill>
                  <a:srgbClr val="E45A44"/>
                </a:solidFill>
                <a:latin typeface="Dubai"/>
                <a:cs typeface="Dubai"/>
                <a:ea typeface="Dubai"/>
              </a:rPr>
              <a:t>✘  </a:t>
            </a:r>
            <a:r>
              <a:rPr sz="1200" b="1" i="0">
                <a:solidFill>
                  <a:srgbClr val="18263B"/>
                </a:solidFill>
                <a:latin typeface="Dubai"/>
                <a:cs typeface="Dubai"/>
                <a:ea typeface="Dubai"/>
              </a:rPr>
              <a:t>«لم يدرسها أحد» بلا دليل</a:t>
            </a:r>
            <a:r>
              <a:rPr sz="1050" b="0" i="0">
                <a:solidFill>
                  <a:srgbClr val="62748A"/>
                </a:solidFill>
                <a:latin typeface="Dubai"/>
                <a:cs typeface="Dubai"/>
                <a:ea typeface="Dubai"/>
              </a:rPr>
              <a:t>  —  ادعاء خطير يسهل دحضه أمام اللجنة</a:t>
            </a:r>
          </a:p>
          <a:p>
            <a:pPr algn="r" rtl="1">
              <a:lnSpc>
                <a:spcPct val="115000"/>
              </a:lnSpc>
              <a:spcBef>
                <a:spcPts val="0"/>
              </a:spcBef>
              <a:spcAft>
                <a:spcPts val="800"/>
              </a:spcAft>
            </a:pPr>
            <a:r>
              <a:rPr sz="1200" b="1" i="0">
                <a:solidFill>
                  <a:srgbClr val="E45A44"/>
                </a:solidFill>
                <a:latin typeface="Dubai"/>
                <a:cs typeface="Dubai"/>
                <a:ea typeface="Dubai"/>
              </a:rPr>
              <a:t>✘  </a:t>
            </a:r>
            <a:r>
              <a:rPr sz="1200" b="1" i="0">
                <a:solidFill>
                  <a:srgbClr val="18263B"/>
                </a:solidFill>
                <a:latin typeface="Dubai"/>
                <a:cs typeface="Dubai"/>
                <a:ea typeface="Dubai"/>
              </a:rPr>
              <a:t>لا تُضيف قيمة للمعرفة</a:t>
            </a:r>
            <a:r>
              <a:rPr sz="1050" b="0" i="0">
                <a:solidFill>
                  <a:srgbClr val="62748A"/>
                </a:solidFill>
                <a:latin typeface="Dubai"/>
                <a:cs typeface="Dubai"/>
                <a:ea typeface="Dubai"/>
              </a:rPr>
              <a:t>  —  سدّها لا يغيّر شيئاً يُذكر</a:t>
            </a:r>
          </a:p>
          <a:p>
            <a:pPr algn="r" rtl="1">
              <a:lnSpc>
                <a:spcPct val="115000"/>
              </a:lnSpc>
              <a:spcBef>
                <a:spcPts val="0"/>
              </a:spcBef>
              <a:spcAft>
                <a:spcPts val="800"/>
              </a:spcAft>
            </a:pPr>
            <a:r>
              <a:rPr sz="1200" b="1" i="0">
                <a:solidFill>
                  <a:srgbClr val="E45A44"/>
                </a:solidFill>
                <a:latin typeface="Dubai"/>
                <a:cs typeface="Dubai"/>
                <a:ea typeface="Dubai"/>
              </a:rPr>
              <a:t>✘  </a:t>
            </a:r>
            <a:r>
              <a:rPr sz="1200" b="1" i="0">
                <a:solidFill>
                  <a:srgbClr val="18263B"/>
                </a:solidFill>
                <a:latin typeface="Dubai"/>
                <a:cs typeface="Dubai"/>
                <a:ea typeface="Dubai"/>
              </a:rPr>
              <a:t>تعيد ما قالته دراسات سابقة</a:t>
            </a:r>
            <a:r>
              <a:rPr sz="1050" b="0" i="0">
                <a:solidFill>
                  <a:srgbClr val="62748A"/>
                </a:solidFill>
                <a:latin typeface="Dubai"/>
                <a:cs typeface="Dubai"/>
                <a:ea typeface="Dubai"/>
              </a:rPr>
              <a:t>  —  تكرار مقنَّع وليس بحثاً جديداً</a:t>
            </a:r>
          </a:p>
        </p:txBody>
      </p:sp>
      <p:sp>
        <p:nvSpPr>
          <p:cNvPr id="16" name="Rounded Rectangle 15"/>
          <p:cNvSpPr/>
          <p:nvPr/>
        </p:nvSpPr>
        <p:spPr>
          <a:xfrm>
            <a:off x="502920" y="5440680"/>
            <a:ext cx="11185855" cy="804672"/>
          </a:xfrm>
          <a:prstGeom prst="roundRect">
            <a:avLst>
              <a:gd name="adj" fmla="val 18000"/>
            </a:avLst>
          </a:prstGeom>
          <a:solidFill>
            <a:srgbClr val="FBF5EA"/>
          </a:solidFill>
          <a:ln w="13970">
            <a:solidFill>
              <a:srgbClr val="DD9F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513832"/>
            <a:ext cx="10637215" cy="685800"/>
          </a:xfrm>
          <a:prstGeom prst="rect">
            <a:avLst/>
          </a:prstGeom>
          <a:noFill/>
        </p:spPr>
        <p:txBody>
          <a:bodyPr wrap="square" anchor="t" lIns="0" rIns="0" tIns="0" bIns="0">
            <a:spAutoFit/>
          </a:bodyPr>
          <a:lstStyle/>
          <a:p>
            <a:pPr algn="r" rtl="1">
              <a:lnSpc>
                <a:spcPct val="112000"/>
              </a:lnSpc>
              <a:spcBef>
                <a:spcPts val="0"/>
              </a:spcBef>
              <a:spcAft>
                <a:spcPts val="300"/>
              </a:spcAft>
            </a:pPr>
            <a:r>
              <a:rPr sz="1150" b="1" i="0">
                <a:solidFill>
                  <a:srgbClr val="DD9F33"/>
                </a:solidFill>
                <a:latin typeface="Dubai"/>
                <a:cs typeface="Dubai"/>
                <a:ea typeface="Dubai"/>
              </a:rPr>
              <a:t>🧪 مثال مقارن —  </a:t>
            </a:r>
            <a:r>
              <a:rPr sz="1150" b="1" i="0">
                <a:solidFill>
                  <a:srgbClr val="E45A44"/>
                </a:solidFill>
                <a:latin typeface="Dubai"/>
                <a:cs typeface="Dubai"/>
                <a:ea typeface="Dubai"/>
              </a:rPr>
              <a:t>ضعيفة: </a:t>
            </a:r>
            <a:r>
              <a:rPr sz="1150" b="0" i="0">
                <a:solidFill>
                  <a:srgbClr val="18263B"/>
                </a:solidFill>
                <a:latin typeface="Dubai"/>
                <a:cs typeface="Dubai"/>
                <a:ea typeface="Dubai"/>
              </a:rPr>
              <a:t>«لم تُدرس الصحة النفسية بشكل كافٍ»</a:t>
            </a:r>
          </a:p>
          <a:p>
            <a:pPr algn="r" rtl="1">
              <a:lnSpc>
                <a:spcPct val="112000"/>
              </a:lnSpc>
              <a:spcBef>
                <a:spcPts val="0"/>
              </a:spcBef>
              <a:spcAft>
                <a:spcPts val="400"/>
              </a:spcAft>
            </a:pPr>
            <a:r>
              <a:rPr sz="1150" b="1" i="0">
                <a:solidFill>
                  <a:srgbClr val="0E9F8C"/>
                </a:solidFill>
                <a:latin typeface="Dubai"/>
                <a:cs typeface="Dubai"/>
                <a:ea typeface="Dubai"/>
              </a:rPr>
              <a:t>قوية: </a:t>
            </a:r>
            <a:r>
              <a:rPr sz="1150" b="1" i="0">
                <a:solidFill>
                  <a:srgbClr val="18263B"/>
                </a:solidFill>
                <a:latin typeface="Dubai"/>
                <a:cs typeface="Dubai"/>
                <a:ea typeface="Dubai"/>
              </a:rPr>
              <a:t>«لا توجد دراسة تقيس أثر الدراسة عن بُعد على القلق لدى طلاب الجامعات العربية بعد 2020»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E4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865815" y="411480"/>
            <a:ext cx="822960" cy="822960"/>
          </a:xfrm>
          <a:prstGeom prst="roundRect">
            <a:avLst>
              <a:gd name="adj" fmla="val 28000"/>
            </a:avLst>
          </a:prstGeom>
          <a:solidFill>
            <a:srgbClr val="FBE7E4"/>
          </a:solidFill>
          <a:ln w="15240">
            <a:solidFill>
              <a:srgbClr val="E45A44"/>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3000" b="0" i="0">
                <a:solidFill>
                  <a:srgbClr val="E45A44"/>
                </a:solidFill>
                <a:latin typeface="Dubai"/>
                <a:cs typeface="Dubai"/>
                <a:ea typeface="Dubai"/>
              </a:rPr>
              <a:t>🚀</a:t>
            </a:r>
          </a:p>
        </p:txBody>
      </p:sp>
      <p:sp>
        <p:nvSpPr>
          <p:cNvPr id="5" name="TextBox 4"/>
          <p:cNvSpPr txBox="1"/>
          <p:nvPr/>
        </p:nvSpPr>
        <p:spPr>
          <a:xfrm>
            <a:off x="502920" y="365760"/>
            <a:ext cx="10180015" cy="566928"/>
          </a:xfrm>
          <a:prstGeom prst="rect">
            <a:avLst/>
          </a:prstGeom>
          <a:noFill/>
        </p:spPr>
        <p:txBody>
          <a:bodyPr wrap="square" anchor="t" lIns="0" rIns="0" tIns="0" bIns="0">
            <a:spAutoFit/>
          </a:bodyPr>
          <a:lstStyle/>
          <a:p>
            <a:pPr algn="r" rtl="1">
              <a:lnSpc>
                <a:spcPct val="112000"/>
              </a:lnSpc>
              <a:spcBef>
                <a:spcPts val="0"/>
              </a:spcBef>
              <a:spcAft>
                <a:spcPts val="400"/>
              </a:spcAft>
            </a:pPr>
            <a:r>
              <a:rPr sz="2700" b="1" i="0">
                <a:solidFill>
                  <a:srgbClr val="18263B"/>
                </a:solidFill>
                <a:latin typeface="Dubai"/>
                <a:cs typeface="Dubai"/>
                <a:ea typeface="Dubai"/>
              </a:rPr>
              <a:t>خارطة طريق عملية: من الصفر إلى الفجوة</a:t>
            </a:r>
          </a:p>
        </p:txBody>
      </p:sp>
      <p:sp>
        <p:nvSpPr>
          <p:cNvPr id="6" name="TextBox 5"/>
          <p:cNvSpPr txBox="1"/>
          <p:nvPr/>
        </p:nvSpPr>
        <p:spPr>
          <a:xfrm>
            <a:off x="502920" y="969264"/>
            <a:ext cx="10180015" cy="365760"/>
          </a:xfrm>
          <a:prstGeom prst="rect">
            <a:avLst/>
          </a:prstGeom>
          <a:noFill/>
        </p:spPr>
        <p:txBody>
          <a:bodyPr wrap="square" anchor="t" lIns="0" rIns="0" tIns="0" bIns="0">
            <a:spAutoFit/>
          </a:bodyPr>
          <a:lstStyle/>
          <a:p>
            <a:pPr algn="r">
              <a:lnSpc>
                <a:spcPct val="112000"/>
              </a:lnSpc>
              <a:spcBef>
                <a:spcPts val="0"/>
              </a:spcBef>
              <a:spcAft>
                <a:spcPts val="400"/>
              </a:spcAft>
            </a:pPr>
            <a:r>
              <a:rPr sz="1250" b="0" i="1">
                <a:solidFill>
                  <a:srgbClr val="E45A44"/>
                </a:solidFill>
                <a:latin typeface="Dubai"/>
                <a:cs typeface="Dubai"/>
                <a:ea typeface="Dubai"/>
              </a:rPr>
              <a:t>A 7-Step Practical Roadmap</a:t>
            </a:r>
          </a:p>
        </p:txBody>
      </p:sp>
      <p:sp>
        <p:nvSpPr>
          <p:cNvPr id="7" name="Rectangle 6"/>
          <p:cNvSpPr/>
          <p:nvPr/>
        </p:nvSpPr>
        <p:spPr>
          <a:xfrm>
            <a:off x="9128455" y="1389888"/>
            <a:ext cx="1554480" cy="45720"/>
          </a:xfrm>
          <a:prstGeom prst="rect">
            <a:avLst/>
          </a:prstGeom>
          <a:solidFill>
            <a:srgbClr val="E4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3200400" cy="274320"/>
          </a:xfrm>
          <a:prstGeom prst="rect">
            <a:avLst/>
          </a:prstGeom>
          <a:noFill/>
        </p:spPr>
        <p:txBody>
          <a:bodyPr wrap="square" anchor="t" lIns="0" rIns="0" tIns="0" bIns="0">
            <a:spAutoFit/>
          </a:bodyPr>
          <a:lstStyle/>
          <a:p>
            <a:pPr algn="l">
              <a:lnSpc>
                <a:spcPct val="112000"/>
              </a:lnSpc>
              <a:spcBef>
                <a:spcPts val="0"/>
              </a:spcBef>
              <a:spcAft>
                <a:spcPts val="400"/>
              </a:spcAft>
            </a:pPr>
            <a:r>
              <a:rPr sz="1050" b="1" i="0">
                <a:solidFill>
                  <a:srgbClr val="E45A44"/>
                </a:solidFill>
                <a:latin typeface="Dubai"/>
                <a:cs typeface="Dubai"/>
                <a:ea typeface="Dubai"/>
              </a:rPr>
              <a:t>11</a:t>
            </a:r>
            <a:r>
              <a:rPr sz="900" b="0" i="0">
                <a:solidFill>
                  <a:srgbClr val="62748A"/>
                </a:solidFill>
                <a:latin typeface="Dubai"/>
                <a:cs typeface="Dubai"/>
                <a:ea typeface="Dubai"/>
              </a:rPr>
              <a:t>   Research Gaps — Dr. Hana Hossen Elahemer</a:t>
            </a:r>
          </a:p>
        </p:txBody>
      </p:sp>
      <p:sp>
        <p:nvSpPr>
          <p:cNvPr id="9" name="TextBox 8"/>
          <p:cNvSpPr txBox="1"/>
          <p:nvPr/>
        </p:nvSpPr>
        <p:spPr>
          <a:xfrm>
            <a:off x="8488375" y="6455664"/>
            <a:ext cx="3200400"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00" b="0" i="0">
                <a:solidFill>
                  <a:srgbClr val="62748A"/>
                </a:solidFill>
                <a:latin typeface="Dubai"/>
                <a:cs typeface="Dubai"/>
                <a:ea typeface="Dubai"/>
              </a:rPr>
              <a:t>الفجوات البحثية • ورشة عمل أكاديمية</a:t>
            </a:r>
          </a:p>
        </p:txBody>
      </p:sp>
      <p:sp>
        <p:nvSpPr>
          <p:cNvPr id="10" name="Rounded Rectangle 9"/>
          <p:cNvSpPr/>
          <p:nvPr/>
        </p:nvSpPr>
        <p:spPr>
          <a:xfrm>
            <a:off x="6278727" y="1691640"/>
            <a:ext cx="5410047" cy="987552"/>
          </a:xfrm>
          <a:prstGeom prst="roundRect">
            <a:avLst>
              <a:gd name="adj" fmla="val 1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938967" y="1883664"/>
            <a:ext cx="585216" cy="585216"/>
          </a:xfrm>
          <a:prstGeom prst="ellipse">
            <a:avLst/>
          </a:prstGeom>
          <a:solidFill>
            <a:srgbClr val="C23E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i="0">
                <a:solidFill>
                  <a:srgbClr val="FFFFFF"/>
                </a:solidFill>
                <a:latin typeface="Dubai"/>
                <a:cs typeface="Dubai"/>
                <a:ea typeface="Dubai"/>
              </a:rPr>
              <a:t>١</a:t>
            </a:r>
          </a:p>
        </p:txBody>
      </p:sp>
      <p:sp>
        <p:nvSpPr>
          <p:cNvPr id="12" name="TextBox 11"/>
          <p:cNvSpPr txBox="1"/>
          <p:nvPr/>
        </p:nvSpPr>
        <p:spPr>
          <a:xfrm>
            <a:off x="6507327" y="1783080"/>
            <a:ext cx="4312767"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300" b="1" i="0">
                <a:solidFill>
                  <a:srgbClr val="C23E77"/>
                </a:solidFill>
                <a:latin typeface="Dubai"/>
                <a:cs typeface="Dubai"/>
                <a:ea typeface="Dubai"/>
              </a:rPr>
              <a:t>حدّد مجالك بدقة</a:t>
            </a:r>
          </a:p>
        </p:txBody>
      </p:sp>
      <p:sp>
        <p:nvSpPr>
          <p:cNvPr id="13" name="TextBox 12"/>
          <p:cNvSpPr txBox="1"/>
          <p:nvPr/>
        </p:nvSpPr>
        <p:spPr>
          <a:xfrm>
            <a:off x="6507327" y="2148840"/>
            <a:ext cx="4312767" cy="475488"/>
          </a:xfrm>
          <a:prstGeom prst="rect">
            <a:avLst/>
          </a:prstGeom>
          <a:noFill/>
        </p:spPr>
        <p:txBody>
          <a:bodyPr wrap="square" anchor="t" lIns="0" rIns="0" tIns="0" bIns="0">
            <a:spAutoFit/>
          </a:bodyPr>
          <a:lstStyle/>
          <a:p>
            <a:pPr algn="r" rtl="1">
              <a:lnSpc>
                <a:spcPct val="112000"/>
              </a:lnSpc>
              <a:spcBef>
                <a:spcPts val="0"/>
              </a:spcBef>
              <a:spcAft>
                <a:spcPts val="400"/>
              </a:spcAft>
            </a:pPr>
            <a:r>
              <a:rPr sz="1000" b="0" i="0">
                <a:solidFill>
                  <a:srgbClr val="18263B"/>
                </a:solidFill>
                <a:latin typeface="Dubai"/>
                <a:cs typeface="Dubai"/>
                <a:ea typeface="Dubai"/>
              </a:rPr>
              <a:t>اختر تخصصاً فرعياً ضيقاً — «تعليم إلكتروني للمرحلة الابتدائية» لا «التعليم» عموماً</a:t>
            </a:r>
          </a:p>
        </p:txBody>
      </p:sp>
      <p:sp>
        <p:nvSpPr>
          <p:cNvPr id="14" name="Rounded Rectangle 13"/>
          <p:cNvSpPr/>
          <p:nvPr/>
        </p:nvSpPr>
        <p:spPr>
          <a:xfrm>
            <a:off x="6278727" y="2825496"/>
            <a:ext cx="5410047" cy="987552"/>
          </a:xfrm>
          <a:prstGeom prst="roundRect">
            <a:avLst>
              <a:gd name="adj" fmla="val 1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938967" y="3017520"/>
            <a:ext cx="585216" cy="585216"/>
          </a:xfrm>
          <a:prstGeom prst="ellipse">
            <a:avLst/>
          </a:prstGeom>
          <a:solidFill>
            <a:srgbClr val="DD9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i="0">
                <a:solidFill>
                  <a:srgbClr val="FFFFFF"/>
                </a:solidFill>
                <a:latin typeface="Dubai"/>
                <a:cs typeface="Dubai"/>
                <a:ea typeface="Dubai"/>
              </a:rPr>
              <a:t>٢</a:t>
            </a:r>
          </a:p>
        </p:txBody>
      </p:sp>
      <p:sp>
        <p:nvSpPr>
          <p:cNvPr id="16" name="TextBox 15"/>
          <p:cNvSpPr txBox="1"/>
          <p:nvPr/>
        </p:nvSpPr>
        <p:spPr>
          <a:xfrm>
            <a:off x="6507327" y="2916936"/>
            <a:ext cx="4312767"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300" b="1" i="0">
                <a:solidFill>
                  <a:srgbClr val="DD9F33"/>
                </a:solidFill>
                <a:latin typeface="Dubai"/>
                <a:cs typeface="Dubai"/>
                <a:ea typeface="Dubai"/>
              </a:rPr>
              <a:t>اجمع أحدث الدراسات</a:t>
            </a:r>
          </a:p>
        </p:txBody>
      </p:sp>
      <p:sp>
        <p:nvSpPr>
          <p:cNvPr id="17" name="TextBox 16"/>
          <p:cNvSpPr txBox="1"/>
          <p:nvPr/>
        </p:nvSpPr>
        <p:spPr>
          <a:xfrm>
            <a:off x="6507327" y="3282696"/>
            <a:ext cx="4312767" cy="475488"/>
          </a:xfrm>
          <a:prstGeom prst="rect">
            <a:avLst/>
          </a:prstGeom>
          <a:noFill/>
        </p:spPr>
        <p:txBody>
          <a:bodyPr wrap="square" anchor="t" lIns="0" rIns="0" tIns="0" bIns="0">
            <a:spAutoFit/>
          </a:bodyPr>
          <a:lstStyle/>
          <a:p>
            <a:pPr algn="r" rtl="1">
              <a:lnSpc>
                <a:spcPct val="112000"/>
              </a:lnSpc>
              <a:spcBef>
                <a:spcPts val="0"/>
              </a:spcBef>
              <a:spcAft>
                <a:spcPts val="400"/>
              </a:spcAft>
            </a:pPr>
            <a:r>
              <a:rPr sz="1000" b="0" i="0">
                <a:solidFill>
                  <a:srgbClr val="18263B"/>
                </a:solidFill>
                <a:latin typeface="Dubai"/>
                <a:cs typeface="Dubai"/>
                <a:ea typeface="Dubai"/>
              </a:rPr>
              <a:t>20–30 دراسة من آخر خمس سنوات عبر Semantic Scholar وGoogle Scholar</a:t>
            </a:r>
          </a:p>
        </p:txBody>
      </p:sp>
      <p:sp>
        <p:nvSpPr>
          <p:cNvPr id="18" name="Rounded Rectangle 17"/>
          <p:cNvSpPr/>
          <p:nvPr/>
        </p:nvSpPr>
        <p:spPr>
          <a:xfrm>
            <a:off x="6278727" y="3959352"/>
            <a:ext cx="5410047" cy="987552"/>
          </a:xfrm>
          <a:prstGeom prst="roundRect">
            <a:avLst>
              <a:gd name="adj" fmla="val 1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938967" y="4151376"/>
            <a:ext cx="585216" cy="585216"/>
          </a:xfrm>
          <a:prstGeom prst="ellipse">
            <a:avLst/>
          </a:prstGeom>
          <a:solidFill>
            <a:srgbClr val="0E9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i="0">
                <a:solidFill>
                  <a:srgbClr val="FFFFFF"/>
                </a:solidFill>
                <a:latin typeface="Dubai"/>
                <a:cs typeface="Dubai"/>
                <a:ea typeface="Dubai"/>
              </a:rPr>
              <a:t>٣</a:t>
            </a:r>
          </a:p>
        </p:txBody>
      </p:sp>
      <p:sp>
        <p:nvSpPr>
          <p:cNvPr id="20" name="TextBox 19"/>
          <p:cNvSpPr txBox="1"/>
          <p:nvPr/>
        </p:nvSpPr>
        <p:spPr>
          <a:xfrm>
            <a:off x="6507327" y="4050791"/>
            <a:ext cx="4312767"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300" b="1" i="0">
                <a:solidFill>
                  <a:srgbClr val="0E9F8C"/>
                </a:solidFill>
                <a:latin typeface="Dubai"/>
                <a:cs typeface="Dubai"/>
                <a:ea typeface="Dubai"/>
              </a:rPr>
              <a:t>اقرأ الخاتمات أولاً</a:t>
            </a:r>
          </a:p>
        </p:txBody>
      </p:sp>
      <p:sp>
        <p:nvSpPr>
          <p:cNvPr id="21" name="TextBox 20"/>
          <p:cNvSpPr txBox="1"/>
          <p:nvPr/>
        </p:nvSpPr>
        <p:spPr>
          <a:xfrm>
            <a:off x="6507327" y="4416552"/>
            <a:ext cx="4312767" cy="475488"/>
          </a:xfrm>
          <a:prstGeom prst="rect">
            <a:avLst/>
          </a:prstGeom>
          <a:noFill/>
        </p:spPr>
        <p:txBody>
          <a:bodyPr wrap="square" anchor="t" lIns="0" rIns="0" tIns="0" bIns="0">
            <a:spAutoFit/>
          </a:bodyPr>
          <a:lstStyle/>
          <a:p>
            <a:pPr algn="r" rtl="1">
              <a:lnSpc>
                <a:spcPct val="112000"/>
              </a:lnSpc>
              <a:spcBef>
                <a:spcPts val="0"/>
              </a:spcBef>
              <a:spcAft>
                <a:spcPts val="400"/>
              </a:spcAft>
            </a:pPr>
            <a:r>
              <a:rPr sz="1000" b="0" i="0">
                <a:solidFill>
                  <a:srgbClr val="18263B"/>
                </a:solidFill>
                <a:latin typeface="Dubai"/>
                <a:cs typeface="Dubai"/>
                <a:ea typeface="Dubai"/>
              </a:rPr>
              <a:t>ابدأ بأقسام «حدود الدراسة» و«البحوث المقترحة» — أسرع مصدر للفجوات الموثقة</a:t>
            </a:r>
          </a:p>
        </p:txBody>
      </p:sp>
      <p:sp>
        <p:nvSpPr>
          <p:cNvPr id="22" name="Rounded Rectangle 21"/>
          <p:cNvSpPr/>
          <p:nvPr/>
        </p:nvSpPr>
        <p:spPr>
          <a:xfrm>
            <a:off x="6278727" y="5093208"/>
            <a:ext cx="5410047" cy="987552"/>
          </a:xfrm>
          <a:prstGeom prst="roundRect">
            <a:avLst>
              <a:gd name="adj" fmla="val 1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938967" y="5285232"/>
            <a:ext cx="585216" cy="585216"/>
          </a:xfrm>
          <a:prstGeom prst="ellipse">
            <a:avLst/>
          </a:prstGeom>
          <a:solidFill>
            <a:srgbClr val="6C6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i="0">
                <a:solidFill>
                  <a:srgbClr val="FFFFFF"/>
                </a:solidFill>
                <a:latin typeface="Dubai"/>
                <a:cs typeface="Dubai"/>
                <a:ea typeface="Dubai"/>
              </a:rPr>
              <a:t>٤</a:t>
            </a:r>
          </a:p>
        </p:txBody>
      </p:sp>
      <p:sp>
        <p:nvSpPr>
          <p:cNvPr id="24" name="TextBox 23"/>
          <p:cNvSpPr txBox="1"/>
          <p:nvPr/>
        </p:nvSpPr>
        <p:spPr>
          <a:xfrm>
            <a:off x="6507327" y="5184648"/>
            <a:ext cx="4312767"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300" b="1" i="0">
                <a:solidFill>
                  <a:srgbClr val="6C63D8"/>
                </a:solidFill>
                <a:latin typeface="Dubai"/>
                <a:cs typeface="Dubai"/>
                <a:ea typeface="Dubai"/>
              </a:rPr>
              <a:t>أنشئ مصفوفة الأدبيات</a:t>
            </a:r>
          </a:p>
        </p:txBody>
      </p:sp>
      <p:sp>
        <p:nvSpPr>
          <p:cNvPr id="25" name="TextBox 24"/>
          <p:cNvSpPr txBox="1"/>
          <p:nvPr/>
        </p:nvSpPr>
        <p:spPr>
          <a:xfrm>
            <a:off x="6507327" y="5550408"/>
            <a:ext cx="4312767" cy="475488"/>
          </a:xfrm>
          <a:prstGeom prst="rect">
            <a:avLst/>
          </a:prstGeom>
          <a:noFill/>
        </p:spPr>
        <p:txBody>
          <a:bodyPr wrap="square" anchor="t" lIns="0" rIns="0" tIns="0" bIns="0">
            <a:spAutoFit/>
          </a:bodyPr>
          <a:lstStyle/>
          <a:p>
            <a:pPr algn="r" rtl="1">
              <a:lnSpc>
                <a:spcPct val="112000"/>
              </a:lnSpc>
              <a:spcBef>
                <a:spcPts val="0"/>
              </a:spcBef>
              <a:spcAft>
                <a:spcPts val="400"/>
              </a:spcAft>
            </a:pPr>
            <a:r>
              <a:rPr sz="1000" b="0" i="0">
                <a:solidFill>
                  <a:srgbClr val="18263B"/>
                </a:solidFill>
                <a:latin typeface="Dubai"/>
                <a:cs typeface="Dubai"/>
                <a:ea typeface="Dubai"/>
              </a:rPr>
              <a:t>جدول يقارن: العينة، السياق، المنهج، الزمن، أبرز النتائج لكل دراسة</a:t>
            </a:r>
          </a:p>
        </p:txBody>
      </p:sp>
      <p:sp>
        <p:nvSpPr>
          <p:cNvPr id="26" name="Rounded Rectangle 25"/>
          <p:cNvSpPr/>
          <p:nvPr/>
        </p:nvSpPr>
        <p:spPr>
          <a:xfrm>
            <a:off x="502920" y="1691640"/>
            <a:ext cx="5410047" cy="987552"/>
          </a:xfrm>
          <a:prstGeom prst="roundRect">
            <a:avLst>
              <a:gd name="adj" fmla="val 1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163159" y="1883664"/>
            <a:ext cx="585216" cy="585216"/>
          </a:xfrm>
          <a:prstGeom prst="ellipse">
            <a:avLst/>
          </a:prstGeom>
          <a:solidFill>
            <a:srgbClr val="E4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i="0">
                <a:solidFill>
                  <a:srgbClr val="FFFFFF"/>
                </a:solidFill>
                <a:latin typeface="Dubai"/>
                <a:cs typeface="Dubai"/>
                <a:ea typeface="Dubai"/>
              </a:rPr>
              <a:t>٥</a:t>
            </a:r>
          </a:p>
        </p:txBody>
      </p:sp>
      <p:sp>
        <p:nvSpPr>
          <p:cNvPr id="28" name="TextBox 27"/>
          <p:cNvSpPr txBox="1"/>
          <p:nvPr/>
        </p:nvSpPr>
        <p:spPr>
          <a:xfrm>
            <a:off x="731520" y="1783080"/>
            <a:ext cx="4312767"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300" b="1" i="0">
                <a:solidFill>
                  <a:srgbClr val="E45A44"/>
                </a:solidFill>
                <a:latin typeface="Dubai"/>
                <a:cs typeface="Dubai"/>
                <a:ea typeface="Dubai"/>
              </a:rPr>
              <a:t>علّم الفراغات والتناقضات</a:t>
            </a:r>
          </a:p>
        </p:txBody>
      </p:sp>
      <p:sp>
        <p:nvSpPr>
          <p:cNvPr id="29" name="TextBox 28"/>
          <p:cNvSpPr txBox="1"/>
          <p:nvPr/>
        </p:nvSpPr>
        <p:spPr>
          <a:xfrm>
            <a:off x="731520" y="2148840"/>
            <a:ext cx="4312767" cy="475488"/>
          </a:xfrm>
          <a:prstGeom prst="rect">
            <a:avLst/>
          </a:prstGeom>
          <a:noFill/>
        </p:spPr>
        <p:txBody>
          <a:bodyPr wrap="square" anchor="t" lIns="0" rIns="0" tIns="0" bIns="0">
            <a:spAutoFit/>
          </a:bodyPr>
          <a:lstStyle/>
          <a:p>
            <a:pPr algn="r" rtl="1">
              <a:lnSpc>
                <a:spcPct val="112000"/>
              </a:lnSpc>
              <a:spcBef>
                <a:spcPts val="0"/>
              </a:spcBef>
              <a:spcAft>
                <a:spcPts val="400"/>
              </a:spcAft>
            </a:pPr>
            <a:r>
              <a:rPr sz="1000" b="0" i="0">
                <a:solidFill>
                  <a:srgbClr val="18263B"/>
                </a:solidFill>
                <a:latin typeface="Dubai"/>
                <a:cs typeface="Dubai"/>
                <a:ea typeface="Dubai"/>
              </a:rPr>
              <a:t>ظلّل الخانات الفارغة والنتائج المتضاربة — هذه مواضع الفجوات المحتملة</a:t>
            </a:r>
          </a:p>
        </p:txBody>
      </p:sp>
      <p:sp>
        <p:nvSpPr>
          <p:cNvPr id="30" name="Rounded Rectangle 29"/>
          <p:cNvSpPr/>
          <p:nvPr/>
        </p:nvSpPr>
        <p:spPr>
          <a:xfrm>
            <a:off x="502920" y="2825496"/>
            <a:ext cx="5410047" cy="987552"/>
          </a:xfrm>
          <a:prstGeom prst="roundRect">
            <a:avLst>
              <a:gd name="adj" fmla="val 1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163159" y="3017520"/>
            <a:ext cx="585216" cy="585216"/>
          </a:xfrm>
          <a:prstGeom prst="ellipse">
            <a:avLst/>
          </a:prstGeom>
          <a:solidFill>
            <a:srgbClr val="3E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i="0">
                <a:solidFill>
                  <a:srgbClr val="FFFFFF"/>
                </a:solidFill>
                <a:latin typeface="Dubai"/>
                <a:cs typeface="Dubai"/>
                <a:ea typeface="Dubai"/>
              </a:rPr>
              <a:t>٦</a:t>
            </a:r>
          </a:p>
        </p:txBody>
      </p:sp>
      <p:sp>
        <p:nvSpPr>
          <p:cNvPr id="32" name="TextBox 31"/>
          <p:cNvSpPr txBox="1"/>
          <p:nvPr/>
        </p:nvSpPr>
        <p:spPr>
          <a:xfrm>
            <a:off x="731520" y="2916936"/>
            <a:ext cx="4312767"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300" b="1" i="0">
                <a:solidFill>
                  <a:srgbClr val="3E8E5A"/>
                </a:solidFill>
                <a:latin typeface="Dubai"/>
                <a:cs typeface="Dubai"/>
                <a:ea typeface="Dubai"/>
              </a:rPr>
              <a:t>تحقّق بأدوات الذكاء الاصطناعي</a:t>
            </a:r>
          </a:p>
        </p:txBody>
      </p:sp>
      <p:sp>
        <p:nvSpPr>
          <p:cNvPr id="33" name="TextBox 32"/>
          <p:cNvSpPr txBox="1"/>
          <p:nvPr/>
        </p:nvSpPr>
        <p:spPr>
          <a:xfrm>
            <a:off x="731520" y="3282696"/>
            <a:ext cx="4312767" cy="475488"/>
          </a:xfrm>
          <a:prstGeom prst="rect">
            <a:avLst/>
          </a:prstGeom>
          <a:noFill/>
        </p:spPr>
        <p:txBody>
          <a:bodyPr wrap="square" anchor="t" lIns="0" rIns="0" tIns="0" bIns="0">
            <a:spAutoFit/>
          </a:bodyPr>
          <a:lstStyle/>
          <a:p>
            <a:pPr algn="r" rtl="1">
              <a:lnSpc>
                <a:spcPct val="112000"/>
              </a:lnSpc>
              <a:spcBef>
                <a:spcPts val="0"/>
              </a:spcBef>
              <a:spcAft>
                <a:spcPts val="400"/>
              </a:spcAft>
            </a:pPr>
            <a:r>
              <a:rPr sz="1000" b="0" i="0">
                <a:solidFill>
                  <a:srgbClr val="18263B"/>
                </a:solidFill>
                <a:latin typeface="Dubai"/>
                <a:cs typeface="Dubai"/>
                <a:ea typeface="Dubai"/>
              </a:rPr>
              <a:t>استخدم Consensus وConnected Papers للتأكد أن الفجوة لم تُسدّ حديثاً</a:t>
            </a:r>
          </a:p>
        </p:txBody>
      </p:sp>
      <p:sp>
        <p:nvSpPr>
          <p:cNvPr id="34" name="Rounded Rectangle 33"/>
          <p:cNvSpPr/>
          <p:nvPr/>
        </p:nvSpPr>
        <p:spPr>
          <a:xfrm>
            <a:off x="502920" y="3959352"/>
            <a:ext cx="5410047" cy="987552"/>
          </a:xfrm>
          <a:prstGeom prst="roundRect">
            <a:avLst>
              <a:gd name="adj" fmla="val 1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163159" y="4151376"/>
            <a:ext cx="585216" cy="585216"/>
          </a:xfrm>
          <a:prstGeom prst="ellipse">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i="0">
                <a:solidFill>
                  <a:srgbClr val="FFFFFF"/>
                </a:solidFill>
                <a:latin typeface="Dubai"/>
                <a:cs typeface="Dubai"/>
                <a:ea typeface="Dubai"/>
              </a:rPr>
              <a:t>٧</a:t>
            </a:r>
          </a:p>
        </p:txBody>
      </p:sp>
      <p:sp>
        <p:nvSpPr>
          <p:cNvPr id="36" name="TextBox 35"/>
          <p:cNvSpPr txBox="1"/>
          <p:nvPr/>
        </p:nvSpPr>
        <p:spPr>
          <a:xfrm>
            <a:off x="731520" y="4050791"/>
            <a:ext cx="4312767"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300" b="1" i="0">
                <a:solidFill>
                  <a:srgbClr val="2F6FB5"/>
                </a:solidFill>
                <a:latin typeface="Dubai"/>
                <a:cs typeface="Dubai"/>
                <a:ea typeface="Dubai"/>
              </a:rPr>
              <a:t>صُغ فجوتك بدقة</a:t>
            </a:r>
          </a:p>
        </p:txBody>
      </p:sp>
      <p:sp>
        <p:nvSpPr>
          <p:cNvPr id="37" name="TextBox 36"/>
          <p:cNvSpPr txBox="1"/>
          <p:nvPr/>
        </p:nvSpPr>
        <p:spPr>
          <a:xfrm>
            <a:off x="731520" y="4416552"/>
            <a:ext cx="4312767" cy="475488"/>
          </a:xfrm>
          <a:prstGeom prst="rect">
            <a:avLst/>
          </a:prstGeom>
          <a:noFill/>
        </p:spPr>
        <p:txBody>
          <a:bodyPr wrap="square" anchor="t" lIns="0" rIns="0" tIns="0" bIns="0">
            <a:spAutoFit/>
          </a:bodyPr>
          <a:lstStyle/>
          <a:p>
            <a:pPr algn="r" rtl="1">
              <a:lnSpc>
                <a:spcPct val="112000"/>
              </a:lnSpc>
              <a:spcBef>
                <a:spcPts val="0"/>
              </a:spcBef>
              <a:spcAft>
                <a:spcPts val="400"/>
              </a:spcAft>
            </a:pPr>
            <a:r>
              <a:rPr sz="1000" b="0" i="0">
                <a:solidFill>
                  <a:srgbClr val="18263B"/>
                </a:solidFill>
                <a:latin typeface="Dubai"/>
                <a:cs typeface="Dubai"/>
                <a:ea typeface="Dubai"/>
              </a:rPr>
              <a:t>جملة محددة قابلة للقياس تذكر الموضوع والفئة والسياق والزمن</a:t>
            </a:r>
          </a:p>
        </p:txBody>
      </p:sp>
      <p:sp>
        <p:nvSpPr>
          <p:cNvPr id="38" name="Rounded Rectangle 37"/>
          <p:cNvSpPr/>
          <p:nvPr/>
        </p:nvSpPr>
        <p:spPr>
          <a:xfrm>
            <a:off x="502920" y="5093208"/>
            <a:ext cx="5410047" cy="987552"/>
          </a:xfrm>
          <a:prstGeom prst="roundRect">
            <a:avLst>
              <a:gd name="adj" fmla="val 16000"/>
            </a:avLst>
          </a:prstGeom>
          <a:solidFill>
            <a:srgbClr val="FAF3E6"/>
          </a:solidFill>
          <a:ln w="15240">
            <a:solidFill>
              <a:srgbClr val="DD9F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202936"/>
            <a:ext cx="4952847" cy="777240"/>
          </a:xfrm>
          <a:prstGeom prst="rect">
            <a:avLst/>
          </a:prstGeom>
          <a:noFill/>
        </p:spPr>
        <p:txBody>
          <a:bodyPr wrap="square" anchor="t" lIns="0" rIns="0" tIns="0" bIns="0">
            <a:spAutoFit/>
          </a:bodyPr>
          <a:lstStyle/>
          <a:p>
            <a:pPr algn="r" rtl="1">
              <a:lnSpc>
                <a:spcPct val="118000"/>
              </a:lnSpc>
              <a:spcBef>
                <a:spcPts val="0"/>
              </a:spcBef>
              <a:spcAft>
                <a:spcPts val="400"/>
              </a:spcAft>
            </a:pPr>
            <a:r>
              <a:rPr sz="1150" b="1" i="0">
                <a:solidFill>
                  <a:srgbClr val="DD9F33"/>
                </a:solidFill>
                <a:latin typeface="Dubai"/>
                <a:cs typeface="Dubai"/>
                <a:ea typeface="Dubai"/>
              </a:rPr>
              <a:t>⏱ الزمن المتوقع: </a:t>
            </a:r>
            <a:r>
              <a:rPr sz="1050" b="0" i="0">
                <a:solidFill>
                  <a:srgbClr val="18263B"/>
                </a:solidFill>
                <a:latin typeface="Dubai"/>
                <a:cs typeface="Dubai"/>
                <a:ea typeface="Dubai"/>
              </a:rPr>
              <a:t>أسبوعان إلى أربعة أسابيع من العمل المنظّم تكفي غالباً للوصول إلى فجوة موثقة وقابلة للدفاع عنها أمام أي لجنة.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865815" y="411480"/>
            <a:ext cx="822960" cy="822960"/>
          </a:xfrm>
          <a:prstGeom prst="roundRect">
            <a:avLst>
              <a:gd name="adj" fmla="val 28000"/>
            </a:avLst>
          </a:prstGeom>
          <a:solidFill>
            <a:srgbClr val="E1EAF4"/>
          </a:solidFill>
          <a:ln w="15240">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3000" b="0" i="0">
                <a:solidFill>
                  <a:srgbClr val="2F6FB5"/>
                </a:solidFill>
                <a:latin typeface="Dubai"/>
                <a:cs typeface="Dubai"/>
                <a:ea typeface="Dubai"/>
              </a:rPr>
              <a:t>✍️</a:t>
            </a:r>
          </a:p>
        </p:txBody>
      </p:sp>
      <p:sp>
        <p:nvSpPr>
          <p:cNvPr id="5" name="TextBox 4"/>
          <p:cNvSpPr txBox="1"/>
          <p:nvPr/>
        </p:nvSpPr>
        <p:spPr>
          <a:xfrm>
            <a:off x="502920" y="365760"/>
            <a:ext cx="10180015" cy="566928"/>
          </a:xfrm>
          <a:prstGeom prst="rect">
            <a:avLst/>
          </a:prstGeom>
          <a:noFill/>
        </p:spPr>
        <p:txBody>
          <a:bodyPr wrap="square" anchor="t" lIns="0" rIns="0" tIns="0" bIns="0">
            <a:spAutoFit/>
          </a:bodyPr>
          <a:lstStyle/>
          <a:p>
            <a:pPr algn="r" rtl="1">
              <a:lnSpc>
                <a:spcPct val="112000"/>
              </a:lnSpc>
              <a:spcBef>
                <a:spcPts val="0"/>
              </a:spcBef>
              <a:spcAft>
                <a:spcPts val="400"/>
              </a:spcAft>
            </a:pPr>
            <a:r>
              <a:rPr sz="2700" b="1" i="0">
                <a:solidFill>
                  <a:srgbClr val="18263B"/>
                </a:solidFill>
                <a:latin typeface="Dubai"/>
                <a:cs typeface="Dubai"/>
                <a:ea typeface="Dubai"/>
              </a:rPr>
              <a:t>صياغة الفجوة البحثية باحترافية</a:t>
            </a:r>
          </a:p>
        </p:txBody>
      </p:sp>
      <p:sp>
        <p:nvSpPr>
          <p:cNvPr id="6" name="TextBox 5"/>
          <p:cNvSpPr txBox="1"/>
          <p:nvPr/>
        </p:nvSpPr>
        <p:spPr>
          <a:xfrm>
            <a:off x="502920" y="969264"/>
            <a:ext cx="10180015" cy="365760"/>
          </a:xfrm>
          <a:prstGeom prst="rect">
            <a:avLst/>
          </a:prstGeom>
          <a:noFill/>
        </p:spPr>
        <p:txBody>
          <a:bodyPr wrap="square" anchor="t" lIns="0" rIns="0" tIns="0" bIns="0">
            <a:spAutoFit/>
          </a:bodyPr>
          <a:lstStyle/>
          <a:p>
            <a:pPr algn="r">
              <a:lnSpc>
                <a:spcPct val="112000"/>
              </a:lnSpc>
              <a:spcBef>
                <a:spcPts val="0"/>
              </a:spcBef>
              <a:spcAft>
                <a:spcPts val="400"/>
              </a:spcAft>
            </a:pPr>
            <a:r>
              <a:rPr sz="1250" b="0" i="1">
                <a:solidFill>
                  <a:srgbClr val="2F6FB5"/>
                </a:solidFill>
                <a:latin typeface="Dubai"/>
                <a:cs typeface="Dubai"/>
                <a:ea typeface="Dubai"/>
              </a:rPr>
              <a:t>Writing Your Gap Statement</a:t>
            </a:r>
          </a:p>
        </p:txBody>
      </p:sp>
      <p:sp>
        <p:nvSpPr>
          <p:cNvPr id="7" name="Rectangle 6"/>
          <p:cNvSpPr/>
          <p:nvPr/>
        </p:nvSpPr>
        <p:spPr>
          <a:xfrm>
            <a:off x="9128455" y="1389888"/>
            <a:ext cx="1554480" cy="45720"/>
          </a:xfrm>
          <a:prstGeom prst="rect">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3200400" cy="274320"/>
          </a:xfrm>
          <a:prstGeom prst="rect">
            <a:avLst/>
          </a:prstGeom>
          <a:noFill/>
        </p:spPr>
        <p:txBody>
          <a:bodyPr wrap="square" anchor="t" lIns="0" rIns="0" tIns="0" bIns="0">
            <a:spAutoFit/>
          </a:bodyPr>
          <a:lstStyle/>
          <a:p>
            <a:pPr algn="l">
              <a:lnSpc>
                <a:spcPct val="112000"/>
              </a:lnSpc>
              <a:spcBef>
                <a:spcPts val="0"/>
              </a:spcBef>
              <a:spcAft>
                <a:spcPts val="400"/>
              </a:spcAft>
            </a:pPr>
            <a:r>
              <a:rPr sz="1050" b="1" i="0">
                <a:solidFill>
                  <a:srgbClr val="2F6FB5"/>
                </a:solidFill>
                <a:latin typeface="Dubai"/>
                <a:cs typeface="Dubai"/>
                <a:ea typeface="Dubai"/>
              </a:rPr>
              <a:t>12</a:t>
            </a:r>
            <a:r>
              <a:rPr sz="900" b="0" i="0">
                <a:solidFill>
                  <a:srgbClr val="62748A"/>
                </a:solidFill>
                <a:latin typeface="Dubai"/>
                <a:cs typeface="Dubai"/>
                <a:ea typeface="Dubai"/>
              </a:rPr>
              <a:t>   Research Gaps — Dr. Hana Hossen Elahemer</a:t>
            </a:r>
          </a:p>
        </p:txBody>
      </p:sp>
      <p:sp>
        <p:nvSpPr>
          <p:cNvPr id="9" name="TextBox 8"/>
          <p:cNvSpPr txBox="1"/>
          <p:nvPr/>
        </p:nvSpPr>
        <p:spPr>
          <a:xfrm>
            <a:off x="8488375" y="6455664"/>
            <a:ext cx="3200400" cy="274320"/>
          </a:xfrm>
          <a:prstGeom prst="rect">
            <a:avLst/>
          </a:prstGeom>
          <a:noFill/>
        </p:spPr>
        <p:txBody>
          <a:bodyPr wrap="square" anchor="t" lIns="0" rIns="0" tIns="0" bIns="0">
            <a:spAutoFit/>
          </a:bodyPr>
          <a:lstStyle/>
          <a:p>
            <a:pPr algn="r" rtl="1">
              <a:lnSpc>
                <a:spcPct val="112000"/>
              </a:lnSpc>
              <a:spcBef>
                <a:spcPts val="0"/>
              </a:spcBef>
              <a:spcAft>
                <a:spcPts val="400"/>
              </a:spcAft>
            </a:pPr>
            <a:r>
              <a:rPr sz="900" b="0" i="0">
                <a:solidFill>
                  <a:srgbClr val="62748A"/>
                </a:solidFill>
                <a:latin typeface="Dubai"/>
                <a:cs typeface="Dubai"/>
                <a:ea typeface="Dubai"/>
              </a:rPr>
              <a:t>الفجوات البحثية • ورشة عمل أكاديمية</a:t>
            </a:r>
          </a:p>
        </p:txBody>
      </p:sp>
      <p:sp>
        <p:nvSpPr>
          <p:cNvPr id="10" name="Rounded Rectangle 9"/>
          <p:cNvSpPr/>
          <p:nvPr/>
        </p:nvSpPr>
        <p:spPr>
          <a:xfrm>
            <a:off x="502920" y="1691640"/>
            <a:ext cx="11185855" cy="1874519"/>
          </a:xfrm>
          <a:prstGeom prst="roundRect">
            <a:avLst>
              <a:gd name="adj" fmla="val 10000"/>
            </a:avLst>
          </a:prstGeom>
          <a:solidFill>
            <a:srgbClr val="101E3C"/>
          </a:solidFill>
          <a:ln w="16510">
            <a:solidFill>
              <a:srgbClr val="DD9F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847088"/>
            <a:ext cx="10454335"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250" b="1" i="0">
                <a:solidFill>
                  <a:srgbClr val="DD9F33"/>
                </a:solidFill>
                <a:latin typeface="Dubai"/>
                <a:cs typeface="Dubai"/>
                <a:ea typeface="Dubai"/>
              </a:rPr>
              <a:t>القالب الجاهز — انسخه واملأ الفراغات:</a:t>
            </a:r>
          </a:p>
        </p:txBody>
      </p:sp>
      <p:sp>
        <p:nvSpPr>
          <p:cNvPr id="12" name="TextBox 11"/>
          <p:cNvSpPr txBox="1"/>
          <p:nvPr/>
        </p:nvSpPr>
        <p:spPr>
          <a:xfrm>
            <a:off x="868680" y="2286000"/>
            <a:ext cx="10454335" cy="1188720"/>
          </a:xfrm>
          <a:prstGeom prst="rect">
            <a:avLst/>
          </a:prstGeom>
          <a:noFill/>
        </p:spPr>
        <p:txBody>
          <a:bodyPr wrap="square" anchor="t" lIns="0" rIns="0" tIns="0" bIns="0">
            <a:spAutoFit/>
          </a:bodyPr>
          <a:lstStyle/>
          <a:p>
            <a:pPr algn="r" rtl="1">
              <a:lnSpc>
                <a:spcPct val="145000"/>
              </a:lnSpc>
              <a:spcBef>
                <a:spcPts val="0"/>
              </a:spcBef>
              <a:spcAft>
                <a:spcPts val="400"/>
              </a:spcAft>
            </a:pPr>
            <a:r>
              <a:rPr sz="1500" b="0" i="0">
                <a:solidFill>
                  <a:srgbClr val="FFFFFF"/>
                </a:solidFill>
                <a:latin typeface="Dubai"/>
                <a:cs typeface="Dubai"/>
                <a:ea typeface="Dubai"/>
              </a:rPr>
              <a:t>«على الرغم من أن الدراسات السابقة تناولت </a:t>
            </a:r>
            <a:r>
              <a:rPr sz="1500" b="1" i="0">
                <a:solidFill>
                  <a:srgbClr val="DD9F33"/>
                </a:solidFill>
                <a:latin typeface="Dubai"/>
                <a:cs typeface="Dubai"/>
                <a:ea typeface="Dubai"/>
              </a:rPr>
              <a:t>[الموضوع X]</a:t>
            </a:r>
            <a:r>
              <a:rPr sz="1500" b="0" i="0">
                <a:solidFill>
                  <a:srgbClr val="FFFFFF"/>
                </a:solidFill>
                <a:latin typeface="Dubai"/>
                <a:cs typeface="Dubai"/>
                <a:ea typeface="Dubai"/>
              </a:rPr>
              <a:t>، إلا أن </a:t>
            </a:r>
            <a:r>
              <a:rPr sz="1500" b="1" i="0">
                <a:solidFill>
                  <a:srgbClr val="0E9F8C"/>
                </a:solidFill>
                <a:latin typeface="Dubai"/>
                <a:cs typeface="Dubai"/>
                <a:ea typeface="Dubai"/>
              </a:rPr>
              <a:t>[الجانب Y]</a:t>
            </a:r>
            <a:r>
              <a:rPr sz="1500" b="0" i="0">
                <a:solidFill>
                  <a:srgbClr val="FFFFFF"/>
                </a:solidFill>
                <a:latin typeface="Dubai"/>
                <a:cs typeface="Dubai"/>
                <a:ea typeface="Dubai"/>
              </a:rPr>
              <a:t> لم يُدرس بعد في </a:t>
            </a:r>
            <a:r>
              <a:rPr sz="1500" b="1" i="0">
                <a:solidFill>
                  <a:srgbClr val="E45A44"/>
                </a:solidFill>
                <a:latin typeface="Dubai"/>
                <a:cs typeface="Dubai"/>
                <a:ea typeface="Dubai"/>
              </a:rPr>
              <a:t>[السياق Z]</a:t>
            </a:r>
            <a:r>
              <a:rPr sz="1500" b="0" i="0">
                <a:solidFill>
                  <a:srgbClr val="FFFFFF"/>
                </a:solidFill>
                <a:latin typeface="Dubai"/>
                <a:cs typeface="Dubai"/>
                <a:ea typeface="Dubai"/>
              </a:rPr>
              <a:t>، مما يستدعي إجراء </a:t>
            </a:r>
            <a:r>
              <a:rPr sz="1500" b="1" i="0">
                <a:solidFill>
                  <a:srgbClr val="6C63D8"/>
                </a:solidFill>
                <a:latin typeface="Dubai"/>
                <a:cs typeface="Dubai"/>
                <a:ea typeface="Dubai"/>
              </a:rPr>
              <a:t>[نوع الدراسة المقترحة]</a:t>
            </a:r>
            <a:r>
              <a:rPr sz="1500" b="0" i="0">
                <a:solidFill>
                  <a:srgbClr val="FFFFFF"/>
                </a:solidFill>
                <a:latin typeface="Dubai"/>
                <a:cs typeface="Dubai"/>
                <a:ea typeface="Dubai"/>
              </a:rPr>
              <a:t>.»</a:t>
            </a:r>
          </a:p>
        </p:txBody>
      </p:sp>
      <p:sp>
        <p:nvSpPr>
          <p:cNvPr id="13" name="Rounded Rectangle 12"/>
          <p:cNvSpPr/>
          <p:nvPr/>
        </p:nvSpPr>
        <p:spPr>
          <a:xfrm>
            <a:off x="502920" y="3749039"/>
            <a:ext cx="11185855" cy="914400"/>
          </a:xfrm>
          <a:prstGeom prst="roundRect">
            <a:avLst>
              <a:gd name="adj" fmla="val 14000"/>
            </a:avLst>
          </a:prstGeom>
          <a:solidFill>
            <a:srgbClr val="EBF7F5"/>
          </a:solidFill>
          <a:ln w="13970">
            <a:solidFill>
              <a:srgbClr val="0E9F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840480"/>
            <a:ext cx="10545775" cy="777240"/>
          </a:xfrm>
          <a:prstGeom prst="rect">
            <a:avLst/>
          </a:prstGeom>
          <a:noFill/>
        </p:spPr>
        <p:txBody>
          <a:bodyPr wrap="square" anchor="t" lIns="0" rIns="0" tIns="0" bIns="0">
            <a:spAutoFit/>
          </a:bodyPr>
          <a:lstStyle/>
          <a:p>
            <a:pPr algn="r" rtl="1">
              <a:lnSpc>
                <a:spcPct val="130000"/>
              </a:lnSpc>
              <a:spcBef>
                <a:spcPts val="0"/>
              </a:spcBef>
              <a:spcAft>
                <a:spcPts val="400"/>
              </a:spcAft>
            </a:pPr>
            <a:r>
              <a:rPr sz="1200" b="1" i="0">
                <a:solidFill>
                  <a:srgbClr val="0E9F8C"/>
                </a:solidFill>
                <a:latin typeface="Dubai"/>
                <a:cs typeface="Dubai"/>
                <a:ea typeface="Dubai"/>
              </a:rPr>
              <a:t>مثال مُطبَّق: </a:t>
            </a:r>
            <a:r>
              <a:rPr sz="1150" b="0" i="0">
                <a:solidFill>
                  <a:srgbClr val="18263B"/>
                </a:solidFill>
                <a:latin typeface="Dubai"/>
                <a:cs typeface="Dubai"/>
                <a:ea typeface="Dubai"/>
              </a:rPr>
              <a:t>«على الرغم من أن الدراسات السابقة تناولت التعلم الإلكتروني في الجامعات، إلا أن أثره على القلق الأكاديمي لم يُدرس بعد لدى طلاب الجامعات العربية بعد 2020، مما يستدعي إجراء دراسة مختلطة (كمية ونوعية) لسد هذه الفجوة.»</a:t>
            </a:r>
          </a:p>
        </p:txBody>
      </p:sp>
      <p:sp>
        <p:nvSpPr>
          <p:cNvPr id="15" name="TextBox 14"/>
          <p:cNvSpPr txBox="1"/>
          <p:nvPr/>
        </p:nvSpPr>
        <p:spPr>
          <a:xfrm>
            <a:off x="502920" y="4892040"/>
            <a:ext cx="11185855"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300" b="1" i="0">
                <a:solidFill>
                  <a:srgbClr val="18263B"/>
                </a:solidFill>
                <a:latin typeface="Dubai"/>
                <a:cs typeface="Dubai"/>
                <a:ea typeface="Dubai"/>
              </a:rPr>
              <a:t>قائمة الفحص النهائية قبل اعتماد الفجوة:</a:t>
            </a:r>
          </a:p>
        </p:txBody>
      </p:sp>
      <p:sp>
        <p:nvSpPr>
          <p:cNvPr id="16" name="Rounded Rectangle 15"/>
          <p:cNvSpPr/>
          <p:nvPr/>
        </p:nvSpPr>
        <p:spPr>
          <a:xfrm>
            <a:off x="9612538" y="5349240"/>
            <a:ext cx="2076236" cy="841248"/>
          </a:xfrm>
          <a:prstGeom prst="roundRect">
            <a:avLst>
              <a:gd name="adj" fmla="val 20000"/>
            </a:avLst>
          </a:prstGeom>
          <a:solidFill>
            <a:srgbClr val="F8EBF1"/>
          </a:solidFill>
          <a:ln w="13970">
            <a:solidFill>
              <a:srgbClr val="C23E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03978" y="5440679"/>
            <a:ext cx="1893356" cy="347472"/>
          </a:xfrm>
          <a:prstGeom prst="rect">
            <a:avLst/>
          </a:prstGeom>
          <a:noFill/>
        </p:spPr>
        <p:txBody>
          <a:bodyPr wrap="square" anchor="t" lIns="0" rIns="0" tIns="0" bIns="0">
            <a:spAutoFit/>
          </a:bodyPr>
          <a:lstStyle/>
          <a:p>
            <a:pPr algn="ctr" rtl="1">
              <a:lnSpc>
                <a:spcPct val="112000"/>
              </a:lnSpc>
              <a:spcBef>
                <a:spcPts val="0"/>
              </a:spcBef>
              <a:spcAft>
                <a:spcPts val="400"/>
              </a:spcAft>
            </a:pPr>
            <a:r>
              <a:rPr sz="1200" b="1" i="0">
                <a:solidFill>
                  <a:srgbClr val="C23E77"/>
                </a:solidFill>
                <a:latin typeface="Dubai"/>
                <a:cs typeface="Dubai"/>
                <a:ea typeface="Dubai"/>
              </a:rPr>
              <a:t>✔ موثّقة؟</a:t>
            </a:r>
          </a:p>
        </p:txBody>
      </p:sp>
      <p:sp>
        <p:nvSpPr>
          <p:cNvPr id="18" name="TextBox 17"/>
          <p:cNvSpPr txBox="1"/>
          <p:nvPr/>
        </p:nvSpPr>
        <p:spPr>
          <a:xfrm>
            <a:off x="9703978" y="5788152"/>
            <a:ext cx="1893356" cy="329184"/>
          </a:xfrm>
          <a:prstGeom prst="rect">
            <a:avLst/>
          </a:prstGeom>
          <a:noFill/>
        </p:spPr>
        <p:txBody>
          <a:bodyPr wrap="square" anchor="t" lIns="0" rIns="0" tIns="0" bIns="0">
            <a:spAutoFit/>
          </a:bodyPr>
          <a:lstStyle/>
          <a:p>
            <a:pPr algn="ctr" rtl="1">
              <a:lnSpc>
                <a:spcPct val="112000"/>
              </a:lnSpc>
              <a:spcBef>
                <a:spcPts val="0"/>
              </a:spcBef>
              <a:spcAft>
                <a:spcPts val="400"/>
              </a:spcAft>
            </a:pPr>
            <a:r>
              <a:rPr sz="900" b="0" i="0">
                <a:solidFill>
                  <a:srgbClr val="62748A"/>
                </a:solidFill>
                <a:latin typeface="Dubai"/>
                <a:cs typeface="Dubai"/>
                <a:ea typeface="Dubai"/>
              </a:rPr>
              <a:t>تستند لمراجعة فعلية</a:t>
            </a:r>
          </a:p>
        </p:txBody>
      </p:sp>
      <p:sp>
        <p:nvSpPr>
          <p:cNvPr id="19" name="Rounded Rectangle 18"/>
          <p:cNvSpPr/>
          <p:nvPr/>
        </p:nvSpPr>
        <p:spPr>
          <a:xfrm>
            <a:off x="7335133" y="5349240"/>
            <a:ext cx="2076236" cy="841248"/>
          </a:xfrm>
          <a:prstGeom prst="roundRect">
            <a:avLst>
              <a:gd name="adj" fmla="val 20000"/>
            </a:avLst>
          </a:prstGeom>
          <a:solidFill>
            <a:srgbClr val="FBF5EA"/>
          </a:solidFill>
          <a:ln w="13970">
            <a:solidFill>
              <a:srgbClr val="DD9F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26573" y="5440679"/>
            <a:ext cx="1893356" cy="347472"/>
          </a:xfrm>
          <a:prstGeom prst="rect">
            <a:avLst/>
          </a:prstGeom>
          <a:noFill/>
        </p:spPr>
        <p:txBody>
          <a:bodyPr wrap="square" anchor="t" lIns="0" rIns="0" tIns="0" bIns="0">
            <a:spAutoFit/>
          </a:bodyPr>
          <a:lstStyle/>
          <a:p>
            <a:pPr algn="ctr" rtl="1">
              <a:lnSpc>
                <a:spcPct val="112000"/>
              </a:lnSpc>
              <a:spcBef>
                <a:spcPts val="0"/>
              </a:spcBef>
              <a:spcAft>
                <a:spcPts val="400"/>
              </a:spcAft>
            </a:pPr>
            <a:r>
              <a:rPr sz="1200" b="1" i="0">
                <a:solidFill>
                  <a:srgbClr val="DD9F33"/>
                </a:solidFill>
                <a:latin typeface="Dubai"/>
                <a:cs typeface="Dubai"/>
                <a:ea typeface="Dubai"/>
              </a:rPr>
              <a:t>✔ محددة؟</a:t>
            </a:r>
          </a:p>
        </p:txBody>
      </p:sp>
      <p:sp>
        <p:nvSpPr>
          <p:cNvPr id="21" name="TextBox 20"/>
          <p:cNvSpPr txBox="1"/>
          <p:nvPr/>
        </p:nvSpPr>
        <p:spPr>
          <a:xfrm>
            <a:off x="7426573" y="5788152"/>
            <a:ext cx="1893356" cy="329184"/>
          </a:xfrm>
          <a:prstGeom prst="rect">
            <a:avLst/>
          </a:prstGeom>
          <a:noFill/>
        </p:spPr>
        <p:txBody>
          <a:bodyPr wrap="square" anchor="t" lIns="0" rIns="0" tIns="0" bIns="0">
            <a:spAutoFit/>
          </a:bodyPr>
          <a:lstStyle/>
          <a:p>
            <a:pPr algn="ctr" rtl="1">
              <a:lnSpc>
                <a:spcPct val="112000"/>
              </a:lnSpc>
              <a:spcBef>
                <a:spcPts val="0"/>
              </a:spcBef>
              <a:spcAft>
                <a:spcPts val="400"/>
              </a:spcAft>
            </a:pPr>
            <a:r>
              <a:rPr sz="900" b="0" i="0">
                <a:solidFill>
                  <a:srgbClr val="62748A"/>
                </a:solidFill>
                <a:latin typeface="Dubai"/>
                <a:cs typeface="Dubai"/>
                <a:ea typeface="Dubai"/>
              </a:rPr>
              <a:t>موضوع وفئة وسياق وزمن</a:t>
            </a:r>
          </a:p>
        </p:txBody>
      </p:sp>
      <p:sp>
        <p:nvSpPr>
          <p:cNvPr id="22" name="Rounded Rectangle 21"/>
          <p:cNvSpPr/>
          <p:nvPr/>
        </p:nvSpPr>
        <p:spPr>
          <a:xfrm>
            <a:off x="5057729" y="5349240"/>
            <a:ext cx="2076236" cy="841248"/>
          </a:xfrm>
          <a:prstGeom prst="roundRect">
            <a:avLst>
              <a:gd name="adj" fmla="val 20000"/>
            </a:avLst>
          </a:prstGeom>
          <a:solidFill>
            <a:srgbClr val="E6F5F3"/>
          </a:solidFill>
          <a:ln w="13970">
            <a:solidFill>
              <a:srgbClr val="0E9F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49169" y="5440679"/>
            <a:ext cx="1893356" cy="347472"/>
          </a:xfrm>
          <a:prstGeom prst="rect">
            <a:avLst/>
          </a:prstGeom>
          <a:noFill/>
        </p:spPr>
        <p:txBody>
          <a:bodyPr wrap="square" anchor="t" lIns="0" rIns="0" tIns="0" bIns="0">
            <a:spAutoFit/>
          </a:bodyPr>
          <a:lstStyle/>
          <a:p>
            <a:pPr algn="ctr" rtl="1">
              <a:lnSpc>
                <a:spcPct val="112000"/>
              </a:lnSpc>
              <a:spcBef>
                <a:spcPts val="0"/>
              </a:spcBef>
              <a:spcAft>
                <a:spcPts val="400"/>
              </a:spcAft>
            </a:pPr>
            <a:r>
              <a:rPr sz="1200" b="1" i="0">
                <a:solidFill>
                  <a:srgbClr val="0E9F8C"/>
                </a:solidFill>
                <a:latin typeface="Dubai"/>
                <a:cs typeface="Dubai"/>
                <a:ea typeface="Dubai"/>
              </a:rPr>
              <a:t>✔ مهمة؟</a:t>
            </a:r>
          </a:p>
        </p:txBody>
      </p:sp>
      <p:sp>
        <p:nvSpPr>
          <p:cNvPr id="24" name="TextBox 23"/>
          <p:cNvSpPr txBox="1"/>
          <p:nvPr/>
        </p:nvSpPr>
        <p:spPr>
          <a:xfrm>
            <a:off x="5149169" y="5788152"/>
            <a:ext cx="1893356" cy="329184"/>
          </a:xfrm>
          <a:prstGeom prst="rect">
            <a:avLst/>
          </a:prstGeom>
          <a:noFill/>
        </p:spPr>
        <p:txBody>
          <a:bodyPr wrap="square" anchor="t" lIns="0" rIns="0" tIns="0" bIns="0">
            <a:spAutoFit/>
          </a:bodyPr>
          <a:lstStyle/>
          <a:p>
            <a:pPr algn="ctr" rtl="1">
              <a:lnSpc>
                <a:spcPct val="112000"/>
              </a:lnSpc>
              <a:spcBef>
                <a:spcPts val="0"/>
              </a:spcBef>
              <a:spcAft>
                <a:spcPts val="400"/>
              </a:spcAft>
            </a:pPr>
            <a:r>
              <a:rPr sz="900" b="0" i="0">
                <a:solidFill>
                  <a:srgbClr val="62748A"/>
                </a:solidFill>
                <a:latin typeface="Dubai"/>
                <a:cs typeface="Dubai"/>
                <a:ea typeface="Dubai"/>
              </a:rPr>
              <a:t>سدّها يُحدث فرقاً</a:t>
            </a:r>
          </a:p>
        </p:txBody>
      </p:sp>
      <p:sp>
        <p:nvSpPr>
          <p:cNvPr id="25" name="Rounded Rectangle 24"/>
          <p:cNvSpPr/>
          <p:nvPr/>
        </p:nvSpPr>
        <p:spPr>
          <a:xfrm>
            <a:off x="2780324" y="5349240"/>
            <a:ext cx="2076236" cy="841248"/>
          </a:xfrm>
          <a:prstGeom prst="roundRect">
            <a:avLst>
              <a:gd name="adj" fmla="val 20000"/>
            </a:avLst>
          </a:prstGeom>
          <a:solidFill>
            <a:srgbClr val="F0EFFB"/>
          </a:solidFill>
          <a:ln w="13970">
            <a:solidFill>
              <a:srgbClr val="6C63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71764" y="5440679"/>
            <a:ext cx="1893356" cy="347472"/>
          </a:xfrm>
          <a:prstGeom prst="rect">
            <a:avLst/>
          </a:prstGeom>
          <a:noFill/>
        </p:spPr>
        <p:txBody>
          <a:bodyPr wrap="square" anchor="t" lIns="0" rIns="0" tIns="0" bIns="0">
            <a:spAutoFit/>
          </a:bodyPr>
          <a:lstStyle/>
          <a:p>
            <a:pPr algn="ctr" rtl="1">
              <a:lnSpc>
                <a:spcPct val="112000"/>
              </a:lnSpc>
              <a:spcBef>
                <a:spcPts val="0"/>
              </a:spcBef>
              <a:spcAft>
                <a:spcPts val="400"/>
              </a:spcAft>
            </a:pPr>
            <a:r>
              <a:rPr sz="1200" b="1" i="0">
                <a:solidFill>
                  <a:srgbClr val="6C63D8"/>
                </a:solidFill>
                <a:latin typeface="Dubai"/>
                <a:cs typeface="Dubai"/>
                <a:ea typeface="Dubai"/>
              </a:rPr>
              <a:t>✔ قابلة للمعالجة؟</a:t>
            </a:r>
          </a:p>
        </p:txBody>
      </p:sp>
      <p:sp>
        <p:nvSpPr>
          <p:cNvPr id="27" name="TextBox 26"/>
          <p:cNvSpPr txBox="1"/>
          <p:nvPr/>
        </p:nvSpPr>
        <p:spPr>
          <a:xfrm>
            <a:off x="2871764" y="5788152"/>
            <a:ext cx="1893356" cy="329184"/>
          </a:xfrm>
          <a:prstGeom prst="rect">
            <a:avLst/>
          </a:prstGeom>
          <a:noFill/>
        </p:spPr>
        <p:txBody>
          <a:bodyPr wrap="square" anchor="t" lIns="0" rIns="0" tIns="0" bIns="0">
            <a:spAutoFit/>
          </a:bodyPr>
          <a:lstStyle/>
          <a:p>
            <a:pPr algn="ctr" rtl="1">
              <a:lnSpc>
                <a:spcPct val="112000"/>
              </a:lnSpc>
              <a:spcBef>
                <a:spcPts val="0"/>
              </a:spcBef>
              <a:spcAft>
                <a:spcPts val="400"/>
              </a:spcAft>
            </a:pPr>
            <a:r>
              <a:rPr sz="900" b="0" i="0">
                <a:solidFill>
                  <a:srgbClr val="62748A"/>
                </a:solidFill>
                <a:latin typeface="Dubai"/>
                <a:cs typeface="Dubai"/>
                <a:ea typeface="Dubai"/>
              </a:rPr>
              <a:t>منهجية واقعية متاحة</a:t>
            </a:r>
          </a:p>
        </p:txBody>
      </p:sp>
      <p:sp>
        <p:nvSpPr>
          <p:cNvPr id="28" name="Rounded Rectangle 27"/>
          <p:cNvSpPr/>
          <p:nvPr/>
        </p:nvSpPr>
        <p:spPr>
          <a:xfrm>
            <a:off x="502919" y="5349240"/>
            <a:ext cx="2076236" cy="841248"/>
          </a:xfrm>
          <a:prstGeom prst="roundRect">
            <a:avLst>
              <a:gd name="adj" fmla="val 20000"/>
            </a:avLst>
          </a:prstGeom>
          <a:solidFill>
            <a:srgbClr val="FCEEEC"/>
          </a:solidFill>
          <a:ln w="13970">
            <a:solidFill>
              <a:srgbClr val="E45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59" y="5440679"/>
            <a:ext cx="1893356" cy="347472"/>
          </a:xfrm>
          <a:prstGeom prst="rect">
            <a:avLst/>
          </a:prstGeom>
          <a:noFill/>
        </p:spPr>
        <p:txBody>
          <a:bodyPr wrap="square" anchor="t" lIns="0" rIns="0" tIns="0" bIns="0">
            <a:spAutoFit/>
          </a:bodyPr>
          <a:lstStyle/>
          <a:p>
            <a:pPr algn="ctr" rtl="1">
              <a:lnSpc>
                <a:spcPct val="112000"/>
              </a:lnSpc>
              <a:spcBef>
                <a:spcPts val="0"/>
              </a:spcBef>
              <a:spcAft>
                <a:spcPts val="400"/>
              </a:spcAft>
            </a:pPr>
            <a:r>
              <a:rPr sz="1200" b="1" i="0">
                <a:solidFill>
                  <a:srgbClr val="E45A44"/>
                </a:solidFill>
                <a:latin typeface="Dubai"/>
                <a:cs typeface="Dubai"/>
                <a:ea typeface="Dubai"/>
              </a:rPr>
              <a:t>✔ جديدة؟</a:t>
            </a:r>
          </a:p>
        </p:txBody>
      </p:sp>
      <p:sp>
        <p:nvSpPr>
          <p:cNvPr id="30" name="TextBox 29"/>
          <p:cNvSpPr txBox="1"/>
          <p:nvPr/>
        </p:nvSpPr>
        <p:spPr>
          <a:xfrm>
            <a:off x="594359" y="5788152"/>
            <a:ext cx="1893356" cy="329184"/>
          </a:xfrm>
          <a:prstGeom prst="rect">
            <a:avLst/>
          </a:prstGeom>
          <a:noFill/>
        </p:spPr>
        <p:txBody>
          <a:bodyPr wrap="square" anchor="t" lIns="0" rIns="0" tIns="0" bIns="0">
            <a:spAutoFit/>
          </a:bodyPr>
          <a:lstStyle/>
          <a:p>
            <a:pPr algn="ctr" rtl="1">
              <a:lnSpc>
                <a:spcPct val="112000"/>
              </a:lnSpc>
              <a:spcBef>
                <a:spcPts val="0"/>
              </a:spcBef>
              <a:spcAft>
                <a:spcPts val="400"/>
              </a:spcAft>
            </a:pPr>
            <a:r>
              <a:rPr sz="900" b="0" i="0">
                <a:solidFill>
                  <a:srgbClr val="62748A"/>
                </a:solidFill>
                <a:latin typeface="Dubai"/>
                <a:cs typeface="Dubai"/>
                <a:ea typeface="Dubai"/>
              </a:rPr>
              <a:t>لم تُسدّ بدراسة أحدث</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4023360"/>
            <a:ext cx="3840480" cy="3840480"/>
          </a:xfrm>
          <a:prstGeom prst="ellipse">
            <a:avLst/>
          </a:prstGeom>
          <a:solidFill>
            <a:srgbClr val="0E9F8C">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424160" y="-1645920"/>
            <a:ext cx="3840480" cy="3840480"/>
          </a:xfrm>
          <a:prstGeom prst="ellipse">
            <a:avLst/>
          </a:prstGeom>
          <a:solidFill>
            <a:srgbClr val="6C63D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064240" y="5394960"/>
            <a:ext cx="1463040" cy="1463040"/>
          </a:xfrm>
          <a:prstGeom prst="ellipse">
            <a:avLst/>
          </a:prstGeom>
          <a:solidFill>
            <a:srgbClr val="DD9F33">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685800"/>
            <a:ext cx="9448495" cy="731520"/>
          </a:xfrm>
          <a:prstGeom prst="rect">
            <a:avLst/>
          </a:prstGeom>
          <a:noFill/>
        </p:spPr>
        <p:txBody>
          <a:bodyPr wrap="square" anchor="t" lIns="0" rIns="0" tIns="0" bIns="0">
            <a:spAutoFit/>
          </a:bodyPr>
          <a:lstStyle/>
          <a:p>
            <a:pPr algn="ctr" rtl="1">
              <a:lnSpc>
                <a:spcPct val="112000"/>
              </a:lnSpc>
              <a:spcBef>
                <a:spcPts val="0"/>
              </a:spcBef>
              <a:spcAft>
                <a:spcPts val="400"/>
              </a:spcAft>
            </a:pPr>
            <a:r>
              <a:rPr sz="3200" b="1" i="0">
                <a:solidFill>
                  <a:srgbClr val="DD9F33"/>
                </a:solidFill>
                <a:latin typeface="Dubai"/>
                <a:cs typeface="Dubai"/>
                <a:ea typeface="Dubai"/>
              </a:rPr>
              <a:t>الخلاصة: رسائل تأخذها معك</a:t>
            </a:r>
          </a:p>
        </p:txBody>
      </p:sp>
      <p:sp>
        <p:nvSpPr>
          <p:cNvPr id="7" name="TextBox 6"/>
          <p:cNvSpPr txBox="1"/>
          <p:nvPr/>
        </p:nvSpPr>
        <p:spPr>
          <a:xfrm>
            <a:off x="1371600" y="1417320"/>
            <a:ext cx="9448495" cy="365760"/>
          </a:xfrm>
          <a:prstGeom prst="rect">
            <a:avLst/>
          </a:prstGeom>
          <a:noFill/>
        </p:spPr>
        <p:txBody>
          <a:bodyPr wrap="square" anchor="t" lIns="0" rIns="0" tIns="0" bIns="0">
            <a:spAutoFit/>
          </a:bodyPr>
          <a:lstStyle/>
          <a:p>
            <a:pPr algn="ctr">
              <a:lnSpc>
                <a:spcPct val="112000"/>
              </a:lnSpc>
              <a:spcBef>
                <a:spcPts val="0"/>
              </a:spcBef>
              <a:spcAft>
                <a:spcPts val="400"/>
              </a:spcAft>
            </a:pPr>
            <a:r>
              <a:rPr sz="1300" b="0" i="1">
                <a:solidFill>
                  <a:srgbClr val="0E9F8C"/>
                </a:solidFill>
                <a:latin typeface="Dubai"/>
                <a:cs typeface="Dubai"/>
                <a:ea typeface="Dubai"/>
              </a:rPr>
              <a:t>Key Takeaways</a:t>
            </a:r>
          </a:p>
        </p:txBody>
      </p:sp>
      <p:sp>
        <p:nvSpPr>
          <p:cNvPr id="8" name="Rounded Rectangle 7"/>
          <p:cNvSpPr/>
          <p:nvPr/>
        </p:nvSpPr>
        <p:spPr>
          <a:xfrm>
            <a:off x="1554480" y="2011680"/>
            <a:ext cx="9079992" cy="804672"/>
          </a:xfrm>
          <a:prstGeom prst="roundRect">
            <a:avLst>
              <a:gd name="adj" fmla="val 18000"/>
            </a:avLst>
          </a:prstGeom>
          <a:solidFill>
            <a:srgbClr val="1B2D55"/>
          </a:solidFill>
          <a:ln w="13970">
            <a:solidFill>
              <a:srgbClr val="0E9F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21240" y="2148840"/>
            <a:ext cx="530352" cy="530352"/>
          </a:xfrm>
          <a:prstGeom prst="ellipse">
            <a:avLst/>
          </a:prstGeom>
          <a:solidFill>
            <a:srgbClr val="0E9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i="0">
                <a:solidFill>
                  <a:srgbClr val="FFFFFF"/>
                </a:solidFill>
                <a:latin typeface="Dubai"/>
                <a:cs typeface="Dubai"/>
                <a:ea typeface="Dubai"/>
              </a:rPr>
              <a:t>١</a:t>
            </a:r>
          </a:p>
        </p:txBody>
      </p:sp>
      <p:sp>
        <p:nvSpPr>
          <p:cNvPr id="10" name="TextBox 9"/>
          <p:cNvSpPr txBox="1"/>
          <p:nvPr/>
        </p:nvSpPr>
        <p:spPr>
          <a:xfrm>
            <a:off x="1828800" y="2066544"/>
            <a:ext cx="8092440"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350" b="1" i="0">
                <a:solidFill>
                  <a:srgbClr val="0E9F8C"/>
                </a:solidFill>
                <a:latin typeface="Dubai"/>
                <a:cs typeface="Dubai"/>
                <a:ea typeface="Dubai"/>
              </a:rPr>
              <a:t>الفجوة البحثية هي جواز مرورك</a:t>
            </a:r>
          </a:p>
        </p:txBody>
      </p:sp>
      <p:sp>
        <p:nvSpPr>
          <p:cNvPr id="11" name="TextBox 10"/>
          <p:cNvSpPr txBox="1"/>
          <p:nvPr/>
        </p:nvSpPr>
        <p:spPr>
          <a:xfrm>
            <a:off x="1828800" y="2423160"/>
            <a:ext cx="8092440" cy="347472"/>
          </a:xfrm>
          <a:prstGeom prst="rect">
            <a:avLst/>
          </a:prstGeom>
          <a:noFill/>
        </p:spPr>
        <p:txBody>
          <a:bodyPr wrap="square" anchor="t" lIns="0" rIns="0" tIns="0" bIns="0">
            <a:spAutoFit/>
          </a:bodyPr>
          <a:lstStyle/>
          <a:p>
            <a:pPr algn="r" rtl="1">
              <a:lnSpc>
                <a:spcPct val="112000"/>
              </a:lnSpc>
              <a:spcBef>
                <a:spcPts val="0"/>
              </a:spcBef>
              <a:spcAft>
                <a:spcPts val="400"/>
              </a:spcAft>
            </a:pPr>
            <a:r>
              <a:rPr sz="1050" b="0" i="0">
                <a:solidFill>
                  <a:srgbClr val="FFFFFF"/>
                </a:solidFill>
                <a:latin typeface="Dubai"/>
                <a:cs typeface="Dubai"/>
                <a:ea typeface="Dubai"/>
              </a:rPr>
              <a:t>إلى الأصالة العلمية والقبول والنشر والتمويل — لا بحث ناجح بلا فجوة واضحة</a:t>
            </a:r>
          </a:p>
        </p:txBody>
      </p:sp>
      <p:sp>
        <p:nvSpPr>
          <p:cNvPr id="12" name="Rounded Rectangle 11"/>
          <p:cNvSpPr/>
          <p:nvPr/>
        </p:nvSpPr>
        <p:spPr>
          <a:xfrm>
            <a:off x="1554480" y="2944368"/>
            <a:ext cx="9079992" cy="804672"/>
          </a:xfrm>
          <a:prstGeom prst="roundRect">
            <a:avLst>
              <a:gd name="adj" fmla="val 18000"/>
            </a:avLst>
          </a:prstGeom>
          <a:solidFill>
            <a:srgbClr val="1B2D55"/>
          </a:solidFill>
          <a:ln w="13970">
            <a:solidFill>
              <a:srgbClr val="DD9F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921240" y="3081528"/>
            <a:ext cx="530352" cy="530352"/>
          </a:xfrm>
          <a:prstGeom prst="ellipse">
            <a:avLst/>
          </a:prstGeom>
          <a:solidFill>
            <a:srgbClr val="DD9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i="0">
                <a:solidFill>
                  <a:srgbClr val="FFFFFF"/>
                </a:solidFill>
                <a:latin typeface="Dubai"/>
                <a:cs typeface="Dubai"/>
                <a:ea typeface="Dubai"/>
              </a:rPr>
              <a:t>٢</a:t>
            </a:r>
          </a:p>
        </p:txBody>
      </p:sp>
      <p:sp>
        <p:nvSpPr>
          <p:cNvPr id="14" name="TextBox 13"/>
          <p:cNvSpPr txBox="1"/>
          <p:nvPr/>
        </p:nvSpPr>
        <p:spPr>
          <a:xfrm>
            <a:off x="1828800" y="2999232"/>
            <a:ext cx="8092440"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350" b="1" i="0">
                <a:solidFill>
                  <a:srgbClr val="DD9F33"/>
                </a:solidFill>
                <a:latin typeface="Dubai"/>
                <a:cs typeface="Dubai"/>
                <a:ea typeface="Dubai"/>
              </a:rPr>
              <a:t>اعرف الأنواع الستة وابحث بمنهجية</a:t>
            </a:r>
          </a:p>
        </p:txBody>
      </p:sp>
      <p:sp>
        <p:nvSpPr>
          <p:cNvPr id="15" name="TextBox 14"/>
          <p:cNvSpPr txBox="1"/>
          <p:nvPr/>
        </p:nvSpPr>
        <p:spPr>
          <a:xfrm>
            <a:off x="1828800" y="3355848"/>
            <a:ext cx="8092440" cy="347472"/>
          </a:xfrm>
          <a:prstGeom prst="rect">
            <a:avLst/>
          </a:prstGeom>
          <a:noFill/>
        </p:spPr>
        <p:txBody>
          <a:bodyPr wrap="square" anchor="t" lIns="0" rIns="0" tIns="0" bIns="0">
            <a:spAutoFit/>
          </a:bodyPr>
          <a:lstStyle/>
          <a:p>
            <a:pPr algn="r" rtl="1">
              <a:lnSpc>
                <a:spcPct val="112000"/>
              </a:lnSpc>
              <a:spcBef>
                <a:spcPts val="0"/>
              </a:spcBef>
              <a:spcAft>
                <a:spcPts val="400"/>
              </a:spcAft>
            </a:pPr>
            <a:r>
              <a:rPr sz="1050" b="0" i="0">
                <a:solidFill>
                  <a:srgbClr val="FFFFFF"/>
                </a:solidFill>
                <a:latin typeface="Dubai"/>
                <a:cs typeface="Dubai"/>
                <a:ea typeface="Dubai"/>
              </a:rPr>
              <a:t>معرفة، ممارسة، أدلة، سكان، منهجية، زمن — ولكل نوع سؤاله المفتاحي</a:t>
            </a:r>
          </a:p>
        </p:txBody>
      </p:sp>
      <p:sp>
        <p:nvSpPr>
          <p:cNvPr id="16" name="Rounded Rectangle 15"/>
          <p:cNvSpPr/>
          <p:nvPr/>
        </p:nvSpPr>
        <p:spPr>
          <a:xfrm>
            <a:off x="1554480" y="3877056"/>
            <a:ext cx="9079992" cy="804672"/>
          </a:xfrm>
          <a:prstGeom prst="roundRect">
            <a:avLst>
              <a:gd name="adj" fmla="val 18000"/>
            </a:avLst>
          </a:prstGeom>
          <a:solidFill>
            <a:srgbClr val="1B2D55"/>
          </a:solidFill>
          <a:ln w="13970">
            <a:solidFill>
              <a:srgbClr val="6C63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921240" y="4014216"/>
            <a:ext cx="530352" cy="530352"/>
          </a:xfrm>
          <a:prstGeom prst="ellipse">
            <a:avLst/>
          </a:prstGeom>
          <a:solidFill>
            <a:srgbClr val="6C6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i="0">
                <a:solidFill>
                  <a:srgbClr val="FFFFFF"/>
                </a:solidFill>
                <a:latin typeface="Dubai"/>
                <a:cs typeface="Dubai"/>
                <a:ea typeface="Dubai"/>
              </a:rPr>
              <a:t>٣</a:t>
            </a:r>
          </a:p>
        </p:txBody>
      </p:sp>
      <p:sp>
        <p:nvSpPr>
          <p:cNvPr id="18" name="TextBox 17"/>
          <p:cNvSpPr txBox="1"/>
          <p:nvPr/>
        </p:nvSpPr>
        <p:spPr>
          <a:xfrm>
            <a:off x="1828800" y="3931920"/>
            <a:ext cx="8092440"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350" b="1" i="0">
                <a:solidFill>
                  <a:srgbClr val="6C63D8"/>
                </a:solidFill>
                <a:latin typeface="Dubai"/>
                <a:cs typeface="Dubai"/>
                <a:ea typeface="Dubai"/>
              </a:rPr>
              <a:t>استعن بالذكاء الاصطناعي وتحقّق دائماً</a:t>
            </a:r>
          </a:p>
        </p:txBody>
      </p:sp>
      <p:sp>
        <p:nvSpPr>
          <p:cNvPr id="19" name="TextBox 18"/>
          <p:cNvSpPr txBox="1"/>
          <p:nvPr/>
        </p:nvSpPr>
        <p:spPr>
          <a:xfrm>
            <a:off x="1828800" y="4288536"/>
            <a:ext cx="8092440" cy="347472"/>
          </a:xfrm>
          <a:prstGeom prst="rect">
            <a:avLst/>
          </a:prstGeom>
          <a:noFill/>
        </p:spPr>
        <p:txBody>
          <a:bodyPr wrap="square" anchor="t" lIns="0" rIns="0" tIns="0" bIns="0">
            <a:spAutoFit/>
          </a:bodyPr>
          <a:lstStyle/>
          <a:p>
            <a:pPr algn="r" rtl="1">
              <a:lnSpc>
                <a:spcPct val="112000"/>
              </a:lnSpc>
              <a:spcBef>
                <a:spcPts val="0"/>
              </a:spcBef>
              <a:spcAft>
                <a:spcPts val="400"/>
              </a:spcAft>
            </a:pPr>
            <a:r>
              <a:rPr sz="1050" b="0" i="0">
                <a:solidFill>
                  <a:srgbClr val="FFFFFF"/>
                </a:solidFill>
                <a:latin typeface="Dubai"/>
                <a:cs typeface="Dubai"/>
                <a:ea typeface="Dubai"/>
              </a:rPr>
              <a:t>الأدوات تسرّع الاكتشاف، لكن الحكم النهائي للمصادر الأصلية ولعقلك النقدي</a:t>
            </a:r>
          </a:p>
        </p:txBody>
      </p:sp>
      <p:sp>
        <p:nvSpPr>
          <p:cNvPr id="20" name="Rounded Rectangle 19"/>
          <p:cNvSpPr/>
          <p:nvPr/>
        </p:nvSpPr>
        <p:spPr>
          <a:xfrm>
            <a:off x="1554480" y="4809744"/>
            <a:ext cx="9079992" cy="804672"/>
          </a:xfrm>
          <a:prstGeom prst="roundRect">
            <a:avLst>
              <a:gd name="adj" fmla="val 18000"/>
            </a:avLst>
          </a:prstGeom>
          <a:solidFill>
            <a:srgbClr val="1B2D55"/>
          </a:solidFill>
          <a:ln w="13970">
            <a:solidFill>
              <a:srgbClr val="E45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921240" y="4946904"/>
            <a:ext cx="530352" cy="530352"/>
          </a:xfrm>
          <a:prstGeom prst="ellipse">
            <a:avLst/>
          </a:prstGeom>
          <a:solidFill>
            <a:srgbClr val="E45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i="0">
                <a:solidFill>
                  <a:srgbClr val="FFFFFF"/>
                </a:solidFill>
                <a:latin typeface="Dubai"/>
                <a:cs typeface="Dubai"/>
                <a:ea typeface="Dubai"/>
              </a:rPr>
              <a:t>٤</a:t>
            </a:r>
          </a:p>
        </p:txBody>
      </p:sp>
      <p:sp>
        <p:nvSpPr>
          <p:cNvPr id="22" name="TextBox 21"/>
          <p:cNvSpPr txBox="1"/>
          <p:nvPr/>
        </p:nvSpPr>
        <p:spPr>
          <a:xfrm>
            <a:off x="1828800" y="4864607"/>
            <a:ext cx="8092440" cy="365760"/>
          </a:xfrm>
          <a:prstGeom prst="rect">
            <a:avLst/>
          </a:prstGeom>
          <a:noFill/>
        </p:spPr>
        <p:txBody>
          <a:bodyPr wrap="square" anchor="t" lIns="0" rIns="0" tIns="0" bIns="0">
            <a:spAutoFit/>
          </a:bodyPr>
          <a:lstStyle/>
          <a:p>
            <a:pPr algn="r" rtl="1">
              <a:lnSpc>
                <a:spcPct val="112000"/>
              </a:lnSpc>
              <a:spcBef>
                <a:spcPts val="0"/>
              </a:spcBef>
              <a:spcAft>
                <a:spcPts val="400"/>
              </a:spcAft>
            </a:pPr>
            <a:r>
              <a:rPr sz="1350" b="1" i="0">
                <a:solidFill>
                  <a:srgbClr val="E45A44"/>
                </a:solidFill>
                <a:latin typeface="Dubai"/>
                <a:cs typeface="Dubai"/>
                <a:ea typeface="Dubai"/>
              </a:rPr>
              <a:t>الفجوة القوية: محددة وموثقة ومهمة</a:t>
            </a:r>
          </a:p>
        </p:txBody>
      </p:sp>
      <p:sp>
        <p:nvSpPr>
          <p:cNvPr id="23" name="TextBox 22"/>
          <p:cNvSpPr txBox="1"/>
          <p:nvPr/>
        </p:nvSpPr>
        <p:spPr>
          <a:xfrm>
            <a:off x="1828800" y="5221224"/>
            <a:ext cx="8092440" cy="347472"/>
          </a:xfrm>
          <a:prstGeom prst="rect">
            <a:avLst/>
          </a:prstGeom>
          <a:noFill/>
        </p:spPr>
        <p:txBody>
          <a:bodyPr wrap="square" anchor="t" lIns="0" rIns="0" tIns="0" bIns="0">
            <a:spAutoFit/>
          </a:bodyPr>
          <a:lstStyle/>
          <a:p>
            <a:pPr algn="r" rtl="1">
              <a:lnSpc>
                <a:spcPct val="112000"/>
              </a:lnSpc>
              <a:spcBef>
                <a:spcPts val="0"/>
              </a:spcBef>
              <a:spcAft>
                <a:spcPts val="400"/>
              </a:spcAft>
            </a:pPr>
            <a:r>
              <a:rPr sz="1050" b="0" i="0">
                <a:solidFill>
                  <a:srgbClr val="FFFFFF"/>
                </a:solidFill>
                <a:latin typeface="Dubai"/>
                <a:cs typeface="Dubai"/>
                <a:ea typeface="Dubai"/>
              </a:rPr>
              <a:t>وقابلة للمعالجة — استخدم القالب الجاهز وقائمة الفحص قبل الاعتماد</a:t>
            </a:r>
          </a:p>
        </p:txBody>
      </p:sp>
      <p:sp>
        <p:nvSpPr>
          <p:cNvPr id="24" name="Rectangle 23"/>
          <p:cNvSpPr/>
          <p:nvPr/>
        </p:nvSpPr>
        <p:spPr>
          <a:xfrm>
            <a:off x="4041648" y="5943600"/>
            <a:ext cx="4114800" cy="41148"/>
          </a:xfrm>
          <a:prstGeom prst="rect">
            <a:avLst/>
          </a:prstGeom>
          <a:solidFill>
            <a:srgbClr val="DD9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71600" y="6080760"/>
            <a:ext cx="9448495" cy="411480"/>
          </a:xfrm>
          <a:prstGeom prst="rect">
            <a:avLst/>
          </a:prstGeom>
          <a:noFill/>
        </p:spPr>
        <p:txBody>
          <a:bodyPr wrap="square" anchor="t" lIns="0" rIns="0" tIns="0" bIns="0">
            <a:spAutoFit/>
          </a:bodyPr>
          <a:lstStyle/>
          <a:p>
            <a:pPr algn="ctr" rtl="1">
              <a:lnSpc>
                <a:spcPct val="112000"/>
              </a:lnSpc>
              <a:spcBef>
                <a:spcPts val="0"/>
              </a:spcBef>
              <a:spcAft>
                <a:spcPts val="400"/>
              </a:spcAft>
            </a:pPr>
            <a:r>
              <a:rPr sz="1200" b="0" i="0">
                <a:solidFill>
                  <a:srgbClr val="FFFFFF"/>
                </a:solidFill>
                <a:latin typeface="Dubai"/>
                <a:cs typeface="Dubai"/>
                <a:ea typeface="Dubai"/>
              </a:rPr>
              <a:t>شكراً لكم — المحتوى العلمي: </a:t>
            </a:r>
            <a:r>
              <a:rPr sz="1200" b="1" i="0">
                <a:solidFill>
                  <a:srgbClr val="DD9F33"/>
                </a:solidFill>
                <a:latin typeface="Dubai"/>
                <a:cs typeface="Dubai"/>
                <a:ea typeface="Dubai"/>
              </a:rPr>
              <a:t>Dr. Hana Hossen Elahemer</a:t>
            </a:r>
            <a:r>
              <a:rPr sz="1200" b="0" i="0">
                <a:solidFill>
                  <a:srgbClr val="FFFFFF"/>
                </a:solidFill>
                <a:latin typeface="Dubai"/>
                <a:cs typeface="Dubai"/>
                <a:ea typeface="Dubai"/>
              </a:rPr>
              <a:t>  •  نسخة موسّعة ومعاد تصميمها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الفجوات البحثية — Research Gaps</dc:title>
  <dc:subject>دليل شامل لاكتشاف الفجوات البحثية — نسخة موسعة</dc:subject>
  <dc:creator>Dr. Hana Hossen Elahemer (original content)</dc:creator>
  <cp:keywords/>
  <dc:description>Rebuilt &amp; expanded from the original workshop video</dc:description>
  <cp:lastModifiedBy>Steve Canny</cp:lastModifiedBy>
  <cp:revision>1</cp:revision>
  <dcterms:created xsi:type="dcterms:W3CDTF">2013-01-27T09:14:16Z</dcterms:created>
  <dcterms:modified xsi:type="dcterms:W3CDTF">2013-01-27T09:15:58Z</dcterms:modified>
  <cp:category/>
</cp:coreProperties>
</file>