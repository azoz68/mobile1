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افتتاحية الورشة كما وردت في الشرح: أكثر الأسئلة التي تصل للمقدمة على الخاص هو: هل يمكن استخدام الذكاء الاصطناعي لإيجاد الفجوة البحثية؟ والجواب: نعم — والورشة تشرح كيف. الموضوع من أهم مواضيع البحث العلمي: الفجوة البحثية تعني ببساطة الشيء الذي لم تتم دراسته بشكل كافٍ بعد، أو النقطة التي لم يركّز عليها الباحثون بوضوح. سنتعلم في هذا العرض: ما هي الفجوة البحثية، لماذا تعتبر مهمة، أنواعها المختلفة، والأهم: كيف نكتشفها باستخدام أدوات الذكاء الاصطناعي. والهدف النهائي: أن يتمكن أي طالب أو باحث بعد هذا العرض من تحديد فجوة بحثية قوية بطريقة احترافية.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خطة العرض في سبعة محاور تتدرج منطقياً: نبدأ بالمفهوم (ما هي الفجوة وما صورها؟)، ثم الأهمية (لماذا نهتم؟)، ثم الأنواع الستة بشرح موسّع لكل نوع، ثم أمثلة تطبيقية واقعية، ثم ننتقل للجانب العملي: أدوات الذكاء الاصطناعي الثماني وسير العمل الذكي الذي أوصت به الورشة، فاستراتيجيات الباحثين المحترفين وإطار التفكير النقدي، ونختم بالتمييز بين الفجوة القوية والضعيفة وقالب صياغة جاهز للاستخدام. الهدف المعلن في الورشة: أن يخرج كل طالب وباحث قادراً على تحديد فجوة بحثية قوية باحترافية.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 شرح الورشة: ماذا نقصد بالفجوة البحثية؟ ببساطة: منطقة أو مشكلة في مجال معين، إما أن أحداً لم يدرسها من قبل، أو دُرست بشكل ناقص، أو تحتاج مزيداً من التحليل والاستكشاف. وللفجوة أكثر من صورة: (1) موضوع جديد بالكامل لم يبحثه أحد — أقرب لفجوة المعرفة. (2) دراسة جزئية: الموضوع تناوله الباحثون من زاوية واحدة فقط. (3) نتائج متضاربة بين الدراسات تحتاج بحثاً يحسمها. (4) اختلاف السياق الجغرافي — وأكدت الشارحة هذه النقطة بمثال واضح: الدراسة التي تنجح في دولة معينة ليس شرطاً أن تنجح بنفس الطريقة في مجتمع آخر، لاختلاف الثقافة والظروف والبيئة. لذلك إعادة اختبار النتائج في سياقك المحلي فجوة مشروعة وقيّمة.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لماذا الفجوات البحثية مهمة جداً في البحث العلمي؟ كما عدّدتها الورشة: (1) تعطيك Research Direction — اتجاهاً واضحاً لبحثك. (2) تحقق Scientific Originality — الأصالة العلمية، أي أن بحثك فيه إضافة جديدة. (3) تساعدك في Justifying the Study — تبرير دراستك أمام اللجنة العلمية عندما تُسأل: لماذا هذا البحث؟ (4) تربط بين الـ Literature Review (الدراسات السابقة) وبين الشيء الجديد الذي ستضيفه — فيظهر بحثك امتداداً منطقياً للمعرفة. (5) حتى المجلات العلمية المحكّمة تفضّل الأبحاث التي تعالج فجوات واضحة — ذكر الفجوة في المقدمة يرفع حظوظ القبول. (6) والجهات الممولة للبحوث تبحث دائماً عن مشاكل حقيقية تحتاج حلولاً — الفجوة الموثقة هي ما يقنعها بالاستثمار في مقترحك.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الأنواع الثلاثة الأولى كما شرحتها الورشة: (1) فجوة المعرفة Knowledge Gap: معلومة لا يعرفها العلم إلى الآن — يكون الموضوع جديداً بالكامل. مثالها النموذجي: الظواهر والتقنيات المستجدة. (2) فجوة الممارسة Practice Gap: الفرق بين النظرية وتطبيق الواقع — الإرشادات موجودة لكن الميدان لا يلتزم بها، والبحث يدرس الأسباب وسبل العلاج. هذا النوع مثالي للتخصصات المهنية كالتمريض والتعليم والإدارة. (3) فجوة الأدلة Evidence Gap: الأدلة العلمية غير كافية لدعم فرضية أو توصية — البحث هنا يصمم التجارب التي تبني الدليل الغائب. احفظ السؤال المفتاحي أسفل كل بطاقة؛ فهو أسرع وسيلة لاستدعاء النوع أثناء قراءتك للأدبيات.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الأنواع الثلاثة الأخيرة: (4) فجوة السكان Population Gap: فئة معينة لم تُدرس بشكل كافٍ — جنس، عمر، ثقافة، مهنة. انتبه: نتائج العينات الغربية لا تُعمَّم تلقائياً على مجتمعك. (5) الفجوة المنهجية Methodological Gap: الباحثون استخدموا منهجاً واحداً فقط (غالباً الكمي)، وتغيير المنهج أو الدمج بين الكمي والنوعي قد يكشف صورة مختلفة تماماً. (6) الفجوة الزمنية Temporal Gap: الدراسات قديمة ولا تعكس الوضع الحالي — خاصة بعد التحولات الكبرى كجائحة كورونا وثورة الذكاء الاصطناعي. هذان النوعان الأخيران (المنهجية والزمنية) من أسهل المداخل لباحث الماجستير: خذ موضوعاً مدروساً وأعد بحثه بمنهج جديد أو بيانات حديثة في سياقك المحلي.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أمثلة عملية كما وردت في الورشة: في فجوة المعرفة — تأثير الذكاء الاصطناعي على القرارات الأخلاقية في القطاع الصحي العربي لم يُدرس بشكل كافٍ. في فجوة الممارسة — البروتوكولات الطبية موجودة لكن التطبيق الواقعي مختلف. في فجوة السكان — معظم الدراسات على طلاب غربيين والشباب العربي ما زال ناقصاً في الدراسات. في الفجوة المنهجية — كل الدراسات استخدمت المنهج الكمي فقط بينما النوعي يعطي تفاصيل أعمق. في الفجوة الزمنية — الدراسات قبل 2020 لا تعكس تغيرات ما بعد الجائحة. وأضفنا مثالاً لفجوة الأدلة: التوصية الشائعة بالتعلم المصغّر دون تجارب مضبوطة. لاحظ البنية المشتركة في كل مثال: موضوع + سياق + سبب اعتباره فجوة — استخدم البنية نفسها عند صياغة فجوتك.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مع تطور التكنولوجيا صارت لدينا أدوات ذكاء اصطناعي قوية تساعد الباحث على اكتشاف الفجوات بسرعة. كما عرضتها الورشة بالترتيب: Elicit يلخص الدراسات، Consensus يعطي إجماع الأبحاث حول سؤال معين، Research Rabbit يرسم خريطة للعلاقات بين الأبحاث، Connected Papers يوضح الدراسات المرتبطة، Scite.ai يقيّم قوة المراجع، Semantic Scholar محرك بحث أكاديمي ذكي، Claude يقدم تحليلاً وحواراً نقدياً معمقاً، وChatGPT يساعد في الفهم العام. وشددت الورشة على أن الأقوى بينها هو Research Rabbit لقدرته على رسم خريطة واضحة للعلاقات — وخصصنا الشريحة التالية لسير العمل الموصى به معه خطوة بخطوة.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الشريحة تلخص أهم إضافة عملية في شرح الورشة — سير العمل الموصى به مع Research Rabbit: (1) يرفع الباحث ملفات الدراسات المرتبطة بموضوعه إلى المنصة. (2) يسأل سؤالاً دقيقاً: «حلّل هذه الملفات واستخرج الفجوة البحثية». (3) ثم — وهذه النقطة التي شددت عليها الورشة — يراجع الباحث التحليل الذي قدمه الذكاء الاصطناعي بنفسه، لضمان دقة القرار الأكاديمي. (4) بعد التحقق يعتمد الفجوة ويبني عليها مقترحه. الرسالة الجوهرية: الأدوات الذكية تسرّع الاكتشاف لكنها لا تلغي دور الباحث — الحكم النهائي دائماً للعقل النقدي البشري وللمصادر الأصلية.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الباحثون المحترفون لديهم استراتيجيات ذكية لاكتشاف الفجوات، كما عرضتها الورشة: (1) قراءة خاتمة الدراسات (Conclusion Section): الباحثون غالباً يذكرون اقتراحات مستقبلية صريحة — هذه فجوات جاهزة أوصى بها أصحاب الدراسات أنفسهم. (2) عمل Literature Mapping أو خريطة للأدبيات العلمية حسب السكان والمنهج والدولة والزمن — الفراغ في الخريطة يظهر بصرياً بدل التخمين. (3) البحث عن التناقضات بين النتائج — التضارب فرصة لبحث يحسم الخلاف. (4) ومن أفضل الأسئلة: What if — ماذا لو طبقنا الدراسة نفسها على فئة عمرية مختلفة أو دولة مختلفة؟ قالت الورشة نصاً: هنا غالباً نجد فجوة بحثية ممتازة.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أي باحث ناجح لا بد أن يستخدم التفكير النقدي، وفي الورشة إطار من ستة أسئلة: Who — من الذي تمت دراسته؟ What — ما المتغيرات؟ Where — أين صار البحث؟ When — متى نُشرت الدراسة؟ How — كيف تمت الدراسة؟ Why — لماذا توقفت وما حدودها؟ اطرح هذه الأسئلة على كل دراسة تقرؤها وستتكشف الفجوات تلقائياً. ومن المؤشرات المهمة أثناء القراءة عبارات مثل: This area has not been studied، وResults are conflicting، وThe sample does not represent — التقاط هذه العبارات في الأدبيات يقودك مباشرة إلى فجوات قابلة للبحث. وتختم الورشة بقاعدة مهمة: التفكير النقدي ليس معناه أن ننتقد الدراسات السابقة، بل أن نبني عليها ونطورها.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ليست كل فجوة تعتبر قوية — كما نبهت الورشة. الفجوة القوية (Strong Research Gap) تكون: مدعومة بالأدلة من مراجعة حقيقية للأدبيات، محددة وقابلة للقياس، ولها قيمة علمية وعملية، إضافة إلى قابليتها للمعالجة بمنهجية واقعية وارتباطها بسياق محدد. أما الفجوة الضعيفة (Weak Gap) فتكون عامة جداً وغير واضحة. والمثال الذي ضربته الورشة يوضح الفرق تماماً: قولنا «الصحة النفسية لم تُدرس بشكل كافٍ» فجوة ضعيفة — عامة بلا حدود ويسهل دحضها. لكن قولنا «لا توجد دراسة حول تأثير الدراسة عن بعد على القلق عند طلاب الجامعات العربية بعد 2020» فجوة قوية واضحة وقابلة للبحث: فيها المتغير والفئة والسياق والزمن. احرص أن تكون صياغتك دائماً من النوع الثاني.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خارطة طريق تنفيذية تجمع كل ما سبق في مسار عملي واحد من سبع خطوات: (1) تضييق المجال إلى تخصص فرعي — يسهل حصر الأدبيات. (2) جمع 20–30 دراسة حديثة من آخر خمس سنوات. (3) البدء بقراءة الخاتمات وأقسام حدود الدراسة — كما أوصت الورشة، فهي منجم الفجوات الجاهزة. (4) بناء خريطة الأدبيات (Literature Mapping) حسب السكان والمنهج والدولة والزمن. (5) تظليل الفراغات والتناقضات — الفجوة تظهر بصرياً في الخريطة. (6) التحقق عبر أدوات الذكاء الاصطناعي (سير عمل Research Rabbit من الشريحة التاسعة) من أن الفجوة لم تُسد بدراسة أحدث. (7) الصياغة النهائية بجملة محددة قابلة للقياس. الزمن الواقعي للمسار كاملاً: من أسبوعين إلى أربعة أسابيع من العمل المنتظم.</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المرحلة الأخيرة: تحويل الملاحظة إلى فجوة علمية مصاغة باحترافية. القالب المعياري أربعة عناصر: (X) ما تناولته الدراسات فعلاً — يثبت اطلاعك على الأدبيات، (Y) الجانب الغائب — جوهر الفجوة، (Z) السياق المحدد — يمنحها حدوداً واقعية، ثم نوع الدراسة المقترحة — يحولها إلى خطة عمل. المثال المطبق مبني على المثال القوي الذي ذكرته الورشة (الدراسة عن بعد والقلق عند طلاب الجامعات العربية بعد 2020). وقبل الاعتماد النهائي مرر فجوتك على قائمة الفحص الخماسية: موثقة، محددة، مهمة، قابلة للمعالجة، وجديدة. إن اجتازت الخمسة فهي جاهزة لتتصدر مقدمة مقترحك البحثي وتصمد أمام المناقشة.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الخلاصة كما وردت في ختام الورشة: الفجوة البحثية (Research Gap) هي أساس أي بحث علمي ناجح. تذكّر الرسائل الأربع: (1) الفجوة أساس البحث وجواز مرورك للأصالة والنشر والتمويل. (2) الأنواع الستة إطارك العملي — لكل نوع سؤاله المفتاحي وبابه الخاص. (3) استخدم أدوات الذكاء الاصطناعي بالطريقة الصحيحة: ارفع الملفات، اسأل بدقة، ثم راجع التحليل بنفسك قبل اعتماده. (4) اجعل فجوتك قوية: محددة وموثقة ومهمة وقابلة للمعالجة. وتختم الورشة بالرسالة الأجمل: الباحث المتميز ليس الشخص الذي يجد الإجابات فقط، لكنه الشخص الذي يطرح أسئلة لم يفكر فيها أحد من قبل. بالتوفيق في رحلتك البحثية!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17123B"/>
              </a:gs>
              <a:gs pos="100000">
                <a:srgbClr val="6D28D9"/>
              </a:gs>
            </a:gsLst>
            <a:lin ang="21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2103120"/>
            <a:ext cx="5120640" cy="5120640"/>
          </a:xfrm>
          <a:prstGeom prst="ellipse">
            <a:avLst/>
          </a:prstGeom>
          <a:solidFill>
            <a:srgbClr val="FFFF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737360" y="4206240"/>
            <a:ext cx="4754880" cy="4754880"/>
          </a:xfrm>
          <a:prstGeom prst="ellipse">
            <a:avLst/>
          </a:prstGeom>
          <a:solidFill>
            <a:srgbClr val="FFFF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881360" y="5212080"/>
            <a:ext cx="2194560" cy="2194560"/>
          </a:xfrm>
          <a:prstGeom prst="ellipse">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34440" y="1051560"/>
            <a:ext cx="274320" cy="274320"/>
          </a:xfrm>
          <a:prstGeom prst="ellipse">
            <a:avLst/>
          </a:prstGeom>
          <a:solidFill>
            <a:srgbClr val="FBBF2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0" y="1554480"/>
            <a:ext cx="146304" cy="146304"/>
          </a:xfrm>
          <a:prstGeom prst="ellipse">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03120" y="5760720"/>
            <a:ext cx="146304" cy="146304"/>
          </a:xfrm>
          <a:prstGeom prst="ellipse">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24528" y="713232"/>
            <a:ext cx="3749039" cy="457200"/>
          </a:xfrm>
          <a:prstGeom prst="roundRect">
            <a:avLst>
              <a:gd name="adj" fmla="val 50000"/>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50" b="1" i="0">
                <a:solidFill>
                  <a:srgbClr val="FFFFFF"/>
                </a:solidFill>
                <a:latin typeface="Sakkal Majalla"/>
                <a:cs typeface="Sakkal Majalla"/>
                <a:ea typeface="Sakkal Majalla"/>
              </a:rPr>
              <a:t>ورشة عمل أكاديمية متخصصة  •  ACADEMIC WORKSHOP</a:t>
            </a:r>
          </a:p>
        </p:txBody>
      </p:sp>
      <p:sp>
        <p:nvSpPr>
          <p:cNvPr id="10" name="TextBox 9"/>
          <p:cNvSpPr txBox="1"/>
          <p:nvPr/>
        </p:nvSpPr>
        <p:spPr>
          <a:xfrm>
            <a:off x="1371600" y="1417320"/>
            <a:ext cx="9448495" cy="1371600"/>
          </a:xfrm>
          <a:prstGeom prst="rect">
            <a:avLst/>
          </a:prstGeom>
          <a:noFill/>
        </p:spPr>
        <p:txBody>
          <a:bodyPr wrap="square" anchor="t" lIns="0" rIns="0" tIns="0" bIns="0">
            <a:spAutoFit/>
          </a:bodyPr>
          <a:lstStyle/>
          <a:p>
            <a:pPr algn="ctr" rtl="1">
              <a:lnSpc>
                <a:spcPct val="105000"/>
              </a:lnSpc>
              <a:spcBef>
                <a:spcPts val="0"/>
              </a:spcBef>
              <a:spcAft>
                <a:spcPts val="400"/>
              </a:spcAft>
            </a:pPr>
            <a:r>
              <a:rPr sz="6000" b="1" i="0">
                <a:solidFill>
                  <a:srgbClr val="FFFFFF"/>
                </a:solidFill>
                <a:latin typeface="Sakkal Majalla"/>
                <a:cs typeface="Sakkal Majalla"/>
                <a:ea typeface="Sakkal Majalla"/>
              </a:rPr>
              <a:t>الفجوات البحثية</a:t>
            </a:r>
          </a:p>
        </p:txBody>
      </p:sp>
      <p:sp>
        <p:nvSpPr>
          <p:cNvPr id="11" name="TextBox 10"/>
          <p:cNvSpPr txBox="1"/>
          <p:nvPr/>
        </p:nvSpPr>
        <p:spPr>
          <a:xfrm>
            <a:off x="1371600" y="2743200"/>
            <a:ext cx="9448495" cy="502920"/>
          </a:xfrm>
          <a:prstGeom prst="rect">
            <a:avLst/>
          </a:prstGeom>
          <a:noFill/>
        </p:spPr>
        <p:txBody>
          <a:bodyPr wrap="square" anchor="t" lIns="0" rIns="0" tIns="0" bIns="0">
            <a:spAutoFit/>
          </a:bodyPr>
          <a:lstStyle/>
          <a:p>
            <a:pPr algn="ctr">
              <a:lnSpc>
                <a:spcPct val="105000"/>
              </a:lnSpc>
              <a:spcBef>
                <a:spcPts val="0"/>
              </a:spcBef>
              <a:spcAft>
                <a:spcPts val="400"/>
              </a:spcAft>
            </a:pPr>
            <a:r>
              <a:rPr sz="2000" b="1" i="0" spc="600">
                <a:solidFill>
                  <a:srgbClr val="FBBF24"/>
                </a:solidFill>
                <a:latin typeface="Sakkal Majalla"/>
                <a:cs typeface="Sakkal Majalla"/>
                <a:ea typeface="Sakkal Majalla"/>
              </a:rPr>
              <a:t>R E S E A R C H   G A P S</a:t>
            </a:r>
          </a:p>
        </p:txBody>
      </p:sp>
      <p:sp>
        <p:nvSpPr>
          <p:cNvPr id="12" name="Rectangle 11"/>
          <p:cNvSpPr/>
          <p:nvPr/>
        </p:nvSpPr>
        <p:spPr>
          <a:xfrm>
            <a:off x="5458968" y="3346704"/>
            <a:ext cx="1280160" cy="45720"/>
          </a:xfrm>
          <a:prstGeom prst="rect">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3566160"/>
            <a:ext cx="8899855" cy="502920"/>
          </a:xfrm>
          <a:prstGeom prst="rect">
            <a:avLst/>
          </a:prstGeom>
          <a:noFill/>
        </p:spPr>
        <p:txBody>
          <a:bodyPr wrap="square" anchor="t" lIns="0" rIns="0" tIns="0" bIns="0">
            <a:spAutoFit/>
          </a:bodyPr>
          <a:lstStyle/>
          <a:p>
            <a:pPr algn="ctr" rtl="1">
              <a:lnSpc>
                <a:spcPct val="105000"/>
              </a:lnSpc>
              <a:spcBef>
                <a:spcPts val="0"/>
              </a:spcBef>
              <a:spcAft>
                <a:spcPts val="400"/>
              </a:spcAft>
            </a:pPr>
            <a:r>
              <a:rPr sz="1600" b="0" i="0">
                <a:solidFill>
                  <a:srgbClr val="FFFFFF"/>
                </a:solidFill>
                <a:latin typeface="Sakkal Majalla"/>
                <a:cs typeface="Sakkal Majalla"/>
                <a:ea typeface="Sakkal Majalla"/>
              </a:rPr>
              <a:t>دليلك الشامل لاكتشاف الفجوات البحثية بذكاء واحترافية — نسخة موسّعة من الشرح الكامل للورشة</a:t>
            </a:r>
          </a:p>
        </p:txBody>
      </p:sp>
      <p:sp>
        <p:nvSpPr>
          <p:cNvPr id="14" name="Rounded Rectangle 13"/>
          <p:cNvSpPr/>
          <p:nvPr/>
        </p:nvSpPr>
        <p:spPr>
          <a:xfrm>
            <a:off x="2624328" y="4279392"/>
            <a:ext cx="6949440" cy="960120"/>
          </a:xfrm>
          <a:prstGeom prst="roundRect">
            <a:avLst>
              <a:gd name="adj" fmla="val 16000"/>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4407408"/>
            <a:ext cx="6437376"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350" b="1" i="0">
                <a:solidFill>
                  <a:srgbClr val="FFFFFF"/>
                </a:solidFill>
                <a:latin typeface="Sakkal Majalla"/>
                <a:cs typeface="Sakkal Majalla"/>
                <a:ea typeface="Sakkal Majalla"/>
              </a:rPr>
              <a:t>السؤال الأكثر تكراراً: هل يمكن استخدام الذكاء الاصطناعي لإيجاد الفجوة البحثية؟</a:t>
            </a:r>
          </a:p>
        </p:txBody>
      </p:sp>
      <p:sp>
        <p:nvSpPr>
          <p:cNvPr id="16" name="TextBox 15"/>
          <p:cNvSpPr txBox="1"/>
          <p:nvPr/>
        </p:nvSpPr>
        <p:spPr>
          <a:xfrm>
            <a:off x="2880360" y="4809744"/>
            <a:ext cx="6437376"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FBBF24"/>
                </a:solidFill>
                <a:latin typeface="Sakkal Majalla"/>
                <a:cs typeface="Sakkal Majalla"/>
                <a:ea typeface="Sakkal Majalla"/>
              </a:rPr>
              <a:t>الجواب: نعم — وفي هذا العرض ستتعلم كيف، خطوة بخطوة</a:t>
            </a:r>
          </a:p>
        </p:txBody>
      </p:sp>
      <p:sp>
        <p:nvSpPr>
          <p:cNvPr id="17" name="TextBox 16"/>
          <p:cNvSpPr txBox="1"/>
          <p:nvPr/>
        </p:nvSpPr>
        <p:spPr>
          <a:xfrm>
            <a:off x="1371600" y="5577840"/>
            <a:ext cx="9448495"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350" b="0" i="0">
                <a:solidFill>
                  <a:srgbClr val="FFFFFF"/>
                </a:solidFill>
                <a:latin typeface="Sakkal Majalla"/>
                <a:cs typeface="Sakkal Majalla"/>
                <a:ea typeface="Sakkal Majalla"/>
              </a:rPr>
              <a:t>المحتوى العلمي:  </a:t>
            </a:r>
            <a:r>
              <a:rPr sz="1350" b="1" i="0">
                <a:solidFill>
                  <a:srgbClr val="FBBF24"/>
                </a:solidFill>
                <a:latin typeface="Sakkal Majalla"/>
                <a:cs typeface="Sakkal Majalla"/>
                <a:ea typeface="Sakkal Majalla"/>
              </a:rPr>
              <a:t>الدكتورة هناء حسين الأهيمر</a:t>
            </a:r>
            <a:r>
              <a:rPr sz="1200" b="0" i="0">
                <a:solidFill>
                  <a:srgbClr val="FFFFFF"/>
                </a:solidFill>
                <a:latin typeface="Sakkal Majalla"/>
                <a:cs typeface="Sakkal Majalla"/>
                <a:ea typeface="Sakkal Majalla"/>
              </a:rPr>
              <a:t>   Dr. Hana Hossen Elahemer</a:t>
            </a:r>
          </a:p>
        </p:txBody>
      </p:sp>
      <p:sp>
        <p:nvSpPr>
          <p:cNvPr id="18" name="TextBox 17"/>
          <p:cNvSpPr txBox="1"/>
          <p:nvPr/>
        </p:nvSpPr>
        <p:spPr>
          <a:xfrm>
            <a:off x="1371600" y="6035040"/>
            <a:ext cx="9448495"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100" b="0" i="0">
                <a:solidFill>
                  <a:srgbClr val="FFFFFF"/>
                </a:solidFill>
                <a:latin typeface="Sakkal Majalla"/>
                <a:cs typeface="Sakkal Majalla"/>
                <a:ea typeface="Sakkal Majalla"/>
              </a:rPr>
              <a:t>نسخة موسّعة بشرح تفصيلي أكبر وتصميم جديد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02</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D97706"/>
                </a:solidFill>
                <a:latin typeface="Sakkal Majalla"/>
                <a:cs typeface="Sakkal Majalla"/>
                <a:ea typeface="Sakkal Majalla"/>
              </a:rPr>
              <a:t>AGENDA &amp; GOAL</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خطة العرض وهدفه</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D97706"/>
              </a:gs>
              <a:gs pos="100000">
                <a:srgbClr val="FBBF24"/>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02</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548640" y="1627632"/>
            <a:ext cx="11094415" cy="777240"/>
          </a:xfrm>
          <a:prstGeom prst="roundRect">
            <a:avLst>
              <a:gd name="adj" fmla="val 20000"/>
            </a:avLst>
          </a:prstGeom>
          <a:ln>
            <a:noFill/>
          </a:ln>
          <a:gradFill rotWithShape="1">
            <a:gsLst>
              <a:gs pos="0">
                <a:srgbClr val="17123B"/>
              </a:gs>
              <a:gs pos="100000">
                <a:srgbClr val="3B3486"/>
              </a:gs>
            </a:gsLst>
            <a:lin ang="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737360"/>
            <a:ext cx="10454335" cy="548640"/>
          </a:xfrm>
          <a:prstGeom prst="rect">
            <a:avLst/>
          </a:prstGeom>
          <a:noFill/>
        </p:spPr>
        <p:txBody>
          <a:bodyPr wrap="square" anchor="t" lIns="0" rIns="0" tIns="0" bIns="0">
            <a:spAutoFit/>
          </a:bodyPr>
          <a:lstStyle/>
          <a:p>
            <a:pPr algn="ctr" rtl="1">
              <a:lnSpc>
                <a:spcPct val="105000"/>
              </a:lnSpc>
              <a:spcBef>
                <a:spcPts val="0"/>
              </a:spcBef>
              <a:spcAft>
                <a:spcPts val="400"/>
              </a:spcAft>
            </a:pPr>
            <a:r>
              <a:rPr sz="1400" b="1" i="0">
                <a:solidFill>
                  <a:srgbClr val="FBBF24"/>
                </a:solidFill>
                <a:latin typeface="Sakkal Majalla"/>
                <a:cs typeface="Sakkal Majalla"/>
                <a:ea typeface="Sakkal Majalla"/>
              </a:rPr>
              <a:t>🎯 هدف الورشة:  </a:t>
            </a:r>
            <a:r>
              <a:rPr sz="1400" b="1" i="0">
                <a:solidFill>
                  <a:srgbClr val="FFFFFF"/>
                </a:solidFill>
                <a:latin typeface="Sakkal Majalla"/>
                <a:cs typeface="Sakkal Majalla"/>
                <a:ea typeface="Sakkal Majalla"/>
              </a:rPr>
              <a:t>أن يتمكّن أي طالب أو باحث — بعد هذا العرض — من تحديد فجوة بحثية قوية بطريقة احترافية</a:t>
            </a:r>
          </a:p>
        </p:txBody>
      </p:sp>
      <p:sp>
        <p:nvSpPr>
          <p:cNvPr id="13" name="Rounded Rectangle 12"/>
          <p:cNvSpPr/>
          <p:nvPr/>
        </p:nvSpPr>
        <p:spPr>
          <a:xfrm>
            <a:off x="6301587" y="2606040"/>
            <a:ext cx="5341467" cy="822960"/>
          </a:xfrm>
          <a:prstGeom prst="roundRect">
            <a:avLst>
              <a:gd name="adj" fmla="val 2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984687" y="2752344"/>
            <a:ext cx="530352" cy="530352"/>
          </a:xfrm>
          <a:prstGeom prst="ellipse">
            <a:avLst/>
          </a:prstGeom>
          <a:ln>
            <a:noFill/>
          </a:ln>
          <a:effectLst/>
          <a:gradFill rotWithShape="1">
            <a:gsLst>
              <a:gs pos="0">
                <a:srgbClr val="A21CAF"/>
              </a:gs>
              <a:gs pos="100000">
                <a:srgbClr val="E879F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١</a:t>
            </a:r>
          </a:p>
        </p:txBody>
      </p:sp>
      <p:sp>
        <p:nvSpPr>
          <p:cNvPr id="15" name="TextBox 14"/>
          <p:cNvSpPr txBox="1"/>
          <p:nvPr/>
        </p:nvSpPr>
        <p:spPr>
          <a:xfrm>
            <a:off x="6530187" y="2670048"/>
            <a:ext cx="4381347"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221C57"/>
                </a:solidFill>
                <a:latin typeface="Sakkal Majalla"/>
                <a:cs typeface="Sakkal Majalla"/>
                <a:ea typeface="Sakkal Majalla"/>
              </a:rPr>
              <a:t>مفهوم الفجوة البحثية</a:t>
            </a:r>
          </a:p>
        </p:txBody>
      </p:sp>
      <p:sp>
        <p:nvSpPr>
          <p:cNvPr id="16" name="TextBox 15"/>
          <p:cNvSpPr txBox="1"/>
          <p:nvPr/>
        </p:nvSpPr>
        <p:spPr>
          <a:xfrm>
            <a:off x="6530187" y="3035808"/>
            <a:ext cx="4381347"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التعريف الدقيق وصورها الأربع كما شرحتها الورشة</a:t>
            </a:r>
          </a:p>
        </p:txBody>
      </p:sp>
      <p:sp>
        <p:nvSpPr>
          <p:cNvPr id="17" name="Rounded Rectangle 16"/>
          <p:cNvSpPr/>
          <p:nvPr/>
        </p:nvSpPr>
        <p:spPr>
          <a:xfrm>
            <a:off x="6301587" y="3557016"/>
            <a:ext cx="5341467" cy="822960"/>
          </a:xfrm>
          <a:prstGeom prst="roundRect">
            <a:avLst>
              <a:gd name="adj" fmla="val 2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984687" y="3703320"/>
            <a:ext cx="530352" cy="530352"/>
          </a:xfrm>
          <a:prstGeom prst="ellipse">
            <a:avLst/>
          </a:prstGeom>
          <a:ln>
            <a:noFill/>
          </a:ln>
          <a:effectLst/>
          <a:gradFill rotWithShape="1">
            <a:gsLst>
              <a:gs pos="0">
                <a:srgbClr val="D97706"/>
              </a:gs>
              <a:gs pos="100000">
                <a:srgbClr val="FBBF24"/>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٢</a:t>
            </a:r>
          </a:p>
        </p:txBody>
      </p:sp>
      <p:sp>
        <p:nvSpPr>
          <p:cNvPr id="19" name="TextBox 18"/>
          <p:cNvSpPr txBox="1"/>
          <p:nvPr/>
        </p:nvSpPr>
        <p:spPr>
          <a:xfrm>
            <a:off x="6530187" y="3621024"/>
            <a:ext cx="4381347"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221C57"/>
                </a:solidFill>
                <a:latin typeface="Sakkal Majalla"/>
                <a:cs typeface="Sakkal Majalla"/>
                <a:ea typeface="Sakkal Majalla"/>
              </a:rPr>
              <a:t>لماذا تهمّنا الفجوات؟</a:t>
            </a:r>
          </a:p>
        </p:txBody>
      </p:sp>
      <p:sp>
        <p:nvSpPr>
          <p:cNvPr id="20" name="TextBox 19"/>
          <p:cNvSpPr txBox="1"/>
          <p:nvPr/>
        </p:nvSpPr>
        <p:spPr>
          <a:xfrm>
            <a:off x="6530187" y="3986784"/>
            <a:ext cx="4381347"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ستة أسباب تجعلها حجر الأساس في أي بحث ناجح</a:t>
            </a:r>
          </a:p>
        </p:txBody>
      </p:sp>
      <p:sp>
        <p:nvSpPr>
          <p:cNvPr id="21" name="Rounded Rectangle 20"/>
          <p:cNvSpPr/>
          <p:nvPr/>
        </p:nvSpPr>
        <p:spPr>
          <a:xfrm>
            <a:off x="6301587" y="4507992"/>
            <a:ext cx="5341467" cy="822960"/>
          </a:xfrm>
          <a:prstGeom prst="roundRect">
            <a:avLst>
              <a:gd name="adj" fmla="val 2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84687" y="4654296"/>
            <a:ext cx="530352" cy="530352"/>
          </a:xfrm>
          <a:prstGeom prst="ellipse">
            <a:avLst/>
          </a:prstGeom>
          <a:ln>
            <a:noFill/>
          </a:ln>
          <a:effectLst/>
          <a:gradFill rotWithShape="1">
            <a:gsLst>
              <a:gs pos="0">
                <a:srgbClr val="0D9488"/>
              </a:gs>
              <a:gs pos="100000">
                <a:srgbClr val="2DD4BF"/>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٣</a:t>
            </a:r>
          </a:p>
        </p:txBody>
      </p:sp>
      <p:sp>
        <p:nvSpPr>
          <p:cNvPr id="23" name="TextBox 22"/>
          <p:cNvSpPr txBox="1"/>
          <p:nvPr/>
        </p:nvSpPr>
        <p:spPr>
          <a:xfrm>
            <a:off x="6530187" y="4572000"/>
            <a:ext cx="4381347"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221C57"/>
                </a:solidFill>
                <a:latin typeface="Sakkal Majalla"/>
                <a:cs typeface="Sakkal Majalla"/>
                <a:ea typeface="Sakkal Majalla"/>
              </a:rPr>
              <a:t>الأنواع الستة بالتفصيل</a:t>
            </a:r>
          </a:p>
        </p:txBody>
      </p:sp>
      <p:sp>
        <p:nvSpPr>
          <p:cNvPr id="24" name="TextBox 23"/>
          <p:cNvSpPr txBox="1"/>
          <p:nvPr/>
        </p:nvSpPr>
        <p:spPr>
          <a:xfrm>
            <a:off x="6530187" y="4937759"/>
            <a:ext cx="4381347"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شرح موسّع لكل نوع مع سؤاله المفتاحي ومثاله</a:t>
            </a:r>
          </a:p>
        </p:txBody>
      </p:sp>
      <p:sp>
        <p:nvSpPr>
          <p:cNvPr id="25" name="Rounded Rectangle 24"/>
          <p:cNvSpPr/>
          <p:nvPr/>
        </p:nvSpPr>
        <p:spPr>
          <a:xfrm>
            <a:off x="6301587" y="5458968"/>
            <a:ext cx="5341467" cy="822960"/>
          </a:xfrm>
          <a:prstGeom prst="roundRect">
            <a:avLst>
              <a:gd name="adj" fmla="val 2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84687" y="5605272"/>
            <a:ext cx="530352" cy="530352"/>
          </a:xfrm>
          <a:prstGeom prst="ellipse">
            <a:avLst/>
          </a:prstGeom>
          <a:ln>
            <a:noFill/>
          </a:ln>
          <a:effectLst/>
          <a:gradFill rotWithShape="1">
            <a:gsLst>
              <a:gs pos="0">
                <a:srgbClr val="6D28D9"/>
              </a:gs>
              <a:gs pos="100000">
                <a:srgbClr val="A855F7"/>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٤</a:t>
            </a:r>
          </a:p>
        </p:txBody>
      </p:sp>
      <p:sp>
        <p:nvSpPr>
          <p:cNvPr id="27" name="TextBox 26"/>
          <p:cNvSpPr txBox="1"/>
          <p:nvPr/>
        </p:nvSpPr>
        <p:spPr>
          <a:xfrm>
            <a:off x="6530187" y="5522976"/>
            <a:ext cx="4381347"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221C57"/>
                </a:solidFill>
                <a:latin typeface="Sakkal Majalla"/>
                <a:cs typeface="Sakkal Majalla"/>
                <a:ea typeface="Sakkal Majalla"/>
              </a:rPr>
              <a:t>أمثلة تطبيقية واقعية</a:t>
            </a:r>
          </a:p>
        </p:txBody>
      </p:sp>
      <p:sp>
        <p:nvSpPr>
          <p:cNvPr id="28" name="TextBox 27"/>
          <p:cNvSpPr txBox="1"/>
          <p:nvPr/>
        </p:nvSpPr>
        <p:spPr>
          <a:xfrm>
            <a:off x="6530187" y="5888736"/>
            <a:ext cx="4381347"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مثال ملموس على كل نوع ولماذا يُعد فجوة</a:t>
            </a:r>
          </a:p>
        </p:txBody>
      </p:sp>
      <p:sp>
        <p:nvSpPr>
          <p:cNvPr id="29" name="Rounded Rectangle 28"/>
          <p:cNvSpPr/>
          <p:nvPr/>
        </p:nvSpPr>
        <p:spPr>
          <a:xfrm>
            <a:off x="548640" y="2606040"/>
            <a:ext cx="5341467" cy="822960"/>
          </a:xfrm>
          <a:prstGeom prst="roundRect">
            <a:avLst>
              <a:gd name="adj" fmla="val 2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231739" y="2752344"/>
            <a:ext cx="530352" cy="530352"/>
          </a:xfrm>
          <a:prstGeom prst="ellipse">
            <a:avLst/>
          </a:prstGeom>
          <a:ln>
            <a:noFill/>
          </a:ln>
          <a:effectLst/>
          <a:gradFill rotWithShape="1">
            <a:gsLst>
              <a:gs pos="0">
                <a:srgbClr val="BE123C"/>
              </a:gs>
              <a:gs pos="100000">
                <a:srgbClr val="FB7185"/>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٥</a:t>
            </a:r>
          </a:p>
        </p:txBody>
      </p:sp>
      <p:sp>
        <p:nvSpPr>
          <p:cNvPr id="31" name="TextBox 30"/>
          <p:cNvSpPr txBox="1"/>
          <p:nvPr/>
        </p:nvSpPr>
        <p:spPr>
          <a:xfrm>
            <a:off x="777240" y="2670048"/>
            <a:ext cx="4381347"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221C57"/>
                </a:solidFill>
                <a:latin typeface="Sakkal Majalla"/>
                <a:cs typeface="Sakkal Majalla"/>
                <a:ea typeface="Sakkal Majalla"/>
              </a:rPr>
              <a:t>أدوات الذكاء الاصطناعي</a:t>
            </a:r>
          </a:p>
        </p:txBody>
      </p:sp>
      <p:sp>
        <p:nvSpPr>
          <p:cNvPr id="32" name="TextBox 31"/>
          <p:cNvSpPr txBox="1"/>
          <p:nvPr/>
        </p:nvSpPr>
        <p:spPr>
          <a:xfrm>
            <a:off x="777240" y="3035808"/>
            <a:ext cx="4381347"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ثماني أدوات + سير العمل الذكي مع الأداة الأقوى</a:t>
            </a:r>
          </a:p>
        </p:txBody>
      </p:sp>
      <p:sp>
        <p:nvSpPr>
          <p:cNvPr id="33" name="Rounded Rectangle 32"/>
          <p:cNvSpPr/>
          <p:nvPr/>
        </p:nvSpPr>
        <p:spPr>
          <a:xfrm>
            <a:off x="548640" y="3557016"/>
            <a:ext cx="5341467" cy="822960"/>
          </a:xfrm>
          <a:prstGeom prst="roundRect">
            <a:avLst>
              <a:gd name="adj" fmla="val 2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231739" y="3703320"/>
            <a:ext cx="530352" cy="530352"/>
          </a:xfrm>
          <a:prstGeom prst="ellipse">
            <a:avLst/>
          </a:prstGeom>
          <a:ln>
            <a:noFill/>
          </a:ln>
          <a:effectLst/>
          <a:gradFill rotWithShape="1">
            <a:gsLst>
              <a:gs pos="0">
                <a:srgbClr val="047857"/>
              </a:gs>
              <a:gs pos="100000">
                <a:srgbClr val="34D39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٦</a:t>
            </a:r>
          </a:p>
        </p:txBody>
      </p:sp>
      <p:sp>
        <p:nvSpPr>
          <p:cNvPr id="35" name="TextBox 34"/>
          <p:cNvSpPr txBox="1"/>
          <p:nvPr/>
        </p:nvSpPr>
        <p:spPr>
          <a:xfrm>
            <a:off x="777240" y="3621024"/>
            <a:ext cx="4381347"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221C57"/>
                </a:solidFill>
                <a:latin typeface="Sakkal Majalla"/>
                <a:cs typeface="Sakkal Majalla"/>
                <a:ea typeface="Sakkal Majalla"/>
              </a:rPr>
              <a:t>استراتيجيات المحترفين</a:t>
            </a:r>
          </a:p>
        </p:txBody>
      </p:sp>
      <p:sp>
        <p:nvSpPr>
          <p:cNvPr id="36" name="TextBox 35"/>
          <p:cNvSpPr txBox="1"/>
          <p:nvPr/>
        </p:nvSpPr>
        <p:spPr>
          <a:xfrm>
            <a:off x="777240" y="3986784"/>
            <a:ext cx="4381347"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أربع استراتيجيات ميدانية + إطار التفكير النقدي</a:t>
            </a:r>
          </a:p>
        </p:txBody>
      </p:sp>
      <p:sp>
        <p:nvSpPr>
          <p:cNvPr id="37" name="Rounded Rectangle 36"/>
          <p:cNvSpPr/>
          <p:nvPr/>
        </p:nvSpPr>
        <p:spPr>
          <a:xfrm>
            <a:off x="548640" y="4507992"/>
            <a:ext cx="5341467" cy="822960"/>
          </a:xfrm>
          <a:prstGeom prst="roundRect">
            <a:avLst>
              <a:gd name="adj" fmla="val 2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31739" y="4654296"/>
            <a:ext cx="530352" cy="530352"/>
          </a:xfrm>
          <a:prstGeom prst="ellipse">
            <a:avLst/>
          </a:prstGeom>
          <a:ln>
            <a:noFill/>
          </a:ln>
          <a:effectLst/>
          <a:gradFill rotWithShape="1">
            <a:gsLst>
              <a:gs pos="0">
                <a:srgbClr val="1D4ED8"/>
              </a:gs>
              <a:gs pos="100000">
                <a:srgbClr val="60A5FA"/>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٧</a:t>
            </a:r>
          </a:p>
        </p:txBody>
      </p:sp>
      <p:sp>
        <p:nvSpPr>
          <p:cNvPr id="39" name="TextBox 38"/>
          <p:cNvSpPr txBox="1"/>
          <p:nvPr/>
        </p:nvSpPr>
        <p:spPr>
          <a:xfrm>
            <a:off x="777240" y="4572000"/>
            <a:ext cx="4381347"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221C57"/>
                </a:solidFill>
                <a:latin typeface="Sakkal Majalla"/>
                <a:cs typeface="Sakkal Majalla"/>
                <a:ea typeface="Sakkal Majalla"/>
              </a:rPr>
              <a:t>من الفجوة إلى الصياغة</a:t>
            </a:r>
          </a:p>
        </p:txBody>
      </p:sp>
      <p:sp>
        <p:nvSpPr>
          <p:cNvPr id="40" name="TextBox 39"/>
          <p:cNvSpPr txBox="1"/>
          <p:nvPr/>
        </p:nvSpPr>
        <p:spPr>
          <a:xfrm>
            <a:off x="777240" y="4937759"/>
            <a:ext cx="4381347"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تمييز الفجوة القوية، خارطة طريق، وقالب صياغة جاهز</a:t>
            </a:r>
          </a:p>
        </p:txBody>
      </p:sp>
      <p:sp>
        <p:nvSpPr>
          <p:cNvPr id="41" name="Rounded Rectangle 40"/>
          <p:cNvSpPr/>
          <p:nvPr/>
        </p:nvSpPr>
        <p:spPr>
          <a:xfrm>
            <a:off x="548640" y="5458968"/>
            <a:ext cx="5341467" cy="822960"/>
          </a:xfrm>
          <a:prstGeom prst="roundRect">
            <a:avLst>
              <a:gd name="adj" fmla="val 20000"/>
            </a:avLst>
          </a:prstGeom>
          <a:solidFill>
            <a:srgbClr val="F3EDFB"/>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568696"/>
            <a:ext cx="4884267" cy="640080"/>
          </a:xfrm>
          <a:prstGeom prst="rect">
            <a:avLst/>
          </a:prstGeom>
          <a:noFill/>
        </p:spPr>
        <p:txBody>
          <a:bodyPr wrap="square" anchor="t" lIns="0" rIns="0" tIns="0" bIns="0">
            <a:spAutoFit/>
          </a:bodyPr>
          <a:lstStyle/>
          <a:p>
            <a:pPr algn="ctr" rtl="1">
              <a:lnSpc>
                <a:spcPct val="105000"/>
              </a:lnSpc>
              <a:spcBef>
                <a:spcPts val="0"/>
              </a:spcBef>
              <a:spcAft>
                <a:spcPts val="200"/>
              </a:spcAft>
            </a:pPr>
            <a:r>
              <a:rPr sz="1300" b="1" i="0">
                <a:solidFill>
                  <a:srgbClr val="6D28D9"/>
                </a:solidFill>
                <a:latin typeface="Sakkal Majalla"/>
                <a:cs typeface="Sakkal Majalla"/>
                <a:ea typeface="Sakkal Majalla"/>
              </a:rPr>
              <a:t>«الفجوة البحثية هي أساس أي بحث علمي ناجح»</a:t>
            </a:r>
          </a:p>
          <a:p>
            <a:pPr algn="ctr" rtl="1">
              <a:lnSpc>
                <a:spcPct val="105000"/>
              </a:lnSpc>
              <a:spcBef>
                <a:spcPts val="0"/>
              </a:spcBef>
              <a:spcAft>
                <a:spcPts val="400"/>
              </a:spcAft>
            </a:pPr>
            <a:r>
              <a:rPr sz="1000" b="0" i="0">
                <a:solidFill>
                  <a:srgbClr val="6E6A8F"/>
                </a:solidFill>
                <a:latin typeface="Sakkal Majalla"/>
                <a:cs typeface="Sakkal Majalla"/>
                <a:ea typeface="Sakkal Majalla"/>
              </a:rPr>
              <a:t>— من خلاصة الورشة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03</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A21CAF"/>
              </a:gs>
              <a:gs pos="100000">
                <a:srgbClr val="E879F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A21CAF"/>
                </a:solidFill>
                <a:latin typeface="Sakkal Majalla"/>
                <a:cs typeface="Sakkal Majalla"/>
                <a:ea typeface="Sakkal Majalla"/>
              </a:rPr>
              <a:t>WHAT IS A RESEARCH GAP?</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ما هي الفجوة البحثية؟</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A21CAF"/>
              </a:gs>
              <a:gs pos="100000">
                <a:srgbClr val="E879F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A21CAF"/>
              </a:gs>
              <a:gs pos="100000">
                <a:srgbClr val="E879F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A21CAF"/>
              </a:gs>
              <a:gs pos="100000">
                <a:srgbClr val="E879F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03</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548640" y="1600200"/>
            <a:ext cx="11094415" cy="14630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515039" y="1600200"/>
            <a:ext cx="128016" cy="1463040"/>
          </a:xfrm>
          <a:prstGeom prst="roundRect">
            <a:avLst>
              <a:gd name="adj" fmla="val 100000"/>
            </a:avLst>
          </a:prstGeom>
          <a:ln>
            <a:noFill/>
          </a:ln>
          <a:effectLst/>
          <a:gradFill rotWithShape="1">
            <a:gsLst>
              <a:gs pos="0">
                <a:srgbClr val="A21CAF"/>
              </a:gs>
              <a:gs pos="100000">
                <a:srgbClr val="E879F9"/>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755648"/>
            <a:ext cx="10317175" cy="1188720"/>
          </a:xfrm>
          <a:prstGeom prst="rect">
            <a:avLst/>
          </a:prstGeom>
          <a:noFill/>
        </p:spPr>
        <p:txBody>
          <a:bodyPr wrap="square" anchor="t" lIns="0" rIns="0" tIns="0" bIns="0">
            <a:spAutoFit/>
          </a:bodyPr>
          <a:lstStyle/>
          <a:p>
            <a:pPr algn="r" rtl="1">
              <a:lnSpc>
                <a:spcPct val="118000"/>
              </a:lnSpc>
              <a:spcBef>
                <a:spcPts val="0"/>
              </a:spcBef>
              <a:spcAft>
                <a:spcPts val="600"/>
              </a:spcAft>
            </a:pPr>
            <a:r>
              <a:rPr sz="1450" b="1" i="0">
                <a:solidFill>
                  <a:srgbClr val="A21CAF"/>
                </a:solidFill>
                <a:latin typeface="Sakkal Majalla"/>
                <a:cs typeface="Sakkal Majalla"/>
                <a:ea typeface="Sakkal Majalla"/>
              </a:rPr>
              <a:t>التعريف كما ورد في الشرح:  </a:t>
            </a:r>
            <a:r>
              <a:rPr sz="1400" b="0" i="0">
                <a:solidFill>
                  <a:srgbClr val="221C57"/>
                </a:solidFill>
                <a:latin typeface="Sakkal Majalla"/>
                <a:cs typeface="Sakkal Majalla"/>
                <a:ea typeface="Sakkal Majalla"/>
              </a:rPr>
              <a:t>الفجوة البحثية ببساطة هي منطقة أو مشكلة في مجال معيّن: إما لم يدرسها أحد من قبل، أو تمت دراستها بشكل ناقص، أو تحتاج مزيداً من التحليل والاستكشاف.</a:t>
            </a:r>
          </a:p>
          <a:p>
            <a:pPr algn="r" rtl="1">
              <a:lnSpc>
                <a:spcPct val="118000"/>
              </a:lnSpc>
              <a:spcBef>
                <a:spcPts val="0"/>
              </a:spcBef>
              <a:spcAft>
                <a:spcPts val="400"/>
              </a:spcAft>
            </a:pPr>
            <a:r>
              <a:rPr sz="1300" b="1" i="0">
                <a:solidFill>
                  <a:srgbClr val="6D28D9"/>
                </a:solidFill>
                <a:latin typeface="Sakkal Majalla"/>
                <a:cs typeface="Sakkal Majalla"/>
                <a:ea typeface="Sakkal Majalla"/>
              </a:rPr>
              <a:t>بعبارة أخرى:  </a:t>
            </a:r>
            <a:r>
              <a:rPr sz="1300" b="0" i="0">
                <a:solidFill>
                  <a:srgbClr val="221C57"/>
                </a:solidFill>
                <a:latin typeface="Sakkal Majalla"/>
                <a:cs typeface="Sakkal Majalla"/>
                <a:ea typeface="Sakkal Majalla"/>
              </a:rPr>
              <a:t>هي شيء لم تتم دراسته بشكل كافٍ بعد، أو نقطة لم يركّز عليها الباحثون بوضوح — وسدّها هو ما يمنح بحثك قيمته.</a:t>
            </a:r>
          </a:p>
        </p:txBody>
      </p:sp>
      <p:sp>
        <p:nvSpPr>
          <p:cNvPr id="14" name="TextBox 13"/>
          <p:cNvSpPr txBox="1"/>
          <p:nvPr/>
        </p:nvSpPr>
        <p:spPr>
          <a:xfrm>
            <a:off x="548640" y="3200400"/>
            <a:ext cx="11094415"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350" b="1" i="0">
                <a:solidFill>
                  <a:srgbClr val="6E6A8F"/>
                </a:solidFill>
                <a:latin typeface="Sakkal Majalla"/>
                <a:cs typeface="Sakkal Majalla"/>
                <a:ea typeface="Sakkal Majalla"/>
              </a:rPr>
              <a:t>للفجوة البحثية أكثر من صورة — هذه أشهر أربع صور تظهر بها:</a:t>
            </a:r>
          </a:p>
        </p:txBody>
      </p:sp>
      <p:sp>
        <p:nvSpPr>
          <p:cNvPr id="15" name="Rounded Rectangle 14"/>
          <p:cNvSpPr/>
          <p:nvPr/>
        </p:nvSpPr>
        <p:spPr>
          <a:xfrm>
            <a:off x="9047759" y="3657600"/>
            <a:ext cx="2595295" cy="26060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47759" y="3657600"/>
            <a:ext cx="2595295" cy="109728"/>
          </a:xfrm>
          <a:prstGeom prst="roundRect">
            <a:avLst>
              <a:gd name="adj" fmla="val 100000"/>
            </a:avLst>
          </a:prstGeom>
          <a:ln>
            <a:noFill/>
          </a:ln>
          <a:effectLst/>
          <a:gradFill rotWithShape="1">
            <a:gsLst>
              <a:gs pos="0">
                <a:srgbClr val="A21CAF"/>
              </a:gs>
              <a:gs pos="100000">
                <a:srgbClr val="E879F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43655" y="3977639"/>
            <a:ext cx="603504" cy="603504"/>
          </a:xfrm>
          <a:prstGeom prst="ellipse">
            <a:avLst/>
          </a:prstGeom>
          <a:ln>
            <a:noFill/>
          </a:ln>
          <a:gradFill rotWithShape="1">
            <a:gsLst>
              <a:gs pos="0">
                <a:srgbClr val="A21CAF"/>
              </a:gs>
              <a:gs pos="100000">
                <a:srgbClr val="E879F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Sakkal Majalla"/>
                <a:cs typeface="Sakkal Majalla"/>
                <a:ea typeface="Sakkal Majalla"/>
              </a:rPr>
              <a:t>🔍</a:t>
            </a:r>
          </a:p>
        </p:txBody>
      </p:sp>
      <p:sp>
        <p:nvSpPr>
          <p:cNvPr id="18" name="TextBox 17"/>
          <p:cNvSpPr txBox="1"/>
          <p:nvPr/>
        </p:nvSpPr>
        <p:spPr>
          <a:xfrm>
            <a:off x="9157487" y="4681728"/>
            <a:ext cx="2375839"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A21CAF"/>
                </a:solidFill>
                <a:latin typeface="Sakkal Majalla"/>
                <a:cs typeface="Sakkal Majalla"/>
                <a:ea typeface="Sakkal Majalla"/>
              </a:rPr>
              <a:t>موضوع جديد كلياً</a:t>
            </a:r>
          </a:p>
        </p:txBody>
      </p:sp>
      <p:sp>
        <p:nvSpPr>
          <p:cNvPr id="19" name="TextBox 18"/>
          <p:cNvSpPr txBox="1"/>
          <p:nvPr/>
        </p:nvSpPr>
        <p:spPr>
          <a:xfrm>
            <a:off x="9212351" y="5120640"/>
            <a:ext cx="2266111" cy="1051560"/>
          </a:xfrm>
          <a:prstGeom prst="rect">
            <a:avLst/>
          </a:prstGeom>
          <a:noFill/>
        </p:spPr>
        <p:txBody>
          <a:bodyPr wrap="square" anchor="t" lIns="0" rIns="0" tIns="0" bIns="0">
            <a:spAutoFit/>
          </a:bodyPr>
          <a:lstStyle/>
          <a:p>
            <a:pPr algn="ctr" rtl="1">
              <a:lnSpc>
                <a:spcPct val="115000"/>
              </a:lnSpc>
              <a:spcBef>
                <a:spcPts val="0"/>
              </a:spcBef>
              <a:spcAft>
                <a:spcPts val="400"/>
              </a:spcAft>
            </a:pPr>
            <a:r>
              <a:rPr sz="1150" b="0" i="0">
                <a:solidFill>
                  <a:srgbClr val="221C57"/>
                </a:solidFill>
                <a:latin typeface="Sakkal Majalla"/>
                <a:cs typeface="Sakkal Majalla"/>
                <a:ea typeface="Sakkal Majalla"/>
              </a:rPr>
              <a:t>لم يتناوله أي باحث من قبل — أندر الصور وأثمنها متى كان الموضوع مهماً وملحّاً</a:t>
            </a:r>
          </a:p>
        </p:txBody>
      </p:sp>
      <p:sp>
        <p:nvSpPr>
          <p:cNvPr id="20" name="Rounded Rectangle 19"/>
          <p:cNvSpPr/>
          <p:nvPr/>
        </p:nvSpPr>
        <p:spPr>
          <a:xfrm>
            <a:off x="6214719" y="3657600"/>
            <a:ext cx="2595295" cy="26060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4719" y="3657600"/>
            <a:ext cx="2595295" cy="109728"/>
          </a:xfrm>
          <a:prstGeom prst="roundRect">
            <a:avLst>
              <a:gd name="adj" fmla="val 100000"/>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10615" y="3977639"/>
            <a:ext cx="603504" cy="603504"/>
          </a:xfrm>
          <a:prstGeom prst="ellipse">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Sakkal Majalla"/>
                <a:cs typeface="Sakkal Majalla"/>
                <a:ea typeface="Sakkal Majalla"/>
              </a:rPr>
              <a:t>⚡</a:t>
            </a:r>
          </a:p>
        </p:txBody>
      </p:sp>
      <p:sp>
        <p:nvSpPr>
          <p:cNvPr id="23" name="TextBox 22"/>
          <p:cNvSpPr txBox="1"/>
          <p:nvPr/>
        </p:nvSpPr>
        <p:spPr>
          <a:xfrm>
            <a:off x="6324447" y="4681728"/>
            <a:ext cx="2375839"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D97706"/>
                </a:solidFill>
                <a:latin typeface="Sakkal Majalla"/>
                <a:cs typeface="Sakkal Majalla"/>
                <a:ea typeface="Sakkal Majalla"/>
              </a:rPr>
              <a:t>دراسة من زاوية واحدة</a:t>
            </a:r>
          </a:p>
        </p:txBody>
      </p:sp>
      <p:sp>
        <p:nvSpPr>
          <p:cNvPr id="24" name="TextBox 23"/>
          <p:cNvSpPr txBox="1"/>
          <p:nvPr/>
        </p:nvSpPr>
        <p:spPr>
          <a:xfrm>
            <a:off x="6379311" y="5120640"/>
            <a:ext cx="2266111" cy="1051560"/>
          </a:xfrm>
          <a:prstGeom prst="rect">
            <a:avLst/>
          </a:prstGeom>
          <a:noFill/>
        </p:spPr>
        <p:txBody>
          <a:bodyPr wrap="square" anchor="t" lIns="0" rIns="0" tIns="0" bIns="0">
            <a:spAutoFit/>
          </a:bodyPr>
          <a:lstStyle/>
          <a:p>
            <a:pPr algn="ctr" rtl="1">
              <a:lnSpc>
                <a:spcPct val="115000"/>
              </a:lnSpc>
              <a:spcBef>
                <a:spcPts val="0"/>
              </a:spcBef>
              <a:spcAft>
                <a:spcPts val="400"/>
              </a:spcAft>
            </a:pPr>
            <a:r>
              <a:rPr sz="1150" b="0" i="0">
                <a:solidFill>
                  <a:srgbClr val="221C57"/>
                </a:solidFill>
                <a:latin typeface="Sakkal Majalla"/>
                <a:cs typeface="Sakkal Majalla"/>
                <a:ea typeface="Sakkal Majalla"/>
              </a:rPr>
              <a:t>الموضوع دُرس جزئياً من منظور واحد فقط، وبقيت زواياه الأخرى مجهولة تماماً</a:t>
            </a:r>
          </a:p>
        </p:txBody>
      </p:sp>
      <p:sp>
        <p:nvSpPr>
          <p:cNvPr id="25" name="Rounded Rectangle 24"/>
          <p:cNvSpPr/>
          <p:nvPr/>
        </p:nvSpPr>
        <p:spPr>
          <a:xfrm>
            <a:off x="3381679" y="3657600"/>
            <a:ext cx="2595295" cy="26060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381679" y="3657600"/>
            <a:ext cx="2595295" cy="109728"/>
          </a:xfrm>
          <a:prstGeom prst="roundRect">
            <a:avLst>
              <a:gd name="adj" fmla="val 100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77575" y="3977639"/>
            <a:ext cx="603504" cy="603504"/>
          </a:xfrm>
          <a:prstGeom prst="ellipse">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Sakkal Majalla"/>
                <a:cs typeface="Sakkal Majalla"/>
                <a:ea typeface="Sakkal Majalla"/>
              </a:rPr>
              <a:t>🔄</a:t>
            </a:r>
          </a:p>
        </p:txBody>
      </p:sp>
      <p:sp>
        <p:nvSpPr>
          <p:cNvPr id="28" name="TextBox 27"/>
          <p:cNvSpPr txBox="1"/>
          <p:nvPr/>
        </p:nvSpPr>
        <p:spPr>
          <a:xfrm>
            <a:off x="3491407" y="4681728"/>
            <a:ext cx="2375839"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0D9488"/>
                </a:solidFill>
                <a:latin typeface="Sakkal Majalla"/>
                <a:cs typeface="Sakkal Majalla"/>
                <a:ea typeface="Sakkal Majalla"/>
              </a:rPr>
              <a:t>نتائج متضاربة</a:t>
            </a:r>
          </a:p>
        </p:txBody>
      </p:sp>
      <p:sp>
        <p:nvSpPr>
          <p:cNvPr id="29" name="TextBox 28"/>
          <p:cNvSpPr txBox="1"/>
          <p:nvPr/>
        </p:nvSpPr>
        <p:spPr>
          <a:xfrm>
            <a:off x="3546271" y="5120640"/>
            <a:ext cx="2266111" cy="1051560"/>
          </a:xfrm>
          <a:prstGeom prst="rect">
            <a:avLst/>
          </a:prstGeom>
          <a:noFill/>
        </p:spPr>
        <p:txBody>
          <a:bodyPr wrap="square" anchor="t" lIns="0" rIns="0" tIns="0" bIns="0">
            <a:spAutoFit/>
          </a:bodyPr>
          <a:lstStyle/>
          <a:p>
            <a:pPr algn="ctr" rtl="1">
              <a:lnSpc>
                <a:spcPct val="115000"/>
              </a:lnSpc>
              <a:spcBef>
                <a:spcPts val="0"/>
              </a:spcBef>
              <a:spcAft>
                <a:spcPts val="400"/>
              </a:spcAft>
            </a:pPr>
            <a:r>
              <a:rPr sz="1150" b="0" i="0">
                <a:solidFill>
                  <a:srgbClr val="221C57"/>
                </a:solidFill>
                <a:latin typeface="Sakkal Majalla"/>
                <a:cs typeface="Sakkal Majalla"/>
                <a:ea typeface="Sakkal Majalla"/>
              </a:rPr>
              <a:t>دراسات وصلت إلى نتائج متناقضة — والحسم بينها يحتاج بحثاً جديداً محكماً</a:t>
            </a:r>
          </a:p>
        </p:txBody>
      </p:sp>
      <p:sp>
        <p:nvSpPr>
          <p:cNvPr id="30" name="Rounded Rectangle 29"/>
          <p:cNvSpPr/>
          <p:nvPr/>
        </p:nvSpPr>
        <p:spPr>
          <a:xfrm>
            <a:off x="548639" y="3657600"/>
            <a:ext cx="2595295" cy="26060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48639" y="3657600"/>
            <a:ext cx="2595295" cy="109728"/>
          </a:xfrm>
          <a:prstGeom prst="roundRect">
            <a:avLst>
              <a:gd name="adj" fmla="val 100000"/>
            </a:avLst>
          </a:prstGeom>
          <a:ln>
            <a:noFill/>
          </a:ln>
          <a:effectLst/>
          <a:gradFill rotWithShape="1">
            <a:gsLst>
              <a:gs pos="0">
                <a:srgbClr val="047857"/>
              </a:gs>
              <a:gs pos="100000">
                <a:srgbClr val="34D39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544535" y="3977639"/>
            <a:ext cx="603504" cy="603504"/>
          </a:xfrm>
          <a:prstGeom prst="ellipse">
            <a:avLst/>
          </a:prstGeom>
          <a:ln>
            <a:noFill/>
          </a:ln>
          <a:gradFill rotWithShape="1">
            <a:gsLst>
              <a:gs pos="0">
                <a:srgbClr val="047857"/>
              </a:gs>
              <a:gs pos="100000">
                <a:srgbClr val="34D39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FFFFFF"/>
                </a:solidFill>
                <a:latin typeface="Sakkal Majalla"/>
                <a:cs typeface="Sakkal Majalla"/>
                <a:ea typeface="Sakkal Majalla"/>
              </a:rPr>
              <a:t>🌍</a:t>
            </a:r>
          </a:p>
        </p:txBody>
      </p:sp>
      <p:sp>
        <p:nvSpPr>
          <p:cNvPr id="33" name="TextBox 32"/>
          <p:cNvSpPr txBox="1"/>
          <p:nvPr/>
        </p:nvSpPr>
        <p:spPr>
          <a:xfrm>
            <a:off x="658367" y="4681728"/>
            <a:ext cx="2375839"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047857"/>
                </a:solidFill>
                <a:latin typeface="Sakkal Majalla"/>
                <a:cs typeface="Sakkal Majalla"/>
                <a:ea typeface="Sakkal Majalla"/>
              </a:rPr>
              <a:t>سياق جغرافي مختلف</a:t>
            </a:r>
          </a:p>
        </p:txBody>
      </p:sp>
      <p:sp>
        <p:nvSpPr>
          <p:cNvPr id="34" name="TextBox 33"/>
          <p:cNvSpPr txBox="1"/>
          <p:nvPr/>
        </p:nvSpPr>
        <p:spPr>
          <a:xfrm>
            <a:off x="713231" y="5120640"/>
            <a:ext cx="2266111" cy="1051560"/>
          </a:xfrm>
          <a:prstGeom prst="rect">
            <a:avLst/>
          </a:prstGeom>
          <a:noFill/>
        </p:spPr>
        <p:txBody>
          <a:bodyPr wrap="square" anchor="t" lIns="0" rIns="0" tIns="0" bIns="0">
            <a:spAutoFit/>
          </a:bodyPr>
          <a:lstStyle/>
          <a:p>
            <a:pPr algn="ctr" rtl="1">
              <a:lnSpc>
                <a:spcPct val="115000"/>
              </a:lnSpc>
              <a:spcBef>
                <a:spcPts val="0"/>
              </a:spcBef>
              <a:spcAft>
                <a:spcPts val="400"/>
              </a:spcAft>
            </a:pPr>
            <a:r>
              <a:rPr sz="1150" b="0" i="0">
                <a:solidFill>
                  <a:srgbClr val="221C57"/>
                </a:solidFill>
                <a:latin typeface="Sakkal Majalla"/>
                <a:cs typeface="Sakkal Majalla"/>
                <a:ea typeface="Sakkal Majalla"/>
              </a:rPr>
              <a:t>دراسة نجحت في دولة ما، وليس شرطاً أن تنجح بالطريقة نفسها في مجتمع آخر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04</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D97706"/>
                </a:solidFill>
                <a:latin typeface="Sakkal Majalla"/>
                <a:cs typeface="Sakkal Majalla"/>
                <a:ea typeface="Sakkal Majalla"/>
              </a:rPr>
              <a:t>WHY RESEARCH GAPS MATTER</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لماذا تهمّنا الفجوات البحثية؟</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D97706"/>
              </a:gs>
              <a:gs pos="100000">
                <a:srgbClr val="FBBF24"/>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04</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8115604" y="1627632"/>
            <a:ext cx="3527450" cy="2157984"/>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865815" y="1828800"/>
            <a:ext cx="566928" cy="566928"/>
          </a:xfrm>
          <a:prstGeom prst="roundRect">
            <a:avLst>
              <a:gd name="adj" fmla="val 30000"/>
            </a:avLst>
          </a:prstGeom>
          <a:ln>
            <a:noFill/>
          </a:ln>
          <a:effectLst/>
          <a:gradFill rotWithShape="1">
            <a:gsLst>
              <a:gs pos="0">
                <a:srgbClr val="A21CAF"/>
              </a:gs>
              <a:gs pos="100000">
                <a:srgbClr val="E879F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13" name="TextBox 12"/>
          <p:cNvSpPr txBox="1"/>
          <p:nvPr/>
        </p:nvSpPr>
        <p:spPr>
          <a:xfrm>
            <a:off x="8344204" y="1792224"/>
            <a:ext cx="2475890"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A21CAF"/>
                </a:solidFill>
                <a:latin typeface="Sakkal Majalla"/>
                <a:cs typeface="Sakkal Majalla"/>
                <a:ea typeface="Sakkal Majalla"/>
              </a:rPr>
              <a:t>اتجاه واضح لبحثك</a:t>
            </a:r>
          </a:p>
        </p:txBody>
      </p:sp>
      <p:sp>
        <p:nvSpPr>
          <p:cNvPr id="14" name="TextBox 13"/>
          <p:cNvSpPr txBox="1"/>
          <p:nvPr/>
        </p:nvSpPr>
        <p:spPr>
          <a:xfrm>
            <a:off x="8344204" y="2157984"/>
            <a:ext cx="2475890" cy="292608"/>
          </a:xfrm>
          <a:prstGeom prst="rect">
            <a:avLst/>
          </a:prstGeom>
          <a:noFill/>
        </p:spPr>
        <p:txBody>
          <a:bodyPr wrap="square" anchor="t" lIns="0" rIns="0" tIns="0" bIns="0">
            <a:spAutoFit/>
          </a:bodyPr>
          <a:lstStyle/>
          <a:p>
            <a:pPr algn="r">
              <a:lnSpc>
                <a:spcPct val="105000"/>
              </a:lnSpc>
              <a:spcBef>
                <a:spcPts val="0"/>
              </a:spcBef>
              <a:spcAft>
                <a:spcPts val="400"/>
              </a:spcAft>
            </a:pPr>
            <a:r>
              <a:rPr sz="1000" b="0" i="1">
                <a:solidFill>
                  <a:srgbClr val="6E6A8F"/>
                </a:solidFill>
                <a:latin typeface="Sakkal Majalla"/>
                <a:cs typeface="Sakkal Majalla"/>
                <a:ea typeface="Sakkal Majalla"/>
              </a:rPr>
              <a:t>Research Direction</a:t>
            </a:r>
          </a:p>
        </p:txBody>
      </p:sp>
      <p:sp>
        <p:nvSpPr>
          <p:cNvPr id="15" name="TextBox 14"/>
          <p:cNvSpPr txBox="1"/>
          <p:nvPr/>
        </p:nvSpPr>
        <p:spPr>
          <a:xfrm>
            <a:off x="8344204" y="2542032"/>
            <a:ext cx="3070250" cy="1143000"/>
          </a:xfrm>
          <a:prstGeom prst="rect">
            <a:avLst/>
          </a:prstGeom>
          <a:noFill/>
        </p:spPr>
        <p:txBody>
          <a:bodyPr wrap="square" anchor="t" lIns="0" rIns="0" tIns="0" bIns="0">
            <a:spAutoFit/>
          </a:bodyPr>
          <a:lstStyle/>
          <a:p>
            <a:pPr algn="r" rtl="1">
              <a:lnSpc>
                <a:spcPct val="122000"/>
              </a:lnSpc>
              <a:spcBef>
                <a:spcPts val="0"/>
              </a:spcBef>
              <a:spcAft>
                <a:spcPts val="400"/>
              </a:spcAft>
            </a:pPr>
            <a:r>
              <a:rPr sz="1250" b="0" i="0">
                <a:solidFill>
                  <a:srgbClr val="221C57"/>
                </a:solidFill>
                <a:latin typeface="Sakkal Majalla"/>
                <a:cs typeface="Sakkal Majalla"/>
                <a:ea typeface="Sakkal Majalla"/>
              </a:rPr>
              <a:t>تمنحك بوصلة واضحة لرسالتك أو أطروحتك بدلاً من التخبط بين مواضيع مكررة</a:t>
            </a:r>
          </a:p>
        </p:txBody>
      </p:sp>
      <p:sp>
        <p:nvSpPr>
          <p:cNvPr id="16" name="Rounded Rectangle 15"/>
          <p:cNvSpPr/>
          <p:nvPr/>
        </p:nvSpPr>
        <p:spPr>
          <a:xfrm>
            <a:off x="4332122" y="1627632"/>
            <a:ext cx="3527450" cy="2157984"/>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082332" y="1828800"/>
            <a:ext cx="566928" cy="566928"/>
          </a:xfrm>
          <a:prstGeom prst="roundRect">
            <a:avLst>
              <a:gd name="adj" fmla="val 30000"/>
            </a:avLst>
          </a:prstGeom>
          <a:ln>
            <a:noFill/>
          </a:ln>
          <a:effectLst/>
          <a:gradFill rotWithShape="1">
            <a:gsLst>
              <a:gs pos="0">
                <a:srgbClr val="D97706"/>
              </a:gs>
              <a:gs pos="100000">
                <a:srgbClr val="FBBF24"/>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18" name="TextBox 17"/>
          <p:cNvSpPr txBox="1"/>
          <p:nvPr/>
        </p:nvSpPr>
        <p:spPr>
          <a:xfrm>
            <a:off x="4560722" y="1792224"/>
            <a:ext cx="2475890"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D97706"/>
                </a:solidFill>
                <a:latin typeface="Sakkal Majalla"/>
                <a:cs typeface="Sakkal Majalla"/>
                <a:ea typeface="Sakkal Majalla"/>
              </a:rPr>
              <a:t>الأصالة العلمية</a:t>
            </a:r>
          </a:p>
        </p:txBody>
      </p:sp>
      <p:sp>
        <p:nvSpPr>
          <p:cNvPr id="19" name="TextBox 18"/>
          <p:cNvSpPr txBox="1"/>
          <p:nvPr/>
        </p:nvSpPr>
        <p:spPr>
          <a:xfrm>
            <a:off x="4560722" y="2157984"/>
            <a:ext cx="2475890" cy="292608"/>
          </a:xfrm>
          <a:prstGeom prst="rect">
            <a:avLst/>
          </a:prstGeom>
          <a:noFill/>
        </p:spPr>
        <p:txBody>
          <a:bodyPr wrap="square" anchor="t" lIns="0" rIns="0" tIns="0" bIns="0">
            <a:spAutoFit/>
          </a:bodyPr>
          <a:lstStyle/>
          <a:p>
            <a:pPr algn="r">
              <a:lnSpc>
                <a:spcPct val="105000"/>
              </a:lnSpc>
              <a:spcBef>
                <a:spcPts val="0"/>
              </a:spcBef>
              <a:spcAft>
                <a:spcPts val="400"/>
              </a:spcAft>
            </a:pPr>
            <a:r>
              <a:rPr sz="1000" b="0" i="1">
                <a:solidFill>
                  <a:srgbClr val="6E6A8F"/>
                </a:solidFill>
                <a:latin typeface="Sakkal Majalla"/>
                <a:cs typeface="Sakkal Majalla"/>
                <a:ea typeface="Sakkal Majalla"/>
              </a:rPr>
              <a:t>Scientific Originality</a:t>
            </a:r>
          </a:p>
        </p:txBody>
      </p:sp>
      <p:sp>
        <p:nvSpPr>
          <p:cNvPr id="20" name="TextBox 19"/>
          <p:cNvSpPr txBox="1"/>
          <p:nvPr/>
        </p:nvSpPr>
        <p:spPr>
          <a:xfrm>
            <a:off x="4560722" y="2542032"/>
            <a:ext cx="3070250" cy="1143000"/>
          </a:xfrm>
          <a:prstGeom prst="rect">
            <a:avLst/>
          </a:prstGeom>
          <a:noFill/>
        </p:spPr>
        <p:txBody>
          <a:bodyPr wrap="square" anchor="t" lIns="0" rIns="0" tIns="0" bIns="0">
            <a:spAutoFit/>
          </a:bodyPr>
          <a:lstStyle/>
          <a:p>
            <a:pPr algn="r" rtl="1">
              <a:lnSpc>
                <a:spcPct val="122000"/>
              </a:lnSpc>
              <a:spcBef>
                <a:spcPts val="0"/>
              </a:spcBef>
              <a:spcAft>
                <a:spcPts val="400"/>
              </a:spcAft>
            </a:pPr>
            <a:r>
              <a:rPr sz="1250" b="0" i="0">
                <a:solidFill>
                  <a:srgbClr val="221C57"/>
                </a:solidFill>
                <a:latin typeface="Sakkal Majalla"/>
                <a:cs typeface="Sakkal Majalla"/>
                <a:ea typeface="Sakkal Majalla"/>
              </a:rPr>
              <a:t>تضمن أن بحثك فيه إضافة جديدة حقيقية للمعرفة ولا يعيد ما هو موجود</a:t>
            </a:r>
          </a:p>
        </p:txBody>
      </p:sp>
      <p:sp>
        <p:nvSpPr>
          <p:cNvPr id="21" name="Rounded Rectangle 20"/>
          <p:cNvSpPr/>
          <p:nvPr/>
        </p:nvSpPr>
        <p:spPr>
          <a:xfrm>
            <a:off x="548639" y="1627632"/>
            <a:ext cx="3527450" cy="2157984"/>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98850" y="1828800"/>
            <a:ext cx="566928" cy="566928"/>
          </a:xfrm>
          <a:prstGeom prst="roundRect">
            <a:avLst>
              <a:gd name="adj" fmla="val 30000"/>
            </a:avLst>
          </a:prstGeom>
          <a:ln>
            <a:noFill/>
          </a:ln>
          <a:effectLst/>
          <a:gradFill rotWithShape="1">
            <a:gsLst>
              <a:gs pos="0">
                <a:srgbClr val="6D28D9"/>
              </a:gs>
              <a:gs pos="100000">
                <a:srgbClr val="A855F7"/>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23" name="TextBox 22"/>
          <p:cNvSpPr txBox="1"/>
          <p:nvPr/>
        </p:nvSpPr>
        <p:spPr>
          <a:xfrm>
            <a:off x="777239" y="1792224"/>
            <a:ext cx="2475890"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6D28D9"/>
                </a:solidFill>
                <a:latin typeface="Sakkal Majalla"/>
                <a:cs typeface="Sakkal Majalla"/>
                <a:ea typeface="Sakkal Majalla"/>
              </a:rPr>
              <a:t>تبرير الدراسة</a:t>
            </a:r>
          </a:p>
        </p:txBody>
      </p:sp>
      <p:sp>
        <p:nvSpPr>
          <p:cNvPr id="24" name="TextBox 23"/>
          <p:cNvSpPr txBox="1"/>
          <p:nvPr/>
        </p:nvSpPr>
        <p:spPr>
          <a:xfrm>
            <a:off x="777239" y="2157984"/>
            <a:ext cx="2475890" cy="292608"/>
          </a:xfrm>
          <a:prstGeom prst="rect">
            <a:avLst/>
          </a:prstGeom>
          <a:noFill/>
        </p:spPr>
        <p:txBody>
          <a:bodyPr wrap="square" anchor="t" lIns="0" rIns="0" tIns="0" bIns="0">
            <a:spAutoFit/>
          </a:bodyPr>
          <a:lstStyle/>
          <a:p>
            <a:pPr algn="r">
              <a:lnSpc>
                <a:spcPct val="105000"/>
              </a:lnSpc>
              <a:spcBef>
                <a:spcPts val="0"/>
              </a:spcBef>
              <a:spcAft>
                <a:spcPts val="400"/>
              </a:spcAft>
            </a:pPr>
            <a:r>
              <a:rPr sz="1000" b="0" i="1">
                <a:solidFill>
                  <a:srgbClr val="6E6A8F"/>
                </a:solidFill>
                <a:latin typeface="Sakkal Majalla"/>
                <a:cs typeface="Sakkal Majalla"/>
                <a:ea typeface="Sakkal Majalla"/>
              </a:rPr>
              <a:t>Justifying the Study</a:t>
            </a:r>
          </a:p>
        </p:txBody>
      </p:sp>
      <p:sp>
        <p:nvSpPr>
          <p:cNvPr id="25" name="TextBox 24"/>
          <p:cNvSpPr txBox="1"/>
          <p:nvPr/>
        </p:nvSpPr>
        <p:spPr>
          <a:xfrm>
            <a:off x="777239" y="2542032"/>
            <a:ext cx="3070250" cy="1143000"/>
          </a:xfrm>
          <a:prstGeom prst="rect">
            <a:avLst/>
          </a:prstGeom>
          <a:noFill/>
        </p:spPr>
        <p:txBody>
          <a:bodyPr wrap="square" anchor="t" lIns="0" rIns="0" tIns="0" bIns="0">
            <a:spAutoFit/>
          </a:bodyPr>
          <a:lstStyle/>
          <a:p>
            <a:pPr algn="r" rtl="1">
              <a:lnSpc>
                <a:spcPct val="122000"/>
              </a:lnSpc>
              <a:spcBef>
                <a:spcPts val="0"/>
              </a:spcBef>
              <a:spcAft>
                <a:spcPts val="400"/>
              </a:spcAft>
            </a:pPr>
            <a:r>
              <a:rPr sz="1250" b="0" i="0">
                <a:solidFill>
                  <a:srgbClr val="221C57"/>
                </a:solidFill>
                <a:latin typeface="Sakkal Majalla"/>
                <a:cs typeface="Sakkal Majalla"/>
                <a:ea typeface="Sakkal Majalla"/>
              </a:rPr>
              <a:t>حجّتك الأقوى لإقناع اللجنة العلمية بقيمة بحثك وجدوى إجرائه</a:t>
            </a:r>
          </a:p>
        </p:txBody>
      </p:sp>
      <p:sp>
        <p:nvSpPr>
          <p:cNvPr id="26" name="Rounded Rectangle 25"/>
          <p:cNvSpPr/>
          <p:nvPr/>
        </p:nvSpPr>
        <p:spPr>
          <a:xfrm>
            <a:off x="8115604" y="3986784"/>
            <a:ext cx="3527450" cy="2157984"/>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865815" y="4187952"/>
            <a:ext cx="566928" cy="566928"/>
          </a:xfrm>
          <a:prstGeom prst="roundRect">
            <a:avLst>
              <a:gd name="adj" fmla="val 30000"/>
            </a:avLst>
          </a:prstGeom>
          <a:ln>
            <a:noFill/>
          </a:ln>
          <a:effectLst/>
          <a:gradFill rotWithShape="1">
            <a:gsLst>
              <a:gs pos="0">
                <a:srgbClr val="0D9488"/>
              </a:gs>
              <a:gs pos="100000">
                <a:srgbClr val="2DD4BF"/>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28" name="TextBox 27"/>
          <p:cNvSpPr txBox="1"/>
          <p:nvPr/>
        </p:nvSpPr>
        <p:spPr>
          <a:xfrm>
            <a:off x="8344204" y="4151376"/>
            <a:ext cx="2475890"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0D9488"/>
                </a:solidFill>
                <a:latin typeface="Sakkal Majalla"/>
                <a:cs typeface="Sakkal Majalla"/>
                <a:ea typeface="Sakkal Majalla"/>
              </a:rPr>
              <a:t>ربط الدراسات السابقة</a:t>
            </a:r>
          </a:p>
        </p:txBody>
      </p:sp>
      <p:sp>
        <p:nvSpPr>
          <p:cNvPr id="29" name="TextBox 28"/>
          <p:cNvSpPr txBox="1"/>
          <p:nvPr/>
        </p:nvSpPr>
        <p:spPr>
          <a:xfrm>
            <a:off x="8344204" y="4517136"/>
            <a:ext cx="2475890" cy="292608"/>
          </a:xfrm>
          <a:prstGeom prst="rect">
            <a:avLst/>
          </a:prstGeom>
          <a:noFill/>
        </p:spPr>
        <p:txBody>
          <a:bodyPr wrap="square" anchor="t" lIns="0" rIns="0" tIns="0" bIns="0">
            <a:spAutoFit/>
          </a:bodyPr>
          <a:lstStyle/>
          <a:p>
            <a:pPr algn="r">
              <a:lnSpc>
                <a:spcPct val="105000"/>
              </a:lnSpc>
              <a:spcBef>
                <a:spcPts val="0"/>
              </a:spcBef>
              <a:spcAft>
                <a:spcPts val="400"/>
              </a:spcAft>
            </a:pPr>
            <a:r>
              <a:rPr sz="1000" b="0" i="1">
                <a:solidFill>
                  <a:srgbClr val="6E6A8F"/>
                </a:solidFill>
                <a:latin typeface="Sakkal Majalla"/>
                <a:cs typeface="Sakkal Majalla"/>
                <a:ea typeface="Sakkal Majalla"/>
              </a:rPr>
              <a:t>Linking the Literature</a:t>
            </a:r>
          </a:p>
        </p:txBody>
      </p:sp>
      <p:sp>
        <p:nvSpPr>
          <p:cNvPr id="30" name="TextBox 29"/>
          <p:cNvSpPr txBox="1"/>
          <p:nvPr/>
        </p:nvSpPr>
        <p:spPr>
          <a:xfrm>
            <a:off x="8344204" y="4901184"/>
            <a:ext cx="3070250" cy="1143000"/>
          </a:xfrm>
          <a:prstGeom prst="rect">
            <a:avLst/>
          </a:prstGeom>
          <a:noFill/>
        </p:spPr>
        <p:txBody>
          <a:bodyPr wrap="square" anchor="t" lIns="0" rIns="0" tIns="0" bIns="0">
            <a:spAutoFit/>
          </a:bodyPr>
          <a:lstStyle/>
          <a:p>
            <a:pPr algn="r" rtl="1">
              <a:lnSpc>
                <a:spcPct val="122000"/>
              </a:lnSpc>
              <a:spcBef>
                <a:spcPts val="0"/>
              </a:spcBef>
              <a:spcAft>
                <a:spcPts val="400"/>
              </a:spcAft>
            </a:pPr>
            <a:r>
              <a:rPr sz="1250" b="0" i="0">
                <a:solidFill>
                  <a:srgbClr val="221C57"/>
                </a:solidFill>
                <a:latin typeface="Sakkal Majalla"/>
                <a:cs typeface="Sakkal Majalla"/>
                <a:ea typeface="Sakkal Majalla"/>
              </a:rPr>
              <a:t>تصل بين ما قالته الأدبيات وبين الشيء الجديد الذي ستضيفه أنت</a:t>
            </a:r>
          </a:p>
        </p:txBody>
      </p:sp>
      <p:sp>
        <p:nvSpPr>
          <p:cNvPr id="31" name="Rounded Rectangle 30"/>
          <p:cNvSpPr/>
          <p:nvPr/>
        </p:nvSpPr>
        <p:spPr>
          <a:xfrm>
            <a:off x="4332122" y="3986784"/>
            <a:ext cx="3527450" cy="2157984"/>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082332" y="4187952"/>
            <a:ext cx="566928" cy="566928"/>
          </a:xfrm>
          <a:prstGeom prst="roundRect">
            <a:avLst>
              <a:gd name="adj" fmla="val 30000"/>
            </a:avLst>
          </a:prstGeom>
          <a:ln>
            <a:noFill/>
          </a:ln>
          <a:effectLst/>
          <a:gradFill rotWithShape="1">
            <a:gsLst>
              <a:gs pos="0">
                <a:srgbClr val="047857"/>
              </a:gs>
              <a:gs pos="100000">
                <a:srgbClr val="34D39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33" name="TextBox 32"/>
          <p:cNvSpPr txBox="1"/>
          <p:nvPr/>
        </p:nvSpPr>
        <p:spPr>
          <a:xfrm>
            <a:off x="4560722" y="4151376"/>
            <a:ext cx="2475890"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047857"/>
                </a:solidFill>
                <a:latin typeface="Sakkal Majalla"/>
                <a:cs typeface="Sakkal Majalla"/>
                <a:ea typeface="Sakkal Majalla"/>
              </a:rPr>
              <a:t>النشر في المجلات</a:t>
            </a:r>
          </a:p>
        </p:txBody>
      </p:sp>
      <p:sp>
        <p:nvSpPr>
          <p:cNvPr id="34" name="TextBox 33"/>
          <p:cNvSpPr txBox="1"/>
          <p:nvPr/>
        </p:nvSpPr>
        <p:spPr>
          <a:xfrm>
            <a:off x="4560722" y="4517136"/>
            <a:ext cx="2475890" cy="292608"/>
          </a:xfrm>
          <a:prstGeom prst="rect">
            <a:avLst/>
          </a:prstGeom>
          <a:noFill/>
        </p:spPr>
        <p:txBody>
          <a:bodyPr wrap="square" anchor="t" lIns="0" rIns="0" tIns="0" bIns="0">
            <a:spAutoFit/>
          </a:bodyPr>
          <a:lstStyle/>
          <a:p>
            <a:pPr algn="r">
              <a:lnSpc>
                <a:spcPct val="105000"/>
              </a:lnSpc>
              <a:spcBef>
                <a:spcPts val="0"/>
              </a:spcBef>
              <a:spcAft>
                <a:spcPts val="400"/>
              </a:spcAft>
            </a:pPr>
            <a:r>
              <a:rPr sz="1000" b="0" i="1">
                <a:solidFill>
                  <a:srgbClr val="6E6A8F"/>
                </a:solidFill>
                <a:latin typeface="Sakkal Majalla"/>
                <a:cs typeface="Sakkal Majalla"/>
                <a:ea typeface="Sakkal Majalla"/>
              </a:rPr>
              <a:t>Academic Publishing</a:t>
            </a:r>
          </a:p>
        </p:txBody>
      </p:sp>
      <p:sp>
        <p:nvSpPr>
          <p:cNvPr id="35" name="TextBox 34"/>
          <p:cNvSpPr txBox="1"/>
          <p:nvPr/>
        </p:nvSpPr>
        <p:spPr>
          <a:xfrm>
            <a:off x="4560722" y="4901184"/>
            <a:ext cx="3070250" cy="1143000"/>
          </a:xfrm>
          <a:prstGeom prst="rect">
            <a:avLst/>
          </a:prstGeom>
          <a:noFill/>
        </p:spPr>
        <p:txBody>
          <a:bodyPr wrap="square" anchor="t" lIns="0" rIns="0" tIns="0" bIns="0">
            <a:spAutoFit/>
          </a:bodyPr>
          <a:lstStyle/>
          <a:p>
            <a:pPr algn="r" rtl="1">
              <a:lnSpc>
                <a:spcPct val="122000"/>
              </a:lnSpc>
              <a:spcBef>
                <a:spcPts val="0"/>
              </a:spcBef>
              <a:spcAft>
                <a:spcPts val="400"/>
              </a:spcAft>
            </a:pPr>
            <a:r>
              <a:rPr sz="1250" b="0" i="0">
                <a:solidFill>
                  <a:srgbClr val="221C57"/>
                </a:solidFill>
                <a:latin typeface="Sakkal Majalla"/>
                <a:cs typeface="Sakkal Majalla"/>
                <a:ea typeface="Sakkal Majalla"/>
              </a:rPr>
              <a:t>المجلات العلمية المحكّمة تفضّل الأبحاث التي تعالج فجوات واضحة</a:t>
            </a:r>
          </a:p>
        </p:txBody>
      </p:sp>
      <p:sp>
        <p:nvSpPr>
          <p:cNvPr id="36" name="Rounded Rectangle 35"/>
          <p:cNvSpPr/>
          <p:nvPr/>
        </p:nvSpPr>
        <p:spPr>
          <a:xfrm>
            <a:off x="548639" y="3986784"/>
            <a:ext cx="3527450" cy="2157984"/>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298850" y="4187952"/>
            <a:ext cx="566928" cy="566928"/>
          </a:xfrm>
          <a:prstGeom prst="roundRect">
            <a:avLst>
              <a:gd name="adj" fmla="val 30000"/>
            </a:avLst>
          </a:prstGeom>
          <a:ln>
            <a:noFill/>
          </a:ln>
          <a:effectLst/>
          <a:gradFill rotWithShape="1">
            <a:gsLst>
              <a:gs pos="0">
                <a:srgbClr val="BE123C"/>
              </a:gs>
              <a:gs pos="100000">
                <a:srgbClr val="FB7185"/>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38" name="TextBox 37"/>
          <p:cNvSpPr txBox="1"/>
          <p:nvPr/>
        </p:nvSpPr>
        <p:spPr>
          <a:xfrm>
            <a:off x="777239" y="4151376"/>
            <a:ext cx="2475890"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BE123C"/>
                </a:solidFill>
                <a:latin typeface="Sakkal Majalla"/>
                <a:cs typeface="Sakkal Majalla"/>
                <a:ea typeface="Sakkal Majalla"/>
              </a:rPr>
              <a:t>التمويل البحثي</a:t>
            </a:r>
          </a:p>
        </p:txBody>
      </p:sp>
      <p:sp>
        <p:nvSpPr>
          <p:cNvPr id="39" name="TextBox 38"/>
          <p:cNvSpPr txBox="1"/>
          <p:nvPr/>
        </p:nvSpPr>
        <p:spPr>
          <a:xfrm>
            <a:off x="777239" y="4517136"/>
            <a:ext cx="2475890" cy="292608"/>
          </a:xfrm>
          <a:prstGeom prst="rect">
            <a:avLst/>
          </a:prstGeom>
          <a:noFill/>
        </p:spPr>
        <p:txBody>
          <a:bodyPr wrap="square" anchor="t" lIns="0" rIns="0" tIns="0" bIns="0">
            <a:spAutoFit/>
          </a:bodyPr>
          <a:lstStyle/>
          <a:p>
            <a:pPr algn="r">
              <a:lnSpc>
                <a:spcPct val="105000"/>
              </a:lnSpc>
              <a:spcBef>
                <a:spcPts val="0"/>
              </a:spcBef>
              <a:spcAft>
                <a:spcPts val="400"/>
              </a:spcAft>
            </a:pPr>
            <a:r>
              <a:rPr sz="1000" b="0" i="1">
                <a:solidFill>
                  <a:srgbClr val="6E6A8F"/>
                </a:solidFill>
                <a:latin typeface="Sakkal Majalla"/>
                <a:cs typeface="Sakkal Majalla"/>
                <a:ea typeface="Sakkal Majalla"/>
              </a:rPr>
              <a:t>Research Funding</a:t>
            </a:r>
          </a:p>
        </p:txBody>
      </p:sp>
      <p:sp>
        <p:nvSpPr>
          <p:cNvPr id="40" name="TextBox 39"/>
          <p:cNvSpPr txBox="1"/>
          <p:nvPr/>
        </p:nvSpPr>
        <p:spPr>
          <a:xfrm>
            <a:off x="777239" y="4901184"/>
            <a:ext cx="3070250" cy="1143000"/>
          </a:xfrm>
          <a:prstGeom prst="rect">
            <a:avLst/>
          </a:prstGeom>
          <a:noFill/>
        </p:spPr>
        <p:txBody>
          <a:bodyPr wrap="square" anchor="t" lIns="0" rIns="0" tIns="0" bIns="0">
            <a:spAutoFit/>
          </a:bodyPr>
          <a:lstStyle/>
          <a:p>
            <a:pPr algn="r" rtl="1">
              <a:lnSpc>
                <a:spcPct val="122000"/>
              </a:lnSpc>
              <a:spcBef>
                <a:spcPts val="0"/>
              </a:spcBef>
              <a:spcAft>
                <a:spcPts val="400"/>
              </a:spcAft>
            </a:pPr>
            <a:r>
              <a:rPr sz="1250" b="0" i="0">
                <a:solidFill>
                  <a:srgbClr val="221C57"/>
                </a:solidFill>
                <a:latin typeface="Sakkal Majalla"/>
                <a:cs typeface="Sakkal Majalla"/>
                <a:ea typeface="Sakkal Majalla"/>
              </a:rPr>
              <a:t>الجهات الممولة تبحث دائماً عن مشاكل حقيقية تحتاج إلى حلول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05</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0D9488"/>
                </a:solidFill>
                <a:latin typeface="Sakkal Majalla"/>
                <a:cs typeface="Sakkal Majalla"/>
                <a:ea typeface="Sakkal Majalla"/>
              </a:rPr>
              <a:t>TYPES OF RESEARCH GAPS — 1/2</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الأنواع الستة بالتفصيل (١–٣)</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0D9488"/>
              </a:gs>
              <a:gs pos="100000">
                <a:srgbClr val="2DD4BF"/>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05</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TextBox 10"/>
          <p:cNvSpPr txBox="1"/>
          <p:nvPr/>
        </p:nvSpPr>
        <p:spPr>
          <a:xfrm>
            <a:off x="548640" y="1481328"/>
            <a:ext cx="11094415" cy="320040"/>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6E6A8F"/>
                </a:solidFill>
                <a:latin typeface="Sakkal Majalla"/>
                <a:cs typeface="Sakkal Majalla"/>
                <a:ea typeface="Sakkal Majalla"/>
              </a:rPr>
              <a:t>لكل نوع استخدامه الخاص — اعرفها جيداً لتعرف أي باب تطرقه في بحثك:</a:t>
            </a:r>
          </a:p>
        </p:txBody>
      </p:sp>
      <p:sp>
        <p:nvSpPr>
          <p:cNvPr id="12" name="Rounded Rectangle 11"/>
          <p:cNvSpPr/>
          <p:nvPr/>
        </p:nvSpPr>
        <p:spPr>
          <a:xfrm>
            <a:off x="8127796" y="1874519"/>
            <a:ext cx="3515258" cy="4343400"/>
          </a:xfrm>
          <a:prstGeom prst="roundRect">
            <a:avLst>
              <a:gd name="adj" fmla="val 7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27796" y="1874519"/>
            <a:ext cx="3515258" cy="914400"/>
          </a:xfrm>
          <a:prstGeom prst="roundRect">
            <a:avLst>
              <a:gd name="adj" fmla="val 7000"/>
            </a:avLst>
          </a:prstGeom>
          <a:ln>
            <a:noFill/>
          </a:ln>
          <a:effectLst/>
          <a:gradFill rotWithShape="1">
            <a:gsLst>
              <a:gs pos="0">
                <a:srgbClr val="A21CAF"/>
              </a:gs>
              <a:gs pos="100000">
                <a:srgbClr val="E879F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893247" y="2066543"/>
            <a:ext cx="530352" cy="530352"/>
          </a:xfrm>
          <a:prstGeom prst="ellipse">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600" b="1" i="0">
                <a:solidFill>
                  <a:srgbClr val="FFFFFF"/>
                </a:solidFill>
                <a:latin typeface="Sakkal Majalla"/>
                <a:cs typeface="Sakkal Majalla"/>
                <a:ea typeface="Sakkal Majalla"/>
              </a:rPr>
              <a:t>١</a:t>
            </a:r>
          </a:p>
        </p:txBody>
      </p:sp>
      <p:sp>
        <p:nvSpPr>
          <p:cNvPr id="15" name="TextBox 14"/>
          <p:cNvSpPr txBox="1"/>
          <p:nvPr/>
        </p:nvSpPr>
        <p:spPr>
          <a:xfrm>
            <a:off x="8356396" y="1984248"/>
            <a:ext cx="2555138"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50" b="1" i="0">
                <a:solidFill>
                  <a:srgbClr val="FFFFFF"/>
                </a:solidFill>
                <a:latin typeface="Sakkal Majalla"/>
                <a:cs typeface="Sakkal Majalla"/>
                <a:ea typeface="Sakkal Majalla"/>
              </a:rPr>
              <a:t>فجوة المعرفة</a:t>
            </a:r>
          </a:p>
        </p:txBody>
      </p:sp>
      <p:sp>
        <p:nvSpPr>
          <p:cNvPr id="16" name="TextBox 15"/>
          <p:cNvSpPr txBox="1"/>
          <p:nvPr/>
        </p:nvSpPr>
        <p:spPr>
          <a:xfrm>
            <a:off x="8356396" y="2386584"/>
            <a:ext cx="2555138" cy="320040"/>
          </a:xfrm>
          <a:prstGeom prst="rect">
            <a:avLst/>
          </a:prstGeom>
          <a:noFill/>
        </p:spPr>
        <p:txBody>
          <a:bodyPr wrap="square" anchor="t" lIns="0" rIns="0" tIns="0" bIns="0">
            <a:spAutoFit/>
          </a:bodyPr>
          <a:lstStyle/>
          <a:p>
            <a:pPr algn="r">
              <a:lnSpc>
                <a:spcPct val="105000"/>
              </a:lnSpc>
              <a:spcBef>
                <a:spcPts val="0"/>
              </a:spcBef>
              <a:spcAft>
                <a:spcPts val="400"/>
              </a:spcAft>
            </a:pPr>
            <a:r>
              <a:rPr sz="1100" b="0" i="1">
                <a:solidFill>
                  <a:srgbClr val="FFFFFF"/>
                </a:solidFill>
                <a:latin typeface="Sakkal Majalla"/>
                <a:cs typeface="Sakkal Majalla"/>
                <a:ea typeface="Sakkal Majalla"/>
              </a:rPr>
              <a:t>💡  Knowledge Gap</a:t>
            </a:r>
          </a:p>
        </p:txBody>
      </p:sp>
      <p:sp>
        <p:nvSpPr>
          <p:cNvPr id="17" name="TextBox 16"/>
          <p:cNvSpPr txBox="1"/>
          <p:nvPr/>
        </p:nvSpPr>
        <p:spPr>
          <a:xfrm>
            <a:off x="8328964" y="2926079"/>
            <a:ext cx="3112922" cy="9144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A21CAF"/>
                </a:solidFill>
                <a:latin typeface="Sakkal Majalla"/>
                <a:cs typeface="Sakkal Majalla"/>
                <a:ea typeface="Sakkal Majalla"/>
              </a:rPr>
              <a:t>التعريف:  </a:t>
            </a:r>
            <a:r>
              <a:rPr sz="1200" b="0" i="0">
                <a:solidFill>
                  <a:srgbClr val="221C57"/>
                </a:solidFill>
                <a:latin typeface="Sakkal Majalla"/>
                <a:cs typeface="Sakkal Majalla"/>
                <a:ea typeface="Sakkal Majalla"/>
              </a:rPr>
              <a:t>معلومة أو ظاهرة لا يعرفها العلم حتى الآن في مجال معيّن.</a:t>
            </a:r>
          </a:p>
        </p:txBody>
      </p:sp>
      <p:sp>
        <p:nvSpPr>
          <p:cNvPr id="18" name="TextBox 17"/>
          <p:cNvSpPr txBox="1"/>
          <p:nvPr/>
        </p:nvSpPr>
        <p:spPr>
          <a:xfrm>
            <a:off x="8328964" y="3840479"/>
            <a:ext cx="3112922" cy="16002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A21CAF"/>
                </a:solidFill>
                <a:latin typeface="Sakkal Majalla"/>
                <a:cs typeface="Sakkal Majalla"/>
                <a:ea typeface="Sakkal Majalla"/>
              </a:rPr>
              <a:t>من شرح الورشة:  </a:t>
            </a:r>
            <a:r>
              <a:rPr sz="1200" b="0" i="0">
                <a:solidFill>
                  <a:srgbClr val="221C57"/>
                </a:solidFill>
                <a:latin typeface="Sakkal Majalla"/>
                <a:cs typeface="Sakkal Majalla"/>
                <a:ea typeface="Sakkal Majalla"/>
              </a:rPr>
              <a:t>تظهر عندما يكون الموضوع جديداً بالكامل — تقنية ناشئة أو ظاهرة مستجدة لم تلحق بها الأبحاث بعد، فيكون أي بحث جاد فيها إضافة صافية للمعرفة.</a:t>
            </a:r>
          </a:p>
        </p:txBody>
      </p:sp>
      <p:sp>
        <p:nvSpPr>
          <p:cNvPr id="19" name="Rounded Rectangle 18"/>
          <p:cNvSpPr/>
          <p:nvPr/>
        </p:nvSpPr>
        <p:spPr>
          <a:xfrm>
            <a:off x="8310676" y="5650992"/>
            <a:ext cx="3149498" cy="420624"/>
          </a:xfrm>
          <a:prstGeom prst="roundRect">
            <a:avLst>
              <a:gd name="adj" fmla="val 50000"/>
            </a:avLst>
          </a:prstGeom>
          <a:solidFill>
            <a:srgbClr val="F5E8F7"/>
          </a:solidFill>
          <a:ln w="12700">
            <a:solidFill>
              <a:srgbClr val="A21CA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50" b="1" i="0">
                <a:solidFill>
                  <a:srgbClr val="A21CAF"/>
                </a:solidFill>
                <a:latin typeface="Sakkal Majalla"/>
                <a:cs typeface="Sakkal Majalla"/>
                <a:ea typeface="Sakkal Majalla"/>
              </a:rPr>
              <a:t>السؤال المفتاحي: ماذا لا نعرف بعد؟</a:t>
            </a:r>
          </a:p>
        </p:txBody>
      </p:sp>
      <p:sp>
        <p:nvSpPr>
          <p:cNvPr id="20" name="Rounded Rectangle 19"/>
          <p:cNvSpPr/>
          <p:nvPr/>
        </p:nvSpPr>
        <p:spPr>
          <a:xfrm>
            <a:off x="4338218" y="1874519"/>
            <a:ext cx="3515258" cy="4343400"/>
          </a:xfrm>
          <a:prstGeom prst="roundRect">
            <a:avLst>
              <a:gd name="adj" fmla="val 7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38218" y="1874519"/>
            <a:ext cx="3515258" cy="914400"/>
          </a:xfrm>
          <a:prstGeom prst="roundRect">
            <a:avLst>
              <a:gd name="adj" fmla="val 7000"/>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03668" y="2066543"/>
            <a:ext cx="530352" cy="530352"/>
          </a:xfrm>
          <a:prstGeom prst="ellipse">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600" b="1" i="0">
                <a:solidFill>
                  <a:srgbClr val="FFFFFF"/>
                </a:solidFill>
                <a:latin typeface="Sakkal Majalla"/>
                <a:cs typeface="Sakkal Majalla"/>
                <a:ea typeface="Sakkal Majalla"/>
              </a:rPr>
              <a:t>٢</a:t>
            </a:r>
          </a:p>
        </p:txBody>
      </p:sp>
      <p:sp>
        <p:nvSpPr>
          <p:cNvPr id="23" name="TextBox 22"/>
          <p:cNvSpPr txBox="1"/>
          <p:nvPr/>
        </p:nvSpPr>
        <p:spPr>
          <a:xfrm>
            <a:off x="4566818" y="1984248"/>
            <a:ext cx="2555138"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50" b="1" i="0">
                <a:solidFill>
                  <a:srgbClr val="FFFFFF"/>
                </a:solidFill>
                <a:latin typeface="Sakkal Majalla"/>
                <a:cs typeface="Sakkal Majalla"/>
                <a:ea typeface="Sakkal Majalla"/>
              </a:rPr>
              <a:t>فجوة الممارسة</a:t>
            </a:r>
          </a:p>
        </p:txBody>
      </p:sp>
      <p:sp>
        <p:nvSpPr>
          <p:cNvPr id="24" name="TextBox 23"/>
          <p:cNvSpPr txBox="1"/>
          <p:nvPr/>
        </p:nvSpPr>
        <p:spPr>
          <a:xfrm>
            <a:off x="4566818" y="2386584"/>
            <a:ext cx="2555138" cy="320040"/>
          </a:xfrm>
          <a:prstGeom prst="rect">
            <a:avLst/>
          </a:prstGeom>
          <a:noFill/>
        </p:spPr>
        <p:txBody>
          <a:bodyPr wrap="square" anchor="t" lIns="0" rIns="0" tIns="0" bIns="0">
            <a:spAutoFit/>
          </a:bodyPr>
          <a:lstStyle/>
          <a:p>
            <a:pPr algn="r">
              <a:lnSpc>
                <a:spcPct val="105000"/>
              </a:lnSpc>
              <a:spcBef>
                <a:spcPts val="0"/>
              </a:spcBef>
              <a:spcAft>
                <a:spcPts val="400"/>
              </a:spcAft>
            </a:pPr>
            <a:r>
              <a:rPr sz="1100" b="0" i="1">
                <a:solidFill>
                  <a:srgbClr val="FFFFFF"/>
                </a:solidFill>
                <a:latin typeface="Sakkal Majalla"/>
                <a:cs typeface="Sakkal Majalla"/>
                <a:ea typeface="Sakkal Majalla"/>
              </a:rPr>
              <a:t>⚙️  Practice Gap</a:t>
            </a:r>
          </a:p>
        </p:txBody>
      </p:sp>
      <p:sp>
        <p:nvSpPr>
          <p:cNvPr id="25" name="TextBox 24"/>
          <p:cNvSpPr txBox="1"/>
          <p:nvPr/>
        </p:nvSpPr>
        <p:spPr>
          <a:xfrm>
            <a:off x="4539386" y="2926079"/>
            <a:ext cx="3112922" cy="9144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D97706"/>
                </a:solidFill>
                <a:latin typeface="Sakkal Majalla"/>
                <a:cs typeface="Sakkal Majalla"/>
                <a:ea typeface="Sakkal Majalla"/>
              </a:rPr>
              <a:t>التعريف:  </a:t>
            </a:r>
            <a:r>
              <a:rPr sz="1200" b="0" i="0">
                <a:solidFill>
                  <a:srgbClr val="221C57"/>
                </a:solidFill>
                <a:latin typeface="Sakkal Majalla"/>
                <a:cs typeface="Sakkal Majalla"/>
                <a:ea typeface="Sakkal Majalla"/>
              </a:rPr>
              <a:t>الفرق بين ما تقوله النظرية وما يحدث فعلاً في التطبيق الواقعي.</a:t>
            </a:r>
          </a:p>
        </p:txBody>
      </p:sp>
      <p:sp>
        <p:nvSpPr>
          <p:cNvPr id="26" name="TextBox 25"/>
          <p:cNvSpPr txBox="1"/>
          <p:nvPr/>
        </p:nvSpPr>
        <p:spPr>
          <a:xfrm>
            <a:off x="4539386" y="3840479"/>
            <a:ext cx="3112922" cy="16002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D97706"/>
                </a:solidFill>
                <a:latin typeface="Sakkal Majalla"/>
                <a:cs typeface="Sakkal Majalla"/>
                <a:ea typeface="Sakkal Majalla"/>
              </a:rPr>
              <a:t>من شرح الورشة:  </a:t>
            </a:r>
            <a:r>
              <a:rPr sz="1200" b="0" i="0">
                <a:solidFill>
                  <a:srgbClr val="221C57"/>
                </a:solidFill>
                <a:latin typeface="Sakkal Majalla"/>
                <a:cs typeface="Sakkal Majalla"/>
                <a:ea typeface="Sakkal Majalla"/>
              </a:rPr>
              <a:t>المعرفة موجودة والإرشادات منشورة، لكن الميدان يعمل بطريقة مختلفة. بحثك هنا يجيب: لماذا لا يُطبَّق ما نعرفه؟ وكيف نغلق الفرق بين الاثنين؟</a:t>
            </a:r>
          </a:p>
        </p:txBody>
      </p:sp>
      <p:sp>
        <p:nvSpPr>
          <p:cNvPr id="27" name="Rounded Rectangle 26"/>
          <p:cNvSpPr/>
          <p:nvPr/>
        </p:nvSpPr>
        <p:spPr>
          <a:xfrm>
            <a:off x="4521098" y="5650992"/>
            <a:ext cx="3149498" cy="420624"/>
          </a:xfrm>
          <a:prstGeom prst="roundRect">
            <a:avLst>
              <a:gd name="adj" fmla="val 50000"/>
            </a:avLst>
          </a:prstGeom>
          <a:solidFill>
            <a:srgbClr val="FBF1E6"/>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50" b="1" i="0">
                <a:solidFill>
                  <a:srgbClr val="D97706"/>
                </a:solidFill>
                <a:latin typeface="Sakkal Majalla"/>
                <a:cs typeface="Sakkal Majalla"/>
                <a:ea typeface="Sakkal Majalla"/>
              </a:rPr>
              <a:t>السؤال المفتاحي: لماذا لا يُطبَّق ما نعرفه؟</a:t>
            </a:r>
          </a:p>
        </p:txBody>
      </p:sp>
      <p:sp>
        <p:nvSpPr>
          <p:cNvPr id="28" name="Rounded Rectangle 27"/>
          <p:cNvSpPr/>
          <p:nvPr/>
        </p:nvSpPr>
        <p:spPr>
          <a:xfrm>
            <a:off x="548639" y="1874519"/>
            <a:ext cx="3515258" cy="4343400"/>
          </a:xfrm>
          <a:prstGeom prst="roundRect">
            <a:avLst>
              <a:gd name="adj" fmla="val 7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39" y="1874519"/>
            <a:ext cx="3515258" cy="914400"/>
          </a:xfrm>
          <a:prstGeom prst="roundRect">
            <a:avLst>
              <a:gd name="adj" fmla="val 7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14090" y="2066543"/>
            <a:ext cx="530352" cy="530352"/>
          </a:xfrm>
          <a:prstGeom prst="ellipse">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600" b="1" i="0">
                <a:solidFill>
                  <a:srgbClr val="FFFFFF"/>
                </a:solidFill>
                <a:latin typeface="Sakkal Majalla"/>
                <a:cs typeface="Sakkal Majalla"/>
                <a:ea typeface="Sakkal Majalla"/>
              </a:rPr>
              <a:t>٣</a:t>
            </a:r>
          </a:p>
        </p:txBody>
      </p:sp>
      <p:sp>
        <p:nvSpPr>
          <p:cNvPr id="31" name="TextBox 30"/>
          <p:cNvSpPr txBox="1"/>
          <p:nvPr/>
        </p:nvSpPr>
        <p:spPr>
          <a:xfrm>
            <a:off x="777239" y="1984248"/>
            <a:ext cx="2555138"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50" b="1" i="0">
                <a:solidFill>
                  <a:srgbClr val="FFFFFF"/>
                </a:solidFill>
                <a:latin typeface="Sakkal Majalla"/>
                <a:cs typeface="Sakkal Majalla"/>
                <a:ea typeface="Sakkal Majalla"/>
              </a:rPr>
              <a:t>فجوة الأدلة</a:t>
            </a:r>
          </a:p>
        </p:txBody>
      </p:sp>
      <p:sp>
        <p:nvSpPr>
          <p:cNvPr id="32" name="TextBox 31"/>
          <p:cNvSpPr txBox="1"/>
          <p:nvPr/>
        </p:nvSpPr>
        <p:spPr>
          <a:xfrm>
            <a:off x="777239" y="2386584"/>
            <a:ext cx="2555138" cy="320040"/>
          </a:xfrm>
          <a:prstGeom prst="rect">
            <a:avLst/>
          </a:prstGeom>
          <a:noFill/>
        </p:spPr>
        <p:txBody>
          <a:bodyPr wrap="square" anchor="t" lIns="0" rIns="0" tIns="0" bIns="0">
            <a:spAutoFit/>
          </a:bodyPr>
          <a:lstStyle/>
          <a:p>
            <a:pPr algn="r">
              <a:lnSpc>
                <a:spcPct val="105000"/>
              </a:lnSpc>
              <a:spcBef>
                <a:spcPts val="0"/>
              </a:spcBef>
              <a:spcAft>
                <a:spcPts val="400"/>
              </a:spcAft>
            </a:pPr>
            <a:r>
              <a:rPr sz="1100" b="0" i="1">
                <a:solidFill>
                  <a:srgbClr val="FFFFFF"/>
                </a:solidFill>
                <a:latin typeface="Sakkal Majalla"/>
                <a:cs typeface="Sakkal Majalla"/>
                <a:ea typeface="Sakkal Majalla"/>
              </a:rPr>
              <a:t>🧪  Evidence Gap</a:t>
            </a:r>
          </a:p>
        </p:txBody>
      </p:sp>
      <p:sp>
        <p:nvSpPr>
          <p:cNvPr id="33" name="TextBox 32"/>
          <p:cNvSpPr txBox="1"/>
          <p:nvPr/>
        </p:nvSpPr>
        <p:spPr>
          <a:xfrm>
            <a:off x="749807" y="2926079"/>
            <a:ext cx="3112922" cy="9144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0D9488"/>
                </a:solidFill>
                <a:latin typeface="Sakkal Majalla"/>
                <a:cs typeface="Sakkal Majalla"/>
                <a:ea typeface="Sakkal Majalla"/>
              </a:rPr>
              <a:t>التعريف:  </a:t>
            </a:r>
            <a:r>
              <a:rPr sz="1200" b="0" i="0">
                <a:solidFill>
                  <a:srgbClr val="221C57"/>
                </a:solidFill>
                <a:latin typeface="Sakkal Majalla"/>
                <a:cs typeface="Sakkal Majalla"/>
                <a:ea typeface="Sakkal Majalla"/>
              </a:rPr>
              <a:t>الأدلة العلمية المتوفرة غير كافية لدعم فرضية أو توصية معيّنة.</a:t>
            </a:r>
          </a:p>
        </p:txBody>
      </p:sp>
      <p:sp>
        <p:nvSpPr>
          <p:cNvPr id="34" name="TextBox 33"/>
          <p:cNvSpPr txBox="1"/>
          <p:nvPr/>
        </p:nvSpPr>
        <p:spPr>
          <a:xfrm>
            <a:off x="749807" y="3840479"/>
            <a:ext cx="3112922" cy="16002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0D9488"/>
                </a:solidFill>
                <a:latin typeface="Sakkal Majalla"/>
                <a:cs typeface="Sakkal Majalla"/>
                <a:ea typeface="Sakkal Majalla"/>
              </a:rPr>
              <a:t>من شرح الورشة:  </a:t>
            </a:r>
            <a:r>
              <a:rPr sz="1200" b="0" i="0">
                <a:solidFill>
                  <a:srgbClr val="221C57"/>
                </a:solidFill>
                <a:latin typeface="Sakkal Majalla"/>
                <a:cs typeface="Sakkal Majalla"/>
                <a:ea typeface="Sakkal Majalla"/>
              </a:rPr>
              <a:t>توصيات شائعة ومقبولة على نطاق واسع، لكن دون تجارب مضبوطة تثبتها. البحث هنا يبني الدليل الغائب ويحوّل الرأي الشائع إلى علم موثق.</a:t>
            </a:r>
          </a:p>
        </p:txBody>
      </p:sp>
      <p:sp>
        <p:nvSpPr>
          <p:cNvPr id="35" name="Rounded Rectangle 34"/>
          <p:cNvSpPr/>
          <p:nvPr/>
        </p:nvSpPr>
        <p:spPr>
          <a:xfrm>
            <a:off x="731519" y="5650992"/>
            <a:ext cx="3149498" cy="420624"/>
          </a:xfrm>
          <a:prstGeom prst="roundRect">
            <a:avLst>
              <a:gd name="adj" fmla="val 50000"/>
            </a:avLst>
          </a:prstGeom>
          <a:solidFill>
            <a:srgbClr val="E6F4F3"/>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50" b="1" i="0">
                <a:solidFill>
                  <a:srgbClr val="0D9488"/>
                </a:solidFill>
                <a:latin typeface="Sakkal Majalla"/>
                <a:cs typeface="Sakkal Majalla"/>
                <a:ea typeface="Sakkal Majalla"/>
              </a:rPr>
              <a:t>السؤال المفتاحي: أين الدليل العلمي؟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06</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0D9488"/>
                </a:solidFill>
                <a:latin typeface="Sakkal Majalla"/>
                <a:cs typeface="Sakkal Majalla"/>
                <a:ea typeface="Sakkal Majalla"/>
              </a:rPr>
              <a:t>TYPES OF RESEARCH GAPS — 2/2</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الأنواع الستة بالتفصيل (٤–٦)</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0D9488"/>
              </a:gs>
              <a:gs pos="100000">
                <a:srgbClr val="2DD4BF"/>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06</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TextBox 10"/>
          <p:cNvSpPr txBox="1"/>
          <p:nvPr/>
        </p:nvSpPr>
        <p:spPr>
          <a:xfrm>
            <a:off x="548640" y="1481328"/>
            <a:ext cx="11094415" cy="320040"/>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6E6A8F"/>
                </a:solidFill>
                <a:latin typeface="Sakkal Majalla"/>
                <a:cs typeface="Sakkal Majalla"/>
                <a:ea typeface="Sakkal Majalla"/>
              </a:rPr>
              <a:t>ثلاثة أنواع أخرى شائعة جداً — وغالباً أسهل تناولاً للباحث المبتدئ:</a:t>
            </a:r>
          </a:p>
        </p:txBody>
      </p:sp>
      <p:sp>
        <p:nvSpPr>
          <p:cNvPr id="12" name="Rounded Rectangle 11"/>
          <p:cNvSpPr/>
          <p:nvPr/>
        </p:nvSpPr>
        <p:spPr>
          <a:xfrm>
            <a:off x="8127796" y="1874519"/>
            <a:ext cx="3515258" cy="4343400"/>
          </a:xfrm>
          <a:prstGeom prst="roundRect">
            <a:avLst>
              <a:gd name="adj" fmla="val 7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27796" y="1874519"/>
            <a:ext cx="3515258" cy="914400"/>
          </a:xfrm>
          <a:prstGeom prst="roundRect">
            <a:avLst>
              <a:gd name="adj" fmla="val 7000"/>
            </a:avLst>
          </a:prstGeom>
          <a:ln>
            <a:noFill/>
          </a:ln>
          <a:effectLst/>
          <a:gradFill rotWithShape="1">
            <a:gsLst>
              <a:gs pos="0">
                <a:srgbClr val="6D28D9"/>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893247" y="2066543"/>
            <a:ext cx="530352" cy="530352"/>
          </a:xfrm>
          <a:prstGeom prst="ellipse">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600" b="1" i="0">
                <a:solidFill>
                  <a:srgbClr val="FFFFFF"/>
                </a:solidFill>
                <a:latin typeface="Sakkal Majalla"/>
                <a:cs typeface="Sakkal Majalla"/>
                <a:ea typeface="Sakkal Majalla"/>
              </a:rPr>
              <a:t>٤</a:t>
            </a:r>
          </a:p>
        </p:txBody>
      </p:sp>
      <p:sp>
        <p:nvSpPr>
          <p:cNvPr id="15" name="TextBox 14"/>
          <p:cNvSpPr txBox="1"/>
          <p:nvPr/>
        </p:nvSpPr>
        <p:spPr>
          <a:xfrm>
            <a:off x="8356396" y="1984248"/>
            <a:ext cx="2555138"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50" b="1" i="0">
                <a:solidFill>
                  <a:srgbClr val="FFFFFF"/>
                </a:solidFill>
                <a:latin typeface="Sakkal Majalla"/>
                <a:cs typeface="Sakkal Majalla"/>
                <a:ea typeface="Sakkal Majalla"/>
              </a:rPr>
              <a:t>فجوة السكان</a:t>
            </a:r>
          </a:p>
        </p:txBody>
      </p:sp>
      <p:sp>
        <p:nvSpPr>
          <p:cNvPr id="16" name="TextBox 15"/>
          <p:cNvSpPr txBox="1"/>
          <p:nvPr/>
        </p:nvSpPr>
        <p:spPr>
          <a:xfrm>
            <a:off x="8356396" y="2386584"/>
            <a:ext cx="2555138" cy="320040"/>
          </a:xfrm>
          <a:prstGeom prst="rect">
            <a:avLst/>
          </a:prstGeom>
          <a:noFill/>
        </p:spPr>
        <p:txBody>
          <a:bodyPr wrap="square" anchor="t" lIns="0" rIns="0" tIns="0" bIns="0">
            <a:spAutoFit/>
          </a:bodyPr>
          <a:lstStyle/>
          <a:p>
            <a:pPr algn="r">
              <a:lnSpc>
                <a:spcPct val="105000"/>
              </a:lnSpc>
              <a:spcBef>
                <a:spcPts val="0"/>
              </a:spcBef>
              <a:spcAft>
                <a:spcPts val="400"/>
              </a:spcAft>
            </a:pPr>
            <a:r>
              <a:rPr sz="1100" b="0" i="1">
                <a:solidFill>
                  <a:srgbClr val="FFFFFF"/>
                </a:solidFill>
                <a:latin typeface="Sakkal Majalla"/>
                <a:cs typeface="Sakkal Majalla"/>
                <a:ea typeface="Sakkal Majalla"/>
              </a:rPr>
              <a:t>👥  Population Gap</a:t>
            </a:r>
          </a:p>
        </p:txBody>
      </p:sp>
      <p:sp>
        <p:nvSpPr>
          <p:cNvPr id="17" name="TextBox 16"/>
          <p:cNvSpPr txBox="1"/>
          <p:nvPr/>
        </p:nvSpPr>
        <p:spPr>
          <a:xfrm>
            <a:off x="8328964" y="2926079"/>
            <a:ext cx="3112922" cy="9144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6D28D9"/>
                </a:solidFill>
                <a:latin typeface="Sakkal Majalla"/>
                <a:cs typeface="Sakkal Majalla"/>
                <a:ea typeface="Sakkal Majalla"/>
              </a:rPr>
              <a:t>التعريف:  </a:t>
            </a:r>
            <a:r>
              <a:rPr sz="1200" b="0" i="0">
                <a:solidFill>
                  <a:srgbClr val="221C57"/>
                </a:solidFill>
                <a:latin typeface="Sakkal Majalla"/>
                <a:cs typeface="Sakkal Majalla"/>
                <a:ea typeface="Sakkal Majalla"/>
              </a:rPr>
              <a:t>فئة معيّنة لم تتم دراستها بشكل كافٍ: جنس، عمر، ثقافة، أو مهنة.</a:t>
            </a:r>
          </a:p>
        </p:txBody>
      </p:sp>
      <p:sp>
        <p:nvSpPr>
          <p:cNvPr id="18" name="TextBox 17"/>
          <p:cNvSpPr txBox="1"/>
          <p:nvPr/>
        </p:nvSpPr>
        <p:spPr>
          <a:xfrm>
            <a:off x="8328964" y="3840479"/>
            <a:ext cx="3112922" cy="16002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6D28D9"/>
                </a:solidFill>
                <a:latin typeface="Sakkal Majalla"/>
                <a:cs typeface="Sakkal Majalla"/>
                <a:ea typeface="Sakkal Majalla"/>
              </a:rPr>
              <a:t>من شرح الورشة:  </a:t>
            </a:r>
            <a:r>
              <a:rPr sz="1200" b="0" i="0">
                <a:solidFill>
                  <a:srgbClr val="221C57"/>
                </a:solidFill>
                <a:latin typeface="Sakkal Majalla"/>
                <a:cs typeface="Sakkal Majalla"/>
                <a:ea typeface="Sakkal Majalla"/>
              </a:rPr>
              <a:t>النتائج المبنية على عينات لا تشبه مجتمعك لا يمكن تعميمها عليه ببساطة. دراسة الفئة المهملة في سياقك تسدّ فجوة حقيقية وتخدم مجتمعك مباشرة.</a:t>
            </a:r>
          </a:p>
        </p:txBody>
      </p:sp>
      <p:sp>
        <p:nvSpPr>
          <p:cNvPr id="19" name="Rounded Rectangle 18"/>
          <p:cNvSpPr/>
          <p:nvPr/>
        </p:nvSpPr>
        <p:spPr>
          <a:xfrm>
            <a:off x="8310676" y="5650992"/>
            <a:ext cx="3149498" cy="420624"/>
          </a:xfrm>
          <a:prstGeom prst="roundRect">
            <a:avLst>
              <a:gd name="adj" fmla="val 50000"/>
            </a:avLst>
          </a:prstGeom>
          <a:solidFill>
            <a:srgbClr val="F0E9FB"/>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50" b="1" i="0">
                <a:solidFill>
                  <a:srgbClr val="6D28D9"/>
                </a:solidFill>
                <a:latin typeface="Sakkal Majalla"/>
                <a:cs typeface="Sakkal Majalla"/>
                <a:ea typeface="Sakkal Majalla"/>
              </a:rPr>
              <a:t>السؤال المفتاحي: مَن الذي أُهمل من الدراسة؟</a:t>
            </a:r>
          </a:p>
        </p:txBody>
      </p:sp>
      <p:sp>
        <p:nvSpPr>
          <p:cNvPr id="20" name="Rounded Rectangle 19"/>
          <p:cNvSpPr/>
          <p:nvPr/>
        </p:nvSpPr>
        <p:spPr>
          <a:xfrm>
            <a:off x="4338218" y="1874519"/>
            <a:ext cx="3515258" cy="4343400"/>
          </a:xfrm>
          <a:prstGeom prst="roundRect">
            <a:avLst>
              <a:gd name="adj" fmla="val 7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38218" y="1874519"/>
            <a:ext cx="3515258" cy="914400"/>
          </a:xfrm>
          <a:prstGeom prst="roundRect">
            <a:avLst>
              <a:gd name="adj" fmla="val 7000"/>
            </a:avLst>
          </a:prstGeom>
          <a:ln>
            <a:noFill/>
          </a:ln>
          <a:effectLst/>
          <a:gradFill rotWithShape="1">
            <a:gsLst>
              <a:gs pos="0">
                <a:srgbClr val="BE123C"/>
              </a:gs>
              <a:gs pos="100000">
                <a:srgbClr val="FB718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03668" y="2066543"/>
            <a:ext cx="530352" cy="530352"/>
          </a:xfrm>
          <a:prstGeom prst="ellipse">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600" b="1" i="0">
                <a:solidFill>
                  <a:srgbClr val="FFFFFF"/>
                </a:solidFill>
                <a:latin typeface="Sakkal Majalla"/>
                <a:cs typeface="Sakkal Majalla"/>
                <a:ea typeface="Sakkal Majalla"/>
              </a:rPr>
              <a:t>٥</a:t>
            </a:r>
          </a:p>
        </p:txBody>
      </p:sp>
      <p:sp>
        <p:nvSpPr>
          <p:cNvPr id="23" name="TextBox 22"/>
          <p:cNvSpPr txBox="1"/>
          <p:nvPr/>
        </p:nvSpPr>
        <p:spPr>
          <a:xfrm>
            <a:off x="4566818" y="1984248"/>
            <a:ext cx="2555138"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50" b="1" i="0">
                <a:solidFill>
                  <a:srgbClr val="FFFFFF"/>
                </a:solidFill>
                <a:latin typeface="Sakkal Majalla"/>
                <a:cs typeface="Sakkal Majalla"/>
                <a:ea typeface="Sakkal Majalla"/>
              </a:rPr>
              <a:t>فجوة المنهجية</a:t>
            </a:r>
          </a:p>
        </p:txBody>
      </p:sp>
      <p:sp>
        <p:nvSpPr>
          <p:cNvPr id="24" name="TextBox 23"/>
          <p:cNvSpPr txBox="1"/>
          <p:nvPr/>
        </p:nvSpPr>
        <p:spPr>
          <a:xfrm>
            <a:off x="4566818" y="2386584"/>
            <a:ext cx="2555138" cy="320040"/>
          </a:xfrm>
          <a:prstGeom prst="rect">
            <a:avLst/>
          </a:prstGeom>
          <a:noFill/>
        </p:spPr>
        <p:txBody>
          <a:bodyPr wrap="square" anchor="t" lIns="0" rIns="0" tIns="0" bIns="0">
            <a:spAutoFit/>
          </a:bodyPr>
          <a:lstStyle/>
          <a:p>
            <a:pPr algn="r">
              <a:lnSpc>
                <a:spcPct val="105000"/>
              </a:lnSpc>
              <a:spcBef>
                <a:spcPts val="0"/>
              </a:spcBef>
              <a:spcAft>
                <a:spcPts val="400"/>
              </a:spcAft>
            </a:pPr>
            <a:r>
              <a:rPr sz="1100" b="0" i="1">
                <a:solidFill>
                  <a:srgbClr val="FFFFFF"/>
                </a:solidFill>
                <a:latin typeface="Sakkal Majalla"/>
                <a:cs typeface="Sakkal Majalla"/>
                <a:ea typeface="Sakkal Majalla"/>
              </a:rPr>
              <a:t>🧩  Methodological Gap</a:t>
            </a:r>
          </a:p>
        </p:txBody>
      </p:sp>
      <p:sp>
        <p:nvSpPr>
          <p:cNvPr id="25" name="TextBox 24"/>
          <p:cNvSpPr txBox="1"/>
          <p:nvPr/>
        </p:nvSpPr>
        <p:spPr>
          <a:xfrm>
            <a:off x="4539386" y="2926079"/>
            <a:ext cx="3112922" cy="9144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BE123C"/>
                </a:solidFill>
                <a:latin typeface="Sakkal Majalla"/>
                <a:cs typeface="Sakkal Majalla"/>
                <a:ea typeface="Sakkal Majalla"/>
              </a:rPr>
              <a:t>التعريف:  </a:t>
            </a:r>
            <a:r>
              <a:rPr sz="1200" b="0" i="0">
                <a:solidFill>
                  <a:srgbClr val="221C57"/>
                </a:solidFill>
                <a:latin typeface="Sakkal Majalla"/>
                <a:cs typeface="Sakkal Majalla"/>
                <a:ea typeface="Sakkal Majalla"/>
              </a:rPr>
              <a:t>الباحثون استخدموا منهجاً واحداً فقط لدراسة الظاهرة.</a:t>
            </a:r>
          </a:p>
        </p:txBody>
      </p:sp>
      <p:sp>
        <p:nvSpPr>
          <p:cNvPr id="26" name="TextBox 25"/>
          <p:cNvSpPr txBox="1"/>
          <p:nvPr/>
        </p:nvSpPr>
        <p:spPr>
          <a:xfrm>
            <a:off x="4539386" y="3840479"/>
            <a:ext cx="3112922" cy="16002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BE123C"/>
                </a:solidFill>
                <a:latin typeface="Sakkal Majalla"/>
                <a:cs typeface="Sakkal Majalla"/>
                <a:ea typeface="Sakkal Majalla"/>
              </a:rPr>
              <a:t>من شرح الورشة:  </a:t>
            </a:r>
            <a:r>
              <a:rPr sz="1200" b="0" i="0">
                <a:solidFill>
                  <a:srgbClr val="221C57"/>
                </a:solidFill>
                <a:latin typeface="Sakkal Majalla"/>
                <a:cs typeface="Sakkal Majalla"/>
                <a:ea typeface="Sakkal Majalla"/>
              </a:rPr>
              <a:t>تغيير المنهج — من كمي إلى نوعي أو مختلط — قد يكشف نتائج جديدة كلياً عن الظاهرة نفسها، ويضيف عمقاً لم تصل إليه الدراسات السابقة.</a:t>
            </a:r>
          </a:p>
        </p:txBody>
      </p:sp>
      <p:sp>
        <p:nvSpPr>
          <p:cNvPr id="27" name="Rounded Rectangle 26"/>
          <p:cNvSpPr/>
          <p:nvPr/>
        </p:nvSpPr>
        <p:spPr>
          <a:xfrm>
            <a:off x="4521098" y="5650992"/>
            <a:ext cx="3149498" cy="420624"/>
          </a:xfrm>
          <a:prstGeom prst="roundRect">
            <a:avLst>
              <a:gd name="adj" fmla="val 50000"/>
            </a:avLst>
          </a:prstGeom>
          <a:solidFill>
            <a:srgbClr val="F8E7EB"/>
          </a:solidFill>
          <a:ln w="12700">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50" b="1" i="0">
                <a:solidFill>
                  <a:srgbClr val="BE123C"/>
                </a:solidFill>
                <a:latin typeface="Sakkal Majalla"/>
                <a:cs typeface="Sakkal Majalla"/>
                <a:ea typeface="Sakkal Majalla"/>
              </a:rPr>
              <a:t>السؤال المفتاحي: ماذا لو بحثنا بطريقة أخرى؟</a:t>
            </a:r>
          </a:p>
        </p:txBody>
      </p:sp>
      <p:sp>
        <p:nvSpPr>
          <p:cNvPr id="28" name="Rounded Rectangle 27"/>
          <p:cNvSpPr/>
          <p:nvPr/>
        </p:nvSpPr>
        <p:spPr>
          <a:xfrm>
            <a:off x="548639" y="1874519"/>
            <a:ext cx="3515258" cy="4343400"/>
          </a:xfrm>
          <a:prstGeom prst="roundRect">
            <a:avLst>
              <a:gd name="adj" fmla="val 7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39" y="1874519"/>
            <a:ext cx="3515258" cy="914400"/>
          </a:xfrm>
          <a:prstGeom prst="roundRect">
            <a:avLst>
              <a:gd name="adj" fmla="val 7000"/>
            </a:avLst>
          </a:prstGeom>
          <a:ln>
            <a:noFill/>
          </a:ln>
          <a:effectLst/>
          <a:gradFill rotWithShape="1">
            <a:gsLst>
              <a:gs pos="0">
                <a:srgbClr val="047857"/>
              </a:gs>
              <a:gs pos="100000">
                <a:srgbClr val="34D39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14090" y="2066543"/>
            <a:ext cx="530352" cy="530352"/>
          </a:xfrm>
          <a:prstGeom prst="ellipse">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600" b="1" i="0">
                <a:solidFill>
                  <a:srgbClr val="FFFFFF"/>
                </a:solidFill>
                <a:latin typeface="Sakkal Majalla"/>
                <a:cs typeface="Sakkal Majalla"/>
                <a:ea typeface="Sakkal Majalla"/>
              </a:rPr>
              <a:t>٦</a:t>
            </a:r>
          </a:p>
        </p:txBody>
      </p:sp>
      <p:sp>
        <p:nvSpPr>
          <p:cNvPr id="31" name="TextBox 30"/>
          <p:cNvSpPr txBox="1"/>
          <p:nvPr/>
        </p:nvSpPr>
        <p:spPr>
          <a:xfrm>
            <a:off x="777239" y="1984248"/>
            <a:ext cx="2555138"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50" b="1" i="0">
                <a:solidFill>
                  <a:srgbClr val="FFFFFF"/>
                </a:solidFill>
                <a:latin typeface="Sakkal Majalla"/>
                <a:cs typeface="Sakkal Majalla"/>
                <a:ea typeface="Sakkal Majalla"/>
              </a:rPr>
              <a:t>فجوة الزمن</a:t>
            </a:r>
          </a:p>
        </p:txBody>
      </p:sp>
      <p:sp>
        <p:nvSpPr>
          <p:cNvPr id="32" name="TextBox 31"/>
          <p:cNvSpPr txBox="1"/>
          <p:nvPr/>
        </p:nvSpPr>
        <p:spPr>
          <a:xfrm>
            <a:off x="777239" y="2386584"/>
            <a:ext cx="2555138" cy="320040"/>
          </a:xfrm>
          <a:prstGeom prst="rect">
            <a:avLst/>
          </a:prstGeom>
          <a:noFill/>
        </p:spPr>
        <p:txBody>
          <a:bodyPr wrap="square" anchor="t" lIns="0" rIns="0" tIns="0" bIns="0">
            <a:spAutoFit/>
          </a:bodyPr>
          <a:lstStyle/>
          <a:p>
            <a:pPr algn="r">
              <a:lnSpc>
                <a:spcPct val="105000"/>
              </a:lnSpc>
              <a:spcBef>
                <a:spcPts val="0"/>
              </a:spcBef>
              <a:spcAft>
                <a:spcPts val="400"/>
              </a:spcAft>
            </a:pPr>
            <a:r>
              <a:rPr sz="1100" b="0" i="1">
                <a:solidFill>
                  <a:srgbClr val="FFFFFF"/>
                </a:solidFill>
                <a:latin typeface="Sakkal Majalla"/>
                <a:cs typeface="Sakkal Majalla"/>
                <a:ea typeface="Sakkal Majalla"/>
              </a:rPr>
              <a:t>⏳  Temporal Gap</a:t>
            </a:r>
          </a:p>
        </p:txBody>
      </p:sp>
      <p:sp>
        <p:nvSpPr>
          <p:cNvPr id="33" name="TextBox 32"/>
          <p:cNvSpPr txBox="1"/>
          <p:nvPr/>
        </p:nvSpPr>
        <p:spPr>
          <a:xfrm>
            <a:off x="749807" y="2926079"/>
            <a:ext cx="3112922" cy="9144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047857"/>
                </a:solidFill>
                <a:latin typeface="Sakkal Majalla"/>
                <a:cs typeface="Sakkal Majalla"/>
                <a:ea typeface="Sakkal Majalla"/>
              </a:rPr>
              <a:t>التعريف:  </a:t>
            </a:r>
            <a:r>
              <a:rPr sz="1200" b="0" i="0">
                <a:solidFill>
                  <a:srgbClr val="221C57"/>
                </a:solidFill>
                <a:latin typeface="Sakkal Majalla"/>
                <a:cs typeface="Sakkal Majalla"/>
                <a:ea typeface="Sakkal Majalla"/>
              </a:rPr>
              <a:t>الدراسات المتاحة قديمة ولا تعكس الوضع الحالي.</a:t>
            </a:r>
          </a:p>
        </p:txBody>
      </p:sp>
      <p:sp>
        <p:nvSpPr>
          <p:cNvPr id="34" name="TextBox 33"/>
          <p:cNvSpPr txBox="1"/>
          <p:nvPr/>
        </p:nvSpPr>
        <p:spPr>
          <a:xfrm>
            <a:off x="749807" y="3840479"/>
            <a:ext cx="3112922" cy="1600200"/>
          </a:xfrm>
          <a:prstGeom prst="rect">
            <a:avLst/>
          </a:prstGeom>
          <a:noFill/>
        </p:spPr>
        <p:txBody>
          <a:bodyPr wrap="square" anchor="t" lIns="0" rIns="0" tIns="0" bIns="0">
            <a:spAutoFit/>
          </a:bodyPr>
          <a:lstStyle/>
          <a:p>
            <a:pPr algn="r" rtl="1">
              <a:lnSpc>
                <a:spcPct val="115000"/>
              </a:lnSpc>
              <a:spcBef>
                <a:spcPts val="0"/>
              </a:spcBef>
              <a:spcAft>
                <a:spcPts val="400"/>
              </a:spcAft>
            </a:pPr>
            <a:r>
              <a:rPr sz="1200" b="1" i="0">
                <a:solidFill>
                  <a:srgbClr val="047857"/>
                </a:solidFill>
                <a:latin typeface="Sakkal Majalla"/>
                <a:cs typeface="Sakkal Majalla"/>
                <a:ea typeface="Sakkal Majalla"/>
              </a:rPr>
              <a:t>من شرح الورشة:  </a:t>
            </a:r>
            <a:r>
              <a:rPr sz="1200" b="0" i="0">
                <a:solidFill>
                  <a:srgbClr val="221C57"/>
                </a:solidFill>
                <a:latin typeface="Sakkal Majalla"/>
                <a:cs typeface="Sakkal Majalla"/>
                <a:ea typeface="Sakkal Majalla"/>
              </a:rPr>
              <a:t>بعد كل تحول كبير — كالجائحة أو ثورة الذكاء الاصطناعي — تصبح النتائج القديمة بحاجة إلى إعادة اختبار، فالواقع تغيّر والأرقام لم تعد تمثله.</a:t>
            </a:r>
          </a:p>
        </p:txBody>
      </p:sp>
      <p:sp>
        <p:nvSpPr>
          <p:cNvPr id="35" name="Rounded Rectangle 34"/>
          <p:cNvSpPr/>
          <p:nvPr/>
        </p:nvSpPr>
        <p:spPr>
          <a:xfrm>
            <a:off x="731519" y="5650992"/>
            <a:ext cx="3149498" cy="420624"/>
          </a:xfrm>
          <a:prstGeom prst="roundRect">
            <a:avLst>
              <a:gd name="adj" fmla="val 50000"/>
            </a:avLst>
          </a:prstGeom>
          <a:solidFill>
            <a:srgbClr val="E5F1EE"/>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50" b="1" i="0">
                <a:solidFill>
                  <a:srgbClr val="047857"/>
                </a:solidFill>
                <a:latin typeface="Sakkal Majalla"/>
                <a:cs typeface="Sakkal Majalla"/>
                <a:ea typeface="Sakkal Majalla"/>
              </a:rPr>
              <a:t>السؤال المفتاحي: هل ما زالت النتائج صحيحة اليوم؟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07</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6D28D9"/>
              </a:gs>
              <a:gs pos="100000">
                <a:srgbClr val="A855F7"/>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6D28D9"/>
                </a:solidFill>
                <a:latin typeface="Sakkal Majalla"/>
                <a:cs typeface="Sakkal Majalla"/>
                <a:ea typeface="Sakkal Majalla"/>
              </a:rPr>
              <a:t>PRACTICAL EXAMPLES</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أمثلة عملية على الفجوات</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6D28D9"/>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6D28D9"/>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6D28D9"/>
              </a:gs>
              <a:gs pos="100000">
                <a:srgbClr val="A855F7"/>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07</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548640" y="1627632"/>
            <a:ext cx="11094415" cy="704088"/>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344607" y="1755648"/>
            <a:ext cx="1133856" cy="448056"/>
          </a:xfrm>
          <a:prstGeom prst="roundRect">
            <a:avLst>
              <a:gd name="adj" fmla="val 50000"/>
            </a:avLst>
          </a:prstGeom>
          <a:ln>
            <a:noFill/>
          </a:ln>
          <a:effectLst/>
          <a:gradFill rotWithShape="1">
            <a:gsLst>
              <a:gs pos="0">
                <a:srgbClr val="A21CAF"/>
              </a:gs>
              <a:gs pos="100000">
                <a:srgbClr val="E879F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200" b="1" i="0">
                <a:solidFill>
                  <a:srgbClr val="FFFFFF"/>
                </a:solidFill>
                <a:latin typeface="Sakkal Majalla"/>
                <a:cs typeface="Sakkal Majalla"/>
                <a:ea typeface="Sakkal Majalla"/>
              </a:rPr>
              <a:t>معرفة</a:t>
            </a:r>
          </a:p>
        </p:txBody>
      </p:sp>
      <p:sp>
        <p:nvSpPr>
          <p:cNvPr id="13" name="TextBox 12"/>
          <p:cNvSpPr txBox="1"/>
          <p:nvPr/>
        </p:nvSpPr>
        <p:spPr>
          <a:xfrm>
            <a:off x="822959" y="1682496"/>
            <a:ext cx="9219895"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221C57"/>
                </a:solidFill>
                <a:latin typeface="Sakkal Majalla"/>
                <a:cs typeface="Sakkal Majalla"/>
                <a:ea typeface="Sakkal Majalla"/>
              </a:rPr>
              <a:t>تأثير الذكاء الاصطناعي على القرارات الأخلاقية في القطاع الصحي العربي لم تتم دراسته بشكل كافٍ</a:t>
            </a:r>
          </a:p>
        </p:txBody>
      </p:sp>
      <p:sp>
        <p:nvSpPr>
          <p:cNvPr id="14" name="TextBox 13"/>
          <p:cNvSpPr txBox="1"/>
          <p:nvPr/>
        </p:nvSpPr>
        <p:spPr>
          <a:xfrm>
            <a:off x="822959" y="2029968"/>
            <a:ext cx="9219895"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050" b="1" i="0">
                <a:solidFill>
                  <a:srgbClr val="A21CAF"/>
                </a:solidFill>
                <a:latin typeface="Sakkal Majalla"/>
                <a:cs typeface="Sakkal Majalla"/>
                <a:ea typeface="Sakkal Majalla"/>
              </a:rPr>
              <a:t>لماذا هي فجوة؟  </a:t>
            </a:r>
            <a:r>
              <a:rPr sz="1050" b="0" i="0">
                <a:solidFill>
                  <a:srgbClr val="6E6A8F"/>
                </a:solidFill>
                <a:latin typeface="Sakkal Majalla"/>
                <a:cs typeface="Sakkal Majalla"/>
                <a:ea typeface="Sakkal Majalla"/>
              </a:rPr>
              <a:t>موضوع حديث وحسّاس بلا دراسات كافية — إضافة صافية للمعرفة</a:t>
            </a:r>
          </a:p>
        </p:txBody>
      </p:sp>
      <p:sp>
        <p:nvSpPr>
          <p:cNvPr id="15" name="Rounded Rectangle 14"/>
          <p:cNvSpPr/>
          <p:nvPr/>
        </p:nvSpPr>
        <p:spPr>
          <a:xfrm>
            <a:off x="548640" y="2427732"/>
            <a:ext cx="11094415" cy="704088"/>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344607" y="2555748"/>
            <a:ext cx="1133856" cy="448056"/>
          </a:xfrm>
          <a:prstGeom prst="roundRect">
            <a:avLst>
              <a:gd name="adj" fmla="val 50000"/>
            </a:avLst>
          </a:prstGeom>
          <a:ln>
            <a:noFill/>
          </a:ln>
          <a:effectLst/>
          <a:gradFill rotWithShape="1">
            <a:gsLst>
              <a:gs pos="0">
                <a:srgbClr val="D97706"/>
              </a:gs>
              <a:gs pos="100000">
                <a:srgbClr val="FBBF24"/>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200" b="1" i="0">
                <a:solidFill>
                  <a:srgbClr val="FFFFFF"/>
                </a:solidFill>
                <a:latin typeface="Sakkal Majalla"/>
                <a:cs typeface="Sakkal Majalla"/>
                <a:ea typeface="Sakkal Majalla"/>
              </a:rPr>
              <a:t>ممارسة</a:t>
            </a:r>
          </a:p>
        </p:txBody>
      </p:sp>
      <p:sp>
        <p:nvSpPr>
          <p:cNvPr id="17" name="TextBox 16"/>
          <p:cNvSpPr txBox="1"/>
          <p:nvPr/>
        </p:nvSpPr>
        <p:spPr>
          <a:xfrm>
            <a:off x="822959" y="2482596"/>
            <a:ext cx="9219895"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221C57"/>
                </a:solidFill>
                <a:latin typeface="Sakkal Majalla"/>
                <a:cs typeface="Sakkal Majalla"/>
                <a:ea typeface="Sakkal Majalla"/>
              </a:rPr>
              <a:t>البروتوكولات الطبية الدولية موجودة وموثقة، لكن التطبيق الواقعي في المستشفيات مختلف تماماً</a:t>
            </a:r>
          </a:p>
        </p:txBody>
      </p:sp>
      <p:sp>
        <p:nvSpPr>
          <p:cNvPr id="18" name="TextBox 17"/>
          <p:cNvSpPr txBox="1"/>
          <p:nvPr/>
        </p:nvSpPr>
        <p:spPr>
          <a:xfrm>
            <a:off x="822959" y="2830068"/>
            <a:ext cx="9219895"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050" b="1" i="0">
                <a:solidFill>
                  <a:srgbClr val="D97706"/>
                </a:solidFill>
                <a:latin typeface="Sakkal Majalla"/>
                <a:cs typeface="Sakkal Majalla"/>
                <a:ea typeface="Sakkal Majalla"/>
              </a:rPr>
              <a:t>لماذا هي فجوة؟  </a:t>
            </a:r>
            <a:r>
              <a:rPr sz="1050" b="0" i="0">
                <a:solidFill>
                  <a:srgbClr val="6E6A8F"/>
                </a:solidFill>
                <a:latin typeface="Sakkal Majalla"/>
                <a:cs typeface="Sakkal Majalla"/>
                <a:ea typeface="Sakkal Majalla"/>
              </a:rPr>
              <a:t>المعرفة متوفرة والتطبيق غائب — البحث يدرس لماذا وكيف نصلحه</a:t>
            </a:r>
          </a:p>
        </p:txBody>
      </p:sp>
      <p:sp>
        <p:nvSpPr>
          <p:cNvPr id="19" name="Rounded Rectangle 18"/>
          <p:cNvSpPr/>
          <p:nvPr/>
        </p:nvSpPr>
        <p:spPr>
          <a:xfrm>
            <a:off x="548640" y="3227832"/>
            <a:ext cx="11094415" cy="704088"/>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344607" y="3355848"/>
            <a:ext cx="1133856" cy="448056"/>
          </a:xfrm>
          <a:prstGeom prst="roundRect">
            <a:avLst>
              <a:gd name="adj" fmla="val 50000"/>
            </a:avLst>
          </a:prstGeom>
          <a:ln>
            <a:noFill/>
          </a:ln>
          <a:effectLst/>
          <a:gradFill rotWithShape="1">
            <a:gsLst>
              <a:gs pos="0">
                <a:srgbClr val="0D9488"/>
              </a:gs>
              <a:gs pos="100000">
                <a:srgbClr val="2DD4BF"/>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200" b="1" i="0">
                <a:solidFill>
                  <a:srgbClr val="FFFFFF"/>
                </a:solidFill>
                <a:latin typeface="Sakkal Majalla"/>
                <a:cs typeface="Sakkal Majalla"/>
                <a:ea typeface="Sakkal Majalla"/>
              </a:rPr>
              <a:t>أدلة</a:t>
            </a:r>
          </a:p>
        </p:txBody>
      </p:sp>
      <p:sp>
        <p:nvSpPr>
          <p:cNvPr id="21" name="TextBox 20"/>
          <p:cNvSpPr txBox="1"/>
          <p:nvPr/>
        </p:nvSpPr>
        <p:spPr>
          <a:xfrm>
            <a:off x="822959" y="3282696"/>
            <a:ext cx="9219895"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221C57"/>
                </a:solidFill>
                <a:latin typeface="Sakkal Majalla"/>
                <a:cs typeface="Sakkal Majalla"/>
                <a:ea typeface="Sakkal Majalla"/>
              </a:rPr>
              <a:t>توصيات كثيرة بدمج التعلم المصغّر في التدريب، دون تجارب مضبوطة تثبت فاعليته</a:t>
            </a:r>
          </a:p>
        </p:txBody>
      </p:sp>
      <p:sp>
        <p:nvSpPr>
          <p:cNvPr id="22" name="TextBox 21"/>
          <p:cNvSpPr txBox="1"/>
          <p:nvPr/>
        </p:nvSpPr>
        <p:spPr>
          <a:xfrm>
            <a:off x="822959" y="3630168"/>
            <a:ext cx="9219895"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050" b="1" i="0">
                <a:solidFill>
                  <a:srgbClr val="0D9488"/>
                </a:solidFill>
                <a:latin typeface="Sakkal Majalla"/>
                <a:cs typeface="Sakkal Majalla"/>
                <a:ea typeface="Sakkal Majalla"/>
              </a:rPr>
              <a:t>لماذا هي فجوة؟  </a:t>
            </a:r>
            <a:r>
              <a:rPr sz="1050" b="0" i="0">
                <a:solidFill>
                  <a:srgbClr val="6E6A8F"/>
                </a:solidFill>
                <a:latin typeface="Sakkal Majalla"/>
                <a:cs typeface="Sakkal Majalla"/>
                <a:ea typeface="Sakkal Majalla"/>
              </a:rPr>
              <a:t>ادعاء شائع ينقصه الدليل التجريبي — بحثك يبني هذا الدليل</a:t>
            </a:r>
          </a:p>
        </p:txBody>
      </p:sp>
      <p:sp>
        <p:nvSpPr>
          <p:cNvPr id="23" name="Rounded Rectangle 22"/>
          <p:cNvSpPr/>
          <p:nvPr/>
        </p:nvSpPr>
        <p:spPr>
          <a:xfrm>
            <a:off x="548640" y="4027932"/>
            <a:ext cx="11094415" cy="704088"/>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44607" y="4155948"/>
            <a:ext cx="1133856" cy="448056"/>
          </a:xfrm>
          <a:prstGeom prst="roundRect">
            <a:avLst>
              <a:gd name="adj" fmla="val 50000"/>
            </a:avLst>
          </a:prstGeom>
          <a:ln>
            <a:noFill/>
          </a:ln>
          <a:effectLst/>
          <a:gradFill rotWithShape="1">
            <a:gsLst>
              <a:gs pos="0">
                <a:srgbClr val="6D28D9"/>
              </a:gs>
              <a:gs pos="100000">
                <a:srgbClr val="A855F7"/>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200" b="1" i="0">
                <a:solidFill>
                  <a:srgbClr val="FFFFFF"/>
                </a:solidFill>
                <a:latin typeface="Sakkal Majalla"/>
                <a:cs typeface="Sakkal Majalla"/>
                <a:ea typeface="Sakkal Majalla"/>
              </a:rPr>
              <a:t>سكان</a:t>
            </a:r>
          </a:p>
        </p:txBody>
      </p:sp>
      <p:sp>
        <p:nvSpPr>
          <p:cNvPr id="25" name="TextBox 24"/>
          <p:cNvSpPr txBox="1"/>
          <p:nvPr/>
        </p:nvSpPr>
        <p:spPr>
          <a:xfrm>
            <a:off x="822959" y="4082796"/>
            <a:ext cx="9219895"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221C57"/>
                </a:solidFill>
                <a:latin typeface="Sakkal Majalla"/>
                <a:cs typeface="Sakkal Majalla"/>
                <a:ea typeface="Sakkal Majalla"/>
              </a:rPr>
              <a:t>معظم دراسات القلق الاجتماعي أُجريت على طلاب غربيين، والشباب العربي ما زال ناقصاً في الدراسات</a:t>
            </a:r>
          </a:p>
        </p:txBody>
      </p:sp>
      <p:sp>
        <p:nvSpPr>
          <p:cNvPr id="26" name="TextBox 25"/>
          <p:cNvSpPr txBox="1"/>
          <p:nvPr/>
        </p:nvSpPr>
        <p:spPr>
          <a:xfrm>
            <a:off x="822959" y="4430268"/>
            <a:ext cx="9219895"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050" b="1" i="0">
                <a:solidFill>
                  <a:srgbClr val="6D28D9"/>
                </a:solidFill>
                <a:latin typeface="Sakkal Majalla"/>
                <a:cs typeface="Sakkal Majalla"/>
                <a:ea typeface="Sakkal Majalla"/>
              </a:rPr>
              <a:t>لماذا هي فجوة؟  </a:t>
            </a:r>
            <a:r>
              <a:rPr sz="1050" b="0" i="0">
                <a:solidFill>
                  <a:srgbClr val="6E6A8F"/>
                </a:solidFill>
                <a:latin typeface="Sakkal Majalla"/>
                <a:cs typeface="Sakkal Majalla"/>
                <a:ea typeface="Sakkal Majalla"/>
              </a:rPr>
              <a:t>العينة لا تمثل مجتمعك — إعادة الدراسة محلياً تسد الفجوة</a:t>
            </a:r>
          </a:p>
        </p:txBody>
      </p:sp>
      <p:sp>
        <p:nvSpPr>
          <p:cNvPr id="27" name="Rounded Rectangle 26"/>
          <p:cNvSpPr/>
          <p:nvPr/>
        </p:nvSpPr>
        <p:spPr>
          <a:xfrm>
            <a:off x="548640" y="4828032"/>
            <a:ext cx="11094415" cy="704088"/>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344607" y="4956048"/>
            <a:ext cx="1133856" cy="448056"/>
          </a:xfrm>
          <a:prstGeom prst="roundRect">
            <a:avLst>
              <a:gd name="adj" fmla="val 50000"/>
            </a:avLst>
          </a:prstGeom>
          <a:ln>
            <a:noFill/>
          </a:ln>
          <a:effectLst/>
          <a:gradFill rotWithShape="1">
            <a:gsLst>
              <a:gs pos="0">
                <a:srgbClr val="BE123C"/>
              </a:gs>
              <a:gs pos="100000">
                <a:srgbClr val="FB7185"/>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200" b="1" i="0">
                <a:solidFill>
                  <a:srgbClr val="FFFFFF"/>
                </a:solidFill>
                <a:latin typeface="Sakkal Majalla"/>
                <a:cs typeface="Sakkal Majalla"/>
                <a:ea typeface="Sakkal Majalla"/>
              </a:rPr>
              <a:t>منهجية</a:t>
            </a:r>
          </a:p>
        </p:txBody>
      </p:sp>
      <p:sp>
        <p:nvSpPr>
          <p:cNvPr id="29" name="TextBox 28"/>
          <p:cNvSpPr txBox="1"/>
          <p:nvPr/>
        </p:nvSpPr>
        <p:spPr>
          <a:xfrm>
            <a:off x="822959" y="4882896"/>
            <a:ext cx="9219895"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221C57"/>
                </a:solidFill>
                <a:latin typeface="Sakkal Majalla"/>
                <a:cs typeface="Sakkal Majalla"/>
                <a:ea typeface="Sakkal Majalla"/>
              </a:rPr>
              <a:t>كل الدراسات استخدمت المنهج الكمي فقط، بينما المنهج النوعي يمكن أن يعطي تفاصيل أعمق</a:t>
            </a:r>
          </a:p>
        </p:txBody>
      </p:sp>
      <p:sp>
        <p:nvSpPr>
          <p:cNvPr id="30" name="TextBox 29"/>
          <p:cNvSpPr txBox="1"/>
          <p:nvPr/>
        </p:nvSpPr>
        <p:spPr>
          <a:xfrm>
            <a:off x="822959" y="5230368"/>
            <a:ext cx="9219895"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050" b="1" i="0">
                <a:solidFill>
                  <a:srgbClr val="BE123C"/>
                </a:solidFill>
                <a:latin typeface="Sakkal Majalla"/>
                <a:cs typeface="Sakkal Majalla"/>
                <a:ea typeface="Sakkal Majalla"/>
              </a:rPr>
              <a:t>لماذا هي فجوة؟  </a:t>
            </a:r>
            <a:r>
              <a:rPr sz="1050" b="0" i="0">
                <a:solidFill>
                  <a:srgbClr val="6E6A8F"/>
                </a:solidFill>
                <a:latin typeface="Sakkal Majalla"/>
                <a:cs typeface="Sakkal Majalla"/>
                <a:ea typeface="Sakkal Majalla"/>
              </a:rPr>
              <a:t>تغيير أسلوب البحث يفتح نافذة جديدة على الظاهرة نفسها</a:t>
            </a:r>
          </a:p>
        </p:txBody>
      </p:sp>
      <p:sp>
        <p:nvSpPr>
          <p:cNvPr id="31" name="Rounded Rectangle 30"/>
          <p:cNvSpPr/>
          <p:nvPr/>
        </p:nvSpPr>
        <p:spPr>
          <a:xfrm>
            <a:off x="548640" y="5628132"/>
            <a:ext cx="11094415" cy="704088"/>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344607" y="5756148"/>
            <a:ext cx="1133856" cy="448056"/>
          </a:xfrm>
          <a:prstGeom prst="roundRect">
            <a:avLst>
              <a:gd name="adj" fmla="val 50000"/>
            </a:avLst>
          </a:prstGeom>
          <a:ln>
            <a:noFill/>
          </a:ln>
          <a:effectLst/>
          <a:gradFill rotWithShape="1">
            <a:gsLst>
              <a:gs pos="0">
                <a:srgbClr val="047857"/>
              </a:gs>
              <a:gs pos="100000">
                <a:srgbClr val="34D39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200" b="1" i="0">
                <a:solidFill>
                  <a:srgbClr val="FFFFFF"/>
                </a:solidFill>
                <a:latin typeface="Sakkal Majalla"/>
                <a:cs typeface="Sakkal Majalla"/>
                <a:ea typeface="Sakkal Majalla"/>
              </a:rPr>
              <a:t>زمنية</a:t>
            </a:r>
          </a:p>
        </p:txBody>
      </p:sp>
      <p:sp>
        <p:nvSpPr>
          <p:cNvPr id="33" name="TextBox 32"/>
          <p:cNvSpPr txBox="1"/>
          <p:nvPr/>
        </p:nvSpPr>
        <p:spPr>
          <a:xfrm>
            <a:off x="822959" y="5682996"/>
            <a:ext cx="9219895" cy="347472"/>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221C57"/>
                </a:solidFill>
                <a:latin typeface="Sakkal Majalla"/>
                <a:cs typeface="Sakkal Majalla"/>
                <a:ea typeface="Sakkal Majalla"/>
              </a:rPr>
              <a:t>الدراسات القديمة قبل 2020 لا تعكس التغيرات التي حدثت بعد الجائحة</a:t>
            </a:r>
          </a:p>
        </p:txBody>
      </p:sp>
      <p:sp>
        <p:nvSpPr>
          <p:cNvPr id="34" name="TextBox 33"/>
          <p:cNvSpPr txBox="1"/>
          <p:nvPr/>
        </p:nvSpPr>
        <p:spPr>
          <a:xfrm>
            <a:off x="822959" y="6030468"/>
            <a:ext cx="9219895"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050" b="1" i="0">
                <a:solidFill>
                  <a:srgbClr val="047857"/>
                </a:solidFill>
                <a:latin typeface="Sakkal Majalla"/>
                <a:cs typeface="Sakkal Majalla"/>
                <a:ea typeface="Sakkal Majalla"/>
              </a:rPr>
              <a:t>لماذا هي فجوة؟  </a:t>
            </a:r>
            <a:r>
              <a:rPr sz="1050" b="0" i="0">
                <a:solidFill>
                  <a:srgbClr val="6E6A8F"/>
                </a:solidFill>
                <a:latin typeface="Sakkal Majalla"/>
                <a:cs typeface="Sakkal Majalla"/>
                <a:ea typeface="Sakkal Majalla"/>
              </a:rPr>
              <a:t>الواقع تغيّر جذرياً والأرقام القديمة لم تعد تمثله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08</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BE123C"/>
              </a:gs>
              <a:gs pos="100000">
                <a:srgbClr val="FB7185"/>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BE123C"/>
                </a:solidFill>
                <a:latin typeface="Sakkal Majalla"/>
                <a:cs typeface="Sakkal Majalla"/>
                <a:ea typeface="Sakkal Majalla"/>
              </a:rPr>
              <a:t>AI TOOLS FOR GAP DISCOVERY</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أدوات الذكاء الاصطناعي الثمانية</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BE123C"/>
              </a:gs>
              <a:gs pos="100000">
                <a:srgbClr val="FB718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BE123C"/>
              </a:gs>
              <a:gs pos="100000">
                <a:srgbClr val="FB718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BE123C"/>
              </a:gs>
              <a:gs pos="100000">
                <a:srgbClr val="FB7185"/>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08</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9034043" y="1627632"/>
            <a:ext cx="2609011" cy="1810512"/>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64229" y="1810512"/>
            <a:ext cx="548640" cy="548640"/>
          </a:xfrm>
          <a:prstGeom prst="ellipse">
            <a:avLst/>
          </a:prstGeom>
          <a:ln>
            <a:noFill/>
          </a:ln>
          <a:gradFill rotWithShape="1">
            <a:gsLst>
              <a:gs pos="0">
                <a:srgbClr val="A21CAF"/>
              </a:gs>
              <a:gs pos="100000">
                <a:srgbClr val="E879F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13" name="TextBox 12"/>
          <p:cNvSpPr txBox="1"/>
          <p:nvPr/>
        </p:nvSpPr>
        <p:spPr>
          <a:xfrm>
            <a:off x="9143771" y="2432304"/>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A21CAF"/>
                </a:solidFill>
                <a:latin typeface="Sakkal Majalla"/>
                <a:cs typeface="Sakkal Majalla"/>
                <a:ea typeface="Sakkal Majalla"/>
              </a:rPr>
              <a:t>Elicit</a:t>
            </a:r>
          </a:p>
        </p:txBody>
      </p:sp>
      <p:sp>
        <p:nvSpPr>
          <p:cNvPr id="14" name="TextBox 13"/>
          <p:cNvSpPr txBox="1"/>
          <p:nvPr/>
        </p:nvSpPr>
        <p:spPr>
          <a:xfrm>
            <a:off x="9180347" y="2779776"/>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يلخّص الدراسات ويستخرج النتائج بسؤال مباشر بلغة طبيعية</a:t>
            </a:r>
          </a:p>
        </p:txBody>
      </p:sp>
      <p:sp>
        <p:nvSpPr>
          <p:cNvPr id="15" name="Rounded Rectangle 14"/>
          <p:cNvSpPr/>
          <p:nvPr/>
        </p:nvSpPr>
        <p:spPr>
          <a:xfrm>
            <a:off x="6205575" y="1627632"/>
            <a:ext cx="2609011" cy="1810512"/>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35761" y="1810512"/>
            <a:ext cx="548640" cy="548640"/>
          </a:xfrm>
          <a:prstGeom prst="ellipse">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17" name="TextBox 16"/>
          <p:cNvSpPr txBox="1"/>
          <p:nvPr/>
        </p:nvSpPr>
        <p:spPr>
          <a:xfrm>
            <a:off x="6315303" y="2432304"/>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0D9488"/>
                </a:solidFill>
                <a:latin typeface="Sakkal Majalla"/>
                <a:cs typeface="Sakkal Majalla"/>
                <a:ea typeface="Sakkal Majalla"/>
              </a:rPr>
              <a:t>Consensus</a:t>
            </a:r>
          </a:p>
        </p:txBody>
      </p:sp>
      <p:sp>
        <p:nvSpPr>
          <p:cNvPr id="18" name="TextBox 17"/>
          <p:cNvSpPr txBox="1"/>
          <p:nvPr/>
        </p:nvSpPr>
        <p:spPr>
          <a:xfrm>
            <a:off x="6351879" y="2779776"/>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يعطيك إجماع الأبحاث حول سؤال علمي معيّن واتجاه الأدلة</a:t>
            </a:r>
          </a:p>
        </p:txBody>
      </p:sp>
      <p:sp>
        <p:nvSpPr>
          <p:cNvPr id="19" name="Rounded Rectangle 18"/>
          <p:cNvSpPr/>
          <p:nvPr/>
        </p:nvSpPr>
        <p:spPr>
          <a:xfrm>
            <a:off x="3377107" y="1627632"/>
            <a:ext cx="2609011" cy="1810512"/>
          </a:xfrm>
          <a:prstGeom prst="roundRect">
            <a:avLst>
              <a:gd name="adj" fmla="val 10000"/>
            </a:avLst>
          </a:prstGeom>
          <a:solidFill>
            <a:srgbClr val="FBF4EB"/>
          </a:solidFill>
          <a:ln w="19050">
            <a:solidFill>
              <a:srgbClr val="D97706"/>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07293" y="1810512"/>
            <a:ext cx="548640" cy="548640"/>
          </a:xfrm>
          <a:prstGeom prst="ellipse">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21" name="TextBox 20"/>
          <p:cNvSpPr txBox="1"/>
          <p:nvPr/>
        </p:nvSpPr>
        <p:spPr>
          <a:xfrm>
            <a:off x="3486835" y="2432304"/>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D97706"/>
                </a:solidFill>
                <a:latin typeface="Sakkal Majalla"/>
                <a:cs typeface="Sakkal Majalla"/>
                <a:ea typeface="Sakkal Majalla"/>
              </a:rPr>
              <a:t>Research Rabbit</a:t>
            </a:r>
          </a:p>
        </p:txBody>
      </p:sp>
      <p:sp>
        <p:nvSpPr>
          <p:cNvPr id="22" name="TextBox 21"/>
          <p:cNvSpPr txBox="1"/>
          <p:nvPr/>
        </p:nvSpPr>
        <p:spPr>
          <a:xfrm>
            <a:off x="3523411" y="2779776"/>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يرسم خريطة للعلاقات بين الأبحاث — الأقوى بحسب الورشة</a:t>
            </a:r>
          </a:p>
        </p:txBody>
      </p:sp>
      <p:sp>
        <p:nvSpPr>
          <p:cNvPr id="23" name="Rounded Rectangle 22"/>
          <p:cNvSpPr/>
          <p:nvPr/>
        </p:nvSpPr>
        <p:spPr>
          <a:xfrm>
            <a:off x="3486835" y="1472184"/>
            <a:ext cx="960120" cy="329184"/>
          </a:xfrm>
          <a:prstGeom prst="roundRect">
            <a:avLst>
              <a:gd name="adj" fmla="val 50000"/>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050" b="1" i="0">
                <a:solidFill>
                  <a:srgbClr val="FFFFFF"/>
                </a:solidFill>
                <a:latin typeface="Sakkal Majalla"/>
                <a:cs typeface="Sakkal Majalla"/>
                <a:ea typeface="Sakkal Majalla"/>
              </a:rPr>
              <a:t>⭐ الأقوى</a:t>
            </a:r>
          </a:p>
        </p:txBody>
      </p:sp>
      <p:sp>
        <p:nvSpPr>
          <p:cNvPr id="24" name="Rounded Rectangle 23"/>
          <p:cNvSpPr/>
          <p:nvPr/>
        </p:nvSpPr>
        <p:spPr>
          <a:xfrm>
            <a:off x="548640" y="1627632"/>
            <a:ext cx="2609011" cy="1810512"/>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78825" y="1810512"/>
            <a:ext cx="548640" cy="548640"/>
          </a:xfrm>
          <a:prstGeom prst="ellipse">
            <a:avLst/>
          </a:prstGeom>
          <a:ln>
            <a:noFill/>
          </a:ln>
          <a:gradFill rotWithShape="1">
            <a:gsLst>
              <a:gs pos="0">
                <a:srgbClr val="6D28D9"/>
              </a:gs>
              <a:gs pos="100000">
                <a:srgbClr val="A855F7"/>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26" name="TextBox 25"/>
          <p:cNvSpPr txBox="1"/>
          <p:nvPr/>
        </p:nvSpPr>
        <p:spPr>
          <a:xfrm>
            <a:off x="658368" y="2432304"/>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6D28D9"/>
                </a:solidFill>
                <a:latin typeface="Sakkal Majalla"/>
                <a:cs typeface="Sakkal Majalla"/>
                <a:ea typeface="Sakkal Majalla"/>
              </a:rPr>
              <a:t>Connected Papers</a:t>
            </a:r>
          </a:p>
        </p:txBody>
      </p:sp>
      <p:sp>
        <p:nvSpPr>
          <p:cNvPr id="27" name="TextBox 26"/>
          <p:cNvSpPr txBox="1"/>
          <p:nvPr/>
        </p:nvSpPr>
        <p:spPr>
          <a:xfrm>
            <a:off x="694944" y="2779776"/>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يوضح الدراسات المرتبطة ببحثك في شبكة بصرية واحدة</a:t>
            </a:r>
          </a:p>
        </p:txBody>
      </p:sp>
      <p:sp>
        <p:nvSpPr>
          <p:cNvPr id="28" name="Rounded Rectangle 27"/>
          <p:cNvSpPr/>
          <p:nvPr/>
        </p:nvSpPr>
        <p:spPr>
          <a:xfrm>
            <a:off x="9034043" y="3584448"/>
            <a:ext cx="2609011" cy="1810512"/>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64229" y="3767328"/>
            <a:ext cx="548640" cy="548640"/>
          </a:xfrm>
          <a:prstGeom prst="ellipse">
            <a:avLst/>
          </a:prstGeom>
          <a:ln>
            <a:noFill/>
          </a:ln>
          <a:gradFill rotWithShape="1">
            <a:gsLst>
              <a:gs pos="0">
                <a:srgbClr val="BE123C"/>
              </a:gs>
              <a:gs pos="100000">
                <a:srgbClr val="FB7185"/>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30" name="TextBox 29"/>
          <p:cNvSpPr txBox="1"/>
          <p:nvPr/>
        </p:nvSpPr>
        <p:spPr>
          <a:xfrm>
            <a:off x="9143771" y="4389120"/>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BE123C"/>
                </a:solidFill>
                <a:latin typeface="Sakkal Majalla"/>
                <a:cs typeface="Sakkal Majalla"/>
                <a:ea typeface="Sakkal Majalla"/>
              </a:rPr>
              <a:t>Scite.ai</a:t>
            </a:r>
          </a:p>
        </p:txBody>
      </p:sp>
      <p:sp>
        <p:nvSpPr>
          <p:cNvPr id="31" name="TextBox 30"/>
          <p:cNvSpPr txBox="1"/>
          <p:nvPr/>
        </p:nvSpPr>
        <p:spPr>
          <a:xfrm>
            <a:off x="9180347" y="4736592"/>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يقيّم قوة المراجع ويميز الاقتباسات الداعمة من المعارضة</a:t>
            </a:r>
          </a:p>
        </p:txBody>
      </p:sp>
      <p:sp>
        <p:nvSpPr>
          <p:cNvPr id="32" name="Rounded Rectangle 31"/>
          <p:cNvSpPr/>
          <p:nvPr/>
        </p:nvSpPr>
        <p:spPr>
          <a:xfrm>
            <a:off x="6205575" y="3584448"/>
            <a:ext cx="2609011" cy="1810512"/>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35761" y="3767328"/>
            <a:ext cx="548640" cy="548640"/>
          </a:xfrm>
          <a:prstGeom prst="ellipse">
            <a:avLst/>
          </a:prstGeom>
          <a:ln>
            <a:noFill/>
          </a:ln>
          <a:gradFill rotWithShape="1">
            <a:gsLst>
              <a:gs pos="0">
                <a:srgbClr val="047857"/>
              </a:gs>
              <a:gs pos="100000">
                <a:srgbClr val="34D39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34" name="TextBox 33"/>
          <p:cNvSpPr txBox="1"/>
          <p:nvPr/>
        </p:nvSpPr>
        <p:spPr>
          <a:xfrm>
            <a:off x="6315303" y="4389120"/>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047857"/>
                </a:solidFill>
                <a:latin typeface="Sakkal Majalla"/>
                <a:cs typeface="Sakkal Majalla"/>
                <a:ea typeface="Sakkal Majalla"/>
              </a:rPr>
              <a:t>Semantic Scholar</a:t>
            </a:r>
          </a:p>
        </p:txBody>
      </p:sp>
      <p:sp>
        <p:nvSpPr>
          <p:cNvPr id="35" name="TextBox 34"/>
          <p:cNvSpPr txBox="1"/>
          <p:nvPr/>
        </p:nvSpPr>
        <p:spPr>
          <a:xfrm>
            <a:off x="6351879" y="4736592"/>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محرك بحث أكاديمي دلالي يفهم المعنى لا الكلمات فقط</a:t>
            </a:r>
          </a:p>
        </p:txBody>
      </p:sp>
      <p:sp>
        <p:nvSpPr>
          <p:cNvPr id="36" name="Rounded Rectangle 35"/>
          <p:cNvSpPr/>
          <p:nvPr/>
        </p:nvSpPr>
        <p:spPr>
          <a:xfrm>
            <a:off x="3377107" y="3584448"/>
            <a:ext cx="2609011" cy="1810512"/>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407293" y="3767328"/>
            <a:ext cx="548640" cy="548640"/>
          </a:xfrm>
          <a:prstGeom prst="ellipse">
            <a:avLst/>
          </a:prstGeom>
          <a:ln>
            <a:noFill/>
          </a:ln>
          <a:gradFill rotWithShape="1">
            <a:gsLst>
              <a:gs pos="0">
                <a:srgbClr val="17123B"/>
              </a:gs>
              <a:gs pos="100000">
                <a:srgbClr val="3B3486"/>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38" name="TextBox 37"/>
          <p:cNvSpPr txBox="1"/>
          <p:nvPr/>
        </p:nvSpPr>
        <p:spPr>
          <a:xfrm>
            <a:off x="3486835" y="4389120"/>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17123B"/>
                </a:solidFill>
                <a:latin typeface="Sakkal Majalla"/>
                <a:cs typeface="Sakkal Majalla"/>
                <a:ea typeface="Sakkal Majalla"/>
              </a:rPr>
              <a:t>Claude</a:t>
            </a:r>
          </a:p>
        </p:txBody>
      </p:sp>
      <p:sp>
        <p:nvSpPr>
          <p:cNvPr id="39" name="TextBox 38"/>
          <p:cNvSpPr txBox="1"/>
          <p:nvPr/>
        </p:nvSpPr>
        <p:spPr>
          <a:xfrm>
            <a:off x="3523411" y="4736592"/>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يحلل الأدبيات بعمق ويقترح فجوات عبر حوار نقدي متدرج</a:t>
            </a:r>
          </a:p>
        </p:txBody>
      </p:sp>
      <p:sp>
        <p:nvSpPr>
          <p:cNvPr id="40" name="Rounded Rectangle 39"/>
          <p:cNvSpPr/>
          <p:nvPr/>
        </p:nvSpPr>
        <p:spPr>
          <a:xfrm>
            <a:off x="548640" y="3584448"/>
            <a:ext cx="2609011" cy="1810512"/>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578825" y="3767328"/>
            <a:ext cx="548640" cy="548640"/>
          </a:xfrm>
          <a:prstGeom prst="ellipse">
            <a:avLst/>
          </a:prstGeom>
          <a:ln>
            <a:noFill/>
          </a:ln>
          <a:gradFill rotWithShape="1">
            <a:gsLst>
              <a:gs pos="0">
                <a:srgbClr val="1D4ED8"/>
              </a:gs>
              <a:gs pos="100000">
                <a:srgbClr val="60A5FA"/>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i="0">
                <a:solidFill>
                  <a:srgbClr val="FFFFFF"/>
                </a:solidFill>
                <a:latin typeface="Sakkal Majalla"/>
                <a:cs typeface="Sakkal Majalla"/>
                <a:ea typeface="Sakkal Majalla"/>
              </a:rPr>
              <a:t>💬</a:t>
            </a:r>
          </a:p>
        </p:txBody>
      </p:sp>
      <p:sp>
        <p:nvSpPr>
          <p:cNvPr id="42" name="TextBox 41"/>
          <p:cNvSpPr txBox="1"/>
          <p:nvPr/>
        </p:nvSpPr>
        <p:spPr>
          <a:xfrm>
            <a:off x="658368" y="4389120"/>
            <a:ext cx="2389555" cy="347472"/>
          </a:xfrm>
          <a:prstGeom prst="rect">
            <a:avLst/>
          </a:prstGeom>
          <a:noFill/>
        </p:spPr>
        <p:txBody>
          <a:bodyPr wrap="square" anchor="t" lIns="0" rIns="0" tIns="0" bIns="0">
            <a:spAutoFit/>
          </a:bodyPr>
          <a:lstStyle/>
          <a:p>
            <a:pPr algn="ctr">
              <a:lnSpc>
                <a:spcPct val="105000"/>
              </a:lnSpc>
              <a:spcBef>
                <a:spcPts val="0"/>
              </a:spcBef>
              <a:spcAft>
                <a:spcPts val="400"/>
              </a:spcAft>
            </a:pPr>
            <a:r>
              <a:rPr sz="1350" b="1" i="0">
                <a:solidFill>
                  <a:srgbClr val="1D4ED8"/>
                </a:solidFill>
                <a:latin typeface="Sakkal Majalla"/>
                <a:cs typeface="Sakkal Majalla"/>
                <a:ea typeface="Sakkal Majalla"/>
              </a:rPr>
              <a:t>ChatGPT</a:t>
            </a:r>
          </a:p>
        </p:txBody>
      </p:sp>
      <p:sp>
        <p:nvSpPr>
          <p:cNvPr id="43" name="TextBox 42"/>
          <p:cNvSpPr txBox="1"/>
          <p:nvPr/>
        </p:nvSpPr>
        <p:spPr>
          <a:xfrm>
            <a:off x="694944" y="4736592"/>
            <a:ext cx="2316403" cy="621792"/>
          </a:xfrm>
          <a:prstGeom prst="rect">
            <a:avLst/>
          </a:prstGeom>
          <a:noFill/>
        </p:spPr>
        <p:txBody>
          <a:bodyPr wrap="square" anchor="t" lIns="0" rIns="0" tIns="0" bIns="0">
            <a:spAutoFit/>
          </a:bodyPr>
          <a:lstStyle/>
          <a:p>
            <a:pPr algn="ctr" rtl="1">
              <a:lnSpc>
                <a:spcPct val="110000"/>
              </a:lnSpc>
              <a:spcBef>
                <a:spcPts val="0"/>
              </a:spcBef>
              <a:spcAft>
                <a:spcPts val="400"/>
              </a:spcAft>
            </a:pPr>
            <a:r>
              <a:rPr sz="1050" b="0" i="0">
                <a:solidFill>
                  <a:srgbClr val="221C57"/>
                </a:solidFill>
                <a:latin typeface="Sakkal Majalla"/>
                <a:cs typeface="Sakkal Majalla"/>
                <a:ea typeface="Sakkal Majalla"/>
              </a:rPr>
              <a:t>يساعد في الفهم العام وصياغة أسئلة البحث الأولية</a:t>
            </a:r>
          </a:p>
        </p:txBody>
      </p:sp>
      <p:sp>
        <p:nvSpPr>
          <p:cNvPr id="44" name="Rounded Rectangle 43"/>
          <p:cNvSpPr/>
          <p:nvPr/>
        </p:nvSpPr>
        <p:spPr>
          <a:xfrm>
            <a:off x="548640" y="5596128"/>
            <a:ext cx="11094415" cy="548640"/>
          </a:xfrm>
          <a:prstGeom prst="roundRect">
            <a:avLst>
              <a:gd name="adj" fmla="val 30000"/>
            </a:avLst>
          </a:prstGeom>
          <a:ln>
            <a:noFill/>
          </a:ln>
          <a:gradFill rotWithShape="1">
            <a:gsLst>
              <a:gs pos="0">
                <a:srgbClr val="17123B"/>
              </a:gs>
              <a:gs pos="100000">
                <a:srgbClr val="3B3486"/>
              </a:gs>
            </a:gsLst>
            <a:lin ang="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 y="5696712"/>
            <a:ext cx="10545775"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250" b="1" i="0">
                <a:solidFill>
                  <a:srgbClr val="FBBF24"/>
                </a:solidFill>
                <a:latin typeface="Sakkal Majalla"/>
                <a:cs typeface="Sakkal Majalla"/>
                <a:ea typeface="Sakkal Majalla"/>
              </a:rPr>
              <a:t>💡 من الشرح: </a:t>
            </a:r>
            <a:r>
              <a:rPr sz="1200" b="0" i="0">
                <a:solidFill>
                  <a:srgbClr val="FFFFFF"/>
                </a:solidFill>
                <a:latin typeface="Sakkal Majalla"/>
                <a:cs typeface="Sakkal Majalla"/>
                <a:ea typeface="Sakkal Majalla"/>
              </a:rPr>
              <a:t>الأدوات كثيرة، لكن الأقوى هو Research Rabbit لأنه يرسم خريطة واضحة للعلاقات بين الأبحاث — وسير العمل معه في الشريحة التالية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09</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D97706"/>
                </a:solidFill>
                <a:latin typeface="Sakkal Majalla"/>
                <a:cs typeface="Sakkal Majalla"/>
                <a:ea typeface="Sakkal Majalla"/>
              </a:rPr>
              <a:t>THE RECOMMENDED WORKFLOW</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سير العمل الذكي مع Research Rabbit</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D97706"/>
              </a:gs>
              <a:gs pos="100000">
                <a:srgbClr val="FBBF24"/>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09</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TextBox 10"/>
          <p:cNvSpPr txBox="1"/>
          <p:nvPr/>
        </p:nvSpPr>
        <p:spPr>
          <a:xfrm>
            <a:off x="548640" y="1536192"/>
            <a:ext cx="11094415"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350" b="1" i="0">
                <a:solidFill>
                  <a:srgbClr val="6E6A8F"/>
                </a:solidFill>
                <a:latin typeface="Sakkal Majalla"/>
                <a:cs typeface="Sakkal Majalla"/>
                <a:ea typeface="Sakkal Majalla"/>
              </a:rPr>
              <a:t>الطريقة العملية التي أوصت بها الورشة لاستخراج الفجوة بالذكاء الاصطناعي — أربع خطوات:</a:t>
            </a:r>
          </a:p>
        </p:txBody>
      </p:sp>
      <p:sp>
        <p:nvSpPr>
          <p:cNvPr id="12" name="Rounded Rectangle 11"/>
          <p:cNvSpPr/>
          <p:nvPr/>
        </p:nvSpPr>
        <p:spPr>
          <a:xfrm>
            <a:off x="9246641" y="2103120"/>
            <a:ext cx="2396413" cy="30632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246641" y="2103120"/>
            <a:ext cx="2396413" cy="109728"/>
          </a:xfrm>
          <a:prstGeom prst="roundRect">
            <a:avLst>
              <a:gd name="adj" fmla="val 100000"/>
            </a:avLst>
          </a:prstGeom>
          <a:ln>
            <a:noFill/>
          </a:ln>
          <a:effectLst/>
          <a:gradFill rotWithShape="1">
            <a:gsLst>
              <a:gs pos="0">
                <a:srgbClr val="A21CAF"/>
              </a:gs>
              <a:gs pos="100000">
                <a:srgbClr val="E879F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97376" y="2423160"/>
            <a:ext cx="694944" cy="694944"/>
          </a:xfrm>
          <a:prstGeom prst="ellipse">
            <a:avLst/>
          </a:prstGeom>
          <a:ln>
            <a:noFill/>
          </a:ln>
          <a:gradFill rotWithShape="1">
            <a:gsLst>
              <a:gs pos="0">
                <a:srgbClr val="A21CAF"/>
              </a:gs>
              <a:gs pos="100000">
                <a:srgbClr val="E879F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i="0">
                <a:solidFill>
                  <a:srgbClr val="FFFFFF"/>
                </a:solidFill>
                <a:latin typeface="Sakkal Majalla"/>
                <a:cs typeface="Sakkal Majalla"/>
                <a:ea typeface="Sakkal Majalla"/>
              </a:rPr>
              <a:t>📤</a:t>
            </a:r>
          </a:p>
        </p:txBody>
      </p:sp>
      <p:sp>
        <p:nvSpPr>
          <p:cNvPr id="15" name="Rounded Rectangle 14"/>
          <p:cNvSpPr/>
          <p:nvPr/>
        </p:nvSpPr>
        <p:spPr>
          <a:xfrm>
            <a:off x="9941928" y="3246120"/>
            <a:ext cx="1005840" cy="329184"/>
          </a:xfrm>
          <a:prstGeom prst="roundRect">
            <a:avLst>
              <a:gd name="adj" fmla="val 50000"/>
            </a:avLst>
          </a:prstGeom>
          <a:solidFill>
            <a:srgbClr val="F3E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00" b="1" i="0">
                <a:solidFill>
                  <a:srgbClr val="A21CAF"/>
                </a:solidFill>
                <a:latin typeface="Sakkal Majalla"/>
                <a:cs typeface="Sakkal Majalla"/>
                <a:ea typeface="Sakkal Majalla"/>
              </a:rPr>
              <a:t>الخطوة ١</a:t>
            </a:r>
          </a:p>
        </p:txBody>
      </p:sp>
      <p:sp>
        <p:nvSpPr>
          <p:cNvPr id="16" name="TextBox 15"/>
          <p:cNvSpPr txBox="1"/>
          <p:nvPr/>
        </p:nvSpPr>
        <p:spPr>
          <a:xfrm>
            <a:off x="9356369" y="3675887"/>
            <a:ext cx="2176957"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A21CAF"/>
                </a:solidFill>
                <a:latin typeface="Sakkal Majalla"/>
                <a:cs typeface="Sakkal Majalla"/>
                <a:ea typeface="Sakkal Majalla"/>
              </a:rPr>
              <a:t>ارفع ملفات الدراسات</a:t>
            </a:r>
          </a:p>
        </p:txBody>
      </p:sp>
      <p:sp>
        <p:nvSpPr>
          <p:cNvPr id="17" name="TextBox 16"/>
          <p:cNvSpPr txBox="1"/>
          <p:nvPr/>
        </p:nvSpPr>
        <p:spPr>
          <a:xfrm>
            <a:off x="9411233" y="4114800"/>
            <a:ext cx="2067229" cy="960120"/>
          </a:xfrm>
          <a:prstGeom prst="rect">
            <a:avLst/>
          </a:prstGeom>
          <a:noFill/>
        </p:spPr>
        <p:txBody>
          <a:bodyPr wrap="square" anchor="t" lIns="0" rIns="0" tIns="0" bIns="0">
            <a:spAutoFit/>
          </a:bodyPr>
          <a:lstStyle/>
          <a:p>
            <a:pPr algn="ctr" rtl="1">
              <a:lnSpc>
                <a:spcPct val="115000"/>
              </a:lnSpc>
              <a:spcBef>
                <a:spcPts val="0"/>
              </a:spcBef>
              <a:spcAft>
                <a:spcPts val="400"/>
              </a:spcAft>
            </a:pPr>
            <a:r>
              <a:rPr sz="1100" b="0" i="0">
                <a:solidFill>
                  <a:srgbClr val="221C57"/>
                </a:solidFill>
                <a:latin typeface="Sakkal Majalla"/>
                <a:cs typeface="Sakkal Majalla"/>
                <a:ea typeface="Sakkal Majalla"/>
              </a:rPr>
              <a:t>حمّل الأوراق العلمية المرتبطة بموضوعك إلى المنصة — كلما كانت أحدث وأشمل كانت الخريطة أدق</a:t>
            </a:r>
          </a:p>
        </p:txBody>
      </p:sp>
      <p:sp>
        <p:nvSpPr>
          <p:cNvPr id="18" name="Rectangle 17"/>
          <p:cNvSpPr/>
          <p:nvPr/>
        </p:nvSpPr>
        <p:spPr>
          <a:xfrm>
            <a:off x="8816873" y="3429000"/>
            <a:ext cx="3657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6E6A8F"/>
                </a:solidFill>
                <a:latin typeface="Sakkal Majalla"/>
                <a:cs typeface="Sakkal Majalla"/>
                <a:ea typeface="Sakkal Majalla"/>
              </a:rPr>
              <a:t>⬅</a:t>
            </a:r>
          </a:p>
        </p:txBody>
      </p:sp>
      <p:sp>
        <p:nvSpPr>
          <p:cNvPr id="19" name="Rounded Rectangle 18"/>
          <p:cNvSpPr/>
          <p:nvPr/>
        </p:nvSpPr>
        <p:spPr>
          <a:xfrm>
            <a:off x="6347307" y="2103120"/>
            <a:ext cx="2396413" cy="30632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47307" y="2103120"/>
            <a:ext cx="2396413" cy="109728"/>
          </a:xfrm>
          <a:prstGeom prst="roundRect">
            <a:avLst>
              <a:gd name="adj" fmla="val 100000"/>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98042" y="2423160"/>
            <a:ext cx="694944" cy="694944"/>
          </a:xfrm>
          <a:prstGeom prst="ellipse">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i="0">
                <a:solidFill>
                  <a:srgbClr val="FFFFFF"/>
                </a:solidFill>
                <a:latin typeface="Sakkal Majalla"/>
                <a:cs typeface="Sakkal Majalla"/>
                <a:ea typeface="Sakkal Majalla"/>
              </a:rPr>
              <a:t>🎯</a:t>
            </a:r>
          </a:p>
        </p:txBody>
      </p:sp>
      <p:sp>
        <p:nvSpPr>
          <p:cNvPr id="22" name="Rounded Rectangle 21"/>
          <p:cNvSpPr/>
          <p:nvPr/>
        </p:nvSpPr>
        <p:spPr>
          <a:xfrm>
            <a:off x="7042594" y="3246120"/>
            <a:ext cx="1005840" cy="329184"/>
          </a:xfrm>
          <a:prstGeom prst="roundRect">
            <a:avLst>
              <a:gd name="adj" fmla="val 50000"/>
            </a:avLst>
          </a:prstGeom>
          <a:solidFill>
            <a:srgbClr val="FAEEE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00" b="1" i="0">
                <a:solidFill>
                  <a:srgbClr val="D97706"/>
                </a:solidFill>
                <a:latin typeface="Sakkal Majalla"/>
                <a:cs typeface="Sakkal Majalla"/>
                <a:ea typeface="Sakkal Majalla"/>
              </a:rPr>
              <a:t>الخطوة ٢</a:t>
            </a:r>
          </a:p>
        </p:txBody>
      </p:sp>
      <p:sp>
        <p:nvSpPr>
          <p:cNvPr id="23" name="TextBox 22"/>
          <p:cNvSpPr txBox="1"/>
          <p:nvPr/>
        </p:nvSpPr>
        <p:spPr>
          <a:xfrm>
            <a:off x="6457035" y="3675887"/>
            <a:ext cx="2176957"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D97706"/>
                </a:solidFill>
                <a:latin typeface="Sakkal Majalla"/>
                <a:cs typeface="Sakkal Majalla"/>
                <a:ea typeface="Sakkal Majalla"/>
              </a:rPr>
              <a:t>اطرح سؤالاً دقيقاً</a:t>
            </a:r>
          </a:p>
        </p:txBody>
      </p:sp>
      <p:sp>
        <p:nvSpPr>
          <p:cNvPr id="24" name="TextBox 23"/>
          <p:cNvSpPr txBox="1"/>
          <p:nvPr/>
        </p:nvSpPr>
        <p:spPr>
          <a:xfrm>
            <a:off x="6511899" y="4114800"/>
            <a:ext cx="2067229" cy="960120"/>
          </a:xfrm>
          <a:prstGeom prst="rect">
            <a:avLst/>
          </a:prstGeom>
          <a:noFill/>
        </p:spPr>
        <p:txBody>
          <a:bodyPr wrap="square" anchor="t" lIns="0" rIns="0" tIns="0" bIns="0">
            <a:spAutoFit/>
          </a:bodyPr>
          <a:lstStyle/>
          <a:p>
            <a:pPr algn="ctr" rtl="1">
              <a:lnSpc>
                <a:spcPct val="115000"/>
              </a:lnSpc>
              <a:spcBef>
                <a:spcPts val="0"/>
              </a:spcBef>
              <a:spcAft>
                <a:spcPts val="400"/>
              </a:spcAft>
            </a:pPr>
            <a:r>
              <a:rPr sz="1100" b="0" i="0">
                <a:solidFill>
                  <a:srgbClr val="221C57"/>
                </a:solidFill>
                <a:latin typeface="Sakkal Majalla"/>
                <a:cs typeface="Sakkal Majalla"/>
                <a:ea typeface="Sakkal Majalla"/>
              </a:rPr>
              <a:t>اكتب طلباً محدداً: «حلّل هذه الملفات واستخرج الفجوة البحثية» — دقة السؤال تصنع دقة الإجابة</a:t>
            </a:r>
          </a:p>
        </p:txBody>
      </p:sp>
      <p:sp>
        <p:nvSpPr>
          <p:cNvPr id="25" name="Rectangle 24"/>
          <p:cNvSpPr/>
          <p:nvPr/>
        </p:nvSpPr>
        <p:spPr>
          <a:xfrm>
            <a:off x="5917539" y="3429000"/>
            <a:ext cx="3657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6E6A8F"/>
                </a:solidFill>
                <a:latin typeface="Sakkal Majalla"/>
                <a:cs typeface="Sakkal Majalla"/>
                <a:ea typeface="Sakkal Majalla"/>
              </a:rPr>
              <a:t>⬅</a:t>
            </a:r>
          </a:p>
        </p:txBody>
      </p:sp>
      <p:sp>
        <p:nvSpPr>
          <p:cNvPr id="26" name="Rounded Rectangle 25"/>
          <p:cNvSpPr/>
          <p:nvPr/>
        </p:nvSpPr>
        <p:spPr>
          <a:xfrm>
            <a:off x="3447973" y="2103120"/>
            <a:ext cx="2396413" cy="30632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447973" y="2103120"/>
            <a:ext cx="2396413" cy="109728"/>
          </a:xfrm>
          <a:prstGeom prst="roundRect">
            <a:avLst>
              <a:gd name="adj" fmla="val 100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298708" y="2423160"/>
            <a:ext cx="694944" cy="694944"/>
          </a:xfrm>
          <a:prstGeom prst="ellipse">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i="0">
                <a:solidFill>
                  <a:srgbClr val="FFFFFF"/>
                </a:solidFill>
                <a:latin typeface="Sakkal Majalla"/>
                <a:cs typeface="Sakkal Majalla"/>
                <a:ea typeface="Sakkal Majalla"/>
              </a:rPr>
              <a:t>🧐</a:t>
            </a:r>
          </a:p>
        </p:txBody>
      </p:sp>
      <p:sp>
        <p:nvSpPr>
          <p:cNvPr id="29" name="Rounded Rectangle 28"/>
          <p:cNvSpPr/>
          <p:nvPr/>
        </p:nvSpPr>
        <p:spPr>
          <a:xfrm>
            <a:off x="4143260" y="3246120"/>
            <a:ext cx="1005840" cy="329184"/>
          </a:xfrm>
          <a:prstGeom prst="roundRect">
            <a:avLst>
              <a:gd name="adj" fmla="val 50000"/>
            </a:avLst>
          </a:prstGeom>
          <a:solidFill>
            <a:srgbClr val="E1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00" b="1" i="0">
                <a:solidFill>
                  <a:srgbClr val="0D9488"/>
                </a:solidFill>
                <a:latin typeface="Sakkal Majalla"/>
                <a:cs typeface="Sakkal Majalla"/>
                <a:ea typeface="Sakkal Majalla"/>
              </a:rPr>
              <a:t>الخطوة ٣</a:t>
            </a:r>
          </a:p>
        </p:txBody>
      </p:sp>
      <p:sp>
        <p:nvSpPr>
          <p:cNvPr id="30" name="TextBox 29"/>
          <p:cNvSpPr txBox="1"/>
          <p:nvPr/>
        </p:nvSpPr>
        <p:spPr>
          <a:xfrm>
            <a:off x="3557701" y="3675887"/>
            <a:ext cx="2176957"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0D9488"/>
                </a:solidFill>
                <a:latin typeface="Sakkal Majalla"/>
                <a:cs typeface="Sakkal Majalla"/>
                <a:ea typeface="Sakkal Majalla"/>
              </a:rPr>
              <a:t>راجع التحليل بنفسك</a:t>
            </a:r>
          </a:p>
        </p:txBody>
      </p:sp>
      <p:sp>
        <p:nvSpPr>
          <p:cNvPr id="31" name="TextBox 30"/>
          <p:cNvSpPr txBox="1"/>
          <p:nvPr/>
        </p:nvSpPr>
        <p:spPr>
          <a:xfrm>
            <a:off x="3612565" y="4114800"/>
            <a:ext cx="2067229" cy="960120"/>
          </a:xfrm>
          <a:prstGeom prst="rect">
            <a:avLst/>
          </a:prstGeom>
          <a:noFill/>
        </p:spPr>
        <p:txBody>
          <a:bodyPr wrap="square" anchor="t" lIns="0" rIns="0" tIns="0" bIns="0">
            <a:spAutoFit/>
          </a:bodyPr>
          <a:lstStyle/>
          <a:p>
            <a:pPr algn="ctr" rtl="1">
              <a:lnSpc>
                <a:spcPct val="115000"/>
              </a:lnSpc>
              <a:spcBef>
                <a:spcPts val="0"/>
              </a:spcBef>
              <a:spcAft>
                <a:spcPts val="400"/>
              </a:spcAft>
            </a:pPr>
            <a:r>
              <a:rPr sz="1100" b="0" i="0">
                <a:solidFill>
                  <a:srgbClr val="221C57"/>
                </a:solidFill>
                <a:latin typeface="Sakkal Majalla"/>
                <a:cs typeface="Sakkal Majalla"/>
                <a:ea typeface="Sakkal Majalla"/>
              </a:rPr>
              <a:t>افحص ما قدّمه الذكاء الاصطناعي بعقلك النقدي — لا تعتمد المخرجات كما هي أبداً</a:t>
            </a:r>
          </a:p>
        </p:txBody>
      </p:sp>
      <p:sp>
        <p:nvSpPr>
          <p:cNvPr id="32" name="Rectangle 31"/>
          <p:cNvSpPr/>
          <p:nvPr/>
        </p:nvSpPr>
        <p:spPr>
          <a:xfrm>
            <a:off x="3018205" y="3429000"/>
            <a:ext cx="3657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i="0">
                <a:solidFill>
                  <a:srgbClr val="6E6A8F"/>
                </a:solidFill>
                <a:latin typeface="Sakkal Majalla"/>
                <a:cs typeface="Sakkal Majalla"/>
                <a:ea typeface="Sakkal Majalla"/>
              </a:rPr>
              <a:t>⬅</a:t>
            </a:r>
          </a:p>
        </p:txBody>
      </p:sp>
      <p:sp>
        <p:nvSpPr>
          <p:cNvPr id="33" name="Rounded Rectangle 32"/>
          <p:cNvSpPr/>
          <p:nvPr/>
        </p:nvSpPr>
        <p:spPr>
          <a:xfrm>
            <a:off x="548639" y="2103120"/>
            <a:ext cx="2396413" cy="3063240"/>
          </a:xfrm>
          <a:prstGeom prst="roundRect">
            <a:avLst>
              <a:gd name="adj" fmla="val 10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39" y="2103120"/>
            <a:ext cx="2396413" cy="109728"/>
          </a:xfrm>
          <a:prstGeom prst="roundRect">
            <a:avLst>
              <a:gd name="adj" fmla="val 100000"/>
            </a:avLst>
          </a:prstGeom>
          <a:ln>
            <a:noFill/>
          </a:ln>
          <a:effectLst/>
          <a:gradFill rotWithShape="1">
            <a:gsLst>
              <a:gs pos="0">
                <a:srgbClr val="047857"/>
              </a:gs>
              <a:gs pos="100000">
                <a:srgbClr val="34D39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99374" y="2423160"/>
            <a:ext cx="694944" cy="694944"/>
          </a:xfrm>
          <a:prstGeom prst="ellipse">
            <a:avLst/>
          </a:prstGeom>
          <a:ln>
            <a:noFill/>
          </a:ln>
          <a:gradFill rotWithShape="1">
            <a:gsLst>
              <a:gs pos="0">
                <a:srgbClr val="047857"/>
              </a:gs>
              <a:gs pos="100000">
                <a:srgbClr val="34D39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i="0">
                <a:solidFill>
                  <a:srgbClr val="FFFFFF"/>
                </a:solidFill>
                <a:latin typeface="Sakkal Majalla"/>
                <a:cs typeface="Sakkal Majalla"/>
                <a:ea typeface="Sakkal Majalla"/>
              </a:rPr>
              <a:t>✅</a:t>
            </a:r>
          </a:p>
        </p:txBody>
      </p:sp>
      <p:sp>
        <p:nvSpPr>
          <p:cNvPr id="36" name="Rounded Rectangle 35"/>
          <p:cNvSpPr/>
          <p:nvPr/>
        </p:nvSpPr>
        <p:spPr>
          <a:xfrm>
            <a:off x="1243926" y="3246120"/>
            <a:ext cx="1005840" cy="329184"/>
          </a:xfrm>
          <a:prstGeom prst="roundRect">
            <a:avLst>
              <a:gd name="adj" fmla="val 50000"/>
            </a:avLst>
          </a:prstGeom>
          <a:solidFill>
            <a:srgbClr val="E0E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100" b="1" i="0">
                <a:solidFill>
                  <a:srgbClr val="047857"/>
                </a:solidFill>
                <a:latin typeface="Sakkal Majalla"/>
                <a:cs typeface="Sakkal Majalla"/>
                <a:ea typeface="Sakkal Majalla"/>
              </a:rPr>
              <a:t>الخطوة ٤</a:t>
            </a:r>
          </a:p>
        </p:txBody>
      </p:sp>
      <p:sp>
        <p:nvSpPr>
          <p:cNvPr id="37" name="TextBox 36"/>
          <p:cNvSpPr txBox="1"/>
          <p:nvPr/>
        </p:nvSpPr>
        <p:spPr>
          <a:xfrm>
            <a:off x="658367" y="3675887"/>
            <a:ext cx="2176957" cy="411480"/>
          </a:xfrm>
          <a:prstGeom prst="rect">
            <a:avLst/>
          </a:prstGeom>
          <a:noFill/>
        </p:spPr>
        <p:txBody>
          <a:bodyPr wrap="square" anchor="t" lIns="0" rIns="0" tIns="0" bIns="0">
            <a:spAutoFit/>
          </a:bodyPr>
          <a:lstStyle/>
          <a:p>
            <a:pPr algn="ctr" rtl="1">
              <a:lnSpc>
                <a:spcPct val="105000"/>
              </a:lnSpc>
              <a:spcBef>
                <a:spcPts val="0"/>
              </a:spcBef>
              <a:spcAft>
                <a:spcPts val="400"/>
              </a:spcAft>
            </a:pPr>
            <a:r>
              <a:rPr sz="1450" b="1" i="0">
                <a:solidFill>
                  <a:srgbClr val="047857"/>
                </a:solidFill>
                <a:latin typeface="Sakkal Majalla"/>
                <a:cs typeface="Sakkal Majalla"/>
                <a:ea typeface="Sakkal Majalla"/>
              </a:rPr>
              <a:t>اعتمد القرار الأكاديمي</a:t>
            </a:r>
          </a:p>
        </p:txBody>
      </p:sp>
      <p:sp>
        <p:nvSpPr>
          <p:cNvPr id="38" name="TextBox 37"/>
          <p:cNvSpPr txBox="1"/>
          <p:nvPr/>
        </p:nvSpPr>
        <p:spPr>
          <a:xfrm>
            <a:off x="713231" y="4114800"/>
            <a:ext cx="2067229" cy="960120"/>
          </a:xfrm>
          <a:prstGeom prst="rect">
            <a:avLst/>
          </a:prstGeom>
          <a:noFill/>
        </p:spPr>
        <p:txBody>
          <a:bodyPr wrap="square" anchor="t" lIns="0" rIns="0" tIns="0" bIns="0">
            <a:spAutoFit/>
          </a:bodyPr>
          <a:lstStyle/>
          <a:p>
            <a:pPr algn="ctr" rtl="1">
              <a:lnSpc>
                <a:spcPct val="115000"/>
              </a:lnSpc>
              <a:spcBef>
                <a:spcPts val="0"/>
              </a:spcBef>
              <a:spcAft>
                <a:spcPts val="400"/>
              </a:spcAft>
            </a:pPr>
            <a:r>
              <a:rPr sz="1100" b="0" i="0">
                <a:solidFill>
                  <a:srgbClr val="221C57"/>
                </a:solidFill>
                <a:latin typeface="Sakkal Majalla"/>
                <a:cs typeface="Sakkal Majalla"/>
                <a:ea typeface="Sakkal Majalla"/>
              </a:rPr>
              <a:t>بعد التحقق من المصادر تصبح الفجوة موثوقة وجاهزة لتتصدر مقترحك البحثي</a:t>
            </a:r>
          </a:p>
        </p:txBody>
      </p:sp>
      <p:sp>
        <p:nvSpPr>
          <p:cNvPr id="39" name="Rounded Rectangle 38"/>
          <p:cNvSpPr/>
          <p:nvPr/>
        </p:nvSpPr>
        <p:spPr>
          <a:xfrm>
            <a:off x="548640" y="5486400"/>
            <a:ext cx="11094415" cy="658368"/>
          </a:xfrm>
          <a:prstGeom prst="roundRect">
            <a:avLst>
              <a:gd name="adj" fmla="val 22000"/>
            </a:avLst>
          </a:prstGeom>
          <a:ln>
            <a:noFill/>
          </a:ln>
          <a:gradFill rotWithShape="1">
            <a:gsLst>
              <a:gs pos="0">
                <a:srgbClr val="17123B"/>
              </a:gs>
              <a:gs pos="100000">
                <a:srgbClr val="3B3486"/>
              </a:gs>
            </a:gsLst>
            <a:lin ang="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59" y="5596128"/>
            <a:ext cx="10545775" cy="45720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FBBF24"/>
                </a:solidFill>
                <a:latin typeface="Sakkal Majalla"/>
                <a:cs typeface="Sakkal Majalla"/>
                <a:ea typeface="Sakkal Majalla"/>
              </a:rPr>
              <a:t>⚠️ القاعدة الذهبية: </a:t>
            </a:r>
            <a:r>
              <a:rPr sz="1250" b="0" i="0">
                <a:solidFill>
                  <a:srgbClr val="FFFFFF"/>
                </a:solidFill>
                <a:latin typeface="Sakkal Majalla"/>
                <a:cs typeface="Sakkal Majalla"/>
                <a:ea typeface="Sakkal Majalla"/>
              </a:rPr>
              <a:t>الذكاء الاصطناعي يقترح والباحث يقرر — المراجعة البشرية للتحليل شرط أساسي لضمان دقة القرار الأكاديمي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10</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047857"/>
              </a:gs>
              <a:gs pos="100000">
                <a:srgbClr val="34D39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047857"/>
                </a:solidFill>
                <a:latin typeface="Sakkal Majalla"/>
                <a:cs typeface="Sakkal Majalla"/>
                <a:ea typeface="Sakkal Majalla"/>
              </a:rPr>
              <a:t>EXPERT RESEARCHER STRATEGIES</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استراتيجيات الباحثين المحترفين</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047857"/>
              </a:gs>
              <a:gs pos="100000">
                <a:srgbClr val="34D39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047857"/>
              </a:gs>
              <a:gs pos="100000">
                <a:srgbClr val="34D39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047857"/>
              </a:gs>
              <a:gs pos="100000">
                <a:srgbClr val="34D399"/>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10</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548640" y="1627632"/>
            <a:ext cx="11094415" cy="86868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838383" y="1764792"/>
            <a:ext cx="594360" cy="594360"/>
          </a:xfrm>
          <a:prstGeom prst="ellipse">
            <a:avLst/>
          </a:prstGeom>
          <a:ln>
            <a:noFill/>
          </a:ln>
          <a:gradFill rotWithShape="1">
            <a:gsLst>
              <a:gs pos="0">
                <a:srgbClr val="6D28D9"/>
              </a:gs>
              <a:gs pos="100000">
                <a:srgbClr val="A855F7"/>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Sakkal Majalla"/>
                <a:cs typeface="Sakkal Majalla"/>
                <a:ea typeface="Sakkal Majalla"/>
              </a:rPr>
              <a:t>📄</a:t>
            </a:r>
          </a:p>
        </p:txBody>
      </p:sp>
      <p:sp>
        <p:nvSpPr>
          <p:cNvPr id="13" name="TextBox 12"/>
          <p:cNvSpPr txBox="1"/>
          <p:nvPr/>
        </p:nvSpPr>
        <p:spPr>
          <a:xfrm>
            <a:off x="822959" y="1700784"/>
            <a:ext cx="9814255"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6D28D9"/>
                </a:solidFill>
                <a:latin typeface="Sakkal Majalla"/>
                <a:cs typeface="Sakkal Majalla"/>
                <a:ea typeface="Sakkal Majalla"/>
              </a:rPr>
              <a:t>اقرأ خاتمة الدراسات   </a:t>
            </a:r>
            <a:r>
              <a:rPr sz="1050" b="0" i="1">
                <a:solidFill>
                  <a:srgbClr val="6E6A8F"/>
                </a:solidFill>
                <a:latin typeface="Sakkal Majalla"/>
                <a:cs typeface="Sakkal Majalla"/>
                <a:ea typeface="Sakkal Majalla"/>
              </a:rPr>
              <a:t>Conclusion Section</a:t>
            </a:r>
          </a:p>
        </p:txBody>
      </p:sp>
      <p:sp>
        <p:nvSpPr>
          <p:cNvPr id="14" name="TextBox 13"/>
          <p:cNvSpPr txBox="1"/>
          <p:nvPr/>
        </p:nvSpPr>
        <p:spPr>
          <a:xfrm>
            <a:off x="822959" y="2084832"/>
            <a:ext cx="9814255" cy="384048"/>
          </a:xfrm>
          <a:prstGeom prst="rect">
            <a:avLst/>
          </a:prstGeom>
          <a:noFill/>
        </p:spPr>
        <p:txBody>
          <a:bodyPr wrap="square" anchor="t" lIns="0" rIns="0" tIns="0" bIns="0">
            <a:spAutoFit/>
          </a:bodyPr>
          <a:lstStyle/>
          <a:p>
            <a:pPr algn="r" rtl="1">
              <a:lnSpc>
                <a:spcPct val="110000"/>
              </a:lnSpc>
              <a:spcBef>
                <a:spcPts val="0"/>
              </a:spcBef>
              <a:spcAft>
                <a:spcPts val="400"/>
              </a:spcAft>
            </a:pPr>
            <a:r>
              <a:rPr sz="1200" b="0" i="0">
                <a:solidFill>
                  <a:srgbClr val="221C57"/>
                </a:solidFill>
                <a:latin typeface="Sakkal Majalla"/>
                <a:cs typeface="Sakkal Majalla"/>
                <a:ea typeface="Sakkal Majalla"/>
              </a:rPr>
              <a:t>الباحثون غالباً يذكرون اقتراحات مستقبلية وفجوات صريحة في نهاية أبحاثهم — فجوات جاهزة وموثقة فاستثمرها!</a:t>
            </a:r>
          </a:p>
        </p:txBody>
      </p:sp>
      <p:sp>
        <p:nvSpPr>
          <p:cNvPr id="15" name="Rounded Rectangle 14"/>
          <p:cNvSpPr/>
          <p:nvPr/>
        </p:nvSpPr>
        <p:spPr>
          <a:xfrm>
            <a:off x="548640" y="2615184"/>
            <a:ext cx="11094415" cy="86868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838383" y="2752344"/>
            <a:ext cx="594360" cy="594360"/>
          </a:xfrm>
          <a:prstGeom prst="ellipse">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Sakkal Majalla"/>
                <a:cs typeface="Sakkal Majalla"/>
                <a:ea typeface="Sakkal Majalla"/>
              </a:rPr>
              <a:t>🗺</a:t>
            </a:r>
          </a:p>
        </p:txBody>
      </p:sp>
      <p:sp>
        <p:nvSpPr>
          <p:cNvPr id="17" name="TextBox 16"/>
          <p:cNvSpPr txBox="1"/>
          <p:nvPr/>
        </p:nvSpPr>
        <p:spPr>
          <a:xfrm>
            <a:off x="822959" y="2688336"/>
            <a:ext cx="9814255"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0D9488"/>
                </a:solidFill>
                <a:latin typeface="Sakkal Majalla"/>
                <a:cs typeface="Sakkal Majalla"/>
                <a:ea typeface="Sakkal Majalla"/>
              </a:rPr>
              <a:t>اعمل خريطة للأدبيات   </a:t>
            </a:r>
            <a:r>
              <a:rPr sz="1050" b="0" i="1">
                <a:solidFill>
                  <a:srgbClr val="6E6A8F"/>
                </a:solidFill>
                <a:latin typeface="Sakkal Majalla"/>
                <a:cs typeface="Sakkal Majalla"/>
                <a:ea typeface="Sakkal Majalla"/>
              </a:rPr>
              <a:t>Literature Mapping</a:t>
            </a:r>
          </a:p>
        </p:txBody>
      </p:sp>
      <p:sp>
        <p:nvSpPr>
          <p:cNvPr id="18" name="TextBox 17"/>
          <p:cNvSpPr txBox="1"/>
          <p:nvPr/>
        </p:nvSpPr>
        <p:spPr>
          <a:xfrm>
            <a:off x="822959" y="3072384"/>
            <a:ext cx="9814255" cy="384048"/>
          </a:xfrm>
          <a:prstGeom prst="rect">
            <a:avLst/>
          </a:prstGeom>
          <a:noFill/>
        </p:spPr>
        <p:txBody>
          <a:bodyPr wrap="square" anchor="t" lIns="0" rIns="0" tIns="0" bIns="0">
            <a:spAutoFit/>
          </a:bodyPr>
          <a:lstStyle/>
          <a:p>
            <a:pPr algn="r" rtl="1">
              <a:lnSpc>
                <a:spcPct val="110000"/>
              </a:lnSpc>
              <a:spcBef>
                <a:spcPts val="0"/>
              </a:spcBef>
              <a:spcAft>
                <a:spcPts val="400"/>
              </a:spcAft>
            </a:pPr>
            <a:r>
              <a:rPr sz="1200" b="0" i="0">
                <a:solidFill>
                  <a:srgbClr val="221C57"/>
                </a:solidFill>
                <a:latin typeface="Sakkal Majalla"/>
                <a:cs typeface="Sakkal Majalla"/>
                <a:ea typeface="Sakkal Majalla"/>
              </a:rPr>
              <a:t>صنّف الدراسات حسب: السكان، المنهج، الدولة، الزمن — الخانات الفارغة في الخريطة هي فجواتك المحتملة</a:t>
            </a:r>
          </a:p>
        </p:txBody>
      </p:sp>
      <p:sp>
        <p:nvSpPr>
          <p:cNvPr id="19" name="Rounded Rectangle 18"/>
          <p:cNvSpPr/>
          <p:nvPr/>
        </p:nvSpPr>
        <p:spPr>
          <a:xfrm>
            <a:off x="548640" y="3602736"/>
            <a:ext cx="11094415" cy="86868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838383" y="3739896"/>
            <a:ext cx="594360" cy="594360"/>
          </a:xfrm>
          <a:prstGeom prst="ellipse">
            <a:avLst/>
          </a:prstGeom>
          <a:ln>
            <a:noFill/>
          </a:ln>
          <a:gradFill rotWithShape="1">
            <a:gsLst>
              <a:gs pos="0">
                <a:srgbClr val="A21CAF"/>
              </a:gs>
              <a:gs pos="100000">
                <a:srgbClr val="E879F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Sakkal Majalla"/>
                <a:cs typeface="Sakkal Majalla"/>
                <a:ea typeface="Sakkal Majalla"/>
              </a:rPr>
              <a:t>⚖️</a:t>
            </a:r>
          </a:p>
        </p:txBody>
      </p:sp>
      <p:sp>
        <p:nvSpPr>
          <p:cNvPr id="21" name="TextBox 20"/>
          <p:cNvSpPr txBox="1"/>
          <p:nvPr/>
        </p:nvSpPr>
        <p:spPr>
          <a:xfrm>
            <a:off x="822959" y="3675888"/>
            <a:ext cx="9814255"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A21CAF"/>
                </a:solidFill>
                <a:latin typeface="Sakkal Majalla"/>
                <a:cs typeface="Sakkal Majalla"/>
                <a:ea typeface="Sakkal Majalla"/>
              </a:rPr>
              <a:t>ابحث عن التناقضات   </a:t>
            </a:r>
            <a:r>
              <a:rPr sz="1050" b="0" i="1">
                <a:solidFill>
                  <a:srgbClr val="6E6A8F"/>
                </a:solidFill>
                <a:latin typeface="Sakkal Majalla"/>
                <a:cs typeface="Sakkal Majalla"/>
                <a:ea typeface="Sakkal Majalla"/>
              </a:rPr>
              <a:t>Contradictions</a:t>
            </a:r>
          </a:p>
        </p:txBody>
      </p:sp>
      <p:sp>
        <p:nvSpPr>
          <p:cNvPr id="22" name="TextBox 21"/>
          <p:cNvSpPr txBox="1"/>
          <p:nvPr/>
        </p:nvSpPr>
        <p:spPr>
          <a:xfrm>
            <a:off x="822959" y="4059936"/>
            <a:ext cx="9814255" cy="384048"/>
          </a:xfrm>
          <a:prstGeom prst="rect">
            <a:avLst/>
          </a:prstGeom>
          <a:noFill/>
        </p:spPr>
        <p:txBody>
          <a:bodyPr wrap="square" anchor="t" lIns="0" rIns="0" tIns="0" bIns="0">
            <a:spAutoFit/>
          </a:bodyPr>
          <a:lstStyle/>
          <a:p>
            <a:pPr algn="r" rtl="1">
              <a:lnSpc>
                <a:spcPct val="110000"/>
              </a:lnSpc>
              <a:spcBef>
                <a:spcPts val="0"/>
              </a:spcBef>
              <a:spcAft>
                <a:spcPts val="400"/>
              </a:spcAft>
            </a:pPr>
            <a:r>
              <a:rPr sz="1200" b="0" i="0">
                <a:solidFill>
                  <a:srgbClr val="221C57"/>
                </a:solidFill>
                <a:latin typeface="Sakkal Majalla"/>
                <a:cs typeface="Sakkal Majalla"/>
                <a:ea typeface="Sakkal Majalla"/>
              </a:rPr>
              <a:t>التضارب بين نتائج الدراسات فجوة قوية وفرصة ذهبية — دراستك قد تكون الحكم الذي يحسم الخلاف</a:t>
            </a:r>
          </a:p>
        </p:txBody>
      </p:sp>
      <p:sp>
        <p:nvSpPr>
          <p:cNvPr id="23" name="Rounded Rectangle 22"/>
          <p:cNvSpPr/>
          <p:nvPr/>
        </p:nvSpPr>
        <p:spPr>
          <a:xfrm>
            <a:off x="548640" y="4590288"/>
            <a:ext cx="11094415" cy="86868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38383" y="4727448"/>
            <a:ext cx="594360" cy="594360"/>
          </a:xfrm>
          <a:prstGeom prst="ellipse">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i="0">
                <a:solidFill>
                  <a:srgbClr val="FFFFFF"/>
                </a:solidFill>
                <a:latin typeface="Sakkal Majalla"/>
                <a:cs typeface="Sakkal Majalla"/>
                <a:ea typeface="Sakkal Majalla"/>
              </a:rPr>
              <a:t>❓</a:t>
            </a:r>
          </a:p>
        </p:txBody>
      </p:sp>
      <p:sp>
        <p:nvSpPr>
          <p:cNvPr id="25" name="TextBox 24"/>
          <p:cNvSpPr txBox="1"/>
          <p:nvPr/>
        </p:nvSpPr>
        <p:spPr>
          <a:xfrm>
            <a:off x="822959" y="4663440"/>
            <a:ext cx="9814255"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D97706"/>
                </a:solidFill>
                <a:latin typeface="Sakkal Majalla"/>
                <a:cs typeface="Sakkal Majalla"/>
                <a:ea typeface="Sakkal Majalla"/>
              </a:rPr>
              <a:t>اسأل: ماذا لو؟   </a:t>
            </a:r>
            <a:r>
              <a:rPr sz="1050" b="0" i="1">
                <a:solidFill>
                  <a:srgbClr val="6E6A8F"/>
                </a:solidFill>
                <a:latin typeface="Sakkal Majalla"/>
                <a:cs typeface="Sakkal Majalla"/>
                <a:ea typeface="Sakkal Majalla"/>
              </a:rPr>
              <a:t>What if?</a:t>
            </a:r>
          </a:p>
        </p:txBody>
      </p:sp>
      <p:sp>
        <p:nvSpPr>
          <p:cNvPr id="26" name="TextBox 25"/>
          <p:cNvSpPr txBox="1"/>
          <p:nvPr/>
        </p:nvSpPr>
        <p:spPr>
          <a:xfrm>
            <a:off x="822959" y="5047488"/>
            <a:ext cx="9814255" cy="384048"/>
          </a:xfrm>
          <a:prstGeom prst="rect">
            <a:avLst/>
          </a:prstGeom>
          <a:noFill/>
        </p:spPr>
        <p:txBody>
          <a:bodyPr wrap="square" anchor="t" lIns="0" rIns="0" tIns="0" bIns="0">
            <a:spAutoFit/>
          </a:bodyPr>
          <a:lstStyle/>
          <a:p>
            <a:pPr algn="r" rtl="1">
              <a:lnSpc>
                <a:spcPct val="110000"/>
              </a:lnSpc>
              <a:spcBef>
                <a:spcPts val="0"/>
              </a:spcBef>
              <a:spcAft>
                <a:spcPts val="400"/>
              </a:spcAft>
            </a:pPr>
            <a:r>
              <a:rPr sz="1200" b="0" i="0">
                <a:solidFill>
                  <a:srgbClr val="221C57"/>
                </a:solidFill>
                <a:latin typeface="Sakkal Majalla"/>
                <a:cs typeface="Sakkal Majalla"/>
                <a:ea typeface="Sakkal Majalla"/>
              </a:rPr>
              <a:t>ماذا لو طبّقنا الدراسة نفسها على فئة عمرية مختلفة أو في دولة مختلفة؟ هنا غالباً تجد فجوة بحثية ممتازة</a:t>
            </a:r>
          </a:p>
        </p:txBody>
      </p:sp>
      <p:sp>
        <p:nvSpPr>
          <p:cNvPr id="27" name="Rounded Rectangle 26"/>
          <p:cNvSpPr/>
          <p:nvPr/>
        </p:nvSpPr>
        <p:spPr>
          <a:xfrm>
            <a:off x="548640" y="5650992"/>
            <a:ext cx="11094415" cy="566928"/>
          </a:xfrm>
          <a:prstGeom prst="roundRect">
            <a:avLst>
              <a:gd name="adj" fmla="val 30000"/>
            </a:avLst>
          </a:prstGeom>
          <a:ln>
            <a:noFill/>
          </a:ln>
          <a:gradFill rotWithShape="1">
            <a:gsLst>
              <a:gs pos="0">
                <a:srgbClr val="17123B"/>
              </a:gs>
              <a:gs pos="100000">
                <a:srgbClr val="3B3486"/>
              </a:gs>
            </a:gsLst>
            <a:lin ang="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 y="5760720"/>
            <a:ext cx="10545775"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FBBF24"/>
                </a:solidFill>
                <a:latin typeface="Sakkal Majalla"/>
                <a:cs typeface="Sakkal Majalla"/>
                <a:ea typeface="Sakkal Majalla"/>
              </a:rPr>
              <a:t>💡 نصيحة ذهبية: </a:t>
            </a:r>
            <a:r>
              <a:rPr sz="1250" b="0" i="0">
                <a:solidFill>
                  <a:srgbClr val="FFFFFF"/>
                </a:solidFill>
                <a:latin typeface="Sakkal Majalla"/>
                <a:cs typeface="Sakkal Majalla"/>
                <a:ea typeface="Sakkal Majalla"/>
              </a:rPr>
              <a:t>اقرأ آخر ٢٠ ورقة في مجلتك المستهدفة — الأنماط المتكررة ستكشف لك الفراغات بوضوح تام</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11</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1D4ED8"/>
              </a:gs>
              <a:gs pos="100000">
                <a:srgbClr val="60A5FA"/>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1D4ED8"/>
                </a:solidFill>
                <a:latin typeface="Sakkal Majalla"/>
                <a:cs typeface="Sakkal Majalla"/>
                <a:ea typeface="Sakkal Majalla"/>
              </a:rPr>
              <a:t>CRITICAL THINKING FRAMEWORK</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التفكير النقدي عند تحليل الدراسات</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1D4ED8"/>
              </a:gs>
              <a:gs pos="100000">
                <a:srgbClr val="60A5F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1D4ED8"/>
              </a:gs>
              <a:gs pos="100000">
                <a:srgbClr val="60A5F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1D4ED8"/>
              </a:gs>
              <a:gs pos="100000">
                <a:srgbClr val="60A5FA"/>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11</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6255867" y="1600200"/>
            <a:ext cx="5387187" cy="3931920"/>
          </a:xfrm>
          <a:prstGeom prst="roundRect">
            <a:avLst>
              <a:gd name="adj" fmla="val 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600200"/>
            <a:ext cx="5387187" cy="109728"/>
          </a:xfrm>
          <a:prstGeom prst="roundRect">
            <a:avLst>
              <a:gd name="adj" fmla="val 100000"/>
            </a:avLst>
          </a:prstGeom>
          <a:ln>
            <a:noFill/>
          </a:ln>
          <a:effectLst/>
          <a:gradFill rotWithShape="1">
            <a:gsLst>
              <a:gs pos="0">
                <a:srgbClr val="6D28D9"/>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10512"/>
            <a:ext cx="4838547"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00" b="1" i="0">
                <a:solidFill>
                  <a:srgbClr val="6D28D9"/>
                </a:solidFill>
                <a:latin typeface="Sakkal Majalla"/>
                <a:cs typeface="Sakkal Majalla"/>
                <a:ea typeface="Sakkal Majalla"/>
              </a:rPr>
              <a:t>❓ الأسئلة الستة الذهبية</a:t>
            </a:r>
          </a:p>
        </p:txBody>
      </p:sp>
      <p:sp>
        <p:nvSpPr>
          <p:cNvPr id="14" name="TextBox 13"/>
          <p:cNvSpPr txBox="1"/>
          <p:nvPr/>
        </p:nvSpPr>
        <p:spPr>
          <a:xfrm>
            <a:off x="6575907" y="2377440"/>
            <a:ext cx="4747107" cy="3108960"/>
          </a:xfrm>
          <a:prstGeom prst="rect">
            <a:avLst/>
          </a:prstGeom>
          <a:noFill/>
        </p:spPr>
        <p:txBody>
          <a:bodyPr wrap="square" anchor="t" lIns="0" rIns="0" tIns="0" bIns="0">
            <a:spAutoFit/>
          </a:bodyPr>
          <a:lstStyle/>
          <a:p>
            <a:pPr algn="r" rtl="1">
              <a:lnSpc>
                <a:spcPct val="110000"/>
              </a:lnSpc>
              <a:spcBef>
                <a:spcPts val="0"/>
              </a:spcBef>
              <a:spcAft>
                <a:spcPts val="1000"/>
              </a:spcAft>
            </a:pPr>
            <a:r>
              <a:rPr sz="1200" b="0" i="0">
                <a:solidFill>
                  <a:srgbClr val="A21CAF"/>
                </a:solidFill>
                <a:latin typeface="Sakkal Majalla"/>
                <a:cs typeface="Sakkal Majalla"/>
                <a:ea typeface="Sakkal Majalla"/>
              </a:rPr>
              <a:t>●  </a:t>
            </a:r>
            <a:r>
              <a:rPr sz="1300" b="1" i="0">
                <a:solidFill>
                  <a:srgbClr val="A21CAF"/>
                </a:solidFill>
                <a:latin typeface="Sakkal Majalla"/>
                <a:cs typeface="Sakkal Majalla"/>
                <a:ea typeface="Sakkal Majalla"/>
              </a:rPr>
              <a:t>Who — مَن:  </a:t>
            </a:r>
            <a:r>
              <a:rPr sz="1250" b="0" i="0">
                <a:solidFill>
                  <a:srgbClr val="221C57"/>
                </a:solidFill>
                <a:latin typeface="Sakkal Majalla"/>
                <a:cs typeface="Sakkal Majalla"/>
                <a:ea typeface="Sakkal Majalla"/>
              </a:rPr>
              <a:t>الذي تمت دراسته؟ (السكان والعينة)</a:t>
            </a:r>
          </a:p>
          <a:p>
            <a:pPr algn="r" rtl="1">
              <a:lnSpc>
                <a:spcPct val="110000"/>
              </a:lnSpc>
              <a:spcBef>
                <a:spcPts val="0"/>
              </a:spcBef>
              <a:spcAft>
                <a:spcPts val="1000"/>
              </a:spcAft>
            </a:pPr>
            <a:r>
              <a:rPr sz="1200" b="0" i="0">
                <a:solidFill>
                  <a:srgbClr val="D97706"/>
                </a:solidFill>
                <a:latin typeface="Sakkal Majalla"/>
                <a:cs typeface="Sakkal Majalla"/>
                <a:ea typeface="Sakkal Majalla"/>
              </a:rPr>
              <a:t>●  </a:t>
            </a:r>
            <a:r>
              <a:rPr sz="1300" b="1" i="0">
                <a:solidFill>
                  <a:srgbClr val="D97706"/>
                </a:solidFill>
                <a:latin typeface="Sakkal Majalla"/>
                <a:cs typeface="Sakkal Majalla"/>
                <a:ea typeface="Sakkal Majalla"/>
              </a:rPr>
              <a:t>What — ماذا:  </a:t>
            </a:r>
            <a:r>
              <a:rPr sz="1250" b="0" i="0">
                <a:solidFill>
                  <a:srgbClr val="221C57"/>
                </a:solidFill>
                <a:latin typeface="Sakkal Majalla"/>
                <a:cs typeface="Sakkal Majalla"/>
                <a:ea typeface="Sakkal Majalla"/>
              </a:rPr>
              <a:t>قِيس بالضبط؟ (المتغيرات والأدوات)</a:t>
            </a:r>
          </a:p>
          <a:p>
            <a:pPr algn="r" rtl="1">
              <a:lnSpc>
                <a:spcPct val="110000"/>
              </a:lnSpc>
              <a:spcBef>
                <a:spcPts val="0"/>
              </a:spcBef>
              <a:spcAft>
                <a:spcPts val="1000"/>
              </a:spcAft>
            </a:pPr>
            <a:r>
              <a:rPr sz="1200" b="0" i="0">
                <a:solidFill>
                  <a:srgbClr val="0D9488"/>
                </a:solidFill>
                <a:latin typeface="Sakkal Majalla"/>
                <a:cs typeface="Sakkal Majalla"/>
                <a:ea typeface="Sakkal Majalla"/>
              </a:rPr>
              <a:t>●  </a:t>
            </a:r>
            <a:r>
              <a:rPr sz="1300" b="1" i="0">
                <a:solidFill>
                  <a:srgbClr val="0D9488"/>
                </a:solidFill>
                <a:latin typeface="Sakkal Majalla"/>
                <a:cs typeface="Sakkal Majalla"/>
                <a:ea typeface="Sakkal Majalla"/>
              </a:rPr>
              <a:t>Where — أين:  </a:t>
            </a:r>
            <a:r>
              <a:rPr sz="1250" b="0" i="0">
                <a:solidFill>
                  <a:srgbClr val="221C57"/>
                </a:solidFill>
                <a:latin typeface="Sakkal Majalla"/>
                <a:cs typeface="Sakkal Majalla"/>
                <a:ea typeface="Sakkal Majalla"/>
              </a:rPr>
              <a:t>أُجري البحث؟ (السياق الجغرافي والثقافي)</a:t>
            </a:r>
          </a:p>
          <a:p>
            <a:pPr algn="r" rtl="1">
              <a:lnSpc>
                <a:spcPct val="110000"/>
              </a:lnSpc>
              <a:spcBef>
                <a:spcPts val="0"/>
              </a:spcBef>
              <a:spcAft>
                <a:spcPts val="1000"/>
              </a:spcAft>
            </a:pPr>
            <a:r>
              <a:rPr sz="1200" b="0" i="0">
                <a:solidFill>
                  <a:srgbClr val="6D28D9"/>
                </a:solidFill>
                <a:latin typeface="Sakkal Majalla"/>
                <a:cs typeface="Sakkal Majalla"/>
                <a:ea typeface="Sakkal Majalla"/>
              </a:rPr>
              <a:t>●  </a:t>
            </a:r>
            <a:r>
              <a:rPr sz="1300" b="1" i="0">
                <a:solidFill>
                  <a:srgbClr val="6D28D9"/>
                </a:solidFill>
                <a:latin typeface="Sakkal Majalla"/>
                <a:cs typeface="Sakkal Majalla"/>
                <a:ea typeface="Sakkal Majalla"/>
              </a:rPr>
              <a:t>When — متى:  </a:t>
            </a:r>
            <a:r>
              <a:rPr sz="1250" b="0" i="0">
                <a:solidFill>
                  <a:srgbClr val="221C57"/>
                </a:solidFill>
                <a:latin typeface="Sakkal Majalla"/>
                <a:cs typeface="Sakkal Majalla"/>
                <a:ea typeface="Sakkal Majalla"/>
              </a:rPr>
              <a:t>نُشرت الدراسة؟ (الزمن ومدى الحداثة)</a:t>
            </a:r>
          </a:p>
          <a:p>
            <a:pPr algn="r" rtl="1">
              <a:lnSpc>
                <a:spcPct val="110000"/>
              </a:lnSpc>
              <a:spcBef>
                <a:spcPts val="0"/>
              </a:spcBef>
              <a:spcAft>
                <a:spcPts val="1000"/>
              </a:spcAft>
            </a:pPr>
            <a:r>
              <a:rPr sz="1200" b="0" i="0">
                <a:solidFill>
                  <a:srgbClr val="047857"/>
                </a:solidFill>
                <a:latin typeface="Sakkal Majalla"/>
                <a:cs typeface="Sakkal Majalla"/>
                <a:ea typeface="Sakkal Majalla"/>
              </a:rPr>
              <a:t>●  </a:t>
            </a:r>
            <a:r>
              <a:rPr sz="1300" b="1" i="0">
                <a:solidFill>
                  <a:srgbClr val="047857"/>
                </a:solidFill>
                <a:latin typeface="Sakkal Majalla"/>
                <a:cs typeface="Sakkal Majalla"/>
                <a:ea typeface="Sakkal Majalla"/>
              </a:rPr>
              <a:t>How — كيف:  </a:t>
            </a:r>
            <a:r>
              <a:rPr sz="1250" b="0" i="0">
                <a:solidFill>
                  <a:srgbClr val="221C57"/>
                </a:solidFill>
                <a:latin typeface="Sakkal Majalla"/>
                <a:cs typeface="Sakkal Majalla"/>
                <a:ea typeface="Sakkal Majalla"/>
              </a:rPr>
              <a:t>تمت الدراسة؟ (المنهجية والتصميم)</a:t>
            </a:r>
          </a:p>
          <a:p>
            <a:pPr algn="r" rtl="1">
              <a:lnSpc>
                <a:spcPct val="110000"/>
              </a:lnSpc>
              <a:spcBef>
                <a:spcPts val="0"/>
              </a:spcBef>
              <a:spcAft>
                <a:spcPts val="1000"/>
              </a:spcAft>
            </a:pPr>
            <a:r>
              <a:rPr sz="1200" b="0" i="0">
                <a:solidFill>
                  <a:srgbClr val="BE123C"/>
                </a:solidFill>
                <a:latin typeface="Sakkal Majalla"/>
                <a:cs typeface="Sakkal Majalla"/>
                <a:ea typeface="Sakkal Majalla"/>
              </a:rPr>
              <a:t>●  </a:t>
            </a:r>
            <a:r>
              <a:rPr sz="1300" b="1" i="0">
                <a:solidFill>
                  <a:srgbClr val="BE123C"/>
                </a:solidFill>
                <a:latin typeface="Sakkal Majalla"/>
                <a:cs typeface="Sakkal Majalla"/>
                <a:ea typeface="Sakkal Majalla"/>
              </a:rPr>
              <a:t>Why — لماذا:  </a:t>
            </a:r>
            <a:r>
              <a:rPr sz="1250" b="0" i="0">
                <a:solidFill>
                  <a:srgbClr val="221C57"/>
                </a:solidFill>
                <a:latin typeface="Sakkal Majalla"/>
                <a:cs typeface="Sakkal Majalla"/>
                <a:ea typeface="Sakkal Majalla"/>
              </a:rPr>
              <a:t>توقفت الدراسة؟ (حدودها المعلنة)</a:t>
            </a:r>
          </a:p>
        </p:txBody>
      </p:sp>
      <p:sp>
        <p:nvSpPr>
          <p:cNvPr id="15" name="Rounded Rectangle 14"/>
          <p:cNvSpPr/>
          <p:nvPr/>
        </p:nvSpPr>
        <p:spPr>
          <a:xfrm>
            <a:off x="548640" y="1600200"/>
            <a:ext cx="5387187" cy="3931920"/>
          </a:xfrm>
          <a:prstGeom prst="roundRect">
            <a:avLst>
              <a:gd name="adj" fmla="val 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1600200"/>
            <a:ext cx="5387187" cy="109728"/>
          </a:xfrm>
          <a:prstGeom prst="roundRect">
            <a:avLst>
              <a:gd name="adj" fmla="val 100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1810512"/>
            <a:ext cx="4838547"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00" b="1" i="0">
                <a:solidFill>
                  <a:srgbClr val="0D9488"/>
                </a:solidFill>
                <a:latin typeface="Sakkal Majalla"/>
                <a:cs typeface="Sakkal Majalla"/>
                <a:ea typeface="Sakkal Majalla"/>
              </a:rPr>
              <a:t>🔎 عبارات تدل على فجوة قابلة للبحث</a:t>
            </a:r>
          </a:p>
        </p:txBody>
      </p:sp>
      <p:sp>
        <p:nvSpPr>
          <p:cNvPr id="18" name="TextBox 17"/>
          <p:cNvSpPr txBox="1"/>
          <p:nvPr/>
        </p:nvSpPr>
        <p:spPr>
          <a:xfrm>
            <a:off x="868680" y="2377440"/>
            <a:ext cx="4747107" cy="3108960"/>
          </a:xfrm>
          <a:prstGeom prst="rect">
            <a:avLst/>
          </a:prstGeom>
          <a:noFill/>
        </p:spPr>
        <p:txBody>
          <a:bodyPr wrap="square" anchor="t" lIns="0" rIns="0" tIns="0" bIns="0">
            <a:spAutoFit/>
          </a:bodyPr>
          <a:lstStyle/>
          <a:p>
            <a:pPr algn="r" rtl="1">
              <a:lnSpc>
                <a:spcPct val="110000"/>
              </a:lnSpc>
              <a:spcBef>
                <a:spcPts val="0"/>
              </a:spcBef>
              <a:spcAft>
                <a:spcPts val="900"/>
              </a:spcAft>
            </a:pPr>
            <a:r>
              <a:rPr sz="1200" b="1" i="0">
                <a:solidFill>
                  <a:srgbClr val="0D9488"/>
                </a:solidFill>
                <a:latin typeface="Sakkal Majalla"/>
                <a:cs typeface="Sakkal Majalla"/>
                <a:ea typeface="Sakkal Majalla"/>
              </a:rPr>
              <a:t>✔  </a:t>
            </a:r>
            <a:r>
              <a:rPr sz="1150" b="1" i="1">
                <a:solidFill>
                  <a:srgbClr val="1D4ED8"/>
                </a:solidFill>
                <a:latin typeface="Sakkal Majalla"/>
                <a:cs typeface="Sakkal Majalla"/>
                <a:ea typeface="Sakkal Majalla"/>
              </a:rPr>
              <a:t>"This area has not been studied…"</a:t>
            </a:r>
            <a:r>
              <a:rPr sz="1100" b="0" i="0">
                <a:solidFill>
                  <a:srgbClr val="6E6A8F"/>
                </a:solidFill>
                <a:latin typeface="Sakkal Majalla"/>
                <a:cs typeface="Sakkal Majalla"/>
                <a:ea typeface="Sakkal Majalla"/>
              </a:rPr>
              <a:t>  هذه المنطقة لم تُدرس بعد — غياب صريح</a:t>
            </a:r>
          </a:p>
          <a:p>
            <a:pPr algn="r" rtl="1">
              <a:lnSpc>
                <a:spcPct val="110000"/>
              </a:lnSpc>
              <a:spcBef>
                <a:spcPts val="0"/>
              </a:spcBef>
              <a:spcAft>
                <a:spcPts val="900"/>
              </a:spcAft>
            </a:pPr>
            <a:r>
              <a:rPr sz="1200" b="1" i="0">
                <a:solidFill>
                  <a:srgbClr val="0D9488"/>
                </a:solidFill>
                <a:latin typeface="Sakkal Majalla"/>
                <a:cs typeface="Sakkal Majalla"/>
                <a:ea typeface="Sakkal Majalla"/>
              </a:rPr>
              <a:t>✔  </a:t>
            </a:r>
            <a:r>
              <a:rPr sz="1150" b="1" i="1">
                <a:solidFill>
                  <a:srgbClr val="1D4ED8"/>
                </a:solidFill>
                <a:latin typeface="Sakkal Majalla"/>
                <a:cs typeface="Sakkal Majalla"/>
                <a:ea typeface="Sakkal Majalla"/>
              </a:rPr>
              <a:t>"Results are conflicting…"</a:t>
            </a:r>
            <a:r>
              <a:rPr sz="1100" b="0" i="0">
                <a:solidFill>
                  <a:srgbClr val="6E6A8F"/>
                </a:solidFill>
                <a:latin typeface="Sakkal Majalla"/>
                <a:cs typeface="Sakkal Majalla"/>
                <a:ea typeface="Sakkal Majalla"/>
              </a:rPr>
              <a:t>  النتائج متضاربة — تناقض يستدعي الحسم</a:t>
            </a:r>
          </a:p>
          <a:p>
            <a:pPr algn="r" rtl="1">
              <a:lnSpc>
                <a:spcPct val="110000"/>
              </a:lnSpc>
              <a:spcBef>
                <a:spcPts val="0"/>
              </a:spcBef>
              <a:spcAft>
                <a:spcPts val="900"/>
              </a:spcAft>
            </a:pPr>
            <a:r>
              <a:rPr sz="1200" b="1" i="0">
                <a:solidFill>
                  <a:srgbClr val="0D9488"/>
                </a:solidFill>
                <a:latin typeface="Sakkal Majalla"/>
                <a:cs typeface="Sakkal Majalla"/>
                <a:ea typeface="Sakkal Majalla"/>
              </a:rPr>
              <a:t>✔  </a:t>
            </a:r>
            <a:r>
              <a:rPr sz="1150" b="1" i="1">
                <a:solidFill>
                  <a:srgbClr val="1D4ED8"/>
                </a:solidFill>
                <a:latin typeface="Sakkal Majalla"/>
                <a:cs typeface="Sakkal Majalla"/>
                <a:ea typeface="Sakkal Majalla"/>
              </a:rPr>
              <a:t>"The sample does not represent…"</a:t>
            </a:r>
            <a:r>
              <a:rPr sz="1100" b="0" i="0">
                <a:solidFill>
                  <a:srgbClr val="6E6A8F"/>
                </a:solidFill>
                <a:latin typeface="Sakkal Majalla"/>
                <a:cs typeface="Sakkal Majalla"/>
                <a:ea typeface="Sakkal Majalla"/>
              </a:rPr>
              <a:t>  العينة لا تمثّل — قصور في التعميم</a:t>
            </a:r>
          </a:p>
          <a:p>
            <a:pPr algn="r" rtl="1">
              <a:lnSpc>
                <a:spcPct val="110000"/>
              </a:lnSpc>
              <a:spcBef>
                <a:spcPts val="0"/>
              </a:spcBef>
              <a:spcAft>
                <a:spcPts val="900"/>
              </a:spcAft>
            </a:pPr>
            <a:r>
              <a:rPr sz="1200" b="1" i="0">
                <a:solidFill>
                  <a:srgbClr val="0D9488"/>
                </a:solidFill>
                <a:latin typeface="Sakkal Majalla"/>
                <a:cs typeface="Sakkal Majalla"/>
                <a:ea typeface="Sakkal Majalla"/>
              </a:rPr>
              <a:t>✔  </a:t>
            </a:r>
            <a:r>
              <a:rPr sz="1150" b="1" i="1">
                <a:solidFill>
                  <a:srgbClr val="1D4ED8"/>
                </a:solidFill>
                <a:latin typeface="Sakkal Majalla"/>
                <a:cs typeface="Sakkal Majalla"/>
                <a:ea typeface="Sakkal Majalla"/>
              </a:rPr>
              <a:t>"Further research is needed…"</a:t>
            </a:r>
            <a:r>
              <a:rPr sz="1100" b="0" i="0">
                <a:solidFill>
                  <a:srgbClr val="6E6A8F"/>
                </a:solidFill>
                <a:latin typeface="Sakkal Majalla"/>
                <a:cs typeface="Sakkal Majalla"/>
                <a:ea typeface="Sakkal Majalla"/>
              </a:rPr>
              <a:t>  هناك حاجة لمزيد من البحث — دعوة مباشرة</a:t>
            </a:r>
          </a:p>
          <a:p>
            <a:pPr algn="r" rtl="1">
              <a:lnSpc>
                <a:spcPct val="110000"/>
              </a:lnSpc>
              <a:spcBef>
                <a:spcPts val="0"/>
              </a:spcBef>
              <a:spcAft>
                <a:spcPts val="900"/>
              </a:spcAft>
            </a:pPr>
            <a:r>
              <a:rPr sz="1200" b="1" i="0">
                <a:solidFill>
                  <a:srgbClr val="0D9488"/>
                </a:solidFill>
                <a:latin typeface="Sakkal Majalla"/>
                <a:cs typeface="Sakkal Majalla"/>
                <a:ea typeface="Sakkal Majalla"/>
              </a:rPr>
              <a:t>✔  </a:t>
            </a:r>
            <a:r>
              <a:rPr sz="1150" b="1" i="1">
                <a:solidFill>
                  <a:srgbClr val="1D4ED8"/>
                </a:solidFill>
                <a:latin typeface="Sakkal Majalla"/>
                <a:cs typeface="Sakkal Majalla"/>
                <a:ea typeface="Sakkal Majalla"/>
              </a:rPr>
              <a:t>"Only quantitative methods were used…"</a:t>
            </a:r>
            <a:r>
              <a:rPr sz="1100" b="0" i="0">
                <a:solidFill>
                  <a:srgbClr val="6E6A8F"/>
                </a:solidFill>
                <a:latin typeface="Sakkal Majalla"/>
                <a:cs typeface="Sakkal Majalla"/>
                <a:ea typeface="Sakkal Majalla"/>
              </a:rPr>
              <a:t>  اقتصار على منهج واحد — فجوة منهجية</a:t>
            </a:r>
          </a:p>
          <a:p>
            <a:pPr algn="r" rtl="1">
              <a:lnSpc>
                <a:spcPct val="110000"/>
              </a:lnSpc>
              <a:spcBef>
                <a:spcPts val="0"/>
              </a:spcBef>
              <a:spcAft>
                <a:spcPts val="900"/>
              </a:spcAft>
            </a:pPr>
            <a:r>
              <a:rPr sz="1200" b="1" i="0">
                <a:solidFill>
                  <a:srgbClr val="0D9488"/>
                </a:solidFill>
                <a:latin typeface="Sakkal Majalla"/>
                <a:cs typeface="Sakkal Majalla"/>
                <a:ea typeface="Sakkal Majalla"/>
              </a:rPr>
              <a:t>✔  </a:t>
            </a:r>
            <a:r>
              <a:rPr sz="1150" b="1" i="1">
                <a:solidFill>
                  <a:srgbClr val="1D4ED8"/>
                </a:solidFill>
                <a:latin typeface="Sakkal Majalla"/>
                <a:cs typeface="Sakkal Majalla"/>
                <a:ea typeface="Sakkal Majalla"/>
              </a:rPr>
              <a:t>"Before 2020…"</a:t>
            </a:r>
            <a:r>
              <a:rPr sz="1100" b="0" i="0">
                <a:solidFill>
                  <a:srgbClr val="6E6A8F"/>
                </a:solidFill>
                <a:latin typeface="Sakkal Majalla"/>
                <a:cs typeface="Sakkal Majalla"/>
                <a:ea typeface="Sakkal Majalla"/>
              </a:rPr>
              <a:t>  بيانات قديمة — فجوة زمنية محتملة</a:t>
            </a:r>
          </a:p>
        </p:txBody>
      </p:sp>
      <p:sp>
        <p:nvSpPr>
          <p:cNvPr id="19" name="Rounded Rectangle 18"/>
          <p:cNvSpPr/>
          <p:nvPr/>
        </p:nvSpPr>
        <p:spPr>
          <a:xfrm>
            <a:off x="548640" y="5715000"/>
            <a:ext cx="11094415" cy="530352"/>
          </a:xfrm>
          <a:prstGeom prst="roundRect">
            <a:avLst>
              <a:gd name="adj" fmla="val 30000"/>
            </a:avLst>
          </a:prstGeom>
          <a:solidFill>
            <a:srgbClr val="F7ECF8"/>
          </a:solidFill>
          <a:ln w="12700">
            <a:solidFill>
              <a:srgbClr val="A21C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5815584"/>
            <a:ext cx="10545775" cy="347472"/>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A21CAF"/>
                </a:solidFill>
                <a:latin typeface="Sakkal Majalla"/>
                <a:cs typeface="Sakkal Majalla"/>
                <a:ea typeface="Sakkal Majalla"/>
              </a:rPr>
              <a:t>«التفكير النقدي لا يعني أن ننتقد الدراسات السابقة — بل أن نبني عليها ونطوّرها»  </a:t>
            </a:r>
            <a:r>
              <a:rPr sz="1100" b="0" i="0">
                <a:solidFill>
                  <a:srgbClr val="6E6A8F"/>
                </a:solidFill>
                <a:latin typeface="Sakkal Majalla"/>
                <a:cs typeface="Sakkal Majalla"/>
                <a:ea typeface="Sakkal Majalla"/>
              </a:rPr>
              <a:t>— من شرح الورشة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12</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0D9488"/>
                </a:solidFill>
                <a:latin typeface="Sakkal Majalla"/>
                <a:cs typeface="Sakkal Majalla"/>
                <a:ea typeface="Sakkal Majalla"/>
              </a:rPr>
              <a:t>STRONG GAP VS. WEAK GAP</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الفجوة القوية والفجوة الضعيفة</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0D9488"/>
              </a:gs>
              <a:gs pos="100000">
                <a:srgbClr val="2DD4BF"/>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12</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6255867" y="1600200"/>
            <a:ext cx="5387187" cy="3520440"/>
          </a:xfrm>
          <a:prstGeom prst="roundRect">
            <a:avLst>
              <a:gd name="adj" fmla="val 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600200"/>
            <a:ext cx="5387187" cy="109728"/>
          </a:xfrm>
          <a:prstGeom prst="roundRect">
            <a:avLst>
              <a:gd name="adj" fmla="val 100000"/>
            </a:avLst>
          </a:prstGeom>
          <a:ln>
            <a:noFill/>
          </a:ln>
          <a:effectLst/>
          <a:gradFill rotWithShape="1">
            <a:gsLst>
              <a:gs pos="0">
                <a:srgbClr val="047857"/>
              </a:gs>
              <a:gs pos="100000">
                <a:srgbClr val="34D39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792224"/>
            <a:ext cx="4838547"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00" b="1" i="0">
                <a:solidFill>
                  <a:srgbClr val="047857"/>
                </a:solidFill>
                <a:latin typeface="Sakkal Majalla"/>
                <a:cs typeface="Sakkal Majalla"/>
                <a:ea typeface="Sakkal Majalla"/>
              </a:rPr>
              <a:t>💪 الفجوة القوية — Strong Gap</a:t>
            </a:r>
          </a:p>
        </p:txBody>
      </p:sp>
      <p:sp>
        <p:nvSpPr>
          <p:cNvPr id="14" name="TextBox 13"/>
          <p:cNvSpPr txBox="1"/>
          <p:nvPr/>
        </p:nvSpPr>
        <p:spPr>
          <a:xfrm>
            <a:off x="6575907" y="2331720"/>
            <a:ext cx="4747107" cy="2743200"/>
          </a:xfrm>
          <a:prstGeom prst="rect">
            <a:avLst/>
          </a:prstGeom>
          <a:noFill/>
        </p:spPr>
        <p:txBody>
          <a:bodyPr wrap="square" anchor="t" lIns="0" rIns="0" tIns="0" bIns="0">
            <a:spAutoFit/>
          </a:bodyPr>
          <a:lstStyle/>
          <a:p>
            <a:pPr algn="r" rtl="1">
              <a:lnSpc>
                <a:spcPct val="110000"/>
              </a:lnSpc>
              <a:spcBef>
                <a:spcPts val="0"/>
              </a:spcBef>
              <a:spcAft>
                <a:spcPts val="900"/>
              </a:spcAft>
            </a:pPr>
            <a:r>
              <a:rPr sz="1300" b="1" i="0">
                <a:solidFill>
                  <a:srgbClr val="047857"/>
                </a:solidFill>
                <a:latin typeface="Sakkal Majalla"/>
                <a:cs typeface="Sakkal Majalla"/>
                <a:ea typeface="Sakkal Majalla"/>
              </a:rPr>
              <a:t>✔  </a:t>
            </a:r>
            <a:r>
              <a:rPr sz="1300" b="1" i="0">
                <a:solidFill>
                  <a:srgbClr val="221C57"/>
                </a:solidFill>
                <a:latin typeface="Sakkal Majalla"/>
                <a:cs typeface="Sakkal Majalla"/>
                <a:ea typeface="Sakkal Majalla"/>
              </a:rPr>
              <a:t>مدعومة بالأدلة</a:t>
            </a:r>
            <a:r>
              <a:rPr sz="1150" b="0" i="0">
                <a:solidFill>
                  <a:srgbClr val="6E6A8F"/>
                </a:solidFill>
                <a:latin typeface="Sakkal Majalla"/>
                <a:cs typeface="Sakkal Majalla"/>
                <a:ea typeface="Sakkal Majalla"/>
              </a:rPr>
              <a:t>  —  تستند إلى مراجعة أدبيات حقيقية تثبت الغياب</a:t>
            </a:r>
          </a:p>
          <a:p>
            <a:pPr algn="r" rtl="1">
              <a:lnSpc>
                <a:spcPct val="110000"/>
              </a:lnSpc>
              <a:spcBef>
                <a:spcPts val="0"/>
              </a:spcBef>
              <a:spcAft>
                <a:spcPts val="900"/>
              </a:spcAft>
            </a:pPr>
            <a:r>
              <a:rPr sz="1300" b="1" i="0">
                <a:solidFill>
                  <a:srgbClr val="047857"/>
                </a:solidFill>
                <a:latin typeface="Sakkal Majalla"/>
                <a:cs typeface="Sakkal Majalla"/>
                <a:ea typeface="Sakkal Majalla"/>
              </a:rPr>
              <a:t>✔  </a:t>
            </a:r>
            <a:r>
              <a:rPr sz="1300" b="1" i="0">
                <a:solidFill>
                  <a:srgbClr val="221C57"/>
                </a:solidFill>
                <a:latin typeface="Sakkal Majalla"/>
                <a:cs typeface="Sakkal Majalla"/>
                <a:ea typeface="Sakkal Majalla"/>
              </a:rPr>
              <a:t>محددة وقابلة للقياس</a:t>
            </a:r>
            <a:r>
              <a:rPr sz="1150" b="0" i="0">
                <a:solidFill>
                  <a:srgbClr val="6E6A8F"/>
                </a:solidFill>
                <a:latin typeface="Sakkal Majalla"/>
                <a:cs typeface="Sakkal Majalla"/>
                <a:ea typeface="Sakkal Majalla"/>
              </a:rPr>
              <a:t>  —  موضوع + فئة + سياق + إطار زمني واضح</a:t>
            </a:r>
          </a:p>
          <a:p>
            <a:pPr algn="r" rtl="1">
              <a:lnSpc>
                <a:spcPct val="110000"/>
              </a:lnSpc>
              <a:spcBef>
                <a:spcPts val="0"/>
              </a:spcBef>
              <a:spcAft>
                <a:spcPts val="900"/>
              </a:spcAft>
            </a:pPr>
            <a:r>
              <a:rPr sz="1300" b="1" i="0">
                <a:solidFill>
                  <a:srgbClr val="047857"/>
                </a:solidFill>
                <a:latin typeface="Sakkal Majalla"/>
                <a:cs typeface="Sakkal Majalla"/>
                <a:ea typeface="Sakkal Majalla"/>
              </a:rPr>
              <a:t>✔  </a:t>
            </a:r>
            <a:r>
              <a:rPr sz="1300" b="1" i="0">
                <a:solidFill>
                  <a:srgbClr val="221C57"/>
                </a:solidFill>
                <a:latin typeface="Sakkal Majalla"/>
                <a:cs typeface="Sakkal Majalla"/>
                <a:ea typeface="Sakkal Majalla"/>
              </a:rPr>
              <a:t>لها قيمة علمية وعملية</a:t>
            </a:r>
            <a:r>
              <a:rPr sz="1150" b="0" i="0">
                <a:solidFill>
                  <a:srgbClr val="6E6A8F"/>
                </a:solidFill>
                <a:latin typeface="Sakkal Majalla"/>
                <a:cs typeface="Sakkal Majalla"/>
                <a:ea typeface="Sakkal Majalla"/>
              </a:rPr>
              <a:t>  —  سدّها يغيّر فهماً علمياً أو ممارسة واقعية</a:t>
            </a:r>
          </a:p>
          <a:p>
            <a:pPr algn="r" rtl="1">
              <a:lnSpc>
                <a:spcPct val="110000"/>
              </a:lnSpc>
              <a:spcBef>
                <a:spcPts val="0"/>
              </a:spcBef>
              <a:spcAft>
                <a:spcPts val="900"/>
              </a:spcAft>
            </a:pPr>
            <a:r>
              <a:rPr sz="1300" b="1" i="0">
                <a:solidFill>
                  <a:srgbClr val="047857"/>
                </a:solidFill>
                <a:latin typeface="Sakkal Majalla"/>
                <a:cs typeface="Sakkal Majalla"/>
                <a:ea typeface="Sakkal Majalla"/>
              </a:rPr>
              <a:t>✔  </a:t>
            </a:r>
            <a:r>
              <a:rPr sz="1300" b="1" i="0">
                <a:solidFill>
                  <a:srgbClr val="221C57"/>
                </a:solidFill>
                <a:latin typeface="Sakkal Majalla"/>
                <a:cs typeface="Sakkal Majalla"/>
                <a:ea typeface="Sakkal Majalla"/>
              </a:rPr>
              <a:t>قابلة للمعالجة</a:t>
            </a:r>
            <a:r>
              <a:rPr sz="1150" b="0" i="0">
                <a:solidFill>
                  <a:srgbClr val="6E6A8F"/>
                </a:solidFill>
                <a:latin typeface="Sakkal Majalla"/>
                <a:cs typeface="Sakkal Majalla"/>
                <a:ea typeface="Sakkal Majalla"/>
              </a:rPr>
              <a:t>  —  يمكن تصميم دراسة واقعية وقابلة للتنفيذ لسدّها</a:t>
            </a:r>
          </a:p>
          <a:p>
            <a:pPr algn="r" rtl="1">
              <a:lnSpc>
                <a:spcPct val="110000"/>
              </a:lnSpc>
              <a:spcBef>
                <a:spcPts val="0"/>
              </a:spcBef>
              <a:spcAft>
                <a:spcPts val="900"/>
              </a:spcAft>
            </a:pPr>
            <a:r>
              <a:rPr sz="1300" b="1" i="0">
                <a:solidFill>
                  <a:srgbClr val="047857"/>
                </a:solidFill>
                <a:latin typeface="Sakkal Majalla"/>
                <a:cs typeface="Sakkal Majalla"/>
                <a:ea typeface="Sakkal Majalla"/>
              </a:rPr>
              <a:t>✔  </a:t>
            </a:r>
            <a:r>
              <a:rPr sz="1300" b="1" i="0">
                <a:solidFill>
                  <a:srgbClr val="221C57"/>
                </a:solidFill>
                <a:latin typeface="Sakkal Majalla"/>
                <a:cs typeface="Sakkal Majalla"/>
                <a:ea typeface="Sakkal Majalla"/>
              </a:rPr>
              <a:t>مرتبطة بسياق محدد</a:t>
            </a:r>
            <a:r>
              <a:rPr sz="1150" b="0" i="0">
                <a:solidFill>
                  <a:srgbClr val="6E6A8F"/>
                </a:solidFill>
                <a:latin typeface="Sakkal Majalla"/>
                <a:cs typeface="Sakkal Majalla"/>
                <a:ea typeface="Sakkal Majalla"/>
              </a:rPr>
              <a:t>  —  بيئة أو مجتمع أو قطاع معيّن — لا عموميات</a:t>
            </a:r>
          </a:p>
        </p:txBody>
      </p:sp>
      <p:sp>
        <p:nvSpPr>
          <p:cNvPr id="15" name="Rounded Rectangle 14"/>
          <p:cNvSpPr/>
          <p:nvPr/>
        </p:nvSpPr>
        <p:spPr>
          <a:xfrm>
            <a:off x="548640" y="1600200"/>
            <a:ext cx="5387187" cy="3520440"/>
          </a:xfrm>
          <a:prstGeom prst="roundRect">
            <a:avLst>
              <a:gd name="adj" fmla="val 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1600200"/>
            <a:ext cx="5387187" cy="109728"/>
          </a:xfrm>
          <a:prstGeom prst="roundRect">
            <a:avLst>
              <a:gd name="adj" fmla="val 100000"/>
            </a:avLst>
          </a:prstGeom>
          <a:ln>
            <a:noFill/>
          </a:ln>
          <a:effectLst/>
          <a:gradFill rotWithShape="1">
            <a:gsLst>
              <a:gs pos="0">
                <a:srgbClr val="BE123C"/>
              </a:gs>
              <a:gs pos="100000">
                <a:srgbClr val="FB718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1792224"/>
            <a:ext cx="4838547" cy="411480"/>
          </a:xfrm>
          <a:prstGeom prst="rect">
            <a:avLst/>
          </a:prstGeom>
          <a:noFill/>
        </p:spPr>
        <p:txBody>
          <a:bodyPr wrap="square" anchor="t" lIns="0" rIns="0" tIns="0" bIns="0">
            <a:spAutoFit/>
          </a:bodyPr>
          <a:lstStyle/>
          <a:p>
            <a:pPr algn="r" rtl="1">
              <a:lnSpc>
                <a:spcPct val="105000"/>
              </a:lnSpc>
              <a:spcBef>
                <a:spcPts val="0"/>
              </a:spcBef>
              <a:spcAft>
                <a:spcPts val="400"/>
              </a:spcAft>
            </a:pPr>
            <a:r>
              <a:rPr sz="1600" b="1" i="0">
                <a:solidFill>
                  <a:srgbClr val="BE123C"/>
                </a:solidFill>
                <a:latin typeface="Sakkal Majalla"/>
                <a:cs typeface="Sakkal Majalla"/>
                <a:ea typeface="Sakkal Majalla"/>
              </a:rPr>
              <a:t>⚠️ الفجوة الضعيفة — Weak Gap</a:t>
            </a:r>
          </a:p>
        </p:txBody>
      </p:sp>
      <p:sp>
        <p:nvSpPr>
          <p:cNvPr id="18" name="TextBox 17"/>
          <p:cNvSpPr txBox="1"/>
          <p:nvPr/>
        </p:nvSpPr>
        <p:spPr>
          <a:xfrm>
            <a:off x="868680" y="2331720"/>
            <a:ext cx="4747107" cy="2743200"/>
          </a:xfrm>
          <a:prstGeom prst="rect">
            <a:avLst/>
          </a:prstGeom>
          <a:noFill/>
        </p:spPr>
        <p:txBody>
          <a:bodyPr wrap="square" anchor="t" lIns="0" rIns="0" tIns="0" bIns="0">
            <a:spAutoFit/>
          </a:bodyPr>
          <a:lstStyle/>
          <a:p>
            <a:pPr algn="r" rtl="1">
              <a:lnSpc>
                <a:spcPct val="110000"/>
              </a:lnSpc>
              <a:spcBef>
                <a:spcPts val="0"/>
              </a:spcBef>
              <a:spcAft>
                <a:spcPts val="900"/>
              </a:spcAft>
            </a:pPr>
            <a:r>
              <a:rPr sz="1300" b="1" i="0">
                <a:solidFill>
                  <a:srgbClr val="BE123C"/>
                </a:solidFill>
                <a:latin typeface="Sakkal Majalla"/>
                <a:cs typeface="Sakkal Majalla"/>
                <a:ea typeface="Sakkal Majalla"/>
              </a:rPr>
              <a:t>✘  </a:t>
            </a:r>
            <a:r>
              <a:rPr sz="1300" b="1" i="0">
                <a:solidFill>
                  <a:srgbClr val="221C57"/>
                </a:solidFill>
                <a:latin typeface="Sakkal Majalla"/>
                <a:cs typeface="Sakkal Majalla"/>
                <a:ea typeface="Sakkal Majalla"/>
              </a:rPr>
              <a:t>عامة جداً وغير واضحة</a:t>
            </a:r>
            <a:r>
              <a:rPr sz="1150" b="0" i="0">
                <a:solidFill>
                  <a:srgbClr val="6E6A8F"/>
                </a:solidFill>
                <a:latin typeface="Sakkal Majalla"/>
                <a:cs typeface="Sakkal Majalla"/>
                <a:ea typeface="Sakkal Majalla"/>
              </a:rPr>
              <a:t>  —  بلا موضوع محدد أو سياق أو حدود</a:t>
            </a:r>
          </a:p>
          <a:p>
            <a:pPr algn="r" rtl="1">
              <a:lnSpc>
                <a:spcPct val="110000"/>
              </a:lnSpc>
              <a:spcBef>
                <a:spcPts val="0"/>
              </a:spcBef>
              <a:spcAft>
                <a:spcPts val="900"/>
              </a:spcAft>
            </a:pPr>
            <a:r>
              <a:rPr sz="1300" b="1" i="0">
                <a:solidFill>
                  <a:srgbClr val="BE123C"/>
                </a:solidFill>
                <a:latin typeface="Sakkal Majalla"/>
                <a:cs typeface="Sakkal Majalla"/>
                <a:ea typeface="Sakkal Majalla"/>
              </a:rPr>
              <a:t>✘  </a:t>
            </a:r>
            <a:r>
              <a:rPr sz="1300" b="1" i="0">
                <a:solidFill>
                  <a:srgbClr val="221C57"/>
                </a:solidFill>
                <a:latin typeface="Sakkal Majalla"/>
                <a:cs typeface="Sakkal Majalla"/>
                <a:ea typeface="Sakkal Majalla"/>
              </a:rPr>
              <a:t>غير مدعومة بمراجعة كافية</a:t>
            </a:r>
            <a:r>
              <a:rPr sz="1150" b="0" i="0">
                <a:solidFill>
                  <a:srgbClr val="6E6A8F"/>
                </a:solidFill>
                <a:latin typeface="Sakkal Majalla"/>
                <a:cs typeface="Sakkal Majalla"/>
                <a:ea typeface="Sakkal Majalla"/>
              </a:rPr>
              <a:t>  —  انطباع شخصي وليس مسحاً منهجياً</a:t>
            </a:r>
          </a:p>
          <a:p>
            <a:pPr algn="r" rtl="1">
              <a:lnSpc>
                <a:spcPct val="110000"/>
              </a:lnSpc>
              <a:spcBef>
                <a:spcPts val="0"/>
              </a:spcBef>
              <a:spcAft>
                <a:spcPts val="900"/>
              </a:spcAft>
            </a:pPr>
            <a:r>
              <a:rPr sz="1300" b="1" i="0">
                <a:solidFill>
                  <a:srgbClr val="BE123C"/>
                </a:solidFill>
                <a:latin typeface="Sakkal Majalla"/>
                <a:cs typeface="Sakkal Majalla"/>
                <a:ea typeface="Sakkal Majalla"/>
              </a:rPr>
              <a:t>✘  </a:t>
            </a:r>
            <a:r>
              <a:rPr sz="1300" b="1" i="0">
                <a:solidFill>
                  <a:srgbClr val="221C57"/>
                </a:solidFill>
                <a:latin typeface="Sakkal Majalla"/>
                <a:cs typeface="Sakkal Majalla"/>
                <a:ea typeface="Sakkal Majalla"/>
              </a:rPr>
              <a:t>«لم يدرسها أحد» بلا دليل</a:t>
            </a:r>
            <a:r>
              <a:rPr sz="1150" b="0" i="0">
                <a:solidFill>
                  <a:srgbClr val="6E6A8F"/>
                </a:solidFill>
                <a:latin typeface="Sakkal Majalla"/>
                <a:cs typeface="Sakkal Majalla"/>
                <a:ea typeface="Sakkal Majalla"/>
              </a:rPr>
              <a:t>  —  ادعاء يسهل دحضه بدراسة واحدة مضادة</a:t>
            </a:r>
          </a:p>
          <a:p>
            <a:pPr algn="r" rtl="1">
              <a:lnSpc>
                <a:spcPct val="110000"/>
              </a:lnSpc>
              <a:spcBef>
                <a:spcPts val="0"/>
              </a:spcBef>
              <a:spcAft>
                <a:spcPts val="900"/>
              </a:spcAft>
            </a:pPr>
            <a:r>
              <a:rPr sz="1300" b="1" i="0">
                <a:solidFill>
                  <a:srgbClr val="BE123C"/>
                </a:solidFill>
                <a:latin typeface="Sakkal Majalla"/>
                <a:cs typeface="Sakkal Majalla"/>
                <a:ea typeface="Sakkal Majalla"/>
              </a:rPr>
              <a:t>✘  </a:t>
            </a:r>
            <a:r>
              <a:rPr sz="1300" b="1" i="0">
                <a:solidFill>
                  <a:srgbClr val="221C57"/>
                </a:solidFill>
                <a:latin typeface="Sakkal Majalla"/>
                <a:cs typeface="Sakkal Majalla"/>
                <a:ea typeface="Sakkal Majalla"/>
              </a:rPr>
              <a:t>لا تضيف قيمة للمعرفة</a:t>
            </a:r>
            <a:r>
              <a:rPr sz="1150" b="0" i="0">
                <a:solidFill>
                  <a:srgbClr val="6E6A8F"/>
                </a:solidFill>
                <a:latin typeface="Sakkal Majalla"/>
                <a:cs typeface="Sakkal Majalla"/>
                <a:ea typeface="Sakkal Majalla"/>
              </a:rPr>
              <a:t>  —  سدّها لا يغيّر شيئاً يُذكر علمياً أو عملياً</a:t>
            </a:r>
          </a:p>
          <a:p>
            <a:pPr algn="r" rtl="1">
              <a:lnSpc>
                <a:spcPct val="110000"/>
              </a:lnSpc>
              <a:spcBef>
                <a:spcPts val="0"/>
              </a:spcBef>
              <a:spcAft>
                <a:spcPts val="900"/>
              </a:spcAft>
            </a:pPr>
            <a:r>
              <a:rPr sz="1300" b="1" i="0">
                <a:solidFill>
                  <a:srgbClr val="BE123C"/>
                </a:solidFill>
                <a:latin typeface="Sakkal Majalla"/>
                <a:cs typeface="Sakkal Majalla"/>
                <a:ea typeface="Sakkal Majalla"/>
              </a:rPr>
              <a:t>✘  </a:t>
            </a:r>
            <a:r>
              <a:rPr sz="1300" b="1" i="0">
                <a:solidFill>
                  <a:srgbClr val="221C57"/>
                </a:solidFill>
                <a:latin typeface="Sakkal Majalla"/>
                <a:cs typeface="Sakkal Majalla"/>
                <a:ea typeface="Sakkal Majalla"/>
              </a:rPr>
              <a:t>تكرار لدراسات سابقة</a:t>
            </a:r>
            <a:r>
              <a:rPr sz="1150" b="0" i="0">
                <a:solidFill>
                  <a:srgbClr val="6E6A8F"/>
                </a:solidFill>
                <a:latin typeface="Sakkal Majalla"/>
                <a:cs typeface="Sakkal Majalla"/>
                <a:ea typeface="Sakkal Majalla"/>
              </a:rPr>
              <a:t>  —  إعادة إنتاج مقنَّعة وليست بحثاً جديداً</a:t>
            </a:r>
          </a:p>
        </p:txBody>
      </p:sp>
      <p:sp>
        <p:nvSpPr>
          <p:cNvPr id="19" name="Rounded Rectangle 18"/>
          <p:cNvSpPr/>
          <p:nvPr/>
        </p:nvSpPr>
        <p:spPr>
          <a:xfrm>
            <a:off x="548640" y="5303520"/>
            <a:ext cx="11094415" cy="914400"/>
          </a:xfrm>
          <a:prstGeom prst="roundRect">
            <a:avLst>
              <a:gd name="adj" fmla="val 15000"/>
            </a:avLst>
          </a:prstGeom>
          <a:solidFill>
            <a:srgbClr val="FFFFFF"/>
          </a:solidFill>
          <a:ln w="15240">
            <a:solidFill>
              <a:srgbClr val="D97706"/>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5394960"/>
            <a:ext cx="10545775" cy="777240"/>
          </a:xfrm>
          <a:prstGeom prst="rect">
            <a:avLst/>
          </a:prstGeom>
          <a:noFill/>
        </p:spPr>
        <p:txBody>
          <a:bodyPr wrap="square" anchor="t" lIns="0" rIns="0" tIns="0" bIns="0">
            <a:spAutoFit/>
          </a:bodyPr>
          <a:lstStyle/>
          <a:p>
            <a:pPr algn="r" rtl="1">
              <a:lnSpc>
                <a:spcPct val="105000"/>
              </a:lnSpc>
              <a:spcBef>
                <a:spcPts val="0"/>
              </a:spcBef>
              <a:spcAft>
                <a:spcPts val="400"/>
              </a:spcAft>
            </a:pPr>
            <a:r>
              <a:rPr sz="1250" b="1" i="0">
                <a:solidFill>
                  <a:srgbClr val="D97706"/>
                </a:solidFill>
                <a:latin typeface="Sakkal Majalla"/>
                <a:cs typeface="Sakkal Majalla"/>
                <a:ea typeface="Sakkal Majalla"/>
              </a:rPr>
              <a:t>🧪 المثال المقارن من الورشة —  </a:t>
            </a:r>
            <a:r>
              <a:rPr sz="1250" b="1" i="0">
                <a:solidFill>
                  <a:srgbClr val="BE123C"/>
                </a:solidFill>
                <a:latin typeface="Sakkal Majalla"/>
                <a:cs typeface="Sakkal Majalla"/>
                <a:ea typeface="Sakkal Majalla"/>
              </a:rPr>
              <a:t>ضعيفة: </a:t>
            </a:r>
            <a:r>
              <a:rPr sz="1200" b="0" i="0">
                <a:solidFill>
                  <a:srgbClr val="221C57"/>
                </a:solidFill>
                <a:latin typeface="Sakkal Majalla"/>
                <a:cs typeface="Sakkal Majalla"/>
                <a:ea typeface="Sakkal Majalla"/>
              </a:rPr>
              <a:t>«الصحة النفسية لم تُدرس بشكل كافٍ»  —  عامة، بلا فئة ولا سياق ولا زمن</a:t>
            </a:r>
          </a:p>
          <a:p>
            <a:pPr algn="r" rtl="1">
              <a:lnSpc>
                <a:spcPct val="105000"/>
              </a:lnSpc>
              <a:spcBef>
                <a:spcPts val="0"/>
              </a:spcBef>
              <a:spcAft>
                <a:spcPts val="400"/>
              </a:spcAft>
            </a:pPr>
            <a:r>
              <a:rPr sz="1250" b="1" i="0">
                <a:solidFill>
                  <a:srgbClr val="047857"/>
                </a:solidFill>
                <a:latin typeface="Sakkal Majalla"/>
                <a:cs typeface="Sakkal Majalla"/>
                <a:ea typeface="Sakkal Majalla"/>
              </a:rPr>
              <a:t>قوية: </a:t>
            </a:r>
            <a:r>
              <a:rPr sz="1200" b="1" i="0">
                <a:solidFill>
                  <a:srgbClr val="221C57"/>
                </a:solidFill>
                <a:latin typeface="Sakkal Majalla"/>
                <a:cs typeface="Sakkal Majalla"/>
                <a:ea typeface="Sakkal Majalla"/>
              </a:rPr>
              <a:t>«لا توجد دراسة حول تأثير الدراسة عن بُعد على القلق عند طلاب الجامعات العربية بعد 2020»  —  واضحة وقابلة للبحث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13</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BE123C"/>
              </a:gs>
              <a:gs pos="100000">
                <a:srgbClr val="FB7185"/>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BE123C"/>
                </a:solidFill>
                <a:latin typeface="Sakkal Majalla"/>
                <a:cs typeface="Sakkal Majalla"/>
                <a:ea typeface="Sakkal Majalla"/>
              </a:rPr>
              <a:t>A 7-STEP PRACTICAL ROADMAP</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خارطة طريق عملية: من الصفر إلى الفجوة</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BE123C"/>
              </a:gs>
              <a:gs pos="100000">
                <a:srgbClr val="FB718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BE123C"/>
              </a:gs>
              <a:gs pos="100000">
                <a:srgbClr val="FB718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BE123C"/>
              </a:gs>
              <a:gs pos="100000">
                <a:srgbClr val="FB7185"/>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13</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6278727" y="1627632"/>
            <a:ext cx="5364327" cy="100584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865815" y="1819656"/>
            <a:ext cx="621792" cy="621792"/>
          </a:xfrm>
          <a:prstGeom prst="ellipse">
            <a:avLst/>
          </a:prstGeom>
          <a:ln>
            <a:noFill/>
          </a:ln>
          <a:gradFill rotWithShape="1">
            <a:gsLst>
              <a:gs pos="0">
                <a:srgbClr val="A21CAF"/>
              </a:gs>
              <a:gs pos="100000">
                <a:srgbClr val="E879F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800" b="1" i="0">
                <a:solidFill>
                  <a:srgbClr val="FFFFFF"/>
                </a:solidFill>
                <a:latin typeface="Sakkal Majalla"/>
                <a:cs typeface="Sakkal Majalla"/>
                <a:ea typeface="Sakkal Majalla"/>
              </a:rPr>
              <a:t>١</a:t>
            </a:r>
          </a:p>
        </p:txBody>
      </p:sp>
      <p:sp>
        <p:nvSpPr>
          <p:cNvPr id="13" name="TextBox 12"/>
          <p:cNvSpPr txBox="1"/>
          <p:nvPr/>
        </p:nvSpPr>
        <p:spPr>
          <a:xfrm>
            <a:off x="6507327" y="1719072"/>
            <a:ext cx="4221327"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A21CAF"/>
                </a:solidFill>
                <a:latin typeface="Sakkal Majalla"/>
                <a:cs typeface="Sakkal Majalla"/>
                <a:ea typeface="Sakkal Majalla"/>
              </a:rPr>
              <a:t>حدّد مجالك بدقة</a:t>
            </a:r>
          </a:p>
        </p:txBody>
      </p:sp>
      <p:sp>
        <p:nvSpPr>
          <p:cNvPr id="14" name="TextBox 13"/>
          <p:cNvSpPr txBox="1"/>
          <p:nvPr/>
        </p:nvSpPr>
        <p:spPr>
          <a:xfrm>
            <a:off x="6507327" y="2103120"/>
            <a:ext cx="4221327" cy="475488"/>
          </a:xfrm>
          <a:prstGeom prst="rect">
            <a:avLst/>
          </a:prstGeom>
          <a:noFill/>
        </p:spPr>
        <p:txBody>
          <a:bodyPr wrap="square" anchor="t" lIns="0" rIns="0" tIns="0" bIns="0">
            <a:spAutoFit/>
          </a:bodyPr>
          <a:lstStyle/>
          <a:p>
            <a:pPr algn="r" rtl="1">
              <a:lnSpc>
                <a:spcPct val="110000"/>
              </a:lnSpc>
              <a:spcBef>
                <a:spcPts val="0"/>
              </a:spcBef>
              <a:spcAft>
                <a:spcPts val="400"/>
              </a:spcAft>
            </a:pPr>
            <a:r>
              <a:rPr sz="1100" b="0" i="0">
                <a:solidFill>
                  <a:srgbClr val="221C57"/>
                </a:solidFill>
                <a:latin typeface="Sakkal Majalla"/>
                <a:cs typeface="Sakkal Majalla"/>
                <a:ea typeface="Sakkal Majalla"/>
              </a:rPr>
              <a:t>تخصص فرعي ضيق — «التعليم الإلكتروني للمرحلة الابتدائية» لا «التعليم» عموماً</a:t>
            </a:r>
          </a:p>
        </p:txBody>
      </p:sp>
      <p:sp>
        <p:nvSpPr>
          <p:cNvPr id="15" name="Rounded Rectangle 14"/>
          <p:cNvSpPr/>
          <p:nvPr/>
        </p:nvSpPr>
        <p:spPr>
          <a:xfrm>
            <a:off x="6278727" y="2779776"/>
            <a:ext cx="5364327" cy="100584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865815" y="2971800"/>
            <a:ext cx="621792" cy="621792"/>
          </a:xfrm>
          <a:prstGeom prst="ellipse">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800" b="1" i="0">
                <a:solidFill>
                  <a:srgbClr val="FFFFFF"/>
                </a:solidFill>
                <a:latin typeface="Sakkal Majalla"/>
                <a:cs typeface="Sakkal Majalla"/>
                <a:ea typeface="Sakkal Majalla"/>
              </a:rPr>
              <a:t>٢</a:t>
            </a:r>
          </a:p>
        </p:txBody>
      </p:sp>
      <p:sp>
        <p:nvSpPr>
          <p:cNvPr id="17" name="TextBox 16"/>
          <p:cNvSpPr txBox="1"/>
          <p:nvPr/>
        </p:nvSpPr>
        <p:spPr>
          <a:xfrm>
            <a:off x="6507327" y="2871216"/>
            <a:ext cx="4221327"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D97706"/>
                </a:solidFill>
                <a:latin typeface="Sakkal Majalla"/>
                <a:cs typeface="Sakkal Majalla"/>
                <a:ea typeface="Sakkal Majalla"/>
              </a:rPr>
              <a:t>اجمع أحدث الدراسات</a:t>
            </a:r>
          </a:p>
        </p:txBody>
      </p:sp>
      <p:sp>
        <p:nvSpPr>
          <p:cNvPr id="18" name="TextBox 17"/>
          <p:cNvSpPr txBox="1"/>
          <p:nvPr/>
        </p:nvSpPr>
        <p:spPr>
          <a:xfrm>
            <a:off x="6507327" y="3255264"/>
            <a:ext cx="4221327" cy="475488"/>
          </a:xfrm>
          <a:prstGeom prst="rect">
            <a:avLst/>
          </a:prstGeom>
          <a:noFill/>
        </p:spPr>
        <p:txBody>
          <a:bodyPr wrap="square" anchor="t" lIns="0" rIns="0" tIns="0" bIns="0">
            <a:spAutoFit/>
          </a:bodyPr>
          <a:lstStyle/>
          <a:p>
            <a:pPr algn="r" rtl="1">
              <a:lnSpc>
                <a:spcPct val="110000"/>
              </a:lnSpc>
              <a:spcBef>
                <a:spcPts val="0"/>
              </a:spcBef>
              <a:spcAft>
                <a:spcPts val="400"/>
              </a:spcAft>
            </a:pPr>
            <a:r>
              <a:rPr sz="1100" b="0" i="0">
                <a:solidFill>
                  <a:srgbClr val="221C57"/>
                </a:solidFill>
                <a:latin typeface="Sakkal Majalla"/>
                <a:cs typeface="Sakkal Majalla"/>
                <a:ea typeface="Sakkal Majalla"/>
              </a:rPr>
              <a:t>20–30 دراسة من آخر 5 سنوات عبر Semantic Scholar وGoogle Scholar</a:t>
            </a:r>
          </a:p>
        </p:txBody>
      </p:sp>
      <p:sp>
        <p:nvSpPr>
          <p:cNvPr id="19" name="Rounded Rectangle 18"/>
          <p:cNvSpPr/>
          <p:nvPr/>
        </p:nvSpPr>
        <p:spPr>
          <a:xfrm>
            <a:off x="6278727" y="3931920"/>
            <a:ext cx="5364327" cy="100584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865815" y="4123944"/>
            <a:ext cx="621792" cy="621792"/>
          </a:xfrm>
          <a:prstGeom prst="ellipse">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800" b="1" i="0">
                <a:solidFill>
                  <a:srgbClr val="FFFFFF"/>
                </a:solidFill>
                <a:latin typeface="Sakkal Majalla"/>
                <a:cs typeface="Sakkal Majalla"/>
                <a:ea typeface="Sakkal Majalla"/>
              </a:rPr>
              <a:t>٣</a:t>
            </a:r>
          </a:p>
        </p:txBody>
      </p:sp>
      <p:sp>
        <p:nvSpPr>
          <p:cNvPr id="21" name="TextBox 20"/>
          <p:cNvSpPr txBox="1"/>
          <p:nvPr/>
        </p:nvSpPr>
        <p:spPr>
          <a:xfrm>
            <a:off x="6507327" y="4023359"/>
            <a:ext cx="4221327"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0D9488"/>
                </a:solidFill>
                <a:latin typeface="Sakkal Majalla"/>
                <a:cs typeface="Sakkal Majalla"/>
                <a:ea typeface="Sakkal Majalla"/>
              </a:rPr>
              <a:t>اقرأ الخاتمات أولاً</a:t>
            </a:r>
          </a:p>
        </p:txBody>
      </p:sp>
      <p:sp>
        <p:nvSpPr>
          <p:cNvPr id="22" name="TextBox 21"/>
          <p:cNvSpPr txBox="1"/>
          <p:nvPr/>
        </p:nvSpPr>
        <p:spPr>
          <a:xfrm>
            <a:off x="6507327" y="4407408"/>
            <a:ext cx="4221327" cy="475488"/>
          </a:xfrm>
          <a:prstGeom prst="rect">
            <a:avLst/>
          </a:prstGeom>
          <a:noFill/>
        </p:spPr>
        <p:txBody>
          <a:bodyPr wrap="square" anchor="t" lIns="0" rIns="0" tIns="0" bIns="0">
            <a:spAutoFit/>
          </a:bodyPr>
          <a:lstStyle/>
          <a:p>
            <a:pPr algn="r" rtl="1">
              <a:lnSpc>
                <a:spcPct val="110000"/>
              </a:lnSpc>
              <a:spcBef>
                <a:spcPts val="0"/>
              </a:spcBef>
              <a:spcAft>
                <a:spcPts val="400"/>
              </a:spcAft>
            </a:pPr>
            <a:r>
              <a:rPr sz="1100" b="0" i="0">
                <a:solidFill>
                  <a:srgbClr val="221C57"/>
                </a:solidFill>
                <a:latin typeface="Sakkal Majalla"/>
                <a:cs typeface="Sakkal Majalla"/>
                <a:ea typeface="Sakkal Majalla"/>
              </a:rPr>
              <a:t>أقسام حدود الدراسة والاقتراحات المستقبلية — أسرع مصدر للفجوات الموثقة</a:t>
            </a:r>
          </a:p>
        </p:txBody>
      </p:sp>
      <p:sp>
        <p:nvSpPr>
          <p:cNvPr id="23" name="Rounded Rectangle 22"/>
          <p:cNvSpPr/>
          <p:nvPr/>
        </p:nvSpPr>
        <p:spPr>
          <a:xfrm>
            <a:off x="6278727" y="5084064"/>
            <a:ext cx="5364327" cy="100584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65815" y="5276088"/>
            <a:ext cx="621792" cy="621792"/>
          </a:xfrm>
          <a:prstGeom prst="ellipse">
            <a:avLst/>
          </a:prstGeom>
          <a:ln>
            <a:noFill/>
          </a:ln>
          <a:gradFill rotWithShape="1">
            <a:gsLst>
              <a:gs pos="0">
                <a:srgbClr val="6D28D9"/>
              </a:gs>
              <a:gs pos="100000">
                <a:srgbClr val="A855F7"/>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800" b="1" i="0">
                <a:solidFill>
                  <a:srgbClr val="FFFFFF"/>
                </a:solidFill>
                <a:latin typeface="Sakkal Majalla"/>
                <a:cs typeface="Sakkal Majalla"/>
                <a:ea typeface="Sakkal Majalla"/>
              </a:rPr>
              <a:t>٤</a:t>
            </a:r>
          </a:p>
        </p:txBody>
      </p:sp>
      <p:sp>
        <p:nvSpPr>
          <p:cNvPr id="25" name="TextBox 24"/>
          <p:cNvSpPr txBox="1"/>
          <p:nvPr/>
        </p:nvSpPr>
        <p:spPr>
          <a:xfrm>
            <a:off x="6507327" y="5175504"/>
            <a:ext cx="4221327"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6D28D9"/>
                </a:solidFill>
                <a:latin typeface="Sakkal Majalla"/>
                <a:cs typeface="Sakkal Majalla"/>
                <a:ea typeface="Sakkal Majalla"/>
              </a:rPr>
              <a:t>اعمل خريطة الأدبيات</a:t>
            </a:r>
          </a:p>
        </p:txBody>
      </p:sp>
      <p:sp>
        <p:nvSpPr>
          <p:cNvPr id="26" name="TextBox 25"/>
          <p:cNvSpPr txBox="1"/>
          <p:nvPr/>
        </p:nvSpPr>
        <p:spPr>
          <a:xfrm>
            <a:off x="6507327" y="5559552"/>
            <a:ext cx="4221327" cy="475488"/>
          </a:xfrm>
          <a:prstGeom prst="rect">
            <a:avLst/>
          </a:prstGeom>
          <a:noFill/>
        </p:spPr>
        <p:txBody>
          <a:bodyPr wrap="square" anchor="t" lIns="0" rIns="0" tIns="0" bIns="0">
            <a:spAutoFit/>
          </a:bodyPr>
          <a:lstStyle/>
          <a:p>
            <a:pPr algn="r" rtl="1">
              <a:lnSpc>
                <a:spcPct val="110000"/>
              </a:lnSpc>
              <a:spcBef>
                <a:spcPts val="0"/>
              </a:spcBef>
              <a:spcAft>
                <a:spcPts val="400"/>
              </a:spcAft>
            </a:pPr>
            <a:r>
              <a:rPr sz="1100" b="0" i="0">
                <a:solidFill>
                  <a:srgbClr val="221C57"/>
                </a:solidFill>
                <a:latin typeface="Sakkal Majalla"/>
                <a:cs typeface="Sakkal Majalla"/>
                <a:ea typeface="Sakkal Majalla"/>
              </a:rPr>
              <a:t>جدول يقارن: السكان، المنهج، الدولة، الزمن، أبرز النتائج لكل دراسة</a:t>
            </a:r>
          </a:p>
        </p:txBody>
      </p:sp>
      <p:sp>
        <p:nvSpPr>
          <p:cNvPr id="27" name="Rounded Rectangle 26"/>
          <p:cNvSpPr/>
          <p:nvPr/>
        </p:nvSpPr>
        <p:spPr>
          <a:xfrm>
            <a:off x="548640" y="1627632"/>
            <a:ext cx="5364327" cy="100584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35727" y="1819656"/>
            <a:ext cx="621792" cy="621792"/>
          </a:xfrm>
          <a:prstGeom prst="ellipse">
            <a:avLst/>
          </a:prstGeom>
          <a:ln>
            <a:noFill/>
          </a:ln>
          <a:gradFill rotWithShape="1">
            <a:gsLst>
              <a:gs pos="0">
                <a:srgbClr val="BE123C"/>
              </a:gs>
              <a:gs pos="100000">
                <a:srgbClr val="FB7185"/>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800" b="1" i="0">
                <a:solidFill>
                  <a:srgbClr val="FFFFFF"/>
                </a:solidFill>
                <a:latin typeface="Sakkal Majalla"/>
                <a:cs typeface="Sakkal Majalla"/>
                <a:ea typeface="Sakkal Majalla"/>
              </a:rPr>
              <a:t>٥</a:t>
            </a:r>
          </a:p>
        </p:txBody>
      </p:sp>
      <p:sp>
        <p:nvSpPr>
          <p:cNvPr id="29" name="TextBox 28"/>
          <p:cNvSpPr txBox="1"/>
          <p:nvPr/>
        </p:nvSpPr>
        <p:spPr>
          <a:xfrm>
            <a:off x="777240" y="1719072"/>
            <a:ext cx="4221327"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BE123C"/>
                </a:solidFill>
                <a:latin typeface="Sakkal Majalla"/>
                <a:cs typeface="Sakkal Majalla"/>
                <a:ea typeface="Sakkal Majalla"/>
              </a:rPr>
              <a:t>علّم الفراغات والتناقضات</a:t>
            </a:r>
          </a:p>
        </p:txBody>
      </p:sp>
      <p:sp>
        <p:nvSpPr>
          <p:cNvPr id="30" name="TextBox 29"/>
          <p:cNvSpPr txBox="1"/>
          <p:nvPr/>
        </p:nvSpPr>
        <p:spPr>
          <a:xfrm>
            <a:off x="777240" y="2103120"/>
            <a:ext cx="4221327" cy="475488"/>
          </a:xfrm>
          <a:prstGeom prst="rect">
            <a:avLst/>
          </a:prstGeom>
          <a:noFill/>
        </p:spPr>
        <p:txBody>
          <a:bodyPr wrap="square" anchor="t" lIns="0" rIns="0" tIns="0" bIns="0">
            <a:spAutoFit/>
          </a:bodyPr>
          <a:lstStyle/>
          <a:p>
            <a:pPr algn="r" rtl="1">
              <a:lnSpc>
                <a:spcPct val="110000"/>
              </a:lnSpc>
              <a:spcBef>
                <a:spcPts val="0"/>
              </a:spcBef>
              <a:spcAft>
                <a:spcPts val="400"/>
              </a:spcAft>
            </a:pPr>
            <a:r>
              <a:rPr sz="1100" b="0" i="0">
                <a:solidFill>
                  <a:srgbClr val="221C57"/>
                </a:solidFill>
                <a:latin typeface="Sakkal Majalla"/>
                <a:cs typeface="Sakkal Majalla"/>
                <a:ea typeface="Sakkal Majalla"/>
              </a:rPr>
              <a:t>ظلّل الخانات الفارغة والنتائج المتضاربة — هذه مواضع فجواتك المحتملة</a:t>
            </a:r>
          </a:p>
        </p:txBody>
      </p:sp>
      <p:sp>
        <p:nvSpPr>
          <p:cNvPr id="31" name="Rounded Rectangle 30"/>
          <p:cNvSpPr/>
          <p:nvPr/>
        </p:nvSpPr>
        <p:spPr>
          <a:xfrm>
            <a:off x="548640" y="2779776"/>
            <a:ext cx="5364327" cy="100584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135727" y="2971800"/>
            <a:ext cx="621792" cy="621792"/>
          </a:xfrm>
          <a:prstGeom prst="ellipse">
            <a:avLst/>
          </a:prstGeom>
          <a:ln>
            <a:noFill/>
          </a:ln>
          <a:gradFill rotWithShape="1">
            <a:gsLst>
              <a:gs pos="0">
                <a:srgbClr val="047857"/>
              </a:gs>
              <a:gs pos="100000">
                <a:srgbClr val="34D399"/>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800" b="1" i="0">
                <a:solidFill>
                  <a:srgbClr val="FFFFFF"/>
                </a:solidFill>
                <a:latin typeface="Sakkal Majalla"/>
                <a:cs typeface="Sakkal Majalla"/>
                <a:ea typeface="Sakkal Majalla"/>
              </a:rPr>
              <a:t>٦</a:t>
            </a:r>
          </a:p>
        </p:txBody>
      </p:sp>
      <p:sp>
        <p:nvSpPr>
          <p:cNvPr id="33" name="TextBox 32"/>
          <p:cNvSpPr txBox="1"/>
          <p:nvPr/>
        </p:nvSpPr>
        <p:spPr>
          <a:xfrm>
            <a:off x="777240" y="2871216"/>
            <a:ext cx="4221327"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047857"/>
                </a:solidFill>
                <a:latin typeface="Sakkal Majalla"/>
                <a:cs typeface="Sakkal Majalla"/>
                <a:ea typeface="Sakkal Majalla"/>
              </a:rPr>
              <a:t>تحقق بأدوات الذكاء الاصطناعي</a:t>
            </a:r>
          </a:p>
        </p:txBody>
      </p:sp>
      <p:sp>
        <p:nvSpPr>
          <p:cNvPr id="34" name="TextBox 33"/>
          <p:cNvSpPr txBox="1"/>
          <p:nvPr/>
        </p:nvSpPr>
        <p:spPr>
          <a:xfrm>
            <a:off x="777240" y="3255264"/>
            <a:ext cx="4221327" cy="475488"/>
          </a:xfrm>
          <a:prstGeom prst="rect">
            <a:avLst/>
          </a:prstGeom>
          <a:noFill/>
        </p:spPr>
        <p:txBody>
          <a:bodyPr wrap="square" anchor="t" lIns="0" rIns="0" tIns="0" bIns="0">
            <a:spAutoFit/>
          </a:bodyPr>
          <a:lstStyle/>
          <a:p>
            <a:pPr algn="r" rtl="1">
              <a:lnSpc>
                <a:spcPct val="110000"/>
              </a:lnSpc>
              <a:spcBef>
                <a:spcPts val="0"/>
              </a:spcBef>
              <a:spcAft>
                <a:spcPts val="400"/>
              </a:spcAft>
            </a:pPr>
            <a:r>
              <a:rPr sz="1100" b="0" i="0">
                <a:solidFill>
                  <a:srgbClr val="221C57"/>
                </a:solidFill>
                <a:latin typeface="Sakkal Majalla"/>
                <a:cs typeface="Sakkal Majalla"/>
                <a:ea typeface="Sakkal Majalla"/>
              </a:rPr>
              <a:t>Research Rabbit وConsensus للتأكد أن الفجوة لم تُسد بدراسة حديثة</a:t>
            </a:r>
          </a:p>
        </p:txBody>
      </p:sp>
      <p:sp>
        <p:nvSpPr>
          <p:cNvPr id="35" name="Rounded Rectangle 34"/>
          <p:cNvSpPr/>
          <p:nvPr/>
        </p:nvSpPr>
        <p:spPr>
          <a:xfrm>
            <a:off x="548640" y="3931920"/>
            <a:ext cx="5364327" cy="1005840"/>
          </a:xfrm>
          <a:prstGeom prst="roundRect">
            <a:avLst>
              <a:gd name="adj" fmla="val 15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135727" y="4123944"/>
            <a:ext cx="621792" cy="621792"/>
          </a:xfrm>
          <a:prstGeom prst="ellipse">
            <a:avLst/>
          </a:prstGeom>
          <a:ln>
            <a:noFill/>
          </a:ln>
          <a:gradFill rotWithShape="1">
            <a:gsLst>
              <a:gs pos="0">
                <a:srgbClr val="1D4ED8"/>
              </a:gs>
              <a:gs pos="100000">
                <a:srgbClr val="60A5FA"/>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800" b="1" i="0">
                <a:solidFill>
                  <a:srgbClr val="FFFFFF"/>
                </a:solidFill>
                <a:latin typeface="Sakkal Majalla"/>
                <a:cs typeface="Sakkal Majalla"/>
                <a:ea typeface="Sakkal Majalla"/>
              </a:rPr>
              <a:t>٧</a:t>
            </a:r>
          </a:p>
        </p:txBody>
      </p:sp>
      <p:sp>
        <p:nvSpPr>
          <p:cNvPr id="37" name="TextBox 36"/>
          <p:cNvSpPr txBox="1"/>
          <p:nvPr/>
        </p:nvSpPr>
        <p:spPr>
          <a:xfrm>
            <a:off x="777240" y="4023359"/>
            <a:ext cx="4221327"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1D4ED8"/>
                </a:solidFill>
                <a:latin typeface="Sakkal Majalla"/>
                <a:cs typeface="Sakkal Majalla"/>
                <a:ea typeface="Sakkal Majalla"/>
              </a:rPr>
              <a:t>صُغ فجوتك بدقة</a:t>
            </a:r>
          </a:p>
        </p:txBody>
      </p:sp>
      <p:sp>
        <p:nvSpPr>
          <p:cNvPr id="38" name="TextBox 37"/>
          <p:cNvSpPr txBox="1"/>
          <p:nvPr/>
        </p:nvSpPr>
        <p:spPr>
          <a:xfrm>
            <a:off x="777240" y="4407408"/>
            <a:ext cx="4221327" cy="475488"/>
          </a:xfrm>
          <a:prstGeom prst="rect">
            <a:avLst/>
          </a:prstGeom>
          <a:noFill/>
        </p:spPr>
        <p:txBody>
          <a:bodyPr wrap="square" anchor="t" lIns="0" rIns="0" tIns="0" bIns="0">
            <a:spAutoFit/>
          </a:bodyPr>
          <a:lstStyle/>
          <a:p>
            <a:pPr algn="r" rtl="1">
              <a:lnSpc>
                <a:spcPct val="110000"/>
              </a:lnSpc>
              <a:spcBef>
                <a:spcPts val="0"/>
              </a:spcBef>
              <a:spcAft>
                <a:spcPts val="400"/>
              </a:spcAft>
            </a:pPr>
            <a:r>
              <a:rPr sz="1100" b="0" i="0">
                <a:solidFill>
                  <a:srgbClr val="221C57"/>
                </a:solidFill>
                <a:latin typeface="Sakkal Majalla"/>
                <a:cs typeface="Sakkal Majalla"/>
                <a:ea typeface="Sakkal Majalla"/>
              </a:rPr>
              <a:t>جملة محددة قابلة للقياس: الموضوع + الفئة + السياق + الزمن</a:t>
            </a:r>
          </a:p>
        </p:txBody>
      </p:sp>
      <p:sp>
        <p:nvSpPr>
          <p:cNvPr id="39" name="Rounded Rectangle 38"/>
          <p:cNvSpPr/>
          <p:nvPr/>
        </p:nvSpPr>
        <p:spPr>
          <a:xfrm>
            <a:off x="548640" y="5084064"/>
            <a:ext cx="5364327" cy="1005840"/>
          </a:xfrm>
          <a:prstGeom prst="roundRect">
            <a:avLst>
              <a:gd name="adj" fmla="val 15000"/>
            </a:avLst>
          </a:prstGeom>
          <a:ln>
            <a:noFill/>
          </a:ln>
          <a:gradFill rotWithShape="1">
            <a:gsLst>
              <a:gs pos="0">
                <a:srgbClr val="17123B"/>
              </a:gs>
              <a:gs pos="100000">
                <a:srgbClr val="3B3486"/>
              </a:gs>
            </a:gsLst>
            <a:lin ang="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5193792"/>
            <a:ext cx="4852263" cy="804672"/>
          </a:xfrm>
          <a:prstGeom prst="rect">
            <a:avLst/>
          </a:prstGeom>
          <a:noFill/>
        </p:spPr>
        <p:txBody>
          <a:bodyPr wrap="square" anchor="t" lIns="0" rIns="0" tIns="0" bIns="0">
            <a:spAutoFit/>
          </a:bodyPr>
          <a:lstStyle/>
          <a:p>
            <a:pPr algn="r" rtl="1">
              <a:lnSpc>
                <a:spcPct val="115000"/>
              </a:lnSpc>
              <a:spcBef>
                <a:spcPts val="0"/>
              </a:spcBef>
              <a:spcAft>
                <a:spcPts val="400"/>
              </a:spcAft>
            </a:pPr>
            <a:r>
              <a:rPr sz="1250" b="1" i="0">
                <a:solidFill>
                  <a:srgbClr val="FBBF24"/>
                </a:solidFill>
                <a:latin typeface="Sakkal Majalla"/>
                <a:cs typeface="Sakkal Majalla"/>
                <a:ea typeface="Sakkal Majalla"/>
              </a:rPr>
              <a:t>⏱ الزمن الواقعي: </a:t>
            </a:r>
            <a:r>
              <a:rPr sz="1150" b="0" i="0">
                <a:solidFill>
                  <a:srgbClr val="FFFFFF"/>
                </a:solidFill>
                <a:latin typeface="Sakkal Majalla"/>
                <a:cs typeface="Sakkal Majalla"/>
                <a:ea typeface="Sakkal Majalla"/>
              </a:rPr>
              <a:t>أسبوعان إلى أربعة أسابيع من العمل المنظّم تكفي غالباً للوصول إلى فجوة موثقة تصمد أمام أي لجنة علمية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74320"/>
            <a:ext cx="2560320" cy="1645920"/>
          </a:xfrm>
          <a:prstGeom prst="rect">
            <a:avLst/>
          </a:prstGeom>
          <a:noFill/>
        </p:spPr>
        <p:txBody>
          <a:bodyPr wrap="square" anchor="t" lIns="0" rIns="0" tIns="0" bIns="0">
            <a:spAutoFit/>
          </a:bodyPr>
          <a:lstStyle/>
          <a:p>
            <a:pPr algn="l">
              <a:lnSpc>
                <a:spcPct val="105000"/>
              </a:lnSpc>
              <a:spcBef>
                <a:spcPts val="0"/>
              </a:spcBef>
              <a:spcAft>
                <a:spcPts val="400"/>
              </a:spcAft>
            </a:pPr>
            <a:r>
              <a:rPr sz="8800" b="1" i="0">
                <a:solidFill>
                  <a:srgbClr val="ECE9FA"/>
                </a:solidFill>
                <a:latin typeface="Sakkal Majalla"/>
                <a:cs typeface="Sakkal Majalla"/>
                <a:ea typeface="Sakkal Majalla"/>
              </a:rPr>
              <a:t>14</a:t>
            </a:r>
          </a:p>
        </p:txBody>
      </p:sp>
      <p:sp>
        <p:nvSpPr>
          <p:cNvPr id="4" name="Rounded Rectangle 3"/>
          <p:cNvSpPr/>
          <p:nvPr/>
        </p:nvSpPr>
        <p:spPr>
          <a:xfrm>
            <a:off x="10728655" y="365760"/>
            <a:ext cx="914400" cy="914400"/>
          </a:xfrm>
          <a:prstGeom prst="roundRect">
            <a:avLst>
              <a:gd name="adj" fmla="val 30000"/>
            </a:avLst>
          </a:prstGeom>
          <a:ln>
            <a:noFill/>
          </a:ln>
          <a:gradFill rotWithShape="1">
            <a:gsLst>
              <a:gs pos="0">
                <a:srgbClr val="1D4ED8"/>
              </a:gs>
              <a:gs pos="100000">
                <a:srgbClr val="60A5FA"/>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000" b="1" i="0">
                <a:solidFill>
                  <a:srgbClr val="FFFFFF"/>
                </a:solidFill>
                <a:latin typeface="Sakkal Majalla"/>
                <a:cs typeface="Sakkal Majalla"/>
                <a:ea typeface="Sakkal Majalla"/>
              </a:rPr>
              <a:t>✍️</a:t>
            </a:r>
          </a:p>
        </p:txBody>
      </p:sp>
      <p:sp>
        <p:nvSpPr>
          <p:cNvPr id="5" name="TextBox 4"/>
          <p:cNvSpPr txBox="1"/>
          <p:nvPr/>
        </p:nvSpPr>
        <p:spPr>
          <a:xfrm>
            <a:off x="548640" y="329184"/>
            <a:ext cx="9951415" cy="292608"/>
          </a:xfrm>
          <a:prstGeom prst="rect">
            <a:avLst/>
          </a:prstGeom>
          <a:noFill/>
        </p:spPr>
        <p:txBody>
          <a:bodyPr wrap="square" anchor="t" lIns="0" rIns="0" tIns="0" bIns="0">
            <a:spAutoFit/>
          </a:bodyPr>
          <a:lstStyle/>
          <a:p>
            <a:pPr algn="r">
              <a:lnSpc>
                <a:spcPct val="105000"/>
              </a:lnSpc>
              <a:spcBef>
                <a:spcPts val="0"/>
              </a:spcBef>
              <a:spcAft>
                <a:spcPts val="400"/>
              </a:spcAft>
            </a:pPr>
            <a:r>
              <a:rPr sz="1100" b="1" i="0" spc="300">
                <a:solidFill>
                  <a:srgbClr val="1D4ED8"/>
                </a:solidFill>
                <a:latin typeface="Sakkal Majalla"/>
                <a:cs typeface="Sakkal Majalla"/>
                <a:ea typeface="Sakkal Majalla"/>
              </a:rPr>
              <a:t>WRITING YOUR GAP STATEMENT</a:t>
            </a:r>
          </a:p>
        </p:txBody>
      </p:sp>
      <p:sp>
        <p:nvSpPr>
          <p:cNvPr id="6" name="TextBox 5"/>
          <p:cNvSpPr txBox="1"/>
          <p:nvPr/>
        </p:nvSpPr>
        <p:spPr>
          <a:xfrm>
            <a:off x="548640" y="530352"/>
            <a:ext cx="9951415" cy="731520"/>
          </a:xfrm>
          <a:prstGeom prst="rect">
            <a:avLst/>
          </a:prstGeom>
          <a:noFill/>
        </p:spPr>
        <p:txBody>
          <a:bodyPr wrap="square" anchor="t" lIns="0" rIns="0" tIns="0" bIns="0">
            <a:spAutoFit/>
          </a:bodyPr>
          <a:lstStyle/>
          <a:p>
            <a:pPr algn="r" rtl="1">
              <a:lnSpc>
                <a:spcPct val="105000"/>
              </a:lnSpc>
              <a:spcBef>
                <a:spcPts val="0"/>
              </a:spcBef>
              <a:spcAft>
                <a:spcPts val="400"/>
              </a:spcAft>
            </a:pPr>
            <a:r>
              <a:rPr sz="3100" b="1" i="0">
                <a:solidFill>
                  <a:srgbClr val="221C57"/>
                </a:solidFill>
                <a:latin typeface="Sakkal Majalla"/>
                <a:cs typeface="Sakkal Majalla"/>
                <a:ea typeface="Sakkal Majalla"/>
              </a:rPr>
              <a:t>صياغة الفجوة البحثية باحترافية</a:t>
            </a:r>
          </a:p>
        </p:txBody>
      </p:sp>
      <p:sp>
        <p:nvSpPr>
          <p:cNvPr id="7" name="Rounded Rectangle 6"/>
          <p:cNvSpPr/>
          <p:nvPr/>
        </p:nvSpPr>
        <p:spPr>
          <a:xfrm>
            <a:off x="8488375" y="1371600"/>
            <a:ext cx="2011680" cy="68580"/>
          </a:xfrm>
          <a:prstGeom prst="roundRect">
            <a:avLst>
              <a:gd name="adj" fmla="val 100000"/>
            </a:avLst>
          </a:prstGeom>
          <a:ln>
            <a:noFill/>
          </a:ln>
          <a:effectLst/>
          <a:gradFill rotWithShape="1">
            <a:gsLst>
              <a:gs pos="0">
                <a:srgbClr val="1D4ED8"/>
              </a:gs>
              <a:gs pos="100000">
                <a:srgbClr val="60A5F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784848"/>
            <a:ext cx="12191695" cy="73152"/>
          </a:xfrm>
          <a:prstGeom prst="rect">
            <a:avLst/>
          </a:prstGeom>
          <a:ln>
            <a:noFill/>
          </a:ln>
          <a:effectLst/>
          <a:gradFill rotWithShape="1">
            <a:gsLst>
              <a:gs pos="0">
                <a:srgbClr val="1D4ED8"/>
              </a:gs>
              <a:gs pos="100000">
                <a:srgbClr val="60A5F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6437376"/>
            <a:ext cx="566928" cy="274320"/>
          </a:xfrm>
          <a:prstGeom prst="roundRect">
            <a:avLst>
              <a:gd name="adj" fmla="val 50000"/>
            </a:avLst>
          </a:prstGeom>
          <a:ln>
            <a:noFill/>
          </a:ln>
          <a:effectLst/>
          <a:gradFill rotWithShape="1">
            <a:gsLst>
              <a:gs pos="0">
                <a:srgbClr val="1D4ED8"/>
              </a:gs>
              <a:gs pos="100000">
                <a:srgbClr val="60A5FA"/>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i="0">
                <a:solidFill>
                  <a:srgbClr val="FFFFFF"/>
                </a:solidFill>
                <a:latin typeface="Sakkal Majalla"/>
                <a:cs typeface="Sakkal Majalla"/>
                <a:ea typeface="Sakkal Majalla"/>
              </a:rPr>
              <a:t>14</a:t>
            </a:r>
          </a:p>
        </p:txBody>
      </p:sp>
      <p:sp>
        <p:nvSpPr>
          <p:cNvPr id="10" name="TextBox 9"/>
          <p:cNvSpPr txBox="1"/>
          <p:nvPr/>
        </p:nvSpPr>
        <p:spPr>
          <a:xfrm>
            <a:off x="6613855" y="6446520"/>
            <a:ext cx="5029200" cy="274320"/>
          </a:xfrm>
          <a:prstGeom prst="rect">
            <a:avLst/>
          </a:prstGeom>
          <a:noFill/>
        </p:spPr>
        <p:txBody>
          <a:bodyPr wrap="square" anchor="t" lIns="0" rIns="0" tIns="0" bIns="0">
            <a:spAutoFit/>
          </a:bodyPr>
          <a:lstStyle/>
          <a:p>
            <a:pPr algn="r" rtl="1">
              <a:lnSpc>
                <a:spcPct val="105000"/>
              </a:lnSpc>
              <a:spcBef>
                <a:spcPts val="0"/>
              </a:spcBef>
              <a:spcAft>
                <a:spcPts val="400"/>
              </a:spcAft>
            </a:pPr>
            <a:r>
              <a:rPr sz="1100" b="0" i="0">
                <a:solidFill>
                  <a:srgbClr val="6E6A8F"/>
                </a:solidFill>
                <a:latin typeface="Sakkal Majalla"/>
                <a:cs typeface="Sakkal Majalla"/>
                <a:ea typeface="Sakkal Majalla"/>
              </a:rPr>
              <a:t>الفجوات البحثية  •  د. هناء حسين الأهيمر</a:t>
            </a:r>
          </a:p>
        </p:txBody>
      </p:sp>
      <p:sp>
        <p:nvSpPr>
          <p:cNvPr id="11" name="Rounded Rectangle 10"/>
          <p:cNvSpPr/>
          <p:nvPr/>
        </p:nvSpPr>
        <p:spPr>
          <a:xfrm>
            <a:off x="548640" y="1627632"/>
            <a:ext cx="11094415" cy="1828800"/>
          </a:xfrm>
          <a:prstGeom prst="roundRect">
            <a:avLst>
              <a:gd name="adj" fmla="val 10000"/>
            </a:avLst>
          </a:prstGeom>
          <a:ln>
            <a:noFill/>
          </a:ln>
          <a:gradFill rotWithShape="1">
            <a:gsLst>
              <a:gs pos="0">
                <a:srgbClr val="17123B"/>
              </a:gs>
              <a:gs pos="100000">
                <a:srgbClr val="3B3486"/>
              </a:gs>
            </a:gsLst>
            <a:lin ang="15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83080"/>
            <a:ext cx="10362895"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350" b="1" i="0">
                <a:solidFill>
                  <a:srgbClr val="FBBF24"/>
                </a:solidFill>
                <a:latin typeface="Sakkal Majalla"/>
                <a:cs typeface="Sakkal Majalla"/>
                <a:ea typeface="Sakkal Majalla"/>
              </a:rPr>
              <a:t>القالب الجاهز:  </a:t>
            </a:r>
            <a:r>
              <a:rPr sz="1300" b="0" i="0">
                <a:solidFill>
                  <a:srgbClr val="FFFFFF"/>
                </a:solidFill>
                <a:latin typeface="Sakkal Majalla"/>
                <a:cs typeface="Sakkal Majalla"/>
                <a:ea typeface="Sakkal Majalla"/>
              </a:rPr>
              <a:t>انسخه واملأ الفراغات الملونة</a:t>
            </a:r>
          </a:p>
        </p:txBody>
      </p:sp>
      <p:sp>
        <p:nvSpPr>
          <p:cNvPr id="13" name="TextBox 12"/>
          <p:cNvSpPr txBox="1"/>
          <p:nvPr/>
        </p:nvSpPr>
        <p:spPr>
          <a:xfrm>
            <a:off x="914400" y="2212848"/>
            <a:ext cx="10362895" cy="1143000"/>
          </a:xfrm>
          <a:prstGeom prst="rect">
            <a:avLst/>
          </a:prstGeom>
          <a:noFill/>
        </p:spPr>
        <p:txBody>
          <a:bodyPr wrap="square" anchor="t" lIns="0" rIns="0" tIns="0" bIns="0">
            <a:spAutoFit/>
          </a:bodyPr>
          <a:lstStyle/>
          <a:p>
            <a:pPr algn="r" rtl="1">
              <a:lnSpc>
                <a:spcPct val="140000"/>
              </a:lnSpc>
              <a:spcBef>
                <a:spcPts val="0"/>
              </a:spcBef>
              <a:spcAft>
                <a:spcPts val="400"/>
              </a:spcAft>
            </a:pPr>
            <a:r>
              <a:rPr sz="1550" b="0" i="0">
                <a:solidFill>
                  <a:srgbClr val="FFFFFF"/>
                </a:solidFill>
                <a:latin typeface="Sakkal Majalla"/>
                <a:cs typeface="Sakkal Majalla"/>
                <a:ea typeface="Sakkal Majalla"/>
              </a:rPr>
              <a:t>«على الرغم من أن الدراسات السابقة تناولت </a:t>
            </a:r>
            <a:r>
              <a:rPr sz="1550" b="1" i="0">
                <a:solidFill>
                  <a:srgbClr val="FBBF24"/>
                </a:solidFill>
                <a:latin typeface="Sakkal Majalla"/>
                <a:cs typeface="Sakkal Majalla"/>
                <a:ea typeface="Sakkal Majalla"/>
              </a:rPr>
              <a:t>[الموضوع X]</a:t>
            </a:r>
            <a:r>
              <a:rPr sz="1550" b="0" i="0">
                <a:solidFill>
                  <a:srgbClr val="FFFFFF"/>
                </a:solidFill>
                <a:latin typeface="Sakkal Majalla"/>
                <a:cs typeface="Sakkal Majalla"/>
                <a:ea typeface="Sakkal Majalla"/>
              </a:rPr>
              <a:t>، إلا أن </a:t>
            </a:r>
            <a:r>
              <a:rPr sz="1550" b="1" i="0">
                <a:solidFill>
                  <a:srgbClr val="5EEAD4"/>
                </a:solidFill>
                <a:latin typeface="Sakkal Majalla"/>
                <a:cs typeface="Sakkal Majalla"/>
                <a:ea typeface="Sakkal Majalla"/>
              </a:rPr>
              <a:t>[الجانب Y]</a:t>
            </a:r>
            <a:r>
              <a:rPr sz="1550" b="0" i="0">
                <a:solidFill>
                  <a:srgbClr val="FFFFFF"/>
                </a:solidFill>
                <a:latin typeface="Sakkal Majalla"/>
                <a:cs typeface="Sakkal Majalla"/>
                <a:ea typeface="Sakkal Majalla"/>
              </a:rPr>
              <a:t> لم يُدرس بعد في </a:t>
            </a:r>
            <a:r>
              <a:rPr sz="1550" b="1" i="0">
                <a:solidFill>
                  <a:srgbClr val="FDA4AF"/>
                </a:solidFill>
                <a:latin typeface="Sakkal Majalla"/>
                <a:cs typeface="Sakkal Majalla"/>
                <a:ea typeface="Sakkal Majalla"/>
              </a:rPr>
              <a:t>[السياق Z]</a:t>
            </a:r>
            <a:r>
              <a:rPr sz="1550" b="0" i="0">
                <a:solidFill>
                  <a:srgbClr val="FFFFFF"/>
                </a:solidFill>
                <a:latin typeface="Sakkal Majalla"/>
                <a:cs typeface="Sakkal Majalla"/>
                <a:ea typeface="Sakkal Majalla"/>
              </a:rPr>
              <a:t>، مما يستدعي إجراء </a:t>
            </a:r>
            <a:r>
              <a:rPr sz="1550" b="1" i="0">
                <a:solidFill>
                  <a:srgbClr val="C4B5FD"/>
                </a:solidFill>
                <a:latin typeface="Sakkal Majalla"/>
                <a:cs typeface="Sakkal Majalla"/>
                <a:ea typeface="Sakkal Majalla"/>
              </a:rPr>
              <a:t>[نوع الدراسة المقترحة]</a:t>
            </a:r>
            <a:r>
              <a:rPr sz="1550" b="0" i="0">
                <a:solidFill>
                  <a:srgbClr val="FFFFFF"/>
                </a:solidFill>
                <a:latin typeface="Sakkal Majalla"/>
                <a:cs typeface="Sakkal Majalla"/>
                <a:ea typeface="Sakkal Majalla"/>
              </a:rPr>
              <a:t>.»</a:t>
            </a:r>
          </a:p>
        </p:txBody>
      </p:sp>
      <p:sp>
        <p:nvSpPr>
          <p:cNvPr id="14" name="Rounded Rectangle 13"/>
          <p:cNvSpPr/>
          <p:nvPr/>
        </p:nvSpPr>
        <p:spPr>
          <a:xfrm>
            <a:off x="548640" y="3639312"/>
            <a:ext cx="11094415" cy="960120"/>
          </a:xfrm>
          <a:prstGeom prst="roundRect">
            <a:avLst>
              <a:gd name="adj" fmla="val 12000"/>
            </a:avLst>
          </a:prstGeom>
          <a:solidFill>
            <a:srgbClr val="FFFFFF"/>
          </a:solidFill>
          <a:ln w="15240">
            <a:solidFill>
              <a:srgbClr val="0D9488"/>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49039"/>
            <a:ext cx="10454335" cy="777240"/>
          </a:xfrm>
          <a:prstGeom prst="rect">
            <a:avLst/>
          </a:prstGeom>
          <a:noFill/>
        </p:spPr>
        <p:txBody>
          <a:bodyPr wrap="square" anchor="t" lIns="0" rIns="0" tIns="0" bIns="0">
            <a:spAutoFit/>
          </a:bodyPr>
          <a:lstStyle/>
          <a:p>
            <a:pPr algn="r" rtl="1">
              <a:lnSpc>
                <a:spcPct val="125000"/>
              </a:lnSpc>
              <a:spcBef>
                <a:spcPts val="0"/>
              </a:spcBef>
              <a:spcAft>
                <a:spcPts val="400"/>
              </a:spcAft>
            </a:pPr>
            <a:r>
              <a:rPr sz="1250" b="1" i="0">
                <a:solidFill>
                  <a:srgbClr val="0D9488"/>
                </a:solidFill>
                <a:latin typeface="Sakkal Majalla"/>
                <a:cs typeface="Sakkal Majalla"/>
                <a:ea typeface="Sakkal Majalla"/>
              </a:rPr>
              <a:t>✅ مثال مطبَّق بأسلوب الورشة:  </a:t>
            </a:r>
            <a:r>
              <a:rPr sz="1250" b="0" i="0">
                <a:solidFill>
                  <a:srgbClr val="221C57"/>
                </a:solidFill>
                <a:latin typeface="Sakkal Majalla"/>
                <a:cs typeface="Sakkal Majalla"/>
                <a:ea typeface="Sakkal Majalla"/>
              </a:rPr>
              <a:t>«على الرغم من أن الدراسات السابقة تناولت التعلم الإلكتروني في الجامعات، إلا أن تأثيره على القلق عند طلاب الجامعات العربية بعد 2020 لم يُدرس بعد، مما يستدعي إجراء دراسة مختلطة (كمية ونوعية) لسدّ هذه الفجوة.»</a:t>
            </a:r>
          </a:p>
        </p:txBody>
      </p:sp>
      <p:sp>
        <p:nvSpPr>
          <p:cNvPr id="16" name="TextBox 15"/>
          <p:cNvSpPr txBox="1"/>
          <p:nvPr/>
        </p:nvSpPr>
        <p:spPr>
          <a:xfrm>
            <a:off x="548640" y="4800600"/>
            <a:ext cx="11094415" cy="384048"/>
          </a:xfrm>
          <a:prstGeom prst="rect">
            <a:avLst/>
          </a:prstGeom>
          <a:noFill/>
        </p:spPr>
        <p:txBody>
          <a:bodyPr wrap="square" anchor="t" lIns="0" rIns="0" tIns="0" bIns="0">
            <a:spAutoFit/>
          </a:bodyPr>
          <a:lstStyle/>
          <a:p>
            <a:pPr algn="r" rtl="1">
              <a:lnSpc>
                <a:spcPct val="105000"/>
              </a:lnSpc>
              <a:spcBef>
                <a:spcPts val="0"/>
              </a:spcBef>
              <a:spcAft>
                <a:spcPts val="400"/>
              </a:spcAft>
            </a:pPr>
            <a:r>
              <a:rPr sz="1400" b="1" i="0">
                <a:solidFill>
                  <a:srgbClr val="221C57"/>
                </a:solidFill>
                <a:latin typeface="Sakkal Majalla"/>
                <a:cs typeface="Sakkal Majalla"/>
                <a:ea typeface="Sakkal Majalla"/>
              </a:rPr>
              <a:t>قائمة الفحص الخماسية قبل اعتماد الفجوة نهائياً:</a:t>
            </a:r>
          </a:p>
        </p:txBody>
      </p:sp>
      <p:sp>
        <p:nvSpPr>
          <p:cNvPr id="17" name="Rounded Rectangle 16"/>
          <p:cNvSpPr/>
          <p:nvPr/>
        </p:nvSpPr>
        <p:spPr>
          <a:xfrm>
            <a:off x="9585106" y="5257800"/>
            <a:ext cx="2057948" cy="914400"/>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85106" y="5257800"/>
            <a:ext cx="2057948" cy="91440"/>
          </a:xfrm>
          <a:prstGeom prst="roundRect">
            <a:avLst>
              <a:gd name="adj" fmla="val 100000"/>
            </a:avLst>
          </a:prstGeom>
          <a:ln>
            <a:noFill/>
          </a:ln>
          <a:effectLst/>
          <a:gradFill rotWithShape="1">
            <a:gsLst>
              <a:gs pos="0">
                <a:srgbClr val="A21CAF"/>
              </a:gs>
              <a:gs pos="100000">
                <a:srgbClr val="E879F9"/>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76546" y="5422392"/>
            <a:ext cx="1875068"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A21CAF"/>
                </a:solidFill>
                <a:latin typeface="Sakkal Majalla"/>
                <a:cs typeface="Sakkal Majalla"/>
                <a:ea typeface="Sakkal Majalla"/>
              </a:rPr>
              <a:t>✔ موثّقة؟</a:t>
            </a:r>
          </a:p>
        </p:txBody>
      </p:sp>
      <p:sp>
        <p:nvSpPr>
          <p:cNvPr id="20" name="TextBox 19"/>
          <p:cNvSpPr txBox="1"/>
          <p:nvPr/>
        </p:nvSpPr>
        <p:spPr>
          <a:xfrm>
            <a:off x="9676546" y="5788152"/>
            <a:ext cx="1875068" cy="329184"/>
          </a:xfrm>
          <a:prstGeom prst="rect">
            <a:avLst/>
          </a:prstGeom>
          <a:noFill/>
        </p:spPr>
        <p:txBody>
          <a:bodyPr wrap="square" anchor="t" lIns="0" rIns="0" tIns="0" bIns="0">
            <a:spAutoFit/>
          </a:bodyPr>
          <a:lstStyle/>
          <a:p>
            <a:pPr algn="ctr" rtl="1">
              <a:lnSpc>
                <a:spcPct val="105000"/>
              </a:lnSpc>
              <a:spcBef>
                <a:spcPts val="0"/>
              </a:spcBef>
              <a:spcAft>
                <a:spcPts val="400"/>
              </a:spcAft>
            </a:pPr>
            <a:r>
              <a:rPr sz="1000" b="0" i="0">
                <a:solidFill>
                  <a:srgbClr val="6E6A8F"/>
                </a:solidFill>
                <a:latin typeface="Sakkal Majalla"/>
                <a:cs typeface="Sakkal Majalla"/>
                <a:ea typeface="Sakkal Majalla"/>
              </a:rPr>
              <a:t>تستند لمراجعة فعلية</a:t>
            </a:r>
          </a:p>
        </p:txBody>
      </p:sp>
      <p:sp>
        <p:nvSpPr>
          <p:cNvPr id="21" name="Rounded Rectangle 20"/>
          <p:cNvSpPr/>
          <p:nvPr/>
        </p:nvSpPr>
        <p:spPr>
          <a:xfrm>
            <a:off x="7325989" y="5257800"/>
            <a:ext cx="2057948" cy="914400"/>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25989" y="5257800"/>
            <a:ext cx="2057948" cy="91440"/>
          </a:xfrm>
          <a:prstGeom prst="roundRect">
            <a:avLst>
              <a:gd name="adj" fmla="val 100000"/>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17429" y="5422392"/>
            <a:ext cx="1875068"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D97706"/>
                </a:solidFill>
                <a:latin typeface="Sakkal Majalla"/>
                <a:cs typeface="Sakkal Majalla"/>
                <a:ea typeface="Sakkal Majalla"/>
              </a:rPr>
              <a:t>✔ محددة؟</a:t>
            </a:r>
          </a:p>
        </p:txBody>
      </p:sp>
      <p:sp>
        <p:nvSpPr>
          <p:cNvPr id="24" name="TextBox 23"/>
          <p:cNvSpPr txBox="1"/>
          <p:nvPr/>
        </p:nvSpPr>
        <p:spPr>
          <a:xfrm>
            <a:off x="7417429" y="5788152"/>
            <a:ext cx="1875068" cy="329184"/>
          </a:xfrm>
          <a:prstGeom prst="rect">
            <a:avLst/>
          </a:prstGeom>
          <a:noFill/>
        </p:spPr>
        <p:txBody>
          <a:bodyPr wrap="square" anchor="t" lIns="0" rIns="0" tIns="0" bIns="0">
            <a:spAutoFit/>
          </a:bodyPr>
          <a:lstStyle/>
          <a:p>
            <a:pPr algn="ctr" rtl="1">
              <a:lnSpc>
                <a:spcPct val="105000"/>
              </a:lnSpc>
              <a:spcBef>
                <a:spcPts val="0"/>
              </a:spcBef>
              <a:spcAft>
                <a:spcPts val="400"/>
              </a:spcAft>
            </a:pPr>
            <a:r>
              <a:rPr sz="1000" b="0" i="0">
                <a:solidFill>
                  <a:srgbClr val="6E6A8F"/>
                </a:solidFill>
                <a:latin typeface="Sakkal Majalla"/>
                <a:cs typeface="Sakkal Majalla"/>
                <a:ea typeface="Sakkal Majalla"/>
              </a:rPr>
              <a:t>موضوع وفئة وسياق وزمن</a:t>
            </a:r>
          </a:p>
        </p:txBody>
      </p:sp>
      <p:sp>
        <p:nvSpPr>
          <p:cNvPr id="25" name="Rounded Rectangle 24"/>
          <p:cNvSpPr/>
          <p:nvPr/>
        </p:nvSpPr>
        <p:spPr>
          <a:xfrm>
            <a:off x="5066873" y="5257800"/>
            <a:ext cx="2057948" cy="914400"/>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66873" y="5257800"/>
            <a:ext cx="2057948" cy="91440"/>
          </a:xfrm>
          <a:prstGeom prst="roundRect">
            <a:avLst>
              <a:gd name="adj" fmla="val 100000"/>
            </a:avLst>
          </a:prstGeom>
          <a:ln>
            <a:noFill/>
          </a:ln>
          <a:effectLst/>
          <a:gradFill rotWithShape="1">
            <a:gsLst>
              <a:gs pos="0">
                <a:srgbClr val="0D9488"/>
              </a:gs>
              <a:gs pos="100000">
                <a:srgbClr val="2DD4BF"/>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58313" y="5422392"/>
            <a:ext cx="1875068"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0D9488"/>
                </a:solidFill>
                <a:latin typeface="Sakkal Majalla"/>
                <a:cs typeface="Sakkal Majalla"/>
                <a:ea typeface="Sakkal Majalla"/>
              </a:rPr>
              <a:t>✔ مهمة؟</a:t>
            </a:r>
          </a:p>
        </p:txBody>
      </p:sp>
      <p:sp>
        <p:nvSpPr>
          <p:cNvPr id="28" name="TextBox 27"/>
          <p:cNvSpPr txBox="1"/>
          <p:nvPr/>
        </p:nvSpPr>
        <p:spPr>
          <a:xfrm>
            <a:off x="5158313" y="5788152"/>
            <a:ext cx="1875068" cy="329184"/>
          </a:xfrm>
          <a:prstGeom prst="rect">
            <a:avLst/>
          </a:prstGeom>
          <a:noFill/>
        </p:spPr>
        <p:txBody>
          <a:bodyPr wrap="square" anchor="t" lIns="0" rIns="0" tIns="0" bIns="0">
            <a:spAutoFit/>
          </a:bodyPr>
          <a:lstStyle/>
          <a:p>
            <a:pPr algn="ctr" rtl="1">
              <a:lnSpc>
                <a:spcPct val="105000"/>
              </a:lnSpc>
              <a:spcBef>
                <a:spcPts val="0"/>
              </a:spcBef>
              <a:spcAft>
                <a:spcPts val="400"/>
              </a:spcAft>
            </a:pPr>
            <a:r>
              <a:rPr sz="1000" b="0" i="0">
                <a:solidFill>
                  <a:srgbClr val="6E6A8F"/>
                </a:solidFill>
                <a:latin typeface="Sakkal Majalla"/>
                <a:cs typeface="Sakkal Majalla"/>
                <a:ea typeface="Sakkal Majalla"/>
              </a:rPr>
              <a:t>سدّها يُحدث فرقاً</a:t>
            </a:r>
          </a:p>
        </p:txBody>
      </p:sp>
      <p:sp>
        <p:nvSpPr>
          <p:cNvPr id="29" name="Rounded Rectangle 28"/>
          <p:cNvSpPr/>
          <p:nvPr/>
        </p:nvSpPr>
        <p:spPr>
          <a:xfrm>
            <a:off x="2807756" y="5257800"/>
            <a:ext cx="2057948" cy="914400"/>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807756" y="5257800"/>
            <a:ext cx="2057948" cy="91440"/>
          </a:xfrm>
          <a:prstGeom prst="roundRect">
            <a:avLst>
              <a:gd name="adj" fmla="val 100000"/>
            </a:avLst>
          </a:prstGeom>
          <a:ln>
            <a:noFill/>
          </a:ln>
          <a:effectLst/>
          <a:gradFill rotWithShape="1">
            <a:gsLst>
              <a:gs pos="0">
                <a:srgbClr val="6D28D9"/>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99196" y="5422392"/>
            <a:ext cx="1875068"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6D28D9"/>
                </a:solidFill>
                <a:latin typeface="Sakkal Majalla"/>
                <a:cs typeface="Sakkal Majalla"/>
                <a:ea typeface="Sakkal Majalla"/>
              </a:rPr>
              <a:t>✔ قابلة للمعالجة؟</a:t>
            </a:r>
          </a:p>
        </p:txBody>
      </p:sp>
      <p:sp>
        <p:nvSpPr>
          <p:cNvPr id="32" name="TextBox 31"/>
          <p:cNvSpPr txBox="1"/>
          <p:nvPr/>
        </p:nvSpPr>
        <p:spPr>
          <a:xfrm>
            <a:off x="2899196" y="5788152"/>
            <a:ext cx="1875068" cy="329184"/>
          </a:xfrm>
          <a:prstGeom prst="rect">
            <a:avLst/>
          </a:prstGeom>
          <a:noFill/>
        </p:spPr>
        <p:txBody>
          <a:bodyPr wrap="square" anchor="t" lIns="0" rIns="0" tIns="0" bIns="0">
            <a:spAutoFit/>
          </a:bodyPr>
          <a:lstStyle/>
          <a:p>
            <a:pPr algn="ctr" rtl="1">
              <a:lnSpc>
                <a:spcPct val="105000"/>
              </a:lnSpc>
              <a:spcBef>
                <a:spcPts val="0"/>
              </a:spcBef>
              <a:spcAft>
                <a:spcPts val="400"/>
              </a:spcAft>
            </a:pPr>
            <a:r>
              <a:rPr sz="1000" b="0" i="0">
                <a:solidFill>
                  <a:srgbClr val="6E6A8F"/>
                </a:solidFill>
                <a:latin typeface="Sakkal Majalla"/>
                <a:cs typeface="Sakkal Majalla"/>
                <a:ea typeface="Sakkal Majalla"/>
              </a:rPr>
              <a:t>منهجية واقعية متاحة</a:t>
            </a:r>
          </a:p>
        </p:txBody>
      </p:sp>
      <p:sp>
        <p:nvSpPr>
          <p:cNvPr id="33" name="Rounded Rectangle 32"/>
          <p:cNvSpPr/>
          <p:nvPr/>
        </p:nvSpPr>
        <p:spPr>
          <a:xfrm>
            <a:off x="548639" y="5257800"/>
            <a:ext cx="2057948" cy="914400"/>
          </a:xfrm>
          <a:prstGeom prst="roundRect">
            <a:avLst>
              <a:gd name="adj" fmla="val 18000"/>
            </a:avLst>
          </a:prstGeom>
          <a:solidFill>
            <a:srgbClr val="FFFFFF"/>
          </a:solidFill>
          <a:ln w="12700">
            <a:solidFill>
              <a:srgbClr val="EAE7F7"/>
            </a:solidFill>
          </a:ln>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39" y="5257800"/>
            <a:ext cx="2057948" cy="91440"/>
          </a:xfrm>
          <a:prstGeom prst="roundRect">
            <a:avLst>
              <a:gd name="adj" fmla="val 100000"/>
            </a:avLst>
          </a:prstGeom>
          <a:ln>
            <a:noFill/>
          </a:ln>
          <a:effectLst/>
          <a:gradFill rotWithShape="1">
            <a:gsLst>
              <a:gs pos="0">
                <a:srgbClr val="BE123C"/>
              </a:gs>
              <a:gs pos="100000">
                <a:srgbClr val="FB718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79" y="5422392"/>
            <a:ext cx="1875068"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300" b="1" i="0">
                <a:solidFill>
                  <a:srgbClr val="BE123C"/>
                </a:solidFill>
                <a:latin typeface="Sakkal Majalla"/>
                <a:cs typeface="Sakkal Majalla"/>
                <a:ea typeface="Sakkal Majalla"/>
              </a:rPr>
              <a:t>✔ جديدة؟</a:t>
            </a:r>
          </a:p>
        </p:txBody>
      </p:sp>
      <p:sp>
        <p:nvSpPr>
          <p:cNvPr id="36" name="TextBox 35"/>
          <p:cNvSpPr txBox="1"/>
          <p:nvPr/>
        </p:nvSpPr>
        <p:spPr>
          <a:xfrm>
            <a:off x="640079" y="5788152"/>
            <a:ext cx="1875068" cy="329184"/>
          </a:xfrm>
          <a:prstGeom prst="rect">
            <a:avLst/>
          </a:prstGeom>
          <a:noFill/>
        </p:spPr>
        <p:txBody>
          <a:bodyPr wrap="square" anchor="t" lIns="0" rIns="0" tIns="0" bIns="0">
            <a:spAutoFit/>
          </a:bodyPr>
          <a:lstStyle/>
          <a:p>
            <a:pPr algn="ctr" rtl="1">
              <a:lnSpc>
                <a:spcPct val="105000"/>
              </a:lnSpc>
              <a:spcBef>
                <a:spcPts val="0"/>
              </a:spcBef>
              <a:spcAft>
                <a:spcPts val="400"/>
              </a:spcAft>
            </a:pPr>
            <a:r>
              <a:rPr sz="1000" b="0" i="0">
                <a:solidFill>
                  <a:srgbClr val="6E6A8F"/>
                </a:solidFill>
                <a:latin typeface="Sakkal Majalla"/>
                <a:cs typeface="Sakkal Majalla"/>
                <a:ea typeface="Sakkal Majalla"/>
              </a:rPr>
              <a:t>لم تُسد بدراسة أحدث</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17123B"/>
              </a:gs>
              <a:gs pos="100000">
                <a:srgbClr val="6D28D9"/>
              </a:gs>
            </a:gsLst>
            <a:lin ang="21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554480" y="3931920"/>
            <a:ext cx="4206240" cy="4206240"/>
          </a:xfrm>
          <a:prstGeom prst="ellipse">
            <a:avLst/>
          </a:prstGeom>
          <a:solidFill>
            <a:srgbClr val="FFFFFF">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828800"/>
            <a:ext cx="4389120" cy="4389120"/>
          </a:xfrm>
          <a:prstGeom prst="ellipse">
            <a:avLst/>
          </a:prstGeom>
          <a:solidFill>
            <a:srgbClr val="FFFFFF">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155680" y="5303520"/>
            <a:ext cx="1645920" cy="1645920"/>
          </a:xfrm>
          <a:prstGeom prst="ellipse">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 y="914400"/>
            <a:ext cx="237744" cy="237744"/>
          </a:xfrm>
          <a:prstGeom prst="ellipse">
            <a:avLst/>
          </a:prstGeom>
          <a:solidFill>
            <a:srgbClr val="FBBF24">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40080"/>
            <a:ext cx="9448495" cy="777240"/>
          </a:xfrm>
          <a:prstGeom prst="rect">
            <a:avLst/>
          </a:prstGeom>
          <a:noFill/>
        </p:spPr>
        <p:txBody>
          <a:bodyPr wrap="square" anchor="t" lIns="0" rIns="0" tIns="0" bIns="0">
            <a:spAutoFit/>
          </a:bodyPr>
          <a:lstStyle/>
          <a:p>
            <a:pPr algn="ctr" rtl="1">
              <a:lnSpc>
                <a:spcPct val="105000"/>
              </a:lnSpc>
              <a:spcBef>
                <a:spcPts val="0"/>
              </a:spcBef>
              <a:spcAft>
                <a:spcPts val="400"/>
              </a:spcAft>
            </a:pPr>
            <a:r>
              <a:rPr sz="3400" b="1" i="0">
                <a:solidFill>
                  <a:srgbClr val="FFFFFF"/>
                </a:solidFill>
                <a:latin typeface="Sakkal Majalla"/>
                <a:cs typeface="Sakkal Majalla"/>
                <a:ea typeface="Sakkal Majalla"/>
              </a:rPr>
              <a:t>الخلاصة: رسائل تأخذها معك</a:t>
            </a:r>
          </a:p>
        </p:txBody>
      </p:sp>
      <p:sp>
        <p:nvSpPr>
          <p:cNvPr id="8" name="TextBox 7"/>
          <p:cNvSpPr txBox="1"/>
          <p:nvPr/>
        </p:nvSpPr>
        <p:spPr>
          <a:xfrm>
            <a:off x="1371600" y="1417320"/>
            <a:ext cx="9448495" cy="365760"/>
          </a:xfrm>
          <a:prstGeom prst="rect">
            <a:avLst/>
          </a:prstGeom>
          <a:noFill/>
        </p:spPr>
        <p:txBody>
          <a:bodyPr wrap="square" anchor="t" lIns="0" rIns="0" tIns="0" bIns="0">
            <a:spAutoFit/>
          </a:bodyPr>
          <a:lstStyle/>
          <a:p>
            <a:pPr algn="ctr">
              <a:lnSpc>
                <a:spcPct val="105000"/>
              </a:lnSpc>
              <a:spcBef>
                <a:spcPts val="0"/>
              </a:spcBef>
              <a:spcAft>
                <a:spcPts val="400"/>
              </a:spcAft>
            </a:pPr>
            <a:r>
              <a:rPr sz="1200" b="1" i="0" spc="500">
                <a:solidFill>
                  <a:srgbClr val="FBBF24"/>
                </a:solidFill>
                <a:latin typeface="Sakkal Majalla"/>
                <a:cs typeface="Sakkal Majalla"/>
                <a:ea typeface="Sakkal Majalla"/>
              </a:rPr>
              <a:t>K E Y   T A K E A W A Y S</a:t>
            </a:r>
          </a:p>
        </p:txBody>
      </p:sp>
      <p:sp>
        <p:nvSpPr>
          <p:cNvPr id="9" name="Rounded Rectangle 8"/>
          <p:cNvSpPr/>
          <p:nvPr/>
        </p:nvSpPr>
        <p:spPr>
          <a:xfrm>
            <a:off x="1645920" y="1965960"/>
            <a:ext cx="8897112" cy="777240"/>
          </a:xfrm>
          <a:prstGeom prst="roundRect">
            <a:avLst>
              <a:gd name="adj" fmla="val 2000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857232" y="2093976"/>
            <a:ext cx="521207" cy="521207"/>
          </a:xfrm>
          <a:prstGeom prst="ellipse">
            <a:avLst/>
          </a:prstGeom>
          <a:ln>
            <a:noFill/>
          </a:ln>
          <a:gradFill rotWithShape="1">
            <a:gsLst>
              <a:gs pos="0">
                <a:srgbClr val="0D9488"/>
              </a:gs>
              <a:gs pos="100000">
                <a:srgbClr val="2DD4BF"/>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١</a:t>
            </a:r>
          </a:p>
        </p:txBody>
      </p:sp>
      <p:sp>
        <p:nvSpPr>
          <p:cNvPr id="11" name="TextBox 10"/>
          <p:cNvSpPr txBox="1"/>
          <p:nvPr/>
        </p:nvSpPr>
        <p:spPr>
          <a:xfrm>
            <a:off x="1920240" y="2011679"/>
            <a:ext cx="7863840"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FFFFFF"/>
                </a:solidFill>
                <a:latin typeface="Sakkal Majalla"/>
                <a:cs typeface="Sakkal Majalla"/>
                <a:ea typeface="Sakkal Majalla"/>
              </a:rPr>
              <a:t>الفجوة البحثية أساس أي بحث علمي ناجح</a:t>
            </a:r>
          </a:p>
        </p:txBody>
      </p:sp>
      <p:sp>
        <p:nvSpPr>
          <p:cNvPr id="12" name="TextBox 11"/>
          <p:cNvSpPr txBox="1"/>
          <p:nvPr/>
        </p:nvSpPr>
        <p:spPr>
          <a:xfrm>
            <a:off x="1920240" y="2377440"/>
            <a:ext cx="7863840" cy="329184"/>
          </a:xfrm>
          <a:prstGeom prst="rect">
            <a:avLst/>
          </a:prstGeom>
          <a:noFill/>
        </p:spPr>
        <p:txBody>
          <a:bodyPr wrap="square" anchor="t" lIns="0" rIns="0" tIns="0" bIns="0">
            <a:spAutoFit/>
          </a:bodyPr>
          <a:lstStyle/>
          <a:p>
            <a:pPr algn="r" rtl="1">
              <a:lnSpc>
                <a:spcPct val="105000"/>
              </a:lnSpc>
              <a:spcBef>
                <a:spcPts val="0"/>
              </a:spcBef>
              <a:spcAft>
                <a:spcPts val="400"/>
              </a:spcAft>
            </a:pPr>
            <a:r>
              <a:rPr sz="1150" b="0" i="0">
                <a:solidFill>
                  <a:srgbClr val="FFFFFF"/>
                </a:solidFill>
                <a:latin typeface="Sakkal Majalla"/>
                <a:cs typeface="Sakkal Majalla"/>
                <a:ea typeface="Sakkal Majalla"/>
              </a:rPr>
              <a:t>هي جواز مرورك إلى الأصالة والقبول والنشر والتمويل</a:t>
            </a:r>
          </a:p>
        </p:txBody>
      </p:sp>
      <p:sp>
        <p:nvSpPr>
          <p:cNvPr id="13" name="Rounded Rectangle 12"/>
          <p:cNvSpPr/>
          <p:nvPr/>
        </p:nvSpPr>
        <p:spPr>
          <a:xfrm>
            <a:off x="1645920" y="2862072"/>
            <a:ext cx="8897112" cy="777240"/>
          </a:xfrm>
          <a:prstGeom prst="roundRect">
            <a:avLst>
              <a:gd name="adj" fmla="val 2000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57232" y="2990088"/>
            <a:ext cx="521207" cy="521207"/>
          </a:xfrm>
          <a:prstGeom prst="ellipse">
            <a:avLst/>
          </a:prstGeom>
          <a:ln>
            <a:noFill/>
          </a:ln>
          <a:gradFill rotWithShape="1">
            <a:gsLst>
              <a:gs pos="0">
                <a:srgbClr val="D97706"/>
              </a:gs>
              <a:gs pos="100000">
                <a:srgbClr val="FBBF24"/>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٢</a:t>
            </a:r>
          </a:p>
        </p:txBody>
      </p:sp>
      <p:sp>
        <p:nvSpPr>
          <p:cNvPr id="15" name="TextBox 14"/>
          <p:cNvSpPr txBox="1"/>
          <p:nvPr/>
        </p:nvSpPr>
        <p:spPr>
          <a:xfrm>
            <a:off x="1920240" y="2907791"/>
            <a:ext cx="7863840"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FFFFFF"/>
                </a:solidFill>
                <a:latin typeface="Sakkal Majalla"/>
                <a:cs typeface="Sakkal Majalla"/>
                <a:ea typeface="Sakkal Majalla"/>
              </a:rPr>
              <a:t>اعرف الأنواع الستة وسؤال كل نوع</a:t>
            </a:r>
          </a:p>
        </p:txBody>
      </p:sp>
      <p:sp>
        <p:nvSpPr>
          <p:cNvPr id="16" name="TextBox 15"/>
          <p:cNvSpPr txBox="1"/>
          <p:nvPr/>
        </p:nvSpPr>
        <p:spPr>
          <a:xfrm>
            <a:off x="1920240" y="3273552"/>
            <a:ext cx="7863840" cy="329184"/>
          </a:xfrm>
          <a:prstGeom prst="rect">
            <a:avLst/>
          </a:prstGeom>
          <a:noFill/>
        </p:spPr>
        <p:txBody>
          <a:bodyPr wrap="square" anchor="t" lIns="0" rIns="0" tIns="0" bIns="0">
            <a:spAutoFit/>
          </a:bodyPr>
          <a:lstStyle/>
          <a:p>
            <a:pPr algn="r" rtl="1">
              <a:lnSpc>
                <a:spcPct val="105000"/>
              </a:lnSpc>
              <a:spcBef>
                <a:spcPts val="0"/>
              </a:spcBef>
              <a:spcAft>
                <a:spcPts val="400"/>
              </a:spcAft>
            </a:pPr>
            <a:r>
              <a:rPr sz="1150" b="0" i="0">
                <a:solidFill>
                  <a:srgbClr val="FFFFFF"/>
                </a:solidFill>
                <a:latin typeface="Sakkal Majalla"/>
                <a:cs typeface="Sakkal Majalla"/>
                <a:ea typeface="Sakkal Majalla"/>
              </a:rPr>
              <a:t>معرفة، ممارسة، أدلة، سكان، منهجية، زمن — ولكل نوع بابه</a:t>
            </a:r>
          </a:p>
        </p:txBody>
      </p:sp>
      <p:sp>
        <p:nvSpPr>
          <p:cNvPr id="17" name="Rounded Rectangle 16"/>
          <p:cNvSpPr/>
          <p:nvPr/>
        </p:nvSpPr>
        <p:spPr>
          <a:xfrm>
            <a:off x="1645920" y="3758183"/>
            <a:ext cx="8897112" cy="777240"/>
          </a:xfrm>
          <a:prstGeom prst="roundRect">
            <a:avLst>
              <a:gd name="adj" fmla="val 2000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57232" y="3886199"/>
            <a:ext cx="521207" cy="521207"/>
          </a:xfrm>
          <a:prstGeom prst="ellipse">
            <a:avLst/>
          </a:prstGeom>
          <a:ln>
            <a:noFill/>
          </a:ln>
          <a:gradFill rotWithShape="1">
            <a:gsLst>
              <a:gs pos="0">
                <a:srgbClr val="6D28D9"/>
              </a:gs>
              <a:gs pos="100000">
                <a:srgbClr val="A855F7"/>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٣</a:t>
            </a:r>
          </a:p>
        </p:txBody>
      </p:sp>
      <p:sp>
        <p:nvSpPr>
          <p:cNvPr id="19" name="TextBox 18"/>
          <p:cNvSpPr txBox="1"/>
          <p:nvPr/>
        </p:nvSpPr>
        <p:spPr>
          <a:xfrm>
            <a:off x="1920240" y="3803903"/>
            <a:ext cx="7863840"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FFFFFF"/>
                </a:solidFill>
                <a:latin typeface="Sakkal Majalla"/>
                <a:cs typeface="Sakkal Majalla"/>
                <a:ea typeface="Sakkal Majalla"/>
              </a:rPr>
              <a:t>استخدم الذكاء الاصطناعي بذكاء</a:t>
            </a:r>
          </a:p>
        </p:txBody>
      </p:sp>
      <p:sp>
        <p:nvSpPr>
          <p:cNvPr id="20" name="TextBox 19"/>
          <p:cNvSpPr txBox="1"/>
          <p:nvPr/>
        </p:nvSpPr>
        <p:spPr>
          <a:xfrm>
            <a:off x="1920240" y="4169663"/>
            <a:ext cx="7863840" cy="329184"/>
          </a:xfrm>
          <a:prstGeom prst="rect">
            <a:avLst/>
          </a:prstGeom>
          <a:noFill/>
        </p:spPr>
        <p:txBody>
          <a:bodyPr wrap="square" anchor="t" lIns="0" rIns="0" tIns="0" bIns="0">
            <a:spAutoFit/>
          </a:bodyPr>
          <a:lstStyle/>
          <a:p>
            <a:pPr algn="r" rtl="1">
              <a:lnSpc>
                <a:spcPct val="105000"/>
              </a:lnSpc>
              <a:spcBef>
                <a:spcPts val="0"/>
              </a:spcBef>
              <a:spcAft>
                <a:spcPts val="400"/>
              </a:spcAft>
            </a:pPr>
            <a:r>
              <a:rPr sz="1150" b="0" i="0">
                <a:solidFill>
                  <a:srgbClr val="FFFFFF"/>
                </a:solidFill>
                <a:latin typeface="Sakkal Majalla"/>
                <a:cs typeface="Sakkal Majalla"/>
                <a:ea typeface="Sakkal Majalla"/>
              </a:rPr>
              <a:t>ارفع، اسأل بدقة، راجع بنفسك — الأداة تقترح والباحث يقرر</a:t>
            </a:r>
          </a:p>
        </p:txBody>
      </p:sp>
      <p:sp>
        <p:nvSpPr>
          <p:cNvPr id="21" name="Rounded Rectangle 20"/>
          <p:cNvSpPr/>
          <p:nvPr/>
        </p:nvSpPr>
        <p:spPr>
          <a:xfrm>
            <a:off x="1645920" y="4654296"/>
            <a:ext cx="8897112" cy="777240"/>
          </a:xfrm>
          <a:prstGeom prst="roundRect">
            <a:avLst>
              <a:gd name="adj" fmla="val 20000"/>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857232" y="4782312"/>
            <a:ext cx="521207" cy="521207"/>
          </a:xfrm>
          <a:prstGeom prst="ellipse">
            <a:avLst/>
          </a:prstGeom>
          <a:ln>
            <a:noFill/>
          </a:ln>
          <a:gradFill rotWithShape="1">
            <a:gsLst>
              <a:gs pos="0">
                <a:srgbClr val="BE123C"/>
              </a:gs>
              <a:gs pos="100000">
                <a:srgbClr val="FB7185"/>
              </a:gs>
            </a:gsLst>
            <a:lin ang="2700000" scaled="1"/>
          </a:gradFill>
          <a:effectLst>
            <a:outerShdw blurRad="127000" dist="40640" dir="5400000" rotWithShape="0">
              <a:srgbClr val="221C5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1500" b="1" i="0">
                <a:solidFill>
                  <a:srgbClr val="FFFFFF"/>
                </a:solidFill>
                <a:latin typeface="Sakkal Majalla"/>
                <a:cs typeface="Sakkal Majalla"/>
                <a:ea typeface="Sakkal Majalla"/>
              </a:rPr>
              <a:t>٤</a:t>
            </a:r>
          </a:p>
        </p:txBody>
      </p:sp>
      <p:sp>
        <p:nvSpPr>
          <p:cNvPr id="23" name="TextBox 22"/>
          <p:cNvSpPr txBox="1"/>
          <p:nvPr/>
        </p:nvSpPr>
        <p:spPr>
          <a:xfrm>
            <a:off x="1920240" y="4700016"/>
            <a:ext cx="7863840" cy="365760"/>
          </a:xfrm>
          <a:prstGeom prst="rect">
            <a:avLst/>
          </a:prstGeom>
          <a:noFill/>
        </p:spPr>
        <p:txBody>
          <a:bodyPr wrap="square" anchor="t" lIns="0" rIns="0" tIns="0" bIns="0">
            <a:spAutoFit/>
          </a:bodyPr>
          <a:lstStyle/>
          <a:p>
            <a:pPr algn="r" rtl="1">
              <a:lnSpc>
                <a:spcPct val="105000"/>
              </a:lnSpc>
              <a:spcBef>
                <a:spcPts val="0"/>
              </a:spcBef>
              <a:spcAft>
                <a:spcPts val="400"/>
              </a:spcAft>
            </a:pPr>
            <a:r>
              <a:rPr sz="1450" b="1" i="0">
                <a:solidFill>
                  <a:srgbClr val="FFFFFF"/>
                </a:solidFill>
                <a:latin typeface="Sakkal Majalla"/>
                <a:cs typeface="Sakkal Majalla"/>
                <a:ea typeface="Sakkal Majalla"/>
              </a:rPr>
              <a:t>اصنع فجوة قوية لا ضعيفة</a:t>
            </a:r>
          </a:p>
        </p:txBody>
      </p:sp>
      <p:sp>
        <p:nvSpPr>
          <p:cNvPr id="24" name="TextBox 23"/>
          <p:cNvSpPr txBox="1"/>
          <p:nvPr/>
        </p:nvSpPr>
        <p:spPr>
          <a:xfrm>
            <a:off x="1920240" y="5065776"/>
            <a:ext cx="7863840" cy="329184"/>
          </a:xfrm>
          <a:prstGeom prst="rect">
            <a:avLst/>
          </a:prstGeom>
          <a:noFill/>
        </p:spPr>
        <p:txBody>
          <a:bodyPr wrap="square" anchor="t" lIns="0" rIns="0" tIns="0" bIns="0">
            <a:spAutoFit/>
          </a:bodyPr>
          <a:lstStyle/>
          <a:p>
            <a:pPr algn="r" rtl="1">
              <a:lnSpc>
                <a:spcPct val="105000"/>
              </a:lnSpc>
              <a:spcBef>
                <a:spcPts val="0"/>
              </a:spcBef>
              <a:spcAft>
                <a:spcPts val="400"/>
              </a:spcAft>
            </a:pPr>
            <a:r>
              <a:rPr sz="1150" b="0" i="0">
                <a:solidFill>
                  <a:srgbClr val="FFFFFF"/>
                </a:solidFill>
                <a:latin typeface="Sakkal Majalla"/>
                <a:cs typeface="Sakkal Majalla"/>
                <a:ea typeface="Sakkal Majalla"/>
              </a:rPr>
              <a:t>محددة، موثقة، مهمة — استخدم القالب وقائمة الفحص الخماسية</a:t>
            </a:r>
          </a:p>
        </p:txBody>
      </p:sp>
      <p:sp>
        <p:nvSpPr>
          <p:cNvPr id="25" name="Rectangle 24"/>
          <p:cNvSpPr/>
          <p:nvPr/>
        </p:nvSpPr>
        <p:spPr>
          <a:xfrm>
            <a:off x="4041648" y="5650992"/>
            <a:ext cx="4114800" cy="41148"/>
          </a:xfrm>
          <a:prstGeom prst="rect">
            <a:avLst/>
          </a:prstGeom>
          <a:ln>
            <a:noFill/>
          </a:ln>
          <a:effectLst/>
          <a:gradFill rotWithShape="1">
            <a:gsLst>
              <a:gs pos="0">
                <a:srgbClr val="D97706"/>
              </a:gs>
              <a:gs pos="100000">
                <a:srgbClr val="FBBF2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5806440"/>
            <a:ext cx="9814255" cy="502920"/>
          </a:xfrm>
          <a:prstGeom prst="rect">
            <a:avLst/>
          </a:prstGeom>
          <a:noFill/>
        </p:spPr>
        <p:txBody>
          <a:bodyPr wrap="square" anchor="t" lIns="0" rIns="0" tIns="0" bIns="0">
            <a:spAutoFit/>
          </a:bodyPr>
          <a:lstStyle/>
          <a:p>
            <a:pPr algn="ctr" rtl="1">
              <a:lnSpc>
                <a:spcPct val="105000"/>
              </a:lnSpc>
              <a:spcBef>
                <a:spcPts val="0"/>
              </a:spcBef>
              <a:spcAft>
                <a:spcPts val="400"/>
              </a:spcAft>
            </a:pPr>
            <a:r>
              <a:rPr sz="1500" b="1" i="0">
                <a:solidFill>
                  <a:srgbClr val="FBBF24"/>
                </a:solidFill>
                <a:latin typeface="Sakkal Majalla"/>
                <a:cs typeface="Sakkal Majalla"/>
                <a:ea typeface="Sakkal Majalla"/>
              </a:rPr>
              <a:t>«الباحث المتميّز ليس من يجد الإجابات فقط… بل من يطرح أسئلة لم يفكر فيها أحد من قبل»</a:t>
            </a:r>
          </a:p>
        </p:txBody>
      </p:sp>
      <p:sp>
        <p:nvSpPr>
          <p:cNvPr id="27" name="TextBox 26"/>
          <p:cNvSpPr txBox="1"/>
          <p:nvPr/>
        </p:nvSpPr>
        <p:spPr>
          <a:xfrm>
            <a:off x="1371600" y="6327648"/>
            <a:ext cx="9448495" cy="365760"/>
          </a:xfrm>
          <a:prstGeom prst="rect">
            <a:avLst/>
          </a:prstGeom>
          <a:noFill/>
        </p:spPr>
        <p:txBody>
          <a:bodyPr wrap="square" anchor="t" lIns="0" rIns="0" tIns="0" bIns="0">
            <a:spAutoFit/>
          </a:bodyPr>
          <a:lstStyle/>
          <a:p>
            <a:pPr algn="ctr" rtl="1">
              <a:lnSpc>
                <a:spcPct val="105000"/>
              </a:lnSpc>
              <a:spcBef>
                <a:spcPts val="0"/>
              </a:spcBef>
              <a:spcAft>
                <a:spcPts val="400"/>
              </a:spcAft>
            </a:pPr>
            <a:r>
              <a:rPr sz="1200" b="0" i="0">
                <a:solidFill>
                  <a:srgbClr val="FFFFFF"/>
                </a:solidFill>
                <a:latin typeface="Sakkal Majalla"/>
                <a:cs typeface="Sakkal Majalla"/>
                <a:ea typeface="Sakkal Majalla"/>
              </a:rPr>
              <a:t>شكراً لحسن استماعكم — </a:t>
            </a:r>
            <a:r>
              <a:rPr sz="1200" b="1" i="0">
                <a:solidFill>
                  <a:srgbClr val="FFFFFF"/>
                </a:solidFill>
                <a:latin typeface="Sakkal Majalla"/>
                <a:cs typeface="Sakkal Majalla"/>
                <a:ea typeface="Sakkal Majalla"/>
              </a:rPr>
              <a:t>الدكتورة هناء حسين الأهيمر</a:t>
            </a:r>
            <a:r>
              <a:rPr sz="1100" b="0" i="0">
                <a:solidFill>
                  <a:srgbClr val="FFFFFF"/>
                </a:solidFill>
                <a:latin typeface="Sakkal Majalla"/>
                <a:cs typeface="Sakkal Majalla"/>
                <a:ea typeface="Sakkal Majalla"/>
              </a:rPr>
              <a:t>  •  نسخة موسّعة بتصميم جديد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الفجوات البحثية — Research Gaps (نسخة موسّعة)</dc:title>
  <dc:subject>دليل شامل لاكتشاف الفجوات البحثية — من الشرح الكامل للورشة</dc:subject>
  <dc:creator>Dr. Hana Hossen Elahemer (original content)</dc:creator>
  <cp:keywords/>
  <dc:description>Rebuilt &amp; expanded from the workshop video + full narration transcript</dc:description>
  <cp:lastModifiedBy>Steve Canny</cp:lastModifiedBy>
  <cp:revision>1</cp:revision>
  <dcterms:created xsi:type="dcterms:W3CDTF">2013-01-27T09:14:16Z</dcterms:created>
  <dcterms:modified xsi:type="dcterms:W3CDTF">2013-01-27T09:15:58Z</dcterms:modified>
  <cp:category/>
</cp:coreProperties>
</file>