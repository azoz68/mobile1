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embeddedFontLst>
    <p:embeddedFont>
      <p:font typeface="Noto Sans Arabic"/>
      <p:regular r:id="rIdFont1"/>
      <p:bold r:id="rIdFont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افتتاحية مقترحة: من أكثر الأسئلة التي تشغل الباحثين اليوم: هل يمكن استخدام الذكاء الاصطناعي لإيجاد الفجوة البحثية؟ والجواب: نعم — وهذا ما سنتعلمه معاً. الموضوع من أهم مواضيع البحث العلمي: الفجوة البحثية تعني ببساطة الشيء الذي لم تتم دراسته بشكل كافٍ بعد، أو النقطة التي لم يركّز عليها الباحثون بوضوح. سنتعلم في هذا العرض: ما هي الفجوة البحثية، لماذا تعتبر مهمة، أنواعها المختلفة، والأهم: كيف نكتشفها باستخدام أدوات الذكاء الاصطناعي. والهدف النهائي: أن يتمكن أي طالب أو باحث بعد هذا العرض من تحديد فجوة بحثية قوية بطريقة 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خطة العرض في سبعة محاور تتدرج منطقياً: نبدأ بالمفهوم (ما هي الفجوة وما صورها؟)، ثم الأهمية (لماذا نهتم؟)، ثم الأنواع الستة بشرح موسّع لكل نوع، ثم أمثلة تطبيقية واقعية، ثم ننتقل للجانب العملي: أدوات الذكاء الاصطناعي الثماني وسير العمل الذكي الموصى به، فاستراتيجيات الباحثين المحترفين وإطار التفكير النقدي، ونختم بالتمييز بين الفجوة القوية والضعيفة وقالب صياغة جاهز للاستخدام. الهدف: أن يخرج كل طالب وباحث قادراً على تحديد فجوة بحثية قوية باحترافية.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ماذا نقصد بالفجوة البحثية؟ ببساطة: منطقة أو مشكلة في مجال معين، إما أن أحداً لم يدرسها من قبل، أو دُرست بشكل ناقص، أو تحتاج مزيداً من التحليل والاستكشاف. وللفجوة أكثر من صورة: (1) موضوع جديد بالكامل لم يبحثه أحد — أقرب لفجوة المعرفة. (2) دراسة جزئية: الموضوع تناوله الباحثون من زاوية واحدة فقط. (3) نتائج متضاربة بين الدراسات تحتاج بحثاً يحسمها. (4) اختلاف السياق الجغرافي — ومثالها الواضح: الدراسة التي تنجح في دولة معينة ليس شرطاً أن تنجح بنفس الطريقة في مجتمع آخر، لاختلاف الثقافة والظروف والبيئة. لذلك إعادة اختبار النتائج في سياقك المحلي فجوة مشروعة وقيّمة.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الفجوات البحثية مهمة جداً في البحث العلمي؟ (1) تعطيك Research Direction — اتجاهاً واضحاً لبحثك. (2) تحقق Scientific Originality — الأصالة العلمية، أي أن بحثك فيه إضافة جديدة. (3) تساعدك في Justifying the Study — تبرير دراستك أمام اللجنة العلمية عندما تُسأل: لماذا هذا البحث؟ (4) تربط بين الـ Literature Review (الدراسات السابقة) وبين الشيء الجديد الذي ستضيفه — فيظهر بحثك امتداداً منطقياً للمعرفة. (5) حتى المجلات العلمية المحكّمة تفضّل الأبحاث التي تعالج فجوات واضحة — ذكر الفجوة في المقدمة يرفع حظوظ القبول. (6) والجهات الممولة للبحوث تبحث دائماً عن مشاكل حقيقية تحتاج حلولاً — الفجوة الموثقة هي ما يقنعها بالاستثمار في مقترحك.</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الأولى: (1) فجوة المعرفة Knowledge Gap: معلومة لا يعرفها العلم إلى الآن — يكون الموضوع جديداً بالكامل. مثالها النموذجي: الظواهر والتقنيات المستجدة. (2) فجوة الممارسة Practice Gap: الفرق بين النظرية وتطبيق الواقع — الإرشادات موجودة لكن الميدان لا يلتزم بها، والبحث يدرس الأسباب وسبل العلاج. هذا النوع مثالي للتخصصات المهنية كالتمريض والتعليم والإدارة. (3) فجوة الأدلة Evidence Gap: الأدلة العلمية غير كافية لدعم فرضية أو توصية — البحث هنا يصمم التجارب التي تبني الدليل الغائب. احفظ السؤال المفتاحي أسفل كل بطاقة؛ فهو أسرع وسيلة لاستدعاء النوع أثناء قراءتك للأدبيات.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الأنواع الثلاثة الأخيرة: (4) فجوة السكان Population Gap: فئة معينة لم تُدرس بشكل كافٍ — جنس، عمر، ثقافة، مهنة. انتبه: نتائج العينات الغربية لا تُعمَّم تلقائياً على مجتمعك. (5) الفجوة المنهجية Methodological Gap: الباحثون استخدموا منهجاً واحداً فقط (غالباً الكمي)، وتغيير المنهج أو الدمج بين الكمي والنوعي قد يكشف صورة مختلفة تماماً. (6) الفجوة الزمنية Temporal Gap: الدراسات قديمة ولا تعكس الوضع الحالي — خاصة بعد التحولات الكبرى كجائحة كورونا وثورة الذكاء الاصطناعي. هذان النوعان الأخيران (المنهجية والزمنية) من أسهل المداخل لباحث الماجستير: خذ موضوعاً مدروساً وأعد بحثه بمنهج جديد أو بيانات حديثة في سياقك المحلي.</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أمثلة عملية: في فجوة المعرفة — تأثير الذكاء الاصطناعي على القرارات الأخلاقية في القطاع الصحي العربي لم يُدرس بشكل كافٍ. في فجوة الممارسة — البروتوكولات الطبية موجودة لكن التطبيق الواقعي مختلف. في فجوة السكان — معظم الدراسات على طلاب غربيين والشباب العربي ما زال ناقصاً في الدراسات. في الفجوة المنهجية — كل الدراسات استخدمت المنهج الكمي فقط بينما النوعي يعطي تفاصيل أعمق. في الفجوة الزمنية — الدراسات قبل 2020 لا تعكس تغيرات ما بعد الجائحة. وفي فجوة الأدلة: التوصية الشائعة بالتعلم المصغّر دون تجارب مضبوطة. لاحظ البنية المشتركة في كل مثال: موضوع + سياق + سبب اعتباره فجوة — استخدم البنية نفسها عند صياغة فجوتك.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مع تطور التكنولوجيا صارت لدينا أدوات ذكاء اصطناعي قوية تساعد الباحث على اكتشاف الفجوات بسرعة. بالترتيب: Elicit يلخص الدراسات، Consensus يعطي إجماع الأبحاث حول سؤال معين، Research Rabbit يرسم خريطة للعلاقات بين الأبحاث، Connected Papers يوضح الدراسات المرتبطة، Scite.ai يقيّم قوة المراجع، Semantic Scholar محرك بحث أكاديمي ذكي، Claude يقدم تحليلاً وحواراً نقدياً معمقاً، وChatGPT يساعد في الفهم العام. والأقوى بينها Research Rabbit لقدرته على رسم خريطة واضحة للعلاقات — والشريحة التالية تعرض سير العمل الموصى به معه خطوة بخطوة.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سير العمل الموصى به مع Research Rabbit: (1) يرفع الباحث ملفات الدراسات المرتبطة بموضوعه إلى المنصة. (2) يسأل سؤالاً دقيقاً: «حلّل هذه الملفات واستخرج الفجوة البحثية». (3) ثم يراجع الباحث التحليل الذي قدمه الذكاء الاصطناعي بنفسه، لضمان دقة القرار الأكاديمي. (4) بعد التحقق يعتمد الفجوة ويبني عليها مقترحه. الرسالة الجوهرية: الأدوات الذكية تسرّع الاكتشاف لكنها لا تلغي دور الباحث — الحكم النهائي دائماً للعقل النقدي البشري وللمصادر الأصلية.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الباحثون المحترفون لديهم استراتيجيات ذكية لاكتشاف الفجوات، وأهمها: (1) قراءة خاتمة الدراسات (Conclusion Section): الباحثون غالباً يذكرون اقتراحات مستقبلية صريحة — هذه فجوات جاهزة أوصى بها أصحاب الدراسات أنفسهم. (2) عمل Literature Mapping أو خريطة للأدبيات العلمية حسب السكان والمنهج والدولة والزمن — الفراغ في الخريطة يظهر بصرياً بدل التخمين. (3) البحث عن التناقضات بين النتائج — التضارب فرصة لبحث يحسم الخلاف. (4) ومن أفضل الأسئلة: What if — ماذا لو طبقنا الدراسة نفسها على فئة عمرية مختلفة أو دولة مختلفة؟ وهنا غالباً نجد فجوة بحثية ممتازة.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أي باحث ناجح لا بد أن يستخدم التفكير النقدي، وهناك إطار من ستة أسئلة: Who — من الذي تمت دراسته؟ What — ما المتغيرات؟ Where — أين صار البحث؟ When — متى نُشرت الدراسة؟ How — كيف تمت الدراسة؟ Why — لماذا توقفت وما حدودها؟ اطرح هذه الأسئلة على كل دراسة تقرؤها وستتكشف الفجوات تلقائياً. ومن المؤشرات المهمة أثناء القراءة عبارات مثل: This area has not been studied، وResults are conflicting، وThe sample does not represent — التقاط هذه العبارات في الأدبيات يقودك مباشرة إلى فجوات قابلة للبحث. وقاعدة مهمة: التفكير النقدي ليس معناه أن ننتقد الدراسات السابقة، بل أن نبني عليها ونطورها.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ليست كل فجوة تعتبر قوية. الفجوة القوية (Strong Research Gap) تكون: مدعومة بالأدلة من مراجعة حقيقية للأدبيات، محددة وقابلة للقياس، ولها قيمة علمية وعملية، إضافة إلى قابليتها للمعالجة بمنهجية واقعية وارتباطها بسياق محدد. أما الفجوة الضعيفة (Weak Gap) فتكون عامة جداً وغير واضحة. والمثال المقارن يوضح الفرق تماماً: قولنا «الصحة النفسية لم تُدرس بشكل كافٍ» فجوة ضعيفة — عامة بلا حدود ويسهل دحضها. لكن قولنا «لا توجد دراسة حول تأثير الدراسة عن بعد على القلق عند طلاب الجامعات العربية بعد 2020» فجوة قوية واضحة وقابلة للبحث: فيها المتغير والفئة والسياق والزمن. احرص أن تكون صياغتك دائماً من النوع الثاني.</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خارطة طريق تنفيذية تجمع كل ما سبق في مسار عملي واحد من سبع خطوات: (1) تضييق المجال إلى تخصص فرعي — يسهل حصر الأدبيات. (2) جمع 20–30 دراسة حديثة من آخر خمس سنوات. (3) البدء بقراءة الخاتمات وأقسام حدود الدراسة — فهي منجم الفجوات الجاهزة. (4) بناء خريطة الأدبيات (Literature Mapping) حسب السكان والمنهج والدولة والزمن. (5) تظليل الفراغات والتناقضات — الفجوة تظهر بصرياً في الخريطة. (6) التحقق عبر أدوات الذكاء الاصطناعي (سير عمل Research Rabbit من الشريحة التاسعة) من أن الفجوة لم تُسد بدراسة أحدث. (7) الصياغة النهائية بجملة محددة قابلة للقياس. الزمن الواقعي للمسار كاملاً: من أسبوعين إلى أربعة أسابيع من العمل المنتظم.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المرحلة الأخيرة: تحويل الملاحظة إلى فجوة علمية مصاغة باحترافية. القالب المعياري أربعة عناصر: (X) ما تناولته الدراسات فعلاً — يثبت اطلاعك على الأدبيات، (Y) الجانب الغائب — جوهر الفجوة، (Z) السياق المحدد — يمنحها حدوداً واقعية، ثم نوع الدراسة المقترحة — يحولها إلى خطة عمل. المثال المطبق يوضح كيفية ملء العناصر الأربعة بمحتوى حقيقي. وقبل الاعتماد النهائي مرر فجوتك على قائمة الفحص الخماسية: موثقة، محددة، مهمة، قابلة للمعالجة، وجديدة. إن اجتازت الخمسة فهي جاهزة لتتصدر مقدمة مقترحك البحثي وتصمد أمام المناقشة.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الخلاصة: الفجوة البحثية (Research Gap) هي أساس أي بحث علمي ناجح. تذكّر الرسائل الأربع: (1) الفجوة أساس البحث وجواز مرورك للأصالة والنشر والتمويل. (2) الأنواع الستة إطارك العملي — لكل نوع سؤاله المفتاحي وبابه الخاص. (3) استخدم أدوات الذكاء الاصطناعي بالطريقة الصحيحة: ارفع الملفات، اسأل بدقة، ثم راجع التحليل بنفسك قبل اعتماده. (4) اجعل فجوتك قوية: محددة وموثقة ومهمة وقابلة للمعالجة. والرسالة الأجمل: الباحث المتميز ليس الشخص الذي يجد الإجابات فقط، لكنه الشخص الذي يطرح أسئلة لم يفكر فيها أحد من قبل. بالتوفيق في رحلتك البحثية!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2103120"/>
            <a:ext cx="5120640" cy="512064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737360" y="4206240"/>
            <a:ext cx="4754880" cy="475488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881360" y="5212080"/>
            <a:ext cx="2194560" cy="219456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234440" y="1051560"/>
            <a:ext cx="274320" cy="274320"/>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607040" y="1554480"/>
            <a:ext cx="146304" cy="146304"/>
          </a:xfrm>
          <a:prstGeom prst="ellipse">
            <a:avLst/>
          </a:prstGeom>
          <a:solidFill>
            <a:srgbClr val="FFFFF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103120" y="5760720"/>
            <a:ext cx="146304" cy="146304"/>
          </a:xfrm>
          <a:prstGeom prst="ellipse">
            <a:avLst/>
          </a:prstGeom>
          <a:solidFill>
            <a:srgbClr val="FFFFFF">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24528" y="713232"/>
            <a:ext cx="3749039" cy="457200"/>
          </a:xfrm>
          <a:prstGeom prst="roundRect">
            <a:avLst>
              <a:gd name="adj" fmla="val 50000"/>
            </a:avLst>
          </a:prstGeom>
          <a:solidFill>
            <a:srgbClr val="FFFF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FFFFFF"/>
                </a:solidFill>
                <a:latin typeface="Noto Sans Arabic"/>
                <a:cs typeface="Noto Sans Arabic"/>
                <a:ea typeface="Noto Sans Arabic"/>
              </a:rPr>
              <a:t>ورشة عمل أكاديمية متخصصة  •  ACADEMIC WORKSHOP</a:t>
            </a:r>
          </a:p>
        </p:txBody>
      </p:sp>
      <p:sp>
        <p:nvSpPr>
          <p:cNvPr id="10" name="TextBox 9"/>
          <p:cNvSpPr txBox="1"/>
          <p:nvPr/>
        </p:nvSpPr>
        <p:spPr>
          <a:xfrm>
            <a:off x="1371600" y="1417320"/>
            <a:ext cx="9448495" cy="1371600"/>
          </a:xfrm>
          <a:prstGeom prst="rect">
            <a:avLst/>
          </a:prstGeom>
          <a:noFill/>
        </p:spPr>
        <p:txBody>
          <a:bodyPr wrap="square" anchor="t" lIns="0" rIns="0" tIns="0" bIns="0">
            <a:spAutoFit/>
          </a:bodyPr>
          <a:lstStyle/>
          <a:p>
            <a:pPr algn="ctr" rtl="1">
              <a:lnSpc>
                <a:spcPct val="105000"/>
              </a:lnSpc>
              <a:spcBef>
                <a:spcPts val="0"/>
              </a:spcBef>
              <a:spcAft>
                <a:spcPts val="400"/>
              </a:spcAft>
            </a:pPr>
            <a:r>
              <a:rPr sz="6000" b="1" i="0">
                <a:solidFill>
                  <a:srgbClr val="FFFFFF"/>
                </a:solidFill>
                <a:latin typeface="Noto Sans Arabic"/>
                <a:cs typeface="Noto Sans Arabic"/>
                <a:ea typeface="Noto Sans Arabic"/>
              </a:rPr>
              <a:t>الفجوات البحثية</a:t>
            </a:r>
          </a:p>
        </p:txBody>
      </p:sp>
      <p:sp>
        <p:nvSpPr>
          <p:cNvPr id="11" name="TextBox 10"/>
          <p:cNvSpPr txBox="1"/>
          <p:nvPr/>
        </p:nvSpPr>
        <p:spPr>
          <a:xfrm>
            <a:off x="1371600" y="2743200"/>
            <a:ext cx="9448495" cy="502920"/>
          </a:xfrm>
          <a:prstGeom prst="rect">
            <a:avLst/>
          </a:prstGeom>
          <a:noFill/>
        </p:spPr>
        <p:txBody>
          <a:bodyPr wrap="square" anchor="t" lIns="0" rIns="0" tIns="0" bIns="0">
            <a:spAutoFit/>
          </a:bodyPr>
          <a:lstStyle/>
          <a:p>
            <a:pPr algn="ctr">
              <a:lnSpc>
                <a:spcPct val="105000"/>
              </a:lnSpc>
              <a:spcBef>
                <a:spcPts val="0"/>
              </a:spcBef>
              <a:spcAft>
                <a:spcPts val="400"/>
              </a:spcAft>
            </a:pPr>
            <a:r>
              <a:rPr sz="2000" b="1" i="0" spc="600">
                <a:solidFill>
                  <a:srgbClr val="FBBF24"/>
                </a:solidFill>
                <a:latin typeface="Noto Sans Arabic"/>
                <a:cs typeface="Noto Sans Arabic"/>
                <a:ea typeface="Noto Sans Arabic"/>
              </a:rPr>
              <a:t>R E S E A R C H   G A P S</a:t>
            </a:r>
          </a:p>
        </p:txBody>
      </p:sp>
      <p:sp>
        <p:nvSpPr>
          <p:cNvPr id="12" name="Rectangle 11"/>
          <p:cNvSpPr/>
          <p:nvPr/>
        </p:nvSpPr>
        <p:spPr>
          <a:xfrm>
            <a:off x="5458968" y="3346704"/>
            <a:ext cx="1280160" cy="45720"/>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45920" y="3566160"/>
            <a:ext cx="88998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600" b="0" i="0">
                <a:solidFill>
                  <a:srgbClr val="FFFFFF"/>
                </a:solidFill>
                <a:latin typeface="Noto Sans Arabic"/>
                <a:cs typeface="Noto Sans Arabic"/>
                <a:ea typeface="Noto Sans Arabic"/>
              </a:rPr>
              <a:t>دليلك الشامل لاكتشاف الفجوات البحثية بذكاء واحترافية</a:t>
            </a:r>
          </a:p>
        </p:txBody>
      </p:sp>
      <p:sp>
        <p:nvSpPr>
          <p:cNvPr id="14" name="Rounded Rectangle 13"/>
          <p:cNvSpPr/>
          <p:nvPr/>
        </p:nvSpPr>
        <p:spPr>
          <a:xfrm>
            <a:off x="2624328" y="4279392"/>
            <a:ext cx="6949440" cy="960120"/>
          </a:xfrm>
          <a:prstGeom prst="roundRect">
            <a:avLst>
              <a:gd name="adj" fmla="val 16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0360" y="4407408"/>
            <a:ext cx="6437376"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1" i="0">
                <a:solidFill>
                  <a:srgbClr val="FFFFFF"/>
                </a:solidFill>
                <a:latin typeface="Noto Sans Arabic"/>
                <a:cs typeface="Noto Sans Arabic"/>
                <a:ea typeface="Noto Sans Arabic"/>
              </a:rPr>
              <a:t>السؤال الأكثر تكراراً: هل يمكن استخدام الذكاء الاصطناعي لإيجاد الفجوة البحثية؟</a:t>
            </a:r>
          </a:p>
        </p:txBody>
      </p:sp>
      <p:sp>
        <p:nvSpPr>
          <p:cNvPr id="16" name="TextBox 15"/>
          <p:cNvSpPr txBox="1"/>
          <p:nvPr/>
        </p:nvSpPr>
        <p:spPr>
          <a:xfrm>
            <a:off x="2880360" y="4809744"/>
            <a:ext cx="6437376"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الجواب: نعم — وفي هذا العرض ستتعلم كيف، خطوة بخطوة</a:t>
            </a:r>
          </a:p>
        </p:txBody>
      </p:sp>
      <p:sp>
        <p:nvSpPr>
          <p:cNvPr id="17" name="TextBox 16"/>
          <p:cNvSpPr txBox="1"/>
          <p:nvPr/>
        </p:nvSpPr>
        <p:spPr>
          <a:xfrm>
            <a:off x="1371600" y="5577840"/>
            <a:ext cx="9448495"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350" b="0" i="0">
                <a:solidFill>
                  <a:srgbClr val="FFFFFF"/>
                </a:solidFill>
                <a:latin typeface="Noto Sans Arabic"/>
                <a:cs typeface="Noto Sans Arabic"/>
                <a:ea typeface="Noto Sans Arabic"/>
              </a:rPr>
              <a:t>المحتوى العلمي:  </a:t>
            </a:r>
            <a:r>
              <a:rPr sz="1350" b="1" i="0">
                <a:solidFill>
                  <a:srgbClr val="FBBF24"/>
                </a:solidFill>
                <a:latin typeface="Noto Sans Arabic"/>
                <a:cs typeface="Noto Sans Arabic"/>
                <a:ea typeface="Noto Sans Arabic"/>
              </a:rPr>
              <a:t>الدكتورة هناء حسين الأهيمر</a:t>
            </a:r>
            <a:r>
              <a:rPr sz="1200" b="0" i="0">
                <a:solidFill>
                  <a:srgbClr val="FFFFFF"/>
                </a:solidFill>
                <a:latin typeface="Noto Sans Arabic"/>
                <a:cs typeface="Noto Sans Arabic"/>
                <a:ea typeface="Noto Sans Arabic"/>
              </a:rPr>
              <a:t>   Dr. Hana Hossen Elahemer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AGENDA &amp; GOAL</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خطة العرض وهدفه</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777240"/>
          </a:xfrm>
          <a:prstGeom prst="roundRect">
            <a:avLst>
              <a:gd name="adj" fmla="val 2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737360"/>
            <a:ext cx="10454335" cy="548640"/>
          </a:xfrm>
          <a:prstGeom prst="rect">
            <a:avLst/>
          </a:prstGeom>
          <a:noFill/>
        </p:spPr>
        <p:txBody>
          <a:bodyPr wrap="square" anchor="t" lIns="0" rIns="0" tIns="0" bIns="0">
            <a:spAutoFit/>
          </a:bodyPr>
          <a:lstStyle/>
          <a:p>
            <a:pPr algn="ctr" rtl="1">
              <a:lnSpc>
                <a:spcPct val="105000"/>
              </a:lnSpc>
              <a:spcBef>
                <a:spcPts val="0"/>
              </a:spcBef>
              <a:spcAft>
                <a:spcPts val="400"/>
              </a:spcAft>
            </a:pPr>
            <a:r>
              <a:rPr sz="1400" b="1" i="0">
                <a:solidFill>
                  <a:srgbClr val="FBBF24"/>
                </a:solidFill>
                <a:latin typeface="Noto Sans Arabic"/>
                <a:cs typeface="Noto Sans Arabic"/>
                <a:ea typeface="Noto Sans Arabic"/>
              </a:rPr>
              <a:t>🎯 هدف الورشة:  </a:t>
            </a:r>
            <a:r>
              <a:rPr sz="1400" b="1" i="0">
                <a:solidFill>
                  <a:srgbClr val="FFFFFF"/>
                </a:solidFill>
                <a:latin typeface="Noto Sans Arabic"/>
                <a:cs typeface="Noto Sans Arabic"/>
                <a:ea typeface="Noto Sans Arabic"/>
              </a:rPr>
              <a:t>أن يتمكّن أي طالب أو باحث — بعد هذا العرض — من تحديد فجوة بحثية قوية بطريقة احترافية</a:t>
            </a:r>
          </a:p>
        </p:txBody>
      </p:sp>
      <p:sp>
        <p:nvSpPr>
          <p:cNvPr id="13" name="Rounded Rectangle 12"/>
          <p:cNvSpPr/>
          <p:nvPr/>
        </p:nvSpPr>
        <p:spPr>
          <a:xfrm>
            <a:off x="6301587"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984687" y="2752344"/>
            <a:ext cx="530352" cy="530352"/>
          </a:xfrm>
          <a:prstGeom prst="ellipse">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١</a:t>
            </a:r>
          </a:p>
        </p:txBody>
      </p:sp>
      <p:sp>
        <p:nvSpPr>
          <p:cNvPr id="15" name="TextBox 14"/>
          <p:cNvSpPr txBox="1"/>
          <p:nvPr/>
        </p:nvSpPr>
        <p:spPr>
          <a:xfrm>
            <a:off x="6530187"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مفهوم الفجوة البحثية</a:t>
            </a:r>
          </a:p>
        </p:txBody>
      </p:sp>
      <p:sp>
        <p:nvSpPr>
          <p:cNvPr id="16" name="TextBox 15"/>
          <p:cNvSpPr txBox="1"/>
          <p:nvPr/>
        </p:nvSpPr>
        <p:spPr>
          <a:xfrm>
            <a:off x="6530187"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التعريف الدقيق والصور الأربع التي تظهر بها الفجوات</a:t>
            </a:r>
          </a:p>
        </p:txBody>
      </p:sp>
      <p:sp>
        <p:nvSpPr>
          <p:cNvPr id="17" name="Rounded Rectangle 16"/>
          <p:cNvSpPr/>
          <p:nvPr/>
        </p:nvSpPr>
        <p:spPr>
          <a:xfrm>
            <a:off x="6301587"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84687" y="3703320"/>
            <a:ext cx="530352" cy="530352"/>
          </a:xfrm>
          <a:prstGeom prst="ellipse">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٢</a:t>
            </a:r>
          </a:p>
        </p:txBody>
      </p:sp>
      <p:sp>
        <p:nvSpPr>
          <p:cNvPr id="19" name="TextBox 18"/>
          <p:cNvSpPr txBox="1"/>
          <p:nvPr/>
        </p:nvSpPr>
        <p:spPr>
          <a:xfrm>
            <a:off x="6530187"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لماذا تهمّنا الفجوات؟</a:t>
            </a:r>
          </a:p>
        </p:txBody>
      </p:sp>
      <p:sp>
        <p:nvSpPr>
          <p:cNvPr id="20" name="TextBox 19"/>
          <p:cNvSpPr txBox="1"/>
          <p:nvPr/>
        </p:nvSpPr>
        <p:spPr>
          <a:xfrm>
            <a:off x="6530187"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ستة أسباب تجعلها حجر الأساس في أي بحث ناجح</a:t>
            </a:r>
          </a:p>
        </p:txBody>
      </p:sp>
      <p:sp>
        <p:nvSpPr>
          <p:cNvPr id="21" name="Rounded Rectangle 20"/>
          <p:cNvSpPr/>
          <p:nvPr/>
        </p:nvSpPr>
        <p:spPr>
          <a:xfrm>
            <a:off x="6301587"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984687" y="4654296"/>
            <a:ext cx="530352" cy="530352"/>
          </a:xfrm>
          <a:prstGeom prst="ellipse">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٣</a:t>
            </a:r>
          </a:p>
        </p:txBody>
      </p:sp>
      <p:sp>
        <p:nvSpPr>
          <p:cNvPr id="23" name="TextBox 22"/>
          <p:cNvSpPr txBox="1"/>
          <p:nvPr/>
        </p:nvSpPr>
        <p:spPr>
          <a:xfrm>
            <a:off x="6530187"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الأنواع الستة بالتفصيل</a:t>
            </a:r>
          </a:p>
        </p:txBody>
      </p:sp>
      <p:sp>
        <p:nvSpPr>
          <p:cNvPr id="24" name="TextBox 23"/>
          <p:cNvSpPr txBox="1"/>
          <p:nvPr/>
        </p:nvSpPr>
        <p:spPr>
          <a:xfrm>
            <a:off x="6530187"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شرح موسّع لكل نوع مع سؤاله المفتاحي ومثاله</a:t>
            </a:r>
          </a:p>
        </p:txBody>
      </p:sp>
      <p:sp>
        <p:nvSpPr>
          <p:cNvPr id="25" name="Rounded Rectangle 24"/>
          <p:cNvSpPr/>
          <p:nvPr/>
        </p:nvSpPr>
        <p:spPr>
          <a:xfrm>
            <a:off x="6301587" y="5458968"/>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984687" y="5605272"/>
            <a:ext cx="530352" cy="530352"/>
          </a:xfrm>
          <a:prstGeom prst="ellipse">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٤</a:t>
            </a:r>
          </a:p>
        </p:txBody>
      </p:sp>
      <p:sp>
        <p:nvSpPr>
          <p:cNvPr id="27" name="TextBox 26"/>
          <p:cNvSpPr txBox="1"/>
          <p:nvPr/>
        </p:nvSpPr>
        <p:spPr>
          <a:xfrm>
            <a:off x="6530187" y="5522976"/>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أمثلة تطبيقية واقعية</a:t>
            </a:r>
          </a:p>
        </p:txBody>
      </p:sp>
      <p:sp>
        <p:nvSpPr>
          <p:cNvPr id="28" name="TextBox 27"/>
          <p:cNvSpPr txBox="1"/>
          <p:nvPr/>
        </p:nvSpPr>
        <p:spPr>
          <a:xfrm>
            <a:off x="6530187" y="5888736"/>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مثال ملموس على كل نوع ولماذا يُعد فجوة</a:t>
            </a:r>
          </a:p>
        </p:txBody>
      </p:sp>
      <p:sp>
        <p:nvSpPr>
          <p:cNvPr id="29" name="Rounded Rectangle 28"/>
          <p:cNvSpPr/>
          <p:nvPr/>
        </p:nvSpPr>
        <p:spPr>
          <a:xfrm>
            <a:off x="548640" y="2606040"/>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31739" y="2752344"/>
            <a:ext cx="530352" cy="530352"/>
          </a:xfrm>
          <a:prstGeom prst="ellipse">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٥</a:t>
            </a:r>
          </a:p>
        </p:txBody>
      </p:sp>
      <p:sp>
        <p:nvSpPr>
          <p:cNvPr id="31" name="TextBox 30"/>
          <p:cNvSpPr txBox="1"/>
          <p:nvPr/>
        </p:nvSpPr>
        <p:spPr>
          <a:xfrm>
            <a:off x="777240" y="2670048"/>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أدوات الذكاء الاصطناعي</a:t>
            </a:r>
          </a:p>
        </p:txBody>
      </p:sp>
      <p:sp>
        <p:nvSpPr>
          <p:cNvPr id="32" name="TextBox 31"/>
          <p:cNvSpPr txBox="1"/>
          <p:nvPr/>
        </p:nvSpPr>
        <p:spPr>
          <a:xfrm>
            <a:off x="777240" y="3035808"/>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ثماني أدوات + سير العمل الذكي مع الأداة الأقوى</a:t>
            </a:r>
          </a:p>
        </p:txBody>
      </p:sp>
      <p:sp>
        <p:nvSpPr>
          <p:cNvPr id="33" name="Rounded Rectangle 32"/>
          <p:cNvSpPr/>
          <p:nvPr/>
        </p:nvSpPr>
        <p:spPr>
          <a:xfrm>
            <a:off x="548640" y="3557016"/>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231739" y="3703320"/>
            <a:ext cx="530352" cy="530352"/>
          </a:xfrm>
          <a:prstGeom prst="ellipse">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٦</a:t>
            </a:r>
          </a:p>
        </p:txBody>
      </p:sp>
      <p:sp>
        <p:nvSpPr>
          <p:cNvPr id="35" name="TextBox 34"/>
          <p:cNvSpPr txBox="1"/>
          <p:nvPr/>
        </p:nvSpPr>
        <p:spPr>
          <a:xfrm>
            <a:off x="777240" y="3621024"/>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استراتيجيات المحترفين</a:t>
            </a:r>
          </a:p>
        </p:txBody>
      </p:sp>
      <p:sp>
        <p:nvSpPr>
          <p:cNvPr id="36" name="TextBox 35"/>
          <p:cNvSpPr txBox="1"/>
          <p:nvPr/>
        </p:nvSpPr>
        <p:spPr>
          <a:xfrm>
            <a:off x="777240" y="3986784"/>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أربع استراتيجيات ميدانية + إطار التفكير النقدي</a:t>
            </a:r>
          </a:p>
        </p:txBody>
      </p:sp>
      <p:sp>
        <p:nvSpPr>
          <p:cNvPr id="37" name="Rounded Rectangle 36"/>
          <p:cNvSpPr/>
          <p:nvPr/>
        </p:nvSpPr>
        <p:spPr>
          <a:xfrm>
            <a:off x="548640" y="4507992"/>
            <a:ext cx="5341467" cy="822960"/>
          </a:xfrm>
          <a:prstGeom prst="roundRect">
            <a:avLst>
              <a:gd name="adj" fmla="val 2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31739" y="4654296"/>
            <a:ext cx="530352" cy="530352"/>
          </a:xfrm>
          <a:prstGeom prst="ellipse">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٧</a:t>
            </a:r>
          </a:p>
        </p:txBody>
      </p:sp>
      <p:sp>
        <p:nvSpPr>
          <p:cNvPr id="39" name="TextBox 38"/>
          <p:cNvSpPr txBox="1"/>
          <p:nvPr/>
        </p:nvSpPr>
        <p:spPr>
          <a:xfrm>
            <a:off x="777240" y="4572000"/>
            <a:ext cx="4381347"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221C57"/>
                </a:solidFill>
                <a:latin typeface="Noto Sans Arabic"/>
                <a:cs typeface="Noto Sans Arabic"/>
                <a:ea typeface="Noto Sans Arabic"/>
              </a:rPr>
              <a:t>من الفجوة إلى الصياغة</a:t>
            </a:r>
          </a:p>
        </p:txBody>
      </p:sp>
      <p:sp>
        <p:nvSpPr>
          <p:cNvPr id="40" name="TextBox 39"/>
          <p:cNvSpPr txBox="1"/>
          <p:nvPr/>
        </p:nvSpPr>
        <p:spPr>
          <a:xfrm>
            <a:off x="777240" y="4937759"/>
            <a:ext cx="4381347"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تمييز الفجوة القوية، خارطة طريق، وقالب صياغة جاهز</a:t>
            </a:r>
          </a:p>
        </p:txBody>
      </p:sp>
      <p:sp>
        <p:nvSpPr>
          <p:cNvPr id="41" name="Rounded Rectangle 40"/>
          <p:cNvSpPr/>
          <p:nvPr/>
        </p:nvSpPr>
        <p:spPr>
          <a:xfrm>
            <a:off x="548640" y="5458968"/>
            <a:ext cx="5341467" cy="822960"/>
          </a:xfrm>
          <a:prstGeom prst="roundRect">
            <a:avLst>
              <a:gd name="adj" fmla="val 20000"/>
            </a:avLst>
          </a:prstGeom>
          <a:solidFill>
            <a:srgbClr val="F3ED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568696"/>
            <a:ext cx="4884267" cy="603504"/>
          </a:xfrm>
          <a:prstGeom prst="rect">
            <a:avLst/>
          </a:prstGeom>
          <a:noFill/>
        </p:spPr>
        <p:txBody>
          <a:bodyPr wrap="square" anchor="ctr" lIns="0" rIns="0" tIns="0" bIns="0">
            <a:spAutoFit/>
          </a:bodyPr>
          <a:lstStyle/>
          <a:p>
            <a:pPr algn="ctr" rtl="1">
              <a:lnSpc>
                <a:spcPct val="105000"/>
              </a:lnSpc>
              <a:spcBef>
                <a:spcPts val="0"/>
              </a:spcBef>
              <a:spcAft>
                <a:spcPts val="400"/>
              </a:spcAft>
            </a:pPr>
            <a:r>
              <a:rPr sz="1300" b="1" i="0">
                <a:solidFill>
                  <a:srgbClr val="6D28D9"/>
                </a:solidFill>
                <a:latin typeface="Noto Sans Arabic"/>
                <a:cs typeface="Noto Sans Arabic"/>
                <a:ea typeface="Noto Sans Arabic"/>
              </a:rPr>
              <a:t>«الفجوة البحثية هي أساس أي بحث علمي ناجح»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A21CAF"/>
                </a:solidFill>
                <a:latin typeface="Noto Sans Arabic"/>
                <a:cs typeface="Noto Sans Arabic"/>
                <a:ea typeface="Noto Sans Arabic"/>
              </a:rPr>
              <a:t>WHAT IS A RESEARCH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ما هي الفجوة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00200"/>
            <a:ext cx="11094415" cy="1463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1515039" y="1600200"/>
            <a:ext cx="128016" cy="1463040"/>
          </a:xfrm>
          <a:prstGeom prst="roundRect">
            <a:avLst>
              <a:gd name="adj" fmla="val 100000"/>
            </a:avLst>
          </a:prstGeom>
          <a:ln>
            <a:noFill/>
          </a:ln>
          <a:effectLst/>
          <a:gradFill rotWithShape="1">
            <a:gsLst>
              <a:gs pos="0">
                <a:srgbClr val="A21CAF"/>
              </a:gs>
              <a:gs pos="100000">
                <a:srgbClr val="E879F9"/>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755648"/>
            <a:ext cx="10317175" cy="1188720"/>
          </a:xfrm>
          <a:prstGeom prst="rect">
            <a:avLst/>
          </a:prstGeom>
          <a:noFill/>
        </p:spPr>
        <p:txBody>
          <a:bodyPr wrap="square" anchor="t" lIns="0" rIns="0" tIns="0" bIns="0">
            <a:spAutoFit/>
          </a:bodyPr>
          <a:lstStyle/>
          <a:p>
            <a:pPr algn="r" rtl="1">
              <a:lnSpc>
                <a:spcPct val="118000"/>
              </a:lnSpc>
              <a:spcBef>
                <a:spcPts val="0"/>
              </a:spcBef>
              <a:spcAft>
                <a:spcPts val="600"/>
              </a:spcAft>
            </a:pPr>
            <a:r>
              <a:rPr sz="1450" b="1" i="0">
                <a:solidFill>
                  <a:srgbClr val="A21CAF"/>
                </a:solidFill>
                <a:latin typeface="Noto Sans Arabic"/>
                <a:cs typeface="Noto Sans Arabic"/>
                <a:ea typeface="Noto Sans Arabic"/>
              </a:rPr>
              <a:t>التعريف:  </a:t>
            </a:r>
            <a:r>
              <a:rPr sz="1400" b="0" i="0">
                <a:solidFill>
                  <a:srgbClr val="221C57"/>
                </a:solidFill>
                <a:latin typeface="Noto Sans Arabic"/>
                <a:cs typeface="Noto Sans Arabic"/>
                <a:ea typeface="Noto Sans Arabic"/>
              </a:rPr>
              <a:t>الفجوة البحثية ببساطة هي منطقة أو مشكلة في مجال معيّن: إما لم يدرسها أحد من قبل، أو تمت دراستها بشكل ناقص، أو تحتاج مزيداً من التحليل والاستكشاف.</a:t>
            </a:r>
          </a:p>
          <a:p>
            <a:pPr algn="r" rtl="1">
              <a:lnSpc>
                <a:spcPct val="118000"/>
              </a:lnSpc>
              <a:spcBef>
                <a:spcPts val="0"/>
              </a:spcBef>
              <a:spcAft>
                <a:spcPts val="400"/>
              </a:spcAft>
            </a:pPr>
            <a:r>
              <a:rPr sz="1300" b="1" i="0">
                <a:solidFill>
                  <a:srgbClr val="6D28D9"/>
                </a:solidFill>
                <a:latin typeface="Noto Sans Arabic"/>
                <a:cs typeface="Noto Sans Arabic"/>
                <a:ea typeface="Noto Sans Arabic"/>
              </a:rPr>
              <a:t>بعبارة أخرى:  </a:t>
            </a:r>
            <a:r>
              <a:rPr sz="1300" b="0" i="0">
                <a:solidFill>
                  <a:srgbClr val="221C57"/>
                </a:solidFill>
                <a:latin typeface="Noto Sans Arabic"/>
                <a:cs typeface="Noto Sans Arabic"/>
                <a:ea typeface="Noto Sans Arabic"/>
              </a:rPr>
              <a:t>هي شيء لم تتم دراسته بشكل كافٍ بعد، أو نقطة لم يركّز عليها الباحثون بوضوح — وسدّها هو ما يمنح بحثك قيمته.</a:t>
            </a:r>
          </a:p>
        </p:txBody>
      </p:sp>
      <p:sp>
        <p:nvSpPr>
          <p:cNvPr id="14" name="TextBox 13"/>
          <p:cNvSpPr txBox="1"/>
          <p:nvPr/>
        </p:nvSpPr>
        <p:spPr>
          <a:xfrm>
            <a:off x="548640" y="3200400"/>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Noto Sans Arabic"/>
                <a:cs typeface="Noto Sans Arabic"/>
                <a:ea typeface="Noto Sans Arabic"/>
              </a:rPr>
              <a:t>للفجوة البحثية أكثر من صورة — هذه أشهر أربع صور تظهر بها:</a:t>
            </a:r>
          </a:p>
        </p:txBody>
      </p:sp>
      <p:sp>
        <p:nvSpPr>
          <p:cNvPr id="15" name="Rounded Rectangle 14"/>
          <p:cNvSpPr/>
          <p:nvPr/>
        </p:nvSpPr>
        <p:spPr>
          <a:xfrm>
            <a:off x="904775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47759" y="3657600"/>
            <a:ext cx="2595295"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043655" y="3977639"/>
            <a:ext cx="603504" cy="60350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18" name="TextBox 17"/>
          <p:cNvSpPr txBox="1"/>
          <p:nvPr/>
        </p:nvSpPr>
        <p:spPr>
          <a:xfrm>
            <a:off x="915748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Noto Sans Arabic"/>
                <a:cs typeface="Noto Sans Arabic"/>
                <a:ea typeface="Noto Sans Arabic"/>
              </a:rPr>
              <a:t>موضوع جديد كلياً</a:t>
            </a:r>
          </a:p>
        </p:txBody>
      </p:sp>
      <p:sp>
        <p:nvSpPr>
          <p:cNvPr id="19" name="TextBox 18"/>
          <p:cNvSpPr txBox="1"/>
          <p:nvPr/>
        </p:nvSpPr>
        <p:spPr>
          <a:xfrm>
            <a:off x="921235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لم يتناوله أي باحث من قبل — أندر الصور وأثمنها متى كان الموضوع مهماً وملحّاً</a:t>
            </a:r>
          </a:p>
        </p:txBody>
      </p:sp>
      <p:sp>
        <p:nvSpPr>
          <p:cNvPr id="20" name="Rounded Rectangle 19"/>
          <p:cNvSpPr/>
          <p:nvPr/>
        </p:nvSpPr>
        <p:spPr>
          <a:xfrm>
            <a:off x="621471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14719" y="3657600"/>
            <a:ext cx="2595295"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10615" y="3977639"/>
            <a:ext cx="603504" cy="60350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23" name="TextBox 22"/>
          <p:cNvSpPr txBox="1"/>
          <p:nvPr/>
        </p:nvSpPr>
        <p:spPr>
          <a:xfrm>
            <a:off x="632444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Noto Sans Arabic"/>
                <a:cs typeface="Noto Sans Arabic"/>
                <a:ea typeface="Noto Sans Arabic"/>
              </a:rPr>
              <a:t>دراسة من زاوية واحدة</a:t>
            </a:r>
          </a:p>
        </p:txBody>
      </p:sp>
      <p:sp>
        <p:nvSpPr>
          <p:cNvPr id="24" name="TextBox 23"/>
          <p:cNvSpPr txBox="1"/>
          <p:nvPr/>
        </p:nvSpPr>
        <p:spPr>
          <a:xfrm>
            <a:off x="637931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الموضوع دُرس جزئياً من منظور واحد فقط، وبقيت زواياه الأخرى مجهولة تماماً</a:t>
            </a:r>
          </a:p>
        </p:txBody>
      </p:sp>
      <p:sp>
        <p:nvSpPr>
          <p:cNvPr id="25" name="Rounded Rectangle 24"/>
          <p:cNvSpPr/>
          <p:nvPr/>
        </p:nvSpPr>
        <p:spPr>
          <a:xfrm>
            <a:off x="338167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381679" y="3657600"/>
            <a:ext cx="2595295"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77575" y="3977639"/>
            <a:ext cx="603504" cy="60350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28" name="TextBox 27"/>
          <p:cNvSpPr txBox="1"/>
          <p:nvPr/>
        </p:nvSpPr>
        <p:spPr>
          <a:xfrm>
            <a:off x="349140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Noto Sans Arabic"/>
                <a:cs typeface="Noto Sans Arabic"/>
                <a:ea typeface="Noto Sans Arabic"/>
              </a:rPr>
              <a:t>نتائج متضاربة</a:t>
            </a:r>
          </a:p>
        </p:txBody>
      </p:sp>
      <p:sp>
        <p:nvSpPr>
          <p:cNvPr id="29" name="TextBox 28"/>
          <p:cNvSpPr txBox="1"/>
          <p:nvPr/>
        </p:nvSpPr>
        <p:spPr>
          <a:xfrm>
            <a:off x="354627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دراسات وصلت إلى نتائج متناقضة — والحسم بينها يحتاج بحثاً جديداً محكماً</a:t>
            </a:r>
          </a:p>
        </p:txBody>
      </p:sp>
      <p:sp>
        <p:nvSpPr>
          <p:cNvPr id="30" name="Rounded Rectangle 29"/>
          <p:cNvSpPr/>
          <p:nvPr/>
        </p:nvSpPr>
        <p:spPr>
          <a:xfrm>
            <a:off x="548639" y="3657600"/>
            <a:ext cx="2595295" cy="26060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39" y="3657600"/>
            <a:ext cx="2595295"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44535" y="3977639"/>
            <a:ext cx="603504" cy="60350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FFFFFF"/>
                </a:solidFill>
                <a:latin typeface="Noto Sans Arabic"/>
                <a:cs typeface="Noto Sans Arabic"/>
                <a:ea typeface="Noto Sans Arabic"/>
              </a:rPr>
              <a:t>🌍</a:t>
            </a:r>
          </a:p>
        </p:txBody>
      </p:sp>
      <p:sp>
        <p:nvSpPr>
          <p:cNvPr id="33" name="TextBox 32"/>
          <p:cNvSpPr txBox="1"/>
          <p:nvPr/>
        </p:nvSpPr>
        <p:spPr>
          <a:xfrm>
            <a:off x="658367" y="4681728"/>
            <a:ext cx="2375839"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Noto Sans Arabic"/>
                <a:cs typeface="Noto Sans Arabic"/>
                <a:ea typeface="Noto Sans Arabic"/>
              </a:rPr>
              <a:t>سياق جغرافي مختلف</a:t>
            </a:r>
          </a:p>
        </p:txBody>
      </p:sp>
      <p:sp>
        <p:nvSpPr>
          <p:cNvPr id="34" name="TextBox 33"/>
          <p:cNvSpPr txBox="1"/>
          <p:nvPr/>
        </p:nvSpPr>
        <p:spPr>
          <a:xfrm>
            <a:off x="713231" y="5120640"/>
            <a:ext cx="2266111" cy="1051560"/>
          </a:xfrm>
          <a:prstGeom prst="rect">
            <a:avLst/>
          </a:prstGeom>
          <a:noFill/>
        </p:spPr>
        <p:txBody>
          <a:bodyPr wrap="square" anchor="t" lIns="0" rIns="0" tIns="0" bIns="0">
            <a:spAutoFit/>
          </a:bodyPr>
          <a:lstStyle/>
          <a:p>
            <a:pPr algn="ctr" rtl="1">
              <a:lnSpc>
                <a:spcPct val="115000"/>
              </a:lnSpc>
              <a:spcBef>
                <a:spcPts val="0"/>
              </a:spcBef>
              <a:spcAft>
                <a:spcPts val="400"/>
              </a:spcAft>
            </a:pPr>
            <a:r>
              <a:rPr sz="1150" b="0" i="0">
                <a:solidFill>
                  <a:srgbClr val="221C57"/>
                </a:solidFill>
                <a:latin typeface="Noto Sans Arabic"/>
                <a:cs typeface="Noto Sans Arabic"/>
                <a:ea typeface="Noto Sans Arabic"/>
              </a:rPr>
              <a:t>دراسة نجحت في دولة ما، وليس شرطاً أن تنجح بالطريقة نفسها في مجتمع آخر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WHY RESEARCH GAPS MATTER</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لماذا تهمّنا الفجوات البحثية؟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8115604"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865815" y="1828800"/>
            <a:ext cx="566928" cy="566928"/>
          </a:xfrm>
          <a:prstGeom prst="roundRect">
            <a:avLst>
              <a:gd name="adj" fmla="val 3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3" name="TextBox 12"/>
          <p:cNvSpPr txBox="1"/>
          <p:nvPr/>
        </p:nvSpPr>
        <p:spPr>
          <a:xfrm>
            <a:off x="8344204"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Noto Sans Arabic"/>
                <a:cs typeface="Noto Sans Arabic"/>
                <a:ea typeface="Noto Sans Arabic"/>
              </a:rPr>
              <a:t>اتجاه واضح لبحثك</a:t>
            </a:r>
          </a:p>
        </p:txBody>
      </p:sp>
      <p:sp>
        <p:nvSpPr>
          <p:cNvPr id="14" name="TextBox 13"/>
          <p:cNvSpPr txBox="1"/>
          <p:nvPr/>
        </p:nvSpPr>
        <p:spPr>
          <a:xfrm>
            <a:off x="8344204"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Research Direction</a:t>
            </a:r>
          </a:p>
        </p:txBody>
      </p:sp>
      <p:sp>
        <p:nvSpPr>
          <p:cNvPr id="15" name="TextBox 14"/>
          <p:cNvSpPr txBox="1"/>
          <p:nvPr/>
        </p:nvSpPr>
        <p:spPr>
          <a:xfrm>
            <a:off x="8344204"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تمنحك بوصلة واضحة لرسالتك أو أطروحتك بدلاً من التخبط بين مواضيع مكررة</a:t>
            </a:r>
          </a:p>
        </p:txBody>
      </p:sp>
      <p:sp>
        <p:nvSpPr>
          <p:cNvPr id="16" name="Rounded Rectangle 15"/>
          <p:cNvSpPr/>
          <p:nvPr/>
        </p:nvSpPr>
        <p:spPr>
          <a:xfrm>
            <a:off x="4332122"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82332" y="1828800"/>
            <a:ext cx="566928" cy="566928"/>
          </a:xfrm>
          <a:prstGeom prst="roundRect">
            <a:avLst>
              <a:gd name="adj" fmla="val 3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8" name="TextBox 17"/>
          <p:cNvSpPr txBox="1"/>
          <p:nvPr/>
        </p:nvSpPr>
        <p:spPr>
          <a:xfrm>
            <a:off x="4560722"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Noto Sans Arabic"/>
                <a:cs typeface="Noto Sans Arabic"/>
                <a:ea typeface="Noto Sans Arabic"/>
              </a:rPr>
              <a:t>الأصالة العلمية</a:t>
            </a:r>
          </a:p>
        </p:txBody>
      </p:sp>
      <p:sp>
        <p:nvSpPr>
          <p:cNvPr id="19" name="TextBox 18"/>
          <p:cNvSpPr txBox="1"/>
          <p:nvPr/>
        </p:nvSpPr>
        <p:spPr>
          <a:xfrm>
            <a:off x="4560722"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Scientific Originality</a:t>
            </a:r>
          </a:p>
        </p:txBody>
      </p:sp>
      <p:sp>
        <p:nvSpPr>
          <p:cNvPr id="20" name="TextBox 19"/>
          <p:cNvSpPr txBox="1"/>
          <p:nvPr/>
        </p:nvSpPr>
        <p:spPr>
          <a:xfrm>
            <a:off x="4560722"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تضمن أن بحثك فيه إضافة جديدة حقيقية للمعرفة ولا يعيد ما هو موجود</a:t>
            </a:r>
          </a:p>
        </p:txBody>
      </p:sp>
      <p:sp>
        <p:nvSpPr>
          <p:cNvPr id="21" name="Rounded Rectangle 20"/>
          <p:cNvSpPr/>
          <p:nvPr/>
        </p:nvSpPr>
        <p:spPr>
          <a:xfrm>
            <a:off x="548639" y="1627632"/>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98850" y="1828800"/>
            <a:ext cx="566928" cy="566928"/>
          </a:xfrm>
          <a:prstGeom prst="roundRect">
            <a:avLst>
              <a:gd name="adj" fmla="val 3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3" name="TextBox 22"/>
          <p:cNvSpPr txBox="1"/>
          <p:nvPr/>
        </p:nvSpPr>
        <p:spPr>
          <a:xfrm>
            <a:off x="777239" y="1792224"/>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Noto Sans Arabic"/>
                <a:cs typeface="Noto Sans Arabic"/>
                <a:ea typeface="Noto Sans Arabic"/>
              </a:rPr>
              <a:t>تبرير الدراسة</a:t>
            </a:r>
          </a:p>
        </p:txBody>
      </p:sp>
      <p:sp>
        <p:nvSpPr>
          <p:cNvPr id="24" name="TextBox 23"/>
          <p:cNvSpPr txBox="1"/>
          <p:nvPr/>
        </p:nvSpPr>
        <p:spPr>
          <a:xfrm>
            <a:off x="777239" y="2157984"/>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Justifying the Study</a:t>
            </a:r>
          </a:p>
        </p:txBody>
      </p:sp>
      <p:sp>
        <p:nvSpPr>
          <p:cNvPr id="25" name="TextBox 24"/>
          <p:cNvSpPr txBox="1"/>
          <p:nvPr/>
        </p:nvSpPr>
        <p:spPr>
          <a:xfrm>
            <a:off x="777239" y="2542032"/>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حجّتك الأقوى لإقناع اللجنة العلمية بقيمة بحثك وجدوى إجرائه</a:t>
            </a:r>
          </a:p>
        </p:txBody>
      </p:sp>
      <p:sp>
        <p:nvSpPr>
          <p:cNvPr id="26" name="Rounded Rectangle 25"/>
          <p:cNvSpPr/>
          <p:nvPr/>
        </p:nvSpPr>
        <p:spPr>
          <a:xfrm>
            <a:off x="8115604"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865815" y="4187952"/>
            <a:ext cx="566928" cy="566928"/>
          </a:xfrm>
          <a:prstGeom prst="roundRect">
            <a:avLst>
              <a:gd name="adj" fmla="val 3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8" name="TextBox 27"/>
          <p:cNvSpPr txBox="1"/>
          <p:nvPr/>
        </p:nvSpPr>
        <p:spPr>
          <a:xfrm>
            <a:off x="8344204"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Noto Sans Arabic"/>
                <a:cs typeface="Noto Sans Arabic"/>
                <a:ea typeface="Noto Sans Arabic"/>
              </a:rPr>
              <a:t>ربط الدراسات السابقة</a:t>
            </a:r>
          </a:p>
        </p:txBody>
      </p:sp>
      <p:sp>
        <p:nvSpPr>
          <p:cNvPr id="29" name="TextBox 28"/>
          <p:cNvSpPr txBox="1"/>
          <p:nvPr/>
        </p:nvSpPr>
        <p:spPr>
          <a:xfrm>
            <a:off x="8344204"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Linking the Literature</a:t>
            </a:r>
          </a:p>
        </p:txBody>
      </p:sp>
      <p:sp>
        <p:nvSpPr>
          <p:cNvPr id="30" name="TextBox 29"/>
          <p:cNvSpPr txBox="1"/>
          <p:nvPr/>
        </p:nvSpPr>
        <p:spPr>
          <a:xfrm>
            <a:off x="8344204"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تصل بين ما قالته الأدبيات وبين الشيء الجديد الذي ستضيفه أنت</a:t>
            </a:r>
          </a:p>
        </p:txBody>
      </p:sp>
      <p:sp>
        <p:nvSpPr>
          <p:cNvPr id="31" name="Rounded Rectangle 30"/>
          <p:cNvSpPr/>
          <p:nvPr/>
        </p:nvSpPr>
        <p:spPr>
          <a:xfrm>
            <a:off x="4332122"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082332" y="4187952"/>
            <a:ext cx="566928" cy="566928"/>
          </a:xfrm>
          <a:prstGeom prst="roundRect">
            <a:avLst>
              <a:gd name="adj" fmla="val 3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3" name="TextBox 32"/>
          <p:cNvSpPr txBox="1"/>
          <p:nvPr/>
        </p:nvSpPr>
        <p:spPr>
          <a:xfrm>
            <a:off x="4560722"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47857"/>
                </a:solidFill>
                <a:latin typeface="Noto Sans Arabic"/>
                <a:cs typeface="Noto Sans Arabic"/>
                <a:ea typeface="Noto Sans Arabic"/>
              </a:rPr>
              <a:t>النشر في المجلات</a:t>
            </a:r>
          </a:p>
        </p:txBody>
      </p:sp>
      <p:sp>
        <p:nvSpPr>
          <p:cNvPr id="34" name="TextBox 33"/>
          <p:cNvSpPr txBox="1"/>
          <p:nvPr/>
        </p:nvSpPr>
        <p:spPr>
          <a:xfrm>
            <a:off x="4560722"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Academic Publishing</a:t>
            </a:r>
          </a:p>
        </p:txBody>
      </p:sp>
      <p:sp>
        <p:nvSpPr>
          <p:cNvPr id="35" name="TextBox 34"/>
          <p:cNvSpPr txBox="1"/>
          <p:nvPr/>
        </p:nvSpPr>
        <p:spPr>
          <a:xfrm>
            <a:off x="4560722"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المجلات العلمية المحكّمة تفضّل الأبحاث التي تعالج فجوات واضحة</a:t>
            </a:r>
          </a:p>
        </p:txBody>
      </p:sp>
      <p:sp>
        <p:nvSpPr>
          <p:cNvPr id="36" name="Rounded Rectangle 35"/>
          <p:cNvSpPr/>
          <p:nvPr/>
        </p:nvSpPr>
        <p:spPr>
          <a:xfrm>
            <a:off x="548639" y="3986784"/>
            <a:ext cx="3527450" cy="2157984"/>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3298850" y="4187952"/>
            <a:ext cx="566928" cy="566928"/>
          </a:xfrm>
          <a:prstGeom prst="roundRect">
            <a:avLst>
              <a:gd name="adj" fmla="val 3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8" name="TextBox 37"/>
          <p:cNvSpPr txBox="1"/>
          <p:nvPr/>
        </p:nvSpPr>
        <p:spPr>
          <a:xfrm>
            <a:off x="777239" y="4151376"/>
            <a:ext cx="2475890"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BE123C"/>
                </a:solidFill>
                <a:latin typeface="Noto Sans Arabic"/>
                <a:cs typeface="Noto Sans Arabic"/>
                <a:ea typeface="Noto Sans Arabic"/>
              </a:rPr>
              <a:t>التمويل البحثي</a:t>
            </a:r>
          </a:p>
        </p:txBody>
      </p:sp>
      <p:sp>
        <p:nvSpPr>
          <p:cNvPr id="39" name="TextBox 38"/>
          <p:cNvSpPr txBox="1"/>
          <p:nvPr/>
        </p:nvSpPr>
        <p:spPr>
          <a:xfrm>
            <a:off x="777239" y="4517136"/>
            <a:ext cx="2475890" cy="292608"/>
          </a:xfrm>
          <a:prstGeom prst="rect">
            <a:avLst/>
          </a:prstGeom>
          <a:noFill/>
        </p:spPr>
        <p:txBody>
          <a:bodyPr wrap="square" anchor="t" lIns="0" rIns="0" tIns="0" bIns="0">
            <a:spAutoFit/>
          </a:bodyPr>
          <a:lstStyle/>
          <a:p>
            <a:pPr algn="r">
              <a:lnSpc>
                <a:spcPct val="105000"/>
              </a:lnSpc>
              <a:spcBef>
                <a:spcPts val="0"/>
              </a:spcBef>
              <a:spcAft>
                <a:spcPts val="400"/>
              </a:spcAft>
            </a:pPr>
            <a:r>
              <a:rPr sz="1000" b="0" i="1">
                <a:solidFill>
                  <a:srgbClr val="6E6A8F"/>
                </a:solidFill>
                <a:latin typeface="Noto Sans Arabic"/>
                <a:cs typeface="Noto Sans Arabic"/>
                <a:ea typeface="Noto Sans Arabic"/>
              </a:rPr>
              <a:t>Research Funding</a:t>
            </a:r>
          </a:p>
        </p:txBody>
      </p:sp>
      <p:sp>
        <p:nvSpPr>
          <p:cNvPr id="40" name="TextBox 39"/>
          <p:cNvSpPr txBox="1"/>
          <p:nvPr/>
        </p:nvSpPr>
        <p:spPr>
          <a:xfrm>
            <a:off x="777239" y="4901184"/>
            <a:ext cx="3070250" cy="1143000"/>
          </a:xfrm>
          <a:prstGeom prst="rect">
            <a:avLst/>
          </a:prstGeom>
          <a:noFill/>
        </p:spPr>
        <p:txBody>
          <a:bodyPr wrap="square" anchor="t" lIns="0" rIns="0" tIns="0" bIns="0">
            <a:spAutoFit/>
          </a:bodyPr>
          <a:lstStyle/>
          <a:p>
            <a:pPr algn="r" rtl="1">
              <a:lnSpc>
                <a:spcPct val="122000"/>
              </a:lnSpc>
              <a:spcBef>
                <a:spcPts val="0"/>
              </a:spcBef>
              <a:spcAft>
                <a:spcPts val="400"/>
              </a:spcAft>
            </a:pPr>
            <a:r>
              <a:rPr sz="1250" b="0" i="0">
                <a:solidFill>
                  <a:srgbClr val="221C57"/>
                </a:solidFill>
                <a:latin typeface="Noto Sans Arabic"/>
                <a:cs typeface="Noto Sans Arabic"/>
                <a:ea typeface="Noto Sans Arabic"/>
              </a:rPr>
              <a:t>الجهات الممولة تبحث دائماً عن مشاكل حقيقية تحتاج إلى حلول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05</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TYPES OF RESEARCH GAPS — 1/2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الأنواع الستة بالتفصيل (١–٣)</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05</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Noto Sans Arabic"/>
                <a:cs typeface="Noto Sans Arabic"/>
                <a:ea typeface="Noto Sans Arabic"/>
              </a:rPr>
              <a:t>لكل نوع استخدامه الخاص — اعرفها جيداً لتعرف أي باب تطرقه في بحثك:</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١</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المعرفة</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Knowledge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معلومة أو ظاهرة لا يعرفها العلم حتى الآن في مجال معيّن.</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A21CAF"/>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تظهر عندما يكون الموضوع جديداً بالكامل — تقنية ناشئة أو ظاهرة مستجدة لم تلحق بها الأبحاث بعد، فيكون أي بحث جاد فيها إضافة صافية للمعرفة.</a:t>
            </a:r>
          </a:p>
        </p:txBody>
      </p:sp>
      <p:sp>
        <p:nvSpPr>
          <p:cNvPr id="19" name="Rounded Rectangle 18"/>
          <p:cNvSpPr/>
          <p:nvPr/>
        </p:nvSpPr>
        <p:spPr>
          <a:xfrm>
            <a:off x="8310676" y="5650992"/>
            <a:ext cx="3149498" cy="420624"/>
          </a:xfrm>
          <a:prstGeom prst="roundRect">
            <a:avLst>
              <a:gd name="adj" fmla="val 50000"/>
            </a:avLst>
          </a:prstGeom>
          <a:solidFill>
            <a:srgbClr val="F5E8F7"/>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A21CAF"/>
                </a:solidFill>
                <a:latin typeface="Noto Sans Arabic"/>
                <a:cs typeface="Noto Sans Arabic"/>
                <a:ea typeface="Noto Sans Arabic"/>
              </a:rPr>
              <a:t>السؤال المفتاحي: ماذا لا نعرف بعد؟</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٢</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الممارسة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Practice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الفرق بين ما تقوله النظرية وما يحدث فعلاً في التطبيق الواقعي.</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D97706"/>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المعرفة موجودة والإرشادات منشورة، لكن الميدان يعمل بطريقة مختلفة. بحثك هنا يجيب: لماذا لا يُطبَّق ما نعرفه؟ وكيف نغلق الفرق بين الاثنين؟</a:t>
            </a:r>
          </a:p>
        </p:txBody>
      </p:sp>
      <p:sp>
        <p:nvSpPr>
          <p:cNvPr id="27" name="Rounded Rectangle 26"/>
          <p:cNvSpPr/>
          <p:nvPr/>
        </p:nvSpPr>
        <p:spPr>
          <a:xfrm>
            <a:off x="4521098" y="5650992"/>
            <a:ext cx="3149498" cy="420624"/>
          </a:xfrm>
          <a:prstGeom prst="roundRect">
            <a:avLst>
              <a:gd name="adj" fmla="val 50000"/>
            </a:avLst>
          </a:prstGeom>
          <a:solidFill>
            <a:srgbClr val="FBF1E6"/>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D97706"/>
                </a:solidFill>
                <a:latin typeface="Noto Sans Arabic"/>
                <a:cs typeface="Noto Sans Arabic"/>
                <a:ea typeface="Noto Sans Arabic"/>
              </a:rPr>
              <a:t>السؤال المفتاحي: لماذا لا يُطبَّق ما نعرفه؟</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٣</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الأدلة</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Evidence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الأدلة العلمية المتوفرة غير كافية لدعم فرضية أو توصية معيّنة.</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D9488"/>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توصيات شائعة ومقبولة على نطاق واسع، لكن دون تجارب مضبوطة تثبتها. البحث هنا يبني الدليل الغائب ويحوّل الرأي الشائع إلى علم موثق.</a:t>
            </a:r>
          </a:p>
        </p:txBody>
      </p:sp>
      <p:sp>
        <p:nvSpPr>
          <p:cNvPr id="35" name="Rounded Rectangle 34"/>
          <p:cNvSpPr/>
          <p:nvPr/>
        </p:nvSpPr>
        <p:spPr>
          <a:xfrm>
            <a:off x="731519" y="5650992"/>
            <a:ext cx="3149498" cy="420624"/>
          </a:xfrm>
          <a:prstGeom prst="roundRect">
            <a:avLst>
              <a:gd name="adj" fmla="val 50000"/>
            </a:avLst>
          </a:prstGeom>
          <a:solidFill>
            <a:srgbClr val="E6F4F3"/>
          </a:solidFill>
          <a:ln w="12700">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D9488"/>
                </a:solidFill>
                <a:latin typeface="Noto Sans Arabic"/>
                <a:cs typeface="Noto Sans Arabic"/>
                <a:ea typeface="Noto Sans Arabic"/>
              </a:rPr>
              <a:t>السؤال المفتاحي: أين الدليل العلمي؟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06</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TYPES OF RESEARCH GAPS — 2/2</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الأنواع الستة بالتفصيل (٤–٦)</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06</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481328"/>
            <a:ext cx="11094415" cy="3200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6E6A8F"/>
                </a:solidFill>
                <a:latin typeface="Noto Sans Arabic"/>
                <a:cs typeface="Noto Sans Arabic"/>
                <a:ea typeface="Noto Sans Arabic"/>
              </a:rPr>
              <a:t>ثلاثة أنواع أخرى شائعة جداً — وغالباً أسهل تناولاً للباحث المبتدئ:</a:t>
            </a:r>
          </a:p>
        </p:txBody>
      </p:sp>
      <p:sp>
        <p:nvSpPr>
          <p:cNvPr id="12" name="Rounded Rectangle 11"/>
          <p:cNvSpPr/>
          <p:nvPr/>
        </p:nvSpPr>
        <p:spPr>
          <a:xfrm>
            <a:off x="8127796"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27796" y="1874519"/>
            <a:ext cx="3515258" cy="914400"/>
          </a:xfrm>
          <a:prstGeom prst="roundRect">
            <a:avLst>
              <a:gd name="adj" fmla="val 7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893247"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٤</a:t>
            </a:r>
          </a:p>
        </p:txBody>
      </p:sp>
      <p:sp>
        <p:nvSpPr>
          <p:cNvPr id="15" name="TextBox 14"/>
          <p:cNvSpPr txBox="1"/>
          <p:nvPr/>
        </p:nvSpPr>
        <p:spPr>
          <a:xfrm>
            <a:off x="8356396"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السكان</a:t>
            </a:r>
          </a:p>
        </p:txBody>
      </p:sp>
      <p:sp>
        <p:nvSpPr>
          <p:cNvPr id="16" name="TextBox 15"/>
          <p:cNvSpPr txBox="1"/>
          <p:nvPr/>
        </p:nvSpPr>
        <p:spPr>
          <a:xfrm>
            <a:off x="8356396"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Population Gap</a:t>
            </a:r>
          </a:p>
        </p:txBody>
      </p:sp>
      <p:sp>
        <p:nvSpPr>
          <p:cNvPr id="17" name="TextBox 16"/>
          <p:cNvSpPr txBox="1"/>
          <p:nvPr/>
        </p:nvSpPr>
        <p:spPr>
          <a:xfrm>
            <a:off x="8328964"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فئة معيّنة لم تتم دراستها بشكل كافٍ: جنس، عمر، ثقافة، أو مهنة.</a:t>
            </a:r>
          </a:p>
        </p:txBody>
      </p:sp>
      <p:sp>
        <p:nvSpPr>
          <p:cNvPr id="18" name="TextBox 17"/>
          <p:cNvSpPr txBox="1"/>
          <p:nvPr/>
        </p:nvSpPr>
        <p:spPr>
          <a:xfrm>
            <a:off x="8328964"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6D28D9"/>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النتائج المبنية على عينات لا تشبه مجتمعك لا يمكن تعميمها عليه ببساطة. دراسة الفئة المهملة في سياقك تسدّ فجوة حقيقية وتخدم مجتمعك مباشرة.</a:t>
            </a:r>
          </a:p>
        </p:txBody>
      </p:sp>
      <p:sp>
        <p:nvSpPr>
          <p:cNvPr id="19" name="Rounded Rectangle 18"/>
          <p:cNvSpPr/>
          <p:nvPr/>
        </p:nvSpPr>
        <p:spPr>
          <a:xfrm>
            <a:off x="8310676" y="5650992"/>
            <a:ext cx="3149498" cy="420624"/>
          </a:xfrm>
          <a:prstGeom prst="roundRect">
            <a:avLst>
              <a:gd name="adj" fmla="val 50000"/>
            </a:avLst>
          </a:prstGeom>
          <a:solidFill>
            <a:srgbClr val="F0E9FB"/>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6D28D9"/>
                </a:solidFill>
                <a:latin typeface="Noto Sans Arabic"/>
                <a:cs typeface="Noto Sans Arabic"/>
                <a:ea typeface="Noto Sans Arabic"/>
              </a:rPr>
              <a:t>السؤال المفتاحي: مَن الذي أُهمل من الدراسة؟</a:t>
            </a:r>
          </a:p>
        </p:txBody>
      </p:sp>
      <p:sp>
        <p:nvSpPr>
          <p:cNvPr id="20" name="Rounded Rectangle 19"/>
          <p:cNvSpPr/>
          <p:nvPr/>
        </p:nvSpPr>
        <p:spPr>
          <a:xfrm>
            <a:off x="4338218"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338218" y="1874519"/>
            <a:ext cx="3515258" cy="914400"/>
          </a:xfrm>
          <a:prstGeom prst="roundRect">
            <a:avLst>
              <a:gd name="adj" fmla="val 7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03668"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٥</a:t>
            </a:r>
          </a:p>
        </p:txBody>
      </p:sp>
      <p:sp>
        <p:nvSpPr>
          <p:cNvPr id="23" name="TextBox 22"/>
          <p:cNvSpPr txBox="1"/>
          <p:nvPr/>
        </p:nvSpPr>
        <p:spPr>
          <a:xfrm>
            <a:off x="4566818"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المنهجية</a:t>
            </a:r>
          </a:p>
        </p:txBody>
      </p:sp>
      <p:sp>
        <p:nvSpPr>
          <p:cNvPr id="24" name="TextBox 23"/>
          <p:cNvSpPr txBox="1"/>
          <p:nvPr/>
        </p:nvSpPr>
        <p:spPr>
          <a:xfrm>
            <a:off x="4566818"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Methodological Gap</a:t>
            </a:r>
          </a:p>
        </p:txBody>
      </p:sp>
      <p:sp>
        <p:nvSpPr>
          <p:cNvPr id="25" name="TextBox 24"/>
          <p:cNvSpPr txBox="1"/>
          <p:nvPr/>
        </p:nvSpPr>
        <p:spPr>
          <a:xfrm>
            <a:off x="4539386"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الباحثون استخدموا منهجاً واحداً فقط لدراسة الظاهرة.</a:t>
            </a:r>
          </a:p>
        </p:txBody>
      </p:sp>
      <p:sp>
        <p:nvSpPr>
          <p:cNvPr id="26" name="TextBox 25"/>
          <p:cNvSpPr txBox="1"/>
          <p:nvPr/>
        </p:nvSpPr>
        <p:spPr>
          <a:xfrm>
            <a:off x="4539386"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BE123C"/>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تغيير المنهج — من كمي إلى نوعي أو مختلط — قد يكشف نتائج جديدة كلياً عن الظاهرة نفسها، ويضيف عمقاً لم تصل إليه الدراسات السابقة.</a:t>
            </a:r>
          </a:p>
        </p:txBody>
      </p:sp>
      <p:sp>
        <p:nvSpPr>
          <p:cNvPr id="27" name="Rounded Rectangle 26"/>
          <p:cNvSpPr/>
          <p:nvPr/>
        </p:nvSpPr>
        <p:spPr>
          <a:xfrm>
            <a:off x="4521098" y="5650992"/>
            <a:ext cx="3149498" cy="420624"/>
          </a:xfrm>
          <a:prstGeom prst="roundRect">
            <a:avLst>
              <a:gd name="adj" fmla="val 50000"/>
            </a:avLst>
          </a:prstGeom>
          <a:solidFill>
            <a:srgbClr val="F8E7EB"/>
          </a:solidFill>
          <a:ln w="12700">
            <a:solidFill>
              <a:srgbClr val="BE123C"/>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BE123C"/>
                </a:solidFill>
                <a:latin typeface="Noto Sans Arabic"/>
                <a:cs typeface="Noto Sans Arabic"/>
                <a:ea typeface="Noto Sans Arabic"/>
              </a:rPr>
              <a:t>السؤال المفتاحي: ماذا لو بحثنا بطريقة أخرى؟</a:t>
            </a:r>
          </a:p>
        </p:txBody>
      </p:sp>
      <p:sp>
        <p:nvSpPr>
          <p:cNvPr id="28" name="Rounded Rectangle 27"/>
          <p:cNvSpPr/>
          <p:nvPr/>
        </p:nvSpPr>
        <p:spPr>
          <a:xfrm>
            <a:off x="548639" y="1874519"/>
            <a:ext cx="3515258" cy="4343400"/>
          </a:xfrm>
          <a:prstGeom prst="roundRect">
            <a:avLst>
              <a:gd name="adj" fmla="val 7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39" y="1874519"/>
            <a:ext cx="3515258" cy="914400"/>
          </a:xfrm>
          <a:prstGeom prst="roundRect">
            <a:avLst>
              <a:gd name="adj" fmla="val 7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14090" y="2066543"/>
            <a:ext cx="530352" cy="530352"/>
          </a:xfrm>
          <a:prstGeom prst="ellipse">
            <a:avLst/>
          </a:prstGeom>
          <a:solidFill>
            <a:srgbClr val="FFFFFF">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600" b="1" i="0">
                <a:solidFill>
                  <a:srgbClr val="FFFFFF"/>
                </a:solidFill>
                <a:latin typeface="Noto Sans Arabic"/>
                <a:cs typeface="Noto Sans Arabic"/>
                <a:ea typeface="Noto Sans Arabic"/>
              </a:rPr>
              <a:t>٦</a:t>
            </a:r>
          </a:p>
        </p:txBody>
      </p:sp>
      <p:sp>
        <p:nvSpPr>
          <p:cNvPr id="31" name="TextBox 30"/>
          <p:cNvSpPr txBox="1"/>
          <p:nvPr/>
        </p:nvSpPr>
        <p:spPr>
          <a:xfrm>
            <a:off x="777239" y="1984248"/>
            <a:ext cx="2555138"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50" b="1" i="0">
                <a:solidFill>
                  <a:srgbClr val="FFFFFF"/>
                </a:solidFill>
                <a:latin typeface="Noto Sans Arabic"/>
                <a:cs typeface="Noto Sans Arabic"/>
                <a:ea typeface="Noto Sans Arabic"/>
              </a:rPr>
              <a:t>فجوة الزمن</a:t>
            </a:r>
          </a:p>
        </p:txBody>
      </p:sp>
      <p:sp>
        <p:nvSpPr>
          <p:cNvPr id="32" name="TextBox 31"/>
          <p:cNvSpPr txBox="1"/>
          <p:nvPr/>
        </p:nvSpPr>
        <p:spPr>
          <a:xfrm>
            <a:off x="777239" y="2386584"/>
            <a:ext cx="2555138" cy="320040"/>
          </a:xfrm>
          <a:prstGeom prst="rect">
            <a:avLst/>
          </a:prstGeom>
          <a:noFill/>
        </p:spPr>
        <p:txBody>
          <a:bodyPr wrap="square" anchor="t" lIns="0" rIns="0" tIns="0" bIns="0">
            <a:spAutoFit/>
          </a:bodyPr>
          <a:lstStyle/>
          <a:p>
            <a:pPr algn="r">
              <a:lnSpc>
                <a:spcPct val="105000"/>
              </a:lnSpc>
              <a:spcBef>
                <a:spcPts val="0"/>
              </a:spcBef>
              <a:spcAft>
                <a:spcPts val="400"/>
              </a:spcAft>
            </a:pPr>
            <a:r>
              <a:rPr sz="1100" b="0" i="1">
                <a:solidFill>
                  <a:srgbClr val="FFFFFF"/>
                </a:solidFill>
                <a:latin typeface="Noto Sans Arabic"/>
                <a:cs typeface="Noto Sans Arabic"/>
                <a:ea typeface="Noto Sans Arabic"/>
              </a:rPr>
              <a:t>⏳  Temporal Gap</a:t>
            </a:r>
          </a:p>
        </p:txBody>
      </p:sp>
      <p:sp>
        <p:nvSpPr>
          <p:cNvPr id="33" name="TextBox 32"/>
          <p:cNvSpPr txBox="1"/>
          <p:nvPr/>
        </p:nvSpPr>
        <p:spPr>
          <a:xfrm>
            <a:off x="749807" y="2926079"/>
            <a:ext cx="3112922" cy="9144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Noto Sans Arabic"/>
                <a:cs typeface="Noto Sans Arabic"/>
                <a:ea typeface="Noto Sans Arabic"/>
              </a:rPr>
              <a:t>التعريف:  </a:t>
            </a:r>
            <a:r>
              <a:rPr sz="1200" b="0" i="0">
                <a:solidFill>
                  <a:srgbClr val="221C57"/>
                </a:solidFill>
                <a:latin typeface="Noto Sans Arabic"/>
                <a:cs typeface="Noto Sans Arabic"/>
                <a:ea typeface="Noto Sans Arabic"/>
              </a:rPr>
              <a:t>الدراسات المتاحة قديمة ولا تعكس الوضع الحالي.</a:t>
            </a:r>
          </a:p>
        </p:txBody>
      </p:sp>
      <p:sp>
        <p:nvSpPr>
          <p:cNvPr id="34" name="TextBox 33"/>
          <p:cNvSpPr txBox="1"/>
          <p:nvPr/>
        </p:nvSpPr>
        <p:spPr>
          <a:xfrm>
            <a:off x="749807" y="3840479"/>
            <a:ext cx="3112922" cy="1600200"/>
          </a:xfrm>
          <a:prstGeom prst="rect">
            <a:avLst/>
          </a:prstGeom>
          <a:noFill/>
        </p:spPr>
        <p:txBody>
          <a:bodyPr wrap="square" anchor="t" lIns="0" rIns="0" tIns="0" bIns="0">
            <a:spAutoFit/>
          </a:bodyPr>
          <a:lstStyle/>
          <a:p>
            <a:pPr algn="r" rtl="1">
              <a:lnSpc>
                <a:spcPct val="115000"/>
              </a:lnSpc>
              <a:spcBef>
                <a:spcPts val="0"/>
              </a:spcBef>
              <a:spcAft>
                <a:spcPts val="400"/>
              </a:spcAft>
            </a:pPr>
            <a:r>
              <a:rPr sz="1200" b="1" i="0">
                <a:solidFill>
                  <a:srgbClr val="047857"/>
                </a:solidFill>
                <a:latin typeface="Noto Sans Arabic"/>
                <a:cs typeface="Noto Sans Arabic"/>
                <a:ea typeface="Noto Sans Arabic"/>
              </a:rPr>
              <a:t>توضيح:  </a:t>
            </a:r>
            <a:r>
              <a:rPr sz="1200" b="0" i="0">
                <a:solidFill>
                  <a:srgbClr val="221C57"/>
                </a:solidFill>
                <a:latin typeface="Noto Sans Arabic"/>
                <a:cs typeface="Noto Sans Arabic"/>
                <a:ea typeface="Noto Sans Arabic"/>
              </a:rPr>
              <a:t>بعد كل تحول كبير — كالجائحة أو ثورة الذكاء الاصطناعي — تصبح النتائج القديمة بحاجة إلى إعادة اختبار، فالواقع تغيّر والأرقام لم تعد تمثله.</a:t>
            </a:r>
          </a:p>
        </p:txBody>
      </p:sp>
      <p:sp>
        <p:nvSpPr>
          <p:cNvPr id="35" name="Rounded Rectangle 34"/>
          <p:cNvSpPr/>
          <p:nvPr/>
        </p:nvSpPr>
        <p:spPr>
          <a:xfrm>
            <a:off x="731519" y="5650992"/>
            <a:ext cx="3149498" cy="420624"/>
          </a:xfrm>
          <a:prstGeom prst="roundRect">
            <a:avLst>
              <a:gd name="adj" fmla="val 50000"/>
            </a:avLst>
          </a:prstGeom>
          <a:solidFill>
            <a:srgbClr val="E5F1EE"/>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50" b="1" i="0">
                <a:solidFill>
                  <a:srgbClr val="047857"/>
                </a:solidFill>
                <a:latin typeface="Noto Sans Arabic"/>
                <a:cs typeface="Noto Sans Arabic"/>
                <a:ea typeface="Noto Sans Arabic"/>
              </a:rPr>
              <a:t>السؤال المفتاحي: هل ما زالت النتائج صحيحة اليوم؟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07</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6D28D9"/>
                </a:solidFill>
                <a:latin typeface="Noto Sans Arabic"/>
                <a:cs typeface="Noto Sans Arabic"/>
                <a:ea typeface="Noto Sans Arabic"/>
              </a:rPr>
              <a:t>PRACTICAL EXAMPLES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أمثلة عملية على الفجوات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07</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344607" y="1755648"/>
            <a:ext cx="1133856" cy="448056"/>
          </a:xfrm>
          <a:prstGeom prst="roundRect">
            <a:avLst>
              <a:gd name="adj" fmla="val 50000"/>
            </a:avLst>
          </a:prstGeom>
          <a:ln>
            <a:noFill/>
          </a:ln>
          <a:effectLst/>
          <a:gradFill rotWithShape="1">
            <a:gsLst>
              <a:gs pos="0">
                <a:srgbClr val="A21CAF"/>
              </a:gs>
              <a:gs pos="100000">
                <a:srgbClr val="E879F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معرفة</a:t>
            </a:r>
          </a:p>
        </p:txBody>
      </p:sp>
      <p:sp>
        <p:nvSpPr>
          <p:cNvPr id="13" name="TextBox 12"/>
          <p:cNvSpPr txBox="1"/>
          <p:nvPr/>
        </p:nvSpPr>
        <p:spPr>
          <a:xfrm>
            <a:off x="822959" y="16824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تأثير الذكاء الاصطناعي على القرارات الأخلاقية في القطاع الصحي العربي لم تتم دراسته بشكل كافٍ</a:t>
            </a:r>
          </a:p>
        </p:txBody>
      </p:sp>
      <p:sp>
        <p:nvSpPr>
          <p:cNvPr id="14" name="TextBox 13"/>
          <p:cNvSpPr txBox="1"/>
          <p:nvPr/>
        </p:nvSpPr>
        <p:spPr>
          <a:xfrm>
            <a:off x="822959" y="20299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A21CAF"/>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موضوع حديث وحسّاس بلا دراسات كافية — إضافة صافية للمعرفة</a:t>
            </a:r>
          </a:p>
        </p:txBody>
      </p:sp>
      <p:sp>
        <p:nvSpPr>
          <p:cNvPr id="15" name="Rounded Rectangle 14"/>
          <p:cNvSpPr/>
          <p:nvPr/>
        </p:nvSpPr>
        <p:spPr>
          <a:xfrm>
            <a:off x="548640" y="24277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344607" y="2555748"/>
            <a:ext cx="1133856" cy="448056"/>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ممارسة</a:t>
            </a:r>
          </a:p>
        </p:txBody>
      </p:sp>
      <p:sp>
        <p:nvSpPr>
          <p:cNvPr id="17" name="TextBox 16"/>
          <p:cNvSpPr txBox="1"/>
          <p:nvPr/>
        </p:nvSpPr>
        <p:spPr>
          <a:xfrm>
            <a:off x="822959" y="24825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البروتوكولات الطبية الدولية موجودة وموثقة، لكن التطبيق الواقعي في المستشفيات مختلف تماماً</a:t>
            </a:r>
          </a:p>
        </p:txBody>
      </p:sp>
      <p:sp>
        <p:nvSpPr>
          <p:cNvPr id="18" name="TextBox 17"/>
          <p:cNvSpPr txBox="1"/>
          <p:nvPr/>
        </p:nvSpPr>
        <p:spPr>
          <a:xfrm>
            <a:off x="822959" y="28300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D97706"/>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المعرفة متوفرة والتطبيق غائب — البحث يدرس لماذا وكيف نصلحه</a:t>
            </a:r>
          </a:p>
        </p:txBody>
      </p:sp>
      <p:sp>
        <p:nvSpPr>
          <p:cNvPr id="19" name="Rounded Rectangle 18"/>
          <p:cNvSpPr/>
          <p:nvPr/>
        </p:nvSpPr>
        <p:spPr>
          <a:xfrm>
            <a:off x="548640" y="32278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344607" y="3355848"/>
            <a:ext cx="1133856" cy="448056"/>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أدلة</a:t>
            </a:r>
          </a:p>
        </p:txBody>
      </p:sp>
      <p:sp>
        <p:nvSpPr>
          <p:cNvPr id="21" name="TextBox 20"/>
          <p:cNvSpPr txBox="1"/>
          <p:nvPr/>
        </p:nvSpPr>
        <p:spPr>
          <a:xfrm>
            <a:off x="822959" y="32826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توصيات كثيرة بدمج التعلم المصغّر في التدريب، دون تجارب مضبوطة تثبت فاعليته</a:t>
            </a:r>
          </a:p>
        </p:txBody>
      </p:sp>
      <p:sp>
        <p:nvSpPr>
          <p:cNvPr id="22" name="TextBox 21"/>
          <p:cNvSpPr txBox="1"/>
          <p:nvPr/>
        </p:nvSpPr>
        <p:spPr>
          <a:xfrm>
            <a:off x="822959" y="36301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D9488"/>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ادعاء شائع ينقصه الدليل التجريبي — بحثك يبني هذا الدليل</a:t>
            </a:r>
          </a:p>
        </p:txBody>
      </p:sp>
      <p:sp>
        <p:nvSpPr>
          <p:cNvPr id="23" name="Rounded Rectangle 22"/>
          <p:cNvSpPr/>
          <p:nvPr/>
        </p:nvSpPr>
        <p:spPr>
          <a:xfrm>
            <a:off x="548640" y="40279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344607" y="4155948"/>
            <a:ext cx="1133856" cy="448056"/>
          </a:xfrm>
          <a:prstGeom prst="roundRect">
            <a:avLst>
              <a:gd name="adj" fmla="val 50000"/>
            </a:avLst>
          </a:prstGeom>
          <a:ln>
            <a:noFill/>
          </a:ln>
          <a:effectLst/>
          <a:gradFill rotWithShape="1">
            <a:gsLst>
              <a:gs pos="0">
                <a:srgbClr val="6D28D9"/>
              </a:gs>
              <a:gs pos="100000">
                <a:srgbClr val="A855F7"/>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سكان</a:t>
            </a:r>
          </a:p>
        </p:txBody>
      </p:sp>
      <p:sp>
        <p:nvSpPr>
          <p:cNvPr id="25" name="TextBox 24"/>
          <p:cNvSpPr txBox="1"/>
          <p:nvPr/>
        </p:nvSpPr>
        <p:spPr>
          <a:xfrm>
            <a:off x="822959" y="40827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معظم دراسات القلق الاجتماعي أُجريت على طلاب غربيين، والشباب العربي ما زال ناقصاً في الدراسات</a:t>
            </a:r>
          </a:p>
        </p:txBody>
      </p:sp>
      <p:sp>
        <p:nvSpPr>
          <p:cNvPr id="26" name="TextBox 25"/>
          <p:cNvSpPr txBox="1"/>
          <p:nvPr/>
        </p:nvSpPr>
        <p:spPr>
          <a:xfrm>
            <a:off x="822959" y="44302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6D28D9"/>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العينة لا تمثل مجتمعك — إعادة الدراسة محلياً تسد الفجوة</a:t>
            </a:r>
          </a:p>
        </p:txBody>
      </p:sp>
      <p:sp>
        <p:nvSpPr>
          <p:cNvPr id="27" name="Rounded Rectangle 26"/>
          <p:cNvSpPr/>
          <p:nvPr/>
        </p:nvSpPr>
        <p:spPr>
          <a:xfrm>
            <a:off x="548640" y="48280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344607" y="4956048"/>
            <a:ext cx="1133856" cy="448056"/>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منهجية</a:t>
            </a:r>
          </a:p>
        </p:txBody>
      </p:sp>
      <p:sp>
        <p:nvSpPr>
          <p:cNvPr id="29" name="TextBox 28"/>
          <p:cNvSpPr txBox="1"/>
          <p:nvPr/>
        </p:nvSpPr>
        <p:spPr>
          <a:xfrm>
            <a:off x="822959" y="48828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كل الدراسات استخدمت المنهج الكمي فقط، بينما المنهج النوعي يمكن أن يعطي تفاصيل أعمق</a:t>
            </a:r>
          </a:p>
        </p:txBody>
      </p:sp>
      <p:sp>
        <p:nvSpPr>
          <p:cNvPr id="30" name="TextBox 29"/>
          <p:cNvSpPr txBox="1"/>
          <p:nvPr/>
        </p:nvSpPr>
        <p:spPr>
          <a:xfrm>
            <a:off x="822959" y="52303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BE123C"/>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تغيير أسلوب البحث يفتح نافذة جديدة على الظاهرة نفسها</a:t>
            </a:r>
          </a:p>
        </p:txBody>
      </p:sp>
      <p:sp>
        <p:nvSpPr>
          <p:cNvPr id="31" name="Rounded Rectangle 30"/>
          <p:cNvSpPr/>
          <p:nvPr/>
        </p:nvSpPr>
        <p:spPr>
          <a:xfrm>
            <a:off x="548640" y="5628132"/>
            <a:ext cx="11094415" cy="704088"/>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44607" y="5756148"/>
            <a:ext cx="1133856" cy="448056"/>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200" b="1" i="0">
                <a:solidFill>
                  <a:srgbClr val="FFFFFF"/>
                </a:solidFill>
                <a:latin typeface="Noto Sans Arabic"/>
                <a:cs typeface="Noto Sans Arabic"/>
                <a:ea typeface="Noto Sans Arabic"/>
              </a:rPr>
              <a:t>زمنية</a:t>
            </a:r>
          </a:p>
        </p:txBody>
      </p:sp>
      <p:sp>
        <p:nvSpPr>
          <p:cNvPr id="33" name="TextBox 32"/>
          <p:cNvSpPr txBox="1"/>
          <p:nvPr/>
        </p:nvSpPr>
        <p:spPr>
          <a:xfrm>
            <a:off x="822959" y="5682996"/>
            <a:ext cx="9219895" cy="347472"/>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221C57"/>
                </a:solidFill>
                <a:latin typeface="Noto Sans Arabic"/>
                <a:cs typeface="Noto Sans Arabic"/>
                <a:ea typeface="Noto Sans Arabic"/>
              </a:rPr>
              <a:t>الدراسات القديمة قبل 2020 لا تعكس التغيرات التي حدثت بعد الجائحة</a:t>
            </a:r>
          </a:p>
        </p:txBody>
      </p:sp>
      <p:sp>
        <p:nvSpPr>
          <p:cNvPr id="34" name="TextBox 33"/>
          <p:cNvSpPr txBox="1"/>
          <p:nvPr/>
        </p:nvSpPr>
        <p:spPr>
          <a:xfrm>
            <a:off x="822959" y="6030468"/>
            <a:ext cx="9219895"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050" b="1" i="0">
                <a:solidFill>
                  <a:srgbClr val="047857"/>
                </a:solidFill>
                <a:latin typeface="Noto Sans Arabic"/>
                <a:cs typeface="Noto Sans Arabic"/>
                <a:ea typeface="Noto Sans Arabic"/>
              </a:rPr>
              <a:t>لماذا هي فجوة؟  </a:t>
            </a:r>
            <a:r>
              <a:rPr sz="1050" b="0" i="0">
                <a:solidFill>
                  <a:srgbClr val="6E6A8F"/>
                </a:solidFill>
                <a:latin typeface="Noto Sans Arabic"/>
                <a:cs typeface="Noto Sans Arabic"/>
                <a:ea typeface="Noto Sans Arabic"/>
              </a:rPr>
              <a:t>الواقع تغيّر جذرياً والأرقام القديمة لم تعد تمثله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08</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Noto Sans Arabic"/>
                <a:cs typeface="Noto Sans Arabic"/>
                <a:ea typeface="Noto Sans Arabic"/>
              </a:rPr>
              <a:t>AI TOOLS FOR GAP DISCOVERY</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أدوات الذكاء الاصطناعي الثمانية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08</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9034043"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64229" y="1810512"/>
            <a:ext cx="548640" cy="54864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3" name="TextBox 12"/>
          <p:cNvSpPr txBox="1"/>
          <p:nvPr/>
        </p:nvSpPr>
        <p:spPr>
          <a:xfrm>
            <a:off x="9143771"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A21CAF"/>
                </a:solidFill>
                <a:latin typeface="Noto Sans Arabic"/>
                <a:cs typeface="Noto Sans Arabic"/>
                <a:ea typeface="Noto Sans Arabic"/>
              </a:rPr>
              <a:t>Elicit</a:t>
            </a:r>
          </a:p>
        </p:txBody>
      </p:sp>
      <p:sp>
        <p:nvSpPr>
          <p:cNvPr id="14" name="TextBox 13"/>
          <p:cNvSpPr txBox="1"/>
          <p:nvPr/>
        </p:nvSpPr>
        <p:spPr>
          <a:xfrm>
            <a:off x="9180347"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يلخّص الدراسات ويستخرج النتائج بسؤال مباشر بلغة طبيعية</a:t>
            </a:r>
          </a:p>
        </p:txBody>
      </p:sp>
      <p:sp>
        <p:nvSpPr>
          <p:cNvPr id="15" name="Rounded Rectangle 14"/>
          <p:cNvSpPr/>
          <p:nvPr/>
        </p:nvSpPr>
        <p:spPr>
          <a:xfrm>
            <a:off x="6205575"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35761" y="1810512"/>
            <a:ext cx="548640" cy="54864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17" name="TextBox 16"/>
          <p:cNvSpPr txBox="1"/>
          <p:nvPr/>
        </p:nvSpPr>
        <p:spPr>
          <a:xfrm>
            <a:off x="6315303"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D9488"/>
                </a:solidFill>
                <a:latin typeface="Noto Sans Arabic"/>
                <a:cs typeface="Noto Sans Arabic"/>
                <a:ea typeface="Noto Sans Arabic"/>
              </a:rPr>
              <a:t>Consensus</a:t>
            </a:r>
          </a:p>
        </p:txBody>
      </p:sp>
      <p:sp>
        <p:nvSpPr>
          <p:cNvPr id="18" name="TextBox 17"/>
          <p:cNvSpPr txBox="1"/>
          <p:nvPr/>
        </p:nvSpPr>
        <p:spPr>
          <a:xfrm>
            <a:off x="6351879"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يعطيك إجماع الأبحاث حول سؤال علمي معيّن واتجاه الأدلة</a:t>
            </a:r>
          </a:p>
        </p:txBody>
      </p:sp>
      <p:sp>
        <p:nvSpPr>
          <p:cNvPr id="19" name="Rounded Rectangle 18"/>
          <p:cNvSpPr/>
          <p:nvPr/>
        </p:nvSpPr>
        <p:spPr>
          <a:xfrm>
            <a:off x="3377107" y="1627632"/>
            <a:ext cx="2609011" cy="1810512"/>
          </a:xfrm>
          <a:prstGeom prst="roundRect">
            <a:avLst>
              <a:gd name="adj" fmla="val 10000"/>
            </a:avLst>
          </a:prstGeom>
          <a:solidFill>
            <a:srgbClr val="FBF4EB"/>
          </a:solidFill>
          <a:ln w="1905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07293" y="1810512"/>
            <a:ext cx="548640" cy="54864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1" name="TextBox 20"/>
          <p:cNvSpPr txBox="1"/>
          <p:nvPr/>
        </p:nvSpPr>
        <p:spPr>
          <a:xfrm>
            <a:off x="3486835"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D97706"/>
                </a:solidFill>
                <a:latin typeface="Noto Sans Arabic"/>
                <a:cs typeface="Noto Sans Arabic"/>
                <a:ea typeface="Noto Sans Arabic"/>
              </a:rPr>
              <a:t>Research Rabbit</a:t>
            </a:r>
          </a:p>
        </p:txBody>
      </p:sp>
      <p:sp>
        <p:nvSpPr>
          <p:cNvPr id="22" name="TextBox 21"/>
          <p:cNvSpPr txBox="1"/>
          <p:nvPr/>
        </p:nvSpPr>
        <p:spPr>
          <a:xfrm>
            <a:off x="3523411"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يرسم خريطة للعلاقات بين الأبحاث ويكشف مواضع الفراغ</a:t>
            </a:r>
          </a:p>
        </p:txBody>
      </p:sp>
      <p:sp>
        <p:nvSpPr>
          <p:cNvPr id="23" name="Rounded Rectangle 22"/>
          <p:cNvSpPr/>
          <p:nvPr/>
        </p:nvSpPr>
        <p:spPr>
          <a:xfrm>
            <a:off x="3486835" y="1472184"/>
            <a:ext cx="960120" cy="329184"/>
          </a:xfrm>
          <a:prstGeom prst="roundRect">
            <a:avLst>
              <a:gd name="adj" fmla="val 5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050" b="1" i="0">
                <a:solidFill>
                  <a:srgbClr val="FFFFFF"/>
                </a:solidFill>
                <a:latin typeface="Noto Sans Arabic"/>
                <a:cs typeface="Noto Sans Arabic"/>
                <a:ea typeface="Noto Sans Arabic"/>
              </a:rPr>
              <a:t>⭐ الأقوى</a:t>
            </a:r>
          </a:p>
        </p:txBody>
      </p:sp>
      <p:sp>
        <p:nvSpPr>
          <p:cNvPr id="24" name="Rounded Rectangle 23"/>
          <p:cNvSpPr/>
          <p:nvPr/>
        </p:nvSpPr>
        <p:spPr>
          <a:xfrm>
            <a:off x="548640" y="1627632"/>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578825" y="1810512"/>
            <a:ext cx="548640" cy="54864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26" name="TextBox 25"/>
          <p:cNvSpPr txBox="1"/>
          <p:nvPr/>
        </p:nvSpPr>
        <p:spPr>
          <a:xfrm>
            <a:off x="658368" y="2432304"/>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6D28D9"/>
                </a:solidFill>
                <a:latin typeface="Noto Sans Arabic"/>
                <a:cs typeface="Noto Sans Arabic"/>
                <a:ea typeface="Noto Sans Arabic"/>
              </a:rPr>
              <a:t>Connected Papers</a:t>
            </a:r>
          </a:p>
        </p:txBody>
      </p:sp>
      <p:sp>
        <p:nvSpPr>
          <p:cNvPr id="27" name="TextBox 26"/>
          <p:cNvSpPr txBox="1"/>
          <p:nvPr/>
        </p:nvSpPr>
        <p:spPr>
          <a:xfrm>
            <a:off x="694944" y="2779776"/>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يوضح الدراسات المرتبطة ببحثك في شبكة بصرية واحدة</a:t>
            </a:r>
          </a:p>
        </p:txBody>
      </p:sp>
      <p:sp>
        <p:nvSpPr>
          <p:cNvPr id="28" name="Rounded Rectangle 27"/>
          <p:cNvSpPr/>
          <p:nvPr/>
        </p:nvSpPr>
        <p:spPr>
          <a:xfrm>
            <a:off x="9034043"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64229" y="3767328"/>
            <a:ext cx="548640" cy="548640"/>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0" name="TextBox 29"/>
          <p:cNvSpPr txBox="1"/>
          <p:nvPr/>
        </p:nvSpPr>
        <p:spPr>
          <a:xfrm>
            <a:off x="9143771"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BE123C"/>
                </a:solidFill>
                <a:latin typeface="Noto Sans Arabic"/>
                <a:cs typeface="Noto Sans Arabic"/>
                <a:ea typeface="Noto Sans Arabic"/>
              </a:rPr>
              <a:t>Scite.ai</a:t>
            </a:r>
          </a:p>
        </p:txBody>
      </p:sp>
      <p:sp>
        <p:nvSpPr>
          <p:cNvPr id="31" name="TextBox 30"/>
          <p:cNvSpPr txBox="1"/>
          <p:nvPr/>
        </p:nvSpPr>
        <p:spPr>
          <a:xfrm>
            <a:off x="9180347"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يقيّم قوة المراجع ويميز الاقتباسات الداعمة من المعارضة</a:t>
            </a:r>
          </a:p>
        </p:txBody>
      </p:sp>
      <p:sp>
        <p:nvSpPr>
          <p:cNvPr id="32" name="Rounded Rectangle 31"/>
          <p:cNvSpPr/>
          <p:nvPr/>
        </p:nvSpPr>
        <p:spPr>
          <a:xfrm>
            <a:off x="6205575"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35761" y="3767328"/>
            <a:ext cx="548640" cy="548640"/>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4" name="TextBox 33"/>
          <p:cNvSpPr txBox="1"/>
          <p:nvPr/>
        </p:nvSpPr>
        <p:spPr>
          <a:xfrm>
            <a:off x="6315303"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047857"/>
                </a:solidFill>
                <a:latin typeface="Noto Sans Arabic"/>
                <a:cs typeface="Noto Sans Arabic"/>
                <a:ea typeface="Noto Sans Arabic"/>
              </a:rPr>
              <a:t>Semantic Scholar</a:t>
            </a:r>
          </a:p>
        </p:txBody>
      </p:sp>
      <p:sp>
        <p:nvSpPr>
          <p:cNvPr id="35" name="TextBox 34"/>
          <p:cNvSpPr txBox="1"/>
          <p:nvPr/>
        </p:nvSpPr>
        <p:spPr>
          <a:xfrm>
            <a:off x="6351879"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محرك بحث أكاديمي دلالي يفهم المعنى لا الكلمات فقط</a:t>
            </a:r>
          </a:p>
        </p:txBody>
      </p:sp>
      <p:sp>
        <p:nvSpPr>
          <p:cNvPr id="36" name="Rounded Rectangle 35"/>
          <p:cNvSpPr/>
          <p:nvPr/>
        </p:nvSpPr>
        <p:spPr>
          <a:xfrm>
            <a:off x="3377107"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07293" y="3767328"/>
            <a:ext cx="548640" cy="548640"/>
          </a:xfrm>
          <a:prstGeom prst="ellipse">
            <a:avLst/>
          </a:prstGeom>
          <a:ln>
            <a:noFill/>
          </a:ln>
          <a:gradFill rotWithShape="1">
            <a:gsLst>
              <a:gs pos="0">
                <a:srgbClr val="17123B"/>
              </a:gs>
              <a:gs pos="100000">
                <a:srgbClr val="3B3486"/>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38" name="TextBox 37"/>
          <p:cNvSpPr txBox="1"/>
          <p:nvPr/>
        </p:nvSpPr>
        <p:spPr>
          <a:xfrm>
            <a:off x="3486835"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7123B"/>
                </a:solidFill>
                <a:latin typeface="Noto Sans Arabic"/>
                <a:cs typeface="Noto Sans Arabic"/>
                <a:ea typeface="Noto Sans Arabic"/>
              </a:rPr>
              <a:t>Claude</a:t>
            </a:r>
          </a:p>
        </p:txBody>
      </p:sp>
      <p:sp>
        <p:nvSpPr>
          <p:cNvPr id="39" name="TextBox 38"/>
          <p:cNvSpPr txBox="1"/>
          <p:nvPr/>
        </p:nvSpPr>
        <p:spPr>
          <a:xfrm>
            <a:off x="3523411"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يحلل الأدبيات بعمق ويقترح فجوات عبر حوار نقدي متدرج</a:t>
            </a:r>
          </a:p>
        </p:txBody>
      </p:sp>
      <p:sp>
        <p:nvSpPr>
          <p:cNvPr id="40" name="Rounded Rectangle 39"/>
          <p:cNvSpPr/>
          <p:nvPr/>
        </p:nvSpPr>
        <p:spPr>
          <a:xfrm>
            <a:off x="548640" y="3584448"/>
            <a:ext cx="2609011" cy="1810512"/>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578825" y="3767328"/>
            <a:ext cx="548640" cy="548640"/>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i="0">
                <a:solidFill>
                  <a:srgbClr val="FFFFFF"/>
                </a:solidFill>
                <a:latin typeface="Noto Sans Arabic"/>
                <a:cs typeface="Noto Sans Arabic"/>
                <a:ea typeface="Noto Sans Arabic"/>
              </a:rPr>
              <a:t>💬</a:t>
            </a:r>
          </a:p>
        </p:txBody>
      </p:sp>
      <p:sp>
        <p:nvSpPr>
          <p:cNvPr id="42" name="TextBox 41"/>
          <p:cNvSpPr txBox="1"/>
          <p:nvPr/>
        </p:nvSpPr>
        <p:spPr>
          <a:xfrm>
            <a:off x="658368" y="4389120"/>
            <a:ext cx="2389555" cy="347472"/>
          </a:xfrm>
          <a:prstGeom prst="rect">
            <a:avLst/>
          </a:prstGeom>
          <a:noFill/>
        </p:spPr>
        <p:txBody>
          <a:bodyPr wrap="square" anchor="t" lIns="0" rIns="0" tIns="0" bIns="0">
            <a:spAutoFit/>
          </a:bodyPr>
          <a:lstStyle/>
          <a:p>
            <a:pPr algn="ctr">
              <a:lnSpc>
                <a:spcPct val="105000"/>
              </a:lnSpc>
              <a:spcBef>
                <a:spcPts val="0"/>
              </a:spcBef>
              <a:spcAft>
                <a:spcPts val="400"/>
              </a:spcAft>
            </a:pPr>
            <a:r>
              <a:rPr sz="1350" b="1" i="0">
                <a:solidFill>
                  <a:srgbClr val="1D4ED8"/>
                </a:solidFill>
                <a:latin typeface="Noto Sans Arabic"/>
                <a:cs typeface="Noto Sans Arabic"/>
                <a:ea typeface="Noto Sans Arabic"/>
              </a:rPr>
              <a:t>ChatGPT</a:t>
            </a:r>
          </a:p>
        </p:txBody>
      </p:sp>
      <p:sp>
        <p:nvSpPr>
          <p:cNvPr id="43" name="TextBox 42"/>
          <p:cNvSpPr txBox="1"/>
          <p:nvPr/>
        </p:nvSpPr>
        <p:spPr>
          <a:xfrm>
            <a:off x="694944" y="4736592"/>
            <a:ext cx="2316403" cy="621792"/>
          </a:xfrm>
          <a:prstGeom prst="rect">
            <a:avLst/>
          </a:prstGeom>
          <a:noFill/>
        </p:spPr>
        <p:txBody>
          <a:bodyPr wrap="square" anchor="t" lIns="0" rIns="0" tIns="0" bIns="0">
            <a:spAutoFit/>
          </a:bodyPr>
          <a:lstStyle/>
          <a:p>
            <a:pPr algn="ctr" rtl="1">
              <a:lnSpc>
                <a:spcPct val="110000"/>
              </a:lnSpc>
              <a:spcBef>
                <a:spcPts val="0"/>
              </a:spcBef>
              <a:spcAft>
                <a:spcPts val="400"/>
              </a:spcAft>
            </a:pPr>
            <a:r>
              <a:rPr sz="1050" b="0" i="0">
                <a:solidFill>
                  <a:srgbClr val="221C57"/>
                </a:solidFill>
                <a:latin typeface="Noto Sans Arabic"/>
                <a:cs typeface="Noto Sans Arabic"/>
                <a:ea typeface="Noto Sans Arabic"/>
              </a:rPr>
              <a:t>يساعد في الفهم العام وصياغة أسئلة البحث الأولية</a:t>
            </a:r>
          </a:p>
        </p:txBody>
      </p:sp>
      <p:sp>
        <p:nvSpPr>
          <p:cNvPr id="44" name="Rounded Rectangle 43"/>
          <p:cNvSpPr/>
          <p:nvPr/>
        </p:nvSpPr>
        <p:spPr>
          <a:xfrm>
            <a:off x="548640" y="5596128"/>
            <a:ext cx="11094415" cy="548640"/>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5696712"/>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50" b="1" i="0">
                <a:solidFill>
                  <a:srgbClr val="FBBF24"/>
                </a:solidFill>
                <a:latin typeface="Noto Sans Arabic"/>
                <a:cs typeface="Noto Sans Arabic"/>
                <a:ea typeface="Noto Sans Arabic"/>
              </a:rPr>
              <a:t>💡 نصيحة: </a:t>
            </a:r>
            <a:r>
              <a:rPr sz="1200" b="0" i="0">
                <a:solidFill>
                  <a:srgbClr val="FFFFFF"/>
                </a:solidFill>
                <a:latin typeface="Noto Sans Arabic"/>
                <a:cs typeface="Noto Sans Arabic"/>
                <a:ea typeface="Noto Sans Arabic"/>
              </a:rPr>
              <a:t>الأدوات كثيرة، والأقوى Research Rabbit لأنه يرسم خريطة واضحة للعلاقات بين الأبحاث — وسير العمل معه في الشريحة التالية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09</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D97706"/>
                </a:solidFill>
                <a:latin typeface="Noto Sans Arabic"/>
                <a:cs typeface="Noto Sans Arabic"/>
                <a:ea typeface="Noto Sans Arabic"/>
              </a:rPr>
              <a:t>THE RECOMMENDED WORKFLOW</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سير العمل الذكي مع Research Rabbit</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D97706"/>
              </a:gs>
              <a:gs pos="100000">
                <a:srgbClr val="FBBF24"/>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09</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TextBox 10"/>
          <p:cNvSpPr txBox="1"/>
          <p:nvPr/>
        </p:nvSpPr>
        <p:spPr>
          <a:xfrm>
            <a:off x="548640" y="1536192"/>
            <a:ext cx="1109441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6E6A8F"/>
                </a:solidFill>
                <a:latin typeface="Noto Sans Arabic"/>
                <a:cs typeface="Noto Sans Arabic"/>
                <a:ea typeface="Noto Sans Arabic"/>
              </a:rPr>
              <a:t>الطريقة العملية لاستخراج الفجوة البحثية بالذكاء الاصطناعي — أربع خطوات:</a:t>
            </a:r>
          </a:p>
        </p:txBody>
      </p:sp>
      <p:sp>
        <p:nvSpPr>
          <p:cNvPr id="12" name="Rounded Rectangle 11"/>
          <p:cNvSpPr/>
          <p:nvPr/>
        </p:nvSpPr>
        <p:spPr>
          <a:xfrm>
            <a:off x="9246641"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46641" y="2103120"/>
            <a:ext cx="2396413" cy="109728"/>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097376" y="2423160"/>
            <a:ext cx="694944" cy="694944"/>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15" name="Rounded Rectangle 14"/>
          <p:cNvSpPr/>
          <p:nvPr/>
        </p:nvSpPr>
        <p:spPr>
          <a:xfrm>
            <a:off x="9941928" y="3246120"/>
            <a:ext cx="1005840" cy="329184"/>
          </a:xfrm>
          <a:prstGeom prst="roundRect">
            <a:avLst>
              <a:gd name="adj" fmla="val 50000"/>
            </a:avLst>
          </a:prstGeom>
          <a:solidFill>
            <a:srgbClr val="F3E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A21CAF"/>
                </a:solidFill>
                <a:latin typeface="Noto Sans Arabic"/>
                <a:cs typeface="Noto Sans Arabic"/>
                <a:ea typeface="Noto Sans Arabic"/>
              </a:rPr>
              <a:t>الخطوة ١</a:t>
            </a:r>
          </a:p>
        </p:txBody>
      </p:sp>
      <p:sp>
        <p:nvSpPr>
          <p:cNvPr id="16" name="TextBox 15"/>
          <p:cNvSpPr txBox="1"/>
          <p:nvPr/>
        </p:nvSpPr>
        <p:spPr>
          <a:xfrm>
            <a:off x="9356369"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A21CAF"/>
                </a:solidFill>
                <a:latin typeface="Noto Sans Arabic"/>
                <a:cs typeface="Noto Sans Arabic"/>
                <a:ea typeface="Noto Sans Arabic"/>
              </a:rPr>
              <a:t>ارفع ملفات الدراسات</a:t>
            </a:r>
          </a:p>
        </p:txBody>
      </p:sp>
      <p:sp>
        <p:nvSpPr>
          <p:cNvPr id="17" name="TextBox 16"/>
          <p:cNvSpPr txBox="1"/>
          <p:nvPr/>
        </p:nvSpPr>
        <p:spPr>
          <a:xfrm>
            <a:off x="9411233"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حمّل الأوراق العلمية المرتبطة بموضوعك إلى المنصة — كلما كانت أحدث وأشمل كانت الخريطة أدق</a:t>
            </a:r>
          </a:p>
        </p:txBody>
      </p:sp>
      <p:sp>
        <p:nvSpPr>
          <p:cNvPr id="18" name="Rectangle 17"/>
          <p:cNvSpPr/>
          <p:nvPr/>
        </p:nvSpPr>
        <p:spPr>
          <a:xfrm>
            <a:off x="8816873"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19" name="Rounded Rectangle 18"/>
          <p:cNvSpPr/>
          <p:nvPr/>
        </p:nvSpPr>
        <p:spPr>
          <a:xfrm>
            <a:off x="6347307"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47307" y="2103120"/>
            <a:ext cx="2396413" cy="109728"/>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98042" y="2423160"/>
            <a:ext cx="694944" cy="694944"/>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22" name="Rounded Rectangle 21"/>
          <p:cNvSpPr/>
          <p:nvPr/>
        </p:nvSpPr>
        <p:spPr>
          <a:xfrm>
            <a:off x="7042594" y="3246120"/>
            <a:ext cx="1005840" cy="329184"/>
          </a:xfrm>
          <a:prstGeom prst="roundRect">
            <a:avLst>
              <a:gd name="adj" fmla="val 50000"/>
            </a:avLst>
          </a:prstGeom>
          <a:solidFill>
            <a:srgbClr val="FAEEE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D97706"/>
                </a:solidFill>
                <a:latin typeface="Noto Sans Arabic"/>
                <a:cs typeface="Noto Sans Arabic"/>
                <a:ea typeface="Noto Sans Arabic"/>
              </a:rPr>
              <a:t>الخطوة ٢</a:t>
            </a:r>
          </a:p>
        </p:txBody>
      </p:sp>
      <p:sp>
        <p:nvSpPr>
          <p:cNvPr id="23" name="TextBox 22"/>
          <p:cNvSpPr txBox="1"/>
          <p:nvPr/>
        </p:nvSpPr>
        <p:spPr>
          <a:xfrm>
            <a:off x="6457035"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D97706"/>
                </a:solidFill>
                <a:latin typeface="Noto Sans Arabic"/>
                <a:cs typeface="Noto Sans Arabic"/>
                <a:ea typeface="Noto Sans Arabic"/>
              </a:rPr>
              <a:t>اطرح سؤالاً دقيقاً</a:t>
            </a:r>
          </a:p>
        </p:txBody>
      </p:sp>
      <p:sp>
        <p:nvSpPr>
          <p:cNvPr id="24" name="TextBox 23"/>
          <p:cNvSpPr txBox="1"/>
          <p:nvPr/>
        </p:nvSpPr>
        <p:spPr>
          <a:xfrm>
            <a:off x="6511899"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اكتب طلباً محدداً: «حلّل هذه الملفات واستخرج الفجوة البحثية» — دقة السؤال تصنع دقة الإجابة</a:t>
            </a:r>
          </a:p>
        </p:txBody>
      </p:sp>
      <p:sp>
        <p:nvSpPr>
          <p:cNvPr id="25" name="Rectangle 24"/>
          <p:cNvSpPr/>
          <p:nvPr/>
        </p:nvSpPr>
        <p:spPr>
          <a:xfrm>
            <a:off x="5917539"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26" name="Rounded Rectangle 25"/>
          <p:cNvSpPr/>
          <p:nvPr/>
        </p:nvSpPr>
        <p:spPr>
          <a:xfrm>
            <a:off x="3447973"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447973" y="2103120"/>
            <a:ext cx="2396413"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298708" y="2423160"/>
            <a:ext cx="694944" cy="694944"/>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29" name="Rounded Rectangle 28"/>
          <p:cNvSpPr/>
          <p:nvPr/>
        </p:nvSpPr>
        <p:spPr>
          <a:xfrm>
            <a:off x="4143260" y="3246120"/>
            <a:ext cx="1005840" cy="329184"/>
          </a:xfrm>
          <a:prstGeom prst="roundRect">
            <a:avLst>
              <a:gd name="adj" fmla="val 50000"/>
            </a:avLst>
          </a:prstGeom>
          <a:solidFill>
            <a:srgbClr val="E1F2F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D9488"/>
                </a:solidFill>
                <a:latin typeface="Noto Sans Arabic"/>
                <a:cs typeface="Noto Sans Arabic"/>
                <a:ea typeface="Noto Sans Arabic"/>
              </a:rPr>
              <a:t>الخطوة ٣</a:t>
            </a:r>
          </a:p>
        </p:txBody>
      </p:sp>
      <p:sp>
        <p:nvSpPr>
          <p:cNvPr id="30" name="TextBox 29"/>
          <p:cNvSpPr txBox="1"/>
          <p:nvPr/>
        </p:nvSpPr>
        <p:spPr>
          <a:xfrm>
            <a:off x="3557701"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D9488"/>
                </a:solidFill>
                <a:latin typeface="Noto Sans Arabic"/>
                <a:cs typeface="Noto Sans Arabic"/>
                <a:ea typeface="Noto Sans Arabic"/>
              </a:rPr>
              <a:t>راجع التحليل بنفسك</a:t>
            </a:r>
          </a:p>
        </p:txBody>
      </p:sp>
      <p:sp>
        <p:nvSpPr>
          <p:cNvPr id="31" name="TextBox 30"/>
          <p:cNvSpPr txBox="1"/>
          <p:nvPr/>
        </p:nvSpPr>
        <p:spPr>
          <a:xfrm>
            <a:off x="3612565"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افحص ما قدّمه الذكاء الاصطناعي بعقلك النقدي — لا تعتمد المخرجات كما هي أبداً</a:t>
            </a:r>
          </a:p>
        </p:txBody>
      </p:sp>
      <p:sp>
        <p:nvSpPr>
          <p:cNvPr id="32" name="Rectangle 31"/>
          <p:cNvSpPr/>
          <p:nvPr/>
        </p:nvSpPr>
        <p:spPr>
          <a:xfrm>
            <a:off x="3018205" y="3429000"/>
            <a:ext cx="365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000" b="1" i="0">
                <a:solidFill>
                  <a:srgbClr val="6E6A8F"/>
                </a:solidFill>
                <a:latin typeface="Noto Sans Arabic"/>
                <a:cs typeface="Noto Sans Arabic"/>
                <a:ea typeface="Noto Sans Arabic"/>
              </a:rPr>
              <a:t>⬅</a:t>
            </a:r>
          </a:p>
        </p:txBody>
      </p:sp>
      <p:sp>
        <p:nvSpPr>
          <p:cNvPr id="33" name="Rounded Rectangle 32"/>
          <p:cNvSpPr/>
          <p:nvPr/>
        </p:nvSpPr>
        <p:spPr>
          <a:xfrm>
            <a:off x="548639" y="2103120"/>
            <a:ext cx="2396413" cy="3063240"/>
          </a:xfrm>
          <a:prstGeom prst="roundRect">
            <a:avLst>
              <a:gd name="adj" fmla="val 10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2103120"/>
            <a:ext cx="2396413"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99374" y="2423160"/>
            <a:ext cx="694944" cy="694944"/>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i="0">
                <a:solidFill>
                  <a:srgbClr val="FFFFFF"/>
                </a:solidFill>
                <a:latin typeface="Noto Sans Arabic"/>
                <a:cs typeface="Noto Sans Arabic"/>
                <a:ea typeface="Noto Sans Arabic"/>
              </a:rPr>
              <a:t>✅</a:t>
            </a:r>
          </a:p>
        </p:txBody>
      </p:sp>
      <p:sp>
        <p:nvSpPr>
          <p:cNvPr id="36" name="Rounded Rectangle 35"/>
          <p:cNvSpPr/>
          <p:nvPr/>
        </p:nvSpPr>
        <p:spPr>
          <a:xfrm>
            <a:off x="1243926" y="3246120"/>
            <a:ext cx="1005840" cy="329184"/>
          </a:xfrm>
          <a:prstGeom prst="roundRect">
            <a:avLst>
              <a:gd name="adj" fmla="val 50000"/>
            </a:avLst>
          </a:prstGeom>
          <a:solidFill>
            <a:srgbClr val="E0EEE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100" b="1" i="0">
                <a:solidFill>
                  <a:srgbClr val="047857"/>
                </a:solidFill>
                <a:latin typeface="Noto Sans Arabic"/>
                <a:cs typeface="Noto Sans Arabic"/>
                <a:ea typeface="Noto Sans Arabic"/>
              </a:rPr>
              <a:t>الخطوة ٤</a:t>
            </a:r>
          </a:p>
        </p:txBody>
      </p:sp>
      <p:sp>
        <p:nvSpPr>
          <p:cNvPr id="37" name="TextBox 36"/>
          <p:cNvSpPr txBox="1"/>
          <p:nvPr/>
        </p:nvSpPr>
        <p:spPr>
          <a:xfrm>
            <a:off x="658367" y="3675887"/>
            <a:ext cx="2176957" cy="411480"/>
          </a:xfrm>
          <a:prstGeom prst="rect">
            <a:avLst/>
          </a:prstGeom>
          <a:noFill/>
        </p:spPr>
        <p:txBody>
          <a:bodyPr wrap="square" anchor="t" lIns="0" rIns="0" tIns="0" bIns="0">
            <a:spAutoFit/>
          </a:bodyPr>
          <a:lstStyle/>
          <a:p>
            <a:pPr algn="ctr" rtl="1">
              <a:lnSpc>
                <a:spcPct val="105000"/>
              </a:lnSpc>
              <a:spcBef>
                <a:spcPts val="0"/>
              </a:spcBef>
              <a:spcAft>
                <a:spcPts val="400"/>
              </a:spcAft>
            </a:pPr>
            <a:r>
              <a:rPr sz="1450" b="1" i="0">
                <a:solidFill>
                  <a:srgbClr val="047857"/>
                </a:solidFill>
                <a:latin typeface="Noto Sans Arabic"/>
                <a:cs typeface="Noto Sans Arabic"/>
                <a:ea typeface="Noto Sans Arabic"/>
              </a:rPr>
              <a:t>اعتمد القرار الأكاديمي</a:t>
            </a:r>
          </a:p>
        </p:txBody>
      </p:sp>
      <p:sp>
        <p:nvSpPr>
          <p:cNvPr id="38" name="TextBox 37"/>
          <p:cNvSpPr txBox="1"/>
          <p:nvPr/>
        </p:nvSpPr>
        <p:spPr>
          <a:xfrm>
            <a:off x="713231" y="4114800"/>
            <a:ext cx="2067229" cy="960120"/>
          </a:xfrm>
          <a:prstGeom prst="rect">
            <a:avLst/>
          </a:prstGeom>
          <a:noFill/>
        </p:spPr>
        <p:txBody>
          <a:bodyPr wrap="square" anchor="t" lIns="0" rIns="0" tIns="0" bIns="0">
            <a:spAutoFit/>
          </a:bodyPr>
          <a:lstStyle/>
          <a:p>
            <a:pPr algn="ctr" rtl="1">
              <a:lnSpc>
                <a:spcPct val="115000"/>
              </a:lnSpc>
              <a:spcBef>
                <a:spcPts val="0"/>
              </a:spcBef>
              <a:spcAft>
                <a:spcPts val="400"/>
              </a:spcAft>
            </a:pPr>
            <a:r>
              <a:rPr sz="1100" b="0" i="0">
                <a:solidFill>
                  <a:srgbClr val="221C57"/>
                </a:solidFill>
                <a:latin typeface="Noto Sans Arabic"/>
                <a:cs typeface="Noto Sans Arabic"/>
                <a:ea typeface="Noto Sans Arabic"/>
              </a:rPr>
              <a:t>بعد التحقق من المصادر تصبح الفجوة موثوقة وجاهزة لتتصدر مقترحك البحثي</a:t>
            </a:r>
          </a:p>
        </p:txBody>
      </p:sp>
      <p:sp>
        <p:nvSpPr>
          <p:cNvPr id="39" name="Rounded Rectangle 38"/>
          <p:cNvSpPr/>
          <p:nvPr/>
        </p:nvSpPr>
        <p:spPr>
          <a:xfrm>
            <a:off x="548640" y="5486400"/>
            <a:ext cx="11094415" cy="658368"/>
          </a:xfrm>
          <a:prstGeom prst="roundRect">
            <a:avLst>
              <a:gd name="adj" fmla="val 22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59" y="5596128"/>
            <a:ext cx="10545775" cy="45720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 القاعدة الذهبية: </a:t>
            </a:r>
            <a:r>
              <a:rPr sz="1250" b="0" i="0">
                <a:solidFill>
                  <a:srgbClr val="FFFFFF"/>
                </a:solidFill>
                <a:latin typeface="Noto Sans Arabic"/>
                <a:cs typeface="Noto Sans Arabic"/>
                <a:ea typeface="Noto Sans Arabic"/>
              </a:rPr>
              <a:t>الذكاء الاصطناعي يقترح والباحث يقرر — المراجعة البشرية للتحليل شرط أساسي لضمان دقة القرار الأكاديمي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10</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47857"/>
                </a:solidFill>
                <a:latin typeface="Noto Sans Arabic"/>
                <a:cs typeface="Noto Sans Arabic"/>
                <a:ea typeface="Noto Sans Arabic"/>
              </a:rPr>
              <a:t>EXPERT RESEARCHER STRATEGIES</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استراتيجيات الباحثين المحترفين</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47857"/>
              </a:gs>
              <a:gs pos="100000">
                <a:srgbClr val="34D399"/>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10</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38383" y="1764792"/>
            <a:ext cx="594360" cy="594360"/>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13" name="TextBox 12"/>
          <p:cNvSpPr txBox="1"/>
          <p:nvPr/>
        </p:nvSpPr>
        <p:spPr>
          <a:xfrm>
            <a:off x="822959" y="1700784"/>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6D28D9"/>
                </a:solidFill>
                <a:latin typeface="Noto Sans Arabic"/>
                <a:cs typeface="Noto Sans Arabic"/>
                <a:ea typeface="Noto Sans Arabic"/>
              </a:rPr>
              <a:t>اقرأ خاتمة الدراسات   </a:t>
            </a:r>
            <a:r>
              <a:rPr sz="1050" b="0" i="1">
                <a:solidFill>
                  <a:srgbClr val="6E6A8F"/>
                </a:solidFill>
                <a:latin typeface="Noto Sans Arabic"/>
                <a:cs typeface="Noto Sans Arabic"/>
                <a:ea typeface="Noto Sans Arabic"/>
              </a:rPr>
              <a:t>Conclusion Section</a:t>
            </a:r>
          </a:p>
        </p:txBody>
      </p:sp>
      <p:sp>
        <p:nvSpPr>
          <p:cNvPr id="14" name="TextBox 13"/>
          <p:cNvSpPr txBox="1"/>
          <p:nvPr/>
        </p:nvSpPr>
        <p:spPr>
          <a:xfrm>
            <a:off x="822959" y="2084832"/>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الباحثون غالباً يذكرون اقتراحات مستقبلية وفجوات صريحة في نهاية أبحاثهم — فجوات جاهزة وموثقة فاستثمرها!</a:t>
            </a:r>
          </a:p>
        </p:txBody>
      </p:sp>
      <p:sp>
        <p:nvSpPr>
          <p:cNvPr id="15" name="Rounded Rectangle 14"/>
          <p:cNvSpPr/>
          <p:nvPr/>
        </p:nvSpPr>
        <p:spPr>
          <a:xfrm>
            <a:off x="548640" y="2615184"/>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38383" y="2752344"/>
            <a:ext cx="594360" cy="594360"/>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17" name="TextBox 16"/>
          <p:cNvSpPr txBox="1"/>
          <p:nvPr/>
        </p:nvSpPr>
        <p:spPr>
          <a:xfrm>
            <a:off x="822959" y="2688336"/>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0D9488"/>
                </a:solidFill>
                <a:latin typeface="Noto Sans Arabic"/>
                <a:cs typeface="Noto Sans Arabic"/>
                <a:ea typeface="Noto Sans Arabic"/>
              </a:rPr>
              <a:t>اعمل خريطة للأدبيات   </a:t>
            </a:r>
            <a:r>
              <a:rPr sz="1050" b="0" i="1">
                <a:solidFill>
                  <a:srgbClr val="6E6A8F"/>
                </a:solidFill>
                <a:latin typeface="Noto Sans Arabic"/>
                <a:cs typeface="Noto Sans Arabic"/>
                <a:ea typeface="Noto Sans Arabic"/>
              </a:rPr>
              <a:t>Literature Mapping</a:t>
            </a:r>
          </a:p>
        </p:txBody>
      </p:sp>
      <p:sp>
        <p:nvSpPr>
          <p:cNvPr id="18" name="TextBox 17"/>
          <p:cNvSpPr txBox="1"/>
          <p:nvPr/>
        </p:nvSpPr>
        <p:spPr>
          <a:xfrm>
            <a:off x="822959" y="3072384"/>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صنّف الدراسات حسب: السكان، المنهج، الدولة، الزمن — الخانات الفارغة في الخريطة هي فجواتك المحتملة</a:t>
            </a:r>
          </a:p>
        </p:txBody>
      </p:sp>
      <p:sp>
        <p:nvSpPr>
          <p:cNvPr id="19" name="Rounded Rectangle 18"/>
          <p:cNvSpPr/>
          <p:nvPr/>
        </p:nvSpPr>
        <p:spPr>
          <a:xfrm>
            <a:off x="548640" y="3602736"/>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38383" y="3739896"/>
            <a:ext cx="594360" cy="594360"/>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21" name="TextBox 20"/>
          <p:cNvSpPr txBox="1"/>
          <p:nvPr/>
        </p:nvSpPr>
        <p:spPr>
          <a:xfrm>
            <a:off x="822959" y="3675888"/>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A21CAF"/>
                </a:solidFill>
                <a:latin typeface="Noto Sans Arabic"/>
                <a:cs typeface="Noto Sans Arabic"/>
                <a:ea typeface="Noto Sans Arabic"/>
              </a:rPr>
              <a:t>ابحث عن التناقضات   </a:t>
            </a:r>
            <a:r>
              <a:rPr sz="1050" b="0" i="1">
                <a:solidFill>
                  <a:srgbClr val="6E6A8F"/>
                </a:solidFill>
                <a:latin typeface="Noto Sans Arabic"/>
                <a:cs typeface="Noto Sans Arabic"/>
                <a:ea typeface="Noto Sans Arabic"/>
              </a:rPr>
              <a:t>Contradictions</a:t>
            </a:r>
          </a:p>
        </p:txBody>
      </p:sp>
      <p:sp>
        <p:nvSpPr>
          <p:cNvPr id="22" name="TextBox 21"/>
          <p:cNvSpPr txBox="1"/>
          <p:nvPr/>
        </p:nvSpPr>
        <p:spPr>
          <a:xfrm>
            <a:off x="822959" y="4059936"/>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التضارب بين نتائج الدراسات فجوة قوية وفرصة ذهبية — دراستك قد تكون الحكم الذي يحسم الخلاف</a:t>
            </a:r>
          </a:p>
        </p:txBody>
      </p:sp>
      <p:sp>
        <p:nvSpPr>
          <p:cNvPr id="23" name="Rounded Rectangle 22"/>
          <p:cNvSpPr/>
          <p:nvPr/>
        </p:nvSpPr>
        <p:spPr>
          <a:xfrm>
            <a:off x="548640" y="4590288"/>
            <a:ext cx="11094415" cy="86868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38383" y="4727448"/>
            <a:ext cx="594360" cy="594360"/>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b="1" i="0">
                <a:solidFill>
                  <a:srgbClr val="FFFFFF"/>
                </a:solidFill>
                <a:latin typeface="Noto Sans Arabic"/>
                <a:cs typeface="Noto Sans Arabic"/>
                <a:ea typeface="Noto Sans Arabic"/>
              </a:rPr>
              <a:t>❓</a:t>
            </a:r>
          </a:p>
        </p:txBody>
      </p:sp>
      <p:sp>
        <p:nvSpPr>
          <p:cNvPr id="25" name="TextBox 24"/>
          <p:cNvSpPr txBox="1"/>
          <p:nvPr/>
        </p:nvSpPr>
        <p:spPr>
          <a:xfrm>
            <a:off x="822959" y="4663440"/>
            <a:ext cx="981425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D97706"/>
                </a:solidFill>
                <a:latin typeface="Noto Sans Arabic"/>
                <a:cs typeface="Noto Sans Arabic"/>
                <a:ea typeface="Noto Sans Arabic"/>
              </a:rPr>
              <a:t>اسأل: ماذا لو؟   </a:t>
            </a:r>
            <a:r>
              <a:rPr sz="1050" b="0" i="1">
                <a:solidFill>
                  <a:srgbClr val="6E6A8F"/>
                </a:solidFill>
                <a:latin typeface="Noto Sans Arabic"/>
                <a:cs typeface="Noto Sans Arabic"/>
                <a:ea typeface="Noto Sans Arabic"/>
              </a:rPr>
              <a:t>What if?</a:t>
            </a:r>
          </a:p>
        </p:txBody>
      </p:sp>
      <p:sp>
        <p:nvSpPr>
          <p:cNvPr id="26" name="TextBox 25"/>
          <p:cNvSpPr txBox="1"/>
          <p:nvPr/>
        </p:nvSpPr>
        <p:spPr>
          <a:xfrm>
            <a:off x="822959" y="5047488"/>
            <a:ext cx="9814255" cy="384048"/>
          </a:xfrm>
          <a:prstGeom prst="rect">
            <a:avLst/>
          </a:prstGeom>
          <a:noFill/>
        </p:spPr>
        <p:txBody>
          <a:bodyPr wrap="square" anchor="t" lIns="0" rIns="0" tIns="0" bIns="0">
            <a:spAutoFit/>
          </a:bodyPr>
          <a:lstStyle/>
          <a:p>
            <a:pPr algn="r" rtl="1">
              <a:lnSpc>
                <a:spcPct val="110000"/>
              </a:lnSpc>
              <a:spcBef>
                <a:spcPts val="0"/>
              </a:spcBef>
              <a:spcAft>
                <a:spcPts val="400"/>
              </a:spcAft>
            </a:pPr>
            <a:r>
              <a:rPr sz="1200" b="0" i="0">
                <a:solidFill>
                  <a:srgbClr val="221C57"/>
                </a:solidFill>
                <a:latin typeface="Noto Sans Arabic"/>
                <a:cs typeface="Noto Sans Arabic"/>
                <a:ea typeface="Noto Sans Arabic"/>
              </a:rPr>
              <a:t>ماذا لو طبّقنا الدراسة نفسها على فئة عمرية مختلفة أو في دولة مختلفة؟ هنا غالباً تجد فجوة بحثية ممتازة</a:t>
            </a:r>
          </a:p>
        </p:txBody>
      </p:sp>
      <p:sp>
        <p:nvSpPr>
          <p:cNvPr id="27" name="Rounded Rectangle 26"/>
          <p:cNvSpPr/>
          <p:nvPr/>
        </p:nvSpPr>
        <p:spPr>
          <a:xfrm>
            <a:off x="548640" y="5650992"/>
            <a:ext cx="11094415" cy="566928"/>
          </a:xfrm>
          <a:prstGeom prst="roundRect">
            <a:avLst>
              <a:gd name="adj" fmla="val 30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59" y="5760720"/>
            <a:ext cx="1054577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FBBF24"/>
                </a:solidFill>
                <a:latin typeface="Noto Sans Arabic"/>
                <a:cs typeface="Noto Sans Arabic"/>
                <a:ea typeface="Noto Sans Arabic"/>
              </a:rPr>
              <a:t>💡 نصيحة ذهبية: </a:t>
            </a:r>
            <a:r>
              <a:rPr sz="1250" b="0" i="0">
                <a:solidFill>
                  <a:srgbClr val="FFFFFF"/>
                </a:solidFill>
                <a:latin typeface="Noto Sans Arabic"/>
                <a:cs typeface="Noto Sans Arabic"/>
                <a:ea typeface="Noto Sans Arabic"/>
              </a:rPr>
              <a:t>اقرأ آخر ٢٠ ورقة في مجلتك المستهدفة — الأنماط المتكررة ستكشف لك الفراغات بوضوح تام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11</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Noto Sans Arabic"/>
                <a:cs typeface="Noto Sans Arabic"/>
                <a:ea typeface="Noto Sans Arabic"/>
              </a:rPr>
              <a:t>CRITICAL THINKING FRAMEWORK</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التفكير النقدي عند تحليل الدراسات</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11</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55867"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6D28D9"/>
                </a:solidFill>
                <a:latin typeface="Noto Sans Arabic"/>
                <a:cs typeface="Noto Sans Arabic"/>
                <a:ea typeface="Noto Sans Arabic"/>
              </a:rPr>
              <a:t>❓ الأسئلة الستة الذهبية</a:t>
            </a:r>
          </a:p>
        </p:txBody>
      </p:sp>
      <p:sp>
        <p:nvSpPr>
          <p:cNvPr id="14" name="TextBox 13"/>
          <p:cNvSpPr txBox="1"/>
          <p:nvPr/>
        </p:nvSpPr>
        <p:spPr>
          <a:xfrm>
            <a:off x="6575907" y="2377440"/>
            <a:ext cx="4747107" cy="3108960"/>
          </a:xfrm>
          <a:prstGeom prst="rect">
            <a:avLst/>
          </a:prstGeom>
          <a:noFill/>
        </p:spPr>
        <p:txBody>
          <a:bodyPr wrap="square" anchor="t" lIns="0" rIns="0" tIns="0" bIns="0">
            <a:spAutoFit/>
          </a:bodyPr>
          <a:lstStyle/>
          <a:p>
            <a:pPr algn="r" rtl="1">
              <a:lnSpc>
                <a:spcPct val="110000"/>
              </a:lnSpc>
              <a:spcBef>
                <a:spcPts val="0"/>
              </a:spcBef>
              <a:spcAft>
                <a:spcPts val="1000"/>
              </a:spcAft>
            </a:pPr>
            <a:r>
              <a:rPr sz="1200" b="0" i="0">
                <a:solidFill>
                  <a:srgbClr val="A21CAF"/>
                </a:solidFill>
                <a:latin typeface="Noto Sans Arabic"/>
                <a:cs typeface="Noto Sans Arabic"/>
                <a:ea typeface="Noto Sans Arabic"/>
              </a:rPr>
              <a:t>●  </a:t>
            </a:r>
            <a:r>
              <a:rPr sz="1300" b="1" i="0">
                <a:solidFill>
                  <a:srgbClr val="A21CAF"/>
                </a:solidFill>
                <a:latin typeface="Noto Sans Arabic"/>
                <a:cs typeface="Noto Sans Arabic"/>
                <a:ea typeface="Noto Sans Arabic"/>
              </a:rPr>
              <a:t>Who — مَن:  </a:t>
            </a:r>
            <a:r>
              <a:rPr sz="1250" b="0" i="0">
                <a:solidFill>
                  <a:srgbClr val="221C57"/>
                </a:solidFill>
                <a:latin typeface="Noto Sans Arabic"/>
                <a:cs typeface="Noto Sans Arabic"/>
                <a:ea typeface="Noto Sans Arabic"/>
              </a:rPr>
              <a:t>الذي تمت دراسته؟ (السكان والعينة)</a:t>
            </a:r>
          </a:p>
          <a:p>
            <a:pPr algn="r" rtl="1">
              <a:lnSpc>
                <a:spcPct val="110000"/>
              </a:lnSpc>
              <a:spcBef>
                <a:spcPts val="0"/>
              </a:spcBef>
              <a:spcAft>
                <a:spcPts val="1000"/>
              </a:spcAft>
            </a:pPr>
            <a:r>
              <a:rPr sz="1200" b="0" i="0">
                <a:solidFill>
                  <a:srgbClr val="D97706"/>
                </a:solidFill>
                <a:latin typeface="Noto Sans Arabic"/>
                <a:cs typeface="Noto Sans Arabic"/>
                <a:ea typeface="Noto Sans Arabic"/>
              </a:rPr>
              <a:t>●  </a:t>
            </a:r>
            <a:r>
              <a:rPr sz="1300" b="1" i="0">
                <a:solidFill>
                  <a:srgbClr val="D97706"/>
                </a:solidFill>
                <a:latin typeface="Noto Sans Arabic"/>
                <a:cs typeface="Noto Sans Arabic"/>
                <a:ea typeface="Noto Sans Arabic"/>
              </a:rPr>
              <a:t>What — ماذا:  </a:t>
            </a:r>
            <a:r>
              <a:rPr sz="1250" b="0" i="0">
                <a:solidFill>
                  <a:srgbClr val="221C57"/>
                </a:solidFill>
                <a:latin typeface="Noto Sans Arabic"/>
                <a:cs typeface="Noto Sans Arabic"/>
                <a:ea typeface="Noto Sans Arabic"/>
              </a:rPr>
              <a:t>قِيس بالضبط؟ (المتغيرات والأدوات)</a:t>
            </a:r>
          </a:p>
          <a:p>
            <a:pPr algn="r" rtl="1">
              <a:lnSpc>
                <a:spcPct val="110000"/>
              </a:lnSpc>
              <a:spcBef>
                <a:spcPts val="0"/>
              </a:spcBef>
              <a:spcAft>
                <a:spcPts val="1000"/>
              </a:spcAft>
            </a:pPr>
            <a:r>
              <a:rPr sz="1200" b="0" i="0">
                <a:solidFill>
                  <a:srgbClr val="0D9488"/>
                </a:solidFill>
                <a:latin typeface="Noto Sans Arabic"/>
                <a:cs typeface="Noto Sans Arabic"/>
                <a:ea typeface="Noto Sans Arabic"/>
              </a:rPr>
              <a:t>●  </a:t>
            </a:r>
            <a:r>
              <a:rPr sz="1300" b="1" i="0">
                <a:solidFill>
                  <a:srgbClr val="0D9488"/>
                </a:solidFill>
                <a:latin typeface="Noto Sans Arabic"/>
                <a:cs typeface="Noto Sans Arabic"/>
                <a:ea typeface="Noto Sans Arabic"/>
              </a:rPr>
              <a:t>Where — أين:  </a:t>
            </a:r>
            <a:r>
              <a:rPr sz="1250" b="0" i="0">
                <a:solidFill>
                  <a:srgbClr val="221C57"/>
                </a:solidFill>
                <a:latin typeface="Noto Sans Arabic"/>
                <a:cs typeface="Noto Sans Arabic"/>
                <a:ea typeface="Noto Sans Arabic"/>
              </a:rPr>
              <a:t>أُجري البحث؟ (السياق الجغرافي والثقافي)</a:t>
            </a:r>
          </a:p>
          <a:p>
            <a:pPr algn="r" rtl="1">
              <a:lnSpc>
                <a:spcPct val="110000"/>
              </a:lnSpc>
              <a:spcBef>
                <a:spcPts val="0"/>
              </a:spcBef>
              <a:spcAft>
                <a:spcPts val="1000"/>
              </a:spcAft>
            </a:pPr>
            <a:r>
              <a:rPr sz="1200" b="0" i="0">
                <a:solidFill>
                  <a:srgbClr val="6D28D9"/>
                </a:solidFill>
                <a:latin typeface="Noto Sans Arabic"/>
                <a:cs typeface="Noto Sans Arabic"/>
                <a:ea typeface="Noto Sans Arabic"/>
              </a:rPr>
              <a:t>●  </a:t>
            </a:r>
            <a:r>
              <a:rPr sz="1300" b="1" i="0">
                <a:solidFill>
                  <a:srgbClr val="6D28D9"/>
                </a:solidFill>
                <a:latin typeface="Noto Sans Arabic"/>
                <a:cs typeface="Noto Sans Arabic"/>
                <a:ea typeface="Noto Sans Arabic"/>
              </a:rPr>
              <a:t>When — متى:  </a:t>
            </a:r>
            <a:r>
              <a:rPr sz="1250" b="0" i="0">
                <a:solidFill>
                  <a:srgbClr val="221C57"/>
                </a:solidFill>
                <a:latin typeface="Noto Sans Arabic"/>
                <a:cs typeface="Noto Sans Arabic"/>
                <a:ea typeface="Noto Sans Arabic"/>
              </a:rPr>
              <a:t>نُشرت الدراسة؟ (الزمن ومدى الحداثة)</a:t>
            </a:r>
          </a:p>
          <a:p>
            <a:pPr algn="r" rtl="1">
              <a:lnSpc>
                <a:spcPct val="110000"/>
              </a:lnSpc>
              <a:spcBef>
                <a:spcPts val="0"/>
              </a:spcBef>
              <a:spcAft>
                <a:spcPts val="1000"/>
              </a:spcAft>
            </a:pPr>
            <a:r>
              <a:rPr sz="1200" b="0" i="0">
                <a:solidFill>
                  <a:srgbClr val="047857"/>
                </a:solidFill>
                <a:latin typeface="Noto Sans Arabic"/>
                <a:cs typeface="Noto Sans Arabic"/>
                <a:ea typeface="Noto Sans Arabic"/>
              </a:rPr>
              <a:t>●  </a:t>
            </a:r>
            <a:r>
              <a:rPr sz="1300" b="1" i="0">
                <a:solidFill>
                  <a:srgbClr val="047857"/>
                </a:solidFill>
                <a:latin typeface="Noto Sans Arabic"/>
                <a:cs typeface="Noto Sans Arabic"/>
                <a:ea typeface="Noto Sans Arabic"/>
              </a:rPr>
              <a:t>How — كيف:  </a:t>
            </a:r>
            <a:r>
              <a:rPr sz="1250" b="0" i="0">
                <a:solidFill>
                  <a:srgbClr val="221C57"/>
                </a:solidFill>
                <a:latin typeface="Noto Sans Arabic"/>
                <a:cs typeface="Noto Sans Arabic"/>
                <a:ea typeface="Noto Sans Arabic"/>
              </a:rPr>
              <a:t>تمت الدراسة؟ (المنهجية والتصميم)</a:t>
            </a:r>
          </a:p>
          <a:p>
            <a:pPr algn="r" rtl="1">
              <a:lnSpc>
                <a:spcPct val="110000"/>
              </a:lnSpc>
              <a:spcBef>
                <a:spcPts val="0"/>
              </a:spcBef>
              <a:spcAft>
                <a:spcPts val="1000"/>
              </a:spcAft>
            </a:pPr>
            <a:r>
              <a:rPr sz="1200" b="0" i="0">
                <a:solidFill>
                  <a:srgbClr val="BE123C"/>
                </a:solidFill>
                <a:latin typeface="Noto Sans Arabic"/>
                <a:cs typeface="Noto Sans Arabic"/>
                <a:ea typeface="Noto Sans Arabic"/>
              </a:rPr>
              <a:t>●  </a:t>
            </a:r>
            <a:r>
              <a:rPr sz="1300" b="1" i="0">
                <a:solidFill>
                  <a:srgbClr val="BE123C"/>
                </a:solidFill>
                <a:latin typeface="Noto Sans Arabic"/>
                <a:cs typeface="Noto Sans Arabic"/>
                <a:ea typeface="Noto Sans Arabic"/>
              </a:rPr>
              <a:t>Why — لماذا:  </a:t>
            </a:r>
            <a:r>
              <a:rPr sz="1250" b="0" i="0">
                <a:solidFill>
                  <a:srgbClr val="221C57"/>
                </a:solidFill>
                <a:latin typeface="Noto Sans Arabic"/>
                <a:cs typeface="Noto Sans Arabic"/>
                <a:ea typeface="Noto Sans Arabic"/>
              </a:rPr>
              <a:t>توقفت الدراسة؟ (حدودها المعلنة)</a:t>
            </a:r>
          </a:p>
        </p:txBody>
      </p:sp>
      <p:sp>
        <p:nvSpPr>
          <p:cNvPr id="15" name="Rounded Rectangle 14"/>
          <p:cNvSpPr/>
          <p:nvPr/>
        </p:nvSpPr>
        <p:spPr>
          <a:xfrm>
            <a:off x="548640" y="1600200"/>
            <a:ext cx="5387187" cy="393192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810512"/>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D9488"/>
                </a:solidFill>
                <a:latin typeface="Noto Sans Arabic"/>
                <a:cs typeface="Noto Sans Arabic"/>
                <a:ea typeface="Noto Sans Arabic"/>
              </a:rPr>
              <a:t>🔎 عبارات تدل على فجوة قابلة للبحث</a:t>
            </a:r>
          </a:p>
        </p:txBody>
      </p:sp>
      <p:sp>
        <p:nvSpPr>
          <p:cNvPr id="18" name="TextBox 17"/>
          <p:cNvSpPr txBox="1"/>
          <p:nvPr/>
        </p:nvSpPr>
        <p:spPr>
          <a:xfrm>
            <a:off x="868680" y="2377440"/>
            <a:ext cx="4747107" cy="3108960"/>
          </a:xfrm>
          <a:prstGeom prst="rect">
            <a:avLst/>
          </a:prstGeom>
          <a:noFill/>
        </p:spPr>
        <p:txBody>
          <a:bodyPr wrap="square" anchor="t" lIns="0" rIns="0" tIns="0" bIns="0">
            <a:spAutoFit/>
          </a:bodyPr>
          <a:lstStyle/>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"This area has not been studied…"</a:t>
            </a:r>
            <a:r>
              <a:rPr sz="1100" b="0" i="0">
                <a:solidFill>
                  <a:srgbClr val="6E6A8F"/>
                </a:solidFill>
                <a:latin typeface="Noto Sans Arabic"/>
                <a:cs typeface="Noto Sans Arabic"/>
                <a:ea typeface="Noto Sans Arabic"/>
              </a:rPr>
              <a:t>  هذه المنطقة لم تُدرس بعد — غياب صريح</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"Results are conflicting…"</a:t>
            </a:r>
            <a:r>
              <a:rPr sz="1100" b="0" i="0">
                <a:solidFill>
                  <a:srgbClr val="6E6A8F"/>
                </a:solidFill>
                <a:latin typeface="Noto Sans Arabic"/>
                <a:cs typeface="Noto Sans Arabic"/>
                <a:ea typeface="Noto Sans Arabic"/>
              </a:rPr>
              <a:t>  النتائج متضاربة — تناقض يستدعي الحسم</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"The sample does not represent…"</a:t>
            </a:r>
            <a:r>
              <a:rPr sz="1100" b="0" i="0">
                <a:solidFill>
                  <a:srgbClr val="6E6A8F"/>
                </a:solidFill>
                <a:latin typeface="Noto Sans Arabic"/>
                <a:cs typeface="Noto Sans Arabic"/>
                <a:ea typeface="Noto Sans Arabic"/>
              </a:rPr>
              <a:t>  العينة لا تمثّل — قصور في التعميم</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"Further research is needed…"</a:t>
            </a:r>
            <a:r>
              <a:rPr sz="1100" b="0" i="0">
                <a:solidFill>
                  <a:srgbClr val="6E6A8F"/>
                </a:solidFill>
                <a:latin typeface="Noto Sans Arabic"/>
                <a:cs typeface="Noto Sans Arabic"/>
                <a:ea typeface="Noto Sans Arabic"/>
              </a:rPr>
              <a:t>  هناك حاجة لمزيد من البحث — دعوة مباشرة</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"Only quantitative methods were used…"</a:t>
            </a:r>
            <a:r>
              <a:rPr sz="1100" b="0" i="0">
                <a:solidFill>
                  <a:srgbClr val="6E6A8F"/>
                </a:solidFill>
                <a:latin typeface="Noto Sans Arabic"/>
                <a:cs typeface="Noto Sans Arabic"/>
                <a:ea typeface="Noto Sans Arabic"/>
              </a:rPr>
              <a:t>  اقتصار على منهج واحد — فجوة منهجية</a:t>
            </a:r>
          </a:p>
          <a:p>
            <a:pPr algn="r" rtl="1">
              <a:lnSpc>
                <a:spcPct val="110000"/>
              </a:lnSpc>
              <a:spcBef>
                <a:spcPts val="0"/>
              </a:spcBef>
              <a:spcAft>
                <a:spcPts val="900"/>
              </a:spcAft>
            </a:pPr>
            <a:r>
              <a:rPr sz="1200" b="1" i="0">
                <a:solidFill>
                  <a:srgbClr val="0D9488"/>
                </a:solidFill>
                <a:latin typeface="Noto Sans Arabic"/>
                <a:cs typeface="Noto Sans Arabic"/>
                <a:ea typeface="Noto Sans Arabic"/>
              </a:rPr>
              <a:t>✔  </a:t>
            </a:r>
            <a:r>
              <a:rPr sz="1150" b="1" i="1">
                <a:solidFill>
                  <a:srgbClr val="1D4ED8"/>
                </a:solidFill>
                <a:latin typeface="Noto Sans Arabic"/>
                <a:cs typeface="Noto Sans Arabic"/>
                <a:ea typeface="Noto Sans Arabic"/>
              </a:rPr>
              <a:t>"Before 2020…"</a:t>
            </a:r>
            <a:r>
              <a:rPr sz="1100" b="0" i="0">
                <a:solidFill>
                  <a:srgbClr val="6E6A8F"/>
                </a:solidFill>
                <a:latin typeface="Noto Sans Arabic"/>
                <a:cs typeface="Noto Sans Arabic"/>
                <a:ea typeface="Noto Sans Arabic"/>
              </a:rPr>
              <a:t>  بيانات قديمة — فجوة زمنية محتملة</a:t>
            </a:r>
          </a:p>
        </p:txBody>
      </p:sp>
      <p:sp>
        <p:nvSpPr>
          <p:cNvPr id="19" name="Rounded Rectangle 18"/>
          <p:cNvSpPr/>
          <p:nvPr/>
        </p:nvSpPr>
        <p:spPr>
          <a:xfrm>
            <a:off x="548640" y="5715000"/>
            <a:ext cx="11094415" cy="530352"/>
          </a:xfrm>
          <a:prstGeom prst="roundRect">
            <a:avLst>
              <a:gd name="adj" fmla="val 30000"/>
            </a:avLst>
          </a:prstGeom>
          <a:solidFill>
            <a:srgbClr val="F7ECF8"/>
          </a:solidFill>
          <a:ln w="12700">
            <a:solidFill>
              <a:srgbClr val="A21C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815584"/>
            <a:ext cx="10545775" cy="347472"/>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Noto Sans Arabic"/>
                <a:cs typeface="Noto Sans Arabic"/>
                <a:ea typeface="Noto Sans Arabic"/>
              </a:rPr>
              <a:t>«التفكير النقدي لا يعني أن ننتقد الدراسات السابقة — بل أن نبني عليها ونطوّرها»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12</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0D9488"/>
                </a:solidFill>
                <a:latin typeface="Noto Sans Arabic"/>
                <a:cs typeface="Noto Sans Arabic"/>
                <a:ea typeface="Noto Sans Arabic"/>
              </a:rPr>
              <a:t>STRONG GAP VS. WEAK GAP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الفجوة القوية والفجوة الضعيفة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0D9488"/>
              </a:gs>
              <a:gs pos="100000">
                <a:srgbClr val="2DD4B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12</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55867"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55867" y="1600200"/>
            <a:ext cx="5387187" cy="109728"/>
          </a:xfrm>
          <a:prstGeom prst="roundRect">
            <a:avLst>
              <a:gd name="adj" fmla="val 100000"/>
            </a:avLst>
          </a:prstGeom>
          <a:ln>
            <a:noFill/>
          </a:ln>
          <a:effectLst/>
          <a:gradFill rotWithShape="1">
            <a:gsLst>
              <a:gs pos="0">
                <a:srgbClr val="047857"/>
              </a:gs>
              <a:gs pos="100000">
                <a:srgbClr val="34D39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0187"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047857"/>
                </a:solidFill>
                <a:latin typeface="Noto Sans Arabic"/>
                <a:cs typeface="Noto Sans Arabic"/>
                <a:ea typeface="Noto Sans Arabic"/>
              </a:rPr>
              <a:t>💪 الفجوة القوية — Strong Gap</a:t>
            </a:r>
          </a:p>
        </p:txBody>
      </p:sp>
      <p:sp>
        <p:nvSpPr>
          <p:cNvPr id="14" name="TextBox 13"/>
          <p:cNvSpPr txBox="1"/>
          <p:nvPr/>
        </p:nvSpPr>
        <p:spPr>
          <a:xfrm>
            <a:off x="6575907"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مدعومة بالأدلة</a:t>
            </a:r>
            <a:r>
              <a:rPr sz="1150" b="0" i="0">
                <a:solidFill>
                  <a:srgbClr val="6E6A8F"/>
                </a:solidFill>
                <a:latin typeface="Noto Sans Arabic"/>
                <a:cs typeface="Noto Sans Arabic"/>
                <a:ea typeface="Noto Sans Arabic"/>
              </a:rPr>
              <a:t>  —  تستند إلى مراجعة أدبيات حقيقية تثبت الغياب</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محددة وقابلة للقياس</a:t>
            </a:r>
            <a:r>
              <a:rPr sz="1150" b="0" i="0">
                <a:solidFill>
                  <a:srgbClr val="6E6A8F"/>
                </a:solidFill>
                <a:latin typeface="Noto Sans Arabic"/>
                <a:cs typeface="Noto Sans Arabic"/>
                <a:ea typeface="Noto Sans Arabic"/>
              </a:rPr>
              <a:t>  —  موضوع + فئة + سياق + إطار زمني واضح</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لها قيمة علمية وعملية</a:t>
            </a:r>
            <a:r>
              <a:rPr sz="1150" b="0" i="0">
                <a:solidFill>
                  <a:srgbClr val="6E6A8F"/>
                </a:solidFill>
                <a:latin typeface="Noto Sans Arabic"/>
                <a:cs typeface="Noto Sans Arabic"/>
                <a:ea typeface="Noto Sans Arabic"/>
              </a:rPr>
              <a:t>  —  سدّها يغيّر فهماً علمياً أو ممارسة واقعية</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قابلة للمعالجة</a:t>
            </a:r>
            <a:r>
              <a:rPr sz="1150" b="0" i="0">
                <a:solidFill>
                  <a:srgbClr val="6E6A8F"/>
                </a:solidFill>
                <a:latin typeface="Noto Sans Arabic"/>
                <a:cs typeface="Noto Sans Arabic"/>
                <a:ea typeface="Noto Sans Arabic"/>
              </a:rPr>
              <a:t>  —  يمكن تصميم دراسة واقعية وقابلة للتنفيذ لسدّها</a:t>
            </a:r>
          </a:p>
          <a:p>
            <a:pPr algn="r" rtl="1">
              <a:lnSpc>
                <a:spcPct val="110000"/>
              </a:lnSpc>
              <a:spcBef>
                <a:spcPts val="0"/>
              </a:spcBef>
              <a:spcAft>
                <a:spcPts val="900"/>
              </a:spcAft>
            </a:pPr>
            <a:r>
              <a:rPr sz="1300" b="1" i="0">
                <a:solidFill>
                  <a:srgbClr val="047857"/>
                </a:solidFill>
                <a:latin typeface="Noto Sans Arabic"/>
                <a:cs typeface="Noto Sans Arabic"/>
                <a:ea typeface="Noto Sans Arabic"/>
              </a:rPr>
              <a:t>✔  </a:t>
            </a:r>
            <a:r>
              <a:rPr sz="1300" b="1" i="0">
                <a:solidFill>
                  <a:srgbClr val="221C57"/>
                </a:solidFill>
                <a:latin typeface="Noto Sans Arabic"/>
                <a:cs typeface="Noto Sans Arabic"/>
                <a:ea typeface="Noto Sans Arabic"/>
              </a:rPr>
              <a:t>مرتبطة بسياق محدد</a:t>
            </a:r>
            <a:r>
              <a:rPr sz="1150" b="0" i="0">
                <a:solidFill>
                  <a:srgbClr val="6E6A8F"/>
                </a:solidFill>
                <a:latin typeface="Noto Sans Arabic"/>
                <a:cs typeface="Noto Sans Arabic"/>
                <a:ea typeface="Noto Sans Arabic"/>
              </a:rPr>
              <a:t>  —  بيئة أو مجتمع أو قطاع معيّن — لا عموميات</a:t>
            </a:r>
          </a:p>
        </p:txBody>
      </p:sp>
      <p:sp>
        <p:nvSpPr>
          <p:cNvPr id="15" name="Rounded Rectangle 14"/>
          <p:cNvSpPr/>
          <p:nvPr/>
        </p:nvSpPr>
        <p:spPr>
          <a:xfrm>
            <a:off x="548640" y="1600200"/>
            <a:ext cx="5387187" cy="3520440"/>
          </a:xfrm>
          <a:prstGeom prst="roundRect">
            <a:avLst>
              <a:gd name="adj" fmla="val 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1600200"/>
            <a:ext cx="5387187" cy="109728"/>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1792224"/>
            <a:ext cx="4838547" cy="411480"/>
          </a:xfrm>
          <a:prstGeom prst="rect">
            <a:avLst/>
          </a:prstGeom>
          <a:noFill/>
        </p:spPr>
        <p:txBody>
          <a:bodyPr wrap="square" anchor="t" lIns="0" rIns="0" tIns="0" bIns="0">
            <a:spAutoFit/>
          </a:bodyPr>
          <a:lstStyle/>
          <a:p>
            <a:pPr algn="r" rtl="1">
              <a:lnSpc>
                <a:spcPct val="105000"/>
              </a:lnSpc>
              <a:spcBef>
                <a:spcPts val="0"/>
              </a:spcBef>
              <a:spcAft>
                <a:spcPts val="400"/>
              </a:spcAft>
            </a:pPr>
            <a:r>
              <a:rPr sz="1600" b="1" i="0">
                <a:solidFill>
                  <a:srgbClr val="BE123C"/>
                </a:solidFill>
                <a:latin typeface="Noto Sans Arabic"/>
                <a:cs typeface="Noto Sans Arabic"/>
                <a:ea typeface="Noto Sans Arabic"/>
              </a:rPr>
              <a:t>⚠️ الفجوة الضعيفة — Weak Gap</a:t>
            </a:r>
          </a:p>
        </p:txBody>
      </p:sp>
      <p:sp>
        <p:nvSpPr>
          <p:cNvPr id="18" name="TextBox 17"/>
          <p:cNvSpPr txBox="1"/>
          <p:nvPr/>
        </p:nvSpPr>
        <p:spPr>
          <a:xfrm>
            <a:off x="868680" y="2331720"/>
            <a:ext cx="4747107" cy="2743200"/>
          </a:xfrm>
          <a:prstGeom prst="rect">
            <a:avLst/>
          </a:prstGeom>
          <a:noFill/>
        </p:spPr>
        <p:txBody>
          <a:bodyPr wrap="square" anchor="t" lIns="0" rIns="0" tIns="0" bIns="0">
            <a:spAutoFit/>
          </a:bodyPr>
          <a:lstStyle/>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عامة جداً وغير واضحة</a:t>
            </a:r>
            <a:r>
              <a:rPr sz="1150" b="0" i="0">
                <a:solidFill>
                  <a:srgbClr val="6E6A8F"/>
                </a:solidFill>
                <a:latin typeface="Noto Sans Arabic"/>
                <a:cs typeface="Noto Sans Arabic"/>
                <a:ea typeface="Noto Sans Arabic"/>
              </a:rPr>
              <a:t>  —  بلا موضوع محدد أو سياق أو حدود</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غير مدعومة بمراجعة كافية</a:t>
            </a:r>
            <a:r>
              <a:rPr sz="1150" b="0" i="0">
                <a:solidFill>
                  <a:srgbClr val="6E6A8F"/>
                </a:solidFill>
                <a:latin typeface="Noto Sans Arabic"/>
                <a:cs typeface="Noto Sans Arabic"/>
                <a:ea typeface="Noto Sans Arabic"/>
              </a:rPr>
              <a:t>  —  انطباع شخصي وليس مسحاً منهجياً</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«لم يدرسها أحد» بلا دليل</a:t>
            </a:r>
            <a:r>
              <a:rPr sz="1150" b="0" i="0">
                <a:solidFill>
                  <a:srgbClr val="6E6A8F"/>
                </a:solidFill>
                <a:latin typeface="Noto Sans Arabic"/>
                <a:cs typeface="Noto Sans Arabic"/>
                <a:ea typeface="Noto Sans Arabic"/>
              </a:rPr>
              <a:t>  —  ادعاء يسهل دحضه بدراسة واحدة مضادة</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لا تضيف قيمة للمعرفة</a:t>
            </a:r>
            <a:r>
              <a:rPr sz="1150" b="0" i="0">
                <a:solidFill>
                  <a:srgbClr val="6E6A8F"/>
                </a:solidFill>
                <a:latin typeface="Noto Sans Arabic"/>
                <a:cs typeface="Noto Sans Arabic"/>
                <a:ea typeface="Noto Sans Arabic"/>
              </a:rPr>
              <a:t>  —  سدّها لا يغيّر شيئاً يُذكر علمياً أو عملياً</a:t>
            </a:r>
          </a:p>
          <a:p>
            <a:pPr algn="r" rtl="1">
              <a:lnSpc>
                <a:spcPct val="110000"/>
              </a:lnSpc>
              <a:spcBef>
                <a:spcPts val="0"/>
              </a:spcBef>
              <a:spcAft>
                <a:spcPts val="900"/>
              </a:spcAft>
            </a:pPr>
            <a:r>
              <a:rPr sz="1300" b="1" i="0">
                <a:solidFill>
                  <a:srgbClr val="BE123C"/>
                </a:solidFill>
                <a:latin typeface="Noto Sans Arabic"/>
                <a:cs typeface="Noto Sans Arabic"/>
                <a:ea typeface="Noto Sans Arabic"/>
              </a:rPr>
              <a:t>✘  </a:t>
            </a:r>
            <a:r>
              <a:rPr sz="1300" b="1" i="0">
                <a:solidFill>
                  <a:srgbClr val="221C57"/>
                </a:solidFill>
                <a:latin typeface="Noto Sans Arabic"/>
                <a:cs typeface="Noto Sans Arabic"/>
                <a:ea typeface="Noto Sans Arabic"/>
              </a:rPr>
              <a:t>تكرار لدراسات سابقة</a:t>
            </a:r>
            <a:r>
              <a:rPr sz="1150" b="0" i="0">
                <a:solidFill>
                  <a:srgbClr val="6E6A8F"/>
                </a:solidFill>
                <a:latin typeface="Noto Sans Arabic"/>
                <a:cs typeface="Noto Sans Arabic"/>
                <a:ea typeface="Noto Sans Arabic"/>
              </a:rPr>
              <a:t>  —  إعادة إنتاج مقنَّعة وليست بحثاً جديداً</a:t>
            </a:r>
          </a:p>
        </p:txBody>
      </p:sp>
      <p:sp>
        <p:nvSpPr>
          <p:cNvPr id="19" name="Rounded Rectangle 18"/>
          <p:cNvSpPr/>
          <p:nvPr/>
        </p:nvSpPr>
        <p:spPr>
          <a:xfrm>
            <a:off x="548640" y="5303520"/>
            <a:ext cx="11094415" cy="914400"/>
          </a:xfrm>
          <a:prstGeom prst="roundRect">
            <a:avLst>
              <a:gd name="adj" fmla="val 15000"/>
            </a:avLst>
          </a:prstGeom>
          <a:solidFill>
            <a:srgbClr val="FFFFFF"/>
          </a:solidFill>
          <a:ln w="15240">
            <a:solidFill>
              <a:srgbClr val="D97706"/>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5394960"/>
            <a:ext cx="10545775" cy="777240"/>
          </a:xfrm>
          <a:prstGeom prst="rect">
            <a:avLst/>
          </a:prstGeom>
          <a:noFill/>
        </p:spPr>
        <p:txBody>
          <a:bodyPr wrap="square" anchor="t" lIns="0" rIns="0" tIns="0" bIns="0">
            <a:spAutoFit/>
          </a:bodyPr>
          <a:lstStyle/>
          <a:p>
            <a:pPr algn="r" rtl="1">
              <a:lnSpc>
                <a:spcPct val="105000"/>
              </a:lnSpc>
              <a:spcBef>
                <a:spcPts val="0"/>
              </a:spcBef>
              <a:spcAft>
                <a:spcPts val="400"/>
              </a:spcAft>
            </a:pPr>
            <a:r>
              <a:rPr sz="1250" b="1" i="0">
                <a:solidFill>
                  <a:srgbClr val="D97706"/>
                </a:solidFill>
                <a:latin typeface="Noto Sans Arabic"/>
                <a:cs typeface="Noto Sans Arabic"/>
                <a:ea typeface="Noto Sans Arabic"/>
              </a:rPr>
              <a:t>🧪 مثال مقارن —  </a:t>
            </a:r>
            <a:r>
              <a:rPr sz="1250" b="1" i="0">
                <a:solidFill>
                  <a:srgbClr val="BE123C"/>
                </a:solidFill>
                <a:latin typeface="Noto Sans Arabic"/>
                <a:cs typeface="Noto Sans Arabic"/>
                <a:ea typeface="Noto Sans Arabic"/>
              </a:rPr>
              <a:t>ضعيفة: </a:t>
            </a:r>
            <a:r>
              <a:rPr sz="1200" b="0" i="0">
                <a:solidFill>
                  <a:srgbClr val="221C57"/>
                </a:solidFill>
                <a:latin typeface="Noto Sans Arabic"/>
                <a:cs typeface="Noto Sans Arabic"/>
                <a:ea typeface="Noto Sans Arabic"/>
              </a:rPr>
              <a:t>«الصحة النفسية لم تُدرس بشكل كافٍ»  —  عامة، بلا فئة ولا سياق ولا زمن</a:t>
            </a:r>
          </a:p>
          <a:p>
            <a:pPr algn="r" rtl="1">
              <a:lnSpc>
                <a:spcPct val="105000"/>
              </a:lnSpc>
              <a:spcBef>
                <a:spcPts val="0"/>
              </a:spcBef>
              <a:spcAft>
                <a:spcPts val="400"/>
              </a:spcAft>
            </a:pPr>
            <a:r>
              <a:rPr sz="1250" b="1" i="0">
                <a:solidFill>
                  <a:srgbClr val="047857"/>
                </a:solidFill>
                <a:latin typeface="Noto Sans Arabic"/>
                <a:cs typeface="Noto Sans Arabic"/>
                <a:ea typeface="Noto Sans Arabic"/>
              </a:rPr>
              <a:t>قوية: </a:t>
            </a:r>
            <a:r>
              <a:rPr sz="1200" b="1" i="0">
                <a:solidFill>
                  <a:srgbClr val="221C57"/>
                </a:solidFill>
                <a:latin typeface="Noto Sans Arabic"/>
                <a:cs typeface="Noto Sans Arabic"/>
                <a:ea typeface="Noto Sans Arabic"/>
              </a:rPr>
              <a:t>«لا توجد دراسة حول تأثير الدراسة عن بُعد على القلق عند طلاب الجامعات العربية بعد 2020»  —  واضحة وقابلة للبحث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13</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BE123C"/>
                </a:solidFill>
                <a:latin typeface="Noto Sans Arabic"/>
                <a:cs typeface="Noto Sans Arabic"/>
                <a:ea typeface="Noto Sans Arabic"/>
              </a:rPr>
              <a:t>A 7-STEP PRACTICAL ROADMAP</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خارطة طريق عملية: من الصفر إلى الفجوة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BE123C"/>
              </a:gs>
              <a:gs pos="100000">
                <a:srgbClr val="FB7185"/>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13</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6278727"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865815" y="1819656"/>
            <a:ext cx="621792" cy="621792"/>
          </a:xfrm>
          <a:prstGeom prst="ellipse">
            <a:avLst/>
          </a:prstGeom>
          <a:ln>
            <a:noFill/>
          </a:ln>
          <a:gradFill rotWithShape="1">
            <a:gsLst>
              <a:gs pos="0">
                <a:srgbClr val="A21CAF"/>
              </a:gs>
              <a:gs pos="100000">
                <a:srgbClr val="E879F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١</a:t>
            </a:r>
          </a:p>
        </p:txBody>
      </p:sp>
      <p:sp>
        <p:nvSpPr>
          <p:cNvPr id="13" name="TextBox 12"/>
          <p:cNvSpPr txBox="1"/>
          <p:nvPr/>
        </p:nvSpPr>
        <p:spPr>
          <a:xfrm>
            <a:off x="6507327"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A21CAF"/>
                </a:solidFill>
                <a:latin typeface="Noto Sans Arabic"/>
                <a:cs typeface="Noto Sans Arabic"/>
                <a:ea typeface="Noto Sans Arabic"/>
              </a:rPr>
              <a:t>حدّد مجالك بدقة</a:t>
            </a:r>
          </a:p>
        </p:txBody>
      </p:sp>
      <p:sp>
        <p:nvSpPr>
          <p:cNvPr id="14" name="TextBox 13"/>
          <p:cNvSpPr txBox="1"/>
          <p:nvPr/>
        </p:nvSpPr>
        <p:spPr>
          <a:xfrm>
            <a:off x="6507327"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تخصص فرعي ضيق — «التعليم الإلكتروني للمرحلة الابتدائية» لا «التعليم» عموماً</a:t>
            </a:r>
          </a:p>
        </p:txBody>
      </p:sp>
      <p:sp>
        <p:nvSpPr>
          <p:cNvPr id="15" name="Rounded Rectangle 14"/>
          <p:cNvSpPr/>
          <p:nvPr/>
        </p:nvSpPr>
        <p:spPr>
          <a:xfrm>
            <a:off x="6278727"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865815" y="2971800"/>
            <a:ext cx="621792" cy="621792"/>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٢</a:t>
            </a:r>
          </a:p>
        </p:txBody>
      </p:sp>
      <p:sp>
        <p:nvSpPr>
          <p:cNvPr id="17" name="TextBox 16"/>
          <p:cNvSpPr txBox="1"/>
          <p:nvPr/>
        </p:nvSpPr>
        <p:spPr>
          <a:xfrm>
            <a:off x="6507327"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D97706"/>
                </a:solidFill>
                <a:latin typeface="Noto Sans Arabic"/>
                <a:cs typeface="Noto Sans Arabic"/>
                <a:ea typeface="Noto Sans Arabic"/>
              </a:rPr>
              <a:t>اجمع أحدث الدراسات</a:t>
            </a:r>
          </a:p>
        </p:txBody>
      </p:sp>
      <p:sp>
        <p:nvSpPr>
          <p:cNvPr id="18" name="TextBox 17"/>
          <p:cNvSpPr txBox="1"/>
          <p:nvPr/>
        </p:nvSpPr>
        <p:spPr>
          <a:xfrm>
            <a:off x="6507327"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20–30 دراسة من آخر 5 سنوات عبر Semantic Scholar وGoogle Scholar</a:t>
            </a:r>
          </a:p>
        </p:txBody>
      </p:sp>
      <p:sp>
        <p:nvSpPr>
          <p:cNvPr id="19" name="Rounded Rectangle 18"/>
          <p:cNvSpPr/>
          <p:nvPr/>
        </p:nvSpPr>
        <p:spPr>
          <a:xfrm>
            <a:off x="6278727"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865815" y="4123944"/>
            <a:ext cx="621792" cy="621792"/>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٣</a:t>
            </a:r>
          </a:p>
        </p:txBody>
      </p:sp>
      <p:sp>
        <p:nvSpPr>
          <p:cNvPr id="21" name="TextBox 20"/>
          <p:cNvSpPr txBox="1"/>
          <p:nvPr/>
        </p:nvSpPr>
        <p:spPr>
          <a:xfrm>
            <a:off x="6507327"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D9488"/>
                </a:solidFill>
                <a:latin typeface="Noto Sans Arabic"/>
                <a:cs typeface="Noto Sans Arabic"/>
                <a:ea typeface="Noto Sans Arabic"/>
              </a:rPr>
              <a:t>اقرأ الخاتمات أولاً</a:t>
            </a:r>
          </a:p>
        </p:txBody>
      </p:sp>
      <p:sp>
        <p:nvSpPr>
          <p:cNvPr id="22" name="TextBox 21"/>
          <p:cNvSpPr txBox="1"/>
          <p:nvPr/>
        </p:nvSpPr>
        <p:spPr>
          <a:xfrm>
            <a:off x="6507327"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أقسام حدود الدراسة والاقتراحات المستقبلية — أسرع مصدر للفجوات الموثقة</a:t>
            </a:r>
          </a:p>
        </p:txBody>
      </p:sp>
      <p:sp>
        <p:nvSpPr>
          <p:cNvPr id="23" name="Rounded Rectangle 22"/>
          <p:cNvSpPr/>
          <p:nvPr/>
        </p:nvSpPr>
        <p:spPr>
          <a:xfrm>
            <a:off x="6278727" y="5084064"/>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865815" y="5276088"/>
            <a:ext cx="621792" cy="621792"/>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٤</a:t>
            </a:r>
          </a:p>
        </p:txBody>
      </p:sp>
      <p:sp>
        <p:nvSpPr>
          <p:cNvPr id="25" name="TextBox 24"/>
          <p:cNvSpPr txBox="1"/>
          <p:nvPr/>
        </p:nvSpPr>
        <p:spPr>
          <a:xfrm>
            <a:off x="6507327" y="5175504"/>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6D28D9"/>
                </a:solidFill>
                <a:latin typeface="Noto Sans Arabic"/>
                <a:cs typeface="Noto Sans Arabic"/>
                <a:ea typeface="Noto Sans Arabic"/>
              </a:rPr>
              <a:t>اعمل خريطة الأدبيات</a:t>
            </a:r>
          </a:p>
        </p:txBody>
      </p:sp>
      <p:sp>
        <p:nvSpPr>
          <p:cNvPr id="26" name="TextBox 25"/>
          <p:cNvSpPr txBox="1"/>
          <p:nvPr/>
        </p:nvSpPr>
        <p:spPr>
          <a:xfrm>
            <a:off x="6507327" y="5559552"/>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جدول يقارن: السكان، المنهج، الدولة، الزمن، أبرز النتائج لكل دراسة</a:t>
            </a:r>
          </a:p>
        </p:txBody>
      </p:sp>
      <p:sp>
        <p:nvSpPr>
          <p:cNvPr id="27" name="Rounded Rectangle 26"/>
          <p:cNvSpPr/>
          <p:nvPr/>
        </p:nvSpPr>
        <p:spPr>
          <a:xfrm>
            <a:off x="548640" y="1627632"/>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35727" y="1819656"/>
            <a:ext cx="621792" cy="621792"/>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٥</a:t>
            </a:r>
          </a:p>
        </p:txBody>
      </p:sp>
      <p:sp>
        <p:nvSpPr>
          <p:cNvPr id="29" name="TextBox 28"/>
          <p:cNvSpPr txBox="1"/>
          <p:nvPr/>
        </p:nvSpPr>
        <p:spPr>
          <a:xfrm>
            <a:off x="777240" y="1719072"/>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BE123C"/>
                </a:solidFill>
                <a:latin typeface="Noto Sans Arabic"/>
                <a:cs typeface="Noto Sans Arabic"/>
                <a:ea typeface="Noto Sans Arabic"/>
              </a:rPr>
              <a:t>علّم الفراغات والتناقضات</a:t>
            </a:r>
          </a:p>
        </p:txBody>
      </p:sp>
      <p:sp>
        <p:nvSpPr>
          <p:cNvPr id="30" name="TextBox 29"/>
          <p:cNvSpPr txBox="1"/>
          <p:nvPr/>
        </p:nvSpPr>
        <p:spPr>
          <a:xfrm>
            <a:off x="777240" y="2103120"/>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ظلّل الخانات الفارغة والنتائج المتضاربة — هذه مواضع فجواتك المحتملة</a:t>
            </a:r>
          </a:p>
        </p:txBody>
      </p:sp>
      <p:sp>
        <p:nvSpPr>
          <p:cNvPr id="31" name="Rounded Rectangle 30"/>
          <p:cNvSpPr/>
          <p:nvPr/>
        </p:nvSpPr>
        <p:spPr>
          <a:xfrm>
            <a:off x="548640" y="2779776"/>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135727" y="2971800"/>
            <a:ext cx="621792" cy="621792"/>
          </a:xfrm>
          <a:prstGeom prst="ellipse">
            <a:avLst/>
          </a:prstGeom>
          <a:ln>
            <a:noFill/>
          </a:ln>
          <a:gradFill rotWithShape="1">
            <a:gsLst>
              <a:gs pos="0">
                <a:srgbClr val="047857"/>
              </a:gs>
              <a:gs pos="100000">
                <a:srgbClr val="34D399"/>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٦</a:t>
            </a:r>
          </a:p>
        </p:txBody>
      </p:sp>
      <p:sp>
        <p:nvSpPr>
          <p:cNvPr id="33" name="TextBox 32"/>
          <p:cNvSpPr txBox="1"/>
          <p:nvPr/>
        </p:nvSpPr>
        <p:spPr>
          <a:xfrm>
            <a:off x="777240" y="2871216"/>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047857"/>
                </a:solidFill>
                <a:latin typeface="Noto Sans Arabic"/>
                <a:cs typeface="Noto Sans Arabic"/>
                <a:ea typeface="Noto Sans Arabic"/>
              </a:rPr>
              <a:t>تحقق بأدوات الذكاء الاصطناعي</a:t>
            </a:r>
          </a:p>
        </p:txBody>
      </p:sp>
      <p:sp>
        <p:nvSpPr>
          <p:cNvPr id="34" name="TextBox 33"/>
          <p:cNvSpPr txBox="1"/>
          <p:nvPr/>
        </p:nvSpPr>
        <p:spPr>
          <a:xfrm>
            <a:off x="777240" y="3255264"/>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Research Rabbit وConsensus للتأكد أن الفجوة لم تُسد بدراسة حديثة</a:t>
            </a:r>
          </a:p>
        </p:txBody>
      </p:sp>
      <p:sp>
        <p:nvSpPr>
          <p:cNvPr id="35" name="Rounded Rectangle 34"/>
          <p:cNvSpPr/>
          <p:nvPr/>
        </p:nvSpPr>
        <p:spPr>
          <a:xfrm>
            <a:off x="548640" y="3931920"/>
            <a:ext cx="5364327" cy="1005840"/>
          </a:xfrm>
          <a:prstGeom prst="roundRect">
            <a:avLst>
              <a:gd name="adj" fmla="val 15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135727" y="4123944"/>
            <a:ext cx="621792" cy="621792"/>
          </a:xfrm>
          <a:prstGeom prst="ellipse">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800" b="1" i="0">
                <a:solidFill>
                  <a:srgbClr val="FFFFFF"/>
                </a:solidFill>
                <a:latin typeface="Noto Sans Arabic"/>
                <a:cs typeface="Noto Sans Arabic"/>
                <a:ea typeface="Noto Sans Arabic"/>
              </a:rPr>
              <a:t>٧</a:t>
            </a:r>
          </a:p>
        </p:txBody>
      </p:sp>
      <p:sp>
        <p:nvSpPr>
          <p:cNvPr id="37" name="TextBox 36"/>
          <p:cNvSpPr txBox="1"/>
          <p:nvPr/>
        </p:nvSpPr>
        <p:spPr>
          <a:xfrm>
            <a:off x="777240" y="4023359"/>
            <a:ext cx="4221327"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1D4ED8"/>
                </a:solidFill>
                <a:latin typeface="Noto Sans Arabic"/>
                <a:cs typeface="Noto Sans Arabic"/>
                <a:ea typeface="Noto Sans Arabic"/>
              </a:rPr>
              <a:t>صُغ فجوتك بدقة</a:t>
            </a:r>
          </a:p>
        </p:txBody>
      </p:sp>
      <p:sp>
        <p:nvSpPr>
          <p:cNvPr id="38" name="TextBox 37"/>
          <p:cNvSpPr txBox="1"/>
          <p:nvPr/>
        </p:nvSpPr>
        <p:spPr>
          <a:xfrm>
            <a:off x="777240" y="4407408"/>
            <a:ext cx="4221327" cy="475488"/>
          </a:xfrm>
          <a:prstGeom prst="rect">
            <a:avLst/>
          </a:prstGeom>
          <a:noFill/>
        </p:spPr>
        <p:txBody>
          <a:bodyPr wrap="square" anchor="t" lIns="0" rIns="0" tIns="0" bIns="0">
            <a:spAutoFit/>
          </a:bodyPr>
          <a:lstStyle/>
          <a:p>
            <a:pPr algn="r" rtl="1">
              <a:lnSpc>
                <a:spcPct val="110000"/>
              </a:lnSpc>
              <a:spcBef>
                <a:spcPts val="0"/>
              </a:spcBef>
              <a:spcAft>
                <a:spcPts val="400"/>
              </a:spcAft>
            </a:pPr>
            <a:r>
              <a:rPr sz="1100" b="0" i="0">
                <a:solidFill>
                  <a:srgbClr val="221C57"/>
                </a:solidFill>
                <a:latin typeface="Noto Sans Arabic"/>
                <a:cs typeface="Noto Sans Arabic"/>
                <a:ea typeface="Noto Sans Arabic"/>
              </a:rPr>
              <a:t>جملة محددة قابلة للقياس: الموضوع + الفئة + السياق + الزمن</a:t>
            </a:r>
          </a:p>
        </p:txBody>
      </p:sp>
      <p:sp>
        <p:nvSpPr>
          <p:cNvPr id="39" name="Rounded Rectangle 38"/>
          <p:cNvSpPr/>
          <p:nvPr/>
        </p:nvSpPr>
        <p:spPr>
          <a:xfrm>
            <a:off x="548640" y="5084064"/>
            <a:ext cx="5364327" cy="1005840"/>
          </a:xfrm>
          <a:prstGeom prst="roundRect">
            <a:avLst>
              <a:gd name="adj" fmla="val 15000"/>
            </a:avLst>
          </a:prstGeom>
          <a:ln>
            <a:noFill/>
          </a:ln>
          <a:gradFill rotWithShape="1">
            <a:gsLst>
              <a:gs pos="0">
                <a:srgbClr val="17123B"/>
              </a:gs>
              <a:gs pos="100000">
                <a:srgbClr val="3B3486"/>
              </a:gs>
            </a:gsLst>
            <a:lin ang="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5193792"/>
            <a:ext cx="4852263" cy="804672"/>
          </a:xfrm>
          <a:prstGeom prst="rect">
            <a:avLst/>
          </a:prstGeom>
          <a:noFill/>
        </p:spPr>
        <p:txBody>
          <a:bodyPr wrap="square" anchor="t" lIns="0" rIns="0" tIns="0" bIns="0">
            <a:spAutoFit/>
          </a:bodyPr>
          <a:lstStyle/>
          <a:p>
            <a:pPr algn="r" rtl="1">
              <a:lnSpc>
                <a:spcPct val="115000"/>
              </a:lnSpc>
              <a:spcBef>
                <a:spcPts val="0"/>
              </a:spcBef>
              <a:spcAft>
                <a:spcPts val="400"/>
              </a:spcAft>
            </a:pPr>
            <a:r>
              <a:rPr sz="1250" b="1" i="0">
                <a:solidFill>
                  <a:srgbClr val="FBBF24"/>
                </a:solidFill>
                <a:latin typeface="Noto Sans Arabic"/>
                <a:cs typeface="Noto Sans Arabic"/>
                <a:ea typeface="Noto Sans Arabic"/>
              </a:rPr>
              <a:t>⏱ الزمن الواقعي: </a:t>
            </a:r>
            <a:r>
              <a:rPr sz="1150" b="0" i="0">
                <a:solidFill>
                  <a:srgbClr val="FFFFFF"/>
                </a:solidFill>
                <a:latin typeface="Noto Sans Arabic"/>
                <a:cs typeface="Noto Sans Arabic"/>
                <a:ea typeface="Noto Sans Arabic"/>
              </a:rPr>
              <a:t>أسبوعان إلى أربعة أسابيع من العمل المنظّم تكفي غالباً للوصول إلى فجوة موثقة تصمد أمام أي لجنة علمية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7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 y="-274320"/>
            <a:ext cx="2560320" cy="1645920"/>
          </a:xfrm>
          <a:prstGeom prst="rect">
            <a:avLst/>
          </a:prstGeom>
          <a:noFill/>
        </p:spPr>
        <p:txBody>
          <a:bodyPr wrap="square" anchor="t" lIns="0" rIns="0" tIns="0" bIns="0">
            <a:spAutoFit/>
          </a:bodyPr>
          <a:lstStyle/>
          <a:p>
            <a:pPr algn="l">
              <a:lnSpc>
                <a:spcPct val="105000"/>
              </a:lnSpc>
              <a:spcBef>
                <a:spcPts val="0"/>
              </a:spcBef>
              <a:spcAft>
                <a:spcPts val="400"/>
              </a:spcAft>
            </a:pPr>
            <a:r>
              <a:rPr sz="8800" b="1" i="0">
                <a:solidFill>
                  <a:srgbClr val="ECE9FA"/>
                </a:solidFill>
                <a:latin typeface="Noto Sans Arabic"/>
                <a:cs typeface="Noto Sans Arabic"/>
                <a:ea typeface="Noto Sans Arabic"/>
              </a:rPr>
              <a:t>14</a:t>
            </a:r>
          </a:p>
        </p:txBody>
      </p:sp>
      <p:sp>
        <p:nvSpPr>
          <p:cNvPr id="4" name="Rounded Rectangle 3"/>
          <p:cNvSpPr/>
          <p:nvPr/>
        </p:nvSpPr>
        <p:spPr>
          <a:xfrm>
            <a:off x="10728655" y="365760"/>
            <a:ext cx="914400" cy="914400"/>
          </a:xfrm>
          <a:prstGeom prst="roundRect">
            <a:avLst>
              <a:gd name="adj" fmla="val 30000"/>
            </a:avLst>
          </a:prstGeom>
          <a:ln>
            <a:noFill/>
          </a:ln>
          <a:gradFill rotWithShape="1">
            <a:gsLst>
              <a:gs pos="0">
                <a:srgbClr val="1D4ED8"/>
              </a:gs>
              <a:gs pos="100000">
                <a:srgbClr val="60A5FA"/>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3000" b="1" i="0">
                <a:solidFill>
                  <a:srgbClr val="FFFFFF"/>
                </a:solidFill>
                <a:latin typeface="Noto Sans Arabic"/>
                <a:cs typeface="Noto Sans Arabic"/>
                <a:ea typeface="Noto Sans Arabic"/>
              </a:rPr>
              <a:t>✍️</a:t>
            </a:r>
          </a:p>
        </p:txBody>
      </p:sp>
      <p:sp>
        <p:nvSpPr>
          <p:cNvPr id="5" name="TextBox 4"/>
          <p:cNvSpPr txBox="1"/>
          <p:nvPr/>
        </p:nvSpPr>
        <p:spPr>
          <a:xfrm>
            <a:off x="548640" y="329184"/>
            <a:ext cx="9951415" cy="292608"/>
          </a:xfrm>
          <a:prstGeom prst="rect">
            <a:avLst/>
          </a:prstGeom>
          <a:noFill/>
        </p:spPr>
        <p:txBody>
          <a:bodyPr wrap="square" anchor="t" lIns="0" rIns="0" tIns="0" bIns="0">
            <a:spAutoFit/>
          </a:bodyPr>
          <a:lstStyle/>
          <a:p>
            <a:pPr algn="r">
              <a:lnSpc>
                <a:spcPct val="105000"/>
              </a:lnSpc>
              <a:spcBef>
                <a:spcPts val="0"/>
              </a:spcBef>
              <a:spcAft>
                <a:spcPts val="400"/>
              </a:spcAft>
            </a:pPr>
            <a:r>
              <a:rPr sz="1100" b="1" i="0" spc="300">
                <a:solidFill>
                  <a:srgbClr val="1D4ED8"/>
                </a:solidFill>
                <a:latin typeface="Noto Sans Arabic"/>
                <a:cs typeface="Noto Sans Arabic"/>
                <a:ea typeface="Noto Sans Arabic"/>
              </a:rPr>
              <a:t>WRITING YOUR GAP STATEMENT</a:t>
            </a:r>
          </a:p>
        </p:txBody>
      </p:sp>
      <p:sp>
        <p:nvSpPr>
          <p:cNvPr id="6" name="TextBox 5"/>
          <p:cNvSpPr txBox="1"/>
          <p:nvPr/>
        </p:nvSpPr>
        <p:spPr>
          <a:xfrm>
            <a:off x="548640" y="530352"/>
            <a:ext cx="9951415" cy="731520"/>
          </a:xfrm>
          <a:prstGeom prst="rect">
            <a:avLst/>
          </a:prstGeom>
          <a:noFill/>
        </p:spPr>
        <p:txBody>
          <a:bodyPr wrap="square" anchor="t" lIns="0" rIns="0" tIns="0" bIns="0">
            <a:spAutoFit/>
          </a:bodyPr>
          <a:lstStyle/>
          <a:p>
            <a:pPr algn="r" rtl="1">
              <a:lnSpc>
                <a:spcPct val="105000"/>
              </a:lnSpc>
              <a:spcBef>
                <a:spcPts val="0"/>
              </a:spcBef>
              <a:spcAft>
                <a:spcPts val="400"/>
              </a:spcAft>
            </a:pPr>
            <a:r>
              <a:rPr sz="3100" b="1" i="0">
                <a:solidFill>
                  <a:srgbClr val="221C57"/>
                </a:solidFill>
                <a:latin typeface="Noto Sans Arabic"/>
                <a:cs typeface="Noto Sans Arabic"/>
                <a:ea typeface="Noto Sans Arabic"/>
              </a:rPr>
              <a:t>صياغة الفجوة البحثية باحترافية</a:t>
            </a:r>
          </a:p>
        </p:txBody>
      </p:sp>
      <p:sp>
        <p:nvSpPr>
          <p:cNvPr id="7" name="Rounded Rectangle 6"/>
          <p:cNvSpPr/>
          <p:nvPr/>
        </p:nvSpPr>
        <p:spPr>
          <a:xfrm>
            <a:off x="8488375" y="1371600"/>
            <a:ext cx="2011680" cy="68580"/>
          </a:xfrm>
          <a:prstGeom prst="roundRect">
            <a:avLst>
              <a:gd name="adj" fmla="val 100000"/>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784848"/>
            <a:ext cx="12191695" cy="73152"/>
          </a:xfrm>
          <a:prstGeom prst="rect">
            <a:avLst/>
          </a:prstGeom>
          <a:ln>
            <a:noFill/>
          </a:ln>
          <a:effectLst/>
          <a:gradFill rotWithShape="1">
            <a:gsLst>
              <a:gs pos="0">
                <a:srgbClr val="1D4ED8"/>
              </a:gs>
              <a:gs pos="100000">
                <a:srgbClr val="60A5FA"/>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6437376"/>
            <a:ext cx="566928" cy="274320"/>
          </a:xfrm>
          <a:prstGeom prst="roundRect">
            <a:avLst>
              <a:gd name="adj" fmla="val 50000"/>
            </a:avLst>
          </a:prstGeom>
          <a:ln>
            <a:noFill/>
          </a:ln>
          <a:effectLst/>
          <a:gradFill rotWithShape="1">
            <a:gsLst>
              <a:gs pos="0">
                <a:srgbClr val="1D4ED8"/>
              </a:gs>
              <a:gs pos="100000">
                <a:srgbClr val="60A5FA"/>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Noto Sans Arabic"/>
                <a:cs typeface="Noto Sans Arabic"/>
                <a:ea typeface="Noto Sans Arabic"/>
              </a:rPr>
              <a:t>14</a:t>
            </a:r>
          </a:p>
        </p:txBody>
      </p:sp>
      <p:sp>
        <p:nvSpPr>
          <p:cNvPr id="10" name="TextBox 9"/>
          <p:cNvSpPr txBox="1"/>
          <p:nvPr/>
        </p:nvSpPr>
        <p:spPr>
          <a:xfrm>
            <a:off x="6613855" y="6446520"/>
            <a:ext cx="5029200" cy="274320"/>
          </a:xfrm>
          <a:prstGeom prst="rect">
            <a:avLst/>
          </a:prstGeom>
          <a:noFill/>
        </p:spPr>
        <p:txBody>
          <a:bodyPr wrap="square" anchor="t" lIns="0" rIns="0" tIns="0" bIns="0">
            <a:spAutoFit/>
          </a:bodyPr>
          <a:lstStyle/>
          <a:p>
            <a:pPr algn="r" rtl="1">
              <a:lnSpc>
                <a:spcPct val="105000"/>
              </a:lnSpc>
              <a:spcBef>
                <a:spcPts val="0"/>
              </a:spcBef>
              <a:spcAft>
                <a:spcPts val="400"/>
              </a:spcAft>
            </a:pPr>
            <a:r>
              <a:rPr sz="1100" b="0" i="0">
                <a:solidFill>
                  <a:srgbClr val="6E6A8F"/>
                </a:solidFill>
                <a:latin typeface="Noto Sans Arabic"/>
                <a:cs typeface="Noto Sans Arabic"/>
                <a:ea typeface="Noto Sans Arabic"/>
              </a:rPr>
              <a:t>الفجوات البحثية  •  د. هناء حسين الأهيمر</a:t>
            </a:r>
          </a:p>
        </p:txBody>
      </p:sp>
      <p:sp>
        <p:nvSpPr>
          <p:cNvPr id="11" name="Rounded Rectangle 10"/>
          <p:cNvSpPr/>
          <p:nvPr/>
        </p:nvSpPr>
        <p:spPr>
          <a:xfrm>
            <a:off x="548640" y="1627632"/>
            <a:ext cx="11094415" cy="1828800"/>
          </a:xfrm>
          <a:prstGeom prst="roundRect">
            <a:avLst>
              <a:gd name="adj" fmla="val 10000"/>
            </a:avLst>
          </a:prstGeom>
          <a:ln>
            <a:noFill/>
          </a:ln>
          <a:gradFill rotWithShape="1">
            <a:gsLst>
              <a:gs pos="0">
                <a:srgbClr val="17123B"/>
              </a:gs>
              <a:gs pos="100000">
                <a:srgbClr val="3B3486"/>
              </a:gs>
            </a:gsLst>
            <a:lin ang="15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783080"/>
            <a:ext cx="10362895"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350" b="1" i="0">
                <a:solidFill>
                  <a:srgbClr val="FBBF24"/>
                </a:solidFill>
                <a:latin typeface="Noto Sans Arabic"/>
                <a:cs typeface="Noto Sans Arabic"/>
                <a:ea typeface="Noto Sans Arabic"/>
              </a:rPr>
              <a:t>القالب الجاهز:  </a:t>
            </a:r>
            <a:r>
              <a:rPr sz="1300" b="0" i="0">
                <a:solidFill>
                  <a:srgbClr val="FFFFFF"/>
                </a:solidFill>
                <a:latin typeface="Noto Sans Arabic"/>
                <a:cs typeface="Noto Sans Arabic"/>
                <a:ea typeface="Noto Sans Arabic"/>
              </a:rPr>
              <a:t>انسخه واملأ الفراغات الملونة</a:t>
            </a:r>
          </a:p>
        </p:txBody>
      </p:sp>
      <p:sp>
        <p:nvSpPr>
          <p:cNvPr id="13" name="TextBox 12"/>
          <p:cNvSpPr txBox="1"/>
          <p:nvPr/>
        </p:nvSpPr>
        <p:spPr>
          <a:xfrm>
            <a:off x="914400" y="2212848"/>
            <a:ext cx="10362895" cy="1143000"/>
          </a:xfrm>
          <a:prstGeom prst="rect">
            <a:avLst/>
          </a:prstGeom>
          <a:noFill/>
        </p:spPr>
        <p:txBody>
          <a:bodyPr wrap="square" anchor="t" lIns="0" rIns="0" tIns="0" bIns="0">
            <a:spAutoFit/>
          </a:bodyPr>
          <a:lstStyle/>
          <a:p>
            <a:pPr algn="r" rtl="1">
              <a:lnSpc>
                <a:spcPct val="140000"/>
              </a:lnSpc>
              <a:spcBef>
                <a:spcPts val="0"/>
              </a:spcBef>
              <a:spcAft>
                <a:spcPts val="400"/>
              </a:spcAft>
            </a:pPr>
            <a:r>
              <a:rPr sz="1550" b="0" i="0">
                <a:solidFill>
                  <a:srgbClr val="FFFFFF"/>
                </a:solidFill>
                <a:latin typeface="Noto Sans Arabic"/>
                <a:cs typeface="Noto Sans Arabic"/>
                <a:ea typeface="Noto Sans Arabic"/>
              </a:rPr>
              <a:t>«على الرغم من أن الدراسات السابقة تناولت </a:t>
            </a:r>
            <a:r>
              <a:rPr sz="1550" b="1" i="0">
                <a:solidFill>
                  <a:srgbClr val="FBBF24"/>
                </a:solidFill>
                <a:latin typeface="Noto Sans Arabic"/>
                <a:cs typeface="Noto Sans Arabic"/>
                <a:ea typeface="Noto Sans Arabic"/>
              </a:rPr>
              <a:t>[الموضوع X]</a:t>
            </a:r>
            <a:r>
              <a:rPr sz="1550" b="0" i="0">
                <a:solidFill>
                  <a:srgbClr val="FFFFFF"/>
                </a:solidFill>
                <a:latin typeface="Noto Sans Arabic"/>
                <a:cs typeface="Noto Sans Arabic"/>
                <a:ea typeface="Noto Sans Arabic"/>
              </a:rPr>
              <a:t>، إلا أن </a:t>
            </a:r>
            <a:r>
              <a:rPr sz="1550" b="1" i="0">
                <a:solidFill>
                  <a:srgbClr val="5EEAD4"/>
                </a:solidFill>
                <a:latin typeface="Noto Sans Arabic"/>
                <a:cs typeface="Noto Sans Arabic"/>
                <a:ea typeface="Noto Sans Arabic"/>
              </a:rPr>
              <a:t>[الجانب Y]</a:t>
            </a:r>
            <a:r>
              <a:rPr sz="1550" b="0" i="0">
                <a:solidFill>
                  <a:srgbClr val="FFFFFF"/>
                </a:solidFill>
                <a:latin typeface="Noto Sans Arabic"/>
                <a:cs typeface="Noto Sans Arabic"/>
                <a:ea typeface="Noto Sans Arabic"/>
              </a:rPr>
              <a:t> لم يُدرس بعد في </a:t>
            </a:r>
            <a:r>
              <a:rPr sz="1550" b="1" i="0">
                <a:solidFill>
                  <a:srgbClr val="FDA4AF"/>
                </a:solidFill>
                <a:latin typeface="Noto Sans Arabic"/>
                <a:cs typeface="Noto Sans Arabic"/>
                <a:ea typeface="Noto Sans Arabic"/>
              </a:rPr>
              <a:t>[السياق Z]</a:t>
            </a:r>
            <a:r>
              <a:rPr sz="1550" b="0" i="0">
                <a:solidFill>
                  <a:srgbClr val="FFFFFF"/>
                </a:solidFill>
                <a:latin typeface="Noto Sans Arabic"/>
                <a:cs typeface="Noto Sans Arabic"/>
                <a:ea typeface="Noto Sans Arabic"/>
              </a:rPr>
              <a:t>، مما يستدعي إجراء </a:t>
            </a:r>
            <a:r>
              <a:rPr sz="1550" b="1" i="0">
                <a:solidFill>
                  <a:srgbClr val="C4B5FD"/>
                </a:solidFill>
                <a:latin typeface="Noto Sans Arabic"/>
                <a:cs typeface="Noto Sans Arabic"/>
                <a:ea typeface="Noto Sans Arabic"/>
              </a:rPr>
              <a:t>[نوع الدراسة المقترحة]</a:t>
            </a:r>
            <a:r>
              <a:rPr sz="1550" b="0" i="0">
                <a:solidFill>
                  <a:srgbClr val="FFFFFF"/>
                </a:solidFill>
                <a:latin typeface="Noto Sans Arabic"/>
                <a:cs typeface="Noto Sans Arabic"/>
                <a:ea typeface="Noto Sans Arabic"/>
              </a:rPr>
              <a:t>.»</a:t>
            </a:r>
          </a:p>
        </p:txBody>
      </p:sp>
      <p:sp>
        <p:nvSpPr>
          <p:cNvPr id="14" name="Rounded Rectangle 13"/>
          <p:cNvSpPr/>
          <p:nvPr/>
        </p:nvSpPr>
        <p:spPr>
          <a:xfrm>
            <a:off x="548640" y="3639312"/>
            <a:ext cx="11094415" cy="960120"/>
          </a:xfrm>
          <a:prstGeom prst="roundRect">
            <a:avLst>
              <a:gd name="adj" fmla="val 12000"/>
            </a:avLst>
          </a:prstGeom>
          <a:solidFill>
            <a:srgbClr val="FFFFFF"/>
          </a:solidFill>
          <a:ln w="15240">
            <a:solidFill>
              <a:srgbClr val="0D9488"/>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49039"/>
            <a:ext cx="10454335" cy="777240"/>
          </a:xfrm>
          <a:prstGeom prst="rect">
            <a:avLst/>
          </a:prstGeom>
          <a:noFill/>
        </p:spPr>
        <p:txBody>
          <a:bodyPr wrap="square" anchor="t" lIns="0" rIns="0" tIns="0" bIns="0">
            <a:spAutoFit/>
          </a:bodyPr>
          <a:lstStyle/>
          <a:p>
            <a:pPr algn="r" rtl="1">
              <a:lnSpc>
                <a:spcPct val="125000"/>
              </a:lnSpc>
              <a:spcBef>
                <a:spcPts val="0"/>
              </a:spcBef>
              <a:spcAft>
                <a:spcPts val="400"/>
              </a:spcAft>
            </a:pPr>
            <a:r>
              <a:rPr sz="1250" b="1" i="0">
                <a:solidFill>
                  <a:srgbClr val="0D9488"/>
                </a:solidFill>
                <a:latin typeface="Noto Sans Arabic"/>
                <a:cs typeface="Noto Sans Arabic"/>
                <a:ea typeface="Noto Sans Arabic"/>
              </a:rPr>
              <a:t>✅ مثال مطبَّق:  </a:t>
            </a:r>
            <a:r>
              <a:rPr sz="1250" b="0" i="0">
                <a:solidFill>
                  <a:srgbClr val="221C57"/>
                </a:solidFill>
                <a:latin typeface="Noto Sans Arabic"/>
                <a:cs typeface="Noto Sans Arabic"/>
                <a:ea typeface="Noto Sans Arabic"/>
              </a:rPr>
              <a:t>«على الرغم من أن الدراسات السابقة تناولت التعلم الإلكتروني في الجامعات، إلا أن تأثيره على القلق عند طلاب الجامعات العربية بعد 2020 لم يُدرس بعد، مما يستدعي إجراء دراسة مختلطة (كمية ونوعية) لسدّ هذه الفجوة.»</a:t>
            </a:r>
          </a:p>
        </p:txBody>
      </p:sp>
      <p:sp>
        <p:nvSpPr>
          <p:cNvPr id="16" name="TextBox 15"/>
          <p:cNvSpPr txBox="1"/>
          <p:nvPr/>
        </p:nvSpPr>
        <p:spPr>
          <a:xfrm>
            <a:off x="548640" y="4800600"/>
            <a:ext cx="11094415" cy="384048"/>
          </a:xfrm>
          <a:prstGeom prst="rect">
            <a:avLst/>
          </a:prstGeom>
          <a:noFill/>
        </p:spPr>
        <p:txBody>
          <a:bodyPr wrap="square" anchor="t" lIns="0" rIns="0" tIns="0" bIns="0">
            <a:spAutoFit/>
          </a:bodyPr>
          <a:lstStyle/>
          <a:p>
            <a:pPr algn="r" rtl="1">
              <a:lnSpc>
                <a:spcPct val="105000"/>
              </a:lnSpc>
              <a:spcBef>
                <a:spcPts val="0"/>
              </a:spcBef>
              <a:spcAft>
                <a:spcPts val="400"/>
              </a:spcAft>
            </a:pPr>
            <a:r>
              <a:rPr sz="1400" b="1" i="0">
                <a:solidFill>
                  <a:srgbClr val="221C57"/>
                </a:solidFill>
                <a:latin typeface="Noto Sans Arabic"/>
                <a:cs typeface="Noto Sans Arabic"/>
                <a:ea typeface="Noto Sans Arabic"/>
              </a:rPr>
              <a:t>قائمة الفحص الخماسية قبل اعتماد الفجوة نهائياً:</a:t>
            </a:r>
          </a:p>
        </p:txBody>
      </p:sp>
      <p:sp>
        <p:nvSpPr>
          <p:cNvPr id="17" name="Rounded Rectangle 16"/>
          <p:cNvSpPr/>
          <p:nvPr/>
        </p:nvSpPr>
        <p:spPr>
          <a:xfrm>
            <a:off x="958510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585106" y="5257800"/>
            <a:ext cx="2057948" cy="91440"/>
          </a:xfrm>
          <a:prstGeom prst="roundRect">
            <a:avLst>
              <a:gd name="adj" fmla="val 100000"/>
            </a:avLst>
          </a:prstGeom>
          <a:ln>
            <a:noFill/>
          </a:ln>
          <a:effectLst/>
          <a:gradFill rotWithShape="1">
            <a:gsLst>
              <a:gs pos="0">
                <a:srgbClr val="A21CAF"/>
              </a:gs>
              <a:gs pos="100000">
                <a:srgbClr val="E879F9"/>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654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A21CAF"/>
                </a:solidFill>
                <a:latin typeface="Noto Sans Arabic"/>
                <a:cs typeface="Noto Sans Arabic"/>
                <a:ea typeface="Noto Sans Arabic"/>
              </a:rPr>
              <a:t>✔ موثّقة؟</a:t>
            </a:r>
          </a:p>
        </p:txBody>
      </p:sp>
      <p:sp>
        <p:nvSpPr>
          <p:cNvPr id="20" name="TextBox 19"/>
          <p:cNvSpPr txBox="1"/>
          <p:nvPr/>
        </p:nvSpPr>
        <p:spPr>
          <a:xfrm>
            <a:off x="967654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تستند لمراجعة فعلية</a:t>
            </a:r>
          </a:p>
        </p:txBody>
      </p:sp>
      <p:sp>
        <p:nvSpPr>
          <p:cNvPr id="21" name="Rounded Rectangle 20"/>
          <p:cNvSpPr/>
          <p:nvPr/>
        </p:nvSpPr>
        <p:spPr>
          <a:xfrm>
            <a:off x="732598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325989" y="5257800"/>
            <a:ext cx="2057948" cy="91440"/>
          </a:xfrm>
          <a:prstGeom prst="roundRect">
            <a:avLst>
              <a:gd name="adj" fmla="val 100000"/>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1742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D97706"/>
                </a:solidFill>
                <a:latin typeface="Noto Sans Arabic"/>
                <a:cs typeface="Noto Sans Arabic"/>
                <a:ea typeface="Noto Sans Arabic"/>
              </a:rPr>
              <a:t>✔ محددة؟</a:t>
            </a:r>
          </a:p>
        </p:txBody>
      </p:sp>
      <p:sp>
        <p:nvSpPr>
          <p:cNvPr id="24" name="TextBox 23"/>
          <p:cNvSpPr txBox="1"/>
          <p:nvPr/>
        </p:nvSpPr>
        <p:spPr>
          <a:xfrm>
            <a:off x="741742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موضوع وفئة وسياق وزمن</a:t>
            </a:r>
          </a:p>
        </p:txBody>
      </p:sp>
      <p:sp>
        <p:nvSpPr>
          <p:cNvPr id="25" name="Rounded Rectangle 24"/>
          <p:cNvSpPr/>
          <p:nvPr/>
        </p:nvSpPr>
        <p:spPr>
          <a:xfrm>
            <a:off x="5066873"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066873" y="5257800"/>
            <a:ext cx="2057948" cy="91440"/>
          </a:xfrm>
          <a:prstGeom prst="roundRect">
            <a:avLst>
              <a:gd name="adj" fmla="val 100000"/>
            </a:avLst>
          </a:prstGeom>
          <a:ln>
            <a:noFill/>
          </a:ln>
          <a:effectLst/>
          <a:gradFill rotWithShape="1">
            <a:gsLst>
              <a:gs pos="0">
                <a:srgbClr val="0D9488"/>
              </a:gs>
              <a:gs pos="100000">
                <a:srgbClr val="2DD4B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8313"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0D9488"/>
                </a:solidFill>
                <a:latin typeface="Noto Sans Arabic"/>
                <a:cs typeface="Noto Sans Arabic"/>
                <a:ea typeface="Noto Sans Arabic"/>
              </a:rPr>
              <a:t>✔ مهمة؟</a:t>
            </a:r>
          </a:p>
        </p:txBody>
      </p:sp>
      <p:sp>
        <p:nvSpPr>
          <p:cNvPr id="28" name="TextBox 27"/>
          <p:cNvSpPr txBox="1"/>
          <p:nvPr/>
        </p:nvSpPr>
        <p:spPr>
          <a:xfrm>
            <a:off x="5158313"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سدّها يُحدث فرقاً</a:t>
            </a:r>
          </a:p>
        </p:txBody>
      </p:sp>
      <p:sp>
        <p:nvSpPr>
          <p:cNvPr id="29" name="Rounded Rectangle 28"/>
          <p:cNvSpPr/>
          <p:nvPr/>
        </p:nvSpPr>
        <p:spPr>
          <a:xfrm>
            <a:off x="2807756"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07756" y="5257800"/>
            <a:ext cx="2057948" cy="91440"/>
          </a:xfrm>
          <a:prstGeom prst="roundRect">
            <a:avLst>
              <a:gd name="adj" fmla="val 100000"/>
            </a:avLst>
          </a:prstGeom>
          <a:ln>
            <a:noFill/>
          </a:ln>
          <a:effectLst/>
          <a:gradFill rotWithShape="1">
            <a:gsLst>
              <a:gs pos="0">
                <a:srgbClr val="6D28D9"/>
              </a:gs>
              <a:gs pos="100000">
                <a:srgbClr val="A855F7"/>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99196"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6D28D9"/>
                </a:solidFill>
                <a:latin typeface="Noto Sans Arabic"/>
                <a:cs typeface="Noto Sans Arabic"/>
                <a:ea typeface="Noto Sans Arabic"/>
              </a:rPr>
              <a:t>✔ قابلة للمعالجة؟</a:t>
            </a:r>
          </a:p>
        </p:txBody>
      </p:sp>
      <p:sp>
        <p:nvSpPr>
          <p:cNvPr id="32" name="TextBox 31"/>
          <p:cNvSpPr txBox="1"/>
          <p:nvPr/>
        </p:nvSpPr>
        <p:spPr>
          <a:xfrm>
            <a:off x="2899196"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منهجية واقعية متاحة</a:t>
            </a:r>
          </a:p>
        </p:txBody>
      </p:sp>
      <p:sp>
        <p:nvSpPr>
          <p:cNvPr id="33" name="Rounded Rectangle 32"/>
          <p:cNvSpPr/>
          <p:nvPr/>
        </p:nvSpPr>
        <p:spPr>
          <a:xfrm>
            <a:off x="548639" y="5257800"/>
            <a:ext cx="2057948" cy="914400"/>
          </a:xfrm>
          <a:prstGeom prst="roundRect">
            <a:avLst>
              <a:gd name="adj" fmla="val 18000"/>
            </a:avLst>
          </a:prstGeom>
          <a:solidFill>
            <a:srgbClr val="FFFFFF"/>
          </a:solidFill>
          <a:ln w="12700">
            <a:solidFill>
              <a:srgbClr val="EAE7F7"/>
            </a:solidFill>
          </a:ln>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39" y="5257800"/>
            <a:ext cx="2057948" cy="91440"/>
          </a:xfrm>
          <a:prstGeom prst="roundRect">
            <a:avLst>
              <a:gd name="adj" fmla="val 100000"/>
            </a:avLst>
          </a:prstGeom>
          <a:ln>
            <a:noFill/>
          </a:ln>
          <a:effectLst/>
          <a:gradFill rotWithShape="1">
            <a:gsLst>
              <a:gs pos="0">
                <a:srgbClr val="BE123C"/>
              </a:gs>
              <a:gs pos="100000">
                <a:srgbClr val="FB7185"/>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79" y="5422392"/>
            <a:ext cx="1875068"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300" b="1" i="0">
                <a:solidFill>
                  <a:srgbClr val="BE123C"/>
                </a:solidFill>
                <a:latin typeface="Noto Sans Arabic"/>
                <a:cs typeface="Noto Sans Arabic"/>
                <a:ea typeface="Noto Sans Arabic"/>
              </a:rPr>
              <a:t>✔ جديدة؟</a:t>
            </a:r>
          </a:p>
        </p:txBody>
      </p:sp>
      <p:sp>
        <p:nvSpPr>
          <p:cNvPr id="36" name="TextBox 35"/>
          <p:cNvSpPr txBox="1"/>
          <p:nvPr/>
        </p:nvSpPr>
        <p:spPr>
          <a:xfrm>
            <a:off x="640079" y="5788152"/>
            <a:ext cx="1875068" cy="329184"/>
          </a:xfrm>
          <a:prstGeom prst="rect">
            <a:avLst/>
          </a:prstGeom>
          <a:noFill/>
        </p:spPr>
        <p:txBody>
          <a:bodyPr wrap="square" anchor="t" lIns="0" rIns="0" tIns="0" bIns="0">
            <a:spAutoFit/>
          </a:bodyPr>
          <a:lstStyle/>
          <a:p>
            <a:pPr algn="ctr" rtl="1">
              <a:lnSpc>
                <a:spcPct val="105000"/>
              </a:lnSpc>
              <a:spcBef>
                <a:spcPts val="0"/>
              </a:spcBef>
              <a:spcAft>
                <a:spcPts val="400"/>
              </a:spcAft>
            </a:pPr>
            <a:r>
              <a:rPr sz="1000" b="0" i="0">
                <a:solidFill>
                  <a:srgbClr val="6E6A8F"/>
                </a:solidFill>
                <a:latin typeface="Noto Sans Arabic"/>
                <a:cs typeface="Noto Sans Arabic"/>
                <a:ea typeface="Noto Sans Arabic"/>
              </a:rPr>
              <a:t>لم تُسد بدراسة أحدث</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17123B"/>
              </a:gs>
              <a:gs pos="100000">
                <a:srgbClr val="6D28D9"/>
              </a:gs>
            </a:gsLst>
            <a:lin ang="2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554480" y="3931920"/>
            <a:ext cx="4206240" cy="4206240"/>
          </a:xfrm>
          <a:prstGeom prst="ellipse">
            <a:avLst/>
          </a:prstGeom>
          <a:solidFill>
            <a:srgbClr val="FFFFFF">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875520" y="-1828800"/>
            <a:ext cx="4389120" cy="4389120"/>
          </a:xfrm>
          <a:prstGeom prst="ellipse">
            <a:avLst/>
          </a:prstGeom>
          <a:solidFill>
            <a:srgbClr val="FFFF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155680" y="5303520"/>
            <a:ext cx="1645920" cy="1645920"/>
          </a:xfrm>
          <a:prstGeom prst="ellipse">
            <a:avLst/>
          </a:prstGeom>
          <a:solidFill>
            <a:srgbClr val="FFFFFF">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 y="914400"/>
            <a:ext cx="237744" cy="237744"/>
          </a:xfrm>
          <a:prstGeom prst="ellipse">
            <a:avLst/>
          </a:prstGeom>
          <a:solidFill>
            <a:srgbClr val="FBBF2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640080"/>
            <a:ext cx="9448495" cy="777240"/>
          </a:xfrm>
          <a:prstGeom prst="rect">
            <a:avLst/>
          </a:prstGeom>
          <a:noFill/>
        </p:spPr>
        <p:txBody>
          <a:bodyPr wrap="square" anchor="t" lIns="0" rIns="0" tIns="0" bIns="0">
            <a:spAutoFit/>
          </a:bodyPr>
          <a:lstStyle/>
          <a:p>
            <a:pPr algn="ctr" rtl="1">
              <a:lnSpc>
                <a:spcPct val="105000"/>
              </a:lnSpc>
              <a:spcBef>
                <a:spcPts val="0"/>
              </a:spcBef>
              <a:spcAft>
                <a:spcPts val="400"/>
              </a:spcAft>
            </a:pPr>
            <a:r>
              <a:rPr sz="3400" b="1" i="0">
                <a:solidFill>
                  <a:srgbClr val="FFFFFF"/>
                </a:solidFill>
                <a:latin typeface="Noto Sans Arabic"/>
                <a:cs typeface="Noto Sans Arabic"/>
                <a:ea typeface="Noto Sans Arabic"/>
              </a:rPr>
              <a:t>الخلاصة: رسائل تأخذها معك</a:t>
            </a:r>
          </a:p>
        </p:txBody>
      </p:sp>
      <p:sp>
        <p:nvSpPr>
          <p:cNvPr id="8" name="TextBox 7"/>
          <p:cNvSpPr txBox="1"/>
          <p:nvPr/>
        </p:nvSpPr>
        <p:spPr>
          <a:xfrm>
            <a:off x="1371600" y="1417320"/>
            <a:ext cx="9448495" cy="365760"/>
          </a:xfrm>
          <a:prstGeom prst="rect">
            <a:avLst/>
          </a:prstGeom>
          <a:noFill/>
        </p:spPr>
        <p:txBody>
          <a:bodyPr wrap="square" anchor="t" lIns="0" rIns="0" tIns="0" bIns="0">
            <a:spAutoFit/>
          </a:bodyPr>
          <a:lstStyle/>
          <a:p>
            <a:pPr algn="ctr">
              <a:lnSpc>
                <a:spcPct val="105000"/>
              </a:lnSpc>
              <a:spcBef>
                <a:spcPts val="0"/>
              </a:spcBef>
              <a:spcAft>
                <a:spcPts val="400"/>
              </a:spcAft>
            </a:pPr>
            <a:r>
              <a:rPr sz="1200" b="1" i="0" spc="500">
                <a:solidFill>
                  <a:srgbClr val="FBBF24"/>
                </a:solidFill>
                <a:latin typeface="Noto Sans Arabic"/>
                <a:cs typeface="Noto Sans Arabic"/>
                <a:ea typeface="Noto Sans Arabic"/>
              </a:rPr>
              <a:t>K E Y   T A K E A W A Y S</a:t>
            </a:r>
          </a:p>
        </p:txBody>
      </p:sp>
      <p:sp>
        <p:nvSpPr>
          <p:cNvPr id="9" name="Rounded Rectangle 8"/>
          <p:cNvSpPr/>
          <p:nvPr/>
        </p:nvSpPr>
        <p:spPr>
          <a:xfrm>
            <a:off x="1645920" y="1965960"/>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857232" y="2093976"/>
            <a:ext cx="521207" cy="521207"/>
          </a:xfrm>
          <a:prstGeom prst="ellipse">
            <a:avLst/>
          </a:prstGeom>
          <a:ln>
            <a:noFill/>
          </a:ln>
          <a:gradFill rotWithShape="1">
            <a:gsLst>
              <a:gs pos="0">
                <a:srgbClr val="0D9488"/>
              </a:gs>
              <a:gs pos="100000">
                <a:srgbClr val="2DD4BF"/>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١</a:t>
            </a:r>
          </a:p>
        </p:txBody>
      </p:sp>
      <p:sp>
        <p:nvSpPr>
          <p:cNvPr id="11" name="TextBox 10"/>
          <p:cNvSpPr txBox="1"/>
          <p:nvPr/>
        </p:nvSpPr>
        <p:spPr>
          <a:xfrm>
            <a:off x="1920240" y="2011679"/>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الفجوة البحثية أساس أي بحث علمي ناجح</a:t>
            </a:r>
          </a:p>
        </p:txBody>
      </p:sp>
      <p:sp>
        <p:nvSpPr>
          <p:cNvPr id="12" name="TextBox 11"/>
          <p:cNvSpPr txBox="1"/>
          <p:nvPr/>
        </p:nvSpPr>
        <p:spPr>
          <a:xfrm>
            <a:off x="1920240" y="2377440"/>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هي جواز مرورك إلى الأصالة والقبول والنشر والتمويل</a:t>
            </a:r>
          </a:p>
        </p:txBody>
      </p:sp>
      <p:sp>
        <p:nvSpPr>
          <p:cNvPr id="13" name="Rounded Rectangle 12"/>
          <p:cNvSpPr/>
          <p:nvPr/>
        </p:nvSpPr>
        <p:spPr>
          <a:xfrm>
            <a:off x="1645920" y="2862072"/>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857232" y="2990088"/>
            <a:ext cx="521207" cy="521207"/>
          </a:xfrm>
          <a:prstGeom prst="ellipse">
            <a:avLst/>
          </a:prstGeom>
          <a:ln>
            <a:noFill/>
          </a:ln>
          <a:gradFill rotWithShape="1">
            <a:gsLst>
              <a:gs pos="0">
                <a:srgbClr val="D97706"/>
              </a:gs>
              <a:gs pos="100000">
                <a:srgbClr val="FBBF24"/>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٢</a:t>
            </a:r>
          </a:p>
        </p:txBody>
      </p:sp>
      <p:sp>
        <p:nvSpPr>
          <p:cNvPr id="15" name="TextBox 14"/>
          <p:cNvSpPr txBox="1"/>
          <p:nvPr/>
        </p:nvSpPr>
        <p:spPr>
          <a:xfrm>
            <a:off x="1920240" y="2907791"/>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اعرف الأنواع الستة وسؤال كل نوع</a:t>
            </a:r>
          </a:p>
        </p:txBody>
      </p:sp>
      <p:sp>
        <p:nvSpPr>
          <p:cNvPr id="16" name="TextBox 15"/>
          <p:cNvSpPr txBox="1"/>
          <p:nvPr/>
        </p:nvSpPr>
        <p:spPr>
          <a:xfrm>
            <a:off x="1920240" y="3273552"/>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معرفة، ممارسة، أدلة، سكان، منهجية، زمن — ولكل نوع بابه</a:t>
            </a:r>
          </a:p>
        </p:txBody>
      </p:sp>
      <p:sp>
        <p:nvSpPr>
          <p:cNvPr id="17" name="Rounded Rectangle 16"/>
          <p:cNvSpPr/>
          <p:nvPr/>
        </p:nvSpPr>
        <p:spPr>
          <a:xfrm>
            <a:off x="1645920" y="3758183"/>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857232" y="3886199"/>
            <a:ext cx="521207" cy="521207"/>
          </a:xfrm>
          <a:prstGeom prst="ellipse">
            <a:avLst/>
          </a:prstGeom>
          <a:ln>
            <a:noFill/>
          </a:ln>
          <a:gradFill rotWithShape="1">
            <a:gsLst>
              <a:gs pos="0">
                <a:srgbClr val="6D28D9"/>
              </a:gs>
              <a:gs pos="100000">
                <a:srgbClr val="A855F7"/>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٣</a:t>
            </a:r>
          </a:p>
        </p:txBody>
      </p:sp>
      <p:sp>
        <p:nvSpPr>
          <p:cNvPr id="19" name="TextBox 18"/>
          <p:cNvSpPr txBox="1"/>
          <p:nvPr/>
        </p:nvSpPr>
        <p:spPr>
          <a:xfrm>
            <a:off x="1920240" y="3803903"/>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استخدم الذكاء الاصطناعي بذكاء</a:t>
            </a:r>
          </a:p>
        </p:txBody>
      </p:sp>
      <p:sp>
        <p:nvSpPr>
          <p:cNvPr id="20" name="TextBox 19"/>
          <p:cNvSpPr txBox="1"/>
          <p:nvPr/>
        </p:nvSpPr>
        <p:spPr>
          <a:xfrm>
            <a:off x="1920240" y="4169663"/>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ارفع، اسأل بدقة، راجع بنفسك — الأداة تقترح والباحث يقرر</a:t>
            </a:r>
          </a:p>
        </p:txBody>
      </p:sp>
      <p:sp>
        <p:nvSpPr>
          <p:cNvPr id="21" name="Rounded Rectangle 20"/>
          <p:cNvSpPr/>
          <p:nvPr/>
        </p:nvSpPr>
        <p:spPr>
          <a:xfrm>
            <a:off x="1645920" y="4654296"/>
            <a:ext cx="8897112" cy="777240"/>
          </a:xfrm>
          <a:prstGeom prst="roundRect">
            <a:avLst>
              <a:gd name="adj" fmla="val 20000"/>
            </a:avLst>
          </a:prstGeom>
          <a:solidFill>
            <a:srgbClr val="FFFF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857232" y="4782312"/>
            <a:ext cx="521207" cy="521207"/>
          </a:xfrm>
          <a:prstGeom prst="ellipse">
            <a:avLst/>
          </a:prstGeom>
          <a:ln>
            <a:noFill/>
          </a:ln>
          <a:gradFill rotWithShape="1">
            <a:gsLst>
              <a:gs pos="0">
                <a:srgbClr val="BE123C"/>
              </a:gs>
              <a:gs pos="100000">
                <a:srgbClr val="FB7185"/>
              </a:gs>
            </a:gsLst>
            <a:lin ang="2700000" scaled="1"/>
          </a:gradFill>
          <a:effectLst>
            <a:outerShdw blurRad="127000" dist="40640" dir="5400000" rotWithShape="0">
              <a:srgbClr val="221C57">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rtl="1"/>
            <a:r>
              <a:rPr sz="1500" b="1" i="0">
                <a:solidFill>
                  <a:srgbClr val="FFFFFF"/>
                </a:solidFill>
                <a:latin typeface="Noto Sans Arabic"/>
                <a:cs typeface="Noto Sans Arabic"/>
                <a:ea typeface="Noto Sans Arabic"/>
              </a:rPr>
              <a:t>٤</a:t>
            </a:r>
          </a:p>
        </p:txBody>
      </p:sp>
      <p:sp>
        <p:nvSpPr>
          <p:cNvPr id="23" name="TextBox 22"/>
          <p:cNvSpPr txBox="1"/>
          <p:nvPr/>
        </p:nvSpPr>
        <p:spPr>
          <a:xfrm>
            <a:off x="1920240" y="4700016"/>
            <a:ext cx="7863840" cy="365760"/>
          </a:xfrm>
          <a:prstGeom prst="rect">
            <a:avLst/>
          </a:prstGeom>
          <a:noFill/>
        </p:spPr>
        <p:txBody>
          <a:bodyPr wrap="square" anchor="t" lIns="0" rIns="0" tIns="0" bIns="0">
            <a:spAutoFit/>
          </a:bodyPr>
          <a:lstStyle/>
          <a:p>
            <a:pPr algn="r" rtl="1">
              <a:lnSpc>
                <a:spcPct val="105000"/>
              </a:lnSpc>
              <a:spcBef>
                <a:spcPts val="0"/>
              </a:spcBef>
              <a:spcAft>
                <a:spcPts val="400"/>
              </a:spcAft>
            </a:pPr>
            <a:r>
              <a:rPr sz="1450" b="1" i="0">
                <a:solidFill>
                  <a:srgbClr val="FFFFFF"/>
                </a:solidFill>
                <a:latin typeface="Noto Sans Arabic"/>
                <a:cs typeface="Noto Sans Arabic"/>
                <a:ea typeface="Noto Sans Arabic"/>
              </a:rPr>
              <a:t>اصنع فجوة قوية لا ضعيفة</a:t>
            </a:r>
          </a:p>
        </p:txBody>
      </p:sp>
      <p:sp>
        <p:nvSpPr>
          <p:cNvPr id="24" name="TextBox 23"/>
          <p:cNvSpPr txBox="1"/>
          <p:nvPr/>
        </p:nvSpPr>
        <p:spPr>
          <a:xfrm>
            <a:off x="1920240" y="5065776"/>
            <a:ext cx="7863840" cy="329184"/>
          </a:xfrm>
          <a:prstGeom prst="rect">
            <a:avLst/>
          </a:prstGeom>
          <a:noFill/>
        </p:spPr>
        <p:txBody>
          <a:bodyPr wrap="square" anchor="t" lIns="0" rIns="0" tIns="0" bIns="0">
            <a:spAutoFit/>
          </a:bodyPr>
          <a:lstStyle/>
          <a:p>
            <a:pPr algn="r" rtl="1">
              <a:lnSpc>
                <a:spcPct val="105000"/>
              </a:lnSpc>
              <a:spcBef>
                <a:spcPts val="0"/>
              </a:spcBef>
              <a:spcAft>
                <a:spcPts val="400"/>
              </a:spcAft>
            </a:pPr>
            <a:r>
              <a:rPr sz="1150" b="0" i="0">
                <a:solidFill>
                  <a:srgbClr val="FFFFFF"/>
                </a:solidFill>
                <a:latin typeface="Noto Sans Arabic"/>
                <a:cs typeface="Noto Sans Arabic"/>
                <a:ea typeface="Noto Sans Arabic"/>
              </a:rPr>
              <a:t>محددة، موثقة، مهمة — استخدم القالب وقائمة الفحص الخماسية</a:t>
            </a:r>
          </a:p>
        </p:txBody>
      </p:sp>
      <p:sp>
        <p:nvSpPr>
          <p:cNvPr id="25" name="Rectangle 24"/>
          <p:cNvSpPr/>
          <p:nvPr/>
        </p:nvSpPr>
        <p:spPr>
          <a:xfrm>
            <a:off x="4041648" y="5650992"/>
            <a:ext cx="4114800" cy="41148"/>
          </a:xfrm>
          <a:prstGeom prst="rect">
            <a:avLst/>
          </a:prstGeom>
          <a:ln>
            <a:noFill/>
          </a:ln>
          <a:effectLst/>
          <a:gradFill rotWithShape="1">
            <a:gsLst>
              <a:gs pos="0">
                <a:srgbClr val="D97706"/>
              </a:gs>
              <a:gs pos="100000">
                <a:srgbClr val="FBBF24"/>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5806440"/>
            <a:ext cx="9814255" cy="502920"/>
          </a:xfrm>
          <a:prstGeom prst="rect">
            <a:avLst/>
          </a:prstGeom>
          <a:noFill/>
        </p:spPr>
        <p:txBody>
          <a:bodyPr wrap="square" anchor="t" lIns="0" rIns="0" tIns="0" bIns="0">
            <a:spAutoFit/>
          </a:bodyPr>
          <a:lstStyle/>
          <a:p>
            <a:pPr algn="ctr" rtl="1">
              <a:lnSpc>
                <a:spcPct val="105000"/>
              </a:lnSpc>
              <a:spcBef>
                <a:spcPts val="0"/>
              </a:spcBef>
              <a:spcAft>
                <a:spcPts val="400"/>
              </a:spcAft>
            </a:pPr>
            <a:r>
              <a:rPr sz="1500" b="1" i="0">
                <a:solidFill>
                  <a:srgbClr val="FBBF24"/>
                </a:solidFill>
                <a:latin typeface="Noto Sans Arabic"/>
                <a:cs typeface="Noto Sans Arabic"/>
                <a:ea typeface="Noto Sans Arabic"/>
              </a:rPr>
              <a:t>«الباحث المتميّز ليس من يجد الإجابات فقط… بل من يطرح أسئلة لم يفكر فيها أحد من قبل»</a:t>
            </a:r>
          </a:p>
        </p:txBody>
      </p:sp>
      <p:sp>
        <p:nvSpPr>
          <p:cNvPr id="27" name="TextBox 26"/>
          <p:cNvSpPr txBox="1"/>
          <p:nvPr/>
        </p:nvSpPr>
        <p:spPr>
          <a:xfrm>
            <a:off x="1371600" y="6327648"/>
            <a:ext cx="9448495" cy="365760"/>
          </a:xfrm>
          <a:prstGeom prst="rect">
            <a:avLst/>
          </a:prstGeom>
          <a:noFill/>
        </p:spPr>
        <p:txBody>
          <a:bodyPr wrap="square" anchor="t" lIns="0" rIns="0" tIns="0" bIns="0">
            <a:spAutoFit/>
          </a:bodyPr>
          <a:lstStyle/>
          <a:p>
            <a:pPr algn="ctr" rtl="1">
              <a:lnSpc>
                <a:spcPct val="105000"/>
              </a:lnSpc>
              <a:spcBef>
                <a:spcPts val="0"/>
              </a:spcBef>
              <a:spcAft>
                <a:spcPts val="400"/>
              </a:spcAft>
            </a:pPr>
            <a:r>
              <a:rPr sz="1200" b="0" i="0">
                <a:solidFill>
                  <a:srgbClr val="FFFFFF"/>
                </a:solidFill>
                <a:latin typeface="Noto Sans Arabic"/>
                <a:cs typeface="Noto Sans Arabic"/>
                <a:ea typeface="Noto Sans Arabic"/>
              </a:rPr>
              <a:t>شكراً لحسن استماعكم — </a:t>
            </a:r>
            <a:r>
              <a:rPr sz="1200" b="1" i="0">
                <a:solidFill>
                  <a:srgbClr val="FFFFFF"/>
                </a:solidFill>
                <a:latin typeface="Noto Sans Arabic"/>
                <a:cs typeface="Noto Sans Arabic"/>
                <a:ea typeface="Noto Sans Arabic"/>
              </a:rPr>
              <a:t>الدكتورة هناء حسين الأهيمر</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الفجوات البحثية — Research Gaps</dc:title>
  <dc:subject>دليل شامل لاكتشاف الفجوات البحثية</dc:subject>
  <dc:creator>Dr. Hana Hossen Elahemer</dc:creator>
  <cp:keywords/>
  <dc:description/>
  <cp:lastModifiedBy>Steve Canny</cp:lastModifiedBy>
  <cp:revision>1</cp:revision>
  <dcterms:created xsi:type="dcterms:W3CDTF">2013-01-27T09:14:16Z</dcterms:created>
  <dcterms:modified xsi:type="dcterms:W3CDTF">2013-01-27T09:15:58Z</dcterms:modified>
  <cp:category/>
</cp:coreProperties>
</file>