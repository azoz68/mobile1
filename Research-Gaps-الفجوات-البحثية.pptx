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افتتاحية الورشة كما وردت في الشرح: أكثر الأسئلة التي تصل للمقدمة على الخاص هو: هل يمكن استخدام الذكاء الاصطناعي لإيجاد الفجوة البحثية؟ والجواب: نعم — والورشة تشرح كيف. الموضوع من أهم مواضيع البحث العلمي: الفجوة البحثية تعني ببساطة الشيء الذي لم تتم دراسته بشكل كافٍ بعد، أو النقطة التي لم يركّز عليها الباحثون بوضوح. سنتعلم في هذا العرض: ما هي الفجوة البحثية، لماذا تعتبر مهمة، أنواعها المختلفة، والأهم: كيف نكتشفها باستخدام أدوات الذكاء الاصطناعي. والهدف النهائي: أن يتمكن أي طالب أو باحث بعد هذا العرض من تحديد فجوة بحثية قوية بطريقة احترافية.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خطة العرض في سبعة محاور تتدرج منطقياً: نبدأ بالمفهوم (ما هي الفجوة وما صورها؟)، ثم الأهمية (لماذا نهتم؟)، ثم الأنواع الستة بشرح موسّع لكل نوع، ثم أمثلة تطبيقية واقعية، ثم ننتقل للجانب العملي: أدوات الذكاء الاصطناعي الثماني وسير العمل الذكي الذي أوصت به الورشة، فاستراتيجيات الباحثين المحترفين وإطار التفكير النقدي، ونختم بالتمييز بين الفجوة القوية والضعيفة وقالب صياغة جاهز للاستخدام. الهدف المعلن في الورشة: أن يخرج كل طالب وباحث قادراً على تحديد فجوة بحثية قوية باحترافية.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من شرح الورشة: ماذا نقصد بالفجوة البحثية؟ ببساطة: منطقة أو مشكلة في مجال معين، إما أن أحداً لم يدرسها من قبل، أو دُرست بشكل ناقص، أو تحتاج مزيداً من التحليل والاستكشاف. وللفجوة أكثر من صورة: (1) موضوع جديد بالكامل لم يبحثه أحد — أقرب لفجوة المعرفة. (2) دراسة جزئية: الموضوع تناوله الباحثون من زاوية واحدة فقط. (3) نتائج متضاربة بين الدراسات تحتاج بحثاً يحسمها. (4) اختلاف السياق الجغرافي — وأكدت الشارحة هذه النقطة بمثال واضح: الدراسة التي تنجح في دولة معينة ليس شرطاً أن تنجح بنفس الطريقة في مجتمع آخر، لاختلاف الثقافة والظروف والبيئة. لذلك إعادة اختبار النتائج في سياقك المحلي فجوة مشروعة وقيّمة.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لماذا الفجوات البحثية مهمة جداً في البحث العلمي؟ كما عدّدتها الورشة: (1) تعطيك Research Direction — اتجاهاً واضحاً لبحثك. (2) تحقق Scientific Originality — الأصالة العلمية، أي أن بحثك فيه إضافة جديدة. (3) تساعدك في Justifying the Study — تبرير دراستك أمام اللجنة العلمية عندما تُسأل: لماذا هذا البحث؟ (4) تربط بين الـ Literature Review (الدراسات السابقة) وبين الشيء الجديد الذي ستضيفه — فيظهر بحثك امتداداً منطقياً للمعرفة. (5) حتى المجلات العلمية المحكّمة تفضّل الأبحاث التي تعالج فجوات واضحة — ذكر الفجوة في المقدمة يرفع حظوظ القبول. (6) والجهات الممولة للبحوث تبحث دائماً عن مشاكل حقيقية تحتاج حلولاً — الفجوة الموثقة هي ما يقنعها بالاستثمار في مقترحك.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الأنواع الثلاثة الأولى كما شرحتها الورشة: (1) فجوة المعرفة Knowledge Gap: معلومة لا يعرفها العلم إلى الآن — يكون الموضوع جديداً بالكامل. مثالها النموذجي: الظواهر والتقنيات المستجدة. (2) فجوة الممارسة Practice Gap: الفرق بين النظرية وتطبيق الواقع — الإرشادات موجودة لكن الميدان لا يلتزم بها، والبحث يدرس الأسباب وسبل العلاج. هذا النوع مثالي للتخصصات المهنية كالتمريض والتعليم والإدارة. (3) فجوة الأدلة Evidence Gap: الأدلة العلمية غير كافية لدعم فرضية أو توصية — البحث هنا يصمم التجارب التي تبني الدليل الغائب. احفظ السؤال المفتاحي أسفل كل بطاقة؛ فهو أسرع وسيلة لاستدعاء النوع أثناء قراءتك للأدبيات.</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الأنواع الثلاثة الأخيرة: (4) فجوة السكان Population Gap: فئة معينة لم تُدرس بشكل كافٍ — جنس، عمر، ثقافة، مهنة. انتبه: نتائج العينات الغربية لا تُعمَّم تلقائياً على مجتمعك. (5) الفجوة المنهجية Methodological Gap: الباحثون استخدموا منهجاً واحداً فقط (غالباً الكمي)، وتغيير المنهج أو الدمج بين الكمي والنوعي قد يكشف صورة مختلفة تماماً. (6) الفجوة الزمنية Temporal Gap: الدراسات قديمة ولا تعكس الوضع الحالي — خاصة بعد التحولات الكبرى كجائحة كورونا وثورة الذكاء الاصطناعي. هذان النوعان الأخيران (المنهجية والزمنية) من أسهل المداخل لباحث الماجستير: خذ موضوعاً مدروساً وأعد بحثه بمنهج جديد أو بيانات حديثة في سياقك المحلي.</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أمثلة عملية كما وردت في الورشة: في فجوة المعرفة — تأثير الذكاء الاصطناعي على القرارات الأخلاقية في القطاع الصحي العربي لم يُدرس بشكل كافٍ. في فجوة الممارسة — البروتوكولات الطبية موجودة لكن التطبيق الواقعي مختلف. في فجوة السكان — معظم الدراسات على طلاب غربيين والشباب العربي ما زال ناقصاً في الدراسات. في الفجوة المنهجية — كل الدراسات استخدمت المنهج الكمي فقط بينما النوعي يعطي تفاصيل أعمق. في الفجوة الزمنية — الدراسات قبل 2020 لا تعكس تغيرات ما بعد الجائحة. وأضفنا مثالاً لفجوة الأدلة: التوصية الشائعة بالتعلم المصغّر دون تجارب مضبوطة. لاحظ البنية المشتركة في كل مثال: موضوع + سياق + سبب اعتباره فجوة — استخدم البنية نفسها عند صياغة فجوتك.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مع تطور التكنولوجيا صارت لدينا أدوات ذكاء اصطناعي قوية تساعد الباحث على اكتشاف الفجوات بسرعة. كما عرضتها الورشة بالترتيب: Elicit يلخص الدراسات، Consensus يعطي إجماع الأبحاث حول سؤال معين، Research Rabbit يرسم خريطة للعلاقات بين الأبحاث، Connected Papers يوضح الدراسات المرتبطة، Scite.ai يقيّم قوة المراجع، Semantic Scholar محرك بحث أكاديمي ذكي، Claude يقدم تحليلاً وحواراً نقدياً معمقاً، وChatGPT يساعد في الفهم العام. وشددت الورشة على أن الأقوى بينها هو Research Rabbit لقدرته على رسم خريطة واضحة للعلاقات — وخصصنا الشريحة التالية لسير العمل الموصى به معه خطوة بخطوة.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هذه الشريحة تلخص أهم إضافة عملية في شرح الورشة — سير العمل الموصى به مع Research Rabbit: (1) يرفع الباحث ملفات الدراسات المرتبطة بموضوعه إلى المنصة. (2) يسأل سؤالاً دقيقاً: «حلّل هذه الملفات واستخرج الفجوة البحثية». (3) ثم — وهذه النقطة التي شددت عليها الورشة — يراجع الباحث التحليل الذي قدمه الذكاء الاصطناعي بنفسه، لضمان دقة القرار الأكاديمي. (4) بعد التحقق يعتمد الفجوة ويبني عليها مقترحه. الرسالة الجوهرية: الأدوات الذكية تسرّع الاكتشاف لكنها لا تلغي دور الباحث — الحكم النهائي دائماً للعقل النقدي البشري وللمصادر الأصلية.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الباحثون المحترفون لديهم استراتيجيات ذكية لاكتشاف الفجوات، كما عرضتها الورشة: (1) قراءة خاتمة الدراسات (Conclusion Section): الباحثون غالباً يذكرون اقتراحات مستقبلية صريحة — هذه فجوات جاهزة أوصى بها أصحاب الدراسات أنفسهم. (2) عمل Literature Mapping أو خريطة للأدبيات العلمية حسب السكان والمنهج والدولة والزمن — الفراغ في الخريطة يظهر بصرياً بدل التخمين. (3) البحث عن التناقضات بين النتائج — التضارب فرصة لبحث يحسم الخلاف. (4) ومن أفضل الأسئلة: What if — ماذا لو طبقنا الدراسة نفسها على فئة عمرية مختلفة أو دولة مختلفة؟ قالت الورشة نصاً: هنا غالباً نجد فجوة بحثية ممتازة.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أي باحث ناجح لا بد أن يستخدم التفكير النقدي، وفي الورشة إطار من ستة أسئلة: Who — من الذي تمت دراسته؟ What — ما المتغيرات؟ Where — أين صار البحث؟ When — متى نُشرت الدراسة؟ How — كيف تمت الدراسة؟ Why — لماذا توقفت وما حدودها؟ اطرح هذه الأسئلة على كل دراسة تقرؤها وستتكشف الفجوات تلقائياً. ومن المؤشرات المهمة أثناء القراءة عبارات مثل: This area has not been studied، وResults are conflicting، وThe sample does not represent — التقاط هذه العبارات في الأدبيات يقودك مباشرة إلى فجوات قابلة للبحث. وتختم الورشة بقاعدة مهمة: التفكير النقدي ليس معناه أن ننتقد الدراسات السابقة، بل أن نبني عليها ونطورها.</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ليست كل فجوة تعتبر قوية — كما نبهت الورشة. الفجوة القوية (Strong Research Gap) تكون: مدعومة بالأدلة من مراجعة حقيقية للأدبيات، محددة وقابلة للقياس، ولها قيمة علمية وعملية، إضافة إلى قابليتها للمعالجة بمنهجية واقعية وارتباطها بسياق محدد. أما الفجوة الضعيفة (Weak Gap) فتكون عامة جداً وغير واضحة. والمثال الذي ضربته الورشة يوضح الفرق تماماً: قولنا «الصحة النفسية لم تُدرس بشكل كافٍ» فجوة ضعيفة — عامة بلا حدود ويسهل دحضها. لكن قولنا «لا توجد دراسة حول تأثير الدراسة عن بعد على القلق عند طلاب الجامعات العربية بعد 2020» فجوة قوية واضحة وقابلة للبحث: فيها المتغير والفئة والسياق والزمن. احرص أن تكون صياغتك دائماً من النوع الثاني.</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خارطة طريق تنفيذية تجمع كل ما سبق في مسار عملي واحد من سبع خطوات: (1) تضييق المجال إلى تخصص فرعي — يسهل حصر الأدبيات. (2) جمع 20–30 دراسة حديثة من آخر خمس سنوات. (3) البدء بقراءة الخاتمات وأقسام حدود الدراسة — كما أوصت الورشة، فهي منجم الفجوات الجاهزة. (4) بناء خريطة الأدبيات (Literature Mapping) حسب السكان والمنهج والدولة والزمن. (5) تظليل الفراغات والتناقضات — الفجوة تظهر بصرياً في الخريطة. (6) التحقق عبر أدوات الذكاء الاصطناعي (سير عمل Research Rabbit من الشريحة التاسعة) من أن الفجوة لم تُسد بدراسة أحدث. (7) الصياغة النهائية بجملة محددة قابلة للقياس. الزمن الواقعي للمسار كاملاً: من أسبوعين إلى أربعة أسابيع من العمل المنتظم.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المرحلة الأخيرة: تحويل الملاحظة إلى فجوة علمية مصاغة باحترافية. القالب المعياري أربعة عناصر: (X) ما تناولته الدراسات فعلاً — يثبت اطلاعك على الأدبيات، (Y) الجانب الغائب — جوهر الفجوة، (Z) السياق المحدد — يمنحها حدوداً واقعية، ثم نوع الدراسة المقترحة — يحولها إلى خطة عمل. المثال المطبق مبني على المثال القوي الذي ذكرته الورشة (الدراسة عن بعد والقلق عند طلاب الجامعات العربية بعد 2020). وقبل الاعتماد النهائي مرر فجوتك على قائمة الفحص الخماسية: موثقة، محددة، مهمة، قابلة للمعالجة، وجديدة. إن اجتازت الخمسة فهي جاهزة لتتصدر مقدمة مقترحك البحثي وتصمد أمام المناقشة.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الخلاصة كما وردت في ختام الورشة: الفجوة البحثية (Research Gap) هي أساس أي بحث علمي ناجح. تذكّر الرسائل الأربع: (1) الفجوة أساس البحث وجواز مرورك للأصالة والنشر والتمويل. (2) الأنواع الستة إطارك العملي — لكل نوع سؤاله المفتاحي وبابه الخاص. (3) استخدم أدوات الذكاء الاصطناعي بالطريقة الصحيحة: ارفع الملفات، اسأل بدقة، ثم راجع التحليل بنفسك قبل اعتماده. (4) اجعل فجوتك قوية: محددة وموثقة ومهمة وقابلة للمعالجة. وتختم الورشة بالرسالة الأجمل: الباحث المتميز ليس الشخص الذي يجد الإجابات فقط، لكنه الشخص الذي يطرح أسئلة لم يفكر فيها أحد من قبل. بالتوفيق في رحلتك البحثية!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17123B"/>
              </a:gs>
              <a:gs pos="100000">
                <a:srgbClr val="6D28D9"/>
              </a:gs>
            </a:gsLst>
            <a:lin ang="2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595360" y="-2103120"/>
            <a:ext cx="5120640" cy="5120640"/>
          </a:xfrm>
          <a:prstGeom prst="ellipse">
            <a:avLst/>
          </a:prstGeom>
          <a:solidFill>
            <a:srgbClr val="FFFF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737360" y="4206240"/>
            <a:ext cx="4754880" cy="4754880"/>
          </a:xfrm>
          <a:prstGeom prst="ellipse">
            <a:avLst/>
          </a:prstGeom>
          <a:solidFill>
            <a:srgbClr val="FFFFFF">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881360" y="5212080"/>
            <a:ext cx="2194560" cy="2194560"/>
          </a:xfrm>
          <a:prstGeom prst="ellipse">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234440" y="1051560"/>
            <a:ext cx="274320" cy="274320"/>
          </a:xfrm>
          <a:prstGeom prst="ellipse">
            <a:avLst/>
          </a:prstGeom>
          <a:solidFill>
            <a:srgbClr val="FBBF2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607040" y="1554480"/>
            <a:ext cx="146304" cy="146304"/>
          </a:xfrm>
          <a:prstGeom prst="ellipse">
            <a:avLst/>
          </a:prstGeom>
          <a:solidFill>
            <a:srgbClr val="FFFFF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103120" y="5760720"/>
            <a:ext cx="146304" cy="146304"/>
          </a:xfrm>
          <a:prstGeom prst="ellipse">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24528" y="713232"/>
            <a:ext cx="3749039" cy="457200"/>
          </a:xfrm>
          <a:prstGeom prst="roundRect">
            <a:avLst>
              <a:gd name="adj" fmla="val 50000"/>
            </a:avLst>
          </a:prstGeom>
          <a:solidFill>
            <a:srgbClr val="FFFF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FFFFFF"/>
                </a:solidFill>
                <a:latin typeface="Segoe UI"/>
                <a:cs typeface="Segoe UI"/>
                <a:ea typeface="Segoe UI"/>
              </a:rPr>
              <a:t>ورشة عمل أكاديمية متخصصة  •  ACADEMIC WORKSHOP</a:t>
            </a:r>
          </a:p>
        </p:txBody>
      </p:sp>
      <p:sp>
        <p:nvSpPr>
          <p:cNvPr id="10" name="TextBox 9"/>
          <p:cNvSpPr txBox="1"/>
          <p:nvPr/>
        </p:nvSpPr>
        <p:spPr>
          <a:xfrm>
            <a:off x="1371600" y="1417320"/>
            <a:ext cx="9448495" cy="1371600"/>
          </a:xfrm>
          <a:prstGeom prst="rect">
            <a:avLst/>
          </a:prstGeom>
          <a:noFill/>
        </p:spPr>
        <p:txBody>
          <a:bodyPr wrap="square" anchor="t" lIns="0" rIns="0" tIns="0" bIns="0">
            <a:spAutoFit/>
          </a:bodyPr>
          <a:lstStyle/>
          <a:p>
            <a:pPr algn="ctr" rtl="1">
              <a:lnSpc>
                <a:spcPct val="105000"/>
              </a:lnSpc>
              <a:spcBef>
                <a:spcPts val="0"/>
              </a:spcBef>
              <a:spcAft>
                <a:spcPts val="400"/>
              </a:spcAft>
            </a:pPr>
            <a:r>
              <a:rPr sz="6000" b="1" i="0">
                <a:solidFill>
                  <a:srgbClr val="FFFFFF"/>
                </a:solidFill>
                <a:latin typeface="Segoe UI"/>
                <a:cs typeface="Segoe UI"/>
                <a:ea typeface="Segoe UI"/>
              </a:rPr>
              <a:t>الفجوات البحثية</a:t>
            </a:r>
          </a:p>
        </p:txBody>
      </p:sp>
      <p:sp>
        <p:nvSpPr>
          <p:cNvPr id="11" name="TextBox 10"/>
          <p:cNvSpPr txBox="1"/>
          <p:nvPr/>
        </p:nvSpPr>
        <p:spPr>
          <a:xfrm>
            <a:off x="1371600" y="2743200"/>
            <a:ext cx="9448495" cy="502920"/>
          </a:xfrm>
          <a:prstGeom prst="rect">
            <a:avLst/>
          </a:prstGeom>
          <a:noFill/>
        </p:spPr>
        <p:txBody>
          <a:bodyPr wrap="square" anchor="t" lIns="0" rIns="0" tIns="0" bIns="0">
            <a:spAutoFit/>
          </a:bodyPr>
          <a:lstStyle/>
          <a:p>
            <a:pPr algn="ctr">
              <a:lnSpc>
                <a:spcPct val="105000"/>
              </a:lnSpc>
              <a:spcBef>
                <a:spcPts val="0"/>
              </a:spcBef>
              <a:spcAft>
                <a:spcPts val="400"/>
              </a:spcAft>
            </a:pPr>
            <a:r>
              <a:rPr sz="2000" b="1" i="0" spc="600">
                <a:solidFill>
                  <a:srgbClr val="FBBF24"/>
                </a:solidFill>
                <a:latin typeface="Segoe UI"/>
                <a:cs typeface="Segoe UI"/>
                <a:ea typeface="Segoe UI"/>
              </a:rPr>
              <a:t>R E S E A R C H   G A P S</a:t>
            </a:r>
          </a:p>
        </p:txBody>
      </p:sp>
      <p:sp>
        <p:nvSpPr>
          <p:cNvPr id="12" name="Rectangle 11"/>
          <p:cNvSpPr/>
          <p:nvPr/>
        </p:nvSpPr>
        <p:spPr>
          <a:xfrm>
            <a:off x="5458968" y="3346704"/>
            <a:ext cx="1280160" cy="45720"/>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45920" y="3566160"/>
            <a:ext cx="8899855" cy="502920"/>
          </a:xfrm>
          <a:prstGeom prst="rect">
            <a:avLst/>
          </a:prstGeom>
          <a:noFill/>
        </p:spPr>
        <p:txBody>
          <a:bodyPr wrap="square" anchor="t" lIns="0" rIns="0" tIns="0" bIns="0">
            <a:spAutoFit/>
          </a:bodyPr>
          <a:lstStyle/>
          <a:p>
            <a:pPr algn="ctr" rtl="1">
              <a:lnSpc>
                <a:spcPct val="105000"/>
              </a:lnSpc>
              <a:spcBef>
                <a:spcPts val="0"/>
              </a:spcBef>
              <a:spcAft>
                <a:spcPts val="400"/>
              </a:spcAft>
            </a:pPr>
            <a:r>
              <a:rPr sz="1600" b="0" i="0">
                <a:solidFill>
                  <a:srgbClr val="FFFFFF"/>
                </a:solidFill>
                <a:latin typeface="Segoe UI"/>
                <a:cs typeface="Segoe UI"/>
                <a:ea typeface="Segoe UI"/>
              </a:rPr>
              <a:t>دليلك الشامل لاكتشاف الفجوات البحثية بذكاء واحترافية — نسخة موسّعة من الشرح الكامل للورشة</a:t>
            </a:r>
          </a:p>
        </p:txBody>
      </p:sp>
      <p:sp>
        <p:nvSpPr>
          <p:cNvPr id="14" name="Rounded Rectangle 13"/>
          <p:cNvSpPr/>
          <p:nvPr/>
        </p:nvSpPr>
        <p:spPr>
          <a:xfrm>
            <a:off x="2624328" y="4279392"/>
            <a:ext cx="6949440" cy="960120"/>
          </a:xfrm>
          <a:prstGeom prst="roundRect">
            <a:avLst>
              <a:gd name="adj" fmla="val 16000"/>
            </a:avLst>
          </a:prstGeom>
          <a:solidFill>
            <a:srgbClr val="FFFFFF">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0360" y="4407408"/>
            <a:ext cx="6437376"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350" b="1" i="0">
                <a:solidFill>
                  <a:srgbClr val="FFFFFF"/>
                </a:solidFill>
                <a:latin typeface="Segoe UI"/>
                <a:cs typeface="Segoe UI"/>
                <a:ea typeface="Segoe UI"/>
              </a:rPr>
              <a:t>السؤال الأكثر تكراراً: هل يمكن استخدام الذكاء الاصطناعي لإيجاد الفجوة البحثية؟</a:t>
            </a:r>
          </a:p>
        </p:txBody>
      </p:sp>
      <p:sp>
        <p:nvSpPr>
          <p:cNvPr id="16" name="TextBox 15"/>
          <p:cNvSpPr txBox="1"/>
          <p:nvPr/>
        </p:nvSpPr>
        <p:spPr>
          <a:xfrm>
            <a:off x="2880360" y="4809744"/>
            <a:ext cx="6437376"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FBBF24"/>
                </a:solidFill>
                <a:latin typeface="Segoe UI"/>
                <a:cs typeface="Segoe UI"/>
                <a:ea typeface="Segoe UI"/>
              </a:rPr>
              <a:t>الجواب: نعم — وفي هذا العرض ستتعلم كيف، خطوة بخطوة</a:t>
            </a:r>
          </a:p>
        </p:txBody>
      </p:sp>
      <p:sp>
        <p:nvSpPr>
          <p:cNvPr id="17" name="TextBox 16"/>
          <p:cNvSpPr txBox="1"/>
          <p:nvPr/>
        </p:nvSpPr>
        <p:spPr>
          <a:xfrm>
            <a:off x="1371600" y="5577840"/>
            <a:ext cx="9448495"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350" b="0" i="0">
                <a:solidFill>
                  <a:srgbClr val="FFFFFF"/>
                </a:solidFill>
                <a:latin typeface="Segoe UI"/>
                <a:cs typeface="Segoe UI"/>
                <a:ea typeface="Segoe UI"/>
              </a:rPr>
              <a:t>المحتوى العلمي:  </a:t>
            </a:r>
            <a:r>
              <a:rPr sz="1350" b="1" i="0">
                <a:solidFill>
                  <a:srgbClr val="FBBF24"/>
                </a:solidFill>
                <a:latin typeface="Segoe UI"/>
                <a:cs typeface="Segoe UI"/>
                <a:ea typeface="Segoe UI"/>
              </a:rPr>
              <a:t>الدكتورة هناء حسين الأهيمر</a:t>
            </a:r>
            <a:r>
              <a:rPr sz="1200" b="0" i="0">
                <a:solidFill>
                  <a:srgbClr val="FFFFFF"/>
                </a:solidFill>
                <a:latin typeface="Segoe UI"/>
                <a:cs typeface="Segoe UI"/>
                <a:ea typeface="Segoe UI"/>
              </a:rPr>
              <a:t>   Dr. Hana Hossen Elahemer</a:t>
            </a:r>
          </a:p>
        </p:txBody>
      </p:sp>
      <p:sp>
        <p:nvSpPr>
          <p:cNvPr id="18" name="TextBox 17"/>
          <p:cNvSpPr txBox="1"/>
          <p:nvPr/>
        </p:nvSpPr>
        <p:spPr>
          <a:xfrm>
            <a:off x="1371600" y="6035040"/>
            <a:ext cx="9448495"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100" b="0" i="0">
                <a:solidFill>
                  <a:srgbClr val="FFFFFF"/>
                </a:solidFill>
                <a:latin typeface="Segoe UI"/>
                <a:cs typeface="Segoe UI"/>
                <a:ea typeface="Segoe UI"/>
              </a:rPr>
              <a:t>نسخة موسّعة بشرح تفصيلي أكبر وتصميم جديد</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Segoe UI"/>
                <a:cs typeface="Segoe UI"/>
                <a:ea typeface="Segoe UI"/>
              </a:rPr>
              <a:t>02</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Segoe UI"/>
                <a:cs typeface="Segoe UI"/>
                <a:ea typeface="Segoe UI"/>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D97706"/>
                </a:solidFill>
                <a:latin typeface="Segoe UI"/>
                <a:cs typeface="Segoe UI"/>
                <a:ea typeface="Segoe UI"/>
              </a:rPr>
              <a:t>AGENDA &amp; GOAL</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Segoe UI"/>
                <a:cs typeface="Segoe UI"/>
                <a:ea typeface="Segoe UI"/>
              </a:rPr>
              <a:t>خطة العرض وهدفه</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Segoe UI"/>
                <a:cs typeface="Segoe UI"/>
                <a:ea typeface="Segoe UI"/>
              </a:rPr>
              <a:t>02</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الفجوات البحثية  •  د. هناء حسين الأهيمر</a:t>
            </a:r>
          </a:p>
        </p:txBody>
      </p:sp>
      <p:sp>
        <p:nvSpPr>
          <p:cNvPr id="11" name="Rounded Rectangle 10"/>
          <p:cNvSpPr/>
          <p:nvPr/>
        </p:nvSpPr>
        <p:spPr>
          <a:xfrm>
            <a:off x="548640" y="1627632"/>
            <a:ext cx="11094415" cy="777240"/>
          </a:xfrm>
          <a:prstGeom prst="roundRect">
            <a:avLst>
              <a:gd name="adj" fmla="val 20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737360"/>
            <a:ext cx="10454335" cy="548640"/>
          </a:xfrm>
          <a:prstGeom prst="rect">
            <a:avLst/>
          </a:prstGeom>
          <a:noFill/>
        </p:spPr>
        <p:txBody>
          <a:bodyPr wrap="square" anchor="t" lIns="0" rIns="0" tIns="0" bIns="0">
            <a:spAutoFit/>
          </a:bodyPr>
          <a:lstStyle/>
          <a:p>
            <a:pPr algn="ctr" rtl="1">
              <a:lnSpc>
                <a:spcPct val="105000"/>
              </a:lnSpc>
              <a:spcBef>
                <a:spcPts val="0"/>
              </a:spcBef>
              <a:spcAft>
                <a:spcPts val="400"/>
              </a:spcAft>
            </a:pPr>
            <a:r>
              <a:rPr sz="1400" b="1" i="0">
                <a:solidFill>
                  <a:srgbClr val="FBBF24"/>
                </a:solidFill>
                <a:latin typeface="Segoe UI"/>
                <a:cs typeface="Segoe UI"/>
                <a:ea typeface="Segoe UI"/>
              </a:rPr>
              <a:t>🎯 هدف الورشة:  </a:t>
            </a:r>
            <a:r>
              <a:rPr sz="1400" b="1" i="0">
                <a:solidFill>
                  <a:srgbClr val="FFFFFF"/>
                </a:solidFill>
                <a:latin typeface="Segoe UI"/>
                <a:cs typeface="Segoe UI"/>
                <a:ea typeface="Segoe UI"/>
              </a:rPr>
              <a:t>أن يتمكّن أي طالب أو باحث — بعد هذا العرض — من تحديد فجوة بحثية قوية بطريقة احترافية</a:t>
            </a:r>
          </a:p>
        </p:txBody>
      </p:sp>
      <p:sp>
        <p:nvSpPr>
          <p:cNvPr id="13" name="Rounded Rectangle 12"/>
          <p:cNvSpPr/>
          <p:nvPr/>
        </p:nvSpPr>
        <p:spPr>
          <a:xfrm>
            <a:off x="6301587" y="2606040"/>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984687" y="2752344"/>
            <a:ext cx="530352" cy="530352"/>
          </a:xfrm>
          <a:prstGeom prst="ellipse">
            <a:avLst/>
          </a:prstGeom>
          <a:ln>
            <a:noFill/>
          </a:ln>
          <a:effectLst/>
          <a:gradFill rotWithShape="1">
            <a:gsLst>
              <a:gs pos="0">
                <a:srgbClr val="A21CAF"/>
              </a:gs>
              <a:gs pos="100000">
                <a:srgbClr val="E879F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Segoe UI"/>
                <a:cs typeface="Segoe UI"/>
                <a:ea typeface="Segoe UI"/>
              </a:rPr>
              <a:t>١</a:t>
            </a:r>
          </a:p>
        </p:txBody>
      </p:sp>
      <p:sp>
        <p:nvSpPr>
          <p:cNvPr id="15" name="TextBox 14"/>
          <p:cNvSpPr txBox="1"/>
          <p:nvPr/>
        </p:nvSpPr>
        <p:spPr>
          <a:xfrm>
            <a:off x="6530187" y="2670048"/>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Segoe UI"/>
                <a:cs typeface="Segoe UI"/>
                <a:ea typeface="Segoe UI"/>
              </a:rPr>
              <a:t>مفهوم الفجوة البحثية</a:t>
            </a:r>
          </a:p>
        </p:txBody>
      </p:sp>
      <p:sp>
        <p:nvSpPr>
          <p:cNvPr id="16" name="TextBox 15"/>
          <p:cNvSpPr txBox="1"/>
          <p:nvPr/>
        </p:nvSpPr>
        <p:spPr>
          <a:xfrm>
            <a:off x="6530187" y="3035808"/>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التعريف الدقيق وصورها الأربع كما شرحتها الورشة</a:t>
            </a:r>
          </a:p>
        </p:txBody>
      </p:sp>
      <p:sp>
        <p:nvSpPr>
          <p:cNvPr id="17" name="Rounded Rectangle 16"/>
          <p:cNvSpPr/>
          <p:nvPr/>
        </p:nvSpPr>
        <p:spPr>
          <a:xfrm>
            <a:off x="6301587" y="3557016"/>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984687" y="3703320"/>
            <a:ext cx="530352" cy="530352"/>
          </a:xfrm>
          <a:prstGeom prst="ellipse">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Segoe UI"/>
                <a:cs typeface="Segoe UI"/>
                <a:ea typeface="Segoe UI"/>
              </a:rPr>
              <a:t>٢</a:t>
            </a:r>
          </a:p>
        </p:txBody>
      </p:sp>
      <p:sp>
        <p:nvSpPr>
          <p:cNvPr id="19" name="TextBox 18"/>
          <p:cNvSpPr txBox="1"/>
          <p:nvPr/>
        </p:nvSpPr>
        <p:spPr>
          <a:xfrm>
            <a:off x="6530187" y="3621024"/>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Segoe UI"/>
                <a:cs typeface="Segoe UI"/>
                <a:ea typeface="Segoe UI"/>
              </a:rPr>
              <a:t>لماذا تهمّنا الفجوات؟</a:t>
            </a:r>
          </a:p>
        </p:txBody>
      </p:sp>
      <p:sp>
        <p:nvSpPr>
          <p:cNvPr id="20" name="TextBox 19"/>
          <p:cNvSpPr txBox="1"/>
          <p:nvPr/>
        </p:nvSpPr>
        <p:spPr>
          <a:xfrm>
            <a:off x="6530187" y="3986784"/>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ستة أسباب تجعلها حجر الأساس في أي بحث ناجح</a:t>
            </a:r>
          </a:p>
        </p:txBody>
      </p:sp>
      <p:sp>
        <p:nvSpPr>
          <p:cNvPr id="21" name="Rounded Rectangle 20"/>
          <p:cNvSpPr/>
          <p:nvPr/>
        </p:nvSpPr>
        <p:spPr>
          <a:xfrm>
            <a:off x="6301587" y="4507992"/>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984687" y="4654296"/>
            <a:ext cx="530352" cy="530352"/>
          </a:xfrm>
          <a:prstGeom prst="ellipse">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Segoe UI"/>
                <a:cs typeface="Segoe UI"/>
                <a:ea typeface="Segoe UI"/>
              </a:rPr>
              <a:t>٣</a:t>
            </a:r>
          </a:p>
        </p:txBody>
      </p:sp>
      <p:sp>
        <p:nvSpPr>
          <p:cNvPr id="23" name="TextBox 22"/>
          <p:cNvSpPr txBox="1"/>
          <p:nvPr/>
        </p:nvSpPr>
        <p:spPr>
          <a:xfrm>
            <a:off x="6530187" y="4572000"/>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Segoe UI"/>
                <a:cs typeface="Segoe UI"/>
                <a:ea typeface="Segoe UI"/>
              </a:rPr>
              <a:t>الأنواع الستة بالتفصيل</a:t>
            </a:r>
          </a:p>
        </p:txBody>
      </p:sp>
      <p:sp>
        <p:nvSpPr>
          <p:cNvPr id="24" name="TextBox 23"/>
          <p:cNvSpPr txBox="1"/>
          <p:nvPr/>
        </p:nvSpPr>
        <p:spPr>
          <a:xfrm>
            <a:off x="6530187" y="4937759"/>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شرح موسّع لكل نوع مع سؤاله المفتاحي ومثاله</a:t>
            </a:r>
          </a:p>
        </p:txBody>
      </p:sp>
      <p:sp>
        <p:nvSpPr>
          <p:cNvPr id="25" name="Rounded Rectangle 24"/>
          <p:cNvSpPr/>
          <p:nvPr/>
        </p:nvSpPr>
        <p:spPr>
          <a:xfrm>
            <a:off x="6301587" y="5458968"/>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984687" y="5605272"/>
            <a:ext cx="530352" cy="530352"/>
          </a:xfrm>
          <a:prstGeom prst="ellipse">
            <a:avLst/>
          </a:prstGeom>
          <a:ln>
            <a:noFill/>
          </a:ln>
          <a:effectLst/>
          <a:gradFill rotWithShape="1">
            <a:gsLst>
              <a:gs pos="0">
                <a:srgbClr val="6D28D9"/>
              </a:gs>
              <a:gs pos="100000">
                <a:srgbClr val="A855F7"/>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Segoe UI"/>
                <a:cs typeface="Segoe UI"/>
                <a:ea typeface="Segoe UI"/>
              </a:rPr>
              <a:t>٤</a:t>
            </a:r>
          </a:p>
        </p:txBody>
      </p:sp>
      <p:sp>
        <p:nvSpPr>
          <p:cNvPr id="27" name="TextBox 26"/>
          <p:cNvSpPr txBox="1"/>
          <p:nvPr/>
        </p:nvSpPr>
        <p:spPr>
          <a:xfrm>
            <a:off x="6530187" y="5522976"/>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Segoe UI"/>
                <a:cs typeface="Segoe UI"/>
                <a:ea typeface="Segoe UI"/>
              </a:rPr>
              <a:t>أمثلة تطبيقية واقعية</a:t>
            </a:r>
          </a:p>
        </p:txBody>
      </p:sp>
      <p:sp>
        <p:nvSpPr>
          <p:cNvPr id="28" name="TextBox 27"/>
          <p:cNvSpPr txBox="1"/>
          <p:nvPr/>
        </p:nvSpPr>
        <p:spPr>
          <a:xfrm>
            <a:off x="6530187" y="5888736"/>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مثال ملموس على كل نوع ولماذا يُعد فجوة</a:t>
            </a:r>
          </a:p>
        </p:txBody>
      </p:sp>
      <p:sp>
        <p:nvSpPr>
          <p:cNvPr id="29" name="Rounded Rectangle 28"/>
          <p:cNvSpPr/>
          <p:nvPr/>
        </p:nvSpPr>
        <p:spPr>
          <a:xfrm>
            <a:off x="548640" y="2606040"/>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231739" y="2752344"/>
            <a:ext cx="530352" cy="530352"/>
          </a:xfrm>
          <a:prstGeom prst="ellipse">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Segoe UI"/>
                <a:cs typeface="Segoe UI"/>
                <a:ea typeface="Segoe UI"/>
              </a:rPr>
              <a:t>٥</a:t>
            </a:r>
          </a:p>
        </p:txBody>
      </p:sp>
      <p:sp>
        <p:nvSpPr>
          <p:cNvPr id="31" name="TextBox 30"/>
          <p:cNvSpPr txBox="1"/>
          <p:nvPr/>
        </p:nvSpPr>
        <p:spPr>
          <a:xfrm>
            <a:off x="777240" y="2670048"/>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Segoe UI"/>
                <a:cs typeface="Segoe UI"/>
                <a:ea typeface="Segoe UI"/>
              </a:rPr>
              <a:t>أدوات الذكاء الاصطناعي</a:t>
            </a:r>
          </a:p>
        </p:txBody>
      </p:sp>
      <p:sp>
        <p:nvSpPr>
          <p:cNvPr id="32" name="TextBox 31"/>
          <p:cNvSpPr txBox="1"/>
          <p:nvPr/>
        </p:nvSpPr>
        <p:spPr>
          <a:xfrm>
            <a:off x="777240" y="3035808"/>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ثماني أدوات + سير العمل الذكي مع الأداة الأقوى</a:t>
            </a:r>
          </a:p>
        </p:txBody>
      </p:sp>
      <p:sp>
        <p:nvSpPr>
          <p:cNvPr id="33" name="Rounded Rectangle 32"/>
          <p:cNvSpPr/>
          <p:nvPr/>
        </p:nvSpPr>
        <p:spPr>
          <a:xfrm>
            <a:off x="548640" y="3557016"/>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231739" y="3703320"/>
            <a:ext cx="530352" cy="530352"/>
          </a:xfrm>
          <a:prstGeom prst="ellipse">
            <a:avLst/>
          </a:prstGeom>
          <a:ln>
            <a:noFill/>
          </a:ln>
          <a:effectLst/>
          <a:gradFill rotWithShape="1">
            <a:gsLst>
              <a:gs pos="0">
                <a:srgbClr val="047857"/>
              </a:gs>
              <a:gs pos="100000">
                <a:srgbClr val="34D39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Segoe UI"/>
                <a:cs typeface="Segoe UI"/>
                <a:ea typeface="Segoe UI"/>
              </a:rPr>
              <a:t>٦</a:t>
            </a:r>
          </a:p>
        </p:txBody>
      </p:sp>
      <p:sp>
        <p:nvSpPr>
          <p:cNvPr id="35" name="TextBox 34"/>
          <p:cNvSpPr txBox="1"/>
          <p:nvPr/>
        </p:nvSpPr>
        <p:spPr>
          <a:xfrm>
            <a:off x="777240" y="3621024"/>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Segoe UI"/>
                <a:cs typeface="Segoe UI"/>
                <a:ea typeface="Segoe UI"/>
              </a:rPr>
              <a:t>استراتيجيات المحترفين</a:t>
            </a:r>
          </a:p>
        </p:txBody>
      </p:sp>
      <p:sp>
        <p:nvSpPr>
          <p:cNvPr id="36" name="TextBox 35"/>
          <p:cNvSpPr txBox="1"/>
          <p:nvPr/>
        </p:nvSpPr>
        <p:spPr>
          <a:xfrm>
            <a:off x="777240" y="3986784"/>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أربع استراتيجيات ميدانية + إطار التفكير النقدي</a:t>
            </a:r>
          </a:p>
        </p:txBody>
      </p:sp>
      <p:sp>
        <p:nvSpPr>
          <p:cNvPr id="37" name="Rounded Rectangle 36"/>
          <p:cNvSpPr/>
          <p:nvPr/>
        </p:nvSpPr>
        <p:spPr>
          <a:xfrm>
            <a:off x="548640" y="4507992"/>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31739" y="4654296"/>
            <a:ext cx="530352" cy="530352"/>
          </a:xfrm>
          <a:prstGeom prst="ellipse">
            <a:avLst/>
          </a:prstGeom>
          <a:ln>
            <a:noFill/>
          </a:ln>
          <a:effectLst/>
          <a:gradFill rotWithShape="1">
            <a:gsLst>
              <a:gs pos="0">
                <a:srgbClr val="1D4ED8"/>
              </a:gs>
              <a:gs pos="100000">
                <a:srgbClr val="60A5FA"/>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Segoe UI"/>
                <a:cs typeface="Segoe UI"/>
                <a:ea typeface="Segoe UI"/>
              </a:rPr>
              <a:t>٧</a:t>
            </a:r>
          </a:p>
        </p:txBody>
      </p:sp>
      <p:sp>
        <p:nvSpPr>
          <p:cNvPr id="39" name="TextBox 38"/>
          <p:cNvSpPr txBox="1"/>
          <p:nvPr/>
        </p:nvSpPr>
        <p:spPr>
          <a:xfrm>
            <a:off x="777240" y="4572000"/>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Segoe UI"/>
                <a:cs typeface="Segoe UI"/>
                <a:ea typeface="Segoe UI"/>
              </a:rPr>
              <a:t>من الفجوة إلى الصياغة</a:t>
            </a:r>
          </a:p>
        </p:txBody>
      </p:sp>
      <p:sp>
        <p:nvSpPr>
          <p:cNvPr id="40" name="TextBox 39"/>
          <p:cNvSpPr txBox="1"/>
          <p:nvPr/>
        </p:nvSpPr>
        <p:spPr>
          <a:xfrm>
            <a:off x="777240" y="4937759"/>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تمييز الفجوة القوية، خارطة طريق، وقالب صياغة جاهز</a:t>
            </a:r>
          </a:p>
        </p:txBody>
      </p:sp>
      <p:sp>
        <p:nvSpPr>
          <p:cNvPr id="41" name="Rounded Rectangle 40"/>
          <p:cNvSpPr/>
          <p:nvPr/>
        </p:nvSpPr>
        <p:spPr>
          <a:xfrm>
            <a:off x="548640" y="5458968"/>
            <a:ext cx="5341467" cy="822960"/>
          </a:xfrm>
          <a:prstGeom prst="roundRect">
            <a:avLst>
              <a:gd name="adj" fmla="val 20000"/>
            </a:avLst>
          </a:prstGeom>
          <a:solidFill>
            <a:srgbClr val="F3EDFB"/>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 y="5568696"/>
            <a:ext cx="4884267" cy="640080"/>
          </a:xfrm>
          <a:prstGeom prst="rect">
            <a:avLst/>
          </a:prstGeom>
          <a:noFill/>
        </p:spPr>
        <p:txBody>
          <a:bodyPr wrap="square" anchor="t" lIns="0" rIns="0" tIns="0" bIns="0">
            <a:spAutoFit/>
          </a:bodyPr>
          <a:lstStyle/>
          <a:p>
            <a:pPr algn="ctr" rtl="1">
              <a:lnSpc>
                <a:spcPct val="105000"/>
              </a:lnSpc>
              <a:spcBef>
                <a:spcPts val="0"/>
              </a:spcBef>
              <a:spcAft>
                <a:spcPts val="200"/>
              </a:spcAft>
            </a:pPr>
            <a:r>
              <a:rPr sz="1300" b="1" i="0">
                <a:solidFill>
                  <a:srgbClr val="6D28D9"/>
                </a:solidFill>
                <a:latin typeface="Segoe UI"/>
                <a:cs typeface="Segoe UI"/>
                <a:ea typeface="Segoe UI"/>
              </a:rPr>
              <a:t>«الفجوة البحثية هي أساس أي بحث علمي ناجح»</a:t>
            </a:r>
          </a:p>
          <a:p>
            <a:pPr algn="ctr" rtl="1">
              <a:lnSpc>
                <a:spcPct val="105000"/>
              </a:lnSpc>
              <a:spcBef>
                <a:spcPts val="0"/>
              </a:spcBef>
              <a:spcAft>
                <a:spcPts val="400"/>
              </a:spcAft>
            </a:pPr>
            <a:r>
              <a:rPr sz="1000" b="0" i="0">
                <a:solidFill>
                  <a:srgbClr val="6E6A8F"/>
                </a:solidFill>
                <a:latin typeface="Segoe UI"/>
                <a:cs typeface="Segoe UI"/>
                <a:ea typeface="Segoe UI"/>
              </a:rPr>
              <a:t>— من خلاصة الورشة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Segoe UI"/>
                <a:cs typeface="Segoe UI"/>
                <a:ea typeface="Segoe UI"/>
              </a:rPr>
              <a:t>03</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Segoe UI"/>
                <a:cs typeface="Segoe UI"/>
                <a:ea typeface="Segoe UI"/>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A21CAF"/>
                </a:solidFill>
                <a:latin typeface="Segoe UI"/>
                <a:cs typeface="Segoe UI"/>
                <a:ea typeface="Segoe UI"/>
              </a:rPr>
              <a:t>WHAT IS A RESEARCH GAP?</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Segoe UI"/>
                <a:cs typeface="Segoe UI"/>
                <a:ea typeface="Segoe UI"/>
              </a:rPr>
              <a:t>ما هي الفجوة البحثية؟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A21CAF"/>
              </a:gs>
              <a:gs pos="100000">
                <a:srgbClr val="E879F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Segoe UI"/>
                <a:cs typeface="Segoe UI"/>
                <a:ea typeface="Segoe UI"/>
              </a:rPr>
              <a:t>03</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الفجوات البحثية  •  د. هناء حسين الأهيمر</a:t>
            </a:r>
          </a:p>
        </p:txBody>
      </p:sp>
      <p:sp>
        <p:nvSpPr>
          <p:cNvPr id="11" name="Rounded Rectangle 10"/>
          <p:cNvSpPr/>
          <p:nvPr/>
        </p:nvSpPr>
        <p:spPr>
          <a:xfrm>
            <a:off x="548640" y="1600200"/>
            <a:ext cx="11094415" cy="1463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1515039" y="1600200"/>
            <a:ext cx="128016" cy="1463040"/>
          </a:xfrm>
          <a:prstGeom prst="roundRect">
            <a:avLst>
              <a:gd name="adj" fmla="val 100000"/>
            </a:avLst>
          </a:prstGeom>
          <a:ln>
            <a:noFill/>
          </a:ln>
          <a:effectLst/>
          <a:gradFill rotWithShape="1">
            <a:gsLst>
              <a:gs pos="0">
                <a:srgbClr val="A21CAF"/>
              </a:gs>
              <a:gs pos="100000">
                <a:srgbClr val="E879F9"/>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755648"/>
            <a:ext cx="10317175" cy="1188720"/>
          </a:xfrm>
          <a:prstGeom prst="rect">
            <a:avLst/>
          </a:prstGeom>
          <a:noFill/>
        </p:spPr>
        <p:txBody>
          <a:bodyPr wrap="square" anchor="t" lIns="0" rIns="0" tIns="0" bIns="0">
            <a:spAutoFit/>
          </a:bodyPr>
          <a:lstStyle/>
          <a:p>
            <a:pPr algn="r" rtl="1">
              <a:lnSpc>
                <a:spcPct val="118000"/>
              </a:lnSpc>
              <a:spcBef>
                <a:spcPts val="0"/>
              </a:spcBef>
              <a:spcAft>
                <a:spcPts val="600"/>
              </a:spcAft>
            </a:pPr>
            <a:r>
              <a:rPr sz="1450" b="1" i="0">
                <a:solidFill>
                  <a:srgbClr val="A21CAF"/>
                </a:solidFill>
                <a:latin typeface="Segoe UI"/>
                <a:cs typeface="Segoe UI"/>
                <a:ea typeface="Segoe UI"/>
              </a:rPr>
              <a:t>التعريف كما ورد في الشرح:  </a:t>
            </a:r>
            <a:r>
              <a:rPr sz="1400" b="0" i="0">
                <a:solidFill>
                  <a:srgbClr val="221C57"/>
                </a:solidFill>
                <a:latin typeface="Segoe UI"/>
                <a:cs typeface="Segoe UI"/>
                <a:ea typeface="Segoe UI"/>
              </a:rPr>
              <a:t>الفجوة البحثية ببساطة هي منطقة أو مشكلة في مجال معيّن: إما لم يدرسها أحد من قبل، أو تمت دراستها بشكل ناقص، أو تحتاج مزيداً من التحليل والاستكشاف.</a:t>
            </a:r>
          </a:p>
          <a:p>
            <a:pPr algn="r" rtl="1">
              <a:lnSpc>
                <a:spcPct val="118000"/>
              </a:lnSpc>
              <a:spcBef>
                <a:spcPts val="0"/>
              </a:spcBef>
              <a:spcAft>
                <a:spcPts val="400"/>
              </a:spcAft>
            </a:pPr>
            <a:r>
              <a:rPr sz="1300" b="1" i="0">
                <a:solidFill>
                  <a:srgbClr val="6D28D9"/>
                </a:solidFill>
                <a:latin typeface="Segoe UI"/>
                <a:cs typeface="Segoe UI"/>
                <a:ea typeface="Segoe UI"/>
              </a:rPr>
              <a:t>بعبارة أخرى:  </a:t>
            </a:r>
            <a:r>
              <a:rPr sz="1300" b="0" i="0">
                <a:solidFill>
                  <a:srgbClr val="221C57"/>
                </a:solidFill>
                <a:latin typeface="Segoe UI"/>
                <a:cs typeface="Segoe UI"/>
                <a:ea typeface="Segoe UI"/>
              </a:rPr>
              <a:t>هي شيء لم تتم دراسته بشكل كافٍ بعد، أو نقطة لم يركّز عليها الباحثون بوضوح — وسدّها هو ما يمنح بحثك قيمته.</a:t>
            </a:r>
          </a:p>
        </p:txBody>
      </p:sp>
      <p:sp>
        <p:nvSpPr>
          <p:cNvPr id="14" name="TextBox 13"/>
          <p:cNvSpPr txBox="1"/>
          <p:nvPr/>
        </p:nvSpPr>
        <p:spPr>
          <a:xfrm>
            <a:off x="548640" y="3200400"/>
            <a:ext cx="11094415"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350" b="1" i="0">
                <a:solidFill>
                  <a:srgbClr val="6E6A8F"/>
                </a:solidFill>
                <a:latin typeface="Segoe UI"/>
                <a:cs typeface="Segoe UI"/>
                <a:ea typeface="Segoe UI"/>
              </a:rPr>
              <a:t>للفجوة البحثية أكثر من صورة — هذه أشهر أربع صور تظهر بها:</a:t>
            </a:r>
          </a:p>
        </p:txBody>
      </p:sp>
      <p:sp>
        <p:nvSpPr>
          <p:cNvPr id="15" name="Rounded Rectangle 14"/>
          <p:cNvSpPr/>
          <p:nvPr/>
        </p:nvSpPr>
        <p:spPr>
          <a:xfrm>
            <a:off x="9047759" y="3657600"/>
            <a:ext cx="2595295" cy="2606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47759" y="3657600"/>
            <a:ext cx="2595295" cy="109728"/>
          </a:xfrm>
          <a:prstGeom prst="roundRect">
            <a:avLst>
              <a:gd name="adj" fmla="val 100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43655" y="3977639"/>
            <a:ext cx="603504" cy="603504"/>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Segoe UI"/>
                <a:cs typeface="Segoe UI"/>
                <a:ea typeface="Segoe UI"/>
              </a:rPr>
              <a:t>🔍</a:t>
            </a:r>
          </a:p>
        </p:txBody>
      </p:sp>
      <p:sp>
        <p:nvSpPr>
          <p:cNvPr id="18" name="TextBox 17"/>
          <p:cNvSpPr txBox="1"/>
          <p:nvPr/>
        </p:nvSpPr>
        <p:spPr>
          <a:xfrm>
            <a:off x="9157487" y="4681728"/>
            <a:ext cx="2375839"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A21CAF"/>
                </a:solidFill>
                <a:latin typeface="Segoe UI"/>
                <a:cs typeface="Segoe UI"/>
                <a:ea typeface="Segoe UI"/>
              </a:rPr>
              <a:t>موضوع جديد كلياً</a:t>
            </a:r>
          </a:p>
        </p:txBody>
      </p:sp>
      <p:sp>
        <p:nvSpPr>
          <p:cNvPr id="19" name="TextBox 18"/>
          <p:cNvSpPr txBox="1"/>
          <p:nvPr/>
        </p:nvSpPr>
        <p:spPr>
          <a:xfrm>
            <a:off x="9212351" y="5120640"/>
            <a:ext cx="2266111" cy="1051560"/>
          </a:xfrm>
          <a:prstGeom prst="rect">
            <a:avLst/>
          </a:prstGeom>
          <a:noFill/>
        </p:spPr>
        <p:txBody>
          <a:bodyPr wrap="square" anchor="t" lIns="0" rIns="0" tIns="0" bIns="0">
            <a:spAutoFit/>
          </a:bodyPr>
          <a:lstStyle/>
          <a:p>
            <a:pPr algn="ctr" rtl="1">
              <a:lnSpc>
                <a:spcPct val="115000"/>
              </a:lnSpc>
              <a:spcBef>
                <a:spcPts val="0"/>
              </a:spcBef>
              <a:spcAft>
                <a:spcPts val="400"/>
              </a:spcAft>
            </a:pPr>
            <a:r>
              <a:rPr sz="1150" b="0" i="0">
                <a:solidFill>
                  <a:srgbClr val="221C57"/>
                </a:solidFill>
                <a:latin typeface="Segoe UI"/>
                <a:cs typeface="Segoe UI"/>
                <a:ea typeface="Segoe UI"/>
              </a:rPr>
              <a:t>لم يتناوله أي باحث من قبل — أندر الصور وأثمنها متى كان الموضوع مهماً وملحّاً</a:t>
            </a:r>
          </a:p>
        </p:txBody>
      </p:sp>
      <p:sp>
        <p:nvSpPr>
          <p:cNvPr id="20" name="Rounded Rectangle 19"/>
          <p:cNvSpPr/>
          <p:nvPr/>
        </p:nvSpPr>
        <p:spPr>
          <a:xfrm>
            <a:off x="6214719" y="3657600"/>
            <a:ext cx="2595295" cy="2606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14719" y="3657600"/>
            <a:ext cx="2595295" cy="109728"/>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10615" y="3977639"/>
            <a:ext cx="603504" cy="603504"/>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Segoe UI"/>
                <a:cs typeface="Segoe UI"/>
                <a:ea typeface="Segoe UI"/>
              </a:rPr>
              <a:t>⚡</a:t>
            </a:r>
          </a:p>
        </p:txBody>
      </p:sp>
      <p:sp>
        <p:nvSpPr>
          <p:cNvPr id="23" name="TextBox 22"/>
          <p:cNvSpPr txBox="1"/>
          <p:nvPr/>
        </p:nvSpPr>
        <p:spPr>
          <a:xfrm>
            <a:off x="6324447" y="4681728"/>
            <a:ext cx="2375839"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D97706"/>
                </a:solidFill>
                <a:latin typeface="Segoe UI"/>
                <a:cs typeface="Segoe UI"/>
                <a:ea typeface="Segoe UI"/>
              </a:rPr>
              <a:t>دراسة من زاوية واحدة</a:t>
            </a:r>
          </a:p>
        </p:txBody>
      </p:sp>
      <p:sp>
        <p:nvSpPr>
          <p:cNvPr id="24" name="TextBox 23"/>
          <p:cNvSpPr txBox="1"/>
          <p:nvPr/>
        </p:nvSpPr>
        <p:spPr>
          <a:xfrm>
            <a:off x="6379311" y="5120640"/>
            <a:ext cx="2266111" cy="1051560"/>
          </a:xfrm>
          <a:prstGeom prst="rect">
            <a:avLst/>
          </a:prstGeom>
          <a:noFill/>
        </p:spPr>
        <p:txBody>
          <a:bodyPr wrap="square" anchor="t" lIns="0" rIns="0" tIns="0" bIns="0">
            <a:spAutoFit/>
          </a:bodyPr>
          <a:lstStyle/>
          <a:p>
            <a:pPr algn="ctr" rtl="1">
              <a:lnSpc>
                <a:spcPct val="115000"/>
              </a:lnSpc>
              <a:spcBef>
                <a:spcPts val="0"/>
              </a:spcBef>
              <a:spcAft>
                <a:spcPts val="400"/>
              </a:spcAft>
            </a:pPr>
            <a:r>
              <a:rPr sz="1150" b="0" i="0">
                <a:solidFill>
                  <a:srgbClr val="221C57"/>
                </a:solidFill>
                <a:latin typeface="Segoe UI"/>
                <a:cs typeface="Segoe UI"/>
                <a:ea typeface="Segoe UI"/>
              </a:rPr>
              <a:t>الموضوع دُرس جزئياً من منظور واحد فقط، وبقيت زواياه الأخرى مجهولة تماماً</a:t>
            </a:r>
          </a:p>
        </p:txBody>
      </p:sp>
      <p:sp>
        <p:nvSpPr>
          <p:cNvPr id="25" name="Rounded Rectangle 24"/>
          <p:cNvSpPr/>
          <p:nvPr/>
        </p:nvSpPr>
        <p:spPr>
          <a:xfrm>
            <a:off x="3381679" y="3657600"/>
            <a:ext cx="2595295" cy="2606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381679" y="3657600"/>
            <a:ext cx="2595295" cy="109728"/>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77575" y="3977639"/>
            <a:ext cx="603504" cy="603504"/>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Segoe UI"/>
                <a:cs typeface="Segoe UI"/>
                <a:ea typeface="Segoe UI"/>
              </a:rPr>
              <a:t>🔄</a:t>
            </a:r>
          </a:p>
        </p:txBody>
      </p:sp>
      <p:sp>
        <p:nvSpPr>
          <p:cNvPr id="28" name="TextBox 27"/>
          <p:cNvSpPr txBox="1"/>
          <p:nvPr/>
        </p:nvSpPr>
        <p:spPr>
          <a:xfrm>
            <a:off x="3491407" y="4681728"/>
            <a:ext cx="2375839"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0D9488"/>
                </a:solidFill>
                <a:latin typeface="Segoe UI"/>
                <a:cs typeface="Segoe UI"/>
                <a:ea typeface="Segoe UI"/>
              </a:rPr>
              <a:t>نتائج متضاربة</a:t>
            </a:r>
          </a:p>
        </p:txBody>
      </p:sp>
      <p:sp>
        <p:nvSpPr>
          <p:cNvPr id="29" name="TextBox 28"/>
          <p:cNvSpPr txBox="1"/>
          <p:nvPr/>
        </p:nvSpPr>
        <p:spPr>
          <a:xfrm>
            <a:off x="3546271" y="5120640"/>
            <a:ext cx="2266111" cy="1051560"/>
          </a:xfrm>
          <a:prstGeom prst="rect">
            <a:avLst/>
          </a:prstGeom>
          <a:noFill/>
        </p:spPr>
        <p:txBody>
          <a:bodyPr wrap="square" anchor="t" lIns="0" rIns="0" tIns="0" bIns="0">
            <a:spAutoFit/>
          </a:bodyPr>
          <a:lstStyle/>
          <a:p>
            <a:pPr algn="ctr" rtl="1">
              <a:lnSpc>
                <a:spcPct val="115000"/>
              </a:lnSpc>
              <a:spcBef>
                <a:spcPts val="0"/>
              </a:spcBef>
              <a:spcAft>
                <a:spcPts val="400"/>
              </a:spcAft>
            </a:pPr>
            <a:r>
              <a:rPr sz="1150" b="0" i="0">
                <a:solidFill>
                  <a:srgbClr val="221C57"/>
                </a:solidFill>
                <a:latin typeface="Segoe UI"/>
                <a:cs typeface="Segoe UI"/>
                <a:ea typeface="Segoe UI"/>
              </a:rPr>
              <a:t>دراسات وصلت إلى نتائج متناقضة — والحسم بينها يحتاج بحثاً جديداً محكماً</a:t>
            </a:r>
          </a:p>
        </p:txBody>
      </p:sp>
      <p:sp>
        <p:nvSpPr>
          <p:cNvPr id="30" name="Rounded Rectangle 29"/>
          <p:cNvSpPr/>
          <p:nvPr/>
        </p:nvSpPr>
        <p:spPr>
          <a:xfrm>
            <a:off x="548639" y="3657600"/>
            <a:ext cx="2595295" cy="2606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39" y="3657600"/>
            <a:ext cx="2595295" cy="109728"/>
          </a:xfrm>
          <a:prstGeom prst="roundRect">
            <a:avLst>
              <a:gd name="adj" fmla="val 100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544535" y="3977639"/>
            <a:ext cx="603504" cy="603504"/>
          </a:xfrm>
          <a:prstGeom prst="ellipse">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Segoe UI"/>
                <a:cs typeface="Segoe UI"/>
                <a:ea typeface="Segoe UI"/>
              </a:rPr>
              <a:t>🌍</a:t>
            </a:r>
          </a:p>
        </p:txBody>
      </p:sp>
      <p:sp>
        <p:nvSpPr>
          <p:cNvPr id="33" name="TextBox 32"/>
          <p:cNvSpPr txBox="1"/>
          <p:nvPr/>
        </p:nvSpPr>
        <p:spPr>
          <a:xfrm>
            <a:off x="658367" y="4681728"/>
            <a:ext cx="2375839"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047857"/>
                </a:solidFill>
                <a:latin typeface="Segoe UI"/>
                <a:cs typeface="Segoe UI"/>
                <a:ea typeface="Segoe UI"/>
              </a:rPr>
              <a:t>سياق جغرافي مختلف</a:t>
            </a:r>
          </a:p>
        </p:txBody>
      </p:sp>
      <p:sp>
        <p:nvSpPr>
          <p:cNvPr id="34" name="TextBox 33"/>
          <p:cNvSpPr txBox="1"/>
          <p:nvPr/>
        </p:nvSpPr>
        <p:spPr>
          <a:xfrm>
            <a:off x="713231" y="5120640"/>
            <a:ext cx="2266111" cy="1051560"/>
          </a:xfrm>
          <a:prstGeom prst="rect">
            <a:avLst/>
          </a:prstGeom>
          <a:noFill/>
        </p:spPr>
        <p:txBody>
          <a:bodyPr wrap="square" anchor="t" lIns="0" rIns="0" tIns="0" bIns="0">
            <a:spAutoFit/>
          </a:bodyPr>
          <a:lstStyle/>
          <a:p>
            <a:pPr algn="ctr" rtl="1">
              <a:lnSpc>
                <a:spcPct val="115000"/>
              </a:lnSpc>
              <a:spcBef>
                <a:spcPts val="0"/>
              </a:spcBef>
              <a:spcAft>
                <a:spcPts val="400"/>
              </a:spcAft>
            </a:pPr>
            <a:r>
              <a:rPr sz="1150" b="0" i="0">
                <a:solidFill>
                  <a:srgbClr val="221C57"/>
                </a:solidFill>
                <a:latin typeface="Segoe UI"/>
                <a:cs typeface="Segoe UI"/>
                <a:ea typeface="Segoe UI"/>
              </a:rPr>
              <a:t>دراسة نجحت في دولة ما، وليس شرطاً أن تنجح بالطريقة نفسها في مجتمع آخر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Segoe UI"/>
                <a:cs typeface="Segoe UI"/>
                <a:ea typeface="Segoe UI"/>
              </a:rPr>
              <a:t>04</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Segoe UI"/>
                <a:cs typeface="Segoe UI"/>
                <a:ea typeface="Segoe UI"/>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D97706"/>
                </a:solidFill>
                <a:latin typeface="Segoe UI"/>
                <a:cs typeface="Segoe UI"/>
                <a:ea typeface="Segoe UI"/>
              </a:rPr>
              <a:t>WHY RESEARCH GAPS MATTER</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Segoe UI"/>
                <a:cs typeface="Segoe UI"/>
                <a:ea typeface="Segoe UI"/>
              </a:rPr>
              <a:t>لماذا تهمّنا الفجوات البحثية؟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Segoe UI"/>
                <a:cs typeface="Segoe UI"/>
                <a:ea typeface="Segoe UI"/>
              </a:rPr>
              <a:t>04</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الفجوات البحثية  •  د. هناء حسين الأهيمر</a:t>
            </a:r>
          </a:p>
        </p:txBody>
      </p:sp>
      <p:sp>
        <p:nvSpPr>
          <p:cNvPr id="11" name="Rounded Rectangle 10"/>
          <p:cNvSpPr/>
          <p:nvPr/>
        </p:nvSpPr>
        <p:spPr>
          <a:xfrm>
            <a:off x="8115604" y="1627632"/>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865815" y="1828800"/>
            <a:ext cx="566928" cy="566928"/>
          </a:xfrm>
          <a:prstGeom prst="roundRect">
            <a:avLst>
              <a:gd name="adj" fmla="val 30000"/>
            </a:avLst>
          </a:prstGeom>
          <a:ln>
            <a:noFill/>
          </a:ln>
          <a:effectLst/>
          <a:gradFill rotWithShape="1">
            <a:gsLst>
              <a:gs pos="0">
                <a:srgbClr val="A21CAF"/>
              </a:gs>
              <a:gs pos="100000">
                <a:srgbClr val="E879F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13" name="TextBox 12"/>
          <p:cNvSpPr txBox="1"/>
          <p:nvPr/>
        </p:nvSpPr>
        <p:spPr>
          <a:xfrm>
            <a:off x="8344204" y="1792224"/>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A21CAF"/>
                </a:solidFill>
                <a:latin typeface="Segoe UI"/>
                <a:cs typeface="Segoe UI"/>
                <a:ea typeface="Segoe UI"/>
              </a:rPr>
              <a:t>اتجاه واضح لبحثك</a:t>
            </a:r>
          </a:p>
        </p:txBody>
      </p:sp>
      <p:sp>
        <p:nvSpPr>
          <p:cNvPr id="14" name="TextBox 13"/>
          <p:cNvSpPr txBox="1"/>
          <p:nvPr/>
        </p:nvSpPr>
        <p:spPr>
          <a:xfrm>
            <a:off x="8344204" y="2157984"/>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Segoe UI"/>
                <a:cs typeface="Segoe UI"/>
                <a:ea typeface="Segoe UI"/>
              </a:rPr>
              <a:t>Research Direction</a:t>
            </a:r>
          </a:p>
        </p:txBody>
      </p:sp>
      <p:sp>
        <p:nvSpPr>
          <p:cNvPr id="15" name="TextBox 14"/>
          <p:cNvSpPr txBox="1"/>
          <p:nvPr/>
        </p:nvSpPr>
        <p:spPr>
          <a:xfrm>
            <a:off x="8344204" y="2542032"/>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Segoe UI"/>
                <a:cs typeface="Segoe UI"/>
                <a:ea typeface="Segoe UI"/>
              </a:rPr>
              <a:t>تمنحك بوصلة واضحة لرسالتك أو أطروحتك بدلاً من التخبط بين مواضيع مكررة</a:t>
            </a:r>
          </a:p>
        </p:txBody>
      </p:sp>
      <p:sp>
        <p:nvSpPr>
          <p:cNvPr id="16" name="Rounded Rectangle 15"/>
          <p:cNvSpPr/>
          <p:nvPr/>
        </p:nvSpPr>
        <p:spPr>
          <a:xfrm>
            <a:off x="4332122" y="1627632"/>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082332" y="1828800"/>
            <a:ext cx="566928" cy="566928"/>
          </a:xfrm>
          <a:prstGeom prst="roundRect">
            <a:avLst>
              <a:gd name="adj" fmla="val 3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18" name="TextBox 17"/>
          <p:cNvSpPr txBox="1"/>
          <p:nvPr/>
        </p:nvSpPr>
        <p:spPr>
          <a:xfrm>
            <a:off x="4560722" y="1792224"/>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D97706"/>
                </a:solidFill>
                <a:latin typeface="Segoe UI"/>
                <a:cs typeface="Segoe UI"/>
                <a:ea typeface="Segoe UI"/>
              </a:rPr>
              <a:t>الأصالة العلمية</a:t>
            </a:r>
          </a:p>
        </p:txBody>
      </p:sp>
      <p:sp>
        <p:nvSpPr>
          <p:cNvPr id="19" name="TextBox 18"/>
          <p:cNvSpPr txBox="1"/>
          <p:nvPr/>
        </p:nvSpPr>
        <p:spPr>
          <a:xfrm>
            <a:off x="4560722" y="2157984"/>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Segoe UI"/>
                <a:cs typeface="Segoe UI"/>
                <a:ea typeface="Segoe UI"/>
              </a:rPr>
              <a:t>Scientific Originality</a:t>
            </a:r>
          </a:p>
        </p:txBody>
      </p:sp>
      <p:sp>
        <p:nvSpPr>
          <p:cNvPr id="20" name="TextBox 19"/>
          <p:cNvSpPr txBox="1"/>
          <p:nvPr/>
        </p:nvSpPr>
        <p:spPr>
          <a:xfrm>
            <a:off x="4560722" y="2542032"/>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Segoe UI"/>
                <a:cs typeface="Segoe UI"/>
                <a:ea typeface="Segoe UI"/>
              </a:rPr>
              <a:t>تضمن أن بحثك فيه إضافة جديدة حقيقية للمعرفة ولا يعيد ما هو موجود</a:t>
            </a:r>
          </a:p>
        </p:txBody>
      </p:sp>
      <p:sp>
        <p:nvSpPr>
          <p:cNvPr id="21" name="Rounded Rectangle 20"/>
          <p:cNvSpPr/>
          <p:nvPr/>
        </p:nvSpPr>
        <p:spPr>
          <a:xfrm>
            <a:off x="548639" y="1627632"/>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298850" y="1828800"/>
            <a:ext cx="566928" cy="566928"/>
          </a:xfrm>
          <a:prstGeom prst="roundRect">
            <a:avLst>
              <a:gd name="adj" fmla="val 30000"/>
            </a:avLst>
          </a:prstGeom>
          <a:ln>
            <a:noFill/>
          </a:ln>
          <a:effectLst/>
          <a:gradFill rotWithShape="1">
            <a:gsLst>
              <a:gs pos="0">
                <a:srgbClr val="6D28D9"/>
              </a:gs>
              <a:gs pos="100000">
                <a:srgbClr val="A855F7"/>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23" name="TextBox 22"/>
          <p:cNvSpPr txBox="1"/>
          <p:nvPr/>
        </p:nvSpPr>
        <p:spPr>
          <a:xfrm>
            <a:off x="777239" y="1792224"/>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6D28D9"/>
                </a:solidFill>
                <a:latin typeface="Segoe UI"/>
                <a:cs typeface="Segoe UI"/>
                <a:ea typeface="Segoe UI"/>
              </a:rPr>
              <a:t>تبرير الدراسة</a:t>
            </a:r>
          </a:p>
        </p:txBody>
      </p:sp>
      <p:sp>
        <p:nvSpPr>
          <p:cNvPr id="24" name="TextBox 23"/>
          <p:cNvSpPr txBox="1"/>
          <p:nvPr/>
        </p:nvSpPr>
        <p:spPr>
          <a:xfrm>
            <a:off x="777239" y="2157984"/>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Segoe UI"/>
                <a:cs typeface="Segoe UI"/>
                <a:ea typeface="Segoe UI"/>
              </a:rPr>
              <a:t>Justifying the Study</a:t>
            </a:r>
          </a:p>
        </p:txBody>
      </p:sp>
      <p:sp>
        <p:nvSpPr>
          <p:cNvPr id="25" name="TextBox 24"/>
          <p:cNvSpPr txBox="1"/>
          <p:nvPr/>
        </p:nvSpPr>
        <p:spPr>
          <a:xfrm>
            <a:off x="777239" y="2542032"/>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Segoe UI"/>
                <a:cs typeface="Segoe UI"/>
                <a:ea typeface="Segoe UI"/>
              </a:rPr>
              <a:t>حجّتك الأقوى لإقناع اللجنة العلمية بقيمة بحثك وجدوى إجرائه</a:t>
            </a:r>
          </a:p>
        </p:txBody>
      </p:sp>
      <p:sp>
        <p:nvSpPr>
          <p:cNvPr id="26" name="Rounded Rectangle 25"/>
          <p:cNvSpPr/>
          <p:nvPr/>
        </p:nvSpPr>
        <p:spPr>
          <a:xfrm>
            <a:off x="8115604" y="3986784"/>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865815" y="4187952"/>
            <a:ext cx="566928" cy="566928"/>
          </a:xfrm>
          <a:prstGeom prst="roundRect">
            <a:avLst>
              <a:gd name="adj" fmla="val 3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28" name="TextBox 27"/>
          <p:cNvSpPr txBox="1"/>
          <p:nvPr/>
        </p:nvSpPr>
        <p:spPr>
          <a:xfrm>
            <a:off x="8344204" y="4151376"/>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0D9488"/>
                </a:solidFill>
                <a:latin typeface="Segoe UI"/>
                <a:cs typeface="Segoe UI"/>
                <a:ea typeface="Segoe UI"/>
              </a:rPr>
              <a:t>ربط الدراسات السابقة</a:t>
            </a:r>
          </a:p>
        </p:txBody>
      </p:sp>
      <p:sp>
        <p:nvSpPr>
          <p:cNvPr id="29" name="TextBox 28"/>
          <p:cNvSpPr txBox="1"/>
          <p:nvPr/>
        </p:nvSpPr>
        <p:spPr>
          <a:xfrm>
            <a:off x="8344204" y="4517136"/>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Segoe UI"/>
                <a:cs typeface="Segoe UI"/>
                <a:ea typeface="Segoe UI"/>
              </a:rPr>
              <a:t>Linking the Literature</a:t>
            </a:r>
          </a:p>
        </p:txBody>
      </p:sp>
      <p:sp>
        <p:nvSpPr>
          <p:cNvPr id="30" name="TextBox 29"/>
          <p:cNvSpPr txBox="1"/>
          <p:nvPr/>
        </p:nvSpPr>
        <p:spPr>
          <a:xfrm>
            <a:off x="8344204" y="4901184"/>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Segoe UI"/>
                <a:cs typeface="Segoe UI"/>
                <a:ea typeface="Segoe UI"/>
              </a:rPr>
              <a:t>تصل بين ما قالته الأدبيات وبين الشيء الجديد الذي ستضيفه أنت</a:t>
            </a:r>
          </a:p>
        </p:txBody>
      </p:sp>
      <p:sp>
        <p:nvSpPr>
          <p:cNvPr id="31" name="Rounded Rectangle 30"/>
          <p:cNvSpPr/>
          <p:nvPr/>
        </p:nvSpPr>
        <p:spPr>
          <a:xfrm>
            <a:off x="4332122" y="3986784"/>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082332" y="4187952"/>
            <a:ext cx="566928" cy="566928"/>
          </a:xfrm>
          <a:prstGeom prst="roundRect">
            <a:avLst>
              <a:gd name="adj" fmla="val 30000"/>
            </a:avLst>
          </a:prstGeom>
          <a:ln>
            <a:noFill/>
          </a:ln>
          <a:effectLst/>
          <a:gradFill rotWithShape="1">
            <a:gsLst>
              <a:gs pos="0">
                <a:srgbClr val="047857"/>
              </a:gs>
              <a:gs pos="100000">
                <a:srgbClr val="34D39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33" name="TextBox 32"/>
          <p:cNvSpPr txBox="1"/>
          <p:nvPr/>
        </p:nvSpPr>
        <p:spPr>
          <a:xfrm>
            <a:off x="4560722" y="4151376"/>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047857"/>
                </a:solidFill>
                <a:latin typeface="Segoe UI"/>
                <a:cs typeface="Segoe UI"/>
                <a:ea typeface="Segoe UI"/>
              </a:rPr>
              <a:t>النشر في المجلات</a:t>
            </a:r>
          </a:p>
        </p:txBody>
      </p:sp>
      <p:sp>
        <p:nvSpPr>
          <p:cNvPr id="34" name="TextBox 33"/>
          <p:cNvSpPr txBox="1"/>
          <p:nvPr/>
        </p:nvSpPr>
        <p:spPr>
          <a:xfrm>
            <a:off x="4560722" y="4517136"/>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Segoe UI"/>
                <a:cs typeface="Segoe UI"/>
                <a:ea typeface="Segoe UI"/>
              </a:rPr>
              <a:t>Academic Publishing</a:t>
            </a:r>
          </a:p>
        </p:txBody>
      </p:sp>
      <p:sp>
        <p:nvSpPr>
          <p:cNvPr id="35" name="TextBox 34"/>
          <p:cNvSpPr txBox="1"/>
          <p:nvPr/>
        </p:nvSpPr>
        <p:spPr>
          <a:xfrm>
            <a:off x="4560722" y="4901184"/>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Segoe UI"/>
                <a:cs typeface="Segoe UI"/>
                <a:ea typeface="Segoe UI"/>
              </a:rPr>
              <a:t>المجلات العلمية المحكّمة تفضّل الأبحاث التي تعالج فجوات واضحة</a:t>
            </a:r>
          </a:p>
        </p:txBody>
      </p:sp>
      <p:sp>
        <p:nvSpPr>
          <p:cNvPr id="36" name="Rounded Rectangle 35"/>
          <p:cNvSpPr/>
          <p:nvPr/>
        </p:nvSpPr>
        <p:spPr>
          <a:xfrm>
            <a:off x="548639" y="3986784"/>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298850" y="4187952"/>
            <a:ext cx="566928" cy="566928"/>
          </a:xfrm>
          <a:prstGeom prst="roundRect">
            <a:avLst>
              <a:gd name="adj" fmla="val 30000"/>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38" name="TextBox 37"/>
          <p:cNvSpPr txBox="1"/>
          <p:nvPr/>
        </p:nvSpPr>
        <p:spPr>
          <a:xfrm>
            <a:off x="777239" y="4151376"/>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BE123C"/>
                </a:solidFill>
                <a:latin typeface="Segoe UI"/>
                <a:cs typeface="Segoe UI"/>
                <a:ea typeface="Segoe UI"/>
              </a:rPr>
              <a:t>التمويل البحثي</a:t>
            </a:r>
          </a:p>
        </p:txBody>
      </p:sp>
      <p:sp>
        <p:nvSpPr>
          <p:cNvPr id="39" name="TextBox 38"/>
          <p:cNvSpPr txBox="1"/>
          <p:nvPr/>
        </p:nvSpPr>
        <p:spPr>
          <a:xfrm>
            <a:off x="777239" y="4517136"/>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Segoe UI"/>
                <a:cs typeface="Segoe UI"/>
                <a:ea typeface="Segoe UI"/>
              </a:rPr>
              <a:t>Research Funding</a:t>
            </a:r>
          </a:p>
        </p:txBody>
      </p:sp>
      <p:sp>
        <p:nvSpPr>
          <p:cNvPr id="40" name="TextBox 39"/>
          <p:cNvSpPr txBox="1"/>
          <p:nvPr/>
        </p:nvSpPr>
        <p:spPr>
          <a:xfrm>
            <a:off x="777239" y="4901184"/>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Segoe UI"/>
                <a:cs typeface="Segoe UI"/>
                <a:ea typeface="Segoe UI"/>
              </a:rPr>
              <a:t>الجهات الممولة تبحث دائماً عن مشاكل حقيقية تحتاج إلى حلول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Segoe UI"/>
                <a:cs typeface="Segoe UI"/>
                <a:ea typeface="Segoe UI"/>
              </a:rPr>
              <a:t>05</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Segoe UI"/>
                <a:cs typeface="Segoe UI"/>
                <a:ea typeface="Segoe UI"/>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0D9488"/>
                </a:solidFill>
                <a:latin typeface="Segoe UI"/>
                <a:cs typeface="Segoe UI"/>
                <a:ea typeface="Segoe UI"/>
              </a:rPr>
              <a:t>TYPES OF RESEARCH GAPS — 1/2</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Segoe UI"/>
                <a:cs typeface="Segoe UI"/>
                <a:ea typeface="Segoe UI"/>
              </a:rPr>
              <a:t>الأنواع الستة بالتفصيل (١–٣)</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Segoe UI"/>
                <a:cs typeface="Segoe UI"/>
                <a:ea typeface="Segoe UI"/>
              </a:rPr>
              <a:t>05</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الفجوات البحثية  •  د. هناء حسين الأهيمر</a:t>
            </a:r>
          </a:p>
        </p:txBody>
      </p:sp>
      <p:sp>
        <p:nvSpPr>
          <p:cNvPr id="11" name="TextBox 10"/>
          <p:cNvSpPr txBox="1"/>
          <p:nvPr/>
        </p:nvSpPr>
        <p:spPr>
          <a:xfrm>
            <a:off x="548640" y="1481328"/>
            <a:ext cx="11094415" cy="320040"/>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6E6A8F"/>
                </a:solidFill>
                <a:latin typeface="Segoe UI"/>
                <a:cs typeface="Segoe UI"/>
                <a:ea typeface="Segoe UI"/>
              </a:rPr>
              <a:t>لكل نوع استخدامه الخاص — اعرفها جيداً لتعرف أي باب تطرقه في بحثك:</a:t>
            </a:r>
          </a:p>
        </p:txBody>
      </p:sp>
      <p:sp>
        <p:nvSpPr>
          <p:cNvPr id="12" name="Rounded Rectangle 11"/>
          <p:cNvSpPr/>
          <p:nvPr/>
        </p:nvSpPr>
        <p:spPr>
          <a:xfrm>
            <a:off x="8127796"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27796" y="1874519"/>
            <a:ext cx="3515258" cy="914400"/>
          </a:xfrm>
          <a:prstGeom prst="roundRect">
            <a:avLst>
              <a:gd name="adj" fmla="val 7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893247"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Segoe UI"/>
                <a:cs typeface="Segoe UI"/>
                <a:ea typeface="Segoe UI"/>
              </a:rPr>
              <a:t>١</a:t>
            </a:r>
          </a:p>
        </p:txBody>
      </p:sp>
      <p:sp>
        <p:nvSpPr>
          <p:cNvPr id="15" name="TextBox 14"/>
          <p:cNvSpPr txBox="1"/>
          <p:nvPr/>
        </p:nvSpPr>
        <p:spPr>
          <a:xfrm>
            <a:off x="8356396"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Segoe UI"/>
                <a:cs typeface="Segoe UI"/>
                <a:ea typeface="Segoe UI"/>
              </a:rPr>
              <a:t>فجوة المعرفة</a:t>
            </a:r>
          </a:p>
        </p:txBody>
      </p:sp>
      <p:sp>
        <p:nvSpPr>
          <p:cNvPr id="16" name="TextBox 15"/>
          <p:cNvSpPr txBox="1"/>
          <p:nvPr/>
        </p:nvSpPr>
        <p:spPr>
          <a:xfrm>
            <a:off x="8356396"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Segoe UI"/>
                <a:cs typeface="Segoe UI"/>
                <a:ea typeface="Segoe UI"/>
              </a:rPr>
              <a:t>💡  Knowledge Gap</a:t>
            </a:r>
          </a:p>
        </p:txBody>
      </p:sp>
      <p:sp>
        <p:nvSpPr>
          <p:cNvPr id="17" name="TextBox 16"/>
          <p:cNvSpPr txBox="1"/>
          <p:nvPr/>
        </p:nvSpPr>
        <p:spPr>
          <a:xfrm>
            <a:off x="8328964"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A21CAF"/>
                </a:solidFill>
                <a:latin typeface="Segoe UI"/>
                <a:cs typeface="Segoe UI"/>
                <a:ea typeface="Segoe UI"/>
              </a:rPr>
              <a:t>التعريف:  </a:t>
            </a:r>
            <a:r>
              <a:rPr sz="1200" b="0" i="0">
                <a:solidFill>
                  <a:srgbClr val="221C57"/>
                </a:solidFill>
                <a:latin typeface="Segoe UI"/>
                <a:cs typeface="Segoe UI"/>
                <a:ea typeface="Segoe UI"/>
              </a:rPr>
              <a:t>معلومة أو ظاهرة لا يعرفها العلم حتى الآن في مجال معيّن.</a:t>
            </a:r>
          </a:p>
        </p:txBody>
      </p:sp>
      <p:sp>
        <p:nvSpPr>
          <p:cNvPr id="18" name="TextBox 17"/>
          <p:cNvSpPr txBox="1"/>
          <p:nvPr/>
        </p:nvSpPr>
        <p:spPr>
          <a:xfrm>
            <a:off x="8328964"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A21CAF"/>
                </a:solidFill>
                <a:latin typeface="Segoe UI"/>
                <a:cs typeface="Segoe UI"/>
                <a:ea typeface="Segoe UI"/>
              </a:rPr>
              <a:t>من شرح الورشة:  </a:t>
            </a:r>
            <a:r>
              <a:rPr sz="1200" b="0" i="0">
                <a:solidFill>
                  <a:srgbClr val="221C57"/>
                </a:solidFill>
                <a:latin typeface="Segoe UI"/>
                <a:cs typeface="Segoe UI"/>
                <a:ea typeface="Segoe UI"/>
              </a:rPr>
              <a:t>تظهر عندما يكون الموضوع جديداً بالكامل — تقنية ناشئة أو ظاهرة مستجدة لم تلحق بها الأبحاث بعد، فيكون أي بحث جاد فيها إضافة صافية للمعرفة.</a:t>
            </a:r>
          </a:p>
        </p:txBody>
      </p:sp>
      <p:sp>
        <p:nvSpPr>
          <p:cNvPr id="19" name="Rounded Rectangle 18"/>
          <p:cNvSpPr/>
          <p:nvPr/>
        </p:nvSpPr>
        <p:spPr>
          <a:xfrm>
            <a:off x="8310676" y="5650992"/>
            <a:ext cx="3149498" cy="420624"/>
          </a:xfrm>
          <a:prstGeom prst="roundRect">
            <a:avLst>
              <a:gd name="adj" fmla="val 50000"/>
            </a:avLst>
          </a:prstGeom>
          <a:solidFill>
            <a:srgbClr val="F5E8F7"/>
          </a:solidFill>
          <a:ln w="12700">
            <a:solidFill>
              <a:srgbClr val="A21CA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A21CAF"/>
                </a:solidFill>
                <a:latin typeface="Segoe UI"/>
                <a:cs typeface="Segoe UI"/>
                <a:ea typeface="Segoe UI"/>
              </a:rPr>
              <a:t>السؤال المفتاحي: ماذا لا نعرف بعد؟</a:t>
            </a:r>
          </a:p>
        </p:txBody>
      </p:sp>
      <p:sp>
        <p:nvSpPr>
          <p:cNvPr id="20" name="Rounded Rectangle 19"/>
          <p:cNvSpPr/>
          <p:nvPr/>
        </p:nvSpPr>
        <p:spPr>
          <a:xfrm>
            <a:off x="4338218"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38218" y="1874519"/>
            <a:ext cx="3515258" cy="914400"/>
          </a:xfrm>
          <a:prstGeom prst="roundRect">
            <a:avLst>
              <a:gd name="adj" fmla="val 7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03668"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Segoe UI"/>
                <a:cs typeface="Segoe UI"/>
                <a:ea typeface="Segoe UI"/>
              </a:rPr>
              <a:t>٢</a:t>
            </a:r>
          </a:p>
        </p:txBody>
      </p:sp>
      <p:sp>
        <p:nvSpPr>
          <p:cNvPr id="23" name="TextBox 22"/>
          <p:cNvSpPr txBox="1"/>
          <p:nvPr/>
        </p:nvSpPr>
        <p:spPr>
          <a:xfrm>
            <a:off x="4566818"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Segoe UI"/>
                <a:cs typeface="Segoe UI"/>
                <a:ea typeface="Segoe UI"/>
              </a:rPr>
              <a:t>فجوة الممارسة</a:t>
            </a:r>
          </a:p>
        </p:txBody>
      </p:sp>
      <p:sp>
        <p:nvSpPr>
          <p:cNvPr id="24" name="TextBox 23"/>
          <p:cNvSpPr txBox="1"/>
          <p:nvPr/>
        </p:nvSpPr>
        <p:spPr>
          <a:xfrm>
            <a:off x="4566818"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Segoe UI"/>
                <a:cs typeface="Segoe UI"/>
                <a:ea typeface="Segoe UI"/>
              </a:rPr>
              <a:t>⚙️  Practice Gap</a:t>
            </a:r>
          </a:p>
        </p:txBody>
      </p:sp>
      <p:sp>
        <p:nvSpPr>
          <p:cNvPr id="25" name="TextBox 24"/>
          <p:cNvSpPr txBox="1"/>
          <p:nvPr/>
        </p:nvSpPr>
        <p:spPr>
          <a:xfrm>
            <a:off x="4539386"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D97706"/>
                </a:solidFill>
                <a:latin typeface="Segoe UI"/>
                <a:cs typeface="Segoe UI"/>
                <a:ea typeface="Segoe UI"/>
              </a:rPr>
              <a:t>التعريف:  </a:t>
            </a:r>
            <a:r>
              <a:rPr sz="1200" b="0" i="0">
                <a:solidFill>
                  <a:srgbClr val="221C57"/>
                </a:solidFill>
                <a:latin typeface="Segoe UI"/>
                <a:cs typeface="Segoe UI"/>
                <a:ea typeface="Segoe UI"/>
              </a:rPr>
              <a:t>الفرق بين ما تقوله النظرية وما يحدث فعلاً في التطبيق الواقعي.</a:t>
            </a:r>
          </a:p>
        </p:txBody>
      </p:sp>
      <p:sp>
        <p:nvSpPr>
          <p:cNvPr id="26" name="TextBox 25"/>
          <p:cNvSpPr txBox="1"/>
          <p:nvPr/>
        </p:nvSpPr>
        <p:spPr>
          <a:xfrm>
            <a:off x="4539386"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D97706"/>
                </a:solidFill>
                <a:latin typeface="Segoe UI"/>
                <a:cs typeface="Segoe UI"/>
                <a:ea typeface="Segoe UI"/>
              </a:rPr>
              <a:t>من شرح الورشة:  </a:t>
            </a:r>
            <a:r>
              <a:rPr sz="1200" b="0" i="0">
                <a:solidFill>
                  <a:srgbClr val="221C57"/>
                </a:solidFill>
                <a:latin typeface="Segoe UI"/>
                <a:cs typeface="Segoe UI"/>
                <a:ea typeface="Segoe UI"/>
              </a:rPr>
              <a:t>المعرفة موجودة والإرشادات منشورة، لكن الميدان يعمل بطريقة مختلفة. بحثك هنا يجيب: لماذا لا يُطبَّق ما نعرفه؟ وكيف نغلق الفرق بين الاثنين؟</a:t>
            </a:r>
          </a:p>
        </p:txBody>
      </p:sp>
      <p:sp>
        <p:nvSpPr>
          <p:cNvPr id="27" name="Rounded Rectangle 26"/>
          <p:cNvSpPr/>
          <p:nvPr/>
        </p:nvSpPr>
        <p:spPr>
          <a:xfrm>
            <a:off x="4521098" y="5650992"/>
            <a:ext cx="3149498" cy="420624"/>
          </a:xfrm>
          <a:prstGeom prst="roundRect">
            <a:avLst>
              <a:gd name="adj" fmla="val 50000"/>
            </a:avLst>
          </a:prstGeom>
          <a:solidFill>
            <a:srgbClr val="FBF1E6"/>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D97706"/>
                </a:solidFill>
                <a:latin typeface="Segoe UI"/>
                <a:cs typeface="Segoe UI"/>
                <a:ea typeface="Segoe UI"/>
              </a:rPr>
              <a:t>السؤال المفتاحي: لماذا لا يُطبَّق ما نعرفه؟</a:t>
            </a:r>
          </a:p>
        </p:txBody>
      </p:sp>
      <p:sp>
        <p:nvSpPr>
          <p:cNvPr id="28" name="Rounded Rectangle 27"/>
          <p:cNvSpPr/>
          <p:nvPr/>
        </p:nvSpPr>
        <p:spPr>
          <a:xfrm>
            <a:off x="548639"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48639" y="1874519"/>
            <a:ext cx="3515258" cy="914400"/>
          </a:xfrm>
          <a:prstGeom prst="roundRect">
            <a:avLst>
              <a:gd name="adj" fmla="val 7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14090"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Segoe UI"/>
                <a:cs typeface="Segoe UI"/>
                <a:ea typeface="Segoe UI"/>
              </a:rPr>
              <a:t>٣</a:t>
            </a:r>
          </a:p>
        </p:txBody>
      </p:sp>
      <p:sp>
        <p:nvSpPr>
          <p:cNvPr id="31" name="TextBox 30"/>
          <p:cNvSpPr txBox="1"/>
          <p:nvPr/>
        </p:nvSpPr>
        <p:spPr>
          <a:xfrm>
            <a:off x="777239"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Segoe UI"/>
                <a:cs typeface="Segoe UI"/>
                <a:ea typeface="Segoe UI"/>
              </a:rPr>
              <a:t>فجوة الأدلة</a:t>
            </a:r>
          </a:p>
        </p:txBody>
      </p:sp>
      <p:sp>
        <p:nvSpPr>
          <p:cNvPr id="32" name="TextBox 31"/>
          <p:cNvSpPr txBox="1"/>
          <p:nvPr/>
        </p:nvSpPr>
        <p:spPr>
          <a:xfrm>
            <a:off x="777239"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Segoe UI"/>
                <a:cs typeface="Segoe UI"/>
                <a:ea typeface="Segoe UI"/>
              </a:rPr>
              <a:t>🧪  Evidence Gap</a:t>
            </a:r>
          </a:p>
        </p:txBody>
      </p:sp>
      <p:sp>
        <p:nvSpPr>
          <p:cNvPr id="33" name="TextBox 32"/>
          <p:cNvSpPr txBox="1"/>
          <p:nvPr/>
        </p:nvSpPr>
        <p:spPr>
          <a:xfrm>
            <a:off x="749807"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0D9488"/>
                </a:solidFill>
                <a:latin typeface="Segoe UI"/>
                <a:cs typeface="Segoe UI"/>
                <a:ea typeface="Segoe UI"/>
              </a:rPr>
              <a:t>التعريف:  </a:t>
            </a:r>
            <a:r>
              <a:rPr sz="1200" b="0" i="0">
                <a:solidFill>
                  <a:srgbClr val="221C57"/>
                </a:solidFill>
                <a:latin typeface="Segoe UI"/>
                <a:cs typeface="Segoe UI"/>
                <a:ea typeface="Segoe UI"/>
              </a:rPr>
              <a:t>الأدلة العلمية المتوفرة غير كافية لدعم فرضية أو توصية معيّنة.</a:t>
            </a:r>
          </a:p>
        </p:txBody>
      </p:sp>
      <p:sp>
        <p:nvSpPr>
          <p:cNvPr id="34" name="TextBox 33"/>
          <p:cNvSpPr txBox="1"/>
          <p:nvPr/>
        </p:nvSpPr>
        <p:spPr>
          <a:xfrm>
            <a:off x="749807"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0D9488"/>
                </a:solidFill>
                <a:latin typeface="Segoe UI"/>
                <a:cs typeface="Segoe UI"/>
                <a:ea typeface="Segoe UI"/>
              </a:rPr>
              <a:t>من شرح الورشة:  </a:t>
            </a:r>
            <a:r>
              <a:rPr sz="1200" b="0" i="0">
                <a:solidFill>
                  <a:srgbClr val="221C57"/>
                </a:solidFill>
                <a:latin typeface="Segoe UI"/>
                <a:cs typeface="Segoe UI"/>
                <a:ea typeface="Segoe UI"/>
              </a:rPr>
              <a:t>توصيات شائعة ومقبولة على نطاق واسع، لكن دون تجارب مضبوطة تثبتها. البحث هنا يبني الدليل الغائب ويحوّل الرأي الشائع إلى علم موثق.</a:t>
            </a:r>
          </a:p>
        </p:txBody>
      </p:sp>
      <p:sp>
        <p:nvSpPr>
          <p:cNvPr id="35" name="Rounded Rectangle 34"/>
          <p:cNvSpPr/>
          <p:nvPr/>
        </p:nvSpPr>
        <p:spPr>
          <a:xfrm>
            <a:off x="731519" y="5650992"/>
            <a:ext cx="3149498" cy="420624"/>
          </a:xfrm>
          <a:prstGeom prst="roundRect">
            <a:avLst>
              <a:gd name="adj" fmla="val 50000"/>
            </a:avLst>
          </a:prstGeom>
          <a:solidFill>
            <a:srgbClr val="E6F4F3"/>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0D9488"/>
                </a:solidFill>
                <a:latin typeface="Segoe UI"/>
                <a:cs typeface="Segoe UI"/>
                <a:ea typeface="Segoe UI"/>
              </a:rPr>
              <a:t>السؤال المفتاحي: أين الدليل العلمي؟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Segoe UI"/>
                <a:cs typeface="Segoe UI"/>
                <a:ea typeface="Segoe UI"/>
              </a:rPr>
              <a:t>06</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Segoe UI"/>
                <a:cs typeface="Segoe UI"/>
                <a:ea typeface="Segoe UI"/>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0D9488"/>
                </a:solidFill>
                <a:latin typeface="Segoe UI"/>
                <a:cs typeface="Segoe UI"/>
                <a:ea typeface="Segoe UI"/>
              </a:rPr>
              <a:t>TYPES OF RESEARCH GAPS — 2/2</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Segoe UI"/>
                <a:cs typeface="Segoe UI"/>
                <a:ea typeface="Segoe UI"/>
              </a:rPr>
              <a:t>الأنواع الستة بالتفصيل (٤–٦)</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Segoe UI"/>
                <a:cs typeface="Segoe UI"/>
                <a:ea typeface="Segoe UI"/>
              </a:rPr>
              <a:t>06</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الفجوات البحثية  •  د. هناء حسين الأهيمر</a:t>
            </a:r>
          </a:p>
        </p:txBody>
      </p:sp>
      <p:sp>
        <p:nvSpPr>
          <p:cNvPr id="11" name="TextBox 10"/>
          <p:cNvSpPr txBox="1"/>
          <p:nvPr/>
        </p:nvSpPr>
        <p:spPr>
          <a:xfrm>
            <a:off x="548640" y="1481328"/>
            <a:ext cx="11094415" cy="320040"/>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6E6A8F"/>
                </a:solidFill>
                <a:latin typeface="Segoe UI"/>
                <a:cs typeface="Segoe UI"/>
                <a:ea typeface="Segoe UI"/>
              </a:rPr>
              <a:t>ثلاثة أنواع أخرى شائعة جداً — وغالباً أسهل تناولاً للباحث المبتدئ:</a:t>
            </a:r>
          </a:p>
        </p:txBody>
      </p:sp>
      <p:sp>
        <p:nvSpPr>
          <p:cNvPr id="12" name="Rounded Rectangle 11"/>
          <p:cNvSpPr/>
          <p:nvPr/>
        </p:nvSpPr>
        <p:spPr>
          <a:xfrm>
            <a:off x="8127796"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27796" y="1874519"/>
            <a:ext cx="3515258" cy="914400"/>
          </a:xfrm>
          <a:prstGeom prst="roundRect">
            <a:avLst>
              <a:gd name="adj" fmla="val 7000"/>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893247"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Segoe UI"/>
                <a:cs typeface="Segoe UI"/>
                <a:ea typeface="Segoe UI"/>
              </a:rPr>
              <a:t>٤</a:t>
            </a:r>
          </a:p>
        </p:txBody>
      </p:sp>
      <p:sp>
        <p:nvSpPr>
          <p:cNvPr id="15" name="TextBox 14"/>
          <p:cNvSpPr txBox="1"/>
          <p:nvPr/>
        </p:nvSpPr>
        <p:spPr>
          <a:xfrm>
            <a:off x="8356396"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Segoe UI"/>
                <a:cs typeface="Segoe UI"/>
                <a:ea typeface="Segoe UI"/>
              </a:rPr>
              <a:t>فجوة السكان</a:t>
            </a:r>
          </a:p>
        </p:txBody>
      </p:sp>
      <p:sp>
        <p:nvSpPr>
          <p:cNvPr id="16" name="TextBox 15"/>
          <p:cNvSpPr txBox="1"/>
          <p:nvPr/>
        </p:nvSpPr>
        <p:spPr>
          <a:xfrm>
            <a:off x="8356396"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Segoe UI"/>
                <a:cs typeface="Segoe UI"/>
                <a:ea typeface="Segoe UI"/>
              </a:rPr>
              <a:t>👥  Population Gap</a:t>
            </a:r>
          </a:p>
        </p:txBody>
      </p:sp>
      <p:sp>
        <p:nvSpPr>
          <p:cNvPr id="17" name="TextBox 16"/>
          <p:cNvSpPr txBox="1"/>
          <p:nvPr/>
        </p:nvSpPr>
        <p:spPr>
          <a:xfrm>
            <a:off x="8328964"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6D28D9"/>
                </a:solidFill>
                <a:latin typeface="Segoe UI"/>
                <a:cs typeface="Segoe UI"/>
                <a:ea typeface="Segoe UI"/>
              </a:rPr>
              <a:t>التعريف:  </a:t>
            </a:r>
            <a:r>
              <a:rPr sz="1200" b="0" i="0">
                <a:solidFill>
                  <a:srgbClr val="221C57"/>
                </a:solidFill>
                <a:latin typeface="Segoe UI"/>
                <a:cs typeface="Segoe UI"/>
                <a:ea typeface="Segoe UI"/>
              </a:rPr>
              <a:t>فئة معيّنة لم تتم دراستها بشكل كافٍ: جنس، عمر، ثقافة، أو مهنة.</a:t>
            </a:r>
          </a:p>
        </p:txBody>
      </p:sp>
      <p:sp>
        <p:nvSpPr>
          <p:cNvPr id="18" name="TextBox 17"/>
          <p:cNvSpPr txBox="1"/>
          <p:nvPr/>
        </p:nvSpPr>
        <p:spPr>
          <a:xfrm>
            <a:off x="8328964"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6D28D9"/>
                </a:solidFill>
                <a:latin typeface="Segoe UI"/>
                <a:cs typeface="Segoe UI"/>
                <a:ea typeface="Segoe UI"/>
              </a:rPr>
              <a:t>من شرح الورشة:  </a:t>
            </a:r>
            <a:r>
              <a:rPr sz="1200" b="0" i="0">
                <a:solidFill>
                  <a:srgbClr val="221C57"/>
                </a:solidFill>
                <a:latin typeface="Segoe UI"/>
                <a:cs typeface="Segoe UI"/>
                <a:ea typeface="Segoe UI"/>
              </a:rPr>
              <a:t>النتائج المبنية على عينات لا تشبه مجتمعك لا يمكن تعميمها عليه ببساطة. دراسة الفئة المهملة في سياقك تسدّ فجوة حقيقية وتخدم مجتمعك مباشرة.</a:t>
            </a:r>
          </a:p>
        </p:txBody>
      </p:sp>
      <p:sp>
        <p:nvSpPr>
          <p:cNvPr id="19" name="Rounded Rectangle 18"/>
          <p:cNvSpPr/>
          <p:nvPr/>
        </p:nvSpPr>
        <p:spPr>
          <a:xfrm>
            <a:off x="8310676" y="5650992"/>
            <a:ext cx="3149498" cy="420624"/>
          </a:xfrm>
          <a:prstGeom prst="roundRect">
            <a:avLst>
              <a:gd name="adj" fmla="val 50000"/>
            </a:avLst>
          </a:prstGeom>
          <a:solidFill>
            <a:srgbClr val="F0E9FB"/>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6D28D9"/>
                </a:solidFill>
                <a:latin typeface="Segoe UI"/>
                <a:cs typeface="Segoe UI"/>
                <a:ea typeface="Segoe UI"/>
              </a:rPr>
              <a:t>السؤال المفتاحي: مَن الذي أُهمل من الدراسة؟</a:t>
            </a:r>
          </a:p>
        </p:txBody>
      </p:sp>
      <p:sp>
        <p:nvSpPr>
          <p:cNvPr id="20" name="Rounded Rectangle 19"/>
          <p:cNvSpPr/>
          <p:nvPr/>
        </p:nvSpPr>
        <p:spPr>
          <a:xfrm>
            <a:off x="4338218"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38218" y="1874519"/>
            <a:ext cx="3515258" cy="914400"/>
          </a:xfrm>
          <a:prstGeom prst="roundRect">
            <a:avLst>
              <a:gd name="adj" fmla="val 7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03668"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Segoe UI"/>
                <a:cs typeface="Segoe UI"/>
                <a:ea typeface="Segoe UI"/>
              </a:rPr>
              <a:t>٥</a:t>
            </a:r>
          </a:p>
        </p:txBody>
      </p:sp>
      <p:sp>
        <p:nvSpPr>
          <p:cNvPr id="23" name="TextBox 22"/>
          <p:cNvSpPr txBox="1"/>
          <p:nvPr/>
        </p:nvSpPr>
        <p:spPr>
          <a:xfrm>
            <a:off x="4566818"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Segoe UI"/>
                <a:cs typeface="Segoe UI"/>
                <a:ea typeface="Segoe UI"/>
              </a:rPr>
              <a:t>فجوة المنهجية</a:t>
            </a:r>
          </a:p>
        </p:txBody>
      </p:sp>
      <p:sp>
        <p:nvSpPr>
          <p:cNvPr id="24" name="TextBox 23"/>
          <p:cNvSpPr txBox="1"/>
          <p:nvPr/>
        </p:nvSpPr>
        <p:spPr>
          <a:xfrm>
            <a:off x="4566818"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Segoe UI"/>
                <a:cs typeface="Segoe UI"/>
                <a:ea typeface="Segoe UI"/>
              </a:rPr>
              <a:t>🧩  Methodological Gap</a:t>
            </a:r>
          </a:p>
        </p:txBody>
      </p:sp>
      <p:sp>
        <p:nvSpPr>
          <p:cNvPr id="25" name="TextBox 24"/>
          <p:cNvSpPr txBox="1"/>
          <p:nvPr/>
        </p:nvSpPr>
        <p:spPr>
          <a:xfrm>
            <a:off x="4539386"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BE123C"/>
                </a:solidFill>
                <a:latin typeface="Segoe UI"/>
                <a:cs typeface="Segoe UI"/>
                <a:ea typeface="Segoe UI"/>
              </a:rPr>
              <a:t>التعريف:  </a:t>
            </a:r>
            <a:r>
              <a:rPr sz="1200" b="0" i="0">
                <a:solidFill>
                  <a:srgbClr val="221C57"/>
                </a:solidFill>
                <a:latin typeface="Segoe UI"/>
                <a:cs typeface="Segoe UI"/>
                <a:ea typeface="Segoe UI"/>
              </a:rPr>
              <a:t>الباحثون استخدموا منهجاً واحداً فقط لدراسة الظاهرة.</a:t>
            </a:r>
          </a:p>
        </p:txBody>
      </p:sp>
      <p:sp>
        <p:nvSpPr>
          <p:cNvPr id="26" name="TextBox 25"/>
          <p:cNvSpPr txBox="1"/>
          <p:nvPr/>
        </p:nvSpPr>
        <p:spPr>
          <a:xfrm>
            <a:off x="4539386"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BE123C"/>
                </a:solidFill>
                <a:latin typeface="Segoe UI"/>
                <a:cs typeface="Segoe UI"/>
                <a:ea typeface="Segoe UI"/>
              </a:rPr>
              <a:t>من شرح الورشة:  </a:t>
            </a:r>
            <a:r>
              <a:rPr sz="1200" b="0" i="0">
                <a:solidFill>
                  <a:srgbClr val="221C57"/>
                </a:solidFill>
                <a:latin typeface="Segoe UI"/>
                <a:cs typeface="Segoe UI"/>
                <a:ea typeface="Segoe UI"/>
              </a:rPr>
              <a:t>تغيير المنهج — من كمي إلى نوعي أو مختلط — قد يكشف نتائج جديدة كلياً عن الظاهرة نفسها، ويضيف عمقاً لم تصل إليه الدراسات السابقة.</a:t>
            </a:r>
          </a:p>
        </p:txBody>
      </p:sp>
      <p:sp>
        <p:nvSpPr>
          <p:cNvPr id="27" name="Rounded Rectangle 26"/>
          <p:cNvSpPr/>
          <p:nvPr/>
        </p:nvSpPr>
        <p:spPr>
          <a:xfrm>
            <a:off x="4521098" y="5650992"/>
            <a:ext cx="3149498" cy="420624"/>
          </a:xfrm>
          <a:prstGeom prst="roundRect">
            <a:avLst>
              <a:gd name="adj" fmla="val 50000"/>
            </a:avLst>
          </a:prstGeom>
          <a:solidFill>
            <a:srgbClr val="F8E7EB"/>
          </a:solidFill>
          <a:ln w="12700">
            <a:solidFill>
              <a:srgbClr val="BE123C"/>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BE123C"/>
                </a:solidFill>
                <a:latin typeface="Segoe UI"/>
                <a:cs typeface="Segoe UI"/>
                <a:ea typeface="Segoe UI"/>
              </a:rPr>
              <a:t>السؤال المفتاحي: ماذا لو بحثنا بطريقة أخرى؟</a:t>
            </a:r>
          </a:p>
        </p:txBody>
      </p:sp>
      <p:sp>
        <p:nvSpPr>
          <p:cNvPr id="28" name="Rounded Rectangle 27"/>
          <p:cNvSpPr/>
          <p:nvPr/>
        </p:nvSpPr>
        <p:spPr>
          <a:xfrm>
            <a:off x="548639"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48639" y="1874519"/>
            <a:ext cx="3515258" cy="914400"/>
          </a:xfrm>
          <a:prstGeom prst="roundRect">
            <a:avLst>
              <a:gd name="adj" fmla="val 7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14090"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Segoe UI"/>
                <a:cs typeface="Segoe UI"/>
                <a:ea typeface="Segoe UI"/>
              </a:rPr>
              <a:t>٦</a:t>
            </a:r>
          </a:p>
        </p:txBody>
      </p:sp>
      <p:sp>
        <p:nvSpPr>
          <p:cNvPr id="31" name="TextBox 30"/>
          <p:cNvSpPr txBox="1"/>
          <p:nvPr/>
        </p:nvSpPr>
        <p:spPr>
          <a:xfrm>
            <a:off x="777239"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Segoe UI"/>
                <a:cs typeface="Segoe UI"/>
                <a:ea typeface="Segoe UI"/>
              </a:rPr>
              <a:t>فجوة الزمن</a:t>
            </a:r>
          </a:p>
        </p:txBody>
      </p:sp>
      <p:sp>
        <p:nvSpPr>
          <p:cNvPr id="32" name="TextBox 31"/>
          <p:cNvSpPr txBox="1"/>
          <p:nvPr/>
        </p:nvSpPr>
        <p:spPr>
          <a:xfrm>
            <a:off x="777239"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Segoe UI"/>
                <a:cs typeface="Segoe UI"/>
                <a:ea typeface="Segoe UI"/>
              </a:rPr>
              <a:t>⏳  Temporal Gap</a:t>
            </a:r>
          </a:p>
        </p:txBody>
      </p:sp>
      <p:sp>
        <p:nvSpPr>
          <p:cNvPr id="33" name="TextBox 32"/>
          <p:cNvSpPr txBox="1"/>
          <p:nvPr/>
        </p:nvSpPr>
        <p:spPr>
          <a:xfrm>
            <a:off x="749807"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047857"/>
                </a:solidFill>
                <a:latin typeface="Segoe UI"/>
                <a:cs typeface="Segoe UI"/>
                <a:ea typeface="Segoe UI"/>
              </a:rPr>
              <a:t>التعريف:  </a:t>
            </a:r>
            <a:r>
              <a:rPr sz="1200" b="0" i="0">
                <a:solidFill>
                  <a:srgbClr val="221C57"/>
                </a:solidFill>
                <a:latin typeface="Segoe UI"/>
                <a:cs typeface="Segoe UI"/>
                <a:ea typeface="Segoe UI"/>
              </a:rPr>
              <a:t>الدراسات المتاحة قديمة ولا تعكس الوضع الحالي.</a:t>
            </a:r>
          </a:p>
        </p:txBody>
      </p:sp>
      <p:sp>
        <p:nvSpPr>
          <p:cNvPr id="34" name="TextBox 33"/>
          <p:cNvSpPr txBox="1"/>
          <p:nvPr/>
        </p:nvSpPr>
        <p:spPr>
          <a:xfrm>
            <a:off x="749807"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047857"/>
                </a:solidFill>
                <a:latin typeface="Segoe UI"/>
                <a:cs typeface="Segoe UI"/>
                <a:ea typeface="Segoe UI"/>
              </a:rPr>
              <a:t>من شرح الورشة:  </a:t>
            </a:r>
            <a:r>
              <a:rPr sz="1200" b="0" i="0">
                <a:solidFill>
                  <a:srgbClr val="221C57"/>
                </a:solidFill>
                <a:latin typeface="Segoe UI"/>
                <a:cs typeface="Segoe UI"/>
                <a:ea typeface="Segoe UI"/>
              </a:rPr>
              <a:t>بعد كل تحول كبير — كالجائحة أو ثورة الذكاء الاصطناعي — تصبح النتائج القديمة بحاجة إلى إعادة اختبار، فالواقع تغيّر والأرقام لم تعد تمثله.</a:t>
            </a:r>
          </a:p>
        </p:txBody>
      </p:sp>
      <p:sp>
        <p:nvSpPr>
          <p:cNvPr id="35" name="Rounded Rectangle 34"/>
          <p:cNvSpPr/>
          <p:nvPr/>
        </p:nvSpPr>
        <p:spPr>
          <a:xfrm>
            <a:off x="731519" y="5650992"/>
            <a:ext cx="3149498" cy="420624"/>
          </a:xfrm>
          <a:prstGeom prst="roundRect">
            <a:avLst>
              <a:gd name="adj" fmla="val 50000"/>
            </a:avLst>
          </a:prstGeom>
          <a:solidFill>
            <a:srgbClr val="E5F1EE"/>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047857"/>
                </a:solidFill>
                <a:latin typeface="Segoe UI"/>
                <a:cs typeface="Segoe UI"/>
                <a:ea typeface="Segoe UI"/>
              </a:rPr>
              <a:t>السؤال المفتاحي: هل ما زالت النتائج صحيحة اليوم؟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Segoe UI"/>
                <a:cs typeface="Segoe UI"/>
                <a:ea typeface="Segoe UI"/>
              </a:rPr>
              <a:t>07</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Segoe UI"/>
                <a:cs typeface="Segoe UI"/>
                <a:ea typeface="Segoe UI"/>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6D28D9"/>
                </a:solidFill>
                <a:latin typeface="Segoe UI"/>
                <a:cs typeface="Segoe UI"/>
                <a:ea typeface="Segoe UI"/>
              </a:rPr>
              <a:t>PRACTICAL EXAMPLES</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Segoe UI"/>
                <a:cs typeface="Segoe UI"/>
                <a:ea typeface="Segoe UI"/>
              </a:rPr>
              <a:t>أمثلة عملية على الفجوات</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6D28D9"/>
              </a:gs>
              <a:gs pos="100000">
                <a:srgbClr val="A855F7"/>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Segoe UI"/>
                <a:cs typeface="Segoe UI"/>
                <a:ea typeface="Segoe UI"/>
              </a:rPr>
              <a:t>07</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الفجوات البحثية  •  د. هناء حسين الأهيمر</a:t>
            </a:r>
          </a:p>
        </p:txBody>
      </p:sp>
      <p:sp>
        <p:nvSpPr>
          <p:cNvPr id="11" name="Rounded Rectangle 10"/>
          <p:cNvSpPr/>
          <p:nvPr/>
        </p:nvSpPr>
        <p:spPr>
          <a:xfrm>
            <a:off x="548640" y="16276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344607" y="1755648"/>
            <a:ext cx="1133856" cy="448056"/>
          </a:xfrm>
          <a:prstGeom prst="roundRect">
            <a:avLst>
              <a:gd name="adj" fmla="val 50000"/>
            </a:avLst>
          </a:prstGeom>
          <a:ln>
            <a:noFill/>
          </a:ln>
          <a:effectLst/>
          <a:gradFill rotWithShape="1">
            <a:gsLst>
              <a:gs pos="0">
                <a:srgbClr val="A21CAF"/>
              </a:gs>
              <a:gs pos="100000">
                <a:srgbClr val="E879F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Segoe UI"/>
                <a:cs typeface="Segoe UI"/>
                <a:ea typeface="Segoe UI"/>
              </a:rPr>
              <a:t>معرفة</a:t>
            </a:r>
          </a:p>
        </p:txBody>
      </p:sp>
      <p:sp>
        <p:nvSpPr>
          <p:cNvPr id="13" name="TextBox 12"/>
          <p:cNvSpPr txBox="1"/>
          <p:nvPr/>
        </p:nvSpPr>
        <p:spPr>
          <a:xfrm>
            <a:off x="822959" y="16824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Segoe UI"/>
                <a:cs typeface="Segoe UI"/>
                <a:ea typeface="Segoe UI"/>
              </a:rPr>
              <a:t>تأثير الذكاء الاصطناعي على القرارات الأخلاقية في القطاع الصحي العربي لم تتم دراسته بشكل كافٍ</a:t>
            </a:r>
          </a:p>
        </p:txBody>
      </p:sp>
      <p:sp>
        <p:nvSpPr>
          <p:cNvPr id="14" name="TextBox 13"/>
          <p:cNvSpPr txBox="1"/>
          <p:nvPr/>
        </p:nvSpPr>
        <p:spPr>
          <a:xfrm>
            <a:off x="822959" y="20299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A21CAF"/>
                </a:solidFill>
                <a:latin typeface="Segoe UI"/>
                <a:cs typeface="Segoe UI"/>
                <a:ea typeface="Segoe UI"/>
              </a:rPr>
              <a:t>لماذا هي فجوة؟  </a:t>
            </a:r>
            <a:r>
              <a:rPr sz="1050" b="0" i="0">
                <a:solidFill>
                  <a:srgbClr val="6E6A8F"/>
                </a:solidFill>
                <a:latin typeface="Segoe UI"/>
                <a:cs typeface="Segoe UI"/>
                <a:ea typeface="Segoe UI"/>
              </a:rPr>
              <a:t>موضوع حديث وحسّاس بلا دراسات كافية — إضافة صافية للمعرفة</a:t>
            </a:r>
          </a:p>
        </p:txBody>
      </p:sp>
      <p:sp>
        <p:nvSpPr>
          <p:cNvPr id="15" name="Rounded Rectangle 14"/>
          <p:cNvSpPr/>
          <p:nvPr/>
        </p:nvSpPr>
        <p:spPr>
          <a:xfrm>
            <a:off x="548640" y="24277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344607" y="2555748"/>
            <a:ext cx="1133856" cy="448056"/>
          </a:xfrm>
          <a:prstGeom prst="roundRect">
            <a:avLst>
              <a:gd name="adj" fmla="val 5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Segoe UI"/>
                <a:cs typeface="Segoe UI"/>
                <a:ea typeface="Segoe UI"/>
              </a:rPr>
              <a:t>ممارسة</a:t>
            </a:r>
          </a:p>
        </p:txBody>
      </p:sp>
      <p:sp>
        <p:nvSpPr>
          <p:cNvPr id="17" name="TextBox 16"/>
          <p:cNvSpPr txBox="1"/>
          <p:nvPr/>
        </p:nvSpPr>
        <p:spPr>
          <a:xfrm>
            <a:off x="822959" y="24825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Segoe UI"/>
                <a:cs typeface="Segoe UI"/>
                <a:ea typeface="Segoe UI"/>
              </a:rPr>
              <a:t>البروتوكولات الطبية الدولية موجودة وموثقة، لكن التطبيق الواقعي في المستشفيات مختلف تماماً</a:t>
            </a:r>
          </a:p>
        </p:txBody>
      </p:sp>
      <p:sp>
        <p:nvSpPr>
          <p:cNvPr id="18" name="TextBox 17"/>
          <p:cNvSpPr txBox="1"/>
          <p:nvPr/>
        </p:nvSpPr>
        <p:spPr>
          <a:xfrm>
            <a:off x="822959" y="28300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D97706"/>
                </a:solidFill>
                <a:latin typeface="Segoe UI"/>
                <a:cs typeface="Segoe UI"/>
                <a:ea typeface="Segoe UI"/>
              </a:rPr>
              <a:t>لماذا هي فجوة؟  </a:t>
            </a:r>
            <a:r>
              <a:rPr sz="1050" b="0" i="0">
                <a:solidFill>
                  <a:srgbClr val="6E6A8F"/>
                </a:solidFill>
                <a:latin typeface="Segoe UI"/>
                <a:cs typeface="Segoe UI"/>
                <a:ea typeface="Segoe UI"/>
              </a:rPr>
              <a:t>المعرفة متوفرة والتطبيق غائب — البحث يدرس لماذا وكيف نصلحه</a:t>
            </a:r>
          </a:p>
        </p:txBody>
      </p:sp>
      <p:sp>
        <p:nvSpPr>
          <p:cNvPr id="19" name="Rounded Rectangle 18"/>
          <p:cNvSpPr/>
          <p:nvPr/>
        </p:nvSpPr>
        <p:spPr>
          <a:xfrm>
            <a:off x="548640" y="32278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344607" y="3355848"/>
            <a:ext cx="1133856" cy="448056"/>
          </a:xfrm>
          <a:prstGeom prst="roundRect">
            <a:avLst>
              <a:gd name="adj" fmla="val 5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Segoe UI"/>
                <a:cs typeface="Segoe UI"/>
                <a:ea typeface="Segoe UI"/>
              </a:rPr>
              <a:t>أدلة</a:t>
            </a:r>
          </a:p>
        </p:txBody>
      </p:sp>
      <p:sp>
        <p:nvSpPr>
          <p:cNvPr id="21" name="TextBox 20"/>
          <p:cNvSpPr txBox="1"/>
          <p:nvPr/>
        </p:nvSpPr>
        <p:spPr>
          <a:xfrm>
            <a:off x="822959" y="32826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Segoe UI"/>
                <a:cs typeface="Segoe UI"/>
                <a:ea typeface="Segoe UI"/>
              </a:rPr>
              <a:t>توصيات كثيرة بدمج التعلم المصغّر في التدريب، دون تجارب مضبوطة تثبت فاعليته</a:t>
            </a:r>
          </a:p>
        </p:txBody>
      </p:sp>
      <p:sp>
        <p:nvSpPr>
          <p:cNvPr id="22" name="TextBox 21"/>
          <p:cNvSpPr txBox="1"/>
          <p:nvPr/>
        </p:nvSpPr>
        <p:spPr>
          <a:xfrm>
            <a:off x="822959" y="36301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0D9488"/>
                </a:solidFill>
                <a:latin typeface="Segoe UI"/>
                <a:cs typeface="Segoe UI"/>
                <a:ea typeface="Segoe UI"/>
              </a:rPr>
              <a:t>لماذا هي فجوة؟  </a:t>
            </a:r>
            <a:r>
              <a:rPr sz="1050" b="0" i="0">
                <a:solidFill>
                  <a:srgbClr val="6E6A8F"/>
                </a:solidFill>
                <a:latin typeface="Segoe UI"/>
                <a:cs typeface="Segoe UI"/>
                <a:ea typeface="Segoe UI"/>
              </a:rPr>
              <a:t>ادعاء شائع ينقصه الدليل التجريبي — بحثك يبني هذا الدليل</a:t>
            </a:r>
          </a:p>
        </p:txBody>
      </p:sp>
      <p:sp>
        <p:nvSpPr>
          <p:cNvPr id="23" name="Rounded Rectangle 22"/>
          <p:cNvSpPr/>
          <p:nvPr/>
        </p:nvSpPr>
        <p:spPr>
          <a:xfrm>
            <a:off x="548640" y="40279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344607" y="4155948"/>
            <a:ext cx="1133856" cy="448056"/>
          </a:xfrm>
          <a:prstGeom prst="roundRect">
            <a:avLst>
              <a:gd name="adj" fmla="val 50000"/>
            </a:avLst>
          </a:prstGeom>
          <a:ln>
            <a:noFill/>
          </a:ln>
          <a:effectLst/>
          <a:gradFill rotWithShape="1">
            <a:gsLst>
              <a:gs pos="0">
                <a:srgbClr val="6D28D9"/>
              </a:gs>
              <a:gs pos="100000">
                <a:srgbClr val="A855F7"/>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Segoe UI"/>
                <a:cs typeface="Segoe UI"/>
                <a:ea typeface="Segoe UI"/>
              </a:rPr>
              <a:t>سكان</a:t>
            </a:r>
          </a:p>
        </p:txBody>
      </p:sp>
      <p:sp>
        <p:nvSpPr>
          <p:cNvPr id="25" name="TextBox 24"/>
          <p:cNvSpPr txBox="1"/>
          <p:nvPr/>
        </p:nvSpPr>
        <p:spPr>
          <a:xfrm>
            <a:off x="822959" y="40827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Segoe UI"/>
                <a:cs typeface="Segoe UI"/>
                <a:ea typeface="Segoe UI"/>
              </a:rPr>
              <a:t>معظم دراسات القلق الاجتماعي أُجريت على طلاب غربيين، والشباب العربي ما زال ناقصاً في الدراسات</a:t>
            </a:r>
          </a:p>
        </p:txBody>
      </p:sp>
      <p:sp>
        <p:nvSpPr>
          <p:cNvPr id="26" name="TextBox 25"/>
          <p:cNvSpPr txBox="1"/>
          <p:nvPr/>
        </p:nvSpPr>
        <p:spPr>
          <a:xfrm>
            <a:off x="822959" y="44302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6D28D9"/>
                </a:solidFill>
                <a:latin typeface="Segoe UI"/>
                <a:cs typeface="Segoe UI"/>
                <a:ea typeface="Segoe UI"/>
              </a:rPr>
              <a:t>لماذا هي فجوة؟  </a:t>
            </a:r>
            <a:r>
              <a:rPr sz="1050" b="0" i="0">
                <a:solidFill>
                  <a:srgbClr val="6E6A8F"/>
                </a:solidFill>
                <a:latin typeface="Segoe UI"/>
                <a:cs typeface="Segoe UI"/>
                <a:ea typeface="Segoe UI"/>
              </a:rPr>
              <a:t>العينة لا تمثل مجتمعك — إعادة الدراسة محلياً تسد الفجوة</a:t>
            </a:r>
          </a:p>
        </p:txBody>
      </p:sp>
      <p:sp>
        <p:nvSpPr>
          <p:cNvPr id="27" name="Rounded Rectangle 26"/>
          <p:cNvSpPr/>
          <p:nvPr/>
        </p:nvSpPr>
        <p:spPr>
          <a:xfrm>
            <a:off x="548640" y="48280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344607" y="4956048"/>
            <a:ext cx="1133856" cy="448056"/>
          </a:xfrm>
          <a:prstGeom prst="roundRect">
            <a:avLst>
              <a:gd name="adj" fmla="val 50000"/>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Segoe UI"/>
                <a:cs typeface="Segoe UI"/>
                <a:ea typeface="Segoe UI"/>
              </a:rPr>
              <a:t>منهجية</a:t>
            </a:r>
          </a:p>
        </p:txBody>
      </p:sp>
      <p:sp>
        <p:nvSpPr>
          <p:cNvPr id="29" name="TextBox 28"/>
          <p:cNvSpPr txBox="1"/>
          <p:nvPr/>
        </p:nvSpPr>
        <p:spPr>
          <a:xfrm>
            <a:off x="822959" y="48828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Segoe UI"/>
                <a:cs typeface="Segoe UI"/>
                <a:ea typeface="Segoe UI"/>
              </a:rPr>
              <a:t>كل الدراسات استخدمت المنهج الكمي فقط، بينما المنهج النوعي يمكن أن يعطي تفاصيل أعمق</a:t>
            </a:r>
          </a:p>
        </p:txBody>
      </p:sp>
      <p:sp>
        <p:nvSpPr>
          <p:cNvPr id="30" name="TextBox 29"/>
          <p:cNvSpPr txBox="1"/>
          <p:nvPr/>
        </p:nvSpPr>
        <p:spPr>
          <a:xfrm>
            <a:off x="822959" y="52303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BE123C"/>
                </a:solidFill>
                <a:latin typeface="Segoe UI"/>
                <a:cs typeface="Segoe UI"/>
                <a:ea typeface="Segoe UI"/>
              </a:rPr>
              <a:t>لماذا هي فجوة؟  </a:t>
            </a:r>
            <a:r>
              <a:rPr sz="1050" b="0" i="0">
                <a:solidFill>
                  <a:srgbClr val="6E6A8F"/>
                </a:solidFill>
                <a:latin typeface="Segoe UI"/>
                <a:cs typeface="Segoe UI"/>
                <a:ea typeface="Segoe UI"/>
              </a:rPr>
              <a:t>تغيير أسلوب البحث يفتح نافذة جديدة على الظاهرة نفسها</a:t>
            </a:r>
          </a:p>
        </p:txBody>
      </p:sp>
      <p:sp>
        <p:nvSpPr>
          <p:cNvPr id="31" name="Rounded Rectangle 30"/>
          <p:cNvSpPr/>
          <p:nvPr/>
        </p:nvSpPr>
        <p:spPr>
          <a:xfrm>
            <a:off x="548640" y="56281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344607" y="5756148"/>
            <a:ext cx="1133856" cy="448056"/>
          </a:xfrm>
          <a:prstGeom prst="roundRect">
            <a:avLst>
              <a:gd name="adj" fmla="val 50000"/>
            </a:avLst>
          </a:prstGeom>
          <a:ln>
            <a:noFill/>
          </a:ln>
          <a:effectLst/>
          <a:gradFill rotWithShape="1">
            <a:gsLst>
              <a:gs pos="0">
                <a:srgbClr val="047857"/>
              </a:gs>
              <a:gs pos="100000">
                <a:srgbClr val="34D39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Segoe UI"/>
                <a:cs typeface="Segoe UI"/>
                <a:ea typeface="Segoe UI"/>
              </a:rPr>
              <a:t>زمنية</a:t>
            </a:r>
          </a:p>
        </p:txBody>
      </p:sp>
      <p:sp>
        <p:nvSpPr>
          <p:cNvPr id="33" name="TextBox 32"/>
          <p:cNvSpPr txBox="1"/>
          <p:nvPr/>
        </p:nvSpPr>
        <p:spPr>
          <a:xfrm>
            <a:off x="822959" y="56829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Segoe UI"/>
                <a:cs typeface="Segoe UI"/>
                <a:ea typeface="Segoe UI"/>
              </a:rPr>
              <a:t>الدراسات القديمة قبل 2020 لا تعكس التغيرات التي حدثت بعد الجائحة</a:t>
            </a:r>
          </a:p>
        </p:txBody>
      </p:sp>
      <p:sp>
        <p:nvSpPr>
          <p:cNvPr id="34" name="TextBox 33"/>
          <p:cNvSpPr txBox="1"/>
          <p:nvPr/>
        </p:nvSpPr>
        <p:spPr>
          <a:xfrm>
            <a:off x="822959" y="60304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047857"/>
                </a:solidFill>
                <a:latin typeface="Segoe UI"/>
                <a:cs typeface="Segoe UI"/>
                <a:ea typeface="Segoe UI"/>
              </a:rPr>
              <a:t>لماذا هي فجوة؟  </a:t>
            </a:r>
            <a:r>
              <a:rPr sz="1050" b="0" i="0">
                <a:solidFill>
                  <a:srgbClr val="6E6A8F"/>
                </a:solidFill>
                <a:latin typeface="Segoe UI"/>
                <a:cs typeface="Segoe UI"/>
                <a:ea typeface="Segoe UI"/>
              </a:rPr>
              <a:t>الواقع تغيّر جذرياً والأرقام القديمة لم تعد تمثله</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Segoe UI"/>
                <a:cs typeface="Segoe UI"/>
                <a:ea typeface="Segoe UI"/>
              </a:rPr>
              <a:t>08</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Segoe UI"/>
                <a:cs typeface="Segoe UI"/>
                <a:ea typeface="Segoe UI"/>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BE123C"/>
                </a:solidFill>
                <a:latin typeface="Segoe UI"/>
                <a:cs typeface="Segoe UI"/>
                <a:ea typeface="Segoe UI"/>
              </a:rPr>
              <a:t>AI TOOLS FOR GAP DISCOVERY</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Segoe UI"/>
                <a:cs typeface="Segoe UI"/>
                <a:ea typeface="Segoe UI"/>
              </a:rPr>
              <a:t>أدوات الذكاء الاصطناعي الثمانية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Segoe UI"/>
                <a:cs typeface="Segoe UI"/>
                <a:ea typeface="Segoe UI"/>
              </a:rPr>
              <a:t>08</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الفجوات البحثية  •  د. هناء حسين الأهيمر</a:t>
            </a:r>
          </a:p>
        </p:txBody>
      </p:sp>
      <p:sp>
        <p:nvSpPr>
          <p:cNvPr id="11" name="Rounded Rectangle 10"/>
          <p:cNvSpPr/>
          <p:nvPr/>
        </p:nvSpPr>
        <p:spPr>
          <a:xfrm>
            <a:off x="9034043" y="1627632"/>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64229" y="1810512"/>
            <a:ext cx="548640" cy="548640"/>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13" name="TextBox 12"/>
          <p:cNvSpPr txBox="1"/>
          <p:nvPr/>
        </p:nvSpPr>
        <p:spPr>
          <a:xfrm>
            <a:off x="9143771" y="2432304"/>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A21CAF"/>
                </a:solidFill>
                <a:latin typeface="Segoe UI"/>
                <a:cs typeface="Segoe UI"/>
                <a:ea typeface="Segoe UI"/>
              </a:rPr>
              <a:t>Elicit</a:t>
            </a:r>
          </a:p>
        </p:txBody>
      </p:sp>
      <p:sp>
        <p:nvSpPr>
          <p:cNvPr id="14" name="TextBox 13"/>
          <p:cNvSpPr txBox="1"/>
          <p:nvPr/>
        </p:nvSpPr>
        <p:spPr>
          <a:xfrm>
            <a:off x="9180347" y="2779776"/>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Segoe UI"/>
                <a:cs typeface="Segoe UI"/>
                <a:ea typeface="Segoe UI"/>
              </a:rPr>
              <a:t>يلخّص الدراسات ويستخرج النتائج بسؤال مباشر بلغة طبيعية</a:t>
            </a:r>
          </a:p>
        </p:txBody>
      </p:sp>
      <p:sp>
        <p:nvSpPr>
          <p:cNvPr id="15" name="Rounded Rectangle 14"/>
          <p:cNvSpPr/>
          <p:nvPr/>
        </p:nvSpPr>
        <p:spPr>
          <a:xfrm>
            <a:off x="6205575" y="1627632"/>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35761" y="1810512"/>
            <a:ext cx="548640" cy="548640"/>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17" name="TextBox 16"/>
          <p:cNvSpPr txBox="1"/>
          <p:nvPr/>
        </p:nvSpPr>
        <p:spPr>
          <a:xfrm>
            <a:off x="6315303" y="2432304"/>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0D9488"/>
                </a:solidFill>
                <a:latin typeface="Segoe UI"/>
                <a:cs typeface="Segoe UI"/>
                <a:ea typeface="Segoe UI"/>
              </a:rPr>
              <a:t>Consensus</a:t>
            </a:r>
          </a:p>
        </p:txBody>
      </p:sp>
      <p:sp>
        <p:nvSpPr>
          <p:cNvPr id="18" name="TextBox 17"/>
          <p:cNvSpPr txBox="1"/>
          <p:nvPr/>
        </p:nvSpPr>
        <p:spPr>
          <a:xfrm>
            <a:off x="6351879" y="2779776"/>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Segoe UI"/>
                <a:cs typeface="Segoe UI"/>
                <a:ea typeface="Segoe UI"/>
              </a:rPr>
              <a:t>يعطيك إجماع الأبحاث حول سؤال علمي معيّن واتجاه الأدلة</a:t>
            </a:r>
          </a:p>
        </p:txBody>
      </p:sp>
      <p:sp>
        <p:nvSpPr>
          <p:cNvPr id="19" name="Rounded Rectangle 18"/>
          <p:cNvSpPr/>
          <p:nvPr/>
        </p:nvSpPr>
        <p:spPr>
          <a:xfrm>
            <a:off x="3377107" y="1627632"/>
            <a:ext cx="2609011" cy="1810512"/>
          </a:xfrm>
          <a:prstGeom prst="roundRect">
            <a:avLst>
              <a:gd name="adj" fmla="val 10000"/>
            </a:avLst>
          </a:prstGeom>
          <a:solidFill>
            <a:srgbClr val="FBF4EB"/>
          </a:solidFill>
          <a:ln w="19050">
            <a:solidFill>
              <a:srgbClr val="D97706"/>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07293" y="1810512"/>
            <a:ext cx="548640" cy="548640"/>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21" name="TextBox 20"/>
          <p:cNvSpPr txBox="1"/>
          <p:nvPr/>
        </p:nvSpPr>
        <p:spPr>
          <a:xfrm>
            <a:off x="3486835" y="2432304"/>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D97706"/>
                </a:solidFill>
                <a:latin typeface="Segoe UI"/>
                <a:cs typeface="Segoe UI"/>
                <a:ea typeface="Segoe UI"/>
              </a:rPr>
              <a:t>Research Rabbit</a:t>
            </a:r>
          </a:p>
        </p:txBody>
      </p:sp>
      <p:sp>
        <p:nvSpPr>
          <p:cNvPr id="22" name="TextBox 21"/>
          <p:cNvSpPr txBox="1"/>
          <p:nvPr/>
        </p:nvSpPr>
        <p:spPr>
          <a:xfrm>
            <a:off x="3523411" y="2779776"/>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Segoe UI"/>
                <a:cs typeface="Segoe UI"/>
                <a:ea typeface="Segoe UI"/>
              </a:rPr>
              <a:t>يرسم خريطة للعلاقات بين الأبحاث — الأقوى بحسب الورشة</a:t>
            </a:r>
          </a:p>
        </p:txBody>
      </p:sp>
      <p:sp>
        <p:nvSpPr>
          <p:cNvPr id="23" name="Rounded Rectangle 22"/>
          <p:cNvSpPr/>
          <p:nvPr/>
        </p:nvSpPr>
        <p:spPr>
          <a:xfrm>
            <a:off x="3486835" y="1472184"/>
            <a:ext cx="960120" cy="329184"/>
          </a:xfrm>
          <a:prstGeom prst="roundRect">
            <a:avLst>
              <a:gd name="adj" fmla="val 50000"/>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050" b="1" i="0">
                <a:solidFill>
                  <a:srgbClr val="FFFFFF"/>
                </a:solidFill>
                <a:latin typeface="Segoe UI"/>
                <a:cs typeface="Segoe UI"/>
                <a:ea typeface="Segoe UI"/>
              </a:rPr>
              <a:t>⭐ الأقوى</a:t>
            </a:r>
          </a:p>
        </p:txBody>
      </p:sp>
      <p:sp>
        <p:nvSpPr>
          <p:cNvPr id="24" name="Rounded Rectangle 23"/>
          <p:cNvSpPr/>
          <p:nvPr/>
        </p:nvSpPr>
        <p:spPr>
          <a:xfrm>
            <a:off x="548640" y="1627632"/>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578825" y="1810512"/>
            <a:ext cx="548640" cy="548640"/>
          </a:xfrm>
          <a:prstGeom prst="ellipse">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26" name="TextBox 25"/>
          <p:cNvSpPr txBox="1"/>
          <p:nvPr/>
        </p:nvSpPr>
        <p:spPr>
          <a:xfrm>
            <a:off x="658368" y="2432304"/>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6D28D9"/>
                </a:solidFill>
                <a:latin typeface="Segoe UI"/>
                <a:cs typeface="Segoe UI"/>
                <a:ea typeface="Segoe UI"/>
              </a:rPr>
              <a:t>Connected Papers</a:t>
            </a:r>
          </a:p>
        </p:txBody>
      </p:sp>
      <p:sp>
        <p:nvSpPr>
          <p:cNvPr id="27" name="TextBox 26"/>
          <p:cNvSpPr txBox="1"/>
          <p:nvPr/>
        </p:nvSpPr>
        <p:spPr>
          <a:xfrm>
            <a:off x="694944" y="2779776"/>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Segoe UI"/>
                <a:cs typeface="Segoe UI"/>
                <a:ea typeface="Segoe UI"/>
              </a:rPr>
              <a:t>يوضح الدراسات المرتبطة ببحثك في شبكة بصرية واحدة</a:t>
            </a:r>
          </a:p>
        </p:txBody>
      </p:sp>
      <p:sp>
        <p:nvSpPr>
          <p:cNvPr id="28" name="Rounded Rectangle 27"/>
          <p:cNvSpPr/>
          <p:nvPr/>
        </p:nvSpPr>
        <p:spPr>
          <a:xfrm>
            <a:off x="9034043" y="3584448"/>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64229" y="3767328"/>
            <a:ext cx="548640" cy="548640"/>
          </a:xfrm>
          <a:prstGeom prst="ellipse">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30" name="TextBox 29"/>
          <p:cNvSpPr txBox="1"/>
          <p:nvPr/>
        </p:nvSpPr>
        <p:spPr>
          <a:xfrm>
            <a:off x="9143771" y="4389120"/>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BE123C"/>
                </a:solidFill>
                <a:latin typeface="Segoe UI"/>
                <a:cs typeface="Segoe UI"/>
                <a:ea typeface="Segoe UI"/>
              </a:rPr>
              <a:t>Scite.ai</a:t>
            </a:r>
          </a:p>
        </p:txBody>
      </p:sp>
      <p:sp>
        <p:nvSpPr>
          <p:cNvPr id="31" name="TextBox 30"/>
          <p:cNvSpPr txBox="1"/>
          <p:nvPr/>
        </p:nvSpPr>
        <p:spPr>
          <a:xfrm>
            <a:off x="9180347" y="4736592"/>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Segoe UI"/>
                <a:cs typeface="Segoe UI"/>
                <a:ea typeface="Segoe UI"/>
              </a:rPr>
              <a:t>يقيّم قوة المراجع ويميز الاقتباسات الداعمة من المعارضة</a:t>
            </a:r>
          </a:p>
        </p:txBody>
      </p:sp>
      <p:sp>
        <p:nvSpPr>
          <p:cNvPr id="32" name="Rounded Rectangle 31"/>
          <p:cNvSpPr/>
          <p:nvPr/>
        </p:nvSpPr>
        <p:spPr>
          <a:xfrm>
            <a:off x="6205575" y="3584448"/>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35761" y="3767328"/>
            <a:ext cx="548640" cy="548640"/>
          </a:xfrm>
          <a:prstGeom prst="ellipse">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34" name="TextBox 33"/>
          <p:cNvSpPr txBox="1"/>
          <p:nvPr/>
        </p:nvSpPr>
        <p:spPr>
          <a:xfrm>
            <a:off x="6315303" y="4389120"/>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047857"/>
                </a:solidFill>
                <a:latin typeface="Segoe UI"/>
                <a:cs typeface="Segoe UI"/>
                <a:ea typeface="Segoe UI"/>
              </a:rPr>
              <a:t>Semantic Scholar</a:t>
            </a:r>
          </a:p>
        </p:txBody>
      </p:sp>
      <p:sp>
        <p:nvSpPr>
          <p:cNvPr id="35" name="TextBox 34"/>
          <p:cNvSpPr txBox="1"/>
          <p:nvPr/>
        </p:nvSpPr>
        <p:spPr>
          <a:xfrm>
            <a:off x="6351879" y="4736592"/>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Segoe UI"/>
                <a:cs typeface="Segoe UI"/>
                <a:ea typeface="Segoe UI"/>
              </a:rPr>
              <a:t>محرك بحث أكاديمي دلالي يفهم المعنى لا الكلمات فقط</a:t>
            </a:r>
          </a:p>
        </p:txBody>
      </p:sp>
      <p:sp>
        <p:nvSpPr>
          <p:cNvPr id="36" name="Rounded Rectangle 35"/>
          <p:cNvSpPr/>
          <p:nvPr/>
        </p:nvSpPr>
        <p:spPr>
          <a:xfrm>
            <a:off x="3377107" y="3584448"/>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407293" y="3767328"/>
            <a:ext cx="548640" cy="548640"/>
          </a:xfrm>
          <a:prstGeom prst="ellipse">
            <a:avLst/>
          </a:prstGeom>
          <a:ln>
            <a:noFill/>
          </a:ln>
          <a:gradFill rotWithShape="1">
            <a:gsLst>
              <a:gs pos="0">
                <a:srgbClr val="17123B"/>
              </a:gs>
              <a:gs pos="100000">
                <a:srgbClr val="3B3486"/>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38" name="TextBox 37"/>
          <p:cNvSpPr txBox="1"/>
          <p:nvPr/>
        </p:nvSpPr>
        <p:spPr>
          <a:xfrm>
            <a:off x="3486835" y="4389120"/>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17123B"/>
                </a:solidFill>
                <a:latin typeface="Segoe UI"/>
                <a:cs typeface="Segoe UI"/>
                <a:ea typeface="Segoe UI"/>
              </a:rPr>
              <a:t>Claude</a:t>
            </a:r>
          </a:p>
        </p:txBody>
      </p:sp>
      <p:sp>
        <p:nvSpPr>
          <p:cNvPr id="39" name="TextBox 38"/>
          <p:cNvSpPr txBox="1"/>
          <p:nvPr/>
        </p:nvSpPr>
        <p:spPr>
          <a:xfrm>
            <a:off x="3523411" y="4736592"/>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Segoe UI"/>
                <a:cs typeface="Segoe UI"/>
                <a:ea typeface="Segoe UI"/>
              </a:rPr>
              <a:t>يحلل الأدبيات بعمق ويقترح فجوات عبر حوار نقدي متدرج</a:t>
            </a:r>
          </a:p>
        </p:txBody>
      </p:sp>
      <p:sp>
        <p:nvSpPr>
          <p:cNvPr id="40" name="Rounded Rectangle 39"/>
          <p:cNvSpPr/>
          <p:nvPr/>
        </p:nvSpPr>
        <p:spPr>
          <a:xfrm>
            <a:off x="548640" y="3584448"/>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578825" y="3767328"/>
            <a:ext cx="548640" cy="548640"/>
          </a:xfrm>
          <a:prstGeom prst="ellipse">
            <a:avLst/>
          </a:prstGeom>
          <a:ln>
            <a:noFill/>
          </a:ln>
          <a:gradFill rotWithShape="1">
            <a:gsLst>
              <a:gs pos="0">
                <a:srgbClr val="1D4ED8"/>
              </a:gs>
              <a:gs pos="100000">
                <a:srgbClr val="60A5FA"/>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Segoe UI"/>
                <a:cs typeface="Segoe UI"/>
                <a:ea typeface="Segoe UI"/>
              </a:rPr>
              <a:t>💬</a:t>
            </a:r>
          </a:p>
        </p:txBody>
      </p:sp>
      <p:sp>
        <p:nvSpPr>
          <p:cNvPr id="42" name="TextBox 41"/>
          <p:cNvSpPr txBox="1"/>
          <p:nvPr/>
        </p:nvSpPr>
        <p:spPr>
          <a:xfrm>
            <a:off x="658368" y="4389120"/>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1D4ED8"/>
                </a:solidFill>
                <a:latin typeface="Segoe UI"/>
                <a:cs typeface="Segoe UI"/>
                <a:ea typeface="Segoe UI"/>
              </a:rPr>
              <a:t>ChatGPT</a:t>
            </a:r>
          </a:p>
        </p:txBody>
      </p:sp>
      <p:sp>
        <p:nvSpPr>
          <p:cNvPr id="43" name="TextBox 42"/>
          <p:cNvSpPr txBox="1"/>
          <p:nvPr/>
        </p:nvSpPr>
        <p:spPr>
          <a:xfrm>
            <a:off x="694944" y="4736592"/>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Segoe UI"/>
                <a:cs typeface="Segoe UI"/>
                <a:ea typeface="Segoe UI"/>
              </a:rPr>
              <a:t>يساعد في الفهم العام وصياغة أسئلة البحث الأولية</a:t>
            </a:r>
          </a:p>
        </p:txBody>
      </p:sp>
      <p:sp>
        <p:nvSpPr>
          <p:cNvPr id="44" name="Rounded Rectangle 43"/>
          <p:cNvSpPr/>
          <p:nvPr/>
        </p:nvSpPr>
        <p:spPr>
          <a:xfrm>
            <a:off x="548640" y="5596128"/>
            <a:ext cx="11094415" cy="548640"/>
          </a:xfrm>
          <a:prstGeom prst="roundRect">
            <a:avLst>
              <a:gd name="adj" fmla="val 30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 y="5696712"/>
            <a:ext cx="10545775"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250" b="1" i="0">
                <a:solidFill>
                  <a:srgbClr val="FBBF24"/>
                </a:solidFill>
                <a:latin typeface="Segoe UI"/>
                <a:cs typeface="Segoe UI"/>
                <a:ea typeface="Segoe UI"/>
              </a:rPr>
              <a:t>💡 من الشرح: </a:t>
            </a:r>
            <a:r>
              <a:rPr sz="1200" b="0" i="0">
                <a:solidFill>
                  <a:srgbClr val="FFFFFF"/>
                </a:solidFill>
                <a:latin typeface="Segoe UI"/>
                <a:cs typeface="Segoe UI"/>
                <a:ea typeface="Segoe UI"/>
              </a:rPr>
              <a:t>الأدوات كثيرة، لكن الأقوى هو Research Rabbit لأنه يرسم خريطة واضحة للعلاقات بين الأبحاث — وسير العمل معه في الشريحة التالية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Segoe UI"/>
                <a:cs typeface="Segoe UI"/>
                <a:ea typeface="Segoe UI"/>
              </a:rPr>
              <a:t>09</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Segoe UI"/>
                <a:cs typeface="Segoe UI"/>
                <a:ea typeface="Segoe UI"/>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D97706"/>
                </a:solidFill>
                <a:latin typeface="Segoe UI"/>
                <a:cs typeface="Segoe UI"/>
                <a:ea typeface="Segoe UI"/>
              </a:rPr>
              <a:t>THE RECOMMENDED WORKFLOW</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Segoe UI"/>
                <a:cs typeface="Segoe UI"/>
                <a:ea typeface="Segoe UI"/>
              </a:rPr>
              <a:t>سير العمل الذكي مع Research Rabbit</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Segoe UI"/>
                <a:cs typeface="Segoe UI"/>
                <a:ea typeface="Segoe UI"/>
              </a:rPr>
              <a:t>09</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الفجوات البحثية  •  د. هناء حسين الأهيمر</a:t>
            </a:r>
          </a:p>
        </p:txBody>
      </p:sp>
      <p:sp>
        <p:nvSpPr>
          <p:cNvPr id="11" name="TextBox 10"/>
          <p:cNvSpPr txBox="1"/>
          <p:nvPr/>
        </p:nvSpPr>
        <p:spPr>
          <a:xfrm>
            <a:off x="548640" y="1536192"/>
            <a:ext cx="11094415"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350" b="1" i="0">
                <a:solidFill>
                  <a:srgbClr val="6E6A8F"/>
                </a:solidFill>
                <a:latin typeface="Segoe UI"/>
                <a:cs typeface="Segoe UI"/>
                <a:ea typeface="Segoe UI"/>
              </a:rPr>
              <a:t>الطريقة العملية التي أوصت بها الورشة لاستخراج الفجوة بالذكاء الاصطناعي — أربع خطوات:</a:t>
            </a:r>
          </a:p>
        </p:txBody>
      </p:sp>
      <p:sp>
        <p:nvSpPr>
          <p:cNvPr id="12" name="Rounded Rectangle 11"/>
          <p:cNvSpPr/>
          <p:nvPr/>
        </p:nvSpPr>
        <p:spPr>
          <a:xfrm>
            <a:off x="9246641" y="2103120"/>
            <a:ext cx="2396413" cy="30632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46641" y="2103120"/>
            <a:ext cx="2396413" cy="109728"/>
          </a:xfrm>
          <a:prstGeom prst="roundRect">
            <a:avLst>
              <a:gd name="adj" fmla="val 100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97376" y="2423160"/>
            <a:ext cx="694944" cy="694944"/>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i="0">
                <a:solidFill>
                  <a:srgbClr val="FFFFFF"/>
                </a:solidFill>
                <a:latin typeface="Segoe UI"/>
                <a:cs typeface="Segoe UI"/>
                <a:ea typeface="Segoe UI"/>
              </a:rPr>
              <a:t>📤</a:t>
            </a:r>
          </a:p>
        </p:txBody>
      </p:sp>
      <p:sp>
        <p:nvSpPr>
          <p:cNvPr id="15" name="Rounded Rectangle 14"/>
          <p:cNvSpPr/>
          <p:nvPr/>
        </p:nvSpPr>
        <p:spPr>
          <a:xfrm>
            <a:off x="9941928" y="3246120"/>
            <a:ext cx="1005840" cy="329184"/>
          </a:xfrm>
          <a:prstGeom prst="roundRect">
            <a:avLst>
              <a:gd name="adj" fmla="val 50000"/>
            </a:avLst>
          </a:prstGeom>
          <a:solidFill>
            <a:srgbClr val="F3E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00" b="1" i="0">
                <a:solidFill>
                  <a:srgbClr val="A21CAF"/>
                </a:solidFill>
                <a:latin typeface="Segoe UI"/>
                <a:cs typeface="Segoe UI"/>
                <a:ea typeface="Segoe UI"/>
              </a:rPr>
              <a:t>الخطوة ١</a:t>
            </a:r>
          </a:p>
        </p:txBody>
      </p:sp>
      <p:sp>
        <p:nvSpPr>
          <p:cNvPr id="16" name="TextBox 15"/>
          <p:cNvSpPr txBox="1"/>
          <p:nvPr/>
        </p:nvSpPr>
        <p:spPr>
          <a:xfrm>
            <a:off x="9356369" y="3675887"/>
            <a:ext cx="2176957"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A21CAF"/>
                </a:solidFill>
                <a:latin typeface="Segoe UI"/>
                <a:cs typeface="Segoe UI"/>
                <a:ea typeface="Segoe UI"/>
              </a:rPr>
              <a:t>ارفع ملفات الدراسات</a:t>
            </a:r>
          </a:p>
        </p:txBody>
      </p:sp>
      <p:sp>
        <p:nvSpPr>
          <p:cNvPr id="17" name="TextBox 16"/>
          <p:cNvSpPr txBox="1"/>
          <p:nvPr/>
        </p:nvSpPr>
        <p:spPr>
          <a:xfrm>
            <a:off x="9411233" y="4114800"/>
            <a:ext cx="2067229" cy="960120"/>
          </a:xfrm>
          <a:prstGeom prst="rect">
            <a:avLst/>
          </a:prstGeom>
          <a:noFill/>
        </p:spPr>
        <p:txBody>
          <a:bodyPr wrap="square" anchor="t" lIns="0" rIns="0" tIns="0" bIns="0">
            <a:spAutoFit/>
          </a:bodyPr>
          <a:lstStyle/>
          <a:p>
            <a:pPr algn="ctr" rtl="1">
              <a:lnSpc>
                <a:spcPct val="115000"/>
              </a:lnSpc>
              <a:spcBef>
                <a:spcPts val="0"/>
              </a:spcBef>
              <a:spcAft>
                <a:spcPts val="400"/>
              </a:spcAft>
            </a:pPr>
            <a:r>
              <a:rPr sz="1100" b="0" i="0">
                <a:solidFill>
                  <a:srgbClr val="221C57"/>
                </a:solidFill>
                <a:latin typeface="Segoe UI"/>
                <a:cs typeface="Segoe UI"/>
                <a:ea typeface="Segoe UI"/>
              </a:rPr>
              <a:t>حمّل الأوراق العلمية المرتبطة بموضوعك إلى المنصة — كلما كانت أحدث وأشمل كانت الخريطة أدق</a:t>
            </a:r>
          </a:p>
        </p:txBody>
      </p:sp>
      <p:sp>
        <p:nvSpPr>
          <p:cNvPr id="18" name="Rectangle 17"/>
          <p:cNvSpPr/>
          <p:nvPr/>
        </p:nvSpPr>
        <p:spPr>
          <a:xfrm>
            <a:off x="8816873" y="3429000"/>
            <a:ext cx="365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6E6A8F"/>
                </a:solidFill>
                <a:latin typeface="Segoe UI"/>
                <a:cs typeface="Segoe UI"/>
                <a:ea typeface="Segoe UI"/>
              </a:rPr>
              <a:t>⬅</a:t>
            </a:r>
          </a:p>
        </p:txBody>
      </p:sp>
      <p:sp>
        <p:nvSpPr>
          <p:cNvPr id="19" name="Rounded Rectangle 18"/>
          <p:cNvSpPr/>
          <p:nvPr/>
        </p:nvSpPr>
        <p:spPr>
          <a:xfrm>
            <a:off x="6347307" y="2103120"/>
            <a:ext cx="2396413" cy="30632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47307" y="2103120"/>
            <a:ext cx="2396413" cy="109728"/>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98042" y="2423160"/>
            <a:ext cx="694944" cy="694944"/>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i="0">
                <a:solidFill>
                  <a:srgbClr val="FFFFFF"/>
                </a:solidFill>
                <a:latin typeface="Segoe UI"/>
                <a:cs typeface="Segoe UI"/>
                <a:ea typeface="Segoe UI"/>
              </a:rPr>
              <a:t>🎯</a:t>
            </a:r>
          </a:p>
        </p:txBody>
      </p:sp>
      <p:sp>
        <p:nvSpPr>
          <p:cNvPr id="22" name="Rounded Rectangle 21"/>
          <p:cNvSpPr/>
          <p:nvPr/>
        </p:nvSpPr>
        <p:spPr>
          <a:xfrm>
            <a:off x="7042594" y="3246120"/>
            <a:ext cx="1005840" cy="329184"/>
          </a:xfrm>
          <a:prstGeom prst="roundRect">
            <a:avLst>
              <a:gd name="adj" fmla="val 50000"/>
            </a:avLst>
          </a:prstGeom>
          <a:solidFill>
            <a:srgbClr val="FAEEE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00" b="1" i="0">
                <a:solidFill>
                  <a:srgbClr val="D97706"/>
                </a:solidFill>
                <a:latin typeface="Segoe UI"/>
                <a:cs typeface="Segoe UI"/>
                <a:ea typeface="Segoe UI"/>
              </a:rPr>
              <a:t>الخطوة ٢</a:t>
            </a:r>
          </a:p>
        </p:txBody>
      </p:sp>
      <p:sp>
        <p:nvSpPr>
          <p:cNvPr id="23" name="TextBox 22"/>
          <p:cNvSpPr txBox="1"/>
          <p:nvPr/>
        </p:nvSpPr>
        <p:spPr>
          <a:xfrm>
            <a:off x="6457035" y="3675887"/>
            <a:ext cx="2176957"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D97706"/>
                </a:solidFill>
                <a:latin typeface="Segoe UI"/>
                <a:cs typeface="Segoe UI"/>
                <a:ea typeface="Segoe UI"/>
              </a:rPr>
              <a:t>اطرح سؤالاً دقيقاً</a:t>
            </a:r>
          </a:p>
        </p:txBody>
      </p:sp>
      <p:sp>
        <p:nvSpPr>
          <p:cNvPr id="24" name="TextBox 23"/>
          <p:cNvSpPr txBox="1"/>
          <p:nvPr/>
        </p:nvSpPr>
        <p:spPr>
          <a:xfrm>
            <a:off x="6511899" y="4114800"/>
            <a:ext cx="2067229" cy="960120"/>
          </a:xfrm>
          <a:prstGeom prst="rect">
            <a:avLst/>
          </a:prstGeom>
          <a:noFill/>
        </p:spPr>
        <p:txBody>
          <a:bodyPr wrap="square" anchor="t" lIns="0" rIns="0" tIns="0" bIns="0">
            <a:spAutoFit/>
          </a:bodyPr>
          <a:lstStyle/>
          <a:p>
            <a:pPr algn="ctr" rtl="1">
              <a:lnSpc>
                <a:spcPct val="115000"/>
              </a:lnSpc>
              <a:spcBef>
                <a:spcPts val="0"/>
              </a:spcBef>
              <a:spcAft>
                <a:spcPts val="400"/>
              </a:spcAft>
            </a:pPr>
            <a:r>
              <a:rPr sz="1100" b="0" i="0">
                <a:solidFill>
                  <a:srgbClr val="221C57"/>
                </a:solidFill>
                <a:latin typeface="Segoe UI"/>
                <a:cs typeface="Segoe UI"/>
                <a:ea typeface="Segoe UI"/>
              </a:rPr>
              <a:t>اكتب طلباً محدداً: «حلّل هذه الملفات واستخرج الفجوة البحثية» — دقة السؤال تصنع دقة الإجابة</a:t>
            </a:r>
          </a:p>
        </p:txBody>
      </p:sp>
      <p:sp>
        <p:nvSpPr>
          <p:cNvPr id="25" name="Rectangle 24"/>
          <p:cNvSpPr/>
          <p:nvPr/>
        </p:nvSpPr>
        <p:spPr>
          <a:xfrm>
            <a:off x="5917539" y="3429000"/>
            <a:ext cx="365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6E6A8F"/>
                </a:solidFill>
                <a:latin typeface="Segoe UI"/>
                <a:cs typeface="Segoe UI"/>
                <a:ea typeface="Segoe UI"/>
              </a:rPr>
              <a:t>⬅</a:t>
            </a:r>
          </a:p>
        </p:txBody>
      </p:sp>
      <p:sp>
        <p:nvSpPr>
          <p:cNvPr id="26" name="Rounded Rectangle 25"/>
          <p:cNvSpPr/>
          <p:nvPr/>
        </p:nvSpPr>
        <p:spPr>
          <a:xfrm>
            <a:off x="3447973" y="2103120"/>
            <a:ext cx="2396413" cy="30632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447973" y="2103120"/>
            <a:ext cx="2396413" cy="109728"/>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298708" y="2423160"/>
            <a:ext cx="694944" cy="694944"/>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i="0">
                <a:solidFill>
                  <a:srgbClr val="FFFFFF"/>
                </a:solidFill>
                <a:latin typeface="Segoe UI"/>
                <a:cs typeface="Segoe UI"/>
                <a:ea typeface="Segoe UI"/>
              </a:rPr>
              <a:t>🧐</a:t>
            </a:r>
          </a:p>
        </p:txBody>
      </p:sp>
      <p:sp>
        <p:nvSpPr>
          <p:cNvPr id="29" name="Rounded Rectangle 28"/>
          <p:cNvSpPr/>
          <p:nvPr/>
        </p:nvSpPr>
        <p:spPr>
          <a:xfrm>
            <a:off x="4143260" y="3246120"/>
            <a:ext cx="1005840" cy="329184"/>
          </a:xfrm>
          <a:prstGeom prst="roundRect">
            <a:avLst>
              <a:gd name="adj" fmla="val 50000"/>
            </a:avLst>
          </a:prstGeom>
          <a:solidFill>
            <a:srgbClr val="E1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00" b="1" i="0">
                <a:solidFill>
                  <a:srgbClr val="0D9488"/>
                </a:solidFill>
                <a:latin typeface="Segoe UI"/>
                <a:cs typeface="Segoe UI"/>
                <a:ea typeface="Segoe UI"/>
              </a:rPr>
              <a:t>الخطوة ٣</a:t>
            </a:r>
          </a:p>
        </p:txBody>
      </p:sp>
      <p:sp>
        <p:nvSpPr>
          <p:cNvPr id="30" name="TextBox 29"/>
          <p:cNvSpPr txBox="1"/>
          <p:nvPr/>
        </p:nvSpPr>
        <p:spPr>
          <a:xfrm>
            <a:off x="3557701" y="3675887"/>
            <a:ext cx="2176957"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0D9488"/>
                </a:solidFill>
                <a:latin typeface="Segoe UI"/>
                <a:cs typeface="Segoe UI"/>
                <a:ea typeface="Segoe UI"/>
              </a:rPr>
              <a:t>راجع التحليل بنفسك</a:t>
            </a:r>
          </a:p>
        </p:txBody>
      </p:sp>
      <p:sp>
        <p:nvSpPr>
          <p:cNvPr id="31" name="TextBox 30"/>
          <p:cNvSpPr txBox="1"/>
          <p:nvPr/>
        </p:nvSpPr>
        <p:spPr>
          <a:xfrm>
            <a:off x="3612565" y="4114800"/>
            <a:ext cx="2067229" cy="960120"/>
          </a:xfrm>
          <a:prstGeom prst="rect">
            <a:avLst/>
          </a:prstGeom>
          <a:noFill/>
        </p:spPr>
        <p:txBody>
          <a:bodyPr wrap="square" anchor="t" lIns="0" rIns="0" tIns="0" bIns="0">
            <a:spAutoFit/>
          </a:bodyPr>
          <a:lstStyle/>
          <a:p>
            <a:pPr algn="ctr" rtl="1">
              <a:lnSpc>
                <a:spcPct val="115000"/>
              </a:lnSpc>
              <a:spcBef>
                <a:spcPts val="0"/>
              </a:spcBef>
              <a:spcAft>
                <a:spcPts val="400"/>
              </a:spcAft>
            </a:pPr>
            <a:r>
              <a:rPr sz="1100" b="0" i="0">
                <a:solidFill>
                  <a:srgbClr val="221C57"/>
                </a:solidFill>
                <a:latin typeface="Segoe UI"/>
                <a:cs typeface="Segoe UI"/>
                <a:ea typeface="Segoe UI"/>
              </a:rPr>
              <a:t>افحص ما قدّمه الذكاء الاصطناعي بعقلك النقدي — لا تعتمد المخرجات كما هي أبداً</a:t>
            </a:r>
          </a:p>
        </p:txBody>
      </p:sp>
      <p:sp>
        <p:nvSpPr>
          <p:cNvPr id="32" name="Rectangle 31"/>
          <p:cNvSpPr/>
          <p:nvPr/>
        </p:nvSpPr>
        <p:spPr>
          <a:xfrm>
            <a:off x="3018205" y="3429000"/>
            <a:ext cx="365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6E6A8F"/>
                </a:solidFill>
                <a:latin typeface="Segoe UI"/>
                <a:cs typeface="Segoe UI"/>
                <a:ea typeface="Segoe UI"/>
              </a:rPr>
              <a:t>⬅</a:t>
            </a:r>
          </a:p>
        </p:txBody>
      </p:sp>
      <p:sp>
        <p:nvSpPr>
          <p:cNvPr id="33" name="Rounded Rectangle 32"/>
          <p:cNvSpPr/>
          <p:nvPr/>
        </p:nvSpPr>
        <p:spPr>
          <a:xfrm>
            <a:off x="548639" y="2103120"/>
            <a:ext cx="2396413" cy="30632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48639" y="2103120"/>
            <a:ext cx="2396413" cy="109728"/>
          </a:xfrm>
          <a:prstGeom prst="roundRect">
            <a:avLst>
              <a:gd name="adj" fmla="val 100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99374" y="2423160"/>
            <a:ext cx="694944" cy="694944"/>
          </a:xfrm>
          <a:prstGeom prst="ellipse">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i="0">
                <a:solidFill>
                  <a:srgbClr val="FFFFFF"/>
                </a:solidFill>
                <a:latin typeface="Segoe UI"/>
                <a:cs typeface="Segoe UI"/>
                <a:ea typeface="Segoe UI"/>
              </a:rPr>
              <a:t>✅</a:t>
            </a:r>
          </a:p>
        </p:txBody>
      </p:sp>
      <p:sp>
        <p:nvSpPr>
          <p:cNvPr id="36" name="Rounded Rectangle 35"/>
          <p:cNvSpPr/>
          <p:nvPr/>
        </p:nvSpPr>
        <p:spPr>
          <a:xfrm>
            <a:off x="1243926" y="3246120"/>
            <a:ext cx="1005840" cy="329184"/>
          </a:xfrm>
          <a:prstGeom prst="roundRect">
            <a:avLst>
              <a:gd name="adj" fmla="val 50000"/>
            </a:avLst>
          </a:prstGeom>
          <a:solidFill>
            <a:srgbClr val="E0EEE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00" b="1" i="0">
                <a:solidFill>
                  <a:srgbClr val="047857"/>
                </a:solidFill>
                <a:latin typeface="Segoe UI"/>
                <a:cs typeface="Segoe UI"/>
                <a:ea typeface="Segoe UI"/>
              </a:rPr>
              <a:t>الخطوة ٤</a:t>
            </a:r>
          </a:p>
        </p:txBody>
      </p:sp>
      <p:sp>
        <p:nvSpPr>
          <p:cNvPr id="37" name="TextBox 36"/>
          <p:cNvSpPr txBox="1"/>
          <p:nvPr/>
        </p:nvSpPr>
        <p:spPr>
          <a:xfrm>
            <a:off x="658367" y="3675887"/>
            <a:ext cx="2176957"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047857"/>
                </a:solidFill>
                <a:latin typeface="Segoe UI"/>
                <a:cs typeface="Segoe UI"/>
                <a:ea typeface="Segoe UI"/>
              </a:rPr>
              <a:t>اعتمد القرار الأكاديمي</a:t>
            </a:r>
          </a:p>
        </p:txBody>
      </p:sp>
      <p:sp>
        <p:nvSpPr>
          <p:cNvPr id="38" name="TextBox 37"/>
          <p:cNvSpPr txBox="1"/>
          <p:nvPr/>
        </p:nvSpPr>
        <p:spPr>
          <a:xfrm>
            <a:off x="713231" y="4114800"/>
            <a:ext cx="2067229" cy="960120"/>
          </a:xfrm>
          <a:prstGeom prst="rect">
            <a:avLst/>
          </a:prstGeom>
          <a:noFill/>
        </p:spPr>
        <p:txBody>
          <a:bodyPr wrap="square" anchor="t" lIns="0" rIns="0" tIns="0" bIns="0">
            <a:spAutoFit/>
          </a:bodyPr>
          <a:lstStyle/>
          <a:p>
            <a:pPr algn="ctr" rtl="1">
              <a:lnSpc>
                <a:spcPct val="115000"/>
              </a:lnSpc>
              <a:spcBef>
                <a:spcPts val="0"/>
              </a:spcBef>
              <a:spcAft>
                <a:spcPts val="400"/>
              </a:spcAft>
            </a:pPr>
            <a:r>
              <a:rPr sz="1100" b="0" i="0">
                <a:solidFill>
                  <a:srgbClr val="221C57"/>
                </a:solidFill>
                <a:latin typeface="Segoe UI"/>
                <a:cs typeface="Segoe UI"/>
                <a:ea typeface="Segoe UI"/>
              </a:rPr>
              <a:t>بعد التحقق من المصادر تصبح الفجوة موثوقة وجاهزة لتتصدر مقترحك البحثي</a:t>
            </a:r>
          </a:p>
        </p:txBody>
      </p:sp>
      <p:sp>
        <p:nvSpPr>
          <p:cNvPr id="39" name="Rounded Rectangle 38"/>
          <p:cNvSpPr/>
          <p:nvPr/>
        </p:nvSpPr>
        <p:spPr>
          <a:xfrm>
            <a:off x="548640" y="5486400"/>
            <a:ext cx="11094415" cy="658368"/>
          </a:xfrm>
          <a:prstGeom prst="roundRect">
            <a:avLst>
              <a:gd name="adj" fmla="val 22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59" y="5596128"/>
            <a:ext cx="10545775" cy="45720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FBBF24"/>
                </a:solidFill>
                <a:latin typeface="Segoe UI"/>
                <a:cs typeface="Segoe UI"/>
                <a:ea typeface="Segoe UI"/>
              </a:rPr>
              <a:t>⚠️ القاعدة الذهبية: </a:t>
            </a:r>
            <a:r>
              <a:rPr sz="1250" b="0" i="0">
                <a:solidFill>
                  <a:srgbClr val="FFFFFF"/>
                </a:solidFill>
                <a:latin typeface="Segoe UI"/>
                <a:cs typeface="Segoe UI"/>
                <a:ea typeface="Segoe UI"/>
              </a:rPr>
              <a:t>الذكاء الاصطناعي يقترح والباحث يقرر — المراجعة البشرية للتحليل شرط أساسي لضمان دقة القرار الأكاديمي</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Segoe UI"/>
                <a:cs typeface="Segoe UI"/>
                <a:ea typeface="Segoe UI"/>
              </a:rPr>
              <a:t>10</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Segoe UI"/>
                <a:cs typeface="Segoe UI"/>
                <a:ea typeface="Segoe UI"/>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047857"/>
                </a:solidFill>
                <a:latin typeface="Segoe UI"/>
                <a:cs typeface="Segoe UI"/>
                <a:ea typeface="Segoe UI"/>
              </a:rPr>
              <a:t>EXPERT RESEARCHER STRATEGIES</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Segoe UI"/>
                <a:cs typeface="Segoe UI"/>
                <a:ea typeface="Segoe UI"/>
              </a:rPr>
              <a:t>استراتيجيات الباحثين المحترفين</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047857"/>
              </a:gs>
              <a:gs pos="100000">
                <a:srgbClr val="34D39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Segoe UI"/>
                <a:cs typeface="Segoe UI"/>
                <a:ea typeface="Segoe UI"/>
              </a:rPr>
              <a:t>10</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الفجوات البحثية  •  د. هناء حسين الأهيمر</a:t>
            </a:r>
          </a:p>
        </p:txBody>
      </p:sp>
      <p:sp>
        <p:nvSpPr>
          <p:cNvPr id="11" name="Rounded Rectangle 10"/>
          <p:cNvSpPr/>
          <p:nvPr/>
        </p:nvSpPr>
        <p:spPr>
          <a:xfrm>
            <a:off x="548640" y="1627632"/>
            <a:ext cx="11094415" cy="86868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838383" y="1764792"/>
            <a:ext cx="594360" cy="594360"/>
          </a:xfrm>
          <a:prstGeom prst="ellipse">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Segoe UI"/>
                <a:cs typeface="Segoe UI"/>
                <a:ea typeface="Segoe UI"/>
              </a:rPr>
              <a:t>📄</a:t>
            </a:r>
          </a:p>
        </p:txBody>
      </p:sp>
      <p:sp>
        <p:nvSpPr>
          <p:cNvPr id="13" name="TextBox 12"/>
          <p:cNvSpPr txBox="1"/>
          <p:nvPr/>
        </p:nvSpPr>
        <p:spPr>
          <a:xfrm>
            <a:off x="822959" y="1700784"/>
            <a:ext cx="981425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6D28D9"/>
                </a:solidFill>
                <a:latin typeface="Segoe UI"/>
                <a:cs typeface="Segoe UI"/>
                <a:ea typeface="Segoe UI"/>
              </a:rPr>
              <a:t>اقرأ خاتمة الدراسات   </a:t>
            </a:r>
            <a:r>
              <a:rPr sz="1050" b="0" i="1">
                <a:solidFill>
                  <a:srgbClr val="6E6A8F"/>
                </a:solidFill>
                <a:latin typeface="Segoe UI"/>
                <a:cs typeface="Segoe UI"/>
                <a:ea typeface="Segoe UI"/>
              </a:rPr>
              <a:t>Conclusion Section</a:t>
            </a:r>
          </a:p>
        </p:txBody>
      </p:sp>
      <p:sp>
        <p:nvSpPr>
          <p:cNvPr id="14" name="TextBox 13"/>
          <p:cNvSpPr txBox="1"/>
          <p:nvPr/>
        </p:nvSpPr>
        <p:spPr>
          <a:xfrm>
            <a:off x="822959" y="2084832"/>
            <a:ext cx="9814255" cy="384048"/>
          </a:xfrm>
          <a:prstGeom prst="rect">
            <a:avLst/>
          </a:prstGeom>
          <a:noFill/>
        </p:spPr>
        <p:txBody>
          <a:bodyPr wrap="square" anchor="t" lIns="0" rIns="0" tIns="0" bIns="0">
            <a:spAutoFit/>
          </a:bodyPr>
          <a:lstStyle/>
          <a:p>
            <a:pPr algn="r" rtl="1">
              <a:lnSpc>
                <a:spcPct val="110000"/>
              </a:lnSpc>
              <a:spcBef>
                <a:spcPts val="0"/>
              </a:spcBef>
              <a:spcAft>
                <a:spcPts val="400"/>
              </a:spcAft>
            </a:pPr>
            <a:r>
              <a:rPr sz="1200" b="0" i="0">
                <a:solidFill>
                  <a:srgbClr val="221C57"/>
                </a:solidFill>
                <a:latin typeface="Segoe UI"/>
                <a:cs typeface="Segoe UI"/>
                <a:ea typeface="Segoe UI"/>
              </a:rPr>
              <a:t>الباحثون غالباً يذكرون اقتراحات مستقبلية وفجوات صريحة في نهاية أبحاثهم — فجوات جاهزة وموثقة فاستثمرها!</a:t>
            </a:r>
          </a:p>
        </p:txBody>
      </p:sp>
      <p:sp>
        <p:nvSpPr>
          <p:cNvPr id="15" name="Rounded Rectangle 14"/>
          <p:cNvSpPr/>
          <p:nvPr/>
        </p:nvSpPr>
        <p:spPr>
          <a:xfrm>
            <a:off x="548640" y="2615184"/>
            <a:ext cx="11094415" cy="86868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838383" y="2752344"/>
            <a:ext cx="594360" cy="594360"/>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Segoe UI"/>
                <a:cs typeface="Segoe UI"/>
                <a:ea typeface="Segoe UI"/>
              </a:rPr>
              <a:t>🗺</a:t>
            </a:r>
          </a:p>
        </p:txBody>
      </p:sp>
      <p:sp>
        <p:nvSpPr>
          <p:cNvPr id="17" name="TextBox 16"/>
          <p:cNvSpPr txBox="1"/>
          <p:nvPr/>
        </p:nvSpPr>
        <p:spPr>
          <a:xfrm>
            <a:off x="822959" y="2688336"/>
            <a:ext cx="981425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0D9488"/>
                </a:solidFill>
                <a:latin typeface="Segoe UI"/>
                <a:cs typeface="Segoe UI"/>
                <a:ea typeface="Segoe UI"/>
              </a:rPr>
              <a:t>اعمل خريطة للأدبيات   </a:t>
            </a:r>
            <a:r>
              <a:rPr sz="1050" b="0" i="1">
                <a:solidFill>
                  <a:srgbClr val="6E6A8F"/>
                </a:solidFill>
                <a:latin typeface="Segoe UI"/>
                <a:cs typeface="Segoe UI"/>
                <a:ea typeface="Segoe UI"/>
              </a:rPr>
              <a:t>Literature Mapping</a:t>
            </a:r>
          </a:p>
        </p:txBody>
      </p:sp>
      <p:sp>
        <p:nvSpPr>
          <p:cNvPr id="18" name="TextBox 17"/>
          <p:cNvSpPr txBox="1"/>
          <p:nvPr/>
        </p:nvSpPr>
        <p:spPr>
          <a:xfrm>
            <a:off x="822959" y="3072384"/>
            <a:ext cx="9814255" cy="384048"/>
          </a:xfrm>
          <a:prstGeom prst="rect">
            <a:avLst/>
          </a:prstGeom>
          <a:noFill/>
        </p:spPr>
        <p:txBody>
          <a:bodyPr wrap="square" anchor="t" lIns="0" rIns="0" tIns="0" bIns="0">
            <a:spAutoFit/>
          </a:bodyPr>
          <a:lstStyle/>
          <a:p>
            <a:pPr algn="r" rtl="1">
              <a:lnSpc>
                <a:spcPct val="110000"/>
              </a:lnSpc>
              <a:spcBef>
                <a:spcPts val="0"/>
              </a:spcBef>
              <a:spcAft>
                <a:spcPts val="400"/>
              </a:spcAft>
            </a:pPr>
            <a:r>
              <a:rPr sz="1200" b="0" i="0">
                <a:solidFill>
                  <a:srgbClr val="221C57"/>
                </a:solidFill>
                <a:latin typeface="Segoe UI"/>
                <a:cs typeface="Segoe UI"/>
                <a:ea typeface="Segoe UI"/>
              </a:rPr>
              <a:t>صنّف الدراسات حسب: السكان، المنهج، الدولة، الزمن — الخانات الفارغة في الخريطة هي فجواتك المحتملة</a:t>
            </a:r>
          </a:p>
        </p:txBody>
      </p:sp>
      <p:sp>
        <p:nvSpPr>
          <p:cNvPr id="19" name="Rounded Rectangle 18"/>
          <p:cNvSpPr/>
          <p:nvPr/>
        </p:nvSpPr>
        <p:spPr>
          <a:xfrm>
            <a:off x="548640" y="3602736"/>
            <a:ext cx="11094415" cy="86868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838383" y="3739896"/>
            <a:ext cx="594360" cy="594360"/>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Segoe UI"/>
                <a:cs typeface="Segoe UI"/>
                <a:ea typeface="Segoe UI"/>
              </a:rPr>
              <a:t>⚖️</a:t>
            </a:r>
          </a:p>
        </p:txBody>
      </p:sp>
      <p:sp>
        <p:nvSpPr>
          <p:cNvPr id="21" name="TextBox 20"/>
          <p:cNvSpPr txBox="1"/>
          <p:nvPr/>
        </p:nvSpPr>
        <p:spPr>
          <a:xfrm>
            <a:off x="822959" y="3675888"/>
            <a:ext cx="981425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A21CAF"/>
                </a:solidFill>
                <a:latin typeface="Segoe UI"/>
                <a:cs typeface="Segoe UI"/>
                <a:ea typeface="Segoe UI"/>
              </a:rPr>
              <a:t>ابحث عن التناقضات   </a:t>
            </a:r>
            <a:r>
              <a:rPr sz="1050" b="0" i="1">
                <a:solidFill>
                  <a:srgbClr val="6E6A8F"/>
                </a:solidFill>
                <a:latin typeface="Segoe UI"/>
                <a:cs typeface="Segoe UI"/>
                <a:ea typeface="Segoe UI"/>
              </a:rPr>
              <a:t>Contradictions</a:t>
            </a:r>
          </a:p>
        </p:txBody>
      </p:sp>
      <p:sp>
        <p:nvSpPr>
          <p:cNvPr id="22" name="TextBox 21"/>
          <p:cNvSpPr txBox="1"/>
          <p:nvPr/>
        </p:nvSpPr>
        <p:spPr>
          <a:xfrm>
            <a:off x="822959" y="4059936"/>
            <a:ext cx="9814255" cy="384048"/>
          </a:xfrm>
          <a:prstGeom prst="rect">
            <a:avLst/>
          </a:prstGeom>
          <a:noFill/>
        </p:spPr>
        <p:txBody>
          <a:bodyPr wrap="square" anchor="t" lIns="0" rIns="0" tIns="0" bIns="0">
            <a:spAutoFit/>
          </a:bodyPr>
          <a:lstStyle/>
          <a:p>
            <a:pPr algn="r" rtl="1">
              <a:lnSpc>
                <a:spcPct val="110000"/>
              </a:lnSpc>
              <a:spcBef>
                <a:spcPts val="0"/>
              </a:spcBef>
              <a:spcAft>
                <a:spcPts val="400"/>
              </a:spcAft>
            </a:pPr>
            <a:r>
              <a:rPr sz="1200" b="0" i="0">
                <a:solidFill>
                  <a:srgbClr val="221C57"/>
                </a:solidFill>
                <a:latin typeface="Segoe UI"/>
                <a:cs typeface="Segoe UI"/>
                <a:ea typeface="Segoe UI"/>
              </a:rPr>
              <a:t>التضارب بين نتائج الدراسات فجوة قوية وفرصة ذهبية — دراستك قد تكون الحكم الذي يحسم الخلاف</a:t>
            </a:r>
          </a:p>
        </p:txBody>
      </p:sp>
      <p:sp>
        <p:nvSpPr>
          <p:cNvPr id="23" name="Rounded Rectangle 22"/>
          <p:cNvSpPr/>
          <p:nvPr/>
        </p:nvSpPr>
        <p:spPr>
          <a:xfrm>
            <a:off x="548640" y="4590288"/>
            <a:ext cx="11094415" cy="86868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838383" y="4727448"/>
            <a:ext cx="594360" cy="594360"/>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Segoe UI"/>
                <a:cs typeface="Segoe UI"/>
                <a:ea typeface="Segoe UI"/>
              </a:rPr>
              <a:t>❓</a:t>
            </a:r>
          </a:p>
        </p:txBody>
      </p:sp>
      <p:sp>
        <p:nvSpPr>
          <p:cNvPr id="25" name="TextBox 24"/>
          <p:cNvSpPr txBox="1"/>
          <p:nvPr/>
        </p:nvSpPr>
        <p:spPr>
          <a:xfrm>
            <a:off x="822959" y="4663440"/>
            <a:ext cx="981425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D97706"/>
                </a:solidFill>
                <a:latin typeface="Segoe UI"/>
                <a:cs typeface="Segoe UI"/>
                <a:ea typeface="Segoe UI"/>
              </a:rPr>
              <a:t>اسأل: ماذا لو؟   </a:t>
            </a:r>
            <a:r>
              <a:rPr sz="1050" b="0" i="1">
                <a:solidFill>
                  <a:srgbClr val="6E6A8F"/>
                </a:solidFill>
                <a:latin typeface="Segoe UI"/>
                <a:cs typeface="Segoe UI"/>
                <a:ea typeface="Segoe UI"/>
              </a:rPr>
              <a:t>What if?</a:t>
            </a:r>
          </a:p>
        </p:txBody>
      </p:sp>
      <p:sp>
        <p:nvSpPr>
          <p:cNvPr id="26" name="TextBox 25"/>
          <p:cNvSpPr txBox="1"/>
          <p:nvPr/>
        </p:nvSpPr>
        <p:spPr>
          <a:xfrm>
            <a:off x="822959" y="5047488"/>
            <a:ext cx="9814255" cy="384048"/>
          </a:xfrm>
          <a:prstGeom prst="rect">
            <a:avLst/>
          </a:prstGeom>
          <a:noFill/>
        </p:spPr>
        <p:txBody>
          <a:bodyPr wrap="square" anchor="t" lIns="0" rIns="0" tIns="0" bIns="0">
            <a:spAutoFit/>
          </a:bodyPr>
          <a:lstStyle/>
          <a:p>
            <a:pPr algn="r" rtl="1">
              <a:lnSpc>
                <a:spcPct val="110000"/>
              </a:lnSpc>
              <a:spcBef>
                <a:spcPts val="0"/>
              </a:spcBef>
              <a:spcAft>
                <a:spcPts val="400"/>
              </a:spcAft>
            </a:pPr>
            <a:r>
              <a:rPr sz="1200" b="0" i="0">
                <a:solidFill>
                  <a:srgbClr val="221C57"/>
                </a:solidFill>
                <a:latin typeface="Segoe UI"/>
                <a:cs typeface="Segoe UI"/>
                <a:ea typeface="Segoe UI"/>
              </a:rPr>
              <a:t>ماذا لو طبّقنا الدراسة نفسها على فئة عمرية مختلفة أو في دولة مختلفة؟ هنا غالباً تجد فجوة بحثية ممتازة</a:t>
            </a:r>
          </a:p>
        </p:txBody>
      </p:sp>
      <p:sp>
        <p:nvSpPr>
          <p:cNvPr id="27" name="Rounded Rectangle 26"/>
          <p:cNvSpPr/>
          <p:nvPr/>
        </p:nvSpPr>
        <p:spPr>
          <a:xfrm>
            <a:off x="548640" y="5650992"/>
            <a:ext cx="11094415" cy="566928"/>
          </a:xfrm>
          <a:prstGeom prst="roundRect">
            <a:avLst>
              <a:gd name="adj" fmla="val 30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59" y="5760720"/>
            <a:ext cx="10545775"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FBBF24"/>
                </a:solidFill>
                <a:latin typeface="Segoe UI"/>
                <a:cs typeface="Segoe UI"/>
                <a:ea typeface="Segoe UI"/>
              </a:rPr>
              <a:t>💡 نصيحة ذهبية: </a:t>
            </a:r>
            <a:r>
              <a:rPr sz="1250" b="0" i="0">
                <a:solidFill>
                  <a:srgbClr val="FFFFFF"/>
                </a:solidFill>
                <a:latin typeface="Segoe UI"/>
                <a:cs typeface="Segoe UI"/>
                <a:ea typeface="Segoe UI"/>
              </a:rPr>
              <a:t>اقرأ آخر ٢٠ ورقة في مجلتك المستهدفة — الأنماط المتكررة ستكشف لك الفراغات بوضوح تام</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Segoe UI"/>
                <a:cs typeface="Segoe UI"/>
                <a:ea typeface="Segoe UI"/>
              </a:rPr>
              <a:t>11</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1D4ED8"/>
              </a:gs>
              <a:gs pos="100000">
                <a:srgbClr val="60A5FA"/>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Segoe UI"/>
                <a:cs typeface="Segoe UI"/>
                <a:ea typeface="Segoe UI"/>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1D4ED8"/>
                </a:solidFill>
                <a:latin typeface="Segoe UI"/>
                <a:cs typeface="Segoe UI"/>
                <a:ea typeface="Segoe UI"/>
              </a:rPr>
              <a:t>CRITICAL THINKING FRAMEWORK</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Segoe UI"/>
                <a:cs typeface="Segoe UI"/>
                <a:ea typeface="Segoe UI"/>
              </a:rPr>
              <a:t>التفكير النقدي عند تحليل الدراسات</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1D4ED8"/>
              </a:gs>
              <a:gs pos="100000">
                <a:srgbClr val="60A5FA"/>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1D4ED8"/>
              </a:gs>
              <a:gs pos="100000">
                <a:srgbClr val="60A5FA"/>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1D4ED8"/>
              </a:gs>
              <a:gs pos="100000">
                <a:srgbClr val="60A5FA"/>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Segoe UI"/>
                <a:cs typeface="Segoe UI"/>
                <a:ea typeface="Segoe UI"/>
              </a:rPr>
              <a:t>11</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الفجوات البحثية  •  د. هناء حسين الأهيمر</a:t>
            </a:r>
          </a:p>
        </p:txBody>
      </p:sp>
      <p:sp>
        <p:nvSpPr>
          <p:cNvPr id="11" name="Rounded Rectangle 10"/>
          <p:cNvSpPr/>
          <p:nvPr/>
        </p:nvSpPr>
        <p:spPr>
          <a:xfrm>
            <a:off x="6255867" y="1600200"/>
            <a:ext cx="5387187" cy="3931920"/>
          </a:xfrm>
          <a:prstGeom prst="roundRect">
            <a:avLst>
              <a:gd name="adj" fmla="val 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55867" y="1600200"/>
            <a:ext cx="5387187" cy="109728"/>
          </a:xfrm>
          <a:prstGeom prst="roundRect">
            <a:avLst>
              <a:gd name="adj" fmla="val 100000"/>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0187" y="1810512"/>
            <a:ext cx="4838547"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00" b="1" i="0">
                <a:solidFill>
                  <a:srgbClr val="6D28D9"/>
                </a:solidFill>
                <a:latin typeface="Segoe UI"/>
                <a:cs typeface="Segoe UI"/>
                <a:ea typeface="Segoe UI"/>
              </a:rPr>
              <a:t>❓ الأسئلة الستة الذهبية</a:t>
            </a:r>
          </a:p>
        </p:txBody>
      </p:sp>
      <p:sp>
        <p:nvSpPr>
          <p:cNvPr id="14" name="TextBox 13"/>
          <p:cNvSpPr txBox="1"/>
          <p:nvPr/>
        </p:nvSpPr>
        <p:spPr>
          <a:xfrm>
            <a:off x="6575907" y="2377440"/>
            <a:ext cx="4747107" cy="3108960"/>
          </a:xfrm>
          <a:prstGeom prst="rect">
            <a:avLst/>
          </a:prstGeom>
          <a:noFill/>
        </p:spPr>
        <p:txBody>
          <a:bodyPr wrap="square" anchor="t" lIns="0" rIns="0" tIns="0" bIns="0">
            <a:spAutoFit/>
          </a:bodyPr>
          <a:lstStyle/>
          <a:p>
            <a:pPr algn="r" rtl="1">
              <a:lnSpc>
                <a:spcPct val="110000"/>
              </a:lnSpc>
              <a:spcBef>
                <a:spcPts val="0"/>
              </a:spcBef>
              <a:spcAft>
                <a:spcPts val="1000"/>
              </a:spcAft>
            </a:pPr>
            <a:r>
              <a:rPr sz="1200" b="0" i="0">
                <a:solidFill>
                  <a:srgbClr val="A21CAF"/>
                </a:solidFill>
                <a:latin typeface="Segoe UI"/>
                <a:cs typeface="Segoe UI"/>
                <a:ea typeface="Segoe UI"/>
              </a:rPr>
              <a:t>●  </a:t>
            </a:r>
            <a:r>
              <a:rPr sz="1300" b="1" i="0">
                <a:solidFill>
                  <a:srgbClr val="A21CAF"/>
                </a:solidFill>
                <a:latin typeface="Segoe UI"/>
                <a:cs typeface="Segoe UI"/>
                <a:ea typeface="Segoe UI"/>
              </a:rPr>
              <a:t>Who — مَن:  </a:t>
            </a:r>
            <a:r>
              <a:rPr sz="1250" b="0" i="0">
                <a:solidFill>
                  <a:srgbClr val="221C57"/>
                </a:solidFill>
                <a:latin typeface="Segoe UI"/>
                <a:cs typeface="Segoe UI"/>
                <a:ea typeface="Segoe UI"/>
              </a:rPr>
              <a:t>الذي تمت دراسته؟ (السكان والعينة)</a:t>
            </a:r>
          </a:p>
          <a:p>
            <a:pPr algn="r" rtl="1">
              <a:lnSpc>
                <a:spcPct val="110000"/>
              </a:lnSpc>
              <a:spcBef>
                <a:spcPts val="0"/>
              </a:spcBef>
              <a:spcAft>
                <a:spcPts val="1000"/>
              </a:spcAft>
            </a:pPr>
            <a:r>
              <a:rPr sz="1200" b="0" i="0">
                <a:solidFill>
                  <a:srgbClr val="D97706"/>
                </a:solidFill>
                <a:latin typeface="Segoe UI"/>
                <a:cs typeface="Segoe UI"/>
                <a:ea typeface="Segoe UI"/>
              </a:rPr>
              <a:t>●  </a:t>
            </a:r>
            <a:r>
              <a:rPr sz="1300" b="1" i="0">
                <a:solidFill>
                  <a:srgbClr val="D97706"/>
                </a:solidFill>
                <a:latin typeface="Segoe UI"/>
                <a:cs typeface="Segoe UI"/>
                <a:ea typeface="Segoe UI"/>
              </a:rPr>
              <a:t>What — ماذا:  </a:t>
            </a:r>
            <a:r>
              <a:rPr sz="1250" b="0" i="0">
                <a:solidFill>
                  <a:srgbClr val="221C57"/>
                </a:solidFill>
                <a:latin typeface="Segoe UI"/>
                <a:cs typeface="Segoe UI"/>
                <a:ea typeface="Segoe UI"/>
              </a:rPr>
              <a:t>قِيس بالضبط؟ (المتغيرات والأدوات)</a:t>
            </a:r>
          </a:p>
          <a:p>
            <a:pPr algn="r" rtl="1">
              <a:lnSpc>
                <a:spcPct val="110000"/>
              </a:lnSpc>
              <a:spcBef>
                <a:spcPts val="0"/>
              </a:spcBef>
              <a:spcAft>
                <a:spcPts val="1000"/>
              </a:spcAft>
            </a:pPr>
            <a:r>
              <a:rPr sz="1200" b="0" i="0">
                <a:solidFill>
                  <a:srgbClr val="0D9488"/>
                </a:solidFill>
                <a:latin typeface="Segoe UI"/>
                <a:cs typeface="Segoe UI"/>
                <a:ea typeface="Segoe UI"/>
              </a:rPr>
              <a:t>●  </a:t>
            </a:r>
            <a:r>
              <a:rPr sz="1300" b="1" i="0">
                <a:solidFill>
                  <a:srgbClr val="0D9488"/>
                </a:solidFill>
                <a:latin typeface="Segoe UI"/>
                <a:cs typeface="Segoe UI"/>
                <a:ea typeface="Segoe UI"/>
              </a:rPr>
              <a:t>Where — أين:  </a:t>
            </a:r>
            <a:r>
              <a:rPr sz="1250" b="0" i="0">
                <a:solidFill>
                  <a:srgbClr val="221C57"/>
                </a:solidFill>
                <a:latin typeface="Segoe UI"/>
                <a:cs typeface="Segoe UI"/>
                <a:ea typeface="Segoe UI"/>
              </a:rPr>
              <a:t>أُجري البحث؟ (السياق الجغرافي والثقافي)</a:t>
            </a:r>
          </a:p>
          <a:p>
            <a:pPr algn="r" rtl="1">
              <a:lnSpc>
                <a:spcPct val="110000"/>
              </a:lnSpc>
              <a:spcBef>
                <a:spcPts val="0"/>
              </a:spcBef>
              <a:spcAft>
                <a:spcPts val="1000"/>
              </a:spcAft>
            </a:pPr>
            <a:r>
              <a:rPr sz="1200" b="0" i="0">
                <a:solidFill>
                  <a:srgbClr val="6D28D9"/>
                </a:solidFill>
                <a:latin typeface="Segoe UI"/>
                <a:cs typeface="Segoe UI"/>
                <a:ea typeface="Segoe UI"/>
              </a:rPr>
              <a:t>●  </a:t>
            </a:r>
            <a:r>
              <a:rPr sz="1300" b="1" i="0">
                <a:solidFill>
                  <a:srgbClr val="6D28D9"/>
                </a:solidFill>
                <a:latin typeface="Segoe UI"/>
                <a:cs typeface="Segoe UI"/>
                <a:ea typeface="Segoe UI"/>
              </a:rPr>
              <a:t>When — متى:  </a:t>
            </a:r>
            <a:r>
              <a:rPr sz="1250" b="0" i="0">
                <a:solidFill>
                  <a:srgbClr val="221C57"/>
                </a:solidFill>
                <a:latin typeface="Segoe UI"/>
                <a:cs typeface="Segoe UI"/>
                <a:ea typeface="Segoe UI"/>
              </a:rPr>
              <a:t>نُشرت الدراسة؟ (الزمن ومدى الحداثة)</a:t>
            </a:r>
          </a:p>
          <a:p>
            <a:pPr algn="r" rtl="1">
              <a:lnSpc>
                <a:spcPct val="110000"/>
              </a:lnSpc>
              <a:spcBef>
                <a:spcPts val="0"/>
              </a:spcBef>
              <a:spcAft>
                <a:spcPts val="1000"/>
              </a:spcAft>
            </a:pPr>
            <a:r>
              <a:rPr sz="1200" b="0" i="0">
                <a:solidFill>
                  <a:srgbClr val="047857"/>
                </a:solidFill>
                <a:latin typeface="Segoe UI"/>
                <a:cs typeface="Segoe UI"/>
                <a:ea typeface="Segoe UI"/>
              </a:rPr>
              <a:t>●  </a:t>
            </a:r>
            <a:r>
              <a:rPr sz="1300" b="1" i="0">
                <a:solidFill>
                  <a:srgbClr val="047857"/>
                </a:solidFill>
                <a:latin typeface="Segoe UI"/>
                <a:cs typeface="Segoe UI"/>
                <a:ea typeface="Segoe UI"/>
              </a:rPr>
              <a:t>How — كيف:  </a:t>
            </a:r>
            <a:r>
              <a:rPr sz="1250" b="0" i="0">
                <a:solidFill>
                  <a:srgbClr val="221C57"/>
                </a:solidFill>
                <a:latin typeface="Segoe UI"/>
                <a:cs typeface="Segoe UI"/>
                <a:ea typeface="Segoe UI"/>
              </a:rPr>
              <a:t>تمت الدراسة؟ (المنهجية والتصميم)</a:t>
            </a:r>
          </a:p>
          <a:p>
            <a:pPr algn="r" rtl="1">
              <a:lnSpc>
                <a:spcPct val="110000"/>
              </a:lnSpc>
              <a:spcBef>
                <a:spcPts val="0"/>
              </a:spcBef>
              <a:spcAft>
                <a:spcPts val="1000"/>
              </a:spcAft>
            </a:pPr>
            <a:r>
              <a:rPr sz="1200" b="0" i="0">
                <a:solidFill>
                  <a:srgbClr val="BE123C"/>
                </a:solidFill>
                <a:latin typeface="Segoe UI"/>
                <a:cs typeface="Segoe UI"/>
                <a:ea typeface="Segoe UI"/>
              </a:rPr>
              <a:t>●  </a:t>
            </a:r>
            <a:r>
              <a:rPr sz="1300" b="1" i="0">
                <a:solidFill>
                  <a:srgbClr val="BE123C"/>
                </a:solidFill>
                <a:latin typeface="Segoe UI"/>
                <a:cs typeface="Segoe UI"/>
                <a:ea typeface="Segoe UI"/>
              </a:rPr>
              <a:t>Why — لماذا:  </a:t>
            </a:r>
            <a:r>
              <a:rPr sz="1250" b="0" i="0">
                <a:solidFill>
                  <a:srgbClr val="221C57"/>
                </a:solidFill>
                <a:latin typeface="Segoe UI"/>
                <a:cs typeface="Segoe UI"/>
                <a:ea typeface="Segoe UI"/>
              </a:rPr>
              <a:t>توقفت الدراسة؟ (حدودها المعلنة)</a:t>
            </a:r>
          </a:p>
        </p:txBody>
      </p:sp>
      <p:sp>
        <p:nvSpPr>
          <p:cNvPr id="15" name="Rounded Rectangle 14"/>
          <p:cNvSpPr/>
          <p:nvPr/>
        </p:nvSpPr>
        <p:spPr>
          <a:xfrm>
            <a:off x="548640" y="1600200"/>
            <a:ext cx="5387187" cy="3931920"/>
          </a:xfrm>
          <a:prstGeom prst="roundRect">
            <a:avLst>
              <a:gd name="adj" fmla="val 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1600200"/>
            <a:ext cx="5387187" cy="109728"/>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1810512"/>
            <a:ext cx="4838547"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00" b="1" i="0">
                <a:solidFill>
                  <a:srgbClr val="0D9488"/>
                </a:solidFill>
                <a:latin typeface="Segoe UI"/>
                <a:cs typeface="Segoe UI"/>
                <a:ea typeface="Segoe UI"/>
              </a:rPr>
              <a:t>🔎 عبارات تدل على فجوة قابلة للبحث</a:t>
            </a:r>
          </a:p>
        </p:txBody>
      </p:sp>
      <p:sp>
        <p:nvSpPr>
          <p:cNvPr id="18" name="TextBox 17"/>
          <p:cNvSpPr txBox="1"/>
          <p:nvPr/>
        </p:nvSpPr>
        <p:spPr>
          <a:xfrm>
            <a:off x="868680" y="2377440"/>
            <a:ext cx="4747107" cy="3108960"/>
          </a:xfrm>
          <a:prstGeom prst="rect">
            <a:avLst/>
          </a:prstGeom>
          <a:noFill/>
        </p:spPr>
        <p:txBody>
          <a:bodyPr wrap="square" anchor="t" lIns="0" rIns="0" tIns="0" bIns="0">
            <a:spAutoFit/>
          </a:bodyPr>
          <a:lstStyle/>
          <a:p>
            <a:pPr algn="r" rtl="1">
              <a:lnSpc>
                <a:spcPct val="110000"/>
              </a:lnSpc>
              <a:spcBef>
                <a:spcPts val="0"/>
              </a:spcBef>
              <a:spcAft>
                <a:spcPts val="900"/>
              </a:spcAft>
            </a:pPr>
            <a:r>
              <a:rPr sz="1200" b="1" i="0">
                <a:solidFill>
                  <a:srgbClr val="0D9488"/>
                </a:solidFill>
                <a:latin typeface="Segoe UI"/>
                <a:cs typeface="Segoe UI"/>
                <a:ea typeface="Segoe UI"/>
              </a:rPr>
              <a:t>✔  </a:t>
            </a:r>
            <a:r>
              <a:rPr sz="1150" b="1" i="1">
                <a:solidFill>
                  <a:srgbClr val="1D4ED8"/>
                </a:solidFill>
                <a:latin typeface="Segoe UI"/>
                <a:cs typeface="Segoe UI"/>
                <a:ea typeface="Segoe UI"/>
              </a:rPr>
              <a:t>"This area has not been studied…"</a:t>
            </a:r>
            <a:r>
              <a:rPr sz="1100" b="0" i="0">
                <a:solidFill>
                  <a:srgbClr val="6E6A8F"/>
                </a:solidFill>
                <a:latin typeface="Segoe UI"/>
                <a:cs typeface="Segoe UI"/>
                <a:ea typeface="Segoe UI"/>
              </a:rPr>
              <a:t>  هذه المنطقة لم تُدرس بعد — غياب صريح</a:t>
            </a:r>
          </a:p>
          <a:p>
            <a:pPr algn="r" rtl="1">
              <a:lnSpc>
                <a:spcPct val="110000"/>
              </a:lnSpc>
              <a:spcBef>
                <a:spcPts val="0"/>
              </a:spcBef>
              <a:spcAft>
                <a:spcPts val="900"/>
              </a:spcAft>
            </a:pPr>
            <a:r>
              <a:rPr sz="1200" b="1" i="0">
                <a:solidFill>
                  <a:srgbClr val="0D9488"/>
                </a:solidFill>
                <a:latin typeface="Segoe UI"/>
                <a:cs typeface="Segoe UI"/>
                <a:ea typeface="Segoe UI"/>
              </a:rPr>
              <a:t>✔  </a:t>
            </a:r>
            <a:r>
              <a:rPr sz="1150" b="1" i="1">
                <a:solidFill>
                  <a:srgbClr val="1D4ED8"/>
                </a:solidFill>
                <a:latin typeface="Segoe UI"/>
                <a:cs typeface="Segoe UI"/>
                <a:ea typeface="Segoe UI"/>
              </a:rPr>
              <a:t>"Results are conflicting…"</a:t>
            </a:r>
            <a:r>
              <a:rPr sz="1100" b="0" i="0">
                <a:solidFill>
                  <a:srgbClr val="6E6A8F"/>
                </a:solidFill>
                <a:latin typeface="Segoe UI"/>
                <a:cs typeface="Segoe UI"/>
                <a:ea typeface="Segoe UI"/>
              </a:rPr>
              <a:t>  النتائج متضاربة — تناقض يستدعي الحسم</a:t>
            </a:r>
          </a:p>
          <a:p>
            <a:pPr algn="r" rtl="1">
              <a:lnSpc>
                <a:spcPct val="110000"/>
              </a:lnSpc>
              <a:spcBef>
                <a:spcPts val="0"/>
              </a:spcBef>
              <a:spcAft>
                <a:spcPts val="900"/>
              </a:spcAft>
            </a:pPr>
            <a:r>
              <a:rPr sz="1200" b="1" i="0">
                <a:solidFill>
                  <a:srgbClr val="0D9488"/>
                </a:solidFill>
                <a:latin typeface="Segoe UI"/>
                <a:cs typeface="Segoe UI"/>
                <a:ea typeface="Segoe UI"/>
              </a:rPr>
              <a:t>✔  </a:t>
            </a:r>
            <a:r>
              <a:rPr sz="1150" b="1" i="1">
                <a:solidFill>
                  <a:srgbClr val="1D4ED8"/>
                </a:solidFill>
                <a:latin typeface="Segoe UI"/>
                <a:cs typeface="Segoe UI"/>
                <a:ea typeface="Segoe UI"/>
              </a:rPr>
              <a:t>"The sample does not represent…"</a:t>
            </a:r>
            <a:r>
              <a:rPr sz="1100" b="0" i="0">
                <a:solidFill>
                  <a:srgbClr val="6E6A8F"/>
                </a:solidFill>
                <a:latin typeface="Segoe UI"/>
                <a:cs typeface="Segoe UI"/>
                <a:ea typeface="Segoe UI"/>
              </a:rPr>
              <a:t>  العينة لا تمثّل — قصور في التعميم</a:t>
            </a:r>
          </a:p>
          <a:p>
            <a:pPr algn="r" rtl="1">
              <a:lnSpc>
                <a:spcPct val="110000"/>
              </a:lnSpc>
              <a:spcBef>
                <a:spcPts val="0"/>
              </a:spcBef>
              <a:spcAft>
                <a:spcPts val="900"/>
              </a:spcAft>
            </a:pPr>
            <a:r>
              <a:rPr sz="1200" b="1" i="0">
                <a:solidFill>
                  <a:srgbClr val="0D9488"/>
                </a:solidFill>
                <a:latin typeface="Segoe UI"/>
                <a:cs typeface="Segoe UI"/>
                <a:ea typeface="Segoe UI"/>
              </a:rPr>
              <a:t>✔  </a:t>
            </a:r>
            <a:r>
              <a:rPr sz="1150" b="1" i="1">
                <a:solidFill>
                  <a:srgbClr val="1D4ED8"/>
                </a:solidFill>
                <a:latin typeface="Segoe UI"/>
                <a:cs typeface="Segoe UI"/>
                <a:ea typeface="Segoe UI"/>
              </a:rPr>
              <a:t>"Further research is needed…"</a:t>
            </a:r>
            <a:r>
              <a:rPr sz="1100" b="0" i="0">
                <a:solidFill>
                  <a:srgbClr val="6E6A8F"/>
                </a:solidFill>
                <a:latin typeface="Segoe UI"/>
                <a:cs typeface="Segoe UI"/>
                <a:ea typeface="Segoe UI"/>
              </a:rPr>
              <a:t>  هناك حاجة لمزيد من البحث — دعوة مباشرة</a:t>
            </a:r>
          </a:p>
          <a:p>
            <a:pPr algn="r" rtl="1">
              <a:lnSpc>
                <a:spcPct val="110000"/>
              </a:lnSpc>
              <a:spcBef>
                <a:spcPts val="0"/>
              </a:spcBef>
              <a:spcAft>
                <a:spcPts val="900"/>
              </a:spcAft>
            </a:pPr>
            <a:r>
              <a:rPr sz="1200" b="1" i="0">
                <a:solidFill>
                  <a:srgbClr val="0D9488"/>
                </a:solidFill>
                <a:latin typeface="Segoe UI"/>
                <a:cs typeface="Segoe UI"/>
                <a:ea typeface="Segoe UI"/>
              </a:rPr>
              <a:t>✔  </a:t>
            </a:r>
            <a:r>
              <a:rPr sz="1150" b="1" i="1">
                <a:solidFill>
                  <a:srgbClr val="1D4ED8"/>
                </a:solidFill>
                <a:latin typeface="Segoe UI"/>
                <a:cs typeface="Segoe UI"/>
                <a:ea typeface="Segoe UI"/>
              </a:rPr>
              <a:t>"Only quantitative methods were used…"</a:t>
            </a:r>
            <a:r>
              <a:rPr sz="1100" b="0" i="0">
                <a:solidFill>
                  <a:srgbClr val="6E6A8F"/>
                </a:solidFill>
                <a:latin typeface="Segoe UI"/>
                <a:cs typeface="Segoe UI"/>
                <a:ea typeface="Segoe UI"/>
              </a:rPr>
              <a:t>  اقتصار على منهج واحد — فجوة منهجية</a:t>
            </a:r>
          </a:p>
          <a:p>
            <a:pPr algn="r" rtl="1">
              <a:lnSpc>
                <a:spcPct val="110000"/>
              </a:lnSpc>
              <a:spcBef>
                <a:spcPts val="0"/>
              </a:spcBef>
              <a:spcAft>
                <a:spcPts val="900"/>
              </a:spcAft>
            </a:pPr>
            <a:r>
              <a:rPr sz="1200" b="1" i="0">
                <a:solidFill>
                  <a:srgbClr val="0D9488"/>
                </a:solidFill>
                <a:latin typeface="Segoe UI"/>
                <a:cs typeface="Segoe UI"/>
                <a:ea typeface="Segoe UI"/>
              </a:rPr>
              <a:t>✔  </a:t>
            </a:r>
            <a:r>
              <a:rPr sz="1150" b="1" i="1">
                <a:solidFill>
                  <a:srgbClr val="1D4ED8"/>
                </a:solidFill>
                <a:latin typeface="Segoe UI"/>
                <a:cs typeface="Segoe UI"/>
                <a:ea typeface="Segoe UI"/>
              </a:rPr>
              <a:t>"Before 2020…"</a:t>
            </a:r>
            <a:r>
              <a:rPr sz="1100" b="0" i="0">
                <a:solidFill>
                  <a:srgbClr val="6E6A8F"/>
                </a:solidFill>
                <a:latin typeface="Segoe UI"/>
                <a:cs typeface="Segoe UI"/>
                <a:ea typeface="Segoe UI"/>
              </a:rPr>
              <a:t>  بيانات قديمة — فجوة زمنية محتملة</a:t>
            </a:r>
          </a:p>
        </p:txBody>
      </p:sp>
      <p:sp>
        <p:nvSpPr>
          <p:cNvPr id="19" name="Rounded Rectangle 18"/>
          <p:cNvSpPr/>
          <p:nvPr/>
        </p:nvSpPr>
        <p:spPr>
          <a:xfrm>
            <a:off x="548640" y="5715000"/>
            <a:ext cx="11094415" cy="530352"/>
          </a:xfrm>
          <a:prstGeom prst="roundRect">
            <a:avLst>
              <a:gd name="adj" fmla="val 30000"/>
            </a:avLst>
          </a:prstGeom>
          <a:solidFill>
            <a:srgbClr val="F7ECF8"/>
          </a:solidFill>
          <a:ln w="12700">
            <a:solidFill>
              <a:srgbClr val="A21C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5815584"/>
            <a:ext cx="10545775" cy="347472"/>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A21CAF"/>
                </a:solidFill>
                <a:latin typeface="Segoe UI"/>
                <a:cs typeface="Segoe UI"/>
                <a:ea typeface="Segoe UI"/>
              </a:rPr>
              <a:t>«التفكير النقدي لا يعني أن ننتقد الدراسات السابقة — بل أن نبني عليها ونطوّرها»  </a:t>
            </a:r>
            <a:r>
              <a:rPr sz="1100" b="0" i="0">
                <a:solidFill>
                  <a:srgbClr val="6E6A8F"/>
                </a:solidFill>
                <a:latin typeface="Segoe UI"/>
                <a:cs typeface="Segoe UI"/>
                <a:ea typeface="Segoe UI"/>
              </a:rPr>
              <a:t>— من شرح الورشة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Segoe UI"/>
                <a:cs typeface="Segoe UI"/>
                <a:ea typeface="Segoe UI"/>
              </a:rPr>
              <a:t>12</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Segoe UI"/>
                <a:cs typeface="Segoe UI"/>
                <a:ea typeface="Segoe UI"/>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0D9488"/>
                </a:solidFill>
                <a:latin typeface="Segoe UI"/>
                <a:cs typeface="Segoe UI"/>
                <a:ea typeface="Segoe UI"/>
              </a:rPr>
              <a:t>STRONG GAP VS. WEAK GAP</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Segoe UI"/>
                <a:cs typeface="Segoe UI"/>
                <a:ea typeface="Segoe UI"/>
              </a:rPr>
              <a:t>الفجوة القوية والفجوة الضعيفة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Segoe UI"/>
                <a:cs typeface="Segoe UI"/>
                <a:ea typeface="Segoe UI"/>
              </a:rPr>
              <a:t>12</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الفجوات البحثية  •  د. هناء حسين الأهيمر</a:t>
            </a:r>
          </a:p>
        </p:txBody>
      </p:sp>
      <p:sp>
        <p:nvSpPr>
          <p:cNvPr id="11" name="Rounded Rectangle 10"/>
          <p:cNvSpPr/>
          <p:nvPr/>
        </p:nvSpPr>
        <p:spPr>
          <a:xfrm>
            <a:off x="6255867" y="1600200"/>
            <a:ext cx="5387187" cy="3520440"/>
          </a:xfrm>
          <a:prstGeom prst="roundRect">
            <a:avLst>
              <a:gd name="adj" fmla="val 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55867" y="1600200"/>
            <a:ext cx="5387187" cy="109728"/>
          </a:xfrm>
          <a:prstGeom prst="roundRect">
            <a:avLst>
              <a:gd name="adj" fmla="val 100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0187" y="1792224"/>
            <a:ext cx="4838547"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00" b="1" i="0">
                <a:solidFill>
                  <a:srgbClr val="047857"/>
                </a:solidFill>
                <a:latin typeface="Segoe UI"/>
                <a:cs typeface="Segoe UI"/>
                <a:ea typeface="Segoe UI"/>
              </a:rPr>
              <a:t>💪 الفجوة القوية — Strong Gap</a:t>
            </a:r>
          </a:p>
        </p:txBody>
      </p:sp>
      <p:sp>
        <p:nvSpPr>
          <p:cNvPr id="14" name="TextBox 13"/>
          <p:cNvSpPr txBox="1"/>
          <p:nvPr/>
        </p:nvSpPr>
        <p:spPr>
          <a:xfrm>
            <a:off x="6575907" y="2331720"/>
            <a:ext cx="4747107" cy="2743200"/>
          </a:xfrm>
          <a:prstGeom prst="rect">
            <a:avLst/>
          </a:prstGeom>
          <a:noFill/>
        </p:spPr>
        <p:txBody>
          <a:bodyPr wrap="square" anchor="t" lIns="0" rIns="0" tIns="0" bIns="0">
            <a:spAutoFit/>
          </a:bodyPr>
          <a:lstStyle/>
          <a:p>
            <a:pPr algn="r" rtl="1">
              <a:lnSpc>
                <a:spcPct val="110000"/>
              </a:lnSpc>
              <a:spcBef>
                <a:spcPts val="0"/>
              </a:spcBef>
              <a:spcAft>
                <a:spcPts val="900"/>
              </a:spcAft>
            </a:pPr>
            <a:r>
              <a:rPr sz="1300" b="1" i="0">
                <a:solidFill>
                  <a:srgbClr val="047857"/>
                </a:solidFill>
                <a:latin typeface="Segoe UI"/>
                <a:cs typeface="Segoe UI"/>
                <a:ea typeface="Segoe UI"/>
              </a:rPr>
              <a:t>✔  </a:t>
            </a:r>
            <a:r>
              <a:rPr sz="1300" b="1" i="0">
                <a:solidFill>
                  <a:srgbClr val="221C57"/>
                </a:solidFill>
                <a:latin typeface="Segoe UI"/>
                <a:cs typeface="Segoe UI"/>
                <a:ea typeface="Segoe UI"/>
              </a:rPr>
              <a:t>مدعومة بالأدلة</a:t>
            </a:r>
            <a:r>
              <a:rPr sz="1150" b="0" i="0">
                <a:solidFill>
                  <a:srgbClr val="6E6A8F"/>
                </a:solidFill>
                <a:latin typeface="Segoe UI"/>
                <a:cs typeface="Segoe UI"/>
                <a:ea typeface="Segoe UI"/>
              </a:rPr>
              <a:t>  —  تستند إلى مراجعة أدبيات حقيقية تثبت الغياب</a:t>
            </a:r>
          </a:p>
          <a:p>
            <a:pPr algn="r" rtl="1">
              <a:lnSpc>
                <a:spcPct val="110000"/>
              </a:lnSpc>
              <a:spcBef>
                <a:spcPts val="0"/>
              </a:spcBef>
              <a:spcAft>
                <a:spcPts val="900"/>
              </a:spcAft>
            </a:pPr>
            <a:r>
              <a:rPr sz="1300" b="1" i="0">
                <a:solidFill>
                  <a:srgbClr val="047857"/>
                </a:solidFill>
                <a:latin typeface="Segoe UI"/>
                <a:cs typeface="Segoe UI"/>
                <a:ea typeface="Segoe UI"/>
              </a:rPr>
              <a:t>✔  </a:t>
            </a:r>
            <a:r>
              <a:rPr sz="1300" b="1" i="0">
                <a:solidFill>
                  <a:srgbClr val="221C57"/>
                </a:solidFill>
                <a:latin typeface="Segoe UI"/>
                <a:cs typeface="Segoe UI"/>
                <a:ea typeface="Segoe UI"/>
              </a:rPr>
              <a:t>محددة وقابلة للقياس</a:t>
            </a:r>
            <a:r>
              <a:rPr sz="1150" b="0" i="0">
                <a:solidFill>
                  <a:srgbClr val="6E6A8F"/>
                </a:solidFill>
                <a:latin typeface="Segoe UI"/>
                <a:cs typeface="Segoe UI"/>
                <a:ea typeface="Segoe UI"/>
              </a:rPr>
              <a:t>  —  موضوع + فئة + سياق + إطار زمني واضح</a:t>
            </a:r>
          </a:p>
          <a:p>
            <a:pPr algn="r" rtl="1">
              <a:lnSpc>
                <a:spcPct val="110000"/>
              </a:lnSpc>
              <a:spcBef>
                <a:spcPts val="0"/>
              </a:spcBef>
              <a:spcAft>
                <a:spcPts val="900"/>
              </a:spcAft>
            </a:pPr>
            <a:r>
              <a:rPr sz="1300" b="1" i="0">
                <a:solidFill>
                  <a:srgbClr val="047857"/>
                </a:solidFill>
                <a:latin typeface="Segoe UI"/>
                <a:cs typeface="Segoe UI"/>
                <a:ea typeface="Segoe UI"/>
              </a:rPr>
              <a:t>✔  </a:t>
            </a:r>
            <a:r>
              <a:rPr sz="1300" b="1" i="0">
                <a:solidFill>
                  <a:srgbClr val="221C57"/>
                </a:solidFill>
                <a:latin typeface="Segoe UI"/>
                <a:cs typeface="Segoe UI"/>
                <a:ea typeface="Segoe UI"/>
              </a:rPr>
              <a:t>لها قيمة علمية وعملية</a:t>
            </a:r>
            <a:r>
              <a:rPr sz="1150" b="0" i="0">
                <a:solidFill>
                  <a:srgbClr val="6E6A8F"/>
                </a:solidFill>
                <a:latin typeface="Segoe UI"/>
                <a:cs typeface="Segoe UI"/>
                <a:ea typeface="Segoe UI"/>
              </a:rPr>
              <a:t>  —  سدّها يغيّر فهماً علمياً أو ممارسة واقعية</a:t>
            </a:r>
          </a:p>
          <a:p>
            <a:pPr algn="r" rtl="1">
              <a:lnSpc>
                <a:spcPct val="110000"/>
              </a:lnSpc>
              <a:spcBef>
                <a:spcPts val="0"/>
              </a:spcBef>
              <a:spcAft>
                <a:spcPts val="900"/>
              </a:spcAft>
            </a:pPr>
            <a:r>
              <a:rPr sz="1300" b="1" i="0">
                <a:solidFill>
                  <a:srgbClr val="047857"/>
                </a:solidFill>
                <a:latin typeface="Segoe UI"/>
                <a:cs typeface="Segoe UI"/>
                <a:ea typeface="Segoe UI"/>
              </a:rPr>
              <a:t>✔  </a:t>
            </a:r>
            <a:r>
              <a:rPr sz="1300" b="1" i="0">
                <a:solidFill>
                  <a:srgbClr val="221C57"/>
                </a:solidFill>
                <a:latin typeface="Segoe UI"/>
                <a:cs typeface="Segoe UI"/>
                <a:ea typeface="Segoe UI"/>
              </a:rPr>
              <a:t>قابلة للمعالجة</a:t>
            </a:r>
            <a:r>
              <a:rPr sz="1150" b="0" i="0">
                <a:solidFill>
                  <a:srgbClr val="6E6A8F"/>
                </a:solidFill>
                <a:latin typeface="Segoe UI"/>
                <a:cs typeface="Segoe UI"/>
                <a:ea typeface="Segoe UI"/>
              </a:rPr>
              <a:t>  —  يمكن تصميم دراسة واقعية وقابلة للتنفيذ لسدّها</a:t>
            </a:r>
          </a:p>
          <a:p>
            <a:pPr algn="r" rtl="1">
              <a:lnSpc>
                <a:spcPct val="110000"/>
              </a:lnSpc>
              <a:spcBef>
                <a:spcPts val="0"/>
              </a:spcBef>
              <a:spcAft>
                <a:spcPts val="900"/>
              </a:spcAft>
            </a:pPr>
            <a:r>
              <a:rPr sz="1300" b="1" i="0">
                <a:solidFill>
                  <a:srgbClr val="047857"/>
                </a:solidFill>
                <a:latin typeface="Segoe UI"/>
                <a:cs typeface="Segoe UI"/>
                <a:ea typeface="Segoe UI"/>
              </a:rPr>
              <a:t>✔  </a:t>
            </a:r>
            <a:r>
              <a:rPr sz="1300" b="1" i="0">
                <a:solidFill>
                  <a:srgbClr val="221C57"/>
                </a:solidFill>
                <a:latin typeface="Segoe UI"/>
                <a:cs typeface="Segoe UI"/>
                <a:ea typeface="Segoe UI"/>
              </a:rPr>
              <a:t>مرتبطة بسياق محدد</a:t>
            </a:r>
            <a:r>
              <a:rPr sz="1150" b="0" i="0">
                <a:solidFill>
                  <a:srgbClr val="6E6A8F"/>
                </a:solidFill>
                <a:latin typeface="Segoe UI"/>
                <a:cs typeface="Segoe UI"/>
                <a:ea typeface="Segoe UI"/>
              </a:rPr>
              <a:t>  —  بيئة أو مجتمع أو قطاع معيّن — لا عموميات</a:t>
            </a:r>
          </a:p>
        </p:txBody>
      </p:sp>
      <p:sp>
        <p:nvSpPr>
          <p:cNvPr id="15" name="Rounded Rectangle 14"/>
          <p:cNvSpPr/>
          <p:nvPr/>
        </p:nvSpPr>
        <p:spPr>
          <a:xfrm>
            <a:off x="548640" y="1600200"/>
            <a:ext cx="5387187" cy="3520440"/>
          </a:xfrm>
          <a:prstGeom prst="roundRect">
            <a:avLst>
              <a:gd name="adj" fmla="val 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1600200"/>
            <a:ext cx="5387187" cy="109728"/>
          </a:xfrm>
          <a:prstGeom prst="roundRect">
            <a:avLst>
              <a:gd name="adj" fmla="val 100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1792224"/>
            <a:ext cx="4838547"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00" b="1" i="0">
                <a:solidFill>
                  <a:srgbClr val="BE123C"/>
                </a:solidFill>
                <a:latin typeface="Segoe UI"/>
                <a:cs typeface="Segoe UI"/>
                <a:ea typeface="Segoe UI"/>
              </a:rPr>
              <a:t>⚠️ الفجوة الضعيفة — Weak Gap</a:t>
            </a:r>
          </a:p>
        </p:txBody>
      </p:sp>
      <p:sp>
        <p:nvSpPr>
          <p:cNvPr id="18" name="TextBox 17"/>
          <p:cNvSpPr txBox="1"/>
          <p:nvPr/>
        </p:nvSpPr>
        <p:spPr>
          <a:xfrm>
            <a:off x="868680" y="2331720"/>
            <a:ext cx="4747107" cy="2743200"/>
          </a:xfrm>
          <a:prstGeom prst="rect">
            <a:avLst/>
          </a:prstGeom>
          <a:noFill/>
        </p:spPr>
        <p:txBody>
          <a:bodyPr wrap="square" anchor="t" lIns="0" rIns="0" tIns="0" bIns="0">
            <a:spAutoFit/>
          </a:bodyPr>
          <a:lstStyle/>
          <a:p>
            <a:pPr algn="r" rtl="1">
              <a:lnSpc>
                <a:spcPct val="110000"/>
              </a:lnSpc>
              <a:spcBef>
                <a:spcPts val="0"/>
              </a:spcBef>
              <a:spcAft>
                <a:spcPts val="900"/>
              </a:spcAft>
            </a:pPr>
            <a:r>
              <a:rPr sz="1300" b="1" i="0">
                <a:solidFill>
                  <a:srgbClr val="BE123C"/>
                </a:solidFill>
                <a:latin typeface="Segoe UI"/>
                <a:cs typeface="Segoe UI"/>
                <a:ea typeface="Segoe UI"/>
              </a:rPr>
              <a:t>✘  </a:t>
            </a:r>
            <a:r>
              <a:rPr sz="1300" b="1" i="0">
                <a:solidFill>
                  <a:srgbClr val="221C57"/>
                </a:solidFill>
                <a:latin typeface="Segoe UI"/>
                <a:cs typeface="Segoe UI"/>
                <a:ea typeface="Segoe UI"/>
              </a:rPr>
              <a:t>عامة جداً وغير واضحة</a:t>
            </a:r>
            <a:r>
              <a:rPr sz="1150" b="0" i="0">
                <a:solidFill>
                  <a:srgbClr val="6E6A8F"/>
                </a:solidFill>
                <a:latin typeface="Segoe UI"/>
                <a:cs typeface="Segoe UI"/>
                <a:ea typeface="Segoe UI"/>
              </a:rPr>
              <a:t>  —  بلا موضوع محدد أو سياق أو حدود</a:t>
            </a:r>
          </a:p>
          <a:p>
            <a:pPr algn="r" rtl="1">
              <a:lnSpc>
                <a:spcPct val="110000"/>
              </a:lnSpc>
              <a:spcBef>
                <a:spcPts val="0"/>
              </a:spcBef>
              <a:spcAft>
                <a:spcPts val="900"/>
              </a:spcAft>
            </a:pPr>
            <a:r>
              <a:rPr sz="1300" b="1" i="0">
                <a:solidFill>
                  <a:srgbClr val="BE123C"/>
                </a:solidFill>
                <a:latin typeface="Segoe UI"/>
                <a:cs typeface="Segoe UI"/>
                <a:ea typeface="Segoe UI"/>
              </a:rPr>
              <a:t>✘  </a:t>
            </a:r>
            <a:r>
              <a:rPr sz="1300" b="1" i="0">
                <a:solidFill>
                  <a:srgbClr val="221C57"/>
                </a:solidFill>
                <a:latin typeface="Segoe UI"/>
                <a:cs typeface="Segoe UI"/>
                <a:ea typeface="Segoe UI"/>
              </a:rPr>
              <a:t>غير مدعومة بمراجعة كافية</a:t>
            </a:r>
            <a:r>
              <a:rPr sz="1150" b="0" i="0">
                <a:solidFill>
                  <a:srgbClr val="6E6A8F"/>
                </a:solidFill>
                <a:latin typeface="Segoe UI"/>
                <a:cs typeface="Segoe UI"/>
                <a:ea typeface="Segoe UI"/>
              </a:rPr>
              <a:t>  —  انطباع شخصي وليس مسحاً منهجياً</a:t>
            </a:r>
          </a:p>
          <a:p>
            <a:pPr algn="r" rtl="1">
              <a:lnSpc>
                <a:spcPct val="110000"/>
              </a:lnSpc>
              <a:spcBef>
                <a:spcPts val="0"/>
              </a:spcBef>
              <a:spcAft>
                <a:spcPts val="900"/>
              </a:spcAft>
            </a:pPr>
            <a:r>
              <a:rPr sz="1300" b="1" i="0">
                <a:solidFill>
                  <a:srgbClr val="BE123C"/>
                </a:solidFill>
                <a:latin typeface="Segoe UI"/>
                <a:cs typeface="Segoe UI"/>
                <a:ea typeface="Segoe UI"/>
              </a:rPr>
              <a:t>✘  </a:t>
            </a:r>
            <a:r>
              <a:rPr sz="1300" b="1" i="0">
                <a:solidFill>
                  <a:srgbClr val="221C57"/>
                </a:solidFill>
                <a:latin typeface="Segoe UI"/>
                <a:cs typeface="Segoe UI"/>
                <a:ea typeface="Segoe UI"/>
              </a:rPr>
              <a:t>«لم يدرسها أحد» بلا دليل</a:t>
            </a:r>
            <a:r>
              <a:rPr sz="1150" b="0" i="0">
                <a:solidFill>
                  <a:srgbClr val="6E6A8F"/>
                </a:solidFill>
                <a:latin typeface="Segoe UI"/>
                <a:cs typeface="Segoe UI"/>
                <a:ea typeface="Segoe UI"/>
              </a:rPr>
              <a:t>  —  ادعاء يسهل دحضه بدراسة واحدة مضادة</a:t>
            </a:r>
          </a:p>
          <a:p>
            <a:pPr algn="r" rtl="1">
              <a:lnSpc>
                <a:spcPct val="110000"/>
              </a:lnSpc>
              <a:spcBef>
                <a:spcPts val="0"/>
              </a:spcBef>
              <a:spcAft>
                <a:spcPts val="900"/>
              </a:spcAft>
            </a:pPr>
            <a:r>
              <a:rPr sz="1300" b="1" i="0">
                <a:solidFill>
                  <a:srgbClr val="BE123C"/>
                </a:solidFill>
                <a:latin typeface="Segoe UI"/>
                <a:cs typeface="Segoe UI"/>
                <a:ea typeface="Segoe UI"/>
              </a:rPr>
              <a:t>✘  </a:t>
            </a:r>
            <a:r>
              <a:rPr sz="1300" b="1" i="0">
                <a:solidFill>
                  <a:srgbClr val="221C57"/>
                </a:solidFill>
                <a:latin typeface="Segoe UI"/>
                <a:cs typeface="Segoe UI"/>
                <a:ea typeface="Segoe UI"/>
              </a:rPr>
              <a:t>لا تضيف قيمة للمعرفة</a:t>
            </a:r>
            <a:r>
              <a:rPr sz="1150" b="0" i="0">
                <a:solidFill>
                  <a:srgbClr val="6E6A8F"/>
                </a:solidFill>
                <a:latin typeface="Segoe UI"/>
                <a:cs typeface="Segoe UI"/>
                <a:ea typeface="Segoe UI"/>
              </a:rPr>
              <a:t>  —  سدّها لا يغيّر شيئاً يُذكر علمياً أو عملياً</a:t>
            </a:r>
          </a:p>
          <a:p>
            <a:pPr algn="r" rtl="1">
              <a:lnSpc>
                <a:spcPct val="110000"/>
              </a:lnSpc>
              <a:spcBef>
                <a:spcPts val="0"/>
              </a:spcBef>
              <a:spcAft>
                <a:spcPts val="900"/>
              </a:spcAft>
            </a:pPr>
            <a:r>
              <a:rPr sz="1300" b="1" i="0">
                <a:solidFill>
                  <a:srgbClr val="BE123C"/>
                </a:solidFill>
                <a:latin typeface="Segoe UI"/>
                <a:cs typeface="Segoe UI"/>
                <a:ea typeface="Segoe UI"/>
              </a:rPr>
              <a:t>✘  </a:t>
            </a:r>
            <a:r>
              <a:rPr sz="1300" b="1" i="0">
                <a:solidFill>
                  <a:srgbClr val="221C57"/>
                </a:solidFill>
                <a:latin typeface="Segoe UI"/>
                <a:cs typeface="Segoe UI"/>
                <a:ea typeface="Segoe UI"/>
              </a:rPr>
              <a:t>تكرار لدراسات سابقة</a:t>
            </a:r>
            <a:r>
              <a:rPr sz="1150" b="0" i="0">
                <a:solidFill>
                  <a:srgbClr val="6E6A8F"/>
                </a:solidFill>
                <a:latin typeface="Segoe UI"/>
                <a:cs typeface="Segoe UI"/>
                <a:ea typeface="Segoe UI"/>
              </a:rPr>
              <a:t>  —  إعادة إنتاج مقنَّعة وليست بحثاً جديداً</a:t>
            </a:r>
          </a:p>
        </p:txBody>
      </p:sp>
      <p:sp>
        <p:nvSpPr>
          <p:cNvPr id="19" name="Rounded Rectangle 18"/>
          <p:cNvSpPr/>
          <p:nvPr/>
        </p:nvSpPr>
        <p:spPr>
          <a:xfrm>
            <a:off x="548640" y="5303520"/>
            <a:ext cx="11094415" cy="914400"/>
          </a:xfrm>
          <a:prstGeom prst="roundRect">
            <a:avLst>
              <a:gd name="adj" fmla="val 15000"/>
            </a:avLst>
          </a:prstGeom>
          <a:solidFill>
            <a:srgbClr val="FFFFFF"/>
          </a:solidFill>
          <a:ln w="15240">
            <a:solidFill>
              <a:srgbClr val="D97706"/>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5394960"/>
            <a:ext cx="10545775" cy="777240"/>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D97706"/>
                </a:solidFill>
                <a:latin typeface="Segoe UI"/>
                <a:cs typeface="Segoe UI"/>
                <a:ea typeface="Segoe UI"/>
              </a:rPr>
              <a:t>🧪 المثال المقارن من الورشة —  </a:t>
            </a:r>
            <a:r>
              <a:rPr sz="1250" b="1" i="0">
                <a:solidFill>
                  <a:srgbClr val="BE123C"/>
                </a:solidFill>
                <a:latin typeface="Segoe UI"/>
                <a:cs typeface="Segoe UI"/>
                <a:ea typeface="Segoe UI"/>
              </a:rPr>
              <a:t>ضعيفة: </a:t>
            </a:r>
            <a:r>
              <a:rPr sz="1200" b="0" i="0">
                <a:solidFill>
                  <a:srgbClr val="221C57"/>
                </a:solidFill>
                <a:latin typeface="Segoe UI"/>
                <a:cs typeface="Segoe UI"/>
                <a:ea typeface="Segoe UI"/>
              </a:rPr>
              <a:t>«الصحة النفسية لم تُدرس بشكل كافٍ»  —  عامة، بلا فئة ولا سياق ولا زمن</a:t>
            </a:r>
          </a:p>
          <a:p>
            <a:pPr algn="r" rtl="1">
              <a:lnSpc>
                <a:spcPct val="105000"/>
              </a:lnSpc>
              <a:spcBef>
                <a:spcPts val="0"/>
              </a:spcBef>
              <a:spcAft>
                <a:spcPts val="400"/>
              </a:spcAft>
            </a:pPr>
            <a:r>
              <a:rPr sz="1250" b="1" i="0">
                <a:solidFill>
                  <a:srgbClr val="047857"/>
                </a:solidFill>
                <a:latin typeface="Segoe UI"/>
                <a:cs typeface="Segoe UI"/>
                <a:ea typeface="Segoe UI"/>
              </a:rPr>
              <a:t>قوية: </a:t>
            </a:r>
            <a:r>
              <a:rPr sz="1200" b="1" i="0">
                <a:solidFill>
                  <a:srgbClr val="221C57"/>
                </a:solidFill>
                <a:latin typeface="Segoe UI"/>
                <a:cs typeface="Segoe UI"/>
                <a:ea typeface="Segoe UI"/>
              </a:rPr>
              <a:t>«لا توجد دراسة حول تأثير الدراسة عن بُعد على القلق عند طلاب الجامعات العربية بعد 2020»  —  واضحة وقابلة للبحث</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Segoe UI"/>
                <a:cs typeface="Segoe UI"/>
                <a:ea typeface="Segoe UI"/>
              </a:rPr>
              <a:t>13</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Segoe UI"/>
                <a:cs typeface="Segoe UI"/>
                <a:ea typeface="Segoe UI"/>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BE123C"/>
                </a:solidFill>
                <a:latin typeface="Segoe UI"/>
                <a:cs typeface="Segoe UI"/>
                <a:ea typeface="Segoe UI"/>
              </a:rPr>
              <a:t>A 7-STEP PRACTICAL ROADMAP</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Segoe UI"/>
                <a:cs typeface="Segoe UI"/>
                <a:ea typeface="Segoe UI"/>
              </a:rPr>
              <a:t>خارطة طريق عملية: من الصفر إلى الفجوة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Segoe UI"/>
                <a:cs typeface="Segoe UI"/>
                <a:ea typeface="Segoe UI"/>
              </a:rPr>
              <a:t>13</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الفجوات البحثية  •  د. هناء حسين الأهيمر</a:t>
            </a:r>
          </a:p>
        </p:txBody>
      </p:sp>
      <p:sp>
        <p:nvSpPr>
          <p:cNvPr id="11" name="Rounded Rectangle 10"/>
          <p:cNvSpPr/>
          <p:nvPr/>
        </p:nvSpPr>
        <p:spPr>
          <a:xfrm>
            <a:off x="6278727" y="1627632"/>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865815" y="1819656"/>
            <a:ext cx="621792" cy="621792"/>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Segoe UI"/>
                <a:cs typeface="Segoe UI"/>
                <a:ea typeface="Segoe UI"/>
              </a:rPr>
              <a:t>١</a:t>
            </a:r>
          </a:p>
        </p:txBody>
      </p:sp>
      <p:sp>
        <p:nvSpPr>
          <p:cNvPr id="13" name="TextBox 12"/>
          <p:cNvSpPr txBox="1"/>
          <p:nvPr/>
        </p:nvSpPr>
        <p:spPr>
          <a:xfrm>
            <a:off x="6507327" y="1719072"/>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A21CAF"/>
                </a:solidFill>
                <a:latin typeface="Segoe UI"/>
                <a:cs typeface="Segoe UI"/>
                <a:ea typeface="Segoe UI"/>
              </a:rPr>
              <a:t>حدّد مجالك بدقة</a:t>
            </a:r>
          </a:p>
        </p:txBody>
      </p:sp>
      <p:sp>
        <p:nvSpPr>
          <p:cNvPr id="14" name="TextBox 13"/>
          <p:cNvSpPr txBox="1"/>
          <p:nvPr/>
        </p:nvSpPr>
        <p:spPr>
          <a:xfrm>
            <a:off x="6507327" y="2103120"/>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Segoe UI"/>
                <a:cs typeface="Segoe UI"/>
                <a:ea typeface="Segoe UI"/>
              </a:rPr>
              <a:t>تخصص فرعي ضيق — «التعليم الإلكتروني للمرحلة الابتدائية» لا «التعليم» عموماً</a:t>
            </a:r>
          </a:p>
        </p:txBody>
      </p:sp>
      <p:sp>
        <p:nvSpPr>
          <p:cNvPr id="15" name="Rounded Rectangle 14"/>
          <p:cNvSpPr/>
          <p:nvPr/>
        </p:nvSpPr>
        <p:spPr>
          <a:xfrm>
            <a:off x="6278727" y="2779776"/>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865815" y="2971800"/>
            <a:ext cx="621792" cy="621792"/>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Segoe UI"/>
                <a:cs typeface="Segoe UI"/>
                <a:ea typeface="Segoe UI"/>
              </a:rPr>
              <a:t>٢</a:t>
            </a:r>
          </a:p>
        </p:txBody>
      </p:sp>
      <p:sp>
        <p:nvSpPr>
          <p:cNvPr id="17" name="TextBox 16"/>
          <p:cNvSpPr txBox="1"/>
          <p:nvPr/>
        </p:nvSpPr>
        <p:spPr>
          <a:xfrm>
            <a:off x="6507327" y="2871216"/>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D97706"/>
                </a:solidFill>
                <a:latin typeface="Segoe UI"/>
                <a:cs typeface="Segoe UI"/>
                <a:ea typeface="Segoe UI"/>
              </a:rPr>
              <a:t>اجمع أحدث الدراسات</a:t>
            </a:r>
          </a:p>
        </p:txBody>
      </p:sp>
      <p:sp>
        <p:nvSpPr>
          <p:cNvPr id="18" name="TextBox 17"/>
          <p:cNvSpPr txBox="1"/>
          <p:nvPr/>
        </p:nvSpPr>
        <p:spPr>
          <a:xfrm>
            <a:off x="6507327" y="3255264"/>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Segoe UI"/>
                <a:cs typeface="Segoe UI"/>
                <a:ea typeface="Segoe UI"/>
              </a:rPr>
              <a:t>20–30 دراسة من آخر 5 سنوات عبر Semantic Scholar وGoogle Scholar</a:t>
            </a:r>
          </a:p>
        </p:txBody>
      </p:sp>
      <p:sp>
        <p:nvSpPr>
          <p:cNvPr id="19" name="Rounded Rectangle 18"/>
          <p:cNvSpPr/>
          <p:nvPr/>
        </p:nvSpPr>
        <p:spPr>
          <a:xfrm>
            <a:off x="6278727" y="3931920"/>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865815" y="4123944"/>
            <a:ext cx="621792" cy="621792"/>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Segoe UI"/>
                <a:cs typeface="Segoe UI"/>
                <a:ea typeface="Segoe UI"/>
              </a:rPr>
              <a:t>٣</a:t>
            </a:r>
          </a:p>
        </p:txBody>
      </p:sp>
      <p:sp>
        <p:nvSpPr>
          <p:cNvPr id="21" name="TextBox 20"/>
          <p:cNvSpPr txBox="1"/>
          <p:nvPr/>
        </p:nvSpPr>
        <p:spPr>
          <a:xfrm>
            <a:off x="6507327" y="4023359"/>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0D9488"/>
                </a:solidFill>
                <a:latin typeface="Segoe UI"/>
                <a:cs typeface="Segoe UI"/>
                <a:ea typeface="Segoe UI"/>
              </a:rPr>
              <a:t>اقرأ الخاتمات أولاً</a:t>
            </a:r>
          </a:p>
        </p:txBody>
      </p:sp>
      <p:sp>
        <p:nvSpPr>
          <p:cNvPr id="22" name="TextBox 21"/>
          <p:cNvSpPr txBox="1"/>
          <p:nvPr/>
        </p:nvSpPr>
        <p:spPr>
          <a:xfrm>
            <a:off x="6507327" y="4407408"/>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Segoe UI"/>
                <a:cs typeface="Segoe UI"/>
                <a:ea typeface="Segoe UI"/>
              </a:rPr>
              <a:t>أقسام حدود الدراسة والاقتراحات المستقبلية — أسرع مصدر للفجوات الموثقة</a:t>
            </a:r>
          </a:p>
        </p:txBody>
      </p:sp>
      <p:sp>
        <p:nvSpPr>
          <p:cNvPr id="23" name="Rounded Rectangle 22"/>
          <p:cNvSpPr/>
          <p:nvPr/>
        </p:nvSpPr>
        <p:spPr>
          <a:xfrm>
            <a:off x="6278727" y="5084064"/>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865815" y="5276088"/>
            <a:ext cx="621792" cy="621792"/>
          </a:xfrm>
          <a:prstGeom prst="ellipse">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Segoe UI"/>
                <a:cs typeface="Segoe UI"/>
                <a:ea typeface="Segoe UI"/>
              </a:rPr>
              <a:t>٤</a:t>
            </a:r>
          </a:p>
        </p:txBody>
      </p:sp>
      <p:sp>
        <p:nvSpPr>
          <p:cNvPr id="25" name="TextBox 24"/>
          <p:cNvSpPr txBox="1"/>
          <p:nvPr/>
        </p:nvSpPr>
        <p:spPr>
          <a:xfrm>
            <a:off x="6507327" y="5175504"/>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6D28D9"/>
                </a:solidFill>
                <a:latin typeface="Segoe UI"/>
                <a:cs typeface="Segoe UI"/>
                <a:ea typeface="Segoe UI"/>
              </a:rPr>
              <a:t>اعمل خريطة الأدبيات</a:t>
            </a:r>
          </a:p>
        </p:txBody>
      </p:sp>
      <p:sp>
        <p:nvSpPr>
          <p:cNvPr id="26" name="TextBox 25"/>
          <p:cNvSpPr txBox="1"/>
          <p:nvPr/>
        </p:nvSpPr>
        <p:spPr>
          <a:xfrm>
            <a:off x="6507327" y="5559552"/>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Segoe UI"/>
                <a:cs typeface="Segoe UI"/>
                <a:ea typeface="Segoe UI"/>
              </a:rPr>
              <a:t>جدول يقارن: السكان، المنهج، الدولة، الزمن، أبرز النتائج لكل دراسة</a:t>
            </a:r>
          </a:p>
        </p:txBody>
      </p:sp>
      <p:sp>
        <p:nvSpPr>
          <p:cNvPr id="27" name="Rounded Rectangle 26"/>
          <p:cNvSpPr/>
          <p:nvPr/>
        </p:nvSpPr>
        <p:spPr>
          <a:xfrm>
            <a:off x="548640" y="1627632"/>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35727" y="1819656"/>
            <a:ext cx="621792" cy="621792"/>
          </a:xfrm>
          <a:prstGeom prst="ellipse">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Segoe UI"/>
                <a:cs typeface="Segoe UI"/>
                <a:ea typeface="Segoe UI"/>
              </a:rPr>
              <a:t>٥</a:t>
            </a:r>
          </a:p>
        </p:txBody>
      </p:sp>
      <p:sp>
        <p:nvSpPr>
          <p:cNvPr id="29" name="TextBox 28"/>
          <p:cNvSpPr txBox="1"/>
          <p:nvPr/>
        </p:nvSpPr>
        <p:spPr>
          <a:xfrm>
            <a:off x="777240" y="1719072"/>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BE123C"/>
                </a:solidFill>
                <a:latin typeface="Segoe UI"/>
                <a:cs typeface="Segoe UI"/>
                <a:ea typeface="Segoe UI"/>
              </a:rPr>
              <a:t>علّم الفراغات والتناقضات</a:t>
            </a:r>
          </a:p>
        </p:txBody>
      </p:sp>
      <p:sp>
        <p:nvSpPr>
          <p:cNvPr id="30" name="TextBox 29"/>
          <p:cNvSpPr txBox="1"/>
          <p:nvPr/>
        </p:nvSpPr>
        <p:spPr>
          <a:xfrm>
            <a:off x="777240" y="2103120"/>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Segoe UI"/>
                <a:cs typeface="Segoe UI"/>
                <a:ea typeface="Segoe UI"/>
              </a:rPr>
              <a:t>ظلّل الخانات الفارغة والنتائج المتضاربة — هذه مواضع فجواتك المحتملة</a:t>
            </a:r>
          </a:p>
        </p:txBody>
      </p:sp>
      <p:sp>
        <p:nvSpPr>
          <p:cNvPr id="31" name="Rounded Rectangle 30"/>
          <p:cNvSpPr/>
          <p:nvPr/>
        </p:nvSpPr>
        <p:spPr>
          <a:xfrm>
            <a:off x="548640" y="2779776"/>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135727" y="2971800"/>
            <a:ext cx="621792" cy="621792"/>
          </a:xfrm>
          <a:prstGeom prst="ellipse">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Segoe UI"/>
                <a:cs typeface="Segoe UI"/>
                <a:ea typeface="Segoe UI"/>
              </a:rPr>
              <a:t>٦</a:t>
            </a:r>
          </a:p>
        </p:txBody>
      </p:sp>
      <p:sp>
        <p:nvSpPr>
          <p:cNvPr id="33" name="TextBox 32"/>
          <p:cNvSpPr txBox="1"/>
          <p:nvPr/>
        </p:nvSpPr>
        <p:spPr>
          <a:xfrm>
            <a:off x="777240" y="2871216"/>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047857"/>
                </a:solidFill>
                <a:latin typeface="Segoe UI"/>
                <a:cs typeface="Segoe UI"/>
                <a:ea typeface="Segoe UI"/>
              </a:rPr>
              <a:t>تحقق بأدوات الذكاء الاصطناعي</a:t>
            </a:r>
          </a:p>
        </p:txBody>
      </p:sp>
      <p:sp>
        <p:nvSpPr>
          <p:cNvPr id="34" name="TextBox 33"/>
          <p:cNvSpPr txBox="1"/>
          <p:nvPr/>
        </p:nvSpPr>
        <p:spPr>
          <a:xfrm>
            <a:off x="777240" y="3255264"/>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Segoe UI"/>
                <a:cs typeface="Segoe UI"/>
                <a:ea typeface="Segoe UI"/>
              </a:rPr>
              <a:t>Research Rabbit وConsensus للتأكد أن الفجوة لم تُسد بدراسة حديثة</a:t>
            </a:r>
          </a:p>
        </p:txBody>
      </p:sp>
      <p:sp>
        <p:nvSpPr>
          <p:cNvPr id="35" name="Rounded Rectangle 34"/>
          <p:cNvSpPr/>
          <p:nvPr/>
        </p:nvSpPr>
        <p:spPr>
          <a:xfrm>
            <a:off x="548640" y="3931920"/>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135727" y="4123944"/>
            <a:ext cx="621792" cy="621792"/>
          </a:xfrm>
          <a:prstGeom prst="ellipse">
            <a:avLst/>
          </a:prstGeom>
          <a:ln>
            <a:noFill/>
          </a:ln>
          <a:gradFill rotWithShape="1">
            <a:gsLst>
              <a:gs pos="0">
                <a:srgbClr val="1D4ED8"/>
              </a:gs>
              <a:gs pos="100000">
                <a:srgbClr val="60A5FA"/>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Segoe UI"/>
                <a:cs typeface="Segoe UI"/>
                <a:ea typeface="Segoe UI"/>
              </a:rPr>
              <a:t>٧</a:t>
            </a:r>
          </a:p>
        </p:txBody>
      </p:sp>
      <p:sp>
        <p:nvSpPr>
          <p:cNvPr id="37" name="TextBox 36"/>
          <p:cNvSpPr txBox="1"/>
          <p:nvPr/>
        </p:nvSpPr>
        <p:spPr>
          <a:xfrm>
            <a:off x="777240" y="4023359"/>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1D4ED8"/>
                </a:solidFill>
                <a:latin typeface="Segoe UI"/>
                <a:cs typeface="Segoe UI"/>
                <a:ea typeface="Segoe UI"/>
              </a:rPr>
              <a:t>صُغ فجوتك بدقة</a:t>
            </a:r>
          </a:p>
        </p:txBody>
      </p:sp>
      <p:sp>
        <p:nvSpPr>
          <p:cNvPr id="38" name="TextBox 37"/>
          <p:cNvSpPr txBox="1"/>
          <p:nvPr/>
        </p:nvSpPr>
        <p:spPr>
          <a:xfrm>
            <a:off x="777240" y="4407408"/>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Segoe UI"/>
                <a:cs typeface="Segoe UI"/>
                <a:ea typeface="Segoe UI"/>
              </a:rPr>
              <a:t>جملة محددة قابلة للقياس: الموضوع + الفئة + السياق + الزمن</a:t>
            </a:r>
          </a:p>
        </p:txBody>
      </p:sp>
      <p:sp>
        <p:nvSpPr>
          <p:cNvPr id="39" name="Rounded Rectangle 38"/>
          <p:cNvSpPr/>
          <p:nvPr/>
        </p:nvSpPr>
        <p:spPr>
          <a:xfrm>
            <a:off x="548640" y="5084064"/>
            <a:ext cx="5364327" cy="1005840"/>
          </a:xfrm>
          <a:prstGeom prst="roundRect">
            <a:avLst>
              <a:gd name="adj" fmla="val 15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 y="5193792"/>
            <a:ext cx="4852263" cy="804672"/>
          </a:xfrm>
          <a:prstGeom prst="rect">
            <a:avLst/>
          </a:prstGeom>
          <a:noFill/>
        </p:spPr>
        <p:txBody>
          <a:bodyPr wrap="square" anchor="t" lIns="0" rIns="0" tIns="0" bIns="0">
            <a:spAutoFit/>
          </a:bodyPr>
          <a:lstStyle/>
          <a:p>
            <a:pPr algn="r" rtl="1">
              <a:lnSpc>
                <a:spcPct val="115000"/>
              </a:lnSpc>
              <a:spcBef>
                <a:spcPts val="0"/>
              </a:spcBef>
              <a:spcAft>
                <a:spcPts val="400"/>
              </a:spcAft>
            </a:pPr>
            <a:r>
              <a:rPr sz="1250" b="1" i="0">
                <a:solidFill>
                  <a:srgbClr val="FBBF24"/>
                </a:solidFill>
                <a:latin typeface="Segoe UI"/>
                <a:cs typeface="Segoe UI"/>
                <a:ea typeface="Segoe UI"/>
              </a:rPr>
              <a:t>⏱ الزمن الواقعي: </a:t>
            </a:r>
            <a:r>
              <a:rPr sz="1150" b="0" i="0">
                <a:solidFill>
                  <a:srgbClr val="FFFFFF"/>
                </a:solidFill>
                <a:latin typeface="Segoe UI"/>
                <a:cs typeface="Segoe UI"/>
                <a:ea typeface="Segoe UI"/>
              </a:rPr>
              <a:t>أسبوعان إلى أربعة أسابيع من العمل المنظّم تكفي غالباً للوصول إلى فجوة موثقة تصمد أمام أي لجنة علمية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Segoe UI"/>
                <a:cs typeface="Segoe UI"/>
                <a:ea typeface="Segoe UI"/>
              </a:rPr>
              <a:t>14</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1D4ED8"/>
              </a:gs>
              <a:gs pos="100000">
                <a:srgbClr val="60A5FA"/>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Segoe UI"/>
                <a:cs typeface="Segoe UI"/>
                <a:ea typeface="Segoe UI"/>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1D4ED8"/>
                </a:solidFill>
                <a:latin typeface="Segoe UI"/>
                <a:cs typeface="Segoe UI"/>
                <a:ea typeface="Segoe UI"/>
              </a:rPr>
              <a:t>WRITING YOUR GAP STATEMENT</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Segoe UI"/>
                <a:cs typeface="Segoe UI"/>
                <a:ea typeface="Segoe UI"/>
              </a:rPr>
              <a:t>صياغة الفجوة البحثية باحترافية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1D4ED8"/>
              </a:gs>
              <a:gs pos="100000">
                <a:srgbClr val="60A5FA"/>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1D4ED8"/>
              </a:gs>
              <a:gs pos="100000">
                <a:srgbClr val="60A5FA"/>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1D4ED8"/>
              </a:gs>
              <a:gs pos="100000">
                <a:srgbClr val="60A5FA"/>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Segoe UI"/>
                <a:cs typeface="Segoe UI"/>
                <a:ea typeface="Segoe UI"/>
              </a:rPr>
              <a:t>14</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Segoe UI"/>
                <a:cs typeface="Segoe UI"/>
                <a:ea typeface="Segoe UI"/>
              </a:rPr>
              <a:t>الفجوات البحثية  •  د. هناء حسين الأهيمر</a:t>
            </a:r>
          </a:p>
        </p:txBody>
      </p:sp>
      <p:sp>
        <p:nvSpPr>
          <p:cNvPr id="11" name="Rounded Rectangle 10"/>
          <p:cNvSpPr/>
          <p:nvPr/>
        </p:nvSpPr>
        <p:spPr>
          <a:xfrm>
            <a:off x="548640" y="1627632"/>
            <a:ext cx="11094415" cy="1828800"/>
          </a:xfrm>
          <a:prstGeom prst="roundRect">
            <a:avLst>
              <a:gd name="adj" fmla="val 10000"/>
            </a:avLst>
          </a:prstGeom>
          <a:ln>
            <a:noFill/>
          </a:ln>
          <a:gradFill rotWithShape="1">
            <a:gsLst>
              <a:gs pos="0">
                <a:srgbClr val="17123B"/>
              </a:gs>
              <a:gs pos="100000">
                <a:srgbClr val="3B3486"/>
              </a:gs>
            </a:gsLst>
            <a:lin ang="15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783080"/>
            <a:ext cx="10362895"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350" b="1" i="0">
                <a:solidFill>
                  <a:srgbClr val="FBBF24"/>
                </a:solidFill>
                <a:latin typeface="Segoe UI"/>
                <a:cs typeface="Segoe UI"/>
                <a:ea typeface="Segoe UI"/>
              </a:rPr>
              <a:t>القالب الجاهز:  </a:t>
            </a:r>
            <a:r>
              <a:rPr sz="1300" b="0" i="0">
                <a:solidFill>
                  <a:srgbClr val="FFFFFF"/>
                </a:solidFill>
                <a:latin typeface="Segoe UI"/>
                <a:cs typeface="Segoe UI"/>
                <a:ea typeface="Segoe UI"/>
              </a:rPr>
              <a:t>انسخه واملأ الفراغات الملونة</a:t>
            </a:r>
          </a:p>
        </p:txBody>
      </p:sp>
      <p:sp>
        <p:nvSpPr>
          <p:cNvPr id="13" name="TextBox 12"/>
          <p:cNvSpPr txBox="1"/>
          <p:nvPr/>
        </p:nvSpPr>
        <p:spPr>
          <a:xfrm>
            <a:off x="914400" y="2212848"/>
            <a:ext cx="10362895" cy="1143000"/>
          </a:xfrm>
          <a:prstGeom prst="rect">
            <a:avLst/>
          </a:prstGeom>
          <a:noFill/>
        </p:spPr>
        <p:txBody>
          <a:bodyPr wrap="square" anchor="t" lIns="0" rIns="0" tIns="0" bIns="0">
            <a:spAutoFit/>
          </a:bodyPr>
          <a:lstStyle/>
          <a:p>
            <a:pPr algn="r" rtl="1">
              <a:lnSpc>
                <a:spcPct val="140000"/>
              </a:lnSpc>
              <a:spcBef>
                <a:spcPts val="0"/>
              </a:spcBef>
              <a:spcAft>
                <a:spcPts val="400"/>
              </a:spcAft>
            </a:pPr>
            <a:r>
              <a:rPr sz="1550" b="0" i="0">
                <a:solidFill>
                  <a:srgbClr val="FFFFFF"/>
                </a:solidFill>
                <a:latin typeface="Segoe UI"/>
                <a:cs typeface="Segoe UI"/>
                <a:ea typeface="Segoe UI"/>
              </a:rPr>
              <a:t>«على الرغم من أن الدراسات السابقة تناولت </a:t>
            </a:r>
            <a:r>
              <a:rPr sz="1550" b="1" i="0">
                <a:solidFill>
                  <a:srgbClr val="FBBF24"/>
                </a:solidFill>
                <a:latin typeface="Segoe UI"/>
                <a:cs typeface="Segoe UI"/>
                <a:ea typeface="Segoe UI"/>
              </a:rPr>
              <a:t>[الموضوع X]</a:t>
            </a:r>
            <a:r>
              <a:rPr sz="1550" b="0" i="0">
                <a:solidFill>
                  <a:srgbClr val="FFFFFF"/>
                </a:solidFill>
                <a:latin typeface="Segoe UI"/>
                <a:cs typeface="Segoe UI"/>
                <a:ea typeface="Segoe UI"/>
              </a:rPr>
              <a:t>، إلا أن </a:t>
            </a:r>
            <a:r>
              <a:rPr sz="1550" b="1" i="0">
                <a:solidFill>
                  <a:srgbClr val="5EEAD4"/>
                </a:solidFill>
                <a:latin typeface="Segoe UI"/>
                <a:cs typeface="Segoe UI"/>
                <a:ea typeface="Segoe UI"/>
              </a:rPr>
              <a:t>[الجانب Y]</a:t>
            </a:r>
            <a:r>
              <a:rPr sz="1550" b="0" i="0">
                <a:solidFill>
                  <a:srgbClr val="FFFFFF"/>
                </a:solidFill>
                <a:latin typeface="Segoe UI"/>
                <a:cs typeface="Segoe UI"/>
                <a:ea typeface="Segoe UI"/>
              </a:rPr>
              <a:t> لم يُدرس بعد في </a:t>
            </a:r>
            <a:r>
              <a:rPr sz="1550" b="1" i="0">
                <a:solidFill>
                  <a:srgbClr val="FDA4AF"/>
                </a:solidFill>
                <a:latin typeface="Segoe UI"/>
                <a:cs typeface="Segoe UI"/>
                <a:ea typeface="Segoe UI"/>
              </a:rPr>
              <a:t>[السياق Z]</a:t>
            </a:r>
            <a:r>
              <a:rPr sz="1550" b="0" i="0">
                <a:solidFill>
                  <a:srgbClr val="FFFFFF"/>
                </a:solidFill>
                <a:latin typeface="Segoe UI"/>
                <a:cs typeface="Segoe UI"/>
                <a:ea typeface="Segoe UI"/>
              </a:rPr>
              <a:t>، مما يستدعي إجراء </a:t>
            </a:r>
            <a:r>
              <a:rPr sz="1550" b="1" i="0">
                <a:solidFill>
                  <a:srgbClr val="C4B5FD"/>
                </a:solidFill>
                <a:latin typeface="Segoe UI"/>
                <a:cs typeface="Segoe UI"/>
                <a:ea typeface="Segoe UI"/>
              </a:rPr>
              <a:t>[نوع الدراسة المقترحة]</a:t>
            </a:r>
            <a:r>
              <a:rPr sz="1550" b="0" i="0">
                <a:solidFill>
                  <a:srgbClr val="FFFFFF"/>
                </a:solidFill>
                <a:latin typeface="Segoe UI"/>
                <a:cs typeface="Segoe UI"/>
                <a:ea typeface="Segoe UI"/>
              </a:rPr>
              <a:t>.»</a:t>
            </a:r>
          </a:p>
        </p:txBody>
      </p:sp>
      <p:sp>
        <p:nvSpPr>
          <p:cNvPr id="14" name="Rounded Rectangle 13"/>
          <p:cNvSpPr/>
          <p:nvPr/>
        </p:nvSpPr>
        <p:spPr>
          <a:xfrm>
            <a:off x="548640" y="3639312"/>
            <a:ext cx="11094415" cy="960120"/>
          </a:xfrm>
          <a:prstGeom prst="roundRect">
            <a:avLst>
              <a:gd name="adj" fmla="val 12000"/>
            </a:avLst>
          </a:prstGeom>
          <a:solidFill>
            <a:srgbClr val="FFFFFF"/>
          </a:solidFill>
          <a:ln w="15240">
            <a:solidFill>
              <a:srgbClr val="0D9488"/>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49039"/>
            <a:ext cx="10454335" cy="777240"/>
          </a:xfrm>
          <a:prstGeom prst="rect">
            <a:avLst/>
          </a:prstGeom>
          <a:noFill/>
        </p:spPr>
        <p:txBody>
          <a:bodyPr wrap="square" anchor="t" lIns="0" rIns="0" tIns="0" bIns="0">
            <a:spAutoFit/>
          </a:bodyPr>
          <a:lstStyle/>
          <a:p>
            <a:pPr algn="r" rtl="1">
              <a:lnSpc>
                <a:spcPct val="125000"/>
              </a:lnSpc>
              <a:spcBef>
                <a:spcPts val="0"/>
              </a:spcBef>
              <a:spcAft>
                <a:spcPts val="400"/>
              </a:spcAft>
            </a:pPr>
            <a:r>
              <a:rPr sz="1250" b="1" i="0">
                <a:solidFill>
                  <a:srgbClr val="0D9488"/>
                </a:solidFill>
                <a:latin typeface="Segoe UI"/>
                <a:cs typeface="Segoe UI"/>
                <a:ea typeface="Segoe UI"/>
              </a:rPr>
              <a:t>✅ مثال مطبَّق بأسلوب الورشة:  </a:t>
            </a:r>
            <a:r>
              <a:rPr sz="1250" b="0" i="0">
                <a:solidFill>
                  <a:srgbClr val="221C57"/>
                </a:solidFill>
                <a:latin typeface="Segoe UI"/>
                <a:cs typeface="Segoe UI"/>
                <a:ea typeface="Segoe UI"/>
              </a:rPr>
              <a:t>«على الرغم من أن الدراسات السابقة تناولت التعلم الإلكتروني في الجامعات، إلا أن تأثيره على القلق عند طلاب الجامعات العربية بعد 2020 لم يُدرس بعد، مما يستدعي إجراء دراسة مختلطة (كمية ونوعية) لسدّ هذه الفجوة.»</a:t>
            </a:r>
          </a:p>
        </p:txBody>
      </p:sp>
      <p:sp>
        <p:nvSpPr>
          <p:cNvPr id="16" name="TextBox 15"/>
          <p:cNvSpPr txBox="1"/>
          <p:nvPr/>
        </p:nvSpPr>
        <p:spPr>
          <a:xfrm>
            <a:off x="548640" y="4800600"/>
            <a:ext cx="1109441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221C57"/>
                </a:solidFill>
                <a:latin typeface="Segoe UI"/>
                <a:cs typeface="Segoe UI"/>
                <a:ea typeface="Segoe UI"/>
              </a:rPr>
              <a:t>قائمة الفحص الخماسية قبل اعتماد الفجوة نهائياً:</a:t>
            </a:r>
          </a:p>
        </p:txBody>
      </p:sp>
      <p:sp>
        <p:nvSpPr>
          <p:cNvPr id="17" name="Rounded Rectangle 16"/>
          <p:cNvSpPr/>
          <p:nvPr/>
        </p:nvSpPr>
        <p:spPr>
          <a:xfrm>
            <a:off x="9585106"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585106" y="5257800"/>
            <a:ext cx="2057948" cy="91440"/>
          </a:xfrm>
          <a:prstGeom prst="roundRect">
            <a:avLst>
              <a:gd name="adj" fmla="val 100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76546"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A21CAF"/>
                </a:solidFill>
                <a:latin typeface="Segoe UI"/>
                <a:cs typeface="Segoe UI"/>
                <a:ea typeface="Segoe UI"/>
              </a:rPr>
              <a:t>✔ موثّقة؟</a:t>
            </a:r>
          </a:p>
        </p:txBody>
      </p:sp>
      <p:sp>
        <p:nvSpPr>
          <p:cNvPr id="20" name="TextBox 19"/>
          <p:cNvSpPr txBox="1"/>
          <p:nvPr/>
        </p:nvSpPr>
        <p:spPr>
          <a:xfrm>
            <a:off x="9676546"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Segoe UI"/>
                <a:cs typeface="Segoe UI"/>
                <a:ea typeface="Segoe UI"/>
              </a:rPr>
              <a:t>تستند لمراجعة فعلية</a:t>
            </a:r>
          </a:p>
        </p:txBody>
      </p:sp>
      <p:sp>
        <p:nvSpPr>
          <p:cNvPr id="21" name="Rounded Rectangle 20"/>
          <p:cNvSpPr/>
          <p:nvPr/>
        </p:nvSpPr>
        <p:spPr>
          <a:xfrm>
            <a:off x="7325989"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25989" y="5257800"/>
            <a:ext cx="2057948" cy="91440"/>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17429"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D97706"/>
                </a:solidFill>
                <a:latin typeface="Segoe UI"/>
                <a:cs typeface="Segoe UI"/>
                <a:ea typeface="Segoe UI"/>
              </a:rPr>
              <a:t>✔ محددة؟</a:t>
            </a:r>
          </a:p>
        </p:txBody>
      </p:sp>
      <p:sp>
        <p:nvSpPr>
          <p:cNvPr id="24" name="TextBox 23"/>
          <p:cNvSpPr txBox="1"/>
          <p:nvPr/>
        </p:nvSpPr>
        <p:spPr>
          <a:xfrm>
            <a:off x="7417429"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Segoe UI"/>
                <a:cs typeface="Segoe UI"/>
                <a:ea typeface="Segoe UI"/>
              </a:rPr>
              <a:t>موضوع وفئة وسياق وزمن</a:t>
            </a:r>
          </a:p>
        </p:txBody>
      </p:sp>
      <p:sp>
        <p:nvSpPr>
          <p:cNvPr id="25" name="Rounded Rectangle 24"/>
          <p:cNvSpPr/>
          <p:nvPr/>
        </p:nvSpPr>
        <p:spPr>
          <a:xfrm>
            <a:off x="5066873"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066873" y="5257800"/>
            <a:ext cx="2057948" cy="91440"/>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58313"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0D9488"/>
                </a:solidFill>
                <a:latin typeface="Segoe UI"/>
                <a:cs typeface="Segoe UI"/>
                <a:ea typeface="Segoe UI"/>
              </a:rPr>
              <a:t>✔ مهمة؟</a:t>
            </a:r>
          </a:p>
        </p:txBody>
      </p:sp>
      <p:sp>
        <p:nvSpPr>
          <p:cNvPr id="28" name="TextBox 27"/>
          <p:cNvSpPr txBox="1"/>
          <p:nvPr/>
        </p:nvSpPr>
        <p:spPr>
          <a:xfrm>
            <a:off x="5158313"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Segoe UI"/>
                <a:cs typeface="Segoe UI"/>
                <a:ea typeface="Segoe UI"/>
              </a:rPr>
              <a:t>سدّها يُحدث فرقاً</a:t>
            </a:r>
          </a:p>
        </p:txBody>
      </p:sp>
      <p:sp>
        <p:nvSpPr>
          <p:cNvPr id="29" name="Rounded Rectangle 28"/>
          <p:cNvSpPr/>
          <p:nvPr/>
        </p:nvSpPr>
        <p:spPr>
          <a:xfrm>
            <a:off x="2807756"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807756" y="5257800"/>
            <a:ext cx="2057948" cy="91440"/>
          </a:xfrm>
          <a:prstGeom prst="roundRect">
            <a:avLst>
              <a:gd name="adj" fmla="val 100000"/>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99196"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6D28D9"/>
                </a:solidFill>
                <a:latin typeface="Segoe UI"/>
                <a:cs typeface="Segoe UI"/>
                <a:ea typeface="Segoe UI"/>
              </a:rPr>
              <a:t>✔ قابلة للمعالجة؟</a:t>
            </a:r>
          </a:p>
        </p:txBody>
      </p:sp>
      <p:sp>
        <p:nvSpPr>
          <p:cNvPr id="32" name="TextBox 31"/>
          <p:cNvSpPr txBox="1"/>
          <p:nvPr/>
        </p:nvSpPr>
        <p:spPr>
          <a:xfrm>
            <a:off x="2899196"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Segoe UI"/>
                <a:cs typeface="Segoe UI"/>
                <a:ea typeface="Segoe UI"/>
              </a:rPr>
              <a:t>منهجية واقعية متاحة</a:t>
            </a:r>
          </a:p>
        </p:txBody>
      </p:sp>
      <p:sp>
        <p:nvSpPr>
          <p:cNvPr id="33" name="Rounded Rectangle 32"/>
          <p:cNvSpPr/>
          <p:nvPr/>
        </p:nvSpPr>
        <p:spPr>
          <a:xfrm>
            <a:off x="548639"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48639" y="5257800"/>
            <a:ext cx="2057948" cy="91440"/>
          </a:xfrm>
          <a:prstGeom prst="roundRect">
            <a:avLst>
              <a:gd name="adj" fmla="val 100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79"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BE123C"/>
                </a:solidFill>
                <a:latin typeface="Segoe UI"/>
                <a:cs typeface="Segoe UI"/>
                <a:ea typeface="Segoe UI"/>
              </a:rPr>
              <a:t>✔ جديدة؟</a:t>
            </a:r>
          </a:p>
        </p:txBody>
      </p:sp>
      <p:sp>
        <p:nvSpPr>
          <p:cNvPr id="36" name="TextBox 35"/>
          <p:cNvSpPr txBox="1"/>
          <p:nvPr/>
        </p:nvSpPr>
        <p:spPr>
          <a:xfrm>
            <a:off x="640079"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Segoe UI"/>
                <a:cs typeface="Segoe UI"/>
                <a:ea typeface="Segoe UI"/>
              </a:rPr>
              <a:t>لم تُسد بدراسة أحدث</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17123B"/>
              </a:gs>
              <a:gs pos="100000">
                <a:srgbClr val="6D28D9"/>
              </a:gs>
            </a:gsLst>
            <a:lin ang="2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554480" y="3931920"/>
            <a:ext cx="4206240" cy="4206240"/>
          </a:xfrm>
          <a:prstGeom prst="ellipse">
            <a:avLst/>
          </a:prstGeom>
          <a:solidFill>
            <a:srgbClr val="FFFFFF">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875520" y="-1828800"/>
            <a:ext cx="4389120" cy="4389120"/>
          </a:xfrm>
          <a:prstGeom prst="ellipse">
            <a:avLst/>
          </a:prstGeom>
          <a:solidFill>
            <a:srgbClr val="FFFF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155680" y="5303520"/>
            <a:ext cx="1645920" cy="1645920"/>
          </a:xfrm>
          <a:prstGeom prst="ellipse">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51560" y="914400"/>
            <a:ext cx="237744" cy="237744"/>
          </a:xfrm>
          <a:prstGeom prst="ellipse">
            <a:avLst/>
          </a:prstGeom>
          <a:solidFill>
            <a:srgbClr val="FBBF2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640080"/>
            <a:ext cx="9448495" cy="777240"/>
          </a:xfrm>
          <a:prstGeom prst="rect">
            <a:avLst/>
          </a:prstGeom>
          <a:noFill/>
        </p:spPr>
        <p:txBody>
          <a:bodyPr wrap="square" anchor="t" lIns="0" rIns="0" tIns="0" bIns="0">
            <a:spAutoFit/>
          </a:bodyPr>
          <a:lstStyle/>
          <a:p>
            <a:pPr algn="ctr" rtl="1">
              <a:lnSpc>
                <a:spcPct val="105000"/>
              </a:lnSpc>
              <a:spcBef>
                <a:spcPts val="0"/>
              </a:spcBef>
              <a:spcAft>
                <a:spcPts val="400"/>
              </a:spcAft>
            </a:pPr>
            <a:r>
              <a:rPr sz="3400" b="1" i="0">
                <a:solidFill>
                  <a:srgbClr val="FFFFFF"/>
                </a:solidFill>
                <a:latin typeface="Segoe UI"/>
                <a:cs typeface="Segoe UI"/>
                <a:ea typeface="Segoe UI"/>
              </a:rPr>
              <a:t>الخلاصة: رسائل تأخذها معك</a:t>
            </a:r>
          </a:p>
        </p:txBody>
      </p:sp>
      <p:sp>
        <p:nvSpPr>
          <p:cNvPr id="8" name="TextBox 7"/>
          <p:cNvSpPr txBox="1"/>
          <p:nvPr/>
        </p:nvSpPr>
        <p:spPr>
          <a:xfrm>
            <a:off x="1371600" y="1417320"/>
            <a:ext cx="9448495" cy="365760"/>
          </a:xfrm>
          <a:prstGeom prst="rect">
            <a:avLst/>
          </a:prstGeom>
          <a:noFill/>
        </p:spPr>
        <p:txBody>
          <a:bodyPr wrap="square" anchor="t" lIns="0" rIns="0" tIns="0" bIns="0">
            <a:spAutoFit/>
          </a:bodyPr>
          <a:lstStyle/>
          <a:p>
            <a:pPr algn="ctr">
              <a:lnSpc>
                <a:spcPct val="105000"/>
              </a:lnSpc>
              <a:spcBef>
                <a:spcPts val="0"/>
              </a:spcBef>
              <a:spcAft>
                <a:spcPts val="400"/>
              </a:spcAft>
            </a:pPr>
            <a:r>
              <a:rPr sz="1200" b="1" i="0" spc="500">
                <a:solidFill>
                  <a:srgbClr val="FBBF24"/>
                </a:solidFill>
                <a:latin typeface="Segoe UI"/>
                <a:cs typeface="Segoe UI"/>
                <a:ea typeface="Segoe UI"/>
              </a:rPr>
              <a:t>K E Y   T A K E A W A Y S</a:t>
            </a:r>
          </a:p>
        </p:txBody>
      </p:sp>
      <p:sp>
        <p:nvSpPr>
          <p:cNvPr id="9" name="Rounded Rectangle 8"/>
          <p:cNvSpPr/>
          <p:nvPr/>
        </p:nvSpPr>
        <p:spPr>
          <a:xfrm>
            <a:off x="1645920" y="1965960"/>
            <a:ext cx="8897112" cy="777240"/>
          </a:xfrm>
          <a:prstGeom prst="roundRect">
            <a:avLst>
              <a:gd name="adj" fmla="val 20000"/>
            </a:avLst>
          </a:prstGeom>
          <a:solidFill>
            <a:srgbClr val="FFFF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857232" y="2093976"/>
            <a:ext cx="521207" cy="521207"/>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Segoe UI"/>
                <a:cs typeface="Segoe UI"/>
                <a:ea typeface="Segoe UI"/>
              </a:rPr>
              <a:t>١</a:t>
            </a:r>
          </a:p>
        </p:txBody>
      </p:sp>
      <p:sp>
        <p:nvSpPr>
          <p:cNvPr id="11" name="TextBox 10"/>
          <p:cNvSpPr txBox="1"/>
          <p:nvPr/>
        </p:nvSpPr>
        <p:spPr>
          <a:xfrm>
            <a:off x="1920240" y="2011679"/>
            <a:ext cx="7863840"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FFFFFF"/>
                </a:solidFill>
                <a:latin typeface="Segoe UI"/>
                <a:cs typeface="Segoe UI"/>
                <a:ea typeface="Segoe UI"/>
              </a:rPr>
              <a:t>الفجوة البحثية أساس أي بحث علمي ناجح</a:t>
            </a:r>
          </a:p>
        </p:txBody>
      </p:sp>
      <p:sp>
        <p:nvSpPr>
          <p:cNvPr id="12" name="TextBox 11"/>
          <p:cNvSpPr txBox="1"/>
          <p:nvPr/>
        </p:nvSpPr>
        <p:spPr>
          <a:xfrm>
            <a:off x="1920240" y="2377440"/>
            <a:ext cx="7863840" cy="329184"/>
          </a:xfrm>
          <a:prstGeom prst="rect">
            <a:avLst/>
          </a:prstGeom>
          <a:noFill/>
        </p:spPr>
        <p:txBody>
          <a:bodyPr wrap="square" anchor="t" lIns="0" rIns="0" tIns="0" bIns="0">
            <a:spAutoFit/>
          </a:bodyPr>
          <a:lstStyle/>
          <a:p>
            <a:pPr algn="r" rtl="1">
              <a:lnSpc>
                <a:spcPct val="105000"/>
              </a:lnSpc>
              <a:spcBef>
                <a:spcPts val="0"/>
              </a:spcBef>
              <a:spcAft>
                <a:spcPts val="400"/>
              </a:spcAft>
            </a:pPr>
            <a:r>
              <a:rPr sz="1150" b="0" i="0">
                <a:solidFill>
                  <a:srgbClr val="FFFFFF"/>
                </a:solidFill>
                <a:latin typeface="Segoe UI"/>
                <a:cs typeface="Segoe UI"/>
                <a:ea typeface="Segoe UI"/>
              </a:rPr>
              <a:t>هي جواز مرورك إلى الأصالة والقبول والنشر والتمويل</a:t>
            </a:r>
          </a:p>
        </p:txBody>
      </p:sp>
      <p:sp>
        <p:nvSpPr>
          <p:cNvPr id="13" name="Rounded Rectangle 12"/>
          <p:cNvSpPr/>
          <p:nvPr/>
        </p:nvSpPr>
        <p:spPr>
          <a:xfrm>
            <a:off x="1645920" y="2862072"/>
            <a:ext cx="8897112" cy="777240"/>
          </a:xfrm>
          <a:prstGeom prst="roundRect">
            <a:avLst>
              <a:gd name="adj" fmla="val 20000"/>
            </a:avLst>
          </a:prstGeom>
          <a:solidFill>
            <a:srgbClr val="FFFF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857232" y="2990088"/>
            <a:ext cx="521207" cy="521207"/>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Segoe UI"/>
                <a:cs typeface="Segoe UI"/>
                <a:ea typeface="Segoe UI"/>
              </a:rPr>
              <a:t>٢</a:t>
            </a:r>
          </a:p>
        </p:txBody>
      </p:sp>
      <p:sp>
        <p:nvSpPr>
          <p:cNvPr id="15" name="TextBox 14"/>
          <p:cNvSpPr txBox="1"/>
          <p:nvPr/>
        </p:nvSpPr>
        <p:spPr>
          <a:xfrm>
            <a:off x="1920240" y="2907791"/>
            <a:ext cx="7863840"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FFFFFF"/>
                </a:solidFill>
                <a:latin typeface="Segoe UI"/>
                <a:cs typeface="Segoe UI"/>
                <a:ea typeface="Segoe UI"/>
              </a:rPr>
              <a:t>اعرف الأنواع الستة وسؤال كل نوع</a:t>
            </a:r>
          </a:p>
        </p:txBody>
      </p:sp>
      <p:sp>
        <p:nvSpPr>
          <p:cNvPr id="16" name="TextBox 15"/>
          <p:cNvSpPr txBox="1"/>
          <p:nvPr/>
        </p:nvSpPr>
        <p:spPr>
          <a:xfrm>
            <a:off x="1920240" y="3273552"/>
            <a:ext cx="7863840" cy="329184"/>
          </a:xfrm>
          <a:prstGeom prst="rect">
            <a:avLst/>
          </a:prstGeom>
          <a:noFill/>
        </p:spPr>
        <p:txBody>
          <a:bodyPr wrap="square" anchor="t" lIns="0" rIns="0" tIns="0" bIns="0">
            <a:spAutoFit/>
          </a:bodyPr>
          <a:lstStyle/>
          <a:p>
            <a:pPr algn="r" rtl="1">
              <a:lnSpc>
                <a:spcPct val="105000"/>
              </a:lnSpc>
              <a:spcBef>
                <a:spcPts val="0"/>
              </a:spcBef>
              <a:spcAft>
                <a:spcPts val="400"/>
              </a:spcAft>
            </a:pPr>
            <a:r>
              <a:rPr sz="1150" b="0" i="0">
                <a:solidFill>
                  <a:srgbClr val="FFFFFF"/>
                </a:solidFill>
                <a:latin typeface="Segoe UI"/>
                <a:cs typeface="Segoe UI"/>
                <a:ea typeface="Segoe UI"/>
              </a:rPr>
              <a:t>معرفة، ممارسة، أدلة، سكان، منهجية، زمن — ولكل نوع بابه</a:t>
            </a:r>
          </a:p>
        </p:txBody>
      </p:sp>
      <p:sp>
        <p:nvSpPr>
          <p:cNvPr id="17" name="Rounded Rectangle 16"/>
          <p:cNvSpPr/>
          <p:nvPr/>
        </p:nvSpPr>
        <p:spPr>
          <a:xfrm>
            <a:off x="1645920" y="3758183"/>
            <a:ext cx="8897112" cy="777240"/>
          </a:xfrm>
          <a:prstGeom prst="roundRect">
            <a:avLst>
              <a:gd name="adj" fmla="val 20000"/>
            </a:avLst>
          </a:prstGeom>
          <a:solidFill>
            <a:srgbClr val="FFFF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857232" y="3886199"/>
            <a:ext cx="521207" cy="521207"/>
          </a:xfrm>
          <a:prstGeom prst="ellipse">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Segoe UI"/>
                <a:cs typeface="Segoe UI"/>
                <a:ea typeface="Segoe UI"/>
              </a:rPr>
              <a:t>٣</a:t>
            </a:r>
          </a:p>
        </p:txBody>
      </p:sp>
      <p:sp>
        <p:nvSpPr>
          <p:cNvPr id="19" name="TextBox 18"/>
          <p:cNvSpPr txBox="1"/>
          <p:nvPr/>
        </p:nvSpPr>
        <p:spPr>
          <a:xfrm>
            <a:off x="1920240" y="3803903"/>
            <a:ext cx="7863840"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FFFFFF"/>
                </a:solidFill>
                <a:latin typeface="Segoe UI"/>
                <a:cs typeface="Segoe UI"/>
                <a:ea typeface="Segoe UI"/>
              </a:rPr>
              <a:t>استخدم الذكاء الاصطناعي بذكاء</a:t>
            </a:r>
          </a:p>
        </p:txBody>
      </p:sp>
      <p:sp>
        <p:nvSpPr>
          <p:cNvPr id="20" name="TextBox 19"/>
          <p:cNvSpPr txBox="1"/>
          <p:nvPr/>
        </p:nvSpPr>
        <p:spPr>
          <a:xfrm>
            <a:off x="1920240" y="4169663"/>
            <a:ext cx="7863840" cy="329184"/>
          </a:xfrm>
          <a:prstGeom prst="rect">
            <a:avLst/>
          </a:prstGeom>
          <a:noFill/>
        </p:spPr>
        <p:txBody>
          <a:bodyPr wrap="square" anchor="t" lIns="0" rIns="0" tIns="0" bIns="0">
            <a:spAutoFit/>
          </a:bodyPr>
          <a:lstStyle/>
          <a:p>
            <a:pPr algn="r" rtl="1">
              <a:lnSpc>
                <a:spcPct val="105000"/>
              </a:lnSpc>
              <a:spcBef>
                <a:spcPts val="0"/>
              </a:spcBef>
              <a:spcAft>
                <a:spcPts val="400"/>
              </a:spcAft>
            </a:pPr>
            <a:r>
              <a:rPr sz="1150" b="0" i="0">
                <a:solidFill>
                  <a:srgbClr val="FFFFFF"/>
                </a:solidFill>
                <a:latin typeface="Segoe UI"/>
                <a:cs typeface="Segoe UI"/>
                <a:ea typeface="Segoe UI"/>
              </a:rPr>
              <a:t>ارفع، اسأل بدقة، راجع بنفسك — الأداة تقترح والباحث يقرر</a:t>
            </a:r>
          </a:p>
        </p:txBody>
      </p:sp>
      <p:sp>
        <p:nvSpPr>
          <p:cNvPr id="21" name="Rounded Rectangle 20"/>
          <p:cNvSpPr/>
          <p:nvPr/>
        </p:nvSpPr>
        <p:spPr>
          <a:xfrm>
            <a:off x="1645920" y="4654296"/>
            <a:ext cx="8897112" cy="777240"/>
          </a:xfrm>
          <a:prstGeom prst="roundRect">
            <a:avLst>
              <a:gd name="adj" fmla="val 20000"/>
            </a:avLst>
          </a:prstGeom>
          <a:solidFill>
            <a:srgbClr val="FFFF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857232" y="4782312"/>
            <a:ext cx="521207" cy="521207"/>
          </a:xfrm>
          <a:prstGeom prst="ellipse">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Segoe UI"/>
                <a:cs typeface="Segoe UI"/>
                <a:ea typeface="Segoe UI"/>
              </a:rPr>
              <a:t>٤</a:t>
            </a:r>
          </a:p>
        </p:txBody>
      </p:sp>
      <p:sp>
        <p:nvSpPr>
          <p:cNvPr id="23" name="TextBox 22"/>
          <p:cNvSpPr txBox="1"/>
          <p:nvPr/>
        </p:nvSpPr>
        <p:spPr>
          <a:xfrm>
            <a:off x="1920240" y="4700016"/>
            <a:ext cx="7863840"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FFFFFF"/>
                </a:solidFill>
                <a:latin typeface="Segoe UI"/>
                <a:cs typeface="Segoe UI"/>
                <a:ea typeface="Segoe UI"/>
              </a:rPr>
              <a:t>اصنع فجوة قوية لا ضعيفة</a:t>
            </a:r>
          </a:p>
        </p:txBody>
      </p:sp>
      <p:sp>
        <p:nvSpPr>
          <p:cNvPr id="24" name="TextBox 23"/>
          <p:cNvSpPr txBox="1"/>
          <p:nvPr/>
        </p:nvSpPr>
        <p:spPr>
          <a:xfrm>
            <a:off x="1920240" y="5065776"/>
            <a:ext cx="7863840" cy="329184"/>
          </a:xfrm>
          <a:prstGeom prst="rect">
            <a:avLst/>
          </a:prstGeom>
          <a:noFill/>
        </p:spPr>
        <p:txBody>
          <a:bodyPr wrap="square" anchor="t" lIns="0" rIns="0" tIns="0" bIns="0">
            <a:spAutoFit/>
          </a:bodyPr>
          <a:lstStyle/>
          <a:p>
            <a:pPr algn="r" rtl="1">
              <a:lnSpc>
                <a:spcPct val="105000"/>
              </a:lnSpc>
              <a:spcBef>
                <a:spcPts val="0"/>
              </a:spcBef>
              <a:spcAft>
                <a:spcPts val="400"/>
              </a:spcAft>
            </a:pPr>
            <a:r>
              <a:rPr sz="1150" b="0" i="0">
                <a:solidFill>
                  <a:srgbClr val="FFFFFF"/>
                </a:solidFill>
                <a:latin typeface="Segoe UI"/>
                <a:cs typeface="Segoe UI"/>
                <a:ea typeface="Segoe UI"/>
              </a:rPr>
              <a:t>محددة، موثقة، مهمة — استخدم القالب وقائمة الفحص الخماسية</a:t>
            </a:r>
          </a:p>
        </p:txBody>
      </p:sp>
      <p:sp>
        <p:nvSpPr>
          <p:cNvPr id="25" name="Rectangle 24"/>
          <p:cNvSpPr/>
          <p:nvPr/>
        </p:nvSpPr>
        <p:spPr>
          <a:xfrm>
            <a:off x="4041648" y="5650992"/>
            <a:ext cx="4114800" cy="41148"/>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88720" y="5806440"/>
            <a:ext cx="9814255" cy="502920"/>
          </a:xfrm>
          <a:prstGeom prst="rect">
            <a:avLst/>
          </a:prstGeom>
          <a:noFill/>
        </p:spPr>
        <p:txBody>
          <a:bodyPr wrap="square" anchor="t" lIns="0" rIns="0" tIns="0" bIns="0">
            <a:spAutoFit/>
          </a:bodyPr>
          <a:lstStyle/>
          <a:p>
            <a:pPr algn="ctr" rtl="1">
              <a:lnSpc>
                <a:spcPct val="105000"/>
              </a:lnSpc>
              <a:spcBef>
                <a:spcPts val="0"/>
              </a:spcBef>
              <a:spcAft>
                <a:spcPts val="400"/>
              </a:spcAft>
            </a:pPr>
            <a:r>
              <a:rPr sz="1500" b="1" i="0">
                <a:solidFill>
                  <a:srgbClr val="FBBF24"/>
                </a:solidFill>
                <a:latin typeface="Segoe UI"/>
                <a:cs typeface="Segoe UI"/>
                <a:ea typeface="Segoe UI"/>
              </a:rPr>
              <a:t>«الباحث المتميّز ليس من يجد الإجابات فقط… بل من يطرح أسئلة لم يفكر فيها أحد من قبل»</a:t>
            </a:r>
          </a:p>
        </p:txBody>
      </p:sp>
      <p:sp>
        <p:nvSpPr>
          <p:cNvPr id="27" name="TextBox 26"/>
          <p:cNvSpPr txBox="1"/>
          <p:nvPr/>
        </p:nvSpPr>
        <p:spPr>
          <a:xfrm>
            <a:off x="1371600" y="6327648"/>
            <a:ext cx="9448495"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200" b="0" i="0">
                <a:solidFill>
                  <a:srgbClr val="FFFFFF"/>
                </a:solidFill>
                <a:latin typeface="Segoe UI"/>
                <a:cs typeface="Segoe UI"/>
                <a:ea typeface="Segoe UI"/>
              </a:rPr>
              <a:t>شكراً لحسن استماعكم — </a:t>
            </a:r>
            <a:r>
              <a:rPr sz="1200" b="1" i="0">
                <a:solidFill>
                  <a:srgbClr val="FFFFFF"/>
                </a:solidFill>
                <a:latin typeface="Segoe UI"/>
                <a:cs typeface="Segoe UI"/>
                <a:ea typeface="Segoe UI"/>
              </a:rPr>
              <a:t>الدكتورة هناء حسين الأهيمر</a:t>
            </a:r>
            <a:r>
              <a:rPr sz="1100" b="0" i="0">
                <a:solidFill>
                  <a:srgbClr val="FFFFFF"/>
                </a:solidFill>
                <a:latin typeface="Segoe UI"/>
                <a:cs typeface="Segoe UI"/>
                <a:ea typeface="Segoe UI"/>
              </a:rPr>
              <a:t>  •  نسخة موسّعة بتصميم جديد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الفجوات البحثية — Research Gaps (نسخة موسّعة)</dc:title>
  <dc:subject>دليل شامل لاكتشاف الفجوات البحثية — من الشرح الكامل للورشة</dc:subject>
  <dc:creator>Dr. Hana Hossen Elahemer (original content)</dc:creator>
  <cp:keywords/>
  <dc:description>Rebuilt &amp; expanded from the workshop video + full narration transcript</dc:description>
  <cp:lastModifiedBy>Steve Canny</cp:lastModifiedBy>
  <cp:revision>1</cp:revision>
  <dcterms:created xsi:type="dcterms:W3CDTF">2013-01-27T09:14:16Z</dcterms:created>
  <dcterms:modified xsi:type="dcterms:W3CDTF">2013-01-27T09:15:58Z</dcterms:modified>
  <cp:category/>
</cp:coreProperties>
</file>